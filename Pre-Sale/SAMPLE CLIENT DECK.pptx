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notesSlides/notesSlide6.xml" ContentType="application/vnd.openxmlformats-officedocument.presentationml.notesSlide+xml"/>
  <Override PartName="/ppt/charts/chart9.xml" ContentType="application/vnd.openxmlformats-officedocument.drawingml.chart+xml"/>
  <Override PartName="/ppt/theme/themeOverride5.xml" ContentType="application/vnd.openxmlformats-officedocument.themeOverride+xml"/>
  <Override PartName="/ppt/charts/chart10.xml" ContentType="application/vnd.openxmlformats-officedocument.drawingml.chart+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3.xml" ContentType="application/vnd.openxmlformats-officedocument.drawingml.chart+xml"/>
  <Override PartName="/ppt/theme/themeOverride7.xml" ContentType="application/vnd.openxmlformats-officedocument.themeOverride+xml"/>
  <Override PartName="/ppt/drawings/drawing1.xml" ContentType="application/vnd.openxmlformats-officedocument.drawingml.chartshapes+xml"/>
  <Override PartName="/ppt/charts/chart14.xml" ContentType="application/vnd.openxmlformats-officedocument.drawingml.chart+xml"/>
  <Override PartName="/ppt/theme/themeOverride8.xml" ContentType="application/vnd.openxmlformats-officedocument.themeOverride+xml"/>
  <Override PartName="/ppt/charts/chart15.xml" ContentType="application/vnd.openxmlformats-officedocument.drawingml.chart+xml"/>
  <Override PartName="/ppt/theme/themeOverride9.xml" ContentType="application/vnd.openxmlformats-officedocument.themeOverride+xml"/>
  <Override PartName="/ppt/charts/chart16.xml" ContentType="application/vnd.openxmlformats-officedocument.drawingml.chart+xml"/>
  <Override PartName="/ppt/theme/themeOverride10.xml" ContentType="application/vnd.openxmlformats-officedocument.themeOverride+xml"/>
  <Override PartName="/ppt/charts/chart17.xml" ContentType="application/vnd.openxmlformats-officedocument.drawingml.chart+xml"/>
  <Override PartName="/ppt/theme/themeOverride11.xml" ContentType="application/vnd.openxmlformats-officedocument.themeOverride+xml"/>
  <Override PartName="/ppt/charts/chart18.xml" ContentType="application/vnd.openxmlformats-officedocument.drawingml.chart+xml"/>
  <Override PartName="/ppt/theme/themeOverride12.xml" ContentType="application/vnd.openxmlformats-officedocument.themeOverride+xml"/>
  <Override PartName="/ppt/charts/chart19.xml" ContentType="application/vnd.openxmlformats-officedocument.drawingml.chart+xml"/>
  <Override PartName="/ppt/theme/themeOverride13.xml" ContentType="application/vnd.openxmlformats-officedocument.themeOverride+xml"/>
  <Override PartName="/ppt/charts/chart20.xml" ContentType="application/vnd.openxmlformats-officedocument.drawingml.chart+xml"/>
  <Override PartName="/ppt/theme/themeOverride14.xml" ContentType="application/vnd.openxmlformats-officedocument.themeOverride+xml"/>
  <Override PartName="/ppt/charts/chart21.xml" ContentType="application/vnd.openxmlformats-officedocument.drawingml.chart+xml"/>
  <Override PartName="/ppt/theme/themeOverride15.xml" ContentType="application/vnd.openxmlformats-officedocument.themeOverride+xml"/>
  <Override PartName="/ppt/charts/chart22.xml" ContentType="application/vnd.openxmlformats-officedocument.drawingml.chart+xml"/>
  <Override PartName="/ppt/theme/themeOverride16.xml" ContentType="application/vnd.openxmlformats-officedocument.themeOverride+xml"/>
  <Override PartName="/ppt/notesSlides/notesSlide12.xml" ContentType="application/vnd.openxmlformats-officedocument.presentationml.notesSlide+xml"/>
  <Override PartName="/ppt/charts/chart23.xml" ContentType="application/vnd.openxmlformats-officedocument.drawingml.chart+xml"/>
  <Override PartName="/ppt/charts/chart24.xml" ContentType="application/vnd.openxmlformats-officedocument.drawingml.chart+xml"/>
  <Override PartName="/ppt/notesSlides/notesSlide13.xml" ContentType="application/vnd.openxmlformats-officedocument.presentationml.notesSlide+xml"/>
  <Override PartName="/ppt/charts/chart25.xml" ContentType="application/vnd.openxmlformats-officedocument.drawingml.chart+xml"/>
  <Override PartName="/ppt/theme/themeOverride17.xml" ContentType="application/vnd.openxmlformats-officedocument.themeOverride+xml"/>
  <Override PartName="/ppt/charts/chart26.xml" ContentType="application/vnd.openxmlformats-officedocument.drawingml.chart+xml"/>
  <Override PartName="/ppt/theme/themeOverride18.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7.xml" ContentType="application/vnd.openxmlformats-officedocument.drawingml.chart+xml"/>
  <Override PartName="/ppt/theme/themeOverride19.xml" ContentType="application/vnd.openxmlformats-officedocument.themeOverride+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theme/themeOverride20.xml" ContentType="application/vnd.openxmlformats-officedocument.themeOverride+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3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1.xml" ContentType="application/vnd.openxmlformats-officedocument.themeOverride+xml"/>
  <Override PartName="/ppt/notesSlides/notesSlide20.xml" ContentType="application/vnd.openxmlformats-officedocument.presentationml.notesSlide+xml"/>
  <Override PartName="/ppt/charts/chart3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22.xml" ContentType="application/vnd.openxmlformats-officedocument.themeOverride+xml"/>
  <Override PartName="/ppt/notesSlides/notesSlide21.xml" ContentType="application/vnd.openxmlformats-officedocument.presentationml.notesSlide+xml"/>
  <Override PartName="/ppt/charts/chart4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3.xml" ContentType="application/vnd.openxmlformats-officedocument.themeOverride+xml"/>
  <Override PartName="/ppt/notesSlides/notesSlide22.xml" ContentType="application/vnd.openxmlformats-officedocument.presentationml.notesSlide+xml"/>
  <Override PartName="/ppt/charts/chart4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24.xml" ContentType="application/vnd.openxmlformats-officedocument.themeOverride+xml"/>
  <Override PartName="/ppt/notesSlides/notesSlide23.xml" ContentType="application/vnd.openxmlformats-officedocument.presentationml.notesSlide+xml"/>
  <Override PartName="/ppt/charts/chart4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25.xml" ContentType="application/vnd.openxmlformats-officedocument.themeOverr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0"/>
  </p:notesMasterIdLst>
  <p:handoutMasterIdLst>
    <p:handoutMasterId r:id="rId41"/>
  </p:handoutMasterIdLst>
  <p:sldIdLst>
    <p:sldId id="3443" r:id="rId5"/>
    <p:sldId id="2163" r:id="rId6"/>
    <p:sldId id="2370" r:id="rId7"/>
    <p:sldId id="3508" r:id="rId8"/>
    <p:sldId id="3410" r:id="rId9"/>
    <p:sldId id="3413" r:id="rId10"/>
    <p:sldId id="3509" r:id="rId11"/>
    <p:sldId id="3420" r:id="rId12"/>
    <p:sldId id="3414" r:id="rId13"/>
    <p:sldId id="2521" r:id="rId14"/>
    <p:sldId id="2440" r:id="rId15"/>
    <p:sldId id="3072" r:id="rId16"/>
    <p:sldId id="2182" r:id="rId17"/>
    <p:sldId id="2522" r:id="rId18"/>
    <p:sldId id="1858" r:id="rId19"/>
    <p:sldId id="2456" r:id="rId20"/>
    <p:sldId id="3448" r:id="rId21"/>
    <p:sldId id="2608" r:id="rId22"/>
    <p:sldId id="3444" r:id="rId23"/>
    <p:sldId id="3507" r:id="rId24"/>
    <p:sldId id="2292" r:id="rId25"/>
    <p:sldId id="3446" r:id="rId26"/>
    <p:sldId id="3447" r:id="rId27"/>
    <p:sldId id="2272" r:id="rId28"/>
    <p:sldId id="2886" r:id="rId29"/>
    <p:sldId id="2270" r:id="rId30"/>
    <p:sldId id="2692" r:id="rId31"/>
    <p:sldId id="2956" r:id="rId32"/>
    <p:sldId id="3058" r:id="rId33"/>
    <p:sldId id="3059" r:id="rId34"/>
    <p:sldId id="3060" r:id="rId35"/>
    <p:sldId id="3061" r:id="rId36"/>
    <p:sldId id="2732" r:id="rId37"/>
    <p:sldId id="2214" r:id="rId38"/>
    <p:sldId id="3064" r:id="rId39"/>
  </p:sldIdLst>
  <p:sldSz cx="9144000" cy="6858000" type="letter"/>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DD22C3-02AE-44D0-8937-A6926607A4CD}">
          <p14:sldIdLst>
            <p14:sldId id="3443"/>
            <p14:sldId id="2163"/>
            <p14:sldId id="2370"/>
            <p14:sldId id="3508"/>
            <p14:sldId id="3410"/>
            <p14:sldId id="3413"/>
            <p14:sldId id="3509"/>
            <p14:sldId id="3420"/>
            <p14:sldId id="3414"/>
            <p14:sldId id="2521"/>
            <p14:sldId id="2440"/>
            <p14:sldId id="3072"/>
            <p14:sldId id="2182"/>
            <p14:sldId id="2522"/>
            <p14:sldId id="1858"/>
            <p14:sldId id="2456"/>
            <p14:sldId id="3448"/>
            <p14:sldId id="2608"/>
            <p14:sldId id="3444"/>
            <p14:sldId id="3507"/>
            <p14:sldId id="2292"/>
            <p14:sldId id="3446"/>
            <p14:sldId id="3447"/>
            <p14:sldId id="2272"/>
            <p14:sldId id="2886"/>
            <p14:sldId id="2270"/>
            <p14:sldId id="2692"/>
            <p14:sldId id="2956"/>
            <p14:sldId id="3058"/>
            <p14:sldId id="3059"/>
            <p14:sldId id="3060"/>
            <p14:sldId id="3061"/>
            <p14:sldId id="2732"/>
            <p14:sldId id="2214"/>
          </p14:sldIdLst>
        </p14:section>
        <p14:section name="eXTRA HIDDEN" id="{3723A4A6-B56E-4F20-8345-AC95F00A89E7}">
          <p14:sldIdLst>
            <p14:sldId id="3064"/>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itney Brownie" initials="WB" lastIdx="7" clrIdx="0">
    <p:extLst>
      <p:ext uri="{19B8F6BF-5375-455C-9EA6-DF929625EA0E}">
        <p15:presenceInfo xmlns:p15="http://schemas.microsoft.com/office/powerpoint/2012/main" userId="Whitney Brownie" providerId="None"/>
      </p:ext>
    </p:extLst>
  </p:cmAuthor>
  <p:cmAuthor id="2" name="Whitney" initials="W" lastIdx="7" clrIdx="1">
    <p:extLst>
      <p:ext uri="{19B8F6BF-5375-455C-9EA6-DF929625EA0E}">
        <p15:presenceInfo xmlns:p15="http://schemas.microsoft.com/office/powerpoint/2012/main" userId="Whitney" providerId="None"/>
      </p:ext>
    </p:extLst>
  </p:cmAuthor>
  <p:cmAuthor id="3" name="John James" initials="JJ" lastIdx="1" clrIdx="2">
    <p:extLst>
      <p:ext uri="{19B8F6BF-5375-455C-9EA6-DF929625EA0E}">
        <p15:presenceInfo xmlns:p15="http://schemas.microsoft.com/office/powerpoint/2012/main" userId="S-1-12-1-2369302117-1189441396-3628400519-2767202491" providerId="AD"/>
      </p:ext>
    </p:extLst>
  </p:cmAuthor>
  <p:cmAuthor id="4" name="Warren Miller" initials="WM" lastIdx="3" clrIdx="3">
    <p:extLst>
      <p:ext uri="{19B8F6BF-5375-455C-9EA6-DF929625EA0E}">
        <p15:presenceInfo xmlns:p15="http://schemas.microsoft.com/office/powerpoint/2012/main" userId="S::wmiller@performausa.com::09bc3308-73d6-4db5-859f-7b21e733485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7F4B"/>
    <a:srgbClr val="394849"/>
    <a:srgbClr val="990099"/>
    <a:srgbClr val="FF99FF"/>
    <a:srgbClr val="F9F9F9"/>
    <a:srgbClr val="F7F7F7"/>
    <a:srgbClr val="75A5B4"/>
    <a:srgbClr val="53787F"/>
    <a:srgbClr val="95CD9D"/>
    <a:srgbClr val="4ACF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yton Johnson" userId="f76812e6-f6bd-4ae4-9a54-22ccbb4a76eb" providerId="ADAL" clId="{D2FB7DA5-AFEF-4C24-8167-4FD66812ADA1}"/>
    <pc:docChg chg="modSld">
      <pc:chgData name="Clayton Johnson" userId="f76812e6-f6bd-4ae4-9a54-22ccbb4a76eb" providerId="ADAL" clId="{D2FB7DA5-AFEF-4C24-8167-4FD66812ADA1}" dt="2026-03-17T02:34:39.440" v="1" actId="6549"/>
      <pc:docMkLst>
        <pc:docMk/>
      </pc:docMkLst>
      <pc:sldChg chg="modSp mod">
        <pc:chgData name="Clayton Johnson" userId="f76812e6-f6bd-4ae4-9a54-22ccbb4a76eb" providerId="ADAL" clId="{D2FB7DA5-AFEF-4C24-8167-4FD66812ADA1}" dt="2026-03-17T02:34:39.440" v="1" actId="6549"/>
        <pc:sldMkLst>
          <pc:docMk/>
          <pc:sldMk cId="2197347983" sldId="3443"/>
        </pc:sldMkLst>
        <pc:spChg chg="mod">
          <ac:chgData name="Clayton Johnson" userId="f76812e6-f6bd-4ae4-9a54-22ccbb4a76eb" providerId="ADAL" clId="{D2FB7DA5-AFEF-4C24-8167-4FD66812ADA1}" dt="2026-03-17T02:34:39.440" v="1" actId="6549"/>
          <ac:spMkLst>
            <pc:docMk/>
            <pc:sldMk cId="2197347983" sldId="3443"/>
            <ac:spMk id="12" creationId="{10842B79-1776-0EB3-4788-D03BD6A5848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https://performaltd.sharepoint.com/Shared%20Documents/Sales%20&amp;%20Marketing/Conferences%20&amp;%20Events/Econ%20Data%20for%20Mildrum%20Presentations1.xlsm"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performaltd.sharepoint.com/Shared%20Documents/Sales%20&amp;%20Marketing/Conferences%20&amp;%20Events/Econ%20Data%20for%20Mildrum%20Presentations1.xlsm" TargetMode="External"/></Relationships>
</file>

<file path=ppt/charts/_rels/chart3.xml.rels><?xml version="1.0" encoding="UTF-8" standalone="yes"?>
<Relationships xmlns="http://schemas.openxmlformats.org/package/2006/relationships"><Relationship Id="rId2" Type="http://schemas.openxmlformats.org/officeDocument/2006/relationships/oleObject" Target="https://performaltd.sharepoint.com/Shared%20Documents/PBDA/Quantitative%20Resources/Marketing/PQMU%20Q4%202024%20SLIDE%205.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1" Type="http://schemas.openxmlformats.org/officeDocument/2006/relationships/oleObject" Target="https://performaltd.sharepoint.com/Shared%20Documents/PBDA/Quantitative%20Resources/Marketing/QTLY%20Slide%20Data%20v2%20wb.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https://performaltd.sharepoint.com/Shared%20Documents/PBDA/Quantitative%20Resources/Marketing/QTLY%20Slide%20Data%20v2%20wb.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file:///C:\Users\whitb\AppData\Local\Microsoft\Windows\INetCache\Content.Outlook\FCJNG1QP\Book1.xlsx" TargetMode="External"/><Relationship Id="rId2" Type="http://schemas.microsoft.com/office/2011/relationships/chartColorStyle" Target="colors3.xml"/><Relationship Id="rId1" Type="http://schemas.microsoft.com/office/2011/relationships/chartStyle" Target="style3.xml"/></Relationships>
</file>

<file path=ppt/charts/_rels/chart7.xml.rels><?xml version="1.0" encoding="UTF-8" standalone="yes"?>
<Relationships xmlns="http://schemas.openxmlformats.org/package/2006/relationships"><Relationship Id="rId3" Type="http://schemas.openxmlformats.org/officeDocument/2006/relationships/oleObject" Target="https://performaltd.sharepoint.com/Shared%20Documents/PBDA/Quantitative%20Resources/Marketing/PQMU%20Q4%202024%20SLIDE%205.xlsx" TargetMode="External"/><Relationship Id="rId2" Type="http://schemas.microsoft.com/office/2011/relationships/chartColorStyle" Target="colors4.xml"/><Relationship Id="rId1" Type="http://schemas.microsoft.com/office/2011/relationships/chartStyle" Target="style4.xm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performaltd.sharepoint.com/Shared%20Documents/Sales%20&amp;%20Marketing/Conferences%20&amp;%20Events/Econ%20Data%20for%20Mildrum%20Presentations1.xlsm" TargetMode="External"/></Relationships>
</file>

<file path=ppt/charts/_rels/chart9.xml.rels><?xml version="1.0" encoding="UTF-8" standalone="yes"?>
<Relationships xmlns="http://schemas.openxmlformats.org/package/2006/relationships"><Relationship Id="rId2" Type="http://schemas.openxmlformats.org/officeDocument/2006/relationships/oleObject" Target="https://performaltd.sharepoint.com/Shared%20Documents/PBDA/Quantitative%20Resources/Marketing/QTLY%20Slide%20Data%20v2%20wb.xlsx" TargetMode="External"/><Relationship Id="rId1" Type="http://schemas.openxmlformats.org/officeDocument/2006/relationships/themeOverride" Target="../theme/themeOverride5.xml"/></Relationships>
</file>

<file path=ppt/charts/_rels/chart10.xml.rels><?xml version="1.0" encoding="UTF-8" standalone="yes"?>
<Relationships xmlns="http://schemas.openxmlformats.org/package/2006/relationships"><Relationship Id="rId1" Type="http://schemas.openxmlformats.org/officeDocument/2006/relationships/oleObject" Target="https://performaltd.sharepoint.com/Shared%20Documents/PBDA/Quantitative%20Resources/Marketing/QTLY%20Slide%20Data%20v2%20wb.xlsx" TargetMode="Externa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https://performaltd.sharepoint.com/Shared%20Documents/Sales%20&amp;%20Marketing/Conferences%20&amp;%20Events/Econ%20Data%20for%20Mildrum%20Presentations1.xlsm" TargetMode="External"/></Relationships>
</file>

<file path=ppt/charts/_rels/chart12.xml.rels><?xml version="1.0" encoding="UTF-8" standalone="yes"?>
<Relationships xmlns="http://schemas.openxmlformats.org/package/2006/relationships"><Relationship Id="rId3" Type="http://schemas.openxmlformats.org/officeDocument/2006/relationships/oleObject" Target="https://performaltd.sharepoint.com/Shared%20Documents/Sales%20&amp;%20Marketing/Conferences%20&amp;%20Events/Econ%20Data%20for%20Mildrum%20Presentations1.xlsm" TargetMode="External"/><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https://performaltd.sharepoint.com/Shared%20Documents/PBDA/Client/GLIC%20-%20Glendale%20Insurance/Reporting/Board%20Meetings/2020/3)%20October%202020/Glendale%20-%20New%20Portfolio%20Reporting%20Template%209%2030%202020.xlsx" TargetMode="External"/><Relationship Id="rId1" Type="http://schemas.openxmlformats.org/officeDocument/2006/relationships/themeOverride" Target="../theme/themeOverride7.xml"/></Relationships>
</file>

<file path=ppt/charts/_rels/chart14.xml.rels><?xml version="1.0" encoding="UTF-8" standalone="yes"?>
<Relationships xmlns="http://schemas.openxmlformats.org/package/2006/relationships"><Relationship Id="rId2" Type="http://schemas.openxmlformats.org/officeDocument/2006/relationships/oleObject" Target="https://performaltd.sharepoint.com/Shared%20Documents/PBDA/Client/CHIC%20-%20Cape%20Health/Reporting/Board%20Meetings%20&amp;%20Other/2020/1)%20October%202020/CHICO%20-%20New%20Portfolio%20Reporting%20Template%209%2030%202020.xlsx" TargetMode="External"/><Relationship Id="rId1" Type="http://schemas.openxmlformats.org/officeDocument/2006/relationships/themeOverride" Target="../theme/themeOverride8.xml"/></Relationships>
</file>

<file path=ppt/charts/_rels/chart15.xml.rels><?xml version="1.0" encoding="UTF-8" standalone="yes"?>
<Relationships xmlns="http://schemas.openxmlformats.org/package/2006/relationships"><Relationship Id="rId2" Type="http://schemas.openxmlformats.org/officeDocument/2006/relationships/oleObject" Target="https://performaltd.sharepoint.com/Shared%20Documents/PBDA/Client/CHIC%20-%20Cape%20Health/Reporting/Board%20Meetings%20&amp;%20Other/2021/1)%20May%202021/CHICO%20-%20New%20Portfolio%20Reporting%20Template%204%2030%202021.xlsx" TargetMode="External"/><Relationship Id="rId1" Type="http://schemas.openxmlformats.org/officeDocument/2006/relationships/themeOverride" Target="../theme/themeOverride9.xml"/></Relationships>
</file>

<file path=ppt/charts/_rels/chart16.xml.rels><?xml version="1.0" encoding="UTF-8" standalone="yes"?>
<Relationships xmlns="http://schemas.openxmlformats.org/package/2006/relationships"><Relationship Id="rId2" Type="http://schemas.openxmlformats.org/officeDocument/2006/relationships/oleObject" Target="https://performaltd.sharepoint.com/Shared%20Documents/PBDA/Client/CHIC%20-%20Cape%20Health/Reporting/Board%20Meetings%20&amp;%20Other/2020/1)%20October%202020/CHICO%20-%20New%20Portfolio%20Reporting%20Template%209%2030%202020.xlsx" TargetMode="External"/><Relationship Id="rId1" Type="http://schemas.openxmlformats.org/officeDocument/2006/relationships/themeOverride" Target="../theme/themeOverride10.xml"/></Relationships>
</file>

<file path=ppt/charts/_rels/chart17.xml.rels><?xml version="1.0" encoding="UTF-8" standalone="yes"?>
<Relationships xmlns="http://schemas.openxmlformats.org/package/2006/relationships"><Relationship Id="rId2" Type="http://schemas.openxmlformats.org/officeDocument/2006/relationships/oleObject" Target="https://performaltd.sharepoint.com/Shared%20Documents/PBDA/Client/GLIC%20-%20Glendale%20Insurance/Reporting/Board%20Meetings/2021/Glendale%20-%20New%20Portfolio%20Reporting%20Template%205%2031%202021.xlsx" TargetMode="External"/><Relationship Id="rId1" Type="http://schemas.openxmlformats.org/officeDocument/2006/relationships/themeOverride" Target="../theme/themeOverride11.xml"/></Relationships>
</file>

<file path=ppt/charts/_rels/chart18.xml.rels><?xml version="1.0" encoding="UTF-8" standalone="yes"?>
<Relationships xmlns="http://schemas.openxmlformats.org/package/2006/relationships"><Relationship Id="rId2" Type="http://schemas.openxmlformats.org/officeDocument/2006/relationships/oleObject" Target="Book1" TargetMode="External"/><Relationship Id="rId1" Type="http://schemas.openxmlformats.org/officeDocument/2006/relationships/themeOverride" Target="../theme/themeOverride12.xml"/></Relationships>
</file>

<file path=ppt/charts/_rels/chart19.xml.rels><?xml version="1.0" encoding="UTF-8" standalone="yes"?>
<Relationships xmlns="http://schemas.openxmlformats.org/package/2006/relationships"><Relationship Id="rId2" Type="http://schemas.openxmlformats.org/officeDocument/2006/relationships/oleObject" Target="Book1" TargetMode="External"/><Relationship Id="rId1" Type="http://schemas.openxmlformats.org/officeDocument/2006/relationships/themeOverride" Target="../theme/themeOverride13.xml"/></Relationships>
</file>

<file path=ppt/charts/_rels/chart20.xml.rels><?xml version="1.0" encoding="UTF-8" standalone="yes"?>
<Relationships xmlns="http://schemas.openxmlformats.org/package/2006/relationships"><Relationship Id="rId2" Type="http://schemas.openxmlformats.org/officeDocument/2006/relationships/oleObject" Target="https://performaltd.sharepoint.com/Shared%20Documents/PBDA/Client/CRRG%20-%20Clinican%20Assurance%20Inc%20RRG%20(CARRG)/Meeting%20Materials/2022/2)%20May%202022/CRRG%20Asset%20Allocation%20Breakout%20May%202022.xlsx" TargetMode="External"/><Relationship Id="rId1" Type="http://schemas.openxmlformats.org/officeDocument/2006/relationships/themeOverride" Target="../theme/themeOverride14.xml"/></Relationships>
</file>

<file path=ppt/charts/_rels/chart21.xml.rels><?xml version="1.0" encoding="UTF-8" standalone="yes"?>
<Relationships xmlns="http://schemas.openxmlformats.org/package/2006/relationships"><Relationship Id="rId2" Type="http://schemas.openxmlformats.org/officeDocument/2006/relationships/oleObject" Target="https://performaltd.sharepoint.com/Shared%20Documents/PBDA/Client/CRRG%20-%20Clinican%20Assurance%20Inc%20RRG%20(CARRG)/Meeting%20Materials/2024/May%202025/BOREX%20CRRG%20AGG%20MAY%202025.xlsx" TargetMode="External"/><Relationship Id="rId1" Type="http://schemas.openxmlformats.org/officeDocument/2006/relationships/themeOverride" Target="../theme/themeOverride15.xml"/></Relationships>
</file>

<file path=ppt/charts/_rels/chart22.xml.rels><?xml version="1.0" encoding="UTF-8" standalone="yes"?>
<Relationships xmlns="http://schemas.openxmlformats.org/package/2006/relationships"><Relationship Id="rId2" Type="http://schemas.openxmlformats.org/officeDocument/2006/relationships/oleObject" Target="https://performaltd-my.sharepoint.com/personal/wbrownie_performausa_com/Documents/BOREX%20CUSTOM_CRRG%20AGG%20Oct%2027%20one%20off%20use%20other.xlsx" TargetMode="External"/><Relationship Id="rId1" Type="http://schemas.openxmlformats.org/officeDocument/2006/relationships/themeOverride" Target="../theme/themeOverride16.xml"/></Relationships>
</file>

<file path=ppt/charts/_rels/chart23.xml.rels><?xml version="1.0" encoding="UTF-8" standalone="yes"?>
<Relationships xmlns="http://schemas.openxmlformats.org/package/2006/relationships"><Relationship Id="rId1" Type="http://schemas.openxmlformats.org/officeDocument/2006/relationships/oleObject" Target="https://performaltd.sharepoint.com/Shared%20Documents/PBDA/Client/CRRG%20-%20Clinican%20Assurance%20Inc%20RRG%20(CARRG)/Meeting%20Materials/2023/4)%20August%202023/BOREX%20CRRG_%20CUSTOM%20August%202023-%20Not%20Standard.xlsx" TargetMode="External"/></Relationships>
</file>

<file path=ppt/charts/_rels/chart24.xml.rels><?xml version="1.0" encoding="UTF-8" standalone="yes"?>
<Relationships xmlns="http://schemas.openxmlformats.org/package/2006/relationships"><Relationship Id="rId1" Type="http://schemas.openxmlformats.org/officeDocument/2006/relationships/oleObject" Target="https://performaltd-my.sharepoint.com/personal/wbrownie_performausa_com/Documents/BOREX%20CUSTOM_CRRG%20AGG%20Oct%2027%20one%20off%20use%20other.xlsx" TargetMode="External"/></Relationships>
</file>

<file path=ppt/charts/_rels/chart25.xml.rels><?xml version="1.0" encoding="UTF-8" standalone="yes"?>
<Relationships xmlns="http://schemas.openxmlformats.org/package/2006/relationships"><Relationship Id="rId2" Type="http://schemas.openxmlformats.org/officeDocument/2006/relationships/oleObject" Target="https://performaltd.sharepoint.com/Shared%20Documents/PBDA/Client/SIIS%20-%20Southeastern%20Integrated/Reporting/Board%20Meetings%20&amp;%20Other/2021/SIIS%20-%20New%20Portfolio%20Reporting%20Template%204%2030%202021.xlsx" TargetMode="External"/><Relationship Id="rId1" Type="http://schemas.openxmlformats.org/officeDocument/2006/relationships/themeOverride" Target="../theme/themeOverride17.xml"/></Relationships>
</file>

<file path=ppt/charts/_rels/chart26.xml.rels><?xml version="1.0" encoding="UTF-8" standalone="yes"?>
<Relationships xmlns="http://schemas.openxmlformats.org/package/2006/relationships"><Relationship Id="rId2" Type="http://schemas.openxmlformats.org/officeDocument/2006/relationships/oleObject" Target="https://performaltd-my.sharepoint.com/personal/wbrownie_performausa_com/Documents/BOREX%20CUSTOM_CRRG%20AGG%20Oct%2027%20one%20off%20use%20other.xlsx" TargetMode="External"/><Relationship Id="rId1" Type="http://schemas.openxmlformats.org/officeDocument/2006/relationships/themeOverride" Target="../theme/themeOverride18.xml"/></Relationships>
</file>

<file path=ppt/charts/_rels/chart27.xml.rels><?xml version="1.0" encoding="UTF-8" standalone="yes"?>
<Relationships xmlns="http://schemas.openxmlformats.org/package/2006/relationships"><Relationship Id="rId2" Type="http://schemas.openxmlformats.org/officeDocument/2006/relationships/oleObject" Target="https://performaltd.sharepoint.com/Shared%20Documents/PBDA/Client/LECL%20-%20Lewis%20&amp;%20Clark%20Ins%20Co%20(PARIC)/Meeting%20Materials/2021/1)%20August%202021/LECL%20-%20New%20Portfolio%20Reporting%20Template%207%2031%202021.xlsx" TargetMode="External"/><Relationship Id="rId1" Type="http://schemas.openxmlformats.org/officeDocument/2006/relationships/themeOverride" Target="../theme/themeOverride19.xml"/></Relationships>
</file>

<file path=ppt/charts/_rels/chart28.xml.rels><?xml version="1.0" encoding="UTF-8" standalone="yes"?>
<Relationships xmlns="http://schemas.openxmlformats.org/package/2006/relationships"><Relationship Id="rId1" Type="http://schemas.openxmlformats.org/officeDocument/2006/relationships/oleObject" Target="https://performaltd.sharepoint.com/Shared%20Documents/PBDA/Client/APEX%20-%20Apex%20Insurance/Meeting%20Materials/2021/2)%20September%202021/APEX%20-%20New%20Portfolio%20Reporting%20Template%208%2031%202021.xlsx" TargetMode="External"/></Relationships>
</file>

<file path=ppt/charts/_rels/chart29.xml.rels><?xml version="1.0" encoding="UTF-8" standalone="yes"?>
<Relationships xmlns="http://schemas.openxmlformats.org/package/2006/relationships"><Relationship Id="rId1" Type="http://schemas.openxmlformats.org/officeDocument/2006/relationships/oleObject" Target="https://performaltd.sharepoint.com/Shared%20Documents/PBDA/Client/CRRG%20-%20Clinican%20Assurance%20Inc%20RRG%20(CARRG)/Meeting%20Materials/2022/BOREX_CRRG%20SMA%20-%20JANUARY%202022%202.xlsx" TargetMode="External"/></Relationships>
</file>

<file path=ppt/charts/_rels/chart30.xml.rels><?xml version="1.0" encoding="UTF-8" standalone="yes"?>
<Relationships xmlns="http://schemas.openxmlformats.org/package/2006/relationships"><Relationship Id="rId1" Type="http://schemas.openxmlformats.org/officeDocument/2006/relationships/oleObject" Target="https://performaltd.sharepoint.com/Shared%20Documents/PBDA/Client/CRRG%20-%20Clinican%20Assurance%20Inc%20RRG%20(CARRG)/Meeting%20Materials/2022/BOREX_CRRG%20-%20JANUARY%202022%202%20EXPERIMENTAL%20ADD%202021%20AGG.xlsx" TargetMode="External"/></Relationships>
</file>

<file path=ppt/charts/_rels/chart31.xml.rels><?xml version="1.0" encoding="UTF-8" standalone="yes"?>
<Relationships xmlns="http://schemas.openxmlformats.org/package/2006/relationships"><Relationship Id="rId1" Type="http://schemas.openxmlformats.org/officeDocument/2006/relationships/oleObject" Target="https://performaltd.sharepoint.com/Shared%20Documents/PBDA/Client/CRRG%20-%20Clinican%20Assurance%20Inc%20RRG%20(CARRG)/Meeting%20Materials/2022/2)%20May%202022/BOREX_Legacy%20April%202022.xlsx" TargetMode="External"/></Relationships>
</file>

<file path=ppt/charts/_rels/chart32.xml.rels><?xml version="1.0" encoding="UTF-8" standalone="yes"?>
<Relationships xmlns="http://schemas.openxmlformats.org/package/2006/relationships"><Relationship Id="rId1" Type="http://schemas.openxmlformats.org/officeDocument/2006/relationships/oleObject" Target="https://performaltd.sharepoint.com/Shared%20Documents/PBDA/Client/CRRG%20-%20Clinican%20Assurance%20Inc%20RRG%20(CARRG)/Meeting%20Materials/2022/3)%20July%202022/BOREX%20%20CRRG%20SMA%202022%20-%20Copy.xlsx" TargetMode="External"/></Relationships>
</file>

<file path=ppt/charts/_rels/chart33.xml.rels><?xml version="1.0" encoding="UTF-8" standalone="yes"?>
<Relationships xmlns="http://schemas.openxmlformats.org/package/2006/relationships"><Relationship Id="rId1" Type="http://schemas.openxmlformats.org/officeDocument/2006/relationships/oleObject" Target="https://performaltd.sharepoint.com/Shared%20Documents/PBDA/Client/CRRG%20-%20Clinican%20Assurance%20Inc%20RRG%20(CARRG)/Meeting%20Materials/2022/3)%20July%202022/BOREX%20%20CRRG%20SMA%202022%20-%20Copy%20-%20Copy.xlsx" TargetMode="External"/></Relationships>
</file>

<file path=ppt/charts/_rels/chart34.xml.rels><?xml version="1.0" encoding="UTF-8" standalone="yes"?>
<Relationships xmlns="http://schemas.openxmlformats.org/package/2006/relationships"><Relationship Id="rId2" Type="http://schemas.openxmlformats.org/officeDocument/2006/relationships/oleObject" Target="https://performaltd.sharepoint.com/Shared%20Documents/PBDA/Client/CRRG%20-%20Clinican%20Assurance%20Inc%20RRG%20(CARRG)/Meeting%20Materials/2022/4)%20November%202022/CRRG%20Data%20(JJ).xlsx" TargetMode="External"/><Relationship Id="rId1" Type="http://schemas.openxmlformats.org/officeDocument/2006/relationships/themeOverride" Target="../theme/themeOverride20.xml"/></Relationships>
</file>

<file path=ppt/charts/_rels/chart35.xml.rels><?xml version="1.0" encoding="UTF-8" standalone="yes"?>
<Relationships xmlns="http://schemas.openxmlformats.org/package/2006/relationships"><Relationship Id="rId1" Type="http://schemas.openxmlformats.org/officeDocument/2006/relationships/oleObject" Target="https://performaltd.sharepoint.com/Shared%20Documents/PBDA/Client/CRRG%20-%20Clinican%20Assurance%20Inc%20RRG%20(CARRG)/Meeting%20Materials/2023/2)%20February%202023/BOREX_CRRG%20AGG%20_%20FEB%202023.xlsx" TargetMode="External"/></Relationships>
</file>

<file path=ppt/charts/_rels/chart36.xml.rels><?xml version="1.0" encoding="UTF-8" standalone="yes"?>
<Relationships xmlns="http://schemas.openxmlformats.org/package/2006/relationships"><Relationship Id="rId1" Type="http://schemas.openxmlformats.org/officeDocument/2006/relationships/oleObject" Target="file:///C:\Users\whitb\OneDrive%20-%20Performa\PBDA\Client\CRRG%20-%20Clinican%20Assurance%20Inc%20RRG%20(CARRG)\Meeting%20Materials\2023\4)%20August%202023\BOREX_CRRG%20SMA%20_JUNE%202023%20DATA.xlsx" TargetMode="External"/></Relationships>
</file>

<file path=ppt/charts/_rels/chart37.xml.rels><?xml version="1.0" encoding="UTF-8" standalone="yes"?>
<Relationships xmlns="http://schemas.openxmlformats.org/package/2006/relationships"><Relationship Id="rId1" Type="http://schemas.openxmlformats.org/officeDocument/2006/relationships/oleObject" Target="https://performaltd.sharepoint.com/Shared%20Documents/PBDA/Client/CRRG%20-%20Clinican%20Assurance%20Inc%20RRG%20(CARRG)/Meeting%20Materials/2025/3)%20November%202025/October%2027%202025%20Update%20for%20Rllfwd%20and%20Performance/BOREX%20CRRG%20SMA%20October%25" TargetMode="External"/></Relationships>
</file>

<file path=ppt/charts/_rels/chart38.xml.rels><?xml version="1.0" encoding="UTF-8" standalone="yes"?>
<Relationships xmlns="http://schemas.openxmlformats.org/package/2006/relationships"><Relationship Id="rId3" Type="http://schemas.openxmlformats.org/officeDocument/2006/relationships/themeOverride" Target="../theme/themeOverride21.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https://performaltd.sharepoint.com/Shared%20Documents/PBDA/Data%20Bases/DB%20Reporting/Monthly%20Fact%20Sheet%20Support/1)%20ETF%20One%20Pager%20Data/ETF%20Data%20MASTER%20EXCEL%20-%20JJ%20UPDATES%20PERFORMANCE.xlsx" TargetMode="External"/></Relationships>
</file>

<file path=ppt/charts/_rels/chart39.xml.rels><?xml version="1.0" encoding="UTF-8" standalone="yes"?>
<Relationships xmlns="http://schemas.openxmlformats.org/package/2006/relationships"><Relationship Id="rId3" Type="http://schemas.openxmlformats.org/officeDocument/2006/relationships/themeOverride" Target="../theme/themeOverride22.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https://performaltd.sharepoint.com/Shared%20Documents/PBDA/Data%20Bases/DB%20Reporting/Monthly%20Fact%20Sheet%20Support/1)%20ETF%20One%20Pager%20Data/ETF%20Data%20MASTER%20EXCEL%20-%20JJ%20UPDATES%20PERFORMANCE.xlsx" TargetMode="External"/></Relationships>
</file>

<file path=ppt/charts/_rels/chart40.xml.rels><?xml version="1.0" encoding="UTF-8" standalone="yes"?>
<Relationships xmlns="http://schemas.openxmlformats.org/package/2006/relationships"><Relationship Id="rId3" Type="http://schemas.openxmlformats.org/officeDocument/2006/relationships/themeOverride" Target="../theme/themeOverride23.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https://performaltd.sharepoint.com/Shared%20Documents/PBDA/Data%20Bases/DB%20Reporting/Monthly%20Fact%20Sheet%20Support/1)%20ETF%20One%20Pager%20Data/ETF%20Data%20MASTER%20EXCEL%20-%20JJ%20UPDATES%20PERFORMANCE.xlsx" TargetMode="External"/></Relationships>
</file>

<file path=ppt/charts/_rels/chart41.xml.rels><?xml version="1.0" encoding="UTF-8" standalone="yes"?>
<Relationships xmlns="http://schemas.openxmlformats.org/package/2006/relationships"><Relationship Id="rId3" Type="http://schemas.openxmlformats.org/officeDocument/2006/relationships/themeOverride" Target="../theme/themeOverride24.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https://performaltd.sharepoint.com/Shared%20Documents/PBDA/Data%20Bases/DB%20Reporting/Monthly%20Fact%20Sheet%20Support/1)%20ETF%20One%20Pager%20Data/ETF%20Data%20MASTER%20EXCEL%20-%20JJ%20UPDATES%20PERFORMANCE.xlsx" TargetMode="External"/></Relationships>
</file>

<file path=ppt/charts/_rels/chart42.xml.rels><?xml version="1.0" encoding="UTF-8" standalone="yes"?>
<Relationships xmlns="http://schemas.openxmlformats.org/package/2006/relationships"><Relationship Id="rId3" Type="http://schemas.openxmlformats.org/officeDocument/2006/relationships/themeOverride" Target="../theme/themeOverride25.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https://performaltd.sharepoint.com/Shared%20Documents/PBDA/Data%20Bases/DB%20Reporting/Monthly%20Fact%20Sheet%20Support/1)%20ETF%20One%20Pager%20Data/ETF%20Data%20MASTER%20EXCEL%20-%20JJ%20UPDATES%20PERFORMANC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49410169882612"/>
          <c:y val="9.3790067728602891E-2"/>
          <c:w val="0.79994495880322647"/>
          <c:h val="0.74011694120131533"/>
        </c:manualLayout>
      </c:layout>
      <c:lineChart>
        <c:grouping val="standard"/>
        <c:varyColors val="0"/>
        <c:ser>
          <c:idx val="0"/>
          <c:order val="0"/>
          <c:tx>
            <c:strRef>
              <c:f>DXY!$B$1</c:f>
              <c:strCache>
                <c:ptCount val="1"/>
                <c:pt idx="0">
                  <c:v>Close</c:v>
                </c:pt>
              </c:strCache>
            </c:strRef>
          </c:tx>
          <c:spPr>
            <a:ln w="47625" cap="rnd">
              <a:solidFill>
                <a:srgbClr val="EAA03E"/>
              </a:solidFill>
              <a:round/>
            </a:ln>
            <a:effectLst/>
          </c:spPr>
          <c:marker>
            <c:symbol val="none"/>
          </c:marker>
          <c:cat>
            <c:numRef>
              <c:f>DXY!$A$2:$A$507</c:f>
              <c:numCache>
                <c:formatCode>m/d/yyyy</c:formatCode>
                <c:ptCount val="506"/>
                <c:pt idx="0" formatCode="[$-409]dd\-mmm\-yy;@">
                  <c:v>45657</c:v>
                </c:pt>
                <c:pt idx="1">
                  <c:v>45659</c:v>
                </c:pt>
                <c:pt idx="2">
                  <c:v>45660</c:v>
                </c:pt>
                <c:pt idx="3">
                  <c:v>45663</c:v>
                </c:pt>
                <c:pt idx="4">
                  <c:v>45664</c:v>
                </c:pt>
                <c:pt idx="5">
                  <c:v>45665</c:v>
                </c:pt>
                <c:pt idx="6">
                  <c:v>45666</c:v>
                </c:pt>
                <c:pt idx="7">
                  <c:v>45667</c:v>
                </c:pt>
                <c:pt idx="8">
                  <c:v>45670</c:v>
                </c:pt>
                <c:pt idx="9">
                  <c:v>45671</c:v>
                </c:pt>
                <c:pt idx="10">
                  <c:v>45672</c:v>
                </c:pt>
                <c:pt idx="11">
                  <c:v>45673</c:v>
                </c:pt>
                <c:pt idx="12">
                  <c:v>45674</c:v>
                </c:pt>
                <c:pt idx="13">
                  <c:v>45677</c:v>
                </c:pt>
                <c:pt idx="14">
                  <c:v>45678</c:v>
                </c:pt>
                <c:pt idx="15">
                  <c:v>45679</c:v>
                </c:pt>
                <c:pt idx="16">
                  <c:v>45680</c:v>
                </c:pt>
                <c:pt idx="17">
                  <c:v>45681</c:v>
                </c:pt>
                <c:pt idx="18">
                  <c:v>45684</c:v>
                </c:pt>
                <c:pt idx="19">
                  <c:v>45685</c:v>
                </c:pt>
                <c:pt idx="20">
                  <c:v>45686</c:v>
                </c:pt>
                <c:pt idx="21">
                  <c:v>45687</c:v>
                </c:pt>
                <c:pt idx="22">
                  <c:v>45688</c:v>
                </c:pt>
                <c:pt idx="23">
                  <c:v>45691</c:v>
                </c:pt>
                <c:pt idx="24">
                  <c:v>45692</c:v>
                </c:pt>
                <c:pt idx="25">
                  <c:v>45693</c:v>
                </c:pt>
                <c:pt idx="26">
                  <c:v>45694</c:v>
                </c:pt>
                <c:pt idx="27">
                  <c:v>45695</c:v>
                </c:pt>
                <c:pt idx="28">
                  <c:v>45698</c:v>
                </c:pt>
                <c:pt idx="29">
                  <c:v>45699</c:v>
                </c:pt>
                <c:pt idx="30">
                  <c:v>45700</c:v>
                </c:pt>
                <c:pt idx="31">
                  <c:v>45701</c:v>
                </c:pt>
                <c:pt idx="32">
                  <c:v>45702</c:v>
                </c:pt>
                <c:pt idx="33">
                  <c:v>45705</c:v>
                </c:pt>
                <c:pt idx="34">
                  <c:v>45706</c:v>
                </c:pt>
                <c:pt idx="35">
                  <c:v>45707</c:v>
                </c:pt>
                <c:pt idx="36">
                  <c:v>45708</c:v>
                </c:pt>
                <c:pt idx="37">
                  <c:v>45709</c:v>
                </c:pt>
                <c:pt idx="38">
                  <c:v>45712</c:v>
                </c:pt>
                <c:pt idx="39">
                  <c:v>45713</c:v>
                </c:pt>
                <c:pt idx="40">
                  <c:v>45714</c:v>
                </c:pt>
                <c:pt idx="41">
                  <c:v>45715</c:v>
                </c:pt>
                <c:pt idx="42">
                  <c:v>45716</c:v>
                </c:pt>
                <c:pt idx="43">
                  <c:v>45719</c:v>
                </c:pt>
                <c:pt idx="44">
                  <c:v>45720</c:v>
                </c:pt>
                <c:pt idx="45">
                  <c:v>45721</c:v>
                </c:pt>
                <c:pt idx="46">
                  <c:v>45722</c:v>
                </c:pt>
                <c:pt idx="47">
                  <c:v>45723</c:v>
                </c:pt>
                <c:pt idx="48">
                  <c:v>45726</c:v>
                </c:pt>
                <c:pt idx="49">
                  <c:v>45727</c:v>
                </c:pt>
                <c:pt idx="50">
                  <c:v>45728</c:v>
                </c:pt>
                <c:pt idx="51">
                  <c:v>45729</c:v>
                </c:pt>
                <c:pt idx="52">
                  <c:v>45730</c:v>
                </c:pt>
                <c:pt idx="53">
                  <c:v>45733</c:v>
                </c:pt>
                <c:pt idx="54">
                  <c:v>45734</c:v>
                </c:pt>
                <c:pt idx="55">
                  <c:v>45735</c:v>
                </c:pt>
                <c:pt idx="56">
                  <c:v>45736</c:v>
                </c:pt>
                <c:pt idx="57">
                  <c:v>45737</c:v>
                </c:pt>
                <c:pt idx="58">
                  <c:v>45740</c:v>
                </c:pt>
                <c:pt idx="59">
                  <c:v>45741</c:v>
                </c:pt>
                <c:pt idx="60">
                  <c:v>45742</c:v>
                </c:pt>
                <c:pt idx="61">
                  <c:v>45743</c:v>
                </c:pt>
                <c:pt idx="62">
                  <c:v>45744</c:v>
                </c:pt>
                <c:pt idx="63">
                  <c:v>45747</c:v>
                </c:pt>
                <c:pt idx="64">
                  <c:v>45748</c:v>
                </c:pt>
                <c:pt idx="65">
                  <c:v>45749</c:v>
                </c:pt>
                <c:pt idx="66">
                  <c:v>45750</c:v>
                </c:pt>
                <c:pt idx="67">
                  <c:v>45751</c:v>
                </c:pt>
                <c:pt idx="68">
                  <c:v>45754</c:v>
                </c:pt>
                <c:pt idx="69">
                  <c:v>45755</c:v>
                </c:pt>
                <c:pt idx="70">
                  <c:v>45756</c:v>
                </c:pt>
                <c:pt idx="71">
                  <c:v>45757</c:v>
                </c:pt>
                <c:pt idx="72">
                  <c:v>45758</c:v>
                </c:pt>
                <c:pt idx="73">
                  <c:v>45761</c:v>
                </c:pt>
                <c:pt idx="74">
                  <c:v>45762</c:v>
                </c:pt>
                <c:pt idx="75">
                  <c:v>45763</c:v>
                </c:pt>
                <c:pt idx="76">
                  <c:v>45764</c:v>
                </c:pt>
                <c:pt idx="77">
                  <c:v>45765</c:v>
                </c:pt>
                <c:pt idx="78">
                  <c:v>45768</c:v>
                </c:pt>
                <c:pt idx="79">
                  <c:v>45769</c:v>
                </c:pt>
                <c:pt idx="80">
                  <c:v>45770</c:v>
                </c:pt>
                <c:pt idx="81">
                  <c:v>45771</c:v>
                </c:pt>
                <c:pt idx="82">
                  <c:v>45772</c:v>
                </c:pt>
                <c:pt idx="83">
                  <c:v>45775</c:v>
                </c:pt>
                <c:pt idx="84">
                  <c:v>45776</c:v>
                </c:pt>
                <c:pt idx="85">
                  <c:v>45777</c:v>
                </c:pt>
                <c:pt idx="86">
                  <c:v>45778</c:v>
                </c:pt>
                <c:pt idx="87">
                  <c:v>45779</c:v>
                </c:pt>
                <c:pt idx="88">
                  <c:v>45782</c:v>
                </c:pt>
                <c:pt idx="89">
                  <c:v>45783</c:v>
                </c:pt>
                <c:pt idx="90">
                  <c:v>45784</c:v>
                </c:pt>
                <c:pt idx="91">
                  <c:v>45785</c:v>
                </c:pt>
                <c:pt idx="92">
                  <c:v>45786</c:v>
                </c:pt>
                <c:pt idx="93">
                  <c:v>45789</c:v>
                </c:pt>
                <c:pt idx="94">
                  <c:v>45790</c:v>
                </c:pt>
                <c:pt idx="95">
                  <c:v>45791</c:v>
                </c:pt>
                <c:pt idx="96">
                  <c:v>45792</c:v>
                </c:pt>
                <c:pt idx="97">
                  <c:v>45793</c:v>
                </c:pt>
                <c:pt idx="98">
                  <c:v>45796</c:v>
                </c:pt>
                <c:pt idx="99">
                  <c:v>45797</c:v>
                </c:pt>
                <c:pt idx="100">
                  <c:v>45798</c:v>
                </c:pt>
                <c:pt idx="101">
                  <c:v>45799</c:v>
                </c:pt>
                <c:pt idx="102">
                  <c:v>45800</c:v>
                </c:pt>
                <c:pt idx="103">
                  <c:v>45803</c:v>
                </c:pt>
                <c:pt idx="104">
                  <c:v>45804</c:v>
                </c:pt>
                <c:pt idx="105">
                  <c:v>45805</c:v>
                </c:pt>
                <c:pt idx="106">
                  <c:v>45806</c:v>
                </c:pt>
                <c:pt idx="107">
                  <c:v>45807</c:v>
                </c:pt>
                <c:pt idx="108">
                  <c:v>45810</c:v>
                </c:pt>
                <c:pt idx="109">
                  <c:v>45811</c:v>
                </c:pt>
                <c:pt idx="110">
                  <c:v>45812</c:v>
                </c:pt>
                <c:pt idx="111">
                  <c:v>45813</c:v>
                </c:pt>
                <c:pt idx="112">
                  <c:v>45814</c:v>
                </c:pt>
                <c:pt idx="113">
                  <c:v>45817</c:v>
                </c:pt>
                <c:pt idx="114">
                  <c:v>45818</c:v>
                </c:pt>
                <c:pt idx="115">
                  <c:v>45819</c:v>
                </c:pt>
                <c:pt idx="116">
                  <c:v>45820</c:v>
                </c:pt>
                <c:pt idx="117">
                  <c:v>45821</c:v>
                </c:pt>
                <c:pt idx="118">
                  <c:v>45824</c:v>
                </c:pt>
                <c:pt idx="119">
                  <c:v>45825</c:v>
                </c:pt>
                <c:pt idx="120">
                  <c:v>45826</c:v>
                </c:pt>
                <c:pt idx="121">
                  <c:v>45827</c:v>
                </c:pt>
                <c:pt idx="122">
                  <c:v>45828</c:v>
                </c:pt>
                <c:pt idx="123">
                  <c:v>45831</c:v>
                </c:pt>
                <c:pt idx="124">
                  <c:v>45832</c:v>
                </c:pt>
                <c:pt idx="125">
                  <c:v>45833</c:v>
                </c:pt>
                <c:pt idx="126">
                  <c:v>45834</c:v>
                </c:pt>
                <c:pt idx="127">
                  <c:v>45835</c:v>
                </c:pt>
                <c:pt idx="128">
                  <c:v>45838</c:v>
                </c:pt>
                <c:pt idx="129">
                  <c:v>45839</c:v>
                </c:pt>
                <c:pt idx="130">
                  <c:v>45840</c:v>
                </c:pt>
                <c:pt idx="131">
                  <c:v>45841</c:v>
                </c:pt>
                <c:pt idx="132">
                  <c:v>45842</c:v>
                </c:pt>
                <c:pt idx="133">
                  <c:v>45845</c:v>
                </c:pt>
                <c:pt idx="134">
                  <c:v>45846</c:v>
                </c:pt>
                <c:pt idx="135">
                  <c:v>45847</c:v>
                </c:pt>
                <c:pt idx="136">
                  <c:v>45848</c:v>
                </c:pt>
                <c:pt idx="137">
                  <c:v>45849</c:v>
                </c:pt>
                <c:pt idx="138">
                  <c:v>45852</c:v>
                </c:pt>
                <c:pt idx="139">
                  <c:v>45853</c:v>
                </c:pt>
                <c:pt idx="140">
                  <c:v>45854</c:v>
                </c:pt>
                <c:pt idx="141">
                  <c:v>45855</c:v>
                </c:pt>
                <c:pt idx="142">
                  <c:v>45856</c:v>
                </c:pt>
                <c:pt idx="143">
                  <c:v>45859</c:v>
                </c:pt>
                <c:pt idx="144">
                  <c:v>45860</c:v>
                </c:pt>
                <c:pt idx="145">
                  <c:v>45861</c:v>
                </c:pt>
                <c:pt idx="146">
                  <c:v>45862</c:v>
                </c:pt>
                <c:pt idx="147">
                  <c:v>45863</c:v>
                </c:pt>
                <c:pt idx="148">
                  <c:v>45866</c:v>
                </c:pt>
                <c:pt idx="149">
                  <c:v>45867</c:v>
                </c:pt>
                <c:pt idx="150">
                  <c:v>45868</c:v>
                </c:pt>
                <c:pt idx="151">
                  <c:v>45869</c:v>
                </c:pt>
                <c:pt idx="152">
                  <c:v>45870</c:v>
                </c:pt>
                <c:pt idx="153">
                  <c:v>45873</c:v>
                </c:pt>
                <c:pt idx="154">
                  <c:v>45874</c:v>
                </c:pt>
                <c:pt idx="155">
                  <c:v>45875</c:v>
                </c:pt>
                <c:pt idx="156">
                  <c:v>45876</c:v>
                </c:pt>
                <c:pt idx="157">
                  <c:v>45877</c:v>
                </c:pt>
                <c:pt idx="158">
                  <c:v>45880</c:v>
                </c:pt>
                <c:pt idx="159">
                  <c:v>45881</c:v>
                </c:pt>
                <c:pt idx="160">
                  <c:v>45882</c:v>
                </c:pt>
                <c:pt idx="161">
                  <c:v>45883</c:v>
                </c:pt>
                <c:pt idx="162">
                  <c:v>45884</c:v>
                </c:pt>
                <c:pt idx="163">
                  <c:v>45887</c:v>
                </c:pt>
                <c:pt idx="164">
                  <c:v>45888</c:v>
                </c:pt>
                <c:pt idx="165">
                  <c:v>45889</c:v>
                </c:pt>
                <c:pt idx="166">
                  <c:v>45890</c:v>
                </c:pt>
                <c:pt idx="167">
                  <c:v>45891</c:v>
                </c:pt>
                <c:pt idx="168">
                  <c:v>45894</c:v>
                </c:pt>
                <c:pt idx="169">
                  <c:v>45895</c:v>
                </c:pt>
                <c:pt idx="170">
                  <c:v>45896</c:v>
                </c:pt>
                <c:pt idx="171">
                  <c:v>45897</c:v>
                </c:pt>
                <c:pt idx="172">
                  <c:v>45898</c:v>
                </c:pt>
                <c:pt idx="173">
                  <c:v>45901</c:v>
                </c:pt>
                <c:pt idx="174">
                  <c:v>45902</c:v>
                </c:pt>
                <c:pt idx="175">
                  <c:v>45903</c:v>
                </c:pt>
                <c:pt idx="176">
                  <c:v>45904</c:v>
                </c:pt>
                <c:pt idx="177">
                  <c:v>45905</c:v>
                </c:pt>
                <c:pt idx="178">
                  <c:v>45908</c:v>
                </c:pt>
                <c:pt idx="179">
                  <c:v>45909</c:v>
                </c:pt>
                <c:pt idx="180">
                  <c:v>45910</c:v>
                </c:pt>
                <c:pt idx="181">
                  <c:v>45911</c:v>
                </c:pt>
                <c:pt idx="182">
                  <c:v>45912</c:v>
                </c:pt>
                <c:pt idx="183">
                  <c:v>45915</c:v>
                </c:pt>
                <c:pt idx="184">
                  <c:v>45916</c:v>
                </c:pt>
                <c:pt idx="185">
                  <c:v>45917</c:v>
                </c:pt>
                <c:pt idx="186">
                  <c:v>45918</c:v>
                </c:pt>
                <c:pt idx="187">
                  <c:v>45919</c:v>
                </c:pt>
                <c:pt idx="188">
                  <c:v>45922</c:v>
                </c:pt>
                <c:pt idx="189">
                  <c:v>45923</c:v>
                </c:pt>
                <c:pt idx="190">
                  <c:v>45924</c:v>
                </c:pt>
                <c:pt idx="191">
                  <c:v>45925</c:v>
                </c:pt>
                <c:pt idx="192">
                  <c:v>45926</c:v>
                </c:pt>
                <c:pt idx="193">
                  <c:v>45929</c:v>
                </c:pt>
                <c:pt idx="194">
                  <c:v>45930</c:v>
                </c:pt>
              </c:numCache>
            </c:numRef>
          </c:cat>
          <c:val>
            <c:numRef>
              <c:f>DXY!$B$2:$B$507</c:f>
              <c:numCache>
                <c:formatCode>General</c:formatCode>
                <c:ptCount val="506"/>
                <c:pt idx="0">
                  <c:v>108.48699999999999</c:v>
                </c:pt>
                <c:pt idx="1">
                  <c:v>109.39400000000001</c:v>
                </c:pt>
                <c:pt idx="2">
                  <c:v>108.952</c:v>
                </c:pt>
                <c:pt idx="3">
                  <c:v>108.25700000000001</c:v>
                </c:pt>
                <c:pt idx="4">
                  <c:v>108.542</c:v>
                </c:pt>
                <c:pt idx="5">
                  <c:v>109.09</c:v>
                </c:pt>
                <c:pt idx="6">
                  <c:v>109.179</c:v>
                </c:pt>
                <c:pt idx="7">
                  <c:v>109.65</c:v>
                </c:pt>
                <c:pt idx="8">
                  <c:v>109.956</c:v>
                </c:pt>
                <c:pt idx="9">
                  <c:v>109.273</c:v>
                </c:pt>
                <c:pt idx="10">
                  <c:v>109.09</c:v>
                </c:pt>
                <c:pt idx="11">
                  <c:v>108.95699999999999</c:v>
                </c:pt>
                <c:pt idx="12">
                  <c:v>109.34699999999999</c:v>
                </c:pt>
                <c:pt idx="13">
                  <c:v>109.34699999999999</c:v>
                </c:pt>
                <c:pt idx="14">
                  <c:v>108.062</c:v>
                </c:pt>
                <c:pt idx="15">
                  <c:v>108.167</c:v>
                </c:pt>
                <c:pt idx="16">
                  <c:v>108.047</c:v>
                </c:pt>
                <c:pt idx="17">
                  <c:v>107.443</c:v>
                </c:pt>
                <c:pt idx="18">
                  <c:v>107.34099999999999</c:v>
                </c:pt>
                <c:pt idx="19">
                  <c:v>107.866</c:v>
                </c:pt>
                <c:pt idx="20">
                  <c:v>108</c:v>
                </c:pt>
                <c:pt idx="21">
                  <c:v>107.797</c:v>
                </c:pt>
                <c:pt idx="22">
                  <c:v>108.37</c:v>
                </c:pt>
                <c:pt idx="23">
                  <c:v>108.99</c:v>
                </c:pt>
                <c:pt idx="24">
                  <c:v>107.96</c:v>
                </c:pt>
                <c:pt idx="25">
                  <c:v>107.57899999999999</c:v>
                </c:pt>
                <c:pt idx="26">
                  <c:v>107.68899999999999</c:v>
                </c:pt>
                <c:pt idx="27">
                  <c:v>108.04</c:v>
                </c:pt>
                <c:pt idx="28">
                  <c:v>108.319</c:v>
                </c:pt>
                <c:pt idx="29">
                  <c:v>107.96299999999999</c:v>
                </c:pt>
                <c:pt idx="30">
                  <c:v>107.938</c:v>
                </c:pt>
                <c:pt idx="31">
                  <c:v>107.313</c:v>
                </c:pt>
                <c:pt idx="32">
                  <c:v>106.71</c:v>
                </c:pt>
                <c:pt idx="33">
                  <c:v>106.575</c:v>
                </c:pt>
                <c:pt idx="34">
                  <c:v>107.054</c:v>
                </c:pt>
                <c:pt idx="35">
                  <c:v>107.173</c:v>
                </c:pt>
                <c:pt idx="36">
                  <c:v>106.372</c:v>
                </c:pt>
                <c:pt idx="37">
                  <c:v>106.61199999999999</c:v>
                </c:pt>
                <c:pt idx="38">
                  <c:v>106.596</c:v>
                </c:pt>
                <c:pt idx="39">
                  <c:v>106.30800000000001</c:v>
                </c:pt>
                <c:pt idx="40">
                  <c:v>106.416</c:v>
                </c:pt>
                <c:pt idx="41">
                  <c:v>107.244</c:v>
                </c:pt>
                <c:pt idx="42">
                  <c:v>107.614</c:v>
                </c:pt>
                <c:pt idx="43">
                  <c:v>106.747</c:v>
                </c:pt>
                <c:pt idx="44">
                  <c:v>105.74299999999999</c:v>
                </c:pt>
                <c:pt idx="45">
                  <c:v>104.276</c:v>
                </c:pt>
                <c:pt idx="46">
                  <c:v>104.062</c:v>
                </c:pt>
                <c:pt idx="47">
                  <c:v>103.83799999999999</c:v>
                </c:pt>
                <c:pt idx="48">
                  <c:v>103.9</c:v>
                </c:pt>
                <c:pt idx="49">
                  <c:v>103.419</c:v>
                </c:pt>
                <c:pt idx="50">
                  <c:v>103.61199999999999</c:v>
                </c:pt>
                <c:pt idx="51">
                  <c:v>103.828</c:v>
                </c:pt>
                <c:pt idx="52">
                  <c:v>103.718</c:v>
                </c:pt>
                <c:pt idx="53">
                  <c:v>103.37</c:v>
                </c:pt>
                <c:pt idx="54">
                  <c:v>103.244</c:v>
                </c:pt>
                <c:pt idx="55">
                  <c:v>103.428</c:v>
                </c:pt>
                <c:pt idx="56">
                  <c:v>103.851</c:v>
                </c:pt>
                <c:pt idx="57">
                  <c:v>104.08799999999999</c:v>
                </c:pt>
                <c:pt idx="58">
                  <c:v>104.262</c:v>
                </c:pt>
                <c:pt idx="59">
                  <c:v>104.184</c:v>
                </c:pt>
                <c:pt idx="60">
                  <c:v>104.547</c:v>
                </c:pt>
                <c:pt idx="61">
                  <c:v>104.33499999999999</c:v>
                </c:pt>
                <c:pt idx="62">
                  <c:v>104.044</c:v>
                </c:pt>
                <c:pt idx="63">
                  <c:v>104.21</c:v>
                </c:pt>
                <c:pt idx="64">
                  <c:v>104.26</c:v>
                </c:pt>
                <c:pt idx="65">
                  <c:v>103.807</c:v>
                </c:pt>
                <c:pt idx="66">
                  <c:v>102.072</c:v>
                </c:pt>
                <c:pt idx="67">
                  <c:v>103.023</c:v>
                </c:pt>
                <c:pt idx="68">
                  <c:v>103.256</c:v>
                </c:pt>
                <c:pt idx="69">
                  <c:v>102.955</c:v>
                </c:pt>
                <c:pt idx="70">
                  <c:v>102.9</c:v>
                </c:pt>
                <c:pt idx="71">
                  <c:v>100.867</c:v>
                </c:pt>
                <c:pt idx="72">
                  <c:v>100.102</c:v>
                </c:pt>
                <c:pt idx="73">
                  <c:v>99.64</c:v>
                </c:pt>
                <c:pt idx="74">
                  <c:v>100.215</c:v>
                </c:pt>
                <c:pt idx="75">
                  <c:v>99.38</c:v>
                </c:pt>
                <c:pt idx="76">
                  <c:v>99.376000000000005</c:v>
                </c:pt>
                <c:pt idx="77">
                  <c:v>99.23</c:v>
                </c:pt>
                <c:pt idx="78">
                  <c:v>98.278000000000006</c:v>
                </c:pt>
                <c:pt idx="79">
                  <c:v>98.918000000000006</c:v>
                </c:pt>
                <c:pt idx="80">
                  <c:v>99.843999999999994</c:v>
                </c:pt>
                <c:pt idx="81">
                  <c:v>99.376999999999995</c:v>
                </c:pt>
                <c:pt idx="82">
                  <c:v>99.471000000000004</c:v>
                </c:pt>
                <c:pt idx="83">
                  <c:v>99.01</c:v>
                </c:pt>
                <c:pt idx="84">
                  <c:v>99.236999999999995</c:v>
                </c:pt>
                <c:pt idx="85">
                  <c:v>99.468000000000004</c:v>
                </c:pt>
                <c:pt idx="86">
                  <c:v>100.248</c:v>
                </c:pt>
                <c:pt idx="87">
                  <c:v>100.03</c:v>
                </c:pt>
                <c:pt idx="88">
                  <c:v>99.831000000000003</c:v>
                </c:pt>
                <c:pt idx="89">
                  <c:v>99.238</c:v>
                </c:pt>
                <c:pt idx="90">
                  <c:v>99.614000000000004</c:v>
                </c:pt>
                <c:pt idx="91">
                  <c:v>100.64</c:v>
                </c:pt>
                <c:pt idx="92">
                  <c:v>100.339</c:v>
                </c:pt>
                <c:pt idx="93">
                  <c:v>101.788</c:v>
                </c:pt>
                <c:pt idx="94">
                  <c:v>101.003</c:v>
                </c:pt>
                <c:pt idx="95">
                  <c:v>101.039</c:v>
                </c:pt>
                <c:pt idx="96">
                  <c:v>100.879</c:v>
                </c:pt>
                <c:pt idx="97">
                  <c:v>101.092</c:v>
                </c:pt>
                <c:pt idx="98">
                  <c:v>100.426</c:v>
                </c:pt>
                <c:pt idx="99">
                  <c:v>100.11799999999999</c:v>
                </c:pt>
                <c:pt idx="100">
                  <c:v>99.558999999999997</c:v>
                </c:pt>
                <c:pt idx="101">
                  <c:v>99.96</c:v>
                </c:pt>
                <c:pt idx="102">
                  <c:v>99.111999999999995</c:v>
                </c:pt>
                <c:pt idx="103">
                  <c:v>98.933999999999997</c:v>
                </c:pt>
                <c:pt idx="104">
                  <c:v>99.521000000000001</c:v>
                </c:pt>
                <c:pt idx="105">
                  <c:v>99.875</c:v>
                </c:pt>
                <c:pt idx="106">
                  <c:v>99.278000000000006</c:v>
                </c:pt>
                <c:pt idx="107">
                  <c:v>99.328999999999994</c:v>
                </c:pt>
                <c:pt idx="108">
                  <c:v>98.706000000000003</c:v>
                </c:pt>
                <c:pt idx="109">
                  <c:v>99.227000000000004</c:v>
                </c:pt>
                <c:pt idx="110">
                  <c:v>98.787000000000006</c:v>
                </c:pt>
                <c:pt idx="111">
                  <c:v>98.741</c:v>
                </c:pt>
                <c:pt idx="112">
                  <c:v>99.19</c:v>
                </c:pt>
                <c:pt idx="113">
                  <c:v>98.938999999999993</c:v>
                </c:pt>
                <c:pt idx="114">
                  <c:v>99.097999999999999</c:v>
                </c:pt>
                <c:pt idx="115">
                  <c:v>98.631</c:v>
                </c:pt>
                <c:pt idx="116">
                  <c:v>97.921000000000006</c:v>
                </c:pt>
                <c:pt idx="117">
                  <c:v>98.183999999999997</c:v>
                </c:pt>
                <c:pt idx="118">
                  <c:v>97.998000000000005</c:v>
                </c:pt>
                <c:pt idx="119">
                  <c:v>98.82</c:v>
                </c:pt>
                <c:pt idx="120">
                  <c:v>98.905000000000001</c:v>
                </c:pt>
                <c:pt idx="121">
                  <c:v>98.905000000000001</c:v>
                </c:pt>
                <c:pt idx="122">
                  <c:v>98.706999999999994</c:v>
                </c:pt>
                <c:pt idx="123">
                  <c:v>98.415999999999997</c:v>
                </c:pt>
                <c:pt idx="124">
                  <c:v>97.858000000000004</c:v>
                </c:pt>
                <c:pt idx="125">
                  <c:v>97.679000000000002</c:v>
                </c:pt>
                <c:pt idx="126">
                  <c:v>97.147000000000006</c:v>
                </c:pt>
                <c:pt idx="127">
                  <c:v>97.400999999999996</c:v>
                </c:pt>
                <c:pt idx="128">
                  <c:v>96.875</c:v>
                </c:pt>
                <c:pt idx="129">
                  <c:v>96.819000000000003</c:v>
                </c:pt>
                <c:pt idx="130">
                  <c:v>96.775999999999996</c:v>
                </c:pt>
                <c:pt idx="131">
                  <c:v>97.18</c:v>
                </c:pt>
                <c:pt idx="132">
                  <c:v>97.18</c:v>
                </c:pt>
                <c:pt idx="133">
                  <c:v>97.48</c:v>
                </c:pt>
                <c:pt idx="134">
                  <c:v>97.516000000000005</c:v>
                </c:pt>
                <c:pt idx="135">
                  <c:v>97.555000000000007</c:v>
                </c:pt>
                <c:pt idx="136">
                  <c:v>97.652000000000001</c:v>
                </c:pt>
                <c:pt idx="137">
                  <c:v>97.852999999999994</c:v>
                </c:pt>
                <c:pt idx="138">
                  <c:v>98.081000000000003</c:v>
                </c:pt>
                <c:pt idx="139">
                  <c:v>98.616</c:v>
                </c:pt>
                <c:pt idx="140">
                  <c:v>98.391999999999996</c:v>
                </c:pt>
                <c:pt idx="141">
                  <c:v>98.733999999999995</c:v>
                </c:pt>
                <c:pt idx="142">
                  <c:v>98.481999999999999</c:v>
                </c:pt>
                <c:pt idx="143">
                  <c:v>97.852999999999994</c:v>
                </c:pt>
                <c:pt idx="144">
                  <c:v>97.391999999999996</c:v>
                </c:pt>
                <c:pt idx="145">
                  <c:v>97.213999999999999</c:v>
                </c:pt>
                <c:pt idx="146">
                  <c:v>97.376999999999995</c:v>
                </c:pt>
                <c:pt idx="147">
                  <c:v>97.644999999999996</c:v>
                </c:pt>
                <c:pt idx="148">
                  <c:v>98.634</c:v>
                </c:pt>
                <c:pt idx="149">
                  <c:v>98.885999999999996</c:v>
                </c:pt>
                <c:pt idx="150">
                  <c:v>99.814999999999998</c:v>
                </c:pt>
                <c:pt idx="151">
                  <c:v>99.968000000000004</c:v>
                </c:pt>
                <c:pt idx="152">
                  <c:v>99.141000000000005</c:v>
                </c:pt>
                <c:pt idx="153">
                  <c:v>98.784000000000006</c:v>
                </c:pt>
                <c:pt idx="154">
                  <c:v>98.781999999999996</c:v>
                </c:pt>
                <c:pt idx="155">
                  <c:v>98.177000000000007</c:v>
                </c:pt>
                <c:pt idx="156">
                  <c:v>98.4</c:v>
                </c:pt>
                <c:pt idx="157">
                  <c:v>98.18</c:v>
                </c:pt>
                <c:pt idx="158">
                  <c:v>98.52</c:v>
                </c:pt>
                <c:pt idx="159">
                  <c:v>98.096999999999994</c:v>
                </c:pt>
                <c:pt idx="160">
                  <c:v>97.84</c:v>
                </c:pt>
                <c:pt idx="161">
                  <c:v>98.254000000000005</c:v>
                </c:pt>
                <c:pt idx="162">
                  <c:v>97.852000000000004</c:v>
                </c:pt>
                <c:pt idx="163">
                  <c:v>98.167000000000002</c:v>
                </c:pt>
                <c:pt idx="164">
                  <c:v>98.265000000000001</c:v>
                </c:pt>
                <c:pt idx="165">
                  <c:v>98.218000000000004</c:v>
                </c:pt>
                <c:pt idx="166">
                  <c:v>98.619</c:v>
                </c:pt>
                <c:pt idx="167">
                  <c:v>97.715999999999994</c:v>
                </c:pt>
                <c:pt idx="168">
                  <c:v>98.43</c:v>
                </c:pt>
                <c:pt idx="169">
                  <c:v>98.224999999999994</c:v>
                </c:pt>
                <c:pt idx="170">
                  <c:v>98.231999999999999</c:v>
                </c:pt>
                <c:pt idx="171">
                  <c:v>97.813000000000002</c:v>
                </c:pt>
                <c:pt idx="172">
                  <c:v>97.771000000000001</c:v>
                </c:pt>
                <c:pt idx="173">
                  <c:v>97.771000000000001</c:v>
                </c:pt>
                <c:pt idx="174">
                  <c:v>98.397000000000006</c:v>
                </c:pt>
                <c:pt idx="175">
                  <c:v>98.141999999999996</c:v>
                </c:pt>
                <c:pt idx="176">
                  <c:v>98.346999999999994</c:v>
                </c:pt>
                <c:pt idx="177">
                  <c:v>97.768000000000001</c:v>
                </c:pt>
                <c:pt idx="178">
                  <c:v>97.453999999999994</c:v>
                </c:pt>
                <c:pt idx="179">
                  <c:v>97.787999999999997</c:v>
                </c:pt>
                <c:pt idx="180">
                  <c:v>97.78</c:v>
                </c:pt>
                <c:pt idx="181">
                  <c:v>97.531000000000006</c:v>
                </c:pt>
                <c:pt idx="182">
                  <c:v>97.55</c:v>
                </c:pt>
                <c:pt idx="183">
                  <c:v>97.302000000000007</c:v>
                </c:pt>
                <c:pt idx="184">
                  <c:v>96.632999999999996</c:v>
                </c:pt>
                <c:pt idx="185">
                  <c:v>96.873000000000005</c:v>
                </c:pt>
                <c:pt idx="186">
                  <c:v>97.347999999999999</c:v>
                </c:pt>
                <c:pt idx="187">
                  <c:v>97.644000000000005</c:v>
                </c:pt>
                <c:pt idx="188">
                  <c:v>97.340999999999994</c:v>
                </c:pt>
                <c:pt idx="189">
                  <c:v>97.263999999999996</c:v>
                </c:pt>
                <c:pt idx="190">
                  <c:v>97.873000000000005</c:v>
                </c:pt>
                <c:pt idx="191">
                  <c:v>98.552999999999997</c:v>
                </c:pt>
                <c:pt idx="192">
                  <c:v>98.152000000000001</c:v>
                </c:pt>
                <c:pt idx="193">
                  <c:v>97.906000000000006</c:v>
                </c:pt>
                <c:pt idx="194">
                  <c:v>97.775000000000006</c:v>
                </c:pt>
              </c:numCache>
            </c:numRef>
          </c:val>
          <c:smooth val="0"/>
          <c:extLst>
            <c:ext xmlns:c16="http://schemas.microsoft.com/office/drawing/2014/chart" uri="{C3380CC4-5D6E-409C-BE32-E72D297353CC}">
              <c16:uniqueId val="{00000000-FEB1-460A-843B-A2B581D9707B}"/>
            </c:ext>
          </c:extLst>
        </c:ser>
        <c:dLbls>
          <c:showLegendKey val="0"/>
          <c:showVal val="0"/>
          <c:showCatName val="0"/>
          <c:showSerName val="0"/>
          <c:showPercent val="0"/>
          <c:showBubbleSize val="0"/>
        </c:dLbls>
        <c:smooth val="0"/>
        <c:axId val="1931503359"/>
        <c:axId val="1931502399"/>
      </c:lineChart>
      <c:dateAx>
        <c:axId val="1931503359"/>
        <c:scaling>
          <c:orientation val="minMax"/>
        </c:scaling>
        <c:delete val="0"/>
        <c:axPos val="b"/>
        <c:numFmt formatCode="[$-409]mmm\-yy;@" sourceLinked="0"/>
        <c:majorTickMark val="out"/>
        <c:minorTickMark val="none"/>
        <c:tickLblPos val="nextTo"/>
        <c:spPr>
          <a:noFill/>
          <a:ln w="9525" cap="flat" cmpd="sng" algn="ctr">
            <a:solidFill>
              <a:schemeClr val="bg1"/>
            </a:solidFill>
            <a:round/>
          </a:ln>
          <a:effectLst/>
        </c:spPr>
        <c:txPr>
          <a:bodyPr rot="0" spcFirstLastPara="1" vertOverflow="ellipsis" wrap="square" anchor="ctr" anchorCtr="1"/>
          <a:lstStyle/>
          <a:p>
            <a:pPr algn="ctr">
              <a:defRPr lang="en-US" sz="900" b="0" i="0" u="none" strike="noStrike" kern="1200" cap="all" spc="-50" baseline="0">
                <a:solidFill>
                  <a:schemeClr val="bg1"/>
                </a:solidFill>
                <a:latin typeface="Poppins Medium" panose="00000600000000000000" pitchFamily="2" charset="0"/>
                <a:ea typeface="+mn-ea"/>
                <a:cs typeface="Poppins Medium" panose="00000600000000000000" pitchFamily="2" charset="0"/>
              </a:defRPr>
            </a:pPr>
            <a:endParaRPr lang="en-US"/>
          </a:p>
        </c:txPr>
        <c:crossAx val="1931502399"/>
        <c:crosses val="autoZero"/>
        <c:auto val="1"/>
        <c:lblOffset val="100"/>
        <c:baseTimeUnit val="days"/>
        <c:majorUnit val="3"/>
        <c:majorTimeUnit val="months"/>
      </c:dateAx>
      <c:valAx>
        <c:axId val="1931502399"/>
        <c:scaling>
          <c:orientation val="minMax"/>
          <c:max val="115"/>
          <c:min val="95"/>
        </c:scaling>
        <c:delete val="0"/>
        <c:axPos val="l"/>
        <c:majorGridlines>
          <c:spPr>
            <a:ln w="9525" cap="flat" cmpd="sng" algn="ctr">
              <a:solidFill>
                <a:schemeClr val="tx1">
                  <a:lumMod val="15000"/>
                  <a:lumOff val="85000"/>
                  <a:alpha val="22000"/>
                </a:schemeClr>
              </a:solidFill>
              <a:round/>
            </a:ln>
            <a:effectLst/>
          </c:spPr>
        </c:majorGridlines>
        <c:numFmt formatCode="0" sourceLinked="0"/>
        <c:majorTickMark val="none"/>
        <c:minorTickMark val="none"/>
        <c:tickLblPos val="nextTo"/>
        <c:spPr>
          <a:noFill/>
          <a:ln w="9525">
            <a:solidFill>
              <a:schemeClr val="bg1"/>
            </a:solidFill>
          </a:ln>
          <a:effectLst/>
        </c:spPr>
        <c:txPr>
          <a:bodyPr rot="-60000000" spcFirstLastPara="1" vertOverflow="ellipsis" vert="horz" wrap="square" anchor="ctr" anchorCtr="1"/>
          <a:lstStyle/>
          <a:p>
            <a:pPr algn="ct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1931503359"/>
        <c:crosses val="autoZero"/>
        <c:crossBetween val="between"/>
        <c:majorUnit val="5"/>
      </c:valAx>
      <c:spPr>
        <a:solidFill>
          <a:srgbClr val="44546A"/>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2B3E59"/>
    </a:solidFill>
    <a:ln w="9525" cap="flat" cmpd="sng" algn="ctr">
      <a:no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146818186188264"/>
          <c:y val="9.2955716203577995E-2"/>
          <c:w val="0.80843572438060629"/>
          <c:h val="0.72543423990104683"/>
        </c:manualLayout>
      </c:layout>
      <c:lineChart>
        <c:grouping val="standard"/>
        <c:varyColors val="0"/>
        <c:ser>
          <c:idx val="0"/>
          <c:order val="0"/>
          <c:tx>
            <c:strRef>
              <c:f>'SPX RETURNS 1'!$B$1</c:f>
              <c:strCache>
                <c:ptCount val="1"/>
                <c:pt idx="0">
                  <c:v>Last Price</c:v>
                </c:pt>
              </c:strCache>
            </c:strRef>
          </c:tx>
          <c:spPr>
            <a:ln w="41275" cap="rnd">
              <a:solidFill>
                <a:sysClr val="window" lastClr="FFFFFF"/>
              </a:solidFill>
              <a:round/>
            </a:ln>
            <a:effectLst/>
          </c:spPr>
          <c:marker>
            <c:symbol val="none"/>
          </c:marker>
          <c:dPt>
            <c:idx val="29"/>
            <c:marker>
              <c:symbol val="none"/>
            </c:marker>
            <c:bubble3D val="0"/>
            <c:extLst>
              <c:ext xmlns:c16="http://schemas.microsoft.com/office/drawing/2014/chart" uri="{C3380CC4-5D6E-409C-BE32-E72D297353CC}">
                <c16:uniqueId val="{00000000-C8EC-4363-AC08-E90835802070}"/>
              </c:ext>
            </c:extLst>
          </c:dPt>
          <c:cat>
            <c:numRef>
              <c:f>'SPX RETURNS 1'!$A$2:$A$601</c:f>
              <c:numCache>
                <c:formatCode>m/d/yyyy</c:formatCode>
                <c:ptCount val="600"/>
                <c:pt idx="0">
                  <c:v>45657</c:v>
                </c:pt>
                <c:pt idx="1">
                  <c:v>45659</c:v>
                </c:pt>
                <c:pt idx="2">
                  <c:v>45660</c:v>
                </c:pt>
                <c:pt idx="3">
                  <c:v>45663</c:v>
                </c:pt>
                <c:pt idx="4">
                  <c:v>45664</c:v>
                </c:pt>
                <c:pt idx="5">
                  <c:v>45665</c:v>
                </c:pt>
                <c:pt idx="6">
                  <c:v>45667</c:v>
                </c:pt>
                <c:pt idx="7">
                  <c:v>45670</c:v>
                </c:pt>
                <c:pt idx="8">
                  <c:v>45671</c:v>
                </c:pt>
                <c:pt idx="9">
                  <c:v>45672</c:v>
                </c:pt>
                <c:pt idx="10">
                  <c:v>45673</c:v>
                </c:pt>
                <c:pt idx="11">
                  <c:v>45674</c:v>
                </c:pt>
                <c:pt idx="12">
                  <c:v>45678</c:v>
                </c:pt>
                <c:pt idx="13">
                  <c:v>45679</c:v>
                </c:pt>
                <c:pt idx="14">
                  <c:v>45680</c:v>
                </c:pt>
                <c:pt idx="15">
                  <c:v>45681</c:v>
                </c:pt>
                <c:pt idx="16">
                  <c:v>45684</c:v>
                </c:pt>
                <c:pt idx="17">
                  <c:v>45685</c:v>
                </c:pt>
                <c:pt idx="18">
                  <c:v>45686</c:v>
                </c:pt>
                <c:pt idx="19">
                  <c:v>45687</c:v>
                </c:pt>
                <c:pt idx="20">
                  <c:v>45688</c:v>
                </c:pt>
                <c:pt idx="21">
                  <c:v>45691</c:v>
                </c:pt>
                <c:pt idx="22">
                  <c:v>45692</c:v>
                </c:pt>
                <c:pt idx="23">
                  <c:v>45693</c:v>
                </c:pt>
                <c:pt idx="24">
                  <c:v>45694</c:v>
                </c:pt>
                <c:pt idx="25">
                  <c:v>45695</c:v>
                </c:pt>
                <c:pt idx="26">
                  <c:v>45698</c:v>
                </c:pt>
                <c:pt idx="27">
                  <c:v>45699</c:v>
                </c:pt>
                <c:pt idx="28">
                  <c:v>45700</c:v>
                </c:pt>
                <c:pt idx="29">
                  <c:v>45701</c:v>
                </c:pt>
                <c:pt idx="30">
                  <c:v>45702</c:v>
                </c:pt>
                <c:pt idx="31">
                  <c:v>45706</c:v>
                </c:pt>
                <c:pt idx="32">
                  <c:v>45707</c:v>
                </c:pt>
                <c:pt idx="33">
                  <c:v>45708</c:v>
                </c:pt>
                <c:pt idx="34">
                  <c:v>45709</c:v>
                </c:pt>
                <c:pt idx="35">
                  <c:v>45712</c:v>
                </c:pt>
                <c:pt idx="36">
                  <c:v>45713</c:v>
                </c:pt>
                <c:pt idx="37">
                  <c:v>45714</c:v>
                </c:pt>
                <c:pt idx="38">
                  <c:v>45715</c:v>
                </c:pt>
                <c:pt idx="39">
                  <c:v>45716</c:v>
                </c:pt>
                <c:pt idx="40">
                  <c:v>45719</c:v>
                </c:pt>
                <c:pt idx="41">
                  <c:v>45720</c:v>
                </c:pt>
                <c:pt idx="42">
                  <c:v>45721</c:v>
                </c:pt>
                <c:pt idx="43">
                  <c:v>45722</c:v>
                </c:pt>
                <c:pt idx="44">
                  <c:v>45723</c:v>
                </c:pt>
                <c:pt idx="45">
                  <c:v>45726</c:v>
                </c:pt>
                <c:pt idx="46">
                  <c:v>45727</c:v>
                </c:pt>
                <c:pt idx="47">
                  <c:v>45728</c:v>
                </c:pt>
                <c:pt idx="48">
                  <c:v>45729</c:v>
                </c:pt>
                <c:pt idx="49">
                  <c:v>45730</c:v>
                </c:pt>
                <c:pt idx="50">
                  <c:v>45733</c:v>
                </c:pt>
                <c:pt idx="51">
                  <c:v>45734</c:v>
                </c:pt>
                <c:pt idx="52">
                  <c:v>45735</c:v>
                </c:pt>
                <c:pt idx="53">
                  <c:v>45736</c:v>
                </c:pt>
                <c:pt idx="54">
                  <c:v>45737</c:v>
                </c:pt>
                <c:pt idx="55">
                  <c:v>45740</c:v>
                </c:pt>
                <c:pt idx="56">
                  <c:v>45741</c:v>
                </c:pt>
                <c:pt idx="57">
                  <c:v>45742</c:v>
                </c:pt>
                <c:pt idx="58">
                  <c:v>45743</c:v>
                </c:pt>
                <c:pt idx="59">
                  <c:v>45744</c:v>
                </c:pt>
                <c:pt idx="60">
                  <c:v>45747</c:v>
                </c:pt>
                <c:pt idx="61">
                  <c:v>45748</c:v>
                </c:pt>
                <c:pt idx="62">
                  <c:v>45749</c:v>
                </c:pt>
                <c:pt idx="63">
                  <c:v>45750</c:v>
                </c:pt>
                <c:pt idx="64">
                  <c:v>45751</c:v>
                </c:pt>
                <c:pt idx="65">
                  <c:v>45754</c:v>
                </c:pt>
                <c:pt idx="66">
                  <c:v>45755</c:v>
                </c:pt>
                <c:pt idx="67">
                  <c:v>45756</c:v>
                </c:pt>
                <c:pt idx="68">
                  <c:v>45757</c:v>
                </c:pt>
                <c:pt idx="69">
                  <c:v>45758</c:v>
                </c:pt>
                <c:pt idx="70">
                  <c:v>45761</c:v>
                </c:pt>
                <c:pt idx="71">
                  <c:v>45762</c:v>
                </c:pt>
                <c:pt idx="72">
                  <c:v>45763</c:v>
                </c:pt>
                <c:pt idx="73">
                  <c:v>45764</c:v>
                </c:pt>
                <c:pt idx="74">
                  <c:v>45768</c:v>
                </c:pt>
                <c:pt idx="75">
                  <c:v>45769</c:v>
                </c:pt>
                <c:pt idx="76">
                  <c:v>45770</c:v>
                </c:pt>
                <c:pt idx="77">
                  <c:v>45771</c:v>
                </c:pt>
                <c:pt idx="78">
                  <c:v>45772</c:v>
                </c:pt>
                <c:pt idx="79">
                  <c:v>45775</c:v>
                </c:pt>
                <c:pt idx="80">
                  <c:v>45776</c:v>
                </c:pt>
                <c:pt idx="81">
                  <c:v>45777</c:v>
                </c:pt>
                <c:pt idx="82">
                  <c:v>45778</c:v>
                </c:pt>
                <c:pt idx="83">
                  <c:v>45779</c:v>
                </c:pt>
                <c:pt idx="84">
                  <c:v>45782</c:v>
                </c:pt>
                <c:pt idx="85">
                  <c:v>45783</c:v>
                </c:pt>
                <c:pt idx="86">
                  <c:v>45784</c:v>
                </c:pt>
                <c:pt idx="87">
                  <c:v>45785</c:v>
                </c:pt>
                <c:pt idx="88">
                  <c:v>45786</c:v>
                </c:pt>
                <c:pt idx="89">
                  <c:v>45789</c:v>
                </c:pt>
                <c:pt idx="90">
                  <c:v>45790</c:v>
                </c:pt>
                <c:pt idx="91">
                  <c:v>45791</c:v>
                </c:pt>
                <c:pt idx="92">
                  <c:v>45792</c:v>
                </c:pt>
                <c:pt idx="93">
                  <c:v>45793</c:v>
                </c:pt>
                <c:pt idx="94">
                  <c:v>45796</c:v>
                </c:pt>
                <c:pt idx="95">
                  <c:v>45797</c:v>
                </c:pt>
                <c:pt idx="96">
                  <c:v>45798</c:v>
                </c:pt>
                <c:pt idx="97">
                  <c:v>45799</c:v>
                </c:pt>
                <c:pt idx="98">
                  <c:v>45800</c:v>
                </c:pt>
                <c:pt idx="99">
                  <c:v>45804</c:v>
                </c:pt>
                <c:pt idx="100">
                  <c:v>45805</c:v>
                </c:pt>
                <c:pt idx="101">
                  <c:v>45806</c:v>
                </c:pt>
                <c:pt idx="102">
                  <c:v>45807</c:v>
                </c:pt>
                <c:pt idx="103">
                  <c:v>45810</c:v>
                </c:pt>
                <c:pt idx="104">
                  <c:v>45811</c:v>
                </c:pt>
                <c:pt idx="105">
                  <c:v>45812</c:v>
                </c:pt>
                <c:pt idx="106">
                  <c:v>45813</c:v>
                </c:pt>
                <c:pt idx="107">
                  <c:v>45814</c:v>
                </c:pt>
                <c:pt idx="108">
                  <c:v>45817</c:v>
                </c:pt>
                <c:pt idx="109">
                  <c:v>45818</c:v>
                </c:pt>
                <c:pt idx="110">
                  <c:v>45819</c:v>
                </c:pt>
                <c:pt idx="111">
                  <c:v>45820</c:v>
                </c:pt>
                <c:pt idx="112">
                  <c:v>45821</c:v>
                </c:pt>
                <c:pt idx="113">
                  <c:v>45824</c:v>
                </c:pt>
                <c:pt idx="114">
                  <c:v>45825</c:v>
                </c:pt>
                <c:pt idx="115">
                  <c:v>45826</c:v>
                </c:pt>
                <c:pt idx="116">
                  <c:v>45828</c:v>
                </c:pt>
                <c:pt idx="117">
                  <c:v>45831</c:v>
                </c:pt>
                <c:pt idx="118">
                  <c:v>45832</c:v>
                </c:pt>
                <c:pt idx="119">
                  <c:v>45833</c:v>
                </c:pt>
                <c:pt idx="120">
                  <c:v>45834</c:v>
                </c:pt>
                <c:pt idx="121">
                  <c:v>45835</c:v>
                </c:pt>
                <c:pt idx="122">
                  <c:v>45838</c:v>
                </c:pt>
                <c:pt idx="123">
                  <c:v>45839</c:v>
                </c:pt>
                <c:pt idx="124">
                  <c:v>45840</c:v>
                </c:pt>
                <c:pt idx="125">
                  <c:v>45841</c:v>
                </c:pt>
                <c:pt idx="126">
                  <c:v>45845</c:v>
                </c:pt>
                <c:pt idx="127">
                  <c:v>45846</c:v>
                </c:pt>
                <c:pt idx="128">
                  <c:v>45847</c:v>
                </c:pt>
                <c:pt idx="129">
                  <c:v>45848</c:v>
                </c:pt>
                <c:pt idx="130">
                  <c:v>45849</c:v>
                </c:pt>
                <c:pt idx="131">
                  <c:v>45852</c:v>
                </c:pt>
                <c:pt idx="132">
                  <c:v>45853</c:v>
                </c:pt>
                <c:pt idx="133">
                  <c:v>45854</c:v>
                </c:pt>
                <c:pt idx="134">
                  <c:v>45855</c:v>
                </c:pt>
                <c:pt idx="135">
                  <c:v>45856</c:v>
                </c:pt>
                <c:pt idx="136">
                  <c:v>45859</c:v>
                </c:pt>
                <c:pt idx="137">
                  <c:v>45860</c:v>
                </c:pt>
                <c:pt idx="138">
                  <c:v>45861</c:v>
                </c:pt>
                <c:pt idx="139">
                  <c:v>45862</c:v>
                </c:pt>
                <c:pt idx="140">
                  <c:v>45863</c:v>
                </c:pt>
                <c:pt idx="141">
                  <c:v>45866</c:v>
                </c:pt>
                <c:pt idx="142">
                  <c:v>45867</c:v>
                </c:pt>
                <c:pt idx="143">
                  <c:v>45868</c:v>
                </c:pt>
                <c:pt idx="144">
                  <c:v>45869</c:v>
                </c:pt>
                <c:pt idx="145">
                  <c:v>45870</c:v>
                </c:pt>
                <c:pt idx="146">
                  <c:v>45873</c:v>
                </c:pt>
                <c:pt idx="147">
                  <c:v>45874</c:v>
                </c:pt>
                <c:pt idx="148">
                  <c:v>45875</c:v>
                </c:pt>
                <c:pt idx="149">
                  <c:v>45876</c:v>
                </c:pt>
                <c:pt idx="150">
                  <c:v>45877</c:v>
                </c:pt>
                <c:pt idx="151">
                  <c:v>45880</c:v>
                </c:pt>
                <c:pt idx="152">
                  <c:v>45881</c:v>
                </c:pt>
                <c:pt idx="153">
                  <c:v>45882</c:v>
                </c:pt>
                <c:pt idx="154">
                  <c:v>45883</c:v>
                </c:pt>
                <c:pt idx="155">
                  <c:v>45884</c:v>
                </c:pt>
                <c:pt idx="156">
                  <c:v>45887</c:v>
                </c:pt>
                <c:pt idx="157">
                  <c:v>45888</c:v>
                </c:pt>
                <c:pt idx="158">
                  <c:v>45889</c:v>
                </c:pt>
                <c:pt idx="159">
                  <c:v>45890</c:v>
                </c:pt>
                <c:pt idx="160">
                  <c:v>45891</c:v>
                </c:pt>
                <c:pt idx="161">
                  <c:v>45894</c:v>
                </c:pt>
                <c:pt idx="162">
                  <c:v>45895</c:v>
                </c:pt>
                <c:pt idx="163">
                  <c:v>45896</c:v>
                </c:pt>
                <c:pt idx="164">
                  <c:v>45897</c:v>
                </c:pt>
                <c:pt idx="165">
                  <c:v>45898</c:v>
                </c:pt>
                <c:pt idx="166">
                  <c:v>45902</c:v>
                </c:pt>
                <c:pt idx="167">
                  <c:v>45903</c:v>
                </c:pt>
                <c:pt idx="168">
                  <c:v>45904</c:v>
                </c:pt>
                <c:pt idx="169">
                  <c:v>45905</c:v>
                </c:pt>
                <c:pt idx="170">
                  <c:v>45908</c:v>
                </c:pt>
                <c:pt idx="171">
                  <c:v>45909</c:v>
                </c:pt>
                <c:pt idx="172">
                  <c:v>45910</c:v>
                </c:pt>
                <c:pt idx="173">
                  <c:v>45911</c:v>
                </c:pt>
                <c:pt idx="174">
                  <c:v>45912</c:v>
                </c:pt>
                <c:pt idx="175">
                  <c:v>45915</c:v>
                </c:pt>
                <c:pt idx="176">
                  <c:v>45916</c:v>
                </c:pt>
                <c:pt idx="177">
                  <c:v>45917</c:v>
                </c:pt>
                <c:pt idx="178">
                  <c:v>45918</c:v>
                </c:pt>
                <c:pt idx="179">
                  <c:v>45919</c:v>
                </c:pt>
                <c:pt idx="180">
                  <c:v>45922</c:v>
                </c:pt>
                <c:pt idx="181">
                  <c:v>45923</c:v>
                </c:pt>
                <c:pt idx="182">
                  <c:v>45924</c:v>
                </c:pt>
                <c:pt idx="183">
                  <c:v>45925</c:v>
                </c:pt>
                <c:pt idx="184">
                  <c:v>45926</c:v>
                </c:pt>
                <c:pt idx="185">
                  <c:v>45929</c:v>
                </c:pt>
                <c:pt idx="186">
                  <c:v>45930</c:v>
                </c:pt>
              </c:numCache>
            </c:numRef>
          </c:cat>
          <c:val>
            <c:numRef>
              <c:f>'SPX RETURNS 1'!$B$2:$B$601</c:f>
              <c:numCache>
                <c:formatCode>General</c:formatCode>
                <c:ptCount val="600"/>
                <c:pt idx="0">
                  <c:v>100</c:v>
                </c:pt>
                <c:pt idx="1">
                  <c:v>99.781199999999998</c:v>
                </c:pt>
                <c:pt idx="2">
                  <c:v>101.04600000000001</c:v>
                </c:pt>
                <c:pt idx="3">
                  <c:v>101.6134</c:v>
                </c:pt>
                <c:pt idx="4">
                  <c:v>100.48609999999999</c:v>
                </c:pt>
                <c:pt idx="5">
                  <c:v>100.6452</c:v>
                </c:pt>
                <c:pt idx="6">
                  <c:v>99.108400000000003</c:v>
                </c:pt>
                <c:pt idx="7">
                  <c:v>99.264700000000005</c:v>
                </c:pt>
                <c:pt idx="8">
                  <c:v>99.378600000000006</c:v>
                </c:pt>
                <c:pt idx="9">
                  <c:v>101.2085</c:v>
                </c:pt>
                <c:pt idx="10">
                  <c:v>100.9965</c:v>
                </c:pt>
                <c:pt idx="11">
                  <c:v>102.00749999999999</c:v>
                </c:pt>
                <c:pt idx="12">
                  <c:v>102.9046</c:v>
                </c:pt>
                <c:pt idx="13">
                  <c:v>103.538</c:v>
                </c:pt>
                <c:pt idx="14">
                  <c:v>104.0898</c:v>
                </c:pt>
                <c:pt idx="15">
                  <c:v>103.80240000000001</c:v>
                </c:pt>
                <c:pt idx="16">
                  <c:v>102.2899</c:v>
                </c:pt>
                <c:pt idx="17">
                  <c:v>103.2328</c:v>
                </c:pt>
                <c:pt idx="18">
                  <c:v>102.7503</c:v>
                </c:pt>
                <c:pt idx="19">
                  <c:v>103.29389999999999</c:v>
                </c:pt>
                <c:pt idx="20">
                  <c:v>102.77930000000001</c:v>
                </c:pt>
                <c:pt idx="21">
                  <c:v>102.0035</c:v>
                </c:pt>
                <c:pt idx="22">
                  <c:v>102.7411</c:v>
                </c:pt>
                <c:pt idx="23">
                  <c:v>103.1435</c:v>
                </c:pt>
                <c:pt idx="24">
                  <c:v>103.5194</c:v>
                </c:pt>
                <c:pt idx="25">
                  <c:v>102.54649999999999</c:v>
                </c:pt>
                <c:pt idx="26">
                  <c:v>103.24979999999999</c:v>
                </c:pt>
                <c:pt idx="27">
                  <c:v>103.2873</c:v>
                </c:pt>
                <c:pt idx="28">
                  <c:v>103.0172</c:v>
                </c:pt>
                <c:pt idx="29">
                  <c:v>104.09220000000001</c:v>
                </c:pt>
                <c:pt idx="30">
                  <c:v>104.10899999999999</c:v>
                </c:pt>
                <c:pt idx="31">
                  <c:v>104.3794</c:v>
                </c:pt>
                <c:pt idx="32">
                  <c:v>104.6294</c:v>
                </c:pt>
                <c:pt idx="33">
                  <c:v>104.18989999999999</c:v>
                </c:pt>
                <c:pt idx="34">
                  <c:v>102.4157</c:v>
                </c:pt>
                <c:pt idx="35">
                  <c:v>101.9105</c:v>
                </c:pt>
                <c:pt idx="36">
                  <c:v>101.43519999999999</c:v>
                </c:pt>
                <c:pt idx="37">
                  <c:v>101.4513</c:v>
                </c:pt>
                <c:pt idx="38">
                  <c:v>99.842600000000004</c:v>
                </c:pt>
                <c:pt idx="39">
                  <c:v>101.438</c:v>
                </c:pt>
                <c:pt idx="40">
                  <c:v>99.662599999999998</c:v>
                </c:pt>
                <c:pt idx="41">
                  <c:v>98.446100000000001</c:v>
                </c:pt>
                <c:pt idx="42">
                  <c:v>99.546899999999994</c:v>
                </c:pt>
                <c:pt idx="43">
                  <c:v>97.775800000000004</c:v>
                </c:pt>
                <c:pt idx="44">
                  <c:v>98.330299999999994</c:v>
                </c:pt>
                <c:pt idx="45">
                  <c:v>95.695400000000006</c:v>
                </c:pt>
                <c:pt idx="46">
                  <c:v>94.972200000000001</c:v>
                </c:pt>
                <c:pt idx="47">
                  <c:v>95.438400000000001</c:v>
                </c:pt>
                <c:pt idx="48">
                  <c:v>94.120599999999996</c:v>
                </c:pt>
                <c:pt idx="49">
                  <c:v>96.141499999999994</c:v>
                </c:pt>
                <c:pt idx="50">
                  <c:v>96.765199999999993</c:v>
                </c:pt>
                <c:pt idx="51">
                  <c:v>95.737700000000004</c:v>
                </c:pt>
                <c:pt idx="52">
                  <c:v>96.772400000000005</c:v>
                </c:pt>
                <c:pt idx="53">
                  <c:v>96.572699999999998</c:v>
                </c:pt>
                <c:pt idx="54">
                  <c:v>96.654899999999998</c:v>
                </c:pt>
                <c:pt idx="55">
                  <c:v>98.3613</c:v>
                </c:pt>
                <c:pt idx="56">
                  <c:v>98.52</c:v>
                </c:pt>
                <c:pt idx="57">
                  <c:v>97.4208</c:v>
                </c:pt>
                <c:pt idx="58">
                  <c:v>97.099000000000004</c:v>
                </c:pt>
                <c:pt idx="59">
                  <c:v>95.185500000000005</c:v>
                </c:pt>
                <c:pt idx="60">
                  <c:v>95.7226</c:v>
                </c:pt>
                <c:pt idx="61">
                  <c:v>96.087000000000003</c:v>
                </c:pt>
                <c:pt idx="62">
                  <c:v>96.7363</c:v>
                </c:pt>
                <c:pt idx="63">
                  <c:v>92.059200000000004</c:v>
                </c:pt>
                <c:pt idx="64">
                  <c:v>86.570899999999995</c:v>
                </c:pt>
                <c:pt idx="65">
                  <c:v>86.370199999999997</c:v>
                </c:pt>
                <c:pt idx="66">
                  <c:v>85.014399999999995</c:v>
                </c:pt>
                <c:pt idx="67">
                  <c:v>93.105099999999993</c:v>
                </c:pt>
                <c:pt idx="68">
                  <c:v>89.898899999999998</c:v>
                </c:pt>
                <c:pt idx="69">
                  <c:v>91.527699999999996</c:v>
                </c:pt>
                <c:pt idx="70">
                  <c:v>92.254999999999995</c:v>
                </c:pt>
                <c:pt idx="71">
                  <c:v>92.104299999999995</c:v>
                </c:pt>
                <c:pt idx="72">
                  <c:v>90.0428</c:v>
                </c:pt>
                <c:pt idx="73">
                  <c:v>90.163600000000002</c:v>
                </c:pt>
                <c:pt idx="74">
                  <c:v>88.046199999999999</c:v>
                </c:pt>
                <c:pt idx="75">
                  <c:v>90.259900000000002</c:v>
                </c:pt>
                <c:pt idx="76">
                  <c:v>91.765500000000003</c:v>
                </c:pt>
                <c:pt idx="77">
                  <c:v>93.624600000000001</c:v>
                </c:pt>
                <c:pt idx="78">
                  <c:v>94.3155</c:v>
                </c:pt>
                <c:pt idx="79">
                  <c:v>94.377600000000001</c:v>
                </c:pt>
                <c:pt idx="80">
                  <c:v>94.925600000000003</c:v>
                </c:pt>
                <c:pt idx="81">
                  <c:v>95.073499999999996</c:v>
                </c:pt>
                <c:pt idx="82">
                  <c:v>95.673599999999993</c:v>
                </c:pt>
                <c:pt idx="83">
                  <c:v>97.085599999999999</c:v>
                </c:pt>
                <c:pt idx="84">
                  <c:v>96.471000000000004</c:v>
                </c:pt>
                <c:pt idx="85">
                  <c:v>95.730099999999993</c:v>
                </c:pt>
                <c:pt idx="86">
                  <c:v>96.146799999999999</c:v>
                </c:pt>
                <c:pt idx="87">
                  <c:v>96.704599999999999</c:v>
                </c:pt>
                <c:pt idx="88">
                  <c:v>96.652799999999999</c:v>
                </c:pt>
                <c:pt idx="89">
                  <c:v>99.811199999999999</c:v>
                </c:pt>
                <c:pt idx="90">
                  <c:v>100.5372</c:v>
                </c:pt>
                <c:pt idx="91">
                  <c:v>100.6448</c:v>
                </c:pt>
                <c:pt idx="92">
                  <c:v>101.0859</c:v>
                </c:pt>
                <c:pt idx="93">
                  <c:v>101.8074</c:v>
                </c:pt>
                <c:pt idx="94">
                  <c:v>101.91119999999999</c:v>
                </c:pt>
                <c:pt idx="95">
                  <c:v>101.5179</c:v>
                </c:pt>
                <c:pt idx="96">
                  <c:v>99.883099999999999</c:v>
                </c:pt>
                <c:pt idx="97">
                  <c:v>99.840800000000002</c:v>
                </c:pt>
                <c:pt idx="98">
                  <c:v>99.177000000000007</c:v>
                </c:pt>
                <c:pt idx="99">
                  <c:v>101.2144</c:v>
                </c:pt>
                <c:pt idx="100">
                  <c:v>100.6516</c:v>
                </c:pt>
                <c:pt idx="101">
                  <c:v>101.057</c:v>
                </c:pt>
                <c:pt idx="102">
                  <c:v>101.05800000000001</c:v>
                </c:pt>
                <c:pt idx="103">
                  <c:v>101.48480000000001</c:v>
                </c:pt>
                <c:pt idx="104">
                  <c:v>102.075</c:v>
                </c:pt>
                <c:pt idx="105">
                  <c:v>102.08669999999999</c:v>
                </c:pt>
                <c:pt idx="106">
                  <c:v>101.55629999999999</c:v>
                </c:pt>
                <c:pt idx="107">
                  <c:v>102.6123</c:v>
                </c:pt>
                <c:pt idx="108">
                  <c:v>102.7153</c:v>
                </c:pt>
                <c:pt idx="109">
                  <c:v>103.28189999999999</c:v>
                </c:pt>
                <c:pt idx="110">
                  <c:v>102.99979999999999</c:v>
                </c:pt>
                <c:pt idx="111">
                  <c:v>103.3947</c:v>
                </c:pt>
                <c:pt idx="112">
                  <c:v>102.2439</c:v>
                </c:pt>
                <c:pt idx="113">
                  <c:v>103.22110000000001</c:v>
                </c:pt>
                <c:pt idx="114">
                  <c:v>102.3621</c:v>
                </c:pt>
                <c:pt idx="115">
                  <c:v>102.3339</c:v>
                </c:pt>
                <c:pt idx="116">
                  <c:v>102.1168</c:v>
                </c:pt>
                <c:pt idx="117">
                  <c:v>103.0992</c:v>
                </c:pt>
                <c:pt idx="118">
                  <c:v>104.2482</c:v>
                </c:pt>
                <c:pt idx="119">
                  <c:v>104.2486</c:v>
                </c:pt>
                <c:pt idx="120">
                  <c:v>105.086</c:v>
                </c:pt>
                <c:pt idx="121">
                  <c:v>105.6421</c:v>
                </c:pt>
                <c:pt idx="122">
                  <c:v>106.1966</c:v>
                </c:pt>
                <c:pt idx="123">
                  <c:v>106.0804</c:v>
                </c:pt>
                <c:pt idx="124">
                  <c:v>106.5865</c:v>
                </c:pt>
                <c:pt idx="125">
                  <c:v>107.49209999999999</c:v>
                </c:pt>
                <c:pt idx="126">
                  <c:v>106.649</c:v>
                </c:pt>
                <c:pt idx="127">
                  <c:v>106.5732</c:v>
                </c:pt>
                <c:pt idx="128">
                  <c:v>107.2205</c:v>
                </c:pt>
                <c:pt idx="129">
                  <c:v>107.53019999999999</c:v>
                </c:pt>
                <c:pt idx="130">
                  <c:v>107.17570000000001</c:v>
                </c:pt>
                <c:pt idx="131">
                  <c:v>107.3267</c:v>
                </c:pt>
                <c:pt idx="132">
                  <c:v>106.9122</c:v>
                </c:pt>
                <c:pt idx="133">
                  <c:v>107.25360000000001</c:v>
                </c:pt>
                <c:pt idx="134">
                  <c:v>107.83110000000001</c:v>
                </c:pt>
                <c:pt idx="135">
                  <c:v>107.828</c:v>
                </c:pt>
                <c:pt idx="136">
                  <c:v>107.9815</c:v>
                </c:pt>
                <c:pt idx="137">
                  <c:v>108.0526</c:v>
                </c:pt>
                <c:pt idx="138">
                  <c:v>108.898</c:v>
                </c:pt>
                <c:pt idx="139">
                  <c:v>108.97490000000001</c:v>
                </c:pt>
                <c:pt idx="140">
                  <c:v>109.41379999999999</c:v>
                </c:pt>
                <c:pt idx="141">
                  <c:v>109.4331</c:v>
                </c:pt>
                <c:pt idx="142">
                  <c:v>109.10980000000001</c:v>
                </c:pt>
                <c:pt idx="143">
                  <c:v>108.97410000000001</c:v>
                </c:pt>
                <c:pt idx="144">
                  <c:v>108.58</c:v>
                </c:pt>
                <c:pt idx="145">
                  <c:v>106.84820000000001</c:v>
                </c:pt>
                <c:pt idx="146">
                  <c:v>108.42700000000001</c:v>
                </c:pt>
                <c:pt idx="147">
                  <c:v>107.90170000000001</c:v>
                </c:pt>
                <c:pt idx="148">
                  <c:v>108.68770000000001</c:v>
                </c:pt>
                <c:pt idx="149">
                  <c:v>108.60250000000001</c:v>
                </c:pt>
                <c:pt idx="150">
                  <c:v>109.45959999999999</c:v>
                </c:pt>
                <c:pt idx="151">
                  <c:v>109.1962</c:v>
                </c:pt>
                <c:pt idx="152">
                  <c:v>110.4384</c:v>
                </c:pt>
                <c:pt idx="153">
                  <c:v>110.7988</c:v>
                </c:pt>
                <c:pt idx="154">
                  <c:v>110.8365</c:v>
                </c:pt>
                <c:pt idx="155">
                  <c:v>110.5403</c:v>
                </c:pt>
                <c:pt idx="156">
                  <c:v>110.5376</c:v>
                </c:pt>
                <c:pt idx="157">
                  <c:v>109.89919999999999</c:v>
                </c:pt>
                <c:pt idx="158">
                  <c:v>109.6348</c:v>
                </c:pt>
                <c:pt idx="159">
                  <c:v>109.2098</c:v>
                </c:pt>
                <c:pt idx="160">
                  <c:v>110.87309999999999</c:v>
                </c:pt>
                <c:pt idx="161">
                  <c:v>110.4023</c:v>
                </c:pt>
                <c:pt idx="162">
                  <c:v>110.86579999999999</c:v>
                </c:pt>
                <c:pt idx="163">
                  <c:v>111.131</c:v>
                </c:pt>
                <c:pt idx="164">
                  <c:v>111.4846</c:v>
                </c:pt>
                <c:pt idx="165">
                  <c:v>110.7811</c:v>
                </c:pt>
                <c:pt idx="166">
                  <c:v>110.026</c:v>
                </c:pt>
                <c:pt idx="167">
                  <c:v>110.58929999999999</c:v>
                </c:pt>
                <c:pt idx="168">
                  <c:v>111.5222</c:v>
                </c:pt>
                <c:pt idx="169">
                  <c:v>111.18470000000001</c:v>
                </c:pt>
                <c:pt idx="170">
                  <c:v>111.4247</c:v>
                </c:pt>
                <c:pt idx="171">
                  <c:v>111.7278</c:v>
                </c:pt>
                <c:pt idx="172">
                  <c:v>112.0642</c:v>
                </c:pt>
                <c:pt idx="173">
                  <c:v>113.0162</c:v>
                </c:pt>
                <c:pt idx="174">
                  <c:v>112.9663</c:v>
                </c:pt>
                <c:pt idx="175">
                  <c:v>113.5234</c:v>
                </c:pt>
                <c:pt idx="176">
                  <c:v>113.3813</c:v>
                </c:pt>
                <c:pt idx="177">
                  <c:v>113.2731</c:v>
                </c:pt>
                <c:pt idx="178">
                  <c:v>113.8172</c:v>
                </c:pt>
                <c:pt idx="179">
                  <c:v>114.3736</c:v>
                </c:pt>
                <c:pt idx="180">
                  <c:v>114.8873</c:v>
                </c:pt>
                <c:pt idx="181">
                  <c:v>114.2551</c:v>
                </c:pt>
                <c:pt idx="182">
                  <c:v>113.93049999999999</c:v>
                </c:pt>
                <c:pt idx="183">
                  <c:v>113.3612</c:v>
                </c:pt>
                <c:pt idx="184">
                  <c:v>114.0334</c:v>
                </c:pt>
                <c:pt idx="185">
                  <c:v>114.3349</c:v>
                </c:pt>
                <c:pt idx="186">
                  <c:v>114.81399999999999</c:v>
                </c:pt>
              </c:numCache>
            </c:numRef>
          </c:val>
          <c:smooth val="0"/>
          <c:extLst>
            <c:ext xmlns:c16="http://schemas.microsoft.com/office/drawing/2014/chart" uri="{C3380CC4-5D6E-409C-BE32-E72D297353CC}">
              <c16:uniqueId val="{00000001-C8EC-4363-AC08-E90835802070}"/>
            </c:ext>
          </c:extLst>
        </c:ser>
        <c:dLbls>
          <c:showLegendKey val="0"/>
          <c:showVal val="0"/>
          <c:showCatName val="0"/>
          <c:showSerName val="0"/>
          <c:showPercent val="0"/>
          <c:showBubbleSize val="0"/>
        </c:dLbls>
        <c:smooth val="0"/>
        <c:axId val="1128918192"/>
        <c:axId val="1128937392"/>
      </c:lineChart>
      <c:dateAx>
        <c:axId val="1128918192"/>
        <c:scaling>
          <c:orientation val="minMax"/>
          <c:min val="45653"/>
        </c:scaling>
        <c:delete val="0"/>
        <c:axPos val="b"/>
        <c:numFmt formatCode="[$-409]mmm\-yy;@" sourceLinked="0"/>
        <c:majorTickMark val="out"/>
        <c:minorTickMark val="none"/>
        <c:tickLblPos val="nextTo"/>
        <c:spPr>
          <a:noFill/>
          <a:ln w="9525" cap="flat" cmpd="sng" algn="ctr">
            <a:solidFill>
              <a:schemeClr val="bg1">
                <a:lumMod val="85000"/>
              </a:schemeClr>
            </a:solidFill>
            <a:round/>
          </a:ln>
          <a:effectLst/>
        </c:spPr>
        <c:txPr>
          <a:bodyPr rot="0" spcFirstLastPara="1" vertOverflow="ellipsis" wrap="square" anchor="ctr" anchorCtr="1"/>
          <a:lstStyle/>
          <a:p>
            <a:pPr algn="ctr">
              <a:defRPr lang="en-US" sz="900" b="0" i="0" u="none" strike="noStrike" kern="1200" cap="all" spc="-50" baseline="0">
                <a:solidFill>
                  <a:schemeClr val="bg1">
                    <a:alpha val="94000"/>
                  </a:schemeClr>
                </a:solidFill>
                <a:latin typeface="Poppins Medium" panose="00000600000000000000" pitchFamily="2" charset="0"/>
                <a:ea typeface="+mn-ea"/>
                <a:cs typeface="Poppins Medium" panose="00000600000000000000" pitchFamily="2" charset="0"/>
              </a:defRPr>
            </a:pPr>
            <a:endParaRPr lang="en-US"/>
          </a:p>
        </c:txPr>
        <c:crossAx val="1128937392"/>
        <c:crosses val="autoZero"/>
        <c:auto val="1"/>
        <c:lblOffset val="100"/>
        <c:baseTimeUnit val="days"/>
        <c:majorUnit val="3"/>
        <c:majorTimeUnit val="months"/>
      </c:dateAx>
      <c:valAx>
        <c:axId val="1128937392"/>
        <c:scaling>
          <c:orientation val="minMax"/>
          <c:min val="80"/>
        </c:scaling>
        <c:delete val="0"/>
        <c:axPos val="l"/>
        <c:majorGridlines>
          <c:spPr>
            <a:ln w="9525" cap="flat" cmpd="sng" algn="ctr">
              <a:solidFill>
                <a:schemeClr val="bg1">
                  <a:lumMod val="85000"/>
                  <a:alpha val="22000"/>
                </a:schemeClr>
              </a:solidFill>
              <a:round/>
            </a:ln>
            <a:effectLst/>
          </c:spPr>
        </c:majorGridlines>
        <c:numFmt formatCode="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lgn="ct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1128918192"/>
        <c:crossesAt val="45657"/>
        <c:crossBetween val="midCat"/>
        <c:majorUnit val="5"/>
      </c:valAx>
      <c:spPr>
        <a:solidFill>
          <a:srgbClr val="44546A"/>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2B3E59"/>
    </a:solidFill>
    <a:ln w="28575" cap="flat" cmpd="sng" algn="ctr">
      <a:no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232999721188697"/>
          <c:y val="0.16805460423489019"/>
          <c:w val="0.78977171122840417"/>
          <c:h val="0.63099366081394992"/>
        </c:manualLayout>
      </c:layout>
      <c:barChart>
        <c:barDir val="col"/>
        <c:grouping val="stacked"/>
        <c:varyColors val="0"/>
        <c:ser>
          <c:idx val="1"/>
          <c:order val="1"/>
          <c:tx>
            <c:strRef>
              <c:f>WAGES!$C$1</c:f>
              <c:strCache>
                <c:ptCount val="1"/>
                <c:pt idx="0">
                  <c:v>Recession</c:v>
                </c:pt>
              </c:strCache>
            </c:strRef>
          </c:tx>
          <c:spPr>
            <a:noFill/>
            <a:ln w="12700">
              <a:solidFill>
                <a:srgbClr val="5891A6">
                  <a:alpha val="74000"/>
                </a:srgbClr>
              </a:solidFill>
            </a:ln>
          </c:spPr>
          <c:invertIfNegative val="0"/>
          <c:cat>
            <c:numRef>
              <c:f>WAGES!$A$2:$A$236</c:f>
              <c:numCache>
                <c:formatCode>m/d/yyyy</c:formatCode>
                <c:ptCount val="235"/>
                <c:pt idx="0">
                  <c:v>39172</c:v>
                </c:pt>
                <c:pt idx="1">
                  <c:v>39202</c:v>
                </c:pt>
                <c:pt idx="2">
                  <c:v>39233</c:v>
                </c:pt>
                <c:pt idx="3">
                  <c:v>39263</c:v>
                </c:pt>
                <c:pt idx="4">
                  <c:v>39294</c:v>
                </c:pt>
                <c:pt idx="5">
                  <c:v>39325</c:v>
                </c:pt>
                <c:pt idx="6">
                  <c:v>39355</c:v>
                </c:pt>
                <c:pt idx="7">
                  <c:v>39386</c:v>
                </c:pt>
                <c:pt idx="8">
                  <c:v>39416</c:v>
                </c:pt>
                <c:pt idx="9">
                  <c:v>39447</c:v>
                </c:pt>
                <c:pt idx="10">
                  <c:v>39478</c:v>
                </c:pt>
                <c:pt idx="11">
                  <c:v>39507</c:v>
                </c:pt>
                <c:pt idx="12">
                  <c:v>39538</c:v>
                </c:pt>
                <c:pt idx="13">
                  <c:v>39568</c:v>
                </c:pt>
                <c:pt idx="14">
                  <c:v>39599</c:v>
                </c:pt>
                <c:pt idx="15">
                  <c:v>39629</c:v>
                </c:pt>
                <c:pt idx="16">
                  <c:v>39660</c:v>
                </c:pt>
                <c:pt idx="17">
                  <c:v>39691</c:v>
                </c:pt>
                <c:pt idx="18">
                  <c:v>39721</c:v>
                </c:pt>
                <c:pt idx="19">
                  <c:v>39752</c:v>
                </c:pt>
                <c:pt idx="20">
                  <c:v>39782</c:v>
                </c:pt>
                <c:pt idx="21">
                  <c:v>39813</c:v>
                </c:pt>
                <c:pt idx="22">
                  <c:v>39844</c:v>
                </c:pt>
                <c:pt idx="23">
                  <c:v>39872</c:v>
                </c:pt>
                <c:pt idx="24">
                  <c:v>39903</c:v>
                </c:pt>
                <c:pt idx="25">
                  <c:v>39933</c:v>
                </c:pt>
                <c:pt idx="26">
                  <c:v>39964</c:v>
                </c:pt>
                <c:pt idx="27">
                  <c:v>39994</c:v>
                </c:pt>
                <c:pt idx="28">
                  <c:v>40025</c:v>
                </c:pt>
                <c:pt idx="29">
                  <c:v>40056</c:v>
                </c:pt>
                <c:pt idx="30">
                  <c:v>40086</c:v>
                </c:pt>
                <c:pt idx="31">
                  <c:v>40117</c:v>
                </c:pt>
                <c:pt idx="32">
                  <c:v>40147</c:v>
                </c:pt>
                <c:pt idx="33">
                  <c:v>40178</c:v>
                </c:pt>
                <c:pt idx="34">
                  <c:v>40209</c:v>
                </c:pt>
                <c:pt idx="35">
                  <c:v>40237</c:v>
                </c:pt>
                <c:pt idx="36">
                  <c:v>40268</c:v>
                </c:pt>
                <c:pt idx="37">
                  <c:v>40298</c:v>
                </c:pt>
                <c:pt idx="38">
                  <c:v>40329</c:v>
                </c:pt>
                <c:pt idx="39">
                  <c:v>40359</c:v>
                </c:pt>
                <c:pt idx="40">
                  <c:v>40390</c:v>
                </c:pt>
                <c:pt idx="41">
                  <c:v>40421</c:v>
                </c:pt>
                <c:pt idx="42">
                  <c:v>40451</c:v>
                </c:pt>
                <c:pt idx="43">
                  <c:v>40482</c:v>
                </c:pt>
                <c:pt idx="44">
                  <c:v>40512</c:v>
                </c:pt>
                <c:pt idx="45">
                  <c:v>40543</c:v>
                </c:pt>
                <c:pt idx="46">
                  <c:v>40574</c:v>
                </c:pt>
                <c:pt idx="47">
                  <c:v>40602</c:v>
                </c:pt>
                <c:pt idx="48">
                  <c:v>40633</c:v>
                </c:pt>
                <c:pt idx="49">
                  <c:v>40663</c:v>
                </c:pt>
                <c:pt idx="50">
                  <c:v>40694</c:v>
                </c:pt>
                <c:pt idx="51">
                  <c:v>40724</c:v>
                </c:pt>
                <c:pt idx="52">
                  <c:v>40755</c:v>
                </c:pt>
                <c:pt idx="53">
                  <c:v>40786</c:v>
                </c:pt>
                <c:pt idx="54">
                  <c:v>40816</c:v>
                </c:pt>
                <c:pt idx="55">
                  <c:v>40847</c:v>
                </c:pt>
                <c:pt idx="56">
                  <c:v>40877</c:v>
                </c:pt>
                <c:pt idx="57">
                  <c:v>40908</c:v>
                </c:pt>
                <c:pt idx="58">
                  <c:v>40939</c:v>
                </c:pt>
                <c:pt idx="59">
                  <c:v>40968</c:v>
                </c:pt>
                <c:pt idx="60">
                  <c:v>40999</c:v>
                </c:pt>
                <c:pt idx="61">
                  <c:v>41029</c:v>
                </c:pt>
                <c:pt idx="62">
                  <c:v>41060</c:v>
                </c:pt>
                <c:pt idx="63">
                  <c:v>41090</c:v>
                </c:pt>
                <c:pt idx="64">
                  <c:v>41121</c:v>
                </c:pt>
                <c:pt idx="65">
                  <c:v>41152</c:v>
                </c:pt>
                <c:pt idx="66">
                  <c:v>41182</c:v>
                </c:pt>
                <c:pt idx="67">
                  <c:v>41213</c:v>
                </c:pt>
                <c:pt idx="68">
                  <c:v>41243</c:v>
                </c:pt>
                <c:pt idx="69">
                  <c:v>41274</c:v>
                </c:pt>
                <c:pt idx="70">
                  <c:v>41305</c:v>
                </c:pt>
                <c:pt idx="71">
                  <c:v>41333</c:v>
                </c:pt>
                <c:pt idx="72">
                  <c:v>41364</c:v>
                </c:pt>
                <c:pt idx="73">
                  <c:v>41394</c:v>
                </c:pt>
                <c:pt idx="74">
                  <c:v>41425</c:v>
                </c:pt>
                <c:pt idx="75">
                  <c:v>41455</c:v>
                </c:pt>
                <c:pt idx="76">
                  <c:v>41486</c:v>
                </c:pt>
                <c:pt idx="77">
                  <c:v>41517</c:v>
                </c:pt>
                <c:pt idx="78">
                  <c:v>41547</c:v>
                </c:pt>
                <c:pt idx="79">
                  <c:v>41578</c:v>
                </c:pt>
                <c:pt idx="80">
                  <c:v>41608</c:v>
                </c:pt>
                <c:pt idx="81">
                  <c:v>41639</c:v>
                </c:pt>
                <c:pt idx="82">
                  <c:v>41670</c:v>
                </c:pt>
                <c:pt idx="83">
                  <c:v>41698</c:v>
                </c:pt>
                <c:pt idx="84">
                  <c:v>41729</c:v>
                </c:pt>
                <c:pt idx="85">
                  <c:v>41759</c:v>
                </c:pt>
                <c:pt idx="86">
                  <c:v>41790</c:v>
                </c:pt>
                <c:pt idx="87">
                  <c:v>41820</c:v>
                </c:pt>
                <c:pt idx="88">
                  <c:v>41851</c:v>
                </c:pt>
                <c:pt idx="89">
                  <c:v>41882</c:v>
                </c:pt>
                <c:pt idx="90">
                  <c:v>41912</c:v>
                </c:pt>
                <c:pt idx="91">
                  <c:v>41943</c:v>
                </c:pt>
                <c:pt idx="92">
                  <c:v>41973</c:v>
                </c:pt>
                <c:pt idx="93">
                  <c:v>42004</c:v>
                </c:pt>
                <c:pt idx="94">
                  <c:v>42035</c:v>
                </c:pt>
                <c:pt idx="95">
                  <c:v>42063</c:v>
                </c:pt>
                <c:pt idx="96">
                  <c:v>42094</c:v>
                </c:pt>
                <c:pt idx="97">
                  <c:v>42124</c:v>
                </c:pt>
                <c:pt idx="98">
                  <c:v>42155</c:v>
                </c:pt>
                <c:pt idx="99">
                  <c:v>42185</c:v>
                </c:pt>
                <c:pt idx="100">
                  <c:v>42216</c:v>
                </c:pt>
                <c:pt idx="101">
                  <c:v>42247</c:v>
                </c:pt>
                <c:pt idx="102">
                  <c:v>42277</c:v>
                </c:pt>
                <c:pt idx="103">
                  <c:v>42308</c:v>
                </c:pt>
                <c:pt idx="104">
                  <c:v>42338</c:v>
                </c:pt>
                <c:pt idx="105">
                  <c:v>42369</c:v>
                </c:pt>
                <c:pt idx="106">
                  <c:v>42400</c:v>
                </c:pt>
                <c:pt idx="107">
                  <c:v>42429</c:v>
                </c:pt>
                <c:pt idx="108">
                  <c:v>42460</c:v>
                </c:pt>
                <c:pt idx="109">
                  <c:v>42490</c:v>
                </c:pt>
                <c:pt idx="110">
                  <c:v>42521</c:v>
                </c:pt>
                <c:pt idx="111">
                  <c:v>42551</c:v>
                </c:pt>
                <c:pt idx="112">
                  <c:v>42582</c:v>
                </c:pt>
                <c:pt idx="113">
                  <c:v>42613</c:v>
                </c:pt>
                <c:pt idx="114">
                  <c:v>42643</c:v>
                </c:pt>
                <c:pt idx="115">
                  <c:v>42674</c:v>
                </c:pt>
                <c:pt idx="116">
                  <c:v>42704</c:v>
                </c:pt>
                <c:pt idx="117">
                  <c:v>42735</c:v>
                </c:pt>
                <c:pt idx="118">
                  <c:v>42766</c:v>
                </c:pt>
                <c:pt idx="119">
                  <c:v>42794</c:v>
                </c:pt>
                <c:pt idx="120">
                  <c:v>42825</c:v>
                </c:pt>
                <c:pt idx="121">
                  <c:v>42855</c:v>
                </c:pt>
                <c:pt idx="122">
                  <c:v>42886</c:v>
                </c:pt>
                <c:pt idx="123">
                  <c:v>42916</c:v>
                </c:pt>
                <c:pt idx="124">
                  <c:v>42947</c:v>
                </c:pt>
                <c:pt idx="125">
                  <c:v>42978</c:v>
                </c:pt>
                <c:pt idx="126">
                  <c:v>43008</c:v>
                </c:pt>
                <c:pt idx="127">
                  <c:v>43039</c:v>
                </c:pt>
                <c:pt idx="128">
                  <c:v>43069</c:v>
                </c:pt>
                <c:pt idx="129">
                  <c:v>43100</c:v>
                </c:pt>
                <c:pt idx="130">
                  <c:v>43131</c:v>
                </c:pt>
                <c:pt idx="131">
                  <c:v>43159</c:v>
                </c:pt>
                <c:pt idx="132">
                  <c:v>43190</c:v>
                </c:pt>
                <c:pt idx="133">
                  <c:v>43220</c:v>
                </c:pt>
                <c:pt idx="134">
                  <c:v>43251</c:v>
                </c:pt>
                <c:pt idx="135">
                  <c:v>43281</c:v>
                </c:pt>
                <c:pt idx="136">
                  <c:v>43312</c:v>
                </c:pt>
                <c:pt idx="137">
                  <c:v>43343</c:v>
                </c:pt>
                <c:pt idx="138">
                  <c:v>43373</c:v>
                </c:pt>
                <c:pt idx="139">
                  <c:v>43404</c:v>
                </c:pt>
                <c:pt idx="140">
                  <c:v>43434</c:v>
                </c:pt>
                <c:pt idx="141">
                  <c:v>43465</c:v>
                </c:pt>
                <c:pt idx="142">
                  <c:v>43496</c:v>
                </c:pt>
                <c:pt idx="143">
                  <c:v>43524</c:v>
                </c:pt>
                <c:pt idx="144">
                  <c:v>43555</c:v>
                </c:pt>
                <c:pt idx="145">
                  <c:v>43585</c:v>
                </c:pt>
                <c:pt idx="146">
                  <c:v>43616</c:v>
                </c:pt>
                <c:pt idx="147">
                  <c:v>43646</c:v>
                </c:pt>
                <c:pt idx="148">
                  <c:v>43677</c:v>
                </c:pt>
                <c:pt idx="149">
                  <c:v>43708</c:v>
                </c:pt>
                <c:pt idx="150">
                  <c:v>43738</c:v>
                </c:pt>
                <c:pt idx="151">
                  <c:v>43769</c:v>
                </c:pt>
                <c:pt idx="152">
                  <c:v>43799</c:v>
                </c:pt>
                <c:pt idx="153">
                  <c:v>43830</c:v>
                </c:pt>
                <c:pt idx="154">
                  <c:v>43861</c:v>
                </c:pt>
                <c:pt idx="155">
                  <c:v>43890</c:v>
                </c:pt>
                <c:pt idx="156">
                  <c:v>43921</c:v>
                </c:pt>
                <c:pt idx="157">
                  <c:v>43951</c:v>
                </c:pt>
                <c:pt idx="158">
                  <c:v>43982</c:v>
                </c:pt>
                <c:pt idx="159">
                  <c:v>44012</c:v>
                </c:pt>
                <c:pt idx="160">
                  <c:v>44043</c:v>
                </c:pt>
                <c:pt idx="161">
                  <c:v>44074</c:v>
                </c:pt>
                <c:pt idx="162">
                  <c:v>44104</c:v>
                </c:pt>
                <c:pt idx="163">
                  <c:v>44135</c:v>
                </c:pt>
                <c:pt idx="164">
                  <c:v>44165</c:v>
                </c:pt>
                <c:pt idx="165">
                  <c:v>44196</c:v>
                </c:pt>
                <c:pt idx="166">
                  <c:v>44227</c:v>
                </c:pt>
                <c:pt idx="167">
                  <c:v>44255</c:v>
                </c:pt>
                <c:pt idx="168">
                  <c:v>44286</c:v>
                </c:pt>
                <c:pt idx="169">
                  <c:v>44316</c:v>
                </c:pt>
                <c:pt idx="170">
                  <c:v>44347</c:v>
                </c:pt>
                <c:pt idx="171">
                  <c:v>44377</c:v>
                </c:pt>
                <c:pt idx="172">
                  <c:v>44408</c:v>
                </c:pt>
                <c:pt idx="173">
                  <c:v>44439</c:v>
                </c:pt>
                <c:pt idx="174">
                  <c:v>44469</c:v>
                </c:pt>
                <c:pt idx="175">
                  <c:v>44500</c:v>
                </c:pt>
                <c:pt idx="176">
                  <c:v>44530</c:v>
                </c:pt>
                <c:pt idx="177">
                  <c:v>44561</c:v>
                </c:pt>
                <c:pt idx="178">
                  <c:v>44592</c:v>
                </c:pt>
                <c:pt idx="179">
                  <c:v>44620</c:v>
                </c:pt>
                <c:pt idx="180">
                  <c:v>44651</c:v>
                </c:pt>
                <c:pt idx="181">
                  <c:v>44681</c:v>
                </c:pt>
                <c:pt idx="182">
                  <c:v>44712</c:v>
                </c:pt>
                <c:pt idx="183">
                  <c:v>44742</c:v>
                </c:pt>
                <c:pt idx="184">
                  <c:v>44773</c:v>
                </c:pt>
                <c:pt idx="185">
                  <c:v>44804</c:v>
                </c:pt>
                <c:pt idx="186">
                  <c:v>44834</c:v>
                </c:pt>
                <c:pt idx="187">
                  <c:v>44865</c:v>
                </c:pt>
                <c:pt idx="188">
                  <c:v>44895</c:v>
                </c:pt>
                <c:pt idx="189">
                  <c:v>44926</c:v>
                </c:pt>
                <c:pt idx="190">
                  <c:v>44957</c:v>
                </c:pt>
                <c:pt idx="191">
                  <c:v>44985</c:v>
                </c:pt>
                <c:pt idx="192">
                  <c:v>45016</c:v>
                </c:pt>
                <c:pt idx="193">
                  <c:v>45046</c:v>
                </c:pt>
                <c:pt idx="194">
                  <c:v>45077</c:v>
                </c:pt>
                <c:pt idx="195">
                  <c:v>45107</c:v>
                </c:pt>
                <c:pt idx="196">
                  <c:v>45138</c:v>
                </c:pt>
                <c:pt idx="197">
                  <c:v>45169</c:v>
                </c:pt>
                <c:pt idx="198">
                  <c:v>45199</c:v>
                </c:pt>
                <c:pt idx="199">
                  <c:v>45230</c:v>
                </c:pt>
                <c:pt idx="200">
                  <c:v>45260</c:v>
                </c:pt>
                <c:pt idx="201">
                  <c:v>45291</c:v>
                </c:pt>
                <c:pt idx="202">
                  <c:v>45322</c:v>
                </c:pt>
                <c:pt idx="203">
                  <c:v>45351</c:v>
                </c:pt>
                <c:pt idx="204">
                  <c:v>45382</c:v>
                </c:pt>
                <c:pt idx="205">
                  <c:v>45412</c:v>
                </c:pt>
                <c:pt idx="206">
                  <c:v>45443</c:v>
                </c:pt>
                <c:pt idx="207">
                  <c:v>45473</c:v>
                </c:pt>
                <c:pt idx="208">
                  <c:v>45504</c:v>
                </c:pt>
                <c:pt idx="209">
                  <c:v>45535</c:v>
                </c:pt>
                <c:pt idx="210">
                  <c:v>45565</c:v>
                </c:pt>
                <c:pt idx="211">
                  <c:v>45596</c:v>
                </c:pt>
                <c:pt idx="212">
                  <c:v>45626</c:v>
                </c:pt>
                <c:pt idx="213">
                  <c:v>45657</c:v>
                </c:pt>
              </c:numCache>
            </c:numRef>
          </c:cat>
          <c:val>
            <c:numRef>
              <c:f>WAGES!$C$2:$C$236</c:f>
              <c:numCache>
                <c:formatCode>General</c:formatCode>
                <c:ptCount val="235"/>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155">
                  <c:v>100</c:v>
                </c:pt>
                <c:pt idx="156">
                  <c:v>100</c:v>
                </c:pt>
                <c:pt idx="157">
                  <c:v>100</c:v>
                </c:pt>
              </c:numCache>
            </c:numRef>
          </c:val>
          <c:extLst xmlns:c15="http://schemas.microsoft.com/office/drawing/2012/chart">
            <c:ext xmlns:c16="http://schemas.microsoft.com/office/drawing/2014/chart" uri="{C3380CC4-5D6E-409C-BE32-E72D297353CC}">
              <c16:uniqueId val="{00000000-AAC4-4609-86F2-1099A2B646F3}"/>
            </c:ext>
          </c:extLst>
        </c:ser>
        <c:dLbls>
          <c:showLegendKey val="0"/>
          <c:showVal val="0"/>
          <c:showCatName val="0"/>
          <c:showSerName val="0"/>
          <c:showPercent val="0"/>
          <c:showBubbleSize val="0"/>
        </c:dLbls>
        <c:gapWidth val="0"/>
        <c:overlap val="100"/>
        <c:axId val="861049440"/>
        <c:axId val="861067936"/>
        <c:extLst/>
      </c:barChart>
      <c:lineChart>
        <c:grouping val="standard"/>
        <c:varyColors val="0"/>
        <c:ser>
          <c:idx val="0"/>
          <c:order val="0"/>
          <c:tx>
            <c:strRef>
              <c:f>WAGES!$B$1</c:f>
              <c:strCache>
                <c:ptCount val="1"/>
                <c:pt idx="0">
                  <c:v>Wages</c:v>
                </c:pt>
              </c:strCache>
            </c:strRef>
          </c:tx>
          <c:spPr>
            <a:ln>
              <a:solidFill>
                <a:sysClr val="window" lastClr="FFFFFF"/>
              </a:solidFill>
            </a:ln>
          </c:spPr>
          <c:marker>
            <c:symbol val="none"/>
          </c:marker>
          <c:cat>
            <c:numRef>
              <c:f>WAGES!$A$2:$A$236</c:f>
              <c:numCache>
                <c:formatCode>m/d/yyyy</c:formatCode>
                <c:ptCount val="235"/>
                <c:pt idx="0">
                  <c:v>39172</c:v>
                </c:pt>
                <c:pt idx="1">
                  <c:v>39202</c:v>
                </c:pt>
                <c:pt idx="2">
                  <c:v>39233</c:v>
                </c:pt>
                <c:pt idx="3">
                  <c:v>39263</c:v>
                </c:pt>
                <c:pt idx="4">
                  <c:v>39294</c:v>
                </c:pt>
                <c:pt idx="5">
                  <c:v>39325</c:v>
                </c:pt>
                <c:pt idx="6">
                  <c:v>39355</c:v>
                </c:pt>
                <c:pt idx="7">
                  <c:v>39386</c:v>
                </c:pt>
                <c:pt idx="8">
                  <c:v>39416</c:v>
                </c:pt>
                <c:pt idx="9">
                  <c:v>39447</c:v>
                </c:pt>
                <c:pt idx="10">
                  <c:v>39478</c:v>
                </c:pt>
                <c:pt idx="11">
                  <c:v>39507</c:v>
                </c:pt>
                <c:pt idx="12">
                  <c:v>39538</c:v>
                </c:pt>
                <c:pt idx="13">
                  <c:v>39568</c:v>
                </c:pt>
                <c:pt idx="14">
                  <c:v>39599</c:v>
                </c:pt>
                <c:pt idx="15">
                  <c:v>39629</c:v>
                </c:pt>
                <c:pt idx="16">
                  <c:v>39660</c:v>
                </c:pt>
                <c:pt idx="17">
                  <c:v>39691</c:v>
                </c:pt>
                <c:pt idx="18">
                  <c:v>39721</c:v>
                </c:pt>
                <c:pt idx="19">
                  <c:v>39752</c:v>
                </c:pt>
                <c:pt idx="20">
                  <c:v>39782</c:v>
                </c:pt>
                <c:pt idx="21">
                  <c:v>39813</c:v>
                </c:pt>
                <c:pt idx="22">
                  <c:v>39844</c:v>
                </c:pt>
                <c:pt idx="23">
                  <c:v>39872</c:v>
                </c:pt>
                <c:pt idx="24">
                  <c:v>39903</c:v>
                </c:pt>
                <c:pt idx="25">
                  <c:v>39933</c:v>
                </c:pt>
                <c:pt idx="26">
                  <c:v>39964</c:v>
                </c:pt>
                <c:pt idx="27">
                  <c:v>39994</c:v>
                </c:pt>
                <c:pt idx="28">
                  <c:v>40025</c:v>
                </c:pt>
                <c:pt idx="29">
                  <c:v>40056</c:v>
                </c:pt>
                <c:pt idx="30">
                  <c:v>40086</c:v>
                </c:pt>
                <c:pt idx="31">
                  <c:v>40117</c:v>
                </c:pt>
                <c:pt idx="32">
                  <c:v>40147</c:v>
                </c:pt>
                <c:pt idx="33">
                  <c:v>40178</c:v>
                </c:pt>
                <c:pt idx="34">
                  <c:v>40209</c:v>
                </c:pt>
                <c:pt idx="35">
                  <c:v>40237</c:v>
                </c:pt>
                <c:pt idx="36">
                  <c:v>40268</c:v>
                </c:pt>
                <c:pt idx="37">
                  <c:v>40298</c:v>
                </c:pt>
                <c:pt idx="38">
                  <c:v>40329</c:v>
                </c:pt>
                <c:pt idx="39">
                  <c:v>40359</c:v>
                </c:pt>
                <c:pt idx="40">
                  <c:v>40390</c:v>
                </c:pt>
                <c:pt idx="41">
                  <c:v>40421</c:v>
                </c:pt>
                <c:pt idx="42">
                  <c:v>40451</c:v>
                </c:pt>
                <c:pt idx="43">
                  <c:v>40482</c:v>
                </c:pt>
                <c:pt idx="44">
                  <c:v>40512</c:v>
                </c:pt>
                <c:pt idx="45">
                  <c:v>40543</c:v>
                </c:pt>
                <c:pt idx="46">
                  <c:v>40574</c:v>
                </c:pt>
                <c:pt idx="47">
                  <c:v>40602</c:v>
                </c:pt>
                <c:pt idx="48">
                  <c:v>40633</c:v>
                </c:pt>
                <c:pt idx="49">
                  <c:v>40663</c:v>
                </c:pt>
                <c:pt idx="50">
                  <c:v>40694</c:v>
                </c:pt>
                <c:pt idx="51">
                  <c:v>40724</c:v>
                </c:pt>
                <c:pt idx="52">
                  <c:v>40755</c:v>
                </c:pt>
                <c:pt idx="53">
                  <c:v>40786</c:v>
                </c:pt>
                <c:pt idx="54">
                  <c:v>40816</c:v>
                </c:pt>
                <c:pt idx="55">
                  <c:v>40847</c:v>
                </c:pt>
                <c:pt idx="56">
                  <c:v>40877</c:v>
                </c:pt>
                <c:pt idx="57">
                  <c:v>40908</c:v>
                </c:pt>
                <c:pt idx="58">
                  <c:v>40939</c:v>
                </c:pt>
                <c:pt idx="59">
                  <c:v>40968</c:v>
                </c:pt>
                <c:pt idx="60">
                  <c:v>40999</c:v>
                </c:pt>
                <c:pt idx="61">
                  <c:v>41029</c:v>
                </c:pt>
                <c:pt idx="62">
                  <c:v>41060</c:v>
                </c:pt>
                <c:pt idx="63">
                  <c:v>41090</c:v>
                </c:pt>
                <c:pt idx="64">
                  <c:v>41121</c:v>
                </c:pt>
                <c:pt idx="65">
                  <c:v>41152</c:v>
                </c:pt>
                <c:pt idx="66">
                  <c:v>41182</c:v>
                </c:pt>
                <c:pt idx="67">
                  <c:v>41213</c:v>
                </c:pt>
                <c:pt idx="68">
                  <c:v>41243</c:v>
                </c:pt>
                <c:pt idx="69">
                  <c:v>41274</c:v>
                </c:pt>
                <c:pt idx="70">
                  <c:v>41305</c:v>
                </c:pt>
                <c:pt idx="71">
                  <c:v>41333</c:v>
                </c:pt>
                <c:pt idx="72">
                  <c:v>41364</c:v>
                </c:pt>
                <c:pt idx="73">
                  <c:v>41394</c:v>
                </c:pt>
                <c:pt idx="74">
                  <c:v>41425</c:v>
                </c:pt>
                <c:pt idx="75">
                  <c:v>41455</c:v>
                </c:pt>
                <c:pt idx="76">
                  <c:v>41486</c:v>
                </c:pt>
                <c:pt idx="77">
                  <c:v>41517</c:v>
                </c:pt>
                <c:pt idx="78">
                  <c:v>41547</c:v>
                </c:pt>
                <c:pt idx="79">
                  <c:v>41578</c:v>
                </c:pt>
                <c:pt idx="80">
                  <c:v>41608</c:v>
                </c:pt>
                <c:pt idx="81">
                  <c:v>41639</c:v>
                </c:pt>
                <c:pt idx="82">
                  <c:v>41670</c:v>
                </c:pt>
                <c:pt idx="83">
                  <c:v>41698</c:v>
                </c:pt>
                <c:pt idx="84">
                  <c:v>41729</c:v>
                </c:pt>
                <c:pt idx="85">
                  <c:v>41759</c:v>
                </c:pt>
                <c:pt idx="86">
                  <c:v>41790</c:v>
                </c:pt>
                <c:pt idx="87">
                  <c:v>41820</c:v>
                </c:pt>
                <c:pt idx="88">
                  <c:v>41851</c:v>
                </c:pt>
                <c:pt idx="89">
                  <c:v>41882</c:v>
                </c:pt>
                <c:pt idx="90">
                  <c:v>41912</c:v>
                </c:pt>
                <c:pt idx="91">
                  <c:v>41943</c:v>
                </c:pt>
                <c:pt idx="92">
                  <c:v>41973</c:v>
                </c:pt>
                <c:pt idx="93">
                  <c:v>42004</c:v>
                </c:pt>
                <c:pt idx="94">
                  <c:v>42035</c:v>
                </c:pt>
                <c:pt idx="95">
                  <c:v>42063</c:v>
                </c:pt>
                <c:pt idx="96">
                  <c:v>42094</c:v>
                </c:pt>
                <c:pt idx="97">
                  <c:v>42124</c:v>
                </c:pt>
                <c:pt idx="98">
                  <c:v>42155</c:v>
                </c:pt>
                <c:pt idx="99">
                  <c:v>42185</c:v>
                </c:pt>
                <c:pt idx="100">
                  <c:v>42216</c:v>
                </c:pt>
                <c:pt idx="101">
                  <c:v>42247</c:v>
                </c:pt>
                <c:pt idx="102">
                  <c:v>42277</c:v>
                </c:pt>
                <c:pt idx="103">
                  <c:v>42308</c:v>
                </c:pt>
                <c:pt idx="104">
                  <c:v>42338</c:v>
                </c:pt>
                <c:pt idx="105">
                  <c:v>42369</c:v>
                </c:pt>
                <c:pt idx="106">
                  <c:v>42400</c:v>
                </c:pt>
                <c:pt idx="107">
                  <c:v>42429</c:v>
                </c:pt>
                <c:pt idx="108">
                  <c:v>42460</c:v>
                </c:pt>
                <c:pt idx="109">
                  <c:v>42490</c:v>
                </c:pt>
                <c:pt idx="110">
                  <c:v>42521</c:v>
                </c:pt>
                <c:pt idx="111">
                  <c:v>42551</c:v>
                </c:pt>
                <c:pt idx="112">
                  <c:v>42582</c:v>
                </c:pt>
                <c:pt idx="113">
                  <c:v>42613</c:v>
                </c:pt>
                <c:pt idx="114">
                  <c:v>42643</c:v>
                </c:pt>
                <c:pt idx="115">
                  <c:v>42674</c:v>
                </c:pt>
                <c:pt idx="116">
                  <c:v>42704</c:v>
                </c:pt>
                <c:pt idx="117">
                  <c:v>42735</c:v>
                </c:pt>
                <c:pt idx="118">
                  <c:v>42766</c:v>
                </c:pt>
                <c:pt idx="119">
                  <c:v>42794</c:v>
                </c:pt>
                <c:pt idx="120">
                  <c:v>42825</c:v>
                </c:pt>
                <c:pt idx="121">
                  <c:v>42855</c:v>
                </c:pt>
                <c:pt idx="122">
                  <c:v>42886</c:v>
                </c:pt>
                <c:pt idx="123">
                  <c:v>42916</c:v>
                </c:pt>
                <c:pt idx="124">
                  <c:v>42947</c:v>
                </c:pt>
                <c:pt idx="125">
                  <c:v>42978</c:v>
                </c:pt>
                <c:pt idx="126">
                  <c:v>43008</c:v>
                </c:pt>
                <c:pt idx="127">
                  <c:v>43039</c:v>
                </c:pt>
                <c:pt idx="128">
                  <c:v>43069</c:v>
                </c:pt>
                <c:pt idx="129">
                  <c:v>43100</c:v>
                </c:pt>
                <c:pt idx="130">
                  <c:v>43131</c:v>
                </c:pt>
                <c:pt idx="131">
                  <c:v>43159</c:v>
                </c:pt>
                <c:pt idx="132">
                  <c:v>43190</c:v>
                </c:pt>
                <c:pt idx="133">
                  <c:v>43220</c:v>
                </c:pt>
                <c:pt idx="134">
                  <c:v>43251</c:v>
                </c:pt>
                <c:pt idx="135">
                  <c:v>43281</c:v>
                </c:pt>
                <c:pt idx="136">
                  <c:v>43312</c:v>
                </c:pt>
                <c:pt idx="137">
                  <c:v>43343</c:v>
                </c:pt>
                <c:pt idx="138">
                  <c:v>43373</c:v>
                </c:pt>
                <c:pt idx="139">
                  <c:v>43404</c:v>
                </c:pt>
                <c:pt idx="140">
                  <c:v>43434</c:v>
                </c:pt>
                <c:pt idx="141">
                  <c:v>43465</c:v>
                </c:pt>
                <c:pt idx="142">
                  <c:v>43496</c:v>
                </c:pt>
                <c:pt idx="143">
                  <c:v>43524</c:v>
                </c:pt>
                <c:pt idx="144">
                  <c:v>43555</c:v>
                </c:pt>
                <c:pt idx="145">
                  <c:v>43585</c:v>
                </c:pt>
                <c:pt idx="146">
                  <c:v>43616</c:v>
                </c:pt>
                <c:pt idx="147">
                  <c:v>43646</c:v>
                </c:pt>
                <c:pt idx="148">
                  <c:v>43677</c:v>
                </c:pt>
                <c:pt idx="149">
                  <c:v>43708</c:v>
                </c:pt>
                <c:pt idx="150">
                  <c:v>43738</c:v>
                </c:pt>
                <c:pt idx="151">
                  <c:v>43769</c:v>
                </c:pt>
                <c:pt idx="152">
                  <c:v>43799</c:v>
                </c:pt>
                <c:pt idx="153">
                  <c:v>43830</c:v>
                </c:pt>
                <c:pt idx="154">
                  <c:v>43861</c:v>
                </c:pt>
                <c:pt idx="155">
                  <c:v>43890</c:v>
                </c:pt>
                <c:pt idx="156">
                  <c:v>43921</c:v>
                </c:pt>
                <c:pt idx="157">
                  <c:v>43951</c:v>
                </c:pt>
                <c:pt idx="158">
                  <c:v>43982</c:v>
                </c:pt>
                <c:pt idx="159">
                  <c:v>44012</c:v>
                </c:pt>
                <c:pt idx="160">
                  <c:v>44043</c:v>
                </c:pt>
                <c:pt idx="161">
                  <c:v>44074</c:v>
                </c:pt>
                <c:pt idx="162">
                  <c:v>44104</c:v>
                </c:pt>
                <c:pt idx="163">
                  <c:v>44135</c:v>
                </c:pt>
                <c:pt idx="164">
                  <c:v>44165</c:v>
                </c:pt>
                <c:pt idx="165">
                  <c:v>44196</c:v>
                </c:pt>
                <c:pt idx="166">
                  <c:v>44227</c:v>
                </c:pt>
                <c:pt idx="167">
                  <c:v>44255</c:v>
                </c:pt>
                <c:pt idx="168">
                  <c:v>44286</c:v>
                </c:pt>
                <c:pt idx="169">
                  <c:v>44316</c:v>
                </c:pt>
                <c:pt idx="170">
                  <c:v>44347</c:v>
                </c:pt>
                <c:pt idx="171">
                  <c:v>44377</c:v>
                </c:pt>
                <c:pt idx="172">
                  <c:v>44408</c:v>
                </c:pt>
                <c:pt idx="173">
                  <c:v>44439</c:v>
                </c:pt>
                <c:pt idx="174">
                  <c:v>44469</c:v>
                </c:pt>
                <c:pt idx="175">
                  <c:v>44500</c:v>
                </c:pt>
                <c:pt idx="176">
                  <c:v>44530</c:v>
                </c:pt>
                <c:pt idx="177">
                  <c:v>44561</c:v>
                </c:pt>
                <c:pt idx="178">
                  <c:v>44592</c:v>
                </c:pt>
                <c:pt idx="179">
                  <c:v>44620</c:v>
                </c:pt>
                <c:pt idx="180">
                  <c:v>44651</c:v>
                </c:pt>
                <c:pt idx="181">
                  <c:v>44681</c:v>
                </c:pt>
                <c:pt idx="182">
                  <c:v>44712</c:v>
                </c:pt>
                <c:pt idx="183">
                  <c:v>44742</c:v>
                </c:pt>
                <c:pt idx="184">
                  <c:v>44773</c:v>
                </c:pt>
                <c:pt idx="185">
                  <c:v>44804</c:v>
                </c:pt>
                <c:pt idx="186">
                  <c:v>44834</c:v>
                </c:pt>
                <c:pt idx="187">
                  <c:v>44865</c:v>
                </c:pt>
                <c:pt idx="188">
                  <c:v>44895</c:v>
                </c:pt>
                <c:pt idx="189">
                  <c:v>44926</c:v>
                </c:pt>
                <c:pt idx="190">
                  <c:v>44957</c:v>
                </c:pt>
                <c:pt idx="191">
                  <c:v>44985</c:v>
                </c:pt>
                <c:pt idx="192">
                  <c:v>45016</c:v>
                </c:pt>
                <c:pt idx="193">
                  <c:v>45046</c:v>
                </c:pt>
                <c:pt idx="194">
                  <c:v>45077</c:v>
                </c:pt>
                <c:pt idx="195">
                  <c:v>45107</c:v>
                </c:pt>
                <c:pt idx="196">
                  <c:v>45138</c:v>
                </c:pt>
                <c:pt idx="197">
                  <c:v>45169</c:v>
                </c:pt>
                <c:pt idx="198">
                  <c:v>45199</c:v>
                </c:pt>
                <c:pt idx="199">
                  <c:v>45230</c:v>
                </c:pt>
                <c:pt idx="200">
                  <c:v>45260</c:v>
                </c:pt>
                <c:pt idx="201">
                  <c:v>45291</c:v>
                </c:pt>
                <c:pt idx="202">
                  <c:v>45322</c:v>
                </c:pt>
                <c:pt idx="203">
                  <c:v>45351</c:v>
                </c:pt>
                <c:pt idx="204">
                  <c:v>45382</c:v>
                </c:pt>
                <c:pt idx="205">
                  <c:v>45412</c:v>
                </c:pt>
                <c:pt idx="206">
                  <c:v>45443</c:v>
                </c:pt>
                <c:pt idx="207">
                  <c:v>45473</c:v>
                </c:pt>
                <c:pt idx="208">
                  <c:v>45504</c:v>
                </c:pt>
                <c:pt idx="209">
                  <c:v>45535</c:v>
                </c:pt>
                <c:pt idx="210">
                  <c:v>45565</c:v>
                </c:pt>
                <c:pt idx="211">
                  <c:v>45596</c:v>
                </c:pt>
                <c:pt idx="212">
                  <c:v>45626</c:v>
                </c:pt>
                <c:pt idx="213">
                  <c:v>45657</c:v>
                </c:pt>
              </c:numCache>
            </c:numRef>
          </c:cat>
          <c:val>
            <c:numRef>
              <c:f>WAGES!$B$2:$B$236</c:f>
              <c:numCache>
                <c:formatCode>0.00%</c:formatCode>
                <c:ptCount val="235"/>
                <c:pt idx="0">
                  <c:v>3.4000000000000002E-2</c:v>
                </c:pt>
                <c:pt idx="1">
                  <c:v>3.1E-2</c:v>
                </c:pt>
                <c:pt idx="2">
                  <c:v>3.5000000000000003E-2</c:v>
                </c:pt>
                <c:pt idx="3">
                  <c:v>3.6000000000000004E-2</c:v>
                </c:pt>
                <c:pt idx="4">
                  <c:v>3.3000000000000002E-2</c:v>
                </c:pt>
                <c:pt idx="5">
                  <c:v>3.3000000000000002E-2</c:v>
                </c:pt>
                <c:pt idx="6">
                  <c:v>3.1E-2</c:v>
                </c:pt>
                <c:pt idx="7">
                  <c:v>3.1E-2</c:v>
                </c:pt>
                <c:pt idx="8">
                  <c:v>3.1E-2</c:v>
                </c:pt>
                <c:pt idx="9">
                  <c:v>2.8999999999999998E-2</c:v>
                </c:pt>
                <c:pt idx="10">
                  <c:v>0.03</c:v>
                </c:pt>
                <c:pt idx="11">
                  <c:v>2.7999999999999997E-2</c:v>
                </c:pt>
                <c:pt idx="12">
                  <c:v>0.03</c:v>
                </c:pt>
                <c:pt idx="13">
                  <c:v>2.8999999999999998E-2</c:v>
                </c:pt>
                <c:pt idx="14">
                  <c:v>0.03</c:v>
                </c:pt>
                <c:pt idx="15">
                  <c:v>2.7000000000000003E-2</c:v>
                </c:pt>
                <c:pt idx="16">
                  <c:v>3.1E-2</c:v>
                </c:pt>
                <c:pt idx="17">
                  <c:v>3.3000000000000002E-2</c:v>
                </c:pt>
                <c:pt idx="18">
                  <c:v>3.2000000000000001E-2</c:v>
                </c:pt>
                <c:pt idx="19">
                  <c:v>3.3000000000000002E-2</c:v>
                </c:pt>
                <c:pt idx="20">
                  <c:v>3.6000000000000004E-2</c:v>
                </c:pt>
                <c:pt idx="21">
                  <c:v>3.6000000000000004E-2</c:v>
                </c:pt>
                <c:pt idx="22">
                  <c:v>3.6000000000000004E-2</c:v>
                </c:pt>
                <c:pt idx="23">
                  <c:v>3.4000000000000002E-2</c:v>
                </c:pt>
                <c:pt idx="24">
                  <c:v>3.3000000000000002E-2</c:v>
                </c:pt>
                <c:pt idx="25">
                  <c:v>3.3000000000000002E-2</c:v>
                </c:pt>
                <c:pt idx="26">
                  <c:v>0.03</c:v>
                </c:pt>
                <c:pt idx="27">
                  <c:v>2.8999999999999998E-2</c:v>
                </c:pt>
                <c:pt idx="28">
                  <c:v>2.7000000000000003E-2</c:v>
                </c:pt>
                <c:pt idx="29">
                  <c:v>2.4E-2</c:v>
                </c:pt>
                <c:pt idx="30">
                  <c:v>2.5000000000000001E-2</c:v>
                </c:pt>
                <c:pt idx="31">
                  <c:v>2.5000000000000001E-2</c:v>
                </c:pt>
                <c:pt idx="32">
                  <c:v>2.2000000000000002E-2</c:v>
                </c:pt>
                <c:pt idx="33">
                  <c:v>1.9E-2</c:v>
                </c:pt>
                <c:pt idx="34">
                  <c:v>0.02</c:v>
                </c:pt>
                <c:pt idx="35">
                  <c:v>2.1000000000000001E-2</c:v>
                </c:pt>
                <c:pt idx="36">
                  <c:v>1.8000000000000002E-2</c:v>
                </c:pt>
                <c:pt idx="37">
                  <c:v>1.8000000000000002E-2</c:v>
                </c:pt>
                <c:pt idx="38">
                  <c:v>1.9E-2</c:v>
                </c:pt>
                <c:pt idx="39">
                  <c:v>1.8000000000000002E-2</c:v>
                </c:pt>
                <c:pt idx="40">
                  <c:v>1.8000000000000002E-2</c:v>
                </c:pt>
                <c:pt idx="41">
                  <c:v>1.8000000000000002E-2</c:v>
                </c:pt>
                <c:pt idx="42">
                  <c:v>1.8000000000000002E-2</c:v>
                </c:pt>
                <c:pt idx="43">
                  <c:v>0.02</c:v>
                </c:pt>
                <c:pt idx="44">
                  <c:v>1.7000000000000001E-2</c:v>
                </c:pt>
                <c:pt idx="45">
                  <c:v>1.8000000000000002E-2</c:v>
                </c:pt>
                <c:pt idx="46">
                  <c:v>0.02</c:v>
                </c:pt>
                <c:pt idx="47">
                  <c:v>1.9E-2</c:v>
                </c:pt>
                <c:pt idx="48">
                  <c:v>1.8000000000000002E-2</c:v>
                </c:pt>
                <c:pt idx="49">
                  <c:v>1.9E-2</c:v>
                </c:pt>
                <c:pt idx="50">
                  <c:v>0.02</c:v>
                </c:pt>
                <c:pt idx="51">
                  <c:v>2.1000000000000001E-2</c:v>
                </c:pt>
                <c:pt idx="52">
                  <c:v>2.3E-2</c:v>
                </c:pt>
                <c:pt idx="53">
                  <c:v>0.02</c:v>
                </c:pt>
                <c:pt idx="54">
                  <c:v>0.02</c:v>
                </c:pt>
                <c:pt idx="55">
                  <c:v>0.02</c:v>
                </c:pt>
                <c:pt idx="56">
                  <c:v>0.02</c:v>
                </c:pt>
                <c:pt idx="57">
                  <c:v>0.02</c:v>
                </c:pt>
                <c:pt idx="58">
                  <c:v>1.7000000000000001E-2</c:v>
                </c:pt>
                <c:pt idx="59">
                  <c:v>1.8000000000000002E-2</c:v>
                </c:pt>
                <c:pt idx="60">
                  <c:v>2.1000000000000001E-2</c:v>
                </c:pt>
                <c:pt idx="61">
                  <c:v>2.1000000000000001E-2</c:v>
                </c:pt>
                <c:pt idx="62">
                  <c:v>1.8000000000000002E-2</c:v>
                </c:pt>
                <c:pt idx="63">
                  <c:v>0.02</c:v>
                </c:pt>
                <c:pt idx="64">
                  <c:v>1.7000000000000001E-2</c:v>
                </c:pt>
                <c:pt idx="65">
                  <c:v>1.8000000000000002E-2</c:v>
                </c:pt>
                <c:pt idx="66">
                  <c:v>1.9E-2</c:v>
                </c:pt>
                <c:pt idx="67">
                  <c:v>1.6E-2</c:v>
                </c:pt>
                <c:pt idx="68">
                  <c:v>1.9E-2</c:v>
                </c:pt>
                <c:pt idx="69">
                  <c:v>2.2000000000000002E-2</c:v>
                </c:pt>
                <c:pt idx="70">
                  <c:v>2.2000000000000002E-2</c:v>
                </c:pt>
                <c:pt idx="71">
                  <c:v>2.1000000000000001E-2</c:v>
                </c:pt>
                <c:pt idx="72">
                  <c:v>1.9E-2</c:v>
                </c:pt>
                <c:pt idx="73">
                  <c:v>2.1000000000000001E-2</c:v>
                </c:pt>
                <c:pt idx="74">
                  <c:v>2.1000000000000001E-2</c:v>
                </c:pt>
                <c:pt idx="75">
                  <c:v>2.1000000000000001E-2</c:v>
                </c:pt>
                <c:pt idx="76">
                  <c:v>0.02</c:v>
                </c:pt>
                <c:pt idx="77">
                  <c:v>2.3E-2</c:v>
                </c:pt>
                <c:pt idx="78">
                  <c:v>2.1000000000000001E-2</c:v>
                </c:pt>
                <c:pt idx="79">
                  <c:v>2.2000000000000002E-2</c:v>
                </c:pt>
                <c:pt idx="80">
                  <c:v>2.2000000000000002E-2</c:v>
                </c:pt>
                <c:pt idx="81">
                  <c:v>1.9E-2</c:v>
                </c:pt>
                <c:pt idx="82">
                  <c:v>0.02</c:v>
                </c:pt>
                <c:pt idx="83">
                  <c:v>2.3E-2</c:v>
                </c:pt>
                <c:pt idx="84">
                  <c:v>2.2000000000000002E-2</c:v>
                </c:pt>
                <c:pt idx="85">
                  <c:v>0.02</c:v>
                </c:pt>
                <c:pt idx="86">
                  <c:v>2.1000000000000001E-2</c:v>
                </c:pt>
                <c:pt idx="87">
                  <c:v>2.1000000000000001E-2</c:v>
                </c:pt>
                <c:pt idx="88">
                  <c:v>2.1000000000000001E-2</c:v>
                </c:pt>
                <c:pt idx="89">
                  <c:v>2.2000000000000002E-2</c:v>
                </c:pt>
                <c:pt idx="90">
                  <c:v>0.02</c:v>
                </c:pt>
                <c:pt idx="91">
                  <c:v>0.02</c:v>
                </c:pt>
                <c:pt idx="92">
                  <c:v>2.1000000000000001E-2</c:v>
                </c:pt>
                <c:pt idx="93">
                  <c:v>1.8000000000000002E-2</c:v>
                </c:pt>
                <c:pt idx="94">
                  <c:v>2.1000000000000001E-2</c:v>
                </c:pt>
                <c:pt idx="95">
                  <c:v>1.9E-2</c:v>
                </c:pt>
                <c:pt idx="96">
                  <c:v>2.2000000000000002E-2</c:v>
                </c:pt>
                <c:pt idx="97">
                  <c:v>2.3E-2</c:v>
                </c:pt>
                <c:pt idx="98">
                  <c:v>2.3E-2</c:v>
                </c:pt>
                <c:pt idx="99">
                  <c:v>2.1000000000000001E-2</c:v>
                </c:pt>
                <c:pt idx="100">
                  <c:v>2.1000000000000001E-2</c:v>
                </c:pt>
                <c:pt idx="101">
                  <c:v>2.2000000000000002E-2</c:v>
                </c:pt>
                <c:pt idx="102">
                  <c:v>2.3E-2</c:v>
                </c:pt>
                <c:pt idx="103">
                  <c:v>2.5000000000000001E-2</c:v>
                </c:pt>
                <c:pt idx="104">
                  <c:v>2.4E-2</c:v>
                </c:pt>
                <c:pt idx="105">
                  <c:v>2.5000000000000001E-2</c:v>
                </c:pt>
                <c:pt idx="106">
                  <c:v>2.5000000000000001E-2</c:v>
                </c:pt>
                <c:pt idx="107">
                  <c:v>2.4E-2</c:v>
                </c:pt>
                <c:pt idx="108">
                  <c:v>2.4E-2</c:v>
                </c:pt>
                <c:pt idx="109">
                  <c:v>2.6000000000000002E-2</c:v>
                </c:pt>
                <c:pt idx="110">
                  <c:v>2.4E-2</c:v>
                </c:pt>
                <c:pt idx="111">
                  <c:v>2.6000000000000002E-2</c:v>
                </c:pt>
                <c:pt idx="112">
                  <c:v>2.7999999999999997E-2</c:v>
                </c:pt>
                <c:pt idx="113">
                  <c:v>2.5000000000000001E-2</c:v>
                </c:pt>
                <c:pt idx="114">
                  <c:v>2.6000000000000002E-2</c:v>
                </c:pt>
                <c:pt idx="115">
                  <c:v>2.7999999999999997E-2</c:v>
                </c:pt>
                <c:pt idx="116">
                  <c:v>2.6000000000000002E-2</c:v>
                </c:pt>
                <c:pt idx="117">
                  <c:v>2.7000000000000003E-2</c:v>
                </c:pt>
                <c:pt idx="118">
                  <c:v>2.4E-2</c:v>
                </c:pt>
                <c:pt idx="119">
                  <c:v>2.7000000000000003E-2</c:v>
                </c:pt>
                <c:pt idx="120">
                  <c:v>2.6000000000000002E-2</c:v>
                </c:pt>
                <c:pt idx="121">
                  <c:v>2.5000000000000001E-2</c:v>
                </c:pt>
                <c:pt idx="122">
                  <c:v>2.5000000000000001E-2</c:v>
                </c:pt>
                <c:pt idx="123">
                  <c:v>2.5000000000000001E-2</c:v>
                </c:pt>
                <c:pt idx="124">
                  <c:v>2.6000000000000002E-2</c:v>
                </c:pt>
                <c:pt idx="125">
                  <c:v>2.6000000000000002E-2</c:v>
                </c:pt>
                <c:pt idx="126">
                  <c:v>2.7999999999999997E-2</c:v>
                </c:pt>
                <c:pt idx="127">
                  <c:v>2.3E-2</c:v>
                </c:pt>
                <c:pt idx="128">
                  <c:v>2.4E-2</c:v>
                </c:pt>
                <c:pt idx="129">
                  <c:v>2.7000000000000003E-2</c:v>
                </c:pt>
                <c:pt idx="130">
                  <c:v>2.7999999999999997E-2</c:v>
                </c:pt>
                <c:pt idx="131">
                  <c:v>2.6000000000000002E-2</c:v>
                </c:pt>
                <c:pt idx="132">
                  <c:v>2.8999999999999998E-2</c:v>
                </c:pt>
                <c:pt idx="133">
                  <c:v>2.7999999999999997E-2</c:v>
                </c:pt>
                <c:pt idx="134">
                  <c:v>2.8999999999999998E-2</c:v>
                </c:pt>
                <c:pt idx="135">
                  <c:v>0.03</c:v>
                </c:pt>
                <c:pt idx="136">
                  <c:v>2.7999999999999997E-2</c:v>
                </c:pt>
                <c:pt idx="137">
                  <c:v>3.1E-2</c:v>
                </c:pt>
                <c:pt idx="138">
                  <c:v>3.1E-2</c:v>
                </c:pt>
                <c:pt idx="139">
                  <c:v>3.3000000000000002E-2</c:v>
                </c:pt>
                <c:pt idx="140">
                  <c:v>3.4000000000000002E-2</c:v>
                </c:pt>
                <c:pt idx="141">
                  <c:v>3.5000000000000003E-2</c:v>
                </c:pt>
                <c:pt idx="142">
                  <c:v>3.2000000000000001E-2</c:v>
                </c:pt>
                <c:pt idx="143">
                  <c:v>3.6000000000000004E-2</c:v>
                </c:pt>
                <c:pt idx="144">
                  <c:v>3.5000000000000003E-2</c:v>
                </c:pt>
                <c:pt idx="145">
                  <c:v>3.2000000000000001E-2</c:v>
                </c:pt>
                <c:pt idx="146">
                  <c:v>3.3000000000000002E-2</c:v>
                </c:pt>
                <c:pt idx="147">
                  <c:v>3.4000000000000002E-2</c:v>
                </c:pt>
                <c:pt idx="148">
                  <c:v>3.4000000000000002E-2</c:v>
                </c:pt>
                <c:pt idx="149">
                  <c:v>3.4000000000000002E-2</c:v>
                </c:pt>
                <c:pt idx="150">
                  <c:v>3.1E-2</c:v>
                </c:pt>
                <c:pt idx="151">
                  <c:v>3.1E-2</c:v>
                </c:pt>
                <c:pt idx="152">
                  <c:v>3.3000000000000002E-2</c:v>
                </c:pt>
                <c:pt idx="153">
                  <c:v>0.03</c:v>
                </c:pt>
                <c:pt idx="154">
                  <c:v>3.1E-2</c:v>
                </c:pt>
                <c:pt idx="155">
                  <c:v>0.03</c:v>
                </c:pt>
                <c:pt idx="156">
                  <c:v>3.5000000000000003E-2</c:v>
                </c:pt>
                <c:pt idx="157">
                  <c:v>0.08</c:v>
                </c:pt>
                <c:pt idx="158">
                  <c:v>6.7000000000000004E-2</c:v>
                </c:pt>
                <c:pt idx="159">
                  <c:v>5.0999999999999997E-2</c:v>
                </c:pt>
                <c:pt idx="160">
                  <c:v>4.9000000000000002E-2</c:v>
                </c:pt>
                <c:pt idx="161">
                  <c:v>4.8000000000000001E-2</c:v>
                </c:pt>
                <c:pt idx="162">
                  <c:v>4.8000000000000001E-2</c:v>
                </c:pt>
                <c:pt idx="163">
                  <c:v>4.5999999999999999E-2</c:v>
                </c:pt>
                <c:pt idx="164">
                  <c:v>4.4999999999999998E-2</c:v>
                </c:pt>
                <c:pt idx="165">
                  <c:v>5.4000000000000006E-2</c:v>
                </c:pt>
                <c:pt idx="166">
                  <c:v>5.2000000000000005E-2</c:v>
                </c:pt>
                <c:pt idx="167">
                  <c:v>5.2999999999999999E-2</c:v>
                </c:pt>
                <c:pt idx="168">
                  <c:v>4.4999999999999998E-2</c:v>
                </c:pt>
                <c:pt idx="169">
                  <c:v>6.9999999999999993E-3</c:v>
                </c:pt>
                <c:pt idx="170">
                  <c:v>2.3E-2</c:v>
                </c:pt>
                <c:pt idx="171">
                  <c:v>3.9E-2</c:v>
                </c:pt>
                <c:pt idx="172">
                  <c:v>4.2999999999999997E-2</c:v>
                </c:pt>
                <c:pt idx="173">
                  <c:v>4.4000000000000004E-2</c:v>
                </c:pt>
                <c:pt idx="174">
                  <c:v>4.9000000000000002E-2</c:v>
                </c:pt>
                <c:pt idx="175">
                  <c:v>5.5E-2</c:v>
                </c:pt>
                <c:pt idx="176">
                  <c:v>5.4000000000000006E-2</c:v>
                </c:pt>
                <c:pt idx="177">
                  <c:v>0.05</c:v>
                </c:pt>
                <c:pt idx="178">
                  <c:v>5.7000000000000002E-2</c:v>
                </c:pt>
                <c:pt idx="179">
                  <c:v>5.2999999999999999E-2</c:v>
                </c:pt>
                <c:pt idx="180">
                  <c:v>5.9000000000000004E-2</c:v>
                </c:pt>
                <c:pt idx="181">
                  <c:v>5.7999999999999996E-2</c:v>
                </c:pt>
                <c:pt idx="182">
                  <c:v>5.5999999999999994E-2</c:v>
                </c:pt>
                <c:pt idx="183">
                  <c:v>5.4000000000000006E-2</c:v>
                </c:pt>
                <c:pt idx="184">
                  <c:v>5.5E-2</c:v>
                </c:pt>
                <c:pt idx="185">
                  <c:v>5.4000000000000006E-2</c:v>
                </c:pt>
                <c:pt idx="186">
                  <c:v>5.0999999999999997E-2</c:v>
                </c:pt>
                <c:pt idx="187">
                  <c:v>0.05</c:v>
                </c:pt>
                <c:pt idx="188">
                  <c:v>5.0999999999999997E-2</c:v>
                </c:pt>
                <c:pt idx="189">
                  <c:v>4.9000000000000002E-2</c:v>
                </c:pt>
                <c:pt idx="190">
                  <c:v>4.5999999999999999E-2</c:v>
                </c:pt>
                <c:pt idx="191">
                  <c:v>4.7E-2</c:v>
                </c:pt>
                <c:pt idx="192">
                  <c:v>4.5999999999999999E-2</c:v>
                </c:pt>
                <c:pt idx="193">
                  <c:v>4.7E-2</c:v>
                </c:pt>
                <c:pt idx="194">
                  <c:v>4.5999999999999999E-2</c:v>
                </c:pt>
                <c:pt idx="195">
                  <c:v>4.7E-2</c:v>
                </c:pt>
                <c:pt idx="196">
                  <c:v>4.7E-2</c:v>
                </c:pt>
                <c:pt idx="197">
                  <c:v>4.4999999999999998E-2</c:v>
                </c:pt>
                <c:pt idx="198">
                  <c:v>4.4999999999999998E-2</c:v>
                </c:pt>
                <c:pt idx="199">
                  <c:v>4.2999999999999997E-2</c:v>
                </c:pt>
                <c:pt idx="200">
                  <c:v>4.2999999999999997E-2</c:v>
                </c:pt>
                <c:pt idx="201">
                  <c:v>4.2999999999999997E-2</c:v>
                </c:pt>
                <c:pt idx="202">
                  <c:v>4.4000000000000004E-2</c:v>
                </c:pt>
                <c:pt idx="203">
                  <c:v>4.2999999999999997E-2</c:v>
                </c:pt>
                <c:pt idx="204">
                  <c:v>4.0999999999999995E-2</c:v>
                </c:pt>
                <c:pt idx="205">
                  <c:v>3.9E-2</c:v>
                </c:pt>
                <c:pt idx="206">
                  <c:v>0.04</c:v>
                </c:pt>
                <c:pt idx="207">
                  <c:v>3.7999999999999999E-2</c:v>
                </c:pt>
                <c:pt idx="208">
                  <c:v>3.6000000000000004E-2</c:v>
                </c:pt>
                <c:pt idx="209">
                  <c:v>3.9E-2</c:v>
                </c:pt>
                <c:pt idx="210">
                  <c:v>3.9E-2</c:v>
                </c:pt>
                <c:pt idx="211">
                  <c:v>0.04</c:v>
                </c:pt>
                <c:pt idx="212">
                  <c:v>0.04</c:v>
                </c:pt>
                <c:pt idx="213">
                  <c:v>3.9E-2</c:v>
                </c:pt>
              </c:numCache>
            </c:numRef>
          </c:val>
          <c:smooth val="0"/>
          <c:extLst xmlns:c15="http://schemas.microsoft.com/office/drawing/2012/chart">
            <c:ext xmlns:c16="http://schemas.microsoft.com/office/drawing/2014/chart" uri="{C3380CC4-5D6E-409C-BE32-E72D297353CC}">
              <c16:uniqueId val="{00000001-AAC4-4609-86F2-1099A2B646F3}"/>
            </c:ext>
          </c:extLst>
        </c:ser>
        <c:dLbls>
          <c:showLegendKey val="0"/>
          <c:showVal val="0"/>
          <c:showCatName val="0"/>
          <c:showSerName val="0"/>
          <c:showPercent val="0"/>
          <c:showBubbleSize val="0"/>
        </c:dLbls>
        <c:marker val="1"/>
        <c:smooth val="0"/>
        <c:axId val="861049440"/>
        <c:axId val="861067936"/>
        <c:extLst/>
      </c:lineChart>
      <c:dateAx>
        <c:axId val="861049440"/>
        <c:scaling>
          <c:orientation val="minMax"/>
          <c:max val="45657"/>
          <c:min val="39447"/>
        </c:scaling>
        <c:delete val="0"/>
        <c:axPos val="b"/>
        <c:majorGridlines>
          <c:spPr>
            <a:ln>
              <a:noFill/>
            </a:ln>
          </c:spPr>
        </c:majorGridlines>
        <c:numFmt formatCode="[$-409]mmm\-yy;@" sourceLinked="0"/>
        <c:majorTickMark val="out"/>
        <c:minorTickMark val="none"/>
        <c:tickLblPos val="nextTo"/>
        <c:spPr>
          <a:ln>
            <a:solidFill>
              <a:sysClr val="window" lastClr="FFFFFF">
                <a:lumMod val="85000"/>
              </a:sysClr>
            </a:solidFill>
          </a:ln>
        </c:spPr>
        <c:txPr>
          <a:bodyPr rot="-5400000" vert="horz"/>
          <a:lstStyle/>
          <a:p>
            <a:pPr algn="ctr">
              <a:defRPr lang="en-US" sz="700" b="0" i="0" u="none" strike="noStrike" kern="1200" cap="all" spc="-30" baseline="0">
                <a:solidFill>
                  <a:schemeClr val="bg1"/>
                </a:solidFill>
                <a:latin typeface="Poppins" panose="00000500000000000000" pitchFamily="2" charset="0"/>
                <a:ea typeface="+mn-ea"/>
                <a:cs typeface="Poppins" panose="00000500000000000000" pitchFamily="2" charset="0"/>
              </a:defRPr>
            </a:pPr>
            <a:endParaRPr lang="en-US"/>
          </a:p>
        </c:txPr>
        <c:crossAx val="861067936"/>
        <c:crosses val="autoZero"/>
        <c:auto val="1"/>
        <c:lblOffset val="100"/>
        <c:baseTimeUnit val="days"/>
        <c:majorUnit val="1"/>
        <c:majorTimeUnit val="years"/>
      </c:dateAx>
      <c:valAx>
        <c:axId val="861067936"/>
        <c:scaling>
          <c:orientation val="minMax"/>
          <c:max val="0.1"/>
        </c:scaling>
        <c:delete val="0"/>
        <c:axPos val="l"/>
        <c:majorGridlines>
          <c:spPr>
            <a:ln>
              <a:solidFill>
                <a:srgbClr val="D9D9D9">
                  <a:alpha val="72157"/>
                </a:srgbClr>
              </a:solidFill>
            </a:ln>
          </c:spPr>
        </c:majorGridlines>
        <c:numFmt formatCode="0%" sourceLinked="0"/>
        <c:majorTickMark val="out"/>
        <c:minorTickMark val="none"/>
        <c:tickLblPos val="nextTo"/>
        <c:spPr>
          <a:ln>
            <a:solidFill>
              <a:sysClr val="window" lastClr="FFFFFF">
                <a:lumMod val="85000"/>
              </a:sysClr>
            </a:solidFill>
          </a:ln>
        </c:spPr>
        <c:txPr>
          <a:bodyPr/>
          <a:lstStyle/>
          <a:p>
            <a:pPr>
              <a:defRPr>
                <a:solidFill>
                  <a:schemeClr val="bg1"/>
                </a:solidFill>
              </a:defRPr>
            </a:pPr>
            <a:endParaRPr lang="en-US"/>
          </a:p>
        </c:txPr>
        <c:crossAx val="861049440"/>
        <c:crosses val="autoZero"/>
        <c:crossBetween val="between"/>
      </c:valAx>
      <c:spPr>
        <a:noFill/>
        <a:ln w="25400">
          <a:noFill/>
        </a:ln>
      </c:spPr>
    </c:plotArea>
    <c:plotVisOnly val="1"/>
    <c:dispBlanksAs val="gap"/>
    <c:showDLblsOverMax val="0"/>
  </c:chart>
  <c:spPr>
    <a:solidFill>
      <a:srgbClr val="2B3E59"/>
    </a:solidFill>
    <a:ln>
      <a:noFill/>
    </a:ln>
  </c:spPr>
  <c:txPr>
    <a:bodyPr/>
    <a:lstStyle/>
    <a:p>
      <a:pPr>
        <a:defRPr>
          <a:latin typeface="Poppins" panose="00000500000000000000" pitchFamily="2" charset="0"/>
          <a:cs typeface="Poppins" panose="00000500000000000000" pitchFamily="2" charset="0"/>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9385269149049"/>
          <c:y val="0.20095076289737643"/>
          <c:w val="0.77100074029207888"/>
          <c:h val="0.58403781747503825"/>
        </c:manualLayout>
      </c:layout>
      <c:barChart>
        <c:barDir val="col"/>
        <c:grouping val="stacked"/>
        <c:varyColors val="0"/>
        <c:ser>
          <c:idx val="0"/>
          <c:order val="1"/>
          <c:tx>
            <c:strRef>
              <c:f>'Page 5 Data'!$BL$4</c:f>
              <c:strCache>
                <c:ptCount val="1"/>
                <c:pt idx="0">
                  <c:v>US RECESSION</c:v>
                </c:pt>
              </c:strCache>
              <c:extLst xmlns:c15="http://schemas.microsoft.com/office/drawing/2012/chart"/>
            </c:strRef>
          </c:tx>
          <c:spPr>
            <a:noFill/>
            <a:ln w="34925">
              <a:solidFill>
                <a:srgbClr val="5891A6"/>
              </a:solidFill>
            </a:ln>
          </c:spPr>
          <c:invertIfNegative val="0"/>
          <c:dPt>
            <c:idx val="158"/>
            <c:invertIfNegative val="0"/>
            <c:bubble3D val="0"/>
            <c:spPr>
              <a:noFill/>
              <a:ln w="34925">
                <a:solidFill>
                  <a:srgbClr val="5891A6">
                    <a:alpha val="0"/>
                  </a:srgbClr>
                </a:solidFill>
              </a:ln>
            </c:spPr>
            <c:extLst>
              <c:ext xmlns:c16="http://schemas.microsoft.com/office/drawing/2014/chart" uri="{C3380CC4-5D6E-409C-BE32-E72D297353CC}">
                <c16:uniqueId val="{00000000-6079-4C43-B3F0-5DAFB146D0B5}"/>
              </c:ext>
            </c:extLst>
          </c:dPt>
          <c:cat>
            <c:numRef>
              <c:f>'Page 5 Data'!$BL$6:$BL$1007</c:f>
              <c:numCache>
                <c:formatCode>[$-409]mmm\-yy;@</c:formatCode>
                <c:ptCount val="1002"/>
                <c:pt idx="0">
                  <c:v>38352</c:v>
                </c:pt>
                <c:pt idx="1">
                  <c:v>38383</c:v>
                </c:pt>
                <c:pt idx="2">
                  <c:v>38411</c:v>
                </c:pt>
                <c:pt idx="3">
                  <c:v>38442</c:v>
                </c:pt>
                <c:pt idx="4">
                  <c:v>38472</c:v>
                </c:pt>
                <c:pt idx="5">
                  <c:v>38503</c:v>
                </c:pt>
                <c:pt idx="6">
                  <c:v>38533</c:v>
                </c:pt>
                <c:pt idx="7">
                  <c:v>38564</c:v>
                </c:pt>
                <c:pt idx="8">
                  <c:v>38595</c:v>
                </c:pt>
                <c:pt idx="9">
                  <c:v>38625</c:v>
                </c:pt>
                <c:pt idx="10">
                  <c:v>38656</c:v>
                </c:pt>
                <c:pt idx="11">
                  <c:v>38686</c:v>
                </c:pt>
                <c:pt idx="12">
                  <c:v>38717</c:v>
                </c:pt>
                <c:pt idx="13">
                  <c:v>38748</c:v>
                </c:pt>
                <c:pt idx="14">
                  <c:v>38776</c:v>
                </c:pt>
                <c:pt idx="15">
                  <c:v>38807</c:v>
                </c:pt>
                <c:pt idx="16">
                  <c:v>38837</c:v>
                </c:pt>
                <c:pt idx="17">
                  <c:v>38868</c:v>
                </c:pt>
                <c:pt idx="18">
                  <c:v>38898</c:v>
                </c:pt>
                <c:pt idx="19">
                  <c:v>38929</c:v>
                </c:pt>
                <c:pt idx="20">
                  <c:v>38960</c:v>
                </c:pt>
                <c:pt idx="21">
                  <c:v>38990</c:v>
                </c:pt>
                <c:pt idx="22">
                  <c:v>39021</c:v>
                </c:pt>
                <c:pt idx="23">
                  <c:v>39051</c:v>
                </c:pt>
                <c:pt idx="24">
                  <c:v>39082</c:v>
                </c:pt>
                <c:pt idx="25">
                  <c:v>39113</c:v>
                </c:pt>
                <c:pt idx="26">
                  <c:v>39141</c:v>
                </c:pt>
                <c:pt idx="27">
                  <c:v>39172</c:v>
                </c:pt>
                <c:pt idx="28">
                  <c:v>39202</c:v>
                </c:pt>
                <c:pt idx="29">
                  <c:v>39233</c:v>
                </c:pt>
                <c:pt idx="30">
                  <c:v>39263</c:v>
                </c:pt>
                <c:pt idx="31">
                  <c:v>39294</c:v>
                </c:pt>
                <c:pt idx="32">
                  <c:v>39325</c:v>
                </c:pt>
                <c:pt idx="33">
                  <c:v>39355</c:v>
                </c:pt>
                <c:pt idx="34">
                  <c:v>39386</c:v>
                </c:pt>
                <c:pt idx="35">
                  <c:v>39416</c:v>
                </c:pt>
                <c:pt idx="36">
                  <c:v>39447</c:v>
                </c:pt>
                <c:pt idx="37">
                  <c:v>39478</c:v>
                </c:pt>
                <c:pt idx="38">
                  <c:v>39507</c:v>
                </c:pt>
                <c:pt idx="39">
                  <c:v>39538</c:v>
                </c:pt>
                <c:pt idx="40">
                  <c:v>39568</c:v>
                </c:pt>
                <c:pt idx="41">
                  <c:v>39599</c:v>
                </c:pt>
                <c:pt idx="42">
                  <c:v>39629</c:v>
                </c:pt>
                <c:pt idx="43">
                  <c:v>39660</c:v>
                </c:pt>
                <c:pt idx="44">
                  <c:v>39691</c:v>
                </c:pt>
                <c:pt idx="45">
                  <c:v>39721</c:v>
                </c:pt>
                <c:pt idx="46">
                  <c:v>39752</c:v>
                </c:pt>
                <c:pt idx="47">
                  <c:v>39782</c:v>
                </c:pt>
                <c:pt idx="48">
                  <c:v>39813</c:v>
                </c:pt>
                <c:pt idx="49">
                  <c:v>39844</c:v>
                </c:pt>
                <c:pt idx="50">
                  <c:v>39872</c:v>
                </c:pt>
                <c:pt idx="51">
                  <c:v>39903</c:v>
                </c:pt>
                <c:pt idx="52">
                  <c:v>39933</c:v>
                </c:pt>
                <c:pt idx="53">
                  <c:v>39964</c:v>
                </c:pt>
                <c:pt idx="54">
                  <c:v>39994</c:v>
                </c:pt>
                <c:pt idx="55">
                  <c:v>40025</c:v>
                </c:pt>
                <c:pt idx="56">
                  <c:v>40056</c:v>
                </c:pt>
                <c:pt idx="57">
                  <c:v>40086</c:v>
                </c:pt>
                <c:pt idx="58">
                  <c:v>40117</c:v>
                </c:pt>
                <c:pt idx="59">
                  <c:v>40147</c:v>
                </c:pt>
                <c:pt idx="60">
                  <c:v>40178</c:v>
                </c:pt>
                <c:pt idx="61">
                  <c:v>40209</c:v>
                </c:pt>
                <c:pt idx="62">
                  <c:v>40237</c:v>
                </c:pt>
                <c:pt idx="63">
                  <c:v>40268</c:v>
                </c:pt>
                <c:pt idx="64">
                  <c:v>40298</c:v>
                </c:pt>
                <c:pt idx="65">
                  <c:v>40329</c:v>
                </c:pt>
                <c:pt idx="66">
                  <c:v>40359</c:v>
                </c:pt>
                <c:pt idx="67">
                  <c:v>40390</c:v>
                </c:pt>
                <c:pt idx="68">
                  <c:v>40421</c:v>
                </c:pt>
                <c:pt idx="69">
                  <c:v>40451</c:v>
                </c:pt>
                <c:pt idx="70">
                  <c:v>40482</c:v>
                </c:pt>
                <c:pt idx="71">
                  <c:v>40512</c:v>
                </c:pt>
                <c:pt idx="72">
                  <c:v>40543</c:v>
                </c:pt>
                <c:pt idx="73">
                  <c:v>40574</c:v>
                </c:pt>
                <c:pt idx="74">
                  <c:v>40602</c:v>
                </c:pt>
                <c:pt idx="75">
                  <c:v>40633</c:v>
                </c:pt>
                <c:pt idx="76">
                  <c:v>40663</c:v>
                </c:pt>
                <c:pt idx="77">
                  <c:v>40694</c:v>
                </c:pt>
                <c:pt idx="78">
                  <c:v>40724</c:v>
                </c:pt>
                <c:pt idx="79">
                  <c:v>40755</c:v>
                </c:pt>
                <c:pt idx="80">
                  <c:v>40786</c:v>
                </c:pt>
                <c:pt idx="81">
                  <c:v>40816</c:v>
                </c:pt>
                <c:pt idx="82">
                  <c:v>40847</c:v>
                </c:pt>
                <c:pt idx="83">
                  <c:v>40877</c:v>
                </c:pt>
                <c:pt idx="84">
                  <c:v>40908</c:v>
                </c:pt>
                <c:pt idx="85">
                  <c:v>40939</c:v>
                </c:pt>
                <c:pt idx="86">
                  <c:v>40968</c:v>
                </c:pt>
                <c:pt idx="87">
                  <c:v>40999</c:v>
                </c:pt>
                <c:pt idx="88">
                  <c:v>41029</c:v>
                </c:pt>
                <c:pt idx="89">
                  <c:v>41060</c:v>
                </c:pt>
                <c:pt idx="90">
                  <c:v>41090</c:v>
                </c:pt>
                <c:pt idx="91">
                  <c:v>41121</c:v>
                </c:pt>
                <c:pt idx="92">
                  <c:v>41152</c:v>
                </c:pt>
                <c:pt idx="93">
                  <c:v>41182</c:v>
                </c:pt>
                <c:pt idx="94">
                  <c:v>41213</c:v>
                </c:pt>
                <c:pt idx="95">
                  <c:v>41243</c:v>
                </c:pt>
                <c:pt idx="96">
                  <c:v>41274</c:v>
                </c:pt>
                <c:pt idx="97">
                  <c:v>41305</c:v>
                </c:pt>
                <c:pt idx="98">
                  <c:v>41333</c:v>
                </c:pt>
                <c:pt idx="99">
                  <c:v>41364</c:v>
                </c:pt>
                <c:pt idx="100">
                  <c:v>41394</c:v>
                </c:pt>
                <c:pt idx="101">
                  <c:v>41425</c:v>
                </c:pt>
                <c:pt idx="102">
                  <c:v>41455</c:v>
                </c:pt>
                <c:pt idx="103">
                  <c:v>41486</c:v>
                </c:pt>
                <c:pt idx="104">
                  <c:v>41517</c:v>
                </c:pt>
                <c:pt idx="105">
                  <c:v>41547</c:v>
                </c:pt>
                <c:pt idx="106">
                  <c:v>41578</c:v>
                </c:pt>
                <c:pt idx="107">
                  <c:v>41608</c:v>
                </c:pt>
                <c:pt idx="108">
                  <c:v>41639</c:v>
                </c:pt>
                <c:pt idx="109">
                  <c:v>41670</c:v>
                </c:pt>
                <c:pt idx="110">
                  <c:v>41698</c:v>
                </c:pt>
                <c:pt idx="111">
                  <c:v>41729</c:v>
                </c:pt>
                <c:pt idx="112">
                  <c:v>41759</c:v>
                </c:pt>
                <c:pt idx="113">
                  <c:v>41790</c:v>
                </c:pt>
                <c:pt idx="114">
                  <c:v>41820</c:v>
                </c:pt>
                <c:pt idx="115">
                  <c:v>41851</c:v>
                </c:pt>
                <c:pt idx="116">
                  <c:v>41882</c:v>
                </c:pt>
                <c:pt idx="117">
                  <c:v>41912</c:v>
                </c:pt>
                <c:pt idx="118">
                  <c:v>41943</c:v>
                </c:pt>
                <c:pt idx="119">
                  <c:v>41973</c:v>
                </c:pt>
                <c:pt idx="120">
                  <c:v>42004</c:v>
                </c:pt>
                <c:pt idx="121">
                  <c:v>42035</c:v>
                </c:pt>
                <c:pt idx="122">
                  <c:v>42063</c:v>
                </c:pt>
                <c:pt idx="123">
                  <c:v>42094</c:v>
                </c:pt>
                <c:pt idx="124">
                  <c:v>42124</c:v>
                </c:pt>
                <c:pt idx="125">
                  <c:v>42155</c:v>
                </c:pt>
                <c:pt idx="126">
                  <c:v>42185</c:v>
                </c:pt>
                <c:pt idx="127">
                  <c:v>42216</c:v>
                </c:pt>
                <c:pt idx="128">
                  <c:v>42247</c:v>
                </c:pt>
                <c:pt idx="129">
                  <c:v>42277</c:v>
                </c:pt>
                <c:pt idx="130">
                  <c:v>42308</c:v>
                </c:pt>
                <c:pt idx="131">
                  <c:v>42338</c:v>
                </c:pt>
                <c:pt idx="132">
                  <c:v>42369</c:v>
                </c:pt>
                <c:pt idx="133">
                  <c:v>42400</c:v>
                </c:pt>
                <c:pt idx="134">
                  <c:v>42429</c:v>
                </c:pt>
                <c:pt idx="135">
                  <c:v>42460</c:v>
                </c:pt>
                <c:pt idx="136">
                  <c:v>42490</c:v>
                </c:pt>
                <c:pt idx="137">
                  <c:v>42521</c:v>
                </c:pt>
                <c:pt idx="138">
                  <c:v>42551</c:v>
                </c:pt>
                <c:pt idx="139">
                  <c:v>42582</c:v>
                </c:pt>
                <c:pt idx="140">
                  <c:v>42613</c:v>
                </c:pt>
                <c:pt idx="141">
                  <c:v>42643</c:v>
                </c:pt>
                <c:pt idx="142">
                  <c:v>42674</c:v>
                </c:pt>
                <c:pt idx="143">
                  <c:v>42704</c:v>
                </c:pt>
                <c:pt idx="144">
                  <c:v>42735</c:v>
                </c:pt>
                <c:pt idx="145">
                  <c:v>42766</c:v>
                </c:pt>
                <c:pt idx="146">
                  <c:v>42794</c:v>
                </c:pt>
                <c:pt idx="147">
                  <c:v>42825</c:v>
                </c:pt>
                <c:pt idx="148">
                  <c:v>42855</c:v>
                </c:pt>
                <c:pt idx="149">
                  <c:v>42886</c:v>
                </c:pt>
                <c:pt idx="150">
                  <c:v>42916</c:v>
                </c:pt>
                <c:pt idx="151">
                  <c:v>42947</c:v>
                </c:pt>
                <c:pt idx="152">
                  <c:v>42978</c:v>
                </c:pt>
                <c:pt idx="153">
                  <c:v>43008</c:v>
                </c:pt>
                <c:pt idx="154">
                  <c:v>43039</c:v>
                </c:pt>
                <c:pt idx="155">
                  <c:v>43069</c:v>
                </c:pt>
                <c:pt idx="156">
                  <c:v>43100</c:v>
                </c:pt>
                <c:pt idx="157">
                  <c:v>43131</c:v>
                </c:pt>
                <c:pt idx="158">
                  <c:v>43159</c:v>
                </c:pt>
                <c:pt idx="159">
                  <c:v>43190</c:v>
                </c:pt>
                <c:pt idx="160">
                  <c:v>43220</c:v>
                </c:pt>
                <c:pt idx="161">
                  <c:v>43251</c:v>
                </c:pt>
                <c:pt idx="162">
                  <c:v>43281</c:v>
                </c:pt>
                <c:pt idx="163">
                  <c:v>43312</c:v>
                </c:pt>
                <c:pt idx="164">
                  <c:v>43343</c:v>
                </c:pt>
                <c:pt idx="165">
                  <c:v>43373</c:v>
                </c:pt>
                <c:pt idx="166">
                  <c:v>43404</c:v>
                </c:pt>
                <c:pt idx="167">
                  <c:v>43434</c:v>
                </c:pt>
                <c:pt idx="168">
                  <c:v>43465</c:v>
                </c:pt>
                <c:pt idx="169">
                  <c:v>43496</c:v>
                </c:pt>
                <c:pt idx="170">
                  <c:v>43524</c:v>
                </c:pt>
                <c:pt idx="171">
                  <c:v>43555</c:v>
                </c:pt>
                <c:pt idx="172">
                  <c:v>43585</c:v>
                </c:pt>
                <c:pt idx="173">
                  <c:v>43616</c:v>
                </c:pt>
                <c:pt idx="174">
                  <c:v>43646</c:v>
                </c:pt>
                <c:pt idx="175">
                  <c:v>43677</c:v>
                </c:pt>
                <c:pt idx="176">
                  <c:v>43708</c:v>
                </c:pt>
                <c:pt idx="177">
                  <c:v>43738</c:v>
                </c:pt>
                <c:pt idx="178">
                  <c:v>43769</c:v>
                </c:pt>
                <c:pt idx="179">
                  <c:v>43799</c:v>
                </c:pt>
                <c:pt idx="180">
                  <c:v>43830</c:v>
                </c:pt>
                <c:pt idx="181">
                  <c:v>43861</c:v>
                </c:pt>
                <c:pt idx="182">
                  <c:v>43890</c:v>
                </c:pt>
                <c:pt idx="183">
                  <c:v>43921</c:v>
                </c:pt>
                <c:pt idx="184">
                  <c:v>43951</c:v>
                </c:pt>
                <c:pt idx="185">
                  <c:v>43982</c:v>
                </c:pt>
                <c:pt idx="186">
                  <c:v>44012</c:v>
                </c:pt>
                <c:pt idx="187">
                  <c:v>44043</c:v>
                </c:pt>
                <c:pt idx="188">
                  <c:v>44074</c:v>
                </c:pt>
                <c:pt idx="189">
                  <c:v>44104</c:v>
                </c:pt>
                <c:pt idx="190">
                  <c:v>44135</c:v>
                </c:pt>
                <c:pt idx="191">
                  <c:v>44165</c:v>
                </c:pt>
                <c:pt idx="192">
                  <c:v>44196</c:v>
                </c:pt>
                <c:pt idx="193">
                  <c:v>44227</c:v>
                </c:pt>
                <c:pt idx="194">
                  <c:v>44255</c:v>
                </c:pt>
                <c:pt idx="195">
                  <c:v>44286</c:v>
                </c:pt>
                <c:pt idx="196">
                  <c:v>44316</c:v>
                </c:pt>
                <c:pt idx="197">
                  <c:v>44347</c:v>
                </c:pt>
                <c:pt idx="198">
                  <c:v>44377</c:v>
                </c:pt>
                <c:pt idx="199">
                  <c:v>44408</c:v>
                </c:pt>
                <c:pt idx="200">
                  <c:v>44439</c:v>
                </c:pt>
                <c:pt idx="201">
                  <c:v>44469</c:v>
                </c:pt>
                <c:pt idx="202">
                  <c:v>44500</c:v>
                </c:pt>
                <c:pt idx="203">
                  <c:v>44530</c:v>
                </c:pt>
                <c:pt idx="204">
                  <c:v>44561</c:v>
                </c:pt>
                <c:pt idx="205">
                  <c:v>44592</c:v>
                </c:pt>
                <c:pt idx="206">
                  <c:v>44620</c:v>
                </c:pt>
                <c:pt idx="207">
                  <c:v>44651</c:v>
                </c:pt>
                <c:pt idx="208">
                  <c:v>44681</c:v>
                </c:pt>
                <c:pt idx="209">
                  <c:v>44712</c:v>
                </c:pt>
                <c:pt idx="210">
                  <c:v>44742</c:v>
                </c:pt>
                <c:pt idx="211">
                  <c:v>44773</c:v>
                </c:pt>
                <c:pt idx="212">
                  <c:v>44804</c:v>
                </c:pt>
                <c:pt idx="213">
                  <c:v>44834</c:v>
                </c:pt>
                <c:pt idx="214">
                  <c:v>44865</c:v>
                </c:pt>
                <c:pt idx="215">
                  <c:v>44895</c:v>
                </c:pt>
                <c:pt idx="216">
                  <c:v>44926</c:v>
                </c:pt>
                <c:pt idx="217">
                  <c:v>44957</c:v>
                </c:pt>
                <c:pt idx="218">
                  <c:v>44985</c:v>
                </c:pt>
                <c:pt idx="219">
                  <c:v>45016</c:v>
                </c:pt>
                <c:pt idx="220">
                  <c:v>45046</c:v>
                </c:pt>
                <c:pt idx="221">
                  <c:v>45077</c:v>
                </c:pt>
                <c:pt idx="222">
                  <c:v>45107</c:v>
                </c:pt>
                <c:pt idx="223">
                  <c:v>45138</c:v>
                </c:pt>
                <c:pt idx="224">
                  <c:v>45169</c:v>
                </c:pt>
                <c:pt idx="225">
                  <c:v>45199</c:v>
                </c:pt>
                <c:pt idx="226">
                  <c:v>45230</c:v>
                </c:pt>
                <c:pt idx="227">
                  <c:v>45260</c:v>
                </c:pt>
                <c:pt idx="228">
                  <c:v>45291</c:v>
                </c:pt>
                <c:pt idx="229">
                  <c:v>45322</c:v>
                </c:pt>
                <c:pt idx="230">
                  <c:v>45351</c:v>
                </c:pt>
                <c:pt idx="231">
                  <c:v>45382</c:v>
                </c:pt>
                <c:pt idx="232">
                  <c:v>45412</c:v>
                </c:pt>
                <c:pt idx="233">
                  <c:v>45443</c:v>
                </c:pt>
                <c:pt idx="234">
                  <c:v>45473</c:v>
                </c:pt>
                <c:pt idx="235">
                  <c:v>45504</c:v>
                </c:pt>
                <c:pt idx="236">
                  <c:v>45535</c:v>
                </c:pt>
                <c:pt idx="237">
                  <c:v>45565</c:v>
                </c:pt>
                <c:pt idx="238">
                  <c:v>45596</c:v>
                </c:pt>
                <c:pt idx="239">
                  <c:v>45626</c:v>
                </c:pt>
                <c:pt idx="240">
                  <c:v>45657</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numCache>
              <c:extLst xmlns:c15="http://schemas.microsoft.com/office/drawing/2012/chart"/>
            </c:numRef>
          </c:cat>
          <c:val>
            <c:numRef>
              <c:f>'Page 5 Data'!$BM$6:$BM$1007</c:f>
              <c:numCache>
                <c:formatCode>General</c:formatCode>
                <c:ptCount val="1002"/>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8</c:v>
                </c:pt>
                <c:pt idx="37">
                  <c:v>8</c:v>
                </c:pt>
                <c:pt idx="38">
                  <c:v>8</c:v>
                </c:pt>
                <c:pt idx="39">
                  <c:v>8</c:v>
                </c:pt>
                <c:pt idx="40">
                  <c:v>8</c:v>
                </c:pt>
                <c:pt idx="41">
                  <c:v>8</c:v>
                </c:pt>
                <c:pt idx="42">
                  <c:v>8</c:v>
                </c:pt>
                <c:pt idx="43">
                  <c:v>8</c:v>
                </c:pt>
                <c:pt idx="44">
                  <c:v>8</c:v>
                </c:pt>
                <c:pt idx="45">
                  <c:v>8</c:v>
                </c:pt>
                <c:pt idx="46">
                  <c:v>8</c:v>
                </c:pt>
                <c:pt idx="47">
                  <c:v>8</c:v>
                </c:pt>
                <c:pt idx="48">
                  <c:v>8</c:v>
                </c:pt>
                <c:pt idx="49">
                  <c:v>8</c:v>
                </c:pt>
                <c:pt idx="50">
                  <c:v>8</c:v>
                </c:pt>
                <c:pt idx="51">
                  <c:v>8</c:v>
                </c:pt>
                <c:pt idx="52">
                  <c:v>8</c:v>
                </c:pt>
                <c:pt idx="53">
                  <c:v>8</c:v>
                </c:pt>
                <c:pt idx="54">
                  <c:v>8</c:v>
                </c:pt>
                <c:pt idx="55">
                  <c:v>3</c:v>
                </c:pt>
                <c:pt idx="56">
                  <c:v>3</c:v>
                </c:pt>
                <c:pt idx="57">
                  <c:v>3</c:v>
                </c:pt>
                <c:pt idx="58">
                  <c:v>3</c:v>
                </c:pt>
                <c:pt idx="59">
                  <c:v>3</c:v>
                </c:pt>
                <c:pt idx="60">
                  <c:v>3</c:v>
                </c:pt>
                <c:pt idx="61">
                  <c:v>3</c:v>
                </c:pt>
                <c:pt idx="62">
                  <c:v>3</c:v>
                </c:pt>
                <c:pt idx="63">
                  <c:v>3</c:v>
                </c:pt>
                <c:pt idx="64">
                  <c:v>3</c:v>
                </c:pt>
                <c:pt idx="65">
                  <c:v>3</c:v>
                </c:pt>
                <c:pt idx="66">
                  <c:v>3</c:v>
                </c:pt>
                <c:pt idx="67">
                  <c:v>3</c:v>
                </c:pt>
                <c:pt idx="68">
                  <c:v>3</c:v>
                </c:pt>
                <c:pt idx="69">
                  <c:v>3</c:v>
                </c:pt>
                <c:pt idx="70">
                  <c:v>3</c:v>
                </c:pt>
                <c:pt idx="71">
                  <c:v>3</c:v>
                </c:pt>
                <c:pt idx="72">
                  <c:v>3</c:v>
                </c:pt>
                <c:pt idx="73">
                  <c:v>3</c:v>
                </c:pt>
                <c:pt idx="74">
                  <c:v>3</c:v>
                </c:pt>
                <c:pt idx="75">
                  <c:v>3</c:v>
                </c:pt>
                <c:pt idx="76">
                  <c:v>3</c:v>
                </c:pt>
                <c:pt idx="77">
                  <c:v>3</c:v>
                </c:pt>
                <c:pt idx="78">
                  <c:v>3</c:v>
                </c:pt>
                <c:pt idx="79">
                  <c:v>3</c:v>
                </c:pt>
                <c:pt idx="80">
                  <c:v>3</c:v>
                </c:pt>
                <c:pt idx="81">
                  <c:v>3</c:v>
                </c:pt>
                <c:pt idx="82">
                  <c:v>3</c:v>
                </c:pt>
                <c:pt idx="83">
                  <c:v>3</c:v>
                </c:pt>
                <c:pt idx="84">
                  <c:v>3</c:v>
                </c:pt>
                <c:pt idx="85">
                  <c:v>3</c:v>
                </c:pt>
                <c:pt idx="86">
                  <c:v>3</c:v>
                </c:pt>
                <c:pt idx="87">
                  <c:v>3</c:v>
                </c:pt>
                <c:pt idx="88">
                  <c:v>3</c:v>
                </c:pt>
                <c:pt idx="89">
                  <c:v>3</c:v>
                </c:pt>
                <c:pt idx="90">
                  <c:v>3</c:v>
                </c:pt>
                <c:pt idx="91">
                  <c:v>3</c:v>
                </c:pt>
                <c:pt idx="92">
                  <c:v>3</c:v>
                </c:pt>
                <c:pt idx="93">
                  <c:v>3</c:v>
                </c:pt>
                <c:pt idx="94">
                  <c:v>3</c:v>
                </c:pt>
                <c:pt idx="95">
                  <c:v>3</c:v>
                </c:pt>
                <c:pt idx="96">
                  <c:v>3</c:v>
                </c:pt>
                <c:pt idx="97">
                  <c:v>3</c:v>
                </c:pt>
                <c:pt idx="98">
                  <c:v>3</c:v>
                </c:pt>
                <c:pt idx="99">
                  <c:v>3</c:v>
                </c:pt>
                <c:pt idx="100">
                  <c:v>3</c:v>
                </c:pt>
                <c:pt idx="101">
                  <c:v>3</c:v>
                </c:pt>
                <c:pt idx="102">
                  <c:v>3</c:v>
                </c:pt>
                <c:pt idx="103">
                  <c:v>3</c:v>
                </c:pt>
                <c:pt idx="104">
                  <c:v>3</c:v>
                </c:pt>
                <c:pt idx="105">
                  <c:v>3</c:v>
                </c:pt>
                <c:pt idx="106">
                  <c:v>3</c:v>
                </c:pt>
                <c:pt idx="107">
                  <c:v>3</c:v>
                </c:pt>
                <c:pt idx="108">
                  <c:v>3</c:v>
                </c:pt>
                <c:pt idx="109">
                  <c:v>3</c:v>
                </c:pt>
                <c:pt idx="110">
                  <c:v>3</c:v>
                </c:pt>
                <c:pt idx="111">
                  <c:v>3</c:v>
                </c:pt>
                <c:pt idx="112">
                  <c:v>3</c:v>
                </c:pt>
                <c:pt idx="113">
                  <c:v>3</c:v>
                </c:pt>
                <c:pt idx="114">
                  <c:v>3</c:v>
                </c:pt>
                <c:pt idx="115">
                  <c:v>3</c:v>
                </c:pt>
                <c:pt idx="116">
                  <c:v>3</c:v>
                </c:pt>
                <c:pt idx="117">
                  <c:v>3</c:v>
                </c:pt>
                <c:pt idx="118">
                  <c:v>3</c:v>
                </c:pt>
                <c:pt idx="119">
                  <c:v>3</c:v>
                </c:pt>
                <c:pt idx="120">
                  <c:v>3</c:v>
                </c:pt>
                <c:pt idx="121">
                  <c:v>3</c:v>
                </c:pt>
                <c:pt idx="122">
                  <c:v>3</c:v>
                </c:pt>
                <c:pt idx="123">
                  <c:v>3</c:v>
                </c:pt>
                <c:pt idx="124">
                  <c:v>3</c:v>
                </c:pt>
                <c:pt idx="125">
                  <c:v>3</c:v>
                </c:pt>
                <c:pt idx="126">
                  <c:v>3</c:v>
                </c:pt>
                <c:pt idx="127">
                  <c:v>3</c:v>
                </c:pt>
                <c:pt idx="128">
                  <c:v>3</c:v>
                </c:pt>
                <c:pt idx="129">
                  <c:v>3</c:v>
                </c:pt>
                <c:pt idx="130">
                  <c:v>3</c:v>
                </c:pt>
                <c:pt idx="131">
                  <c:v>3</c:v>
                </c:pt>
                <c:pt idx="132">
                  <c:v>3</c:v>
                </c:pt>
                <c:pt idx="133">
                  <c:v>3</c:v>
                </c:pt>
                <c:pt idx="134">
                  <c:v>3</c:v>
                </c:pt>
                <c:pt idx="135">
                  <c:v>3</c:v>
                </c:pt>
                <c:pt idx="136">
                  <c:v>3</c:v>
                </c:pt>
                <c:pt idx="137">
                  <c:v>3</c:v>
                </c:pt>
                <c:pt idx="138">
                  <c:v>3</c:v>
                </c:pt>
                <c:pt idx="139">
                  <c:v>3</c:v>
                </c:pt>
                <c:pt idx="140">
                  <c:v>3</c:v>
                </c:pt>
                <c:pt idx="141">
                  <c:v>3</c:v>
                </c:pt>
                <c:pt idx="142">
                  <c:v>3</c:v>
                </c:pt>
                <c:pt idx="143">
                  <c:v>3</c:v>
                </c:pt>
                <c:pt idx="144">
                  <c:v>3</c:v>
                </c:pt>
                <c:pt idx="145">
                  <c:v>3</c:v>
                </c:pt>
                <c:pt idx="146">
                  <c:v>3</c:v>
                </c:pt>
                <c:pt idx="147">
                  <c:v>3</c:v>
                </c:pt>
                <c:pt idx="148">
                  <c:v>3</c:v>
                </c:pt>
                <c:pt idx="149">
                  <c:v>3</c:v>
                </c:pt>
                <c:pt idx="150">
                  <c:v>3</c:v>
                </c:pt>
                <c:pt idx="151">
                  <c:v>3</c:v>
                </c:pt>
                <c:pt idx="152">
                  <c:v>3</c:v>
                </c:pt>
                <c:pt idx="153">
                  <c:v>3</c:v>
                </c:pt>
                <c:pt idx="154">
                  <c:v>3</c:v>
                </c:pt>
                <c:pt idx="155">
                  <c:v>3</c:v>
                </c:pt>
                <c:pt idx="156">
                  <c:v>3</c:v>
                </c:pt>
                <c:pt idx="157">
                  <c:v>3</c:v>
                </c:pt>
                <c:pt idx="158">
                  <c:v>3</c:v>
                </c:pt>
                <c:pt idx="159">
                  <c:v>3</c:v>
                </c:pt>
                <c:pt idx="160">
                  <c:v>3</c:v>
                </c:pt>
                <c:pt idx="161">
                  <c:v>3</c:v>
                </c:pt>
                <c:pt idx="162">
                  <c:v>3</c:v>
                </c:pt>
                <c:pt idx="163">
                  <c:v>3</c:v>
                </c:pt>
                <c:pt idx="164">
                  <c:v>3</c:v>
                </c:pt>
                <c:pt idx="165">
                  <c:v>3</c:v>
                </c:pt>
                <c:pt idx="166">
                  <c:v>3</c:v>
                </c:pt>
                <c:pt idx="167">
                  <c:v>3</c:v>
                </c:pt>
                <c:pt idx="168">
                  <c:v>3</c:v>
                </c:pt>
                <c:pt idx="169">
                  <c:v>3</c:v>
                </c:pt>
                <c:pt idx="170">
                  <c:v>3</c:v>
                </c:pt>
                <c:pt idx="171">
                  <c:v>3</c:v>
                </c:pt>
                <c:pt idx="172">
                  <c:v>3</c:v>
                </c:pt>
                <c:pt idx="173">
                  <c:v>3</c:v>
                </c:pt>
                <c:pt idx="174">
                  <c:v>3</c:v>
                </c:pt>
                <c:pt idx="175">
                  <c:v>3</c:v>
                </c:pt>
                <c:pt idx="176">
                  <c:v>3</c:v>
                </c:pt>
                <c:pt idx="177">
                  <c:v>3</c:v>
                </c:pt>
                <c:pt idx="178">
                  <c:v>3</c:v>
                </c:pt>
                <c:pt idx="179">
                  <c:v>3</c:v>
                </c:pt>
                <c:pt idx="180">
                  <c:v>3</c:v>
                </c:pt>
                <c:pt idx="181">
                  <c:v>3</c:v>
                </c:pt>
                <c:pt idx="182">
                  <c:v>8</c:v>
                </c:pt>
                <c:pt idx="183">
                  <c:v>8</c:v>
                </c:pt>
                <c:pt idx="184">
                  <c:v>8</c:v>
                </c:pt>
                <c:pt idx="185">
                  <c:v>3</c:v>
                </c:pt>
                <c:pt idx="186">
                  <c:v>3</c:v>
                </c:pt>
                <c:pt idx="187">
                  <c:v>3</c:v>
                </c:pt>
                <c:pt idx="188">
                  <c:v>3</c:v>
                </c:pt>
                <c:pt idx="189">
                  <c:v>3</c:v>
                </c:pt>
                <c:pt idx="190">
                  <c:v>3</c:v>
                </c:pt>
                <c:pt idx="191">
                  <c:v>3</c:v>
                </c:pt>
                <c:pt idx="192">
                  <c:v>3</c:v>
                </c:pt>
                <c:pt idx="193">
                  <c:v>3</c:v>
                </c:pt>
                <c:pt idx="194">
                  <c:v>3</c:v>
                </c:pt>
                <c:pt idx="195">
                  <c:v>3</c:v>
                </c:pt>
                <c:pt idx="196">
                  <c:v>3</c:v>
                </c:pt>
                <c:pt idx="197">
                  <c:v>3</c:v>
                </c:pt>
                <c:pt idx="198">
                  <c:v>3</c:v>
                </c:pt>
                <c:pt idx="199">
                  <c:v>3</c:v>
                </c:pt>
                <c:pt idx="200">
                  <c:v>3</c:v>
                </c:pt>
                <c:pt idx="201">
                  <c:v>3</c:v>
                </c:pt>
                <c:pt idx="202">
                  <c:v>3</c:v>
                </c:pt>
                <c:pt idx="203">
                  <c:v>3</c:v>
                </c:pt>
                <c:pt idx="204">
                  <c:v>3</c:v>
                </c:pt>
                <c:pt idx="205">
                  <c:v>3</c:v>
                </c:pt>
                <c:pt idx="206">
                  <c:v>3</c:v>
                </c:pt>
                <c:pt idx="207">
                  <c:v>3</c:v>
                </c:pt>
                <c:pt idx="208">
                  <c:v>3</c:v>
                </c:pt>
                <c:pt idx="209">
                  <c:v>3</c:v>
                </c:pt>
                <c:pt idx="210">
                  <c:v>3</c:v>
                </c:pt>
                <c:pt idx="211">
                  <c:v>3</c:v>
                </c:pt>
                <c:pt idx="212">
                  <c:v>3</c:v>
                </c:pt>
                <c:pt idx="213">
                  <c:v>3</c:v>
                </c:pt>
                <c:pt idx="214">
                  <c:v>3</c:v>
                </c:pt>
                <c:pt idx="215">
                  <c:v>3</c:v>
                </c:pt>
                <c:pt idx="216">
                  <c:v>3</c:v>
                </c:pt>
                <c:pt idx="217">
                  <c:v>3</c:v>
                </c:pt>
                <c:pt idx="218">
                  <c:v>3</c:v>
                </c:pt>
                <c:pt idx="219">
                  <c:v>3</c:v>
                </c:pt>
                <c:pt idx="220">
                  <c:v>3</c:v>
                </c:pt>
                <c:pt idx="221">
                  <c:v>3</c:v>
                </c:pt>
                <c:pt idx="222">
                  <c:v>3</c:v>
                </c:pt>
                <c:pt idx="223">
                  <c:v>3</c:v>
                </c:pt>
                <c:pt idx="224">
                  <c:v>3</c:v>
                </c:pt>
                <c:pt idx="225">
                  <c:v>3</c:v>
                </c:pt>
                <c:pt idx="226">
                  <c:v>3</c:v>
                </c:pt>
                <c:pt idx="227">
                  <c:v>3</c:v>
                </c:pt>
                <c:pt idx="228">
                  <c:v>3</c:v>
                </c:pt>
                <c:pt idx="229">
                  <c:v>3</c:v>
                </c:pt>
                <c:pt idx="230">
                  <c:v>3</c:v>
                </c:pt>
                <c:pt idx="231">
                  <c:v>3</c:v>
                </c:pt>
                <c:pt idx="232">
                  <c:v>3</c:v>
                </c:pt>
                <c:pt idx="233">
                  <c:v>3</c:v>
                </c:pt>
                <c:pt idx="234">
                  <c:v>3</c:v>
                </c:pt>
                <c:pt idx="235">
                  <c:v>3</c:v>
                </c:pt>
                <c:pt idx="236">
                  <c:v>3</c:v>
                </c:pt>
                <c:pt idx="237">
                  <c:v>3</c:v>
                </c:pt>
                <c:pt idx="238">
                  <c:v>3</c:v>
                </c:pt>
                <c:pt idx="239">
                  <c:v>3</c:v>
                </c:pt>
                <c:pt idx="240">
                  <c:v>3</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numCache>
              <c:extLst xmlns:c15="http://schemas.microsoft.com/office/drawing/2012/chart"/>
            </c:numRef>
          </c:val>
          <c:extLst xmlns:c15="http://schemas.microsoft.com/office/drawing/2012/chart">
            <c:ext xmlns:c16="http://schemas.microsoft.com/office/drawing/2014/chart" uri="{C3380CC4-5D6E-409C-BE32-E72D297353CC}">
              <c16:uniqueId val="{00000000-6081-4783-BD13-5BAF46C1B02F}"/>
            </c:ext>
          </c:extLst>
        </c:ser>
        <c:dLbls>
          <c:showLegendKey val="0"/>
          <c:showVal val="0"/>
          <c:showCatName val="0"/>
          <c:showSerName val="0"/>
          <c:showPercent val="0"/>
          <c:showBubbleSize val="0"/>
        </c:dLbls>
        <c:gapWidth val="150"/>
        <c:overlap val="100"/>
        <c:axId val="861062496"/>
        <c:axId val="861058144"/>
        <c:extLst/>
      </c:barChart>
      <c:lineChart>
        <c:grouping val="standard"/>
        <c:varyColors val="0"/>
        <c:ser>
          <c:idx val="1"/>
          <c:order val="2"/>
          <c:tx>
            <c:strRef>
              <c:f>'Page 5 Data'!$AF$4</c:f>
              <c:strCache>
                <c:ptCount val="1"/>
                <c:pt idx="0">
                  <c:v>Existing Home Sales</c:v>
                </c:pt>
              </c:strCache>
            </c:strRef>
          </c:tx>
          <c:spPr>
            <a:ln>
              <a:solidFill>
                <a:schemeClr val="bg1"/>
              </a:solidFill>
            </a:ln>
          </c:spPr>
          <c:marker>
            <c:symbol val="none"/>
          </c:marker>
          <c:cat>
            <c:strRef>
              <c:f>'Page 5 Data'!$AE$6:$AE$1007</c:f>
              <c:strCache>
                <c:ptCount val="241"/>
                <c:pt idx="0">
                  <c:v>12/31/2004</c:v>
                </c:pt>
                <c:pt idx="1">
                  <c:v>1/31/2005</c:v>
                </c:pt>
                <c:pt idx="2">
                  <c:v>2/28/2005</c:v>
                </c:pt>
                <c:pt idx="3">
                  <c:v>3/31/2005</c:v>
                </c:pt>
                <c:pt idx="4">
                  <c:v>4/30/2005</c:v>
                </c:pt>
                <c:pt idx="5">
                  <c:v>5/31/2005</c:v>
                </c:pt>
                <c:pt idx="6">
                  <c:v>6/30/2005</c:v>
                </c:pt>
                <c:pt idx="7">
                  <c:v>7/31/2005</c:v>
                </c:pt>
                <c:pt idx="8">
                  <c:v>8/31/2005</c:v>
                </c:pt>
                <c:pt idx="9">
                  <c:v>9/30/2005</c:v>
                </c:pt>
                <c:pt idx="10">
                  <c:v>10/31/2005</c:v>
                </c:pt>
                <c:pt idx="11">
                  <c:v>11/30/2005</c:v>
                </c:pt>
                <c:pt idx="12">
                  <c:v>12/31/2005</c:v>
                </c:pt>
                <c:pt idx="13">
                  <c:v>1/31/2006</c:v>
                </c:pt>
                <c:pt idx="14">
                  <c:v>2/28/2006</c:v>
                </c:pt>
                <c:pt idx="15">
                  <c:v>3/31/2006</c:v>
                </c:pt>
                <c:pt idx="16">
                  <c:v>4/30/2006</c:v>
                </c:pt>
                <c:pt idx="17">
                  <c:v>5/31/2006</c:v>
                </c:pt>
                <c:pt idx="18">
                  <c:v>6/30/2006</c:v>
                </c:pt>
                <c:pt idx="19">
                  <c:v>7/31/2006</c:v>
                </c:pt>
                <c:pt idx="20">
                  <c:v>8/31/2006</c:v>
                </c:pt>
                <c:pt idx="21">
                  <c:v>9/30/2006</c:v>
                </c:pt>
                <c:pt idx="22">
                  <c:v>10/31/2006</c:v>
                </c:pt>
                <c:pt idx="23">
                  <c:v>11/30/2006</c:v>
                </c:pt>
                <c:pt idx="24">
                  <c:v>12/31/2006</c:v>
                </c:pt>
                <c:pt idx="25">
                  <c:v>1/31/2007</c:v>
                </c:pt>
                <c:pt idx="26">
                  <c:v>2/28/2007</c:v>
                </c:pt>
                <c:pt idx="27">
                  <c:v>3/31/2007</c:v>
                </c:pt>
                <c:pt idx="28">
                  <c:v>4/30/2007</c:v>
                </c:pt>
                <c:pt idx="29">
                  <c:v>5/31/2007</c:v>
                </c:pt>
                <c:pt idx="30">
                  <c:v>6/30/2007</c:v>
                </c:pt>
                <c:pt idx="31">
                  <c:v>7/31/2007</c:v>
                </c:pt>
                <c:pt idx="32">
                  <c:v>8/31/2007</c:v>
                </c:pt>
                <c:pt idx="33">
                  <c:v>9/30/2007</c:v>
                </c:pt>
                <c:pt idx="34">
                  <c:v>10/31/2007</c:v>
                </c:pt>
                <c:pt idx="35">
                  <c:v>11/30/2007</c:v>
                </c:pt>
                <c:pt idx="36">
                  <c:v>12/31/2007</c:v>
                </c:pt>
                <c:pt idx="37">
                  <c:v>1/31/2008</c:v>
                </c:pt>
                <c:pt idx="38">
                  <c:v>2/29/2008</c:v>
                </c:pt>
                <c:pt idx="39">
                  <c:v>3/31/2008</c:v>
                </c:pt>
                <c:pt idx="40">
                  <c:v>4/30/2008</c:v>
                </c:pt>
                <c:pt idx="41">
                  <c:v>5/31/2008</c:v>
                </c:pt>
                <c:pt idx="42">
                  <c:v>6/30/2008</c:v>
                </c:pt>
                <c:pt idx="43">
                  <c:v>7/31/2008</c:v>
                </c:pt>
                <c:pt idx="44">
                  <c:v>8/31/2008</c:v>
                </c:pt>
                <c:pt idx="45">
                  <c:v>9/30/2008</c:v>
                </c:pt>
                <c:pt idx="46">
                  <c:v>10/31/2008</c:v>
                </c:pt>
                <c:pt idx="47">
                  <c:v>11/30/2008</c:v>
                </c:pt>
                <c:pt idx="48">
                  <c:v>12/31/2008</c:v>
                </c:pt>
                <c:pt idx="49">
                  <c:v>1/31/2009</c:v>
                </c:pt>
                <c:pt idx="50">
                  <c:v>2/28/2009</c:v>
                </c:pt>
                <c:pt idx="51">
                  <c:v>3/31/2009</c:v>
                </c:pt>
                <c:pt idx="52">
                  <c:v>4/30/2009</c:v>
                </c:pt>
                <c:pt idx="53">
                  <c:v>5/31/2009</c:v>
                </c:pt>
                <c:pt idx="54">
                  <c:v>6/30/2009</c:v>
                </c:pt>
                <c:pt idx="55">
                  <c:v>7/31/2009</c:v>
                </c:pt>
                <c:pt idx="56">
                  <c:v>8/31/2009</c:v>
                </c:pt>
                <c:pt idx="57">
                  <c:v>9/30/2009</c:v>
                </c:pt>
                <c:pt idx="58">
                  <c:v>10/31/2009</c:v>
                </c:pt>
                <c:pt idx="59">
                  <c:v>11/30/2009</c:v>
                </c:pt>
                <c:pt idx="60">
                  <c:v>12/31/2009</c:v>
                </c:pt>
                <c:pt idx="61">
                  <c:v>1/31/2010</c:v>
                </c:pt>
                <c:pt idx="62">
                  <c:v>2/28/2010</c:v>
                </c:pt>
                <c:pt idx="63">
                  <c:v>3/31/2010</c:v>
                </c:pt>
                <c:pt idx="64">
                  <c:v>4/30/2010</c:v>
                </c:pt>
                <c:pt idx="65">
                  <c:v>5/31/2010</c:v>
                </c:pt>
                <c:pt idx="66">
                  <c:v>6/30/2010</c:v>
                </c:pt>
                <c:pt idx="67">
                  <c:v>7/31/2010</c:v>
                </c:pt>
                <c:pt idx="68">
                  <c:v>8/31/2010</c:v>
                </c:pt>
                <c:pt idx="69">
                  <c:v>9/30/2010</c:v>
                </c:pt>
                <c:pt idx="70">
                  <c:v>10/31/2010</c:v>
                </c:pt>
                <c:pt idx="71">
                  <c:v>11/30/2010</c:v>
                </c:pt>
                <c:pt idx="72">
                  <c:v>12/31/2010</c:v>
                </c:pt>
                <c:pt idx="73">
                  <c:v>1/31/2011</c:v>
                </c:pt>
                <c:pt idx="74">
                  <c:v>2/28/2011</c:v>
                </c:pt>
                <c:pt idx="75">
                  <c:v>3/31/2011</c:v>
                </c:pt>
                <c:pt idx="76">
                  <c:v>4/30/2011</c:v>
                </c:pt>
                <c:pt idx="77">
                  <c:v>5/31/2011</c:v>
                </c:pt>
                <c:pt idx="78">
                  <c:v>6/30/2011</c:v>
                </c:pt>
                <c:pt idx="79">
                  <c:v>7/31/2011</c:v>
                </c:pt>
                <c:pt idx="80">
                  <c:v>8/31/2011</c:v>
                </c:pt>
                <c:pt idx="81">
                  <c:v>9/30/2011</c:v>
                </c:pt>
                <c:pt idx="82">
                  <c:v>10/31/2011</c:v>
                </c:pt>
                <c:pt idx="83">
                  <c:v>11/30/2011</c:v>
                </c:pt>
                <c:pt idx="84">
                  <c:v>12/31/2011</c:v>
                </c:pt>
                <c:pt idx="85">
                  <c:v>1/31/2012</c:v>
                </c:pt>
                <c:pt idx="86">
                  <c:v>2/29/2012</c:v>
                </c:pt>
                <c:pt idx="87">
                  <c:v>3/31/2012</c:v>
                </c:pt>
                <c:pt idx="88">
                  <c:v>4/30/2012</c:v>
                </c:pt>
                <c:pt idx="89">
                  <c:v>5/31/2012</c:v>
                </c:pt>
                <c:pt idx="90">
                  <c:v>6/30/2012</c:v>
                </c:pt>
                <c:pt idx="91">
                  <c:v>7/31/2012</c:v>
                </c:pt>
                <c:pt idx="92">
                  <c:v>8/31/2012</c:v>
                </c:pt>
                <c:pt idx="93">
                  <c:v>9/30/2012</c:v>
                </c:pt>
                <c:pt idx="94">
                  <c:v>10/31/2012</c:v>
                </c:pt>
                <c:pt idx="95">
                  <c:v>11/30/2012</c:v>
                </c:pt>
                <c:pt idx="96">
                  <c:v>12/31/2012</c:v>
                </c:pt>
                <c:pt idx="97">
                  <c:v>1/31/2013</c:v>
                </c:pt>
                <c:pt idx="98">
                  <c:v>2/28/2013</c:v>
                </c:pt>
                <c:pt idx="99">
                  <c:v>3/31/2013</c:v>
                </c:pt>
                <c:pt idx="100">
                  <c:v>4/30/2013</c:v>
                </c:pt>
                <c:pt idx="101">
                  <c:v>5/31/2013</c:v>
                </c:pt>
                <c:pt idx="102">
                  <c:v>6/30/2013</c:v>
                </c:pt>
                <c:pt idx="103">
                  <c:v>7/31/2013</c:v>
                </c:pt>
                <c:pt idx="104">
                  <c:v>8/31/2013</c:v>
                </c:pt>
                <c:pt idx="105">
                  <c:v>9/30/2013</c:v>
                </c:pt>
                <c:pt idx="106">
                  <c:v>10/31/2013</c:v>
                </c:pt>
                <c:pt idx="107">
                  <c:v>11/30/2013</c:v>
                </c:pt>
                <c:pt idx="108">
                  <c:v>12/31/2013</c:v>
                </c:pt>
                <c:pt idx="109">
                  <c:v>1/31/2014</c:v>
                </c:pt>
                <c:pt idx="110">
                  <c:v>2/28/2014</c:v>
                </c:pt>
                <c:pt idx="111">
                  <c:v>3/31/2014</c:v>
                </c:pt>
                <c:pt idx="112">
                  <c:v>4/30/2014</c:v>
                </c:pt>
                <c:pt idx="113">
                  <c:v>5/31/2014</c:v>
                </c:pt>
                <c:pt idx="114">
                  <c:v>6/30/2014</c:v>
                </c:pt>
                <c:pt idx="115">
                  <c:v>7/31/2014</c:v>
                </c:pt>
                <c:pt idx="116">
                  <c:v>8/31/2014</c:v>
                </c:pt>
                <c:pt idx="117">
                  <c:v>9/30/2014</c:v>
                </c:pt>
                <c:pt idx="118">
                  <c:v>10/31/2014</c:v>
                </c:pt>
                <c:pt idx="119">
                  <c:v>11/30/2014</c:v>
                </c:pt>
                <c:pt idx="120">
                  <c:v>12/31/2014</c:v>
                </c:pt>
                <c:pt idx="121">
                  <c:v>1/31/2015</c:v>
                </c:pt>
                <c:pt idx="122">
                  <c:v>2/28/2015</c:v>
                </c:pt>
                <c:pt idx="123">
                  <c:v>3/31/2015</c:v>
                </c:pt>
                <c:pt idx="124">
                  <c:v>4/30/2015</c:v>
                </c:pt>
                <c:pt idx="125">
                  <c:v>5/31/2015</c:v>
                </c:pt>
                <c:pt idx="126">
                  <c:v>6/30/2015</c:v>
                </c:pt>
                <c:pt idx="127">
                  <c:v>7/31/2015</c:v>
                </c:pt>
                <c:pt idx="128">
                  <c:v>8/31/2015</c:v>
                </c:pt>
                <c:pt idx="129">
                  <c:v>9/30/2015</c:v>
                </c:pt>
                <c:pt idx="130">
                  <c:v>10/31/2015</c:v>
                </c:pt>
                <c:pt idx="131">
                  <c:v>11/30/2015</c:v>
                </c:pt>
                <c:pt idx="132">
                  <c:v>12/31/2015</c:v>
                </c:pt>
                <c:pt idx="133">
                  <c:v>1/31/2016</c:v>
                </c:pt>
                <c:pt idx="134">
                  <c:v>2/29/2016</c:v>
                </c:pt>
                <c:pt idx="135">
                  <c:v>3/31/2016</c:v>
                </c:pt>
                <c:pt idx="136">
                  <c:v>4/30/2016</c:v>
                </c:pt>
                <c:pt idx="137">
                  <c:v>5/31/2016</c:v>
                </c:pt>
                <c:pt idx="138">
                  <c:v>6/30/2016</c:v>
                </c:pt>
                <c:pt idx="139">
                  <c:v>7/31/2016</c:v>
                </c:pt>
                <c:pt idx="140">
                  <c:v>8/31/2016</c:v>
                </c:pt>
                <c:pt idx="141">
                  <c:v>9/30/2016</c:v>
                </c:pt>
                <c:pt idx="142">
                  <c:v>10/31/2016</c:v>
                </c:pt>
                <c:pt idx="143">
                  <c:v>11/30/2016</c:v>
                </c:pt>
                <c:pt idx="144">
                  <c:v>12/31/2016</c:v>
                </c:pt>
                <c:pt idx="145">
                  <c:v>1/31/2017</c:v>
                </c:pt>
                <c:pt idx="146">
                  <c:v>2/28/2017</c:v>
                </c:pt>
                <c:pt idx="147">
                  <c:v>3/31/2017</c:v>
                </c:pt>
                <c:pt idx="148">
                  <c:v>4/30/2017</c:v>
                </c:pt>
                <c:pt idx="149">
                  <c:v>5/31/2017</c:v>
                </c:pt>
                <c:pt idx="150">
                  <c:v>6/30/2017</c:v>
                </c:pt>
                <c:pt idx="151">
                  <c:v>7/31/2017</c:v>
                </c:pt>
                <c:pt idx="152">
                  <c:v>8/31/2017</c:v>
                </c:pt>
                <c:pt idx="153">
                  <c:v>9/30/2017</c:v>
                </c:pt>
                <c:pt idx="154">
                  <c:v>10/31/2017</c:v>
                </c:pt>
                <c:pt idx="155">
                  <c:v>11/30/2017</c:v>
                </c:pt>
                <c:pt idx="156">
                  <c:v>12/31/2017</c:v>
                </c:pt>
                <c:pt idx="157">
                  <c:v>1/31/2018</c:v>
                </c:pt>
                <c:pt idx="158">
                  <c:v>2/28/2018</c:v>
                </c:pt>
                <c:pt idx="159">
                  <c:v>3/31/2018</c:v>
                </c:pt>
                <c:pt idx="160">
                  <c:v>4/30/2018</c:v>
                </c:pt>
                <c:pt idx="161">
                  <c:v>5/31/2018</c:v>
                </c:pt>
                <c:pt idx="162">
                  <c:v>6/30/2018</c:v>
                </c:pt>
                <c:pt idx="163">
                  <c:v>7/31/2018</c:v>
                </c:pt>
                <c:pt idx="164">
                  <c:v>8/31/2018</c:v>
                </c:pt>
                <c:pt idx="165">
                  <c:v>9/30/2018</c:v>
                </c:pt>
                <c:pt idx="166">
                  <c:v>10/31/2018</c:v>
                </c:pt>
                <c:pt idx="167">
                  <c:v>11/30/2018</c:v>
                </c:pt>
                <c:pt idx="168">
                  <c:v>12/31/2018</c:v>
                </c:pt>
                <c:pt idx="169">
                  <c:v>1/31/2019</c:v>
                </c:pt>
                <c:pt idx="170">
                  <c:v>2/28/2019</c:v>
                </c:pt>
                <c:pt idx="171">
                  <c:v>3/31/2019</c:v>
                </c:pt>
                <c:pt idx="172">
                  <c:v>4/30/2019</c:v>
                </c:pt>
                <c:pt idx="173">
                  <c:v>5/31/2019</c:v>
                </c:pt>
                <c:pt idx="174">
                  <c:v>6/30/2019</c:v>
                </c:pt>
                <c:pt idx="175">
                  <c:v>7/31/2019</c:v>
                </c:pt>
                <c:pt idx="176">
                  <c:v>8/31/2019</c:v>
                </c:pt>
                <c:pt idx="177">
                  <c:v>9/30/2019</c:v>
                </c:pt>
                <c:pt idx="178">
                  <c:v>10/31/2019</c:v>
                </c:pt>
                <c:pt idx="179">
                  <c:v>11/30/2019</c:v>
                </c:pt>
                <c:pt idx="180">
                  <c:v>12/31/2019</c:v>
                </c:pt>
                <c:pt idx="181">
                  <c:v>1/31/2020</c:v>
                </c:pt>
                <c:pt idx="182">
                  <c:v>2/29/2020</c:v>
                </c:pt>
                <c:pt idx="183">
                  <c:v>3/31/2020</c:v>
                </c:pt>
                <c:pt idx="184">
                  <c:v>4/30/2020</c:v>
                </c:pt>
                <c:pt idx="185">
                  <c:v>5/31/2020</c:v>
                </c:pt>
                <c:pt idx="186">
                  <c:v>6/30/2020</c:v>
                </c:pt>
                <c:pt idx="187">
                  <c:v>7/31/2020</c:v>
                </c:pt>
                <c:pt idx="188">
                  <c:v>8/31/2020</c:v>
                </c:pt>
                <c:pt idx="189">
                  <c:v>9/30/2020</c:v>
                </c:pt>
                <c:pt idx="190">
                  <c:v>10/31/2020</c:v>
                </c:pt>
                <c:pt idx="191">
                  <c:v>11/30/2020</c:v>
                </c:pt>
                <c:pt idx="192">
                  <c:v>12/31/2020</c:v>
                </c:pt>
                <c:pt idx="193">
                  <c:v>1/31/2021</c:v>
                </c:pt>
                <c:pt idx="194">
                  <c:v>2/28/2021</c:v>
                </c:pt>
                <c:pt idx="195">
                  <c:v>3/31/2021</c:v>
                </c:pt>
                <c:pt idx="196">
                  <c:v>4/30/2021</c:v>
                </c:pt>
                <c:pt idx="197">
                  <c:v>5/31/2021</c:v>
                </c:pt>
                <c:pt idx="198">
                  <c:v>6/30/2021</c:v>
                </c:pt>
                <c:pt idx="199">
                  <c:v>7/31/2021</c:v>
                </c:pt>
                <c:pt idx="200">
                  <c:v>8/31/2021</c:v>
                </c:pt>
                <c:pt idx="201">
                  <c:v>9/30/2021</c:v>
                </c:pt>
                <c:pt idx="202">
                  <c:v>10/31/2021</c:v>
                </c:pt>
                <c:pt idx="203">
                  <c:v>11/30/2021</c:v>
                </c:pt>
                <c:pt idx="204">
                  <c:v>12/31/2021</c:v>
                </c:pt>
                <c:pt idx="205">
                  <c:v>1/31/2022</c:v>
                </c:pt>
                <c:pt idx="206">
                  <c:v>2/28/2022</c:v>
                </c:pt>
                <c:pt idx="207">
                  <c:v>3/31/2022</c:v>
                </c:pt>
                <c:pt idx="208">
                  <c:v>4/30/2022</c:v>
                </c:pt>
                <c:pt idx="209">
                  <c:v>5/31/2022</c:v>
                </c:pt>
                <c:pt idx="210">
                  <c:v>6/30/2022</c:v>
                </c:pt>
                <c:pt idx="211">
                  <c:v>7/31/2022</c:v>
                </c:pt>
                <c:pt idx="212">
                  <c:v>8/31/2022</c:v>
                </c:pt>
                <c:pt idx="213">
                  <c:v>9/30/2022</c:v>
                </c:pt>
                <c:pt idx="214">
                  <c:v>10/31/2022</c:v>
                </c:pt>
                <c:pt idx="215">
                  <c:v>11/30/2022</c:v>
                </c:pt>
                <c:pt idx="216">
                  <c:v>12/31/2022</c:v>
                </c:pt>
                <c:pt idx="217">
                  <c:v>1/31/2023</c:v>
                </c:pt>
                <c:pt idx="218">
                  <c:v>2/28/2023</c:v>
                </c:pt>
                <c:pt idx="219">
                  <c:v>3/31/2023</c:v>
                </c:pt>
                <c:pt idx="220">
                  <c:v>4/30/2023</c:v>
                </c:pt>
                <c:pt idx="221">
                  <c:v>5/31/2023</c:v>
                </c:pt>
                <c:pt idx="222">
                  <c:v>6/30/2023</c:v>
                </c:pt>
                <c:pt idx="223">
                  <c:v>7/31/2023</c:v>
                </c:pt>
                <c:pt idx="224">
                  <c:v>8/31/2023</c:v>
                </c:pt>
                <c:pt idx="225">
                  <c:v>9/30/2023</c:v>
                </c:pt>
                <c:pt idx="226">
                  <c:v>10/31/2023</c:v>
                </c:pt>
                <c:pt idx="227">
                  <c:v>11/30/2023</c:v>
                </c:pt>
                <c:pt idx="228">
                  <c:v>12/31/2023</c:v>
                </c:pt>
                <c:pt idx="229">
                  <c:v>1/31/2024</c:v>
                </c:pt>
                <c:pt idx="230">
                  <c:v>2/29/2024</c:v>
                </c:pt>
                <c:pt idx="231">
                  <c:v>3/31/2024</c:v>
                </c:pt>
                <c:pt idx="232">
                  <c:v>4/30/2024</c:v>
                </c:pt>
                <c:pt idx="233">
                  <c:v>5/31/2024</c:v>
                </c:pt>
                <c:pt idx="234">
                  <c:v>6/30/2024</c:v>
                </c:pt>
                <c:pt idx="235">
                  <c:v>7/31/2024</c:v>
                </c:pt>
                <c:pt idx="236">
                  <c:v>8/31/2024</c:v>
                </c:pt>
                <c:pt idx="237">
                  <c:v>9/30/2024</c:v>
                </c:pt>
                <c:pt idx="238">
                  <c:v>10/31/2024</c:v>
                </c:pt>
                <c:pt idx="239">
                  <c:v>11/30/2024</c:v>
                </c:pt>
                <c:pt idx="240">
                  <c:v>12/31/2024</c:v>
                </c:pt>
              </c:strCache>
            </c:strRef>
          </c:cat>
          <c:val>
            <c:numRef>
              <c:f>'Page 5 Data'!$AF$6:$AF$1007</c:f>
              <c:numCache>
                <c:formatCode>_(* #,##0.00_);_(* \(#,##0.00\);_(* "-"??_);_(@_)</c:formatCode>
                <c:ptCount val="1002"/>
                <c:pt idx="0">
                  <c:v>6.89</c:v>
                </c:pt>
                <c:pt idx="1">
                  <c:v>7.1</c:v>
                </c:pt>
                <c:pt idx="2">
                  <c:v>6.88</c:v>
                </c:pt>
                <c:pt idx="3">
                  <c:v>6.96</c:v>
                </c:pt>
                <c:pt idx="4">
                  <c:v>7.12</c:v>
                </c:pt>
                <c:pt idx="5">
                  <c:v>7.08</c:v>
                </c:pt>
                <c:pt idx="6">
                  <c:v>7.18</c:v>
                </c:pt>
                <c:pt idx="7">
                  <c:v>7.14</c:v>
                </c:pt>
                <c:pt idx="8">
                  <c:v>7.23</c:v>
                </c:pt>
                <c:pt idx="9">
                  <c:v>7.25</c:v>
                </c:pt>
                <c:pt idx="10">
                  <c:v>7.1</c:v>
                </c:pt>
                <c:pt idx="11">
                  <c:v>7.03</c:v>
                </c:pt>
                <c:pt idx="12">
                  <c:v>6.84</c:v>
                </c:pt>
                <c:pt idx="13">
                  <c:v>6.72</c:v>
                </c:pt>
                <c:pt idx="14">
                  <c:v>6.84</c:v>
                </c:pt>
                <c:pt idx="15">
                  <c:v>6.83</c:v>
                </c:pt>
                <c:pt idx="16">
                  <c:v>6.7</c:v>
                </c:pt>
                <c:pt idx="17">
                  <c:v>6.58</c:v>
                </c:pt>
                <c:pt idx="18">
                  <c:v>6.48</c:v>
                </c:pt>
                <c:pt idx="19">
                  <c:v>6.32</c:v>
                </c:pt>
                <c:pt idx="20">
                  <c:v>6.34</c:v>
                </c:pt>
                <c:pt idx="21">
                  <c:v>6.28</c:v>
                </c:pt>
                <c:pt idx="22">
                  <c:v>6.36</c:v>
                </c:pt>
                <c:pt idx="23">
                  <c:v>6.34</c:v>
                </c:pt>
                <c:pt idx="24">
                  <c:v>6.4</c:v>
                </c:pt>
                <c:pt idx="25">
                  <c:v>5.74</c:v>
                </c:pt>
                <c:pt idx="26">
                  <c:v>5.79</c:v>
                </c:pt>
                <c:pt idx="27">
                  <c:v>5.46</c:v>
                </c:pt>
                <c:pt idx="28">
                  <c:v>5.29</c:v>
                </c:pt>
                <c:pt idx="29">
                  <c:v>5.27</c:v>
                </c:pt>
                <c:pt idx="30">
                  <c:v>5.12</c:v>
                </c:pt>
                <c:pt idx="31">
                  <c:v>5.07</c:v>
                </c:pt>
                <c:pt idx="32">
                  <c:v>4.87</c:v>
                </c:pt>
                <c:pt idx="33">
                  <c:v>4.58</c:v>
                </c:pt>
                <c:pt idx="34">
                  <c:v>4.43</c:v>
                </c:pt>
                <c:pt idx="35">
                  <c:v>4.46</c:v>
                </c:pt>
                <c:pt idx="36">
                  <c:v>4.41</c:v>
                </c:pt>
                <c:pt idx="37">
                  <c:v>4.17</c:v>
                </c:pt>
                <c:pt idx="38">
                  <c:v>4.12</c:v>
                </c:pt>
                <c:pt idx="39">
                  <c:v>4.16</c:v>
                </c:pt>
                <c:pt idx="40">
                  <c:v>4.1100000000000003</c:v>
                </c:pt>
                <c:pt idx="41">
                  <c:v>4.1399999999999997</c:v>
                </c:pt>
                <c:pt idx="42">
                  <c:v>4.09</c:v>
                </c:pt>
                <c:pt idx="43">
                  <c:v>4.1500000000000004</c:v>
                </c:pt>
                <c:pt idx="44">
                  <c:v>4.1900000000000004</c:v>
                </c:pt>
                <c:pt idx="45">
                  <c:v>4.2699999999999996</c:v>
                </c:pt>
                <c:pt idx="46">
                  <c:v>4.09</c:v>
                </c:pt>
                <c:pt idx="47">
                  <c:v>3.77</c:v>
                </c:pt>
                <c:pt idx="48">
                  <c:v>4.01</c:v>
                </c:pt>
                <c:pt idx="49">
                  <c:v>3.82</c:v>
                </c:pt>
                <c:pt idx="50">
                  <c:v>3.97</c:v>
                </c:pt>
                <c:pt idx="51">
                  <c:v>3.86</c:v>
                </c:pt>
                <c:pt idx="52">
                  <c:v>3.9</c:v>
                </c:pt>
                <c:pt idx="53">
                  <c:v>4</c:v>
                </c:pt>
                <c:pt idx="54">
                  <c:v>4.0999999999999996</c:v>
                </c:pt>
                <c:pt idx="55">
                  <c:v>4.37</c:v>
                </c:pt>
                <c:pt idx="56">
                  <c:v>4.45</c:v>
                </c:pt>
                <c:pt idx="57">
                  <c:v>4.62</c:v>
                </c:pt>
                <c:pt idx="58">
                  <c:v>5.0199999999999996</c:v>
                </c:pt>
                <c:pt idx="59">
                  <c:v>5.44</c:v>
                </c:pt>
                <c:pt idx="60">
                  <c:v>4.4000000000000004</c:v>
                </c:pt>
                <c:pt idx="61">
                  <c:v>4.1900000000000004</c:v>
                </c:pt>
                <c:pt idx="62">
                  <c:v>4.2699999999999996</c:v>
                </c:pt>
                <c:pt idx="63">
                  <c:v>4.49</c:v>
                </c:pt>
                <c:pt idx="64">
                  <c:v>4.82</c:v>
                </c:pt>
                <c:pt idx="65">
                  <c:v>4.88</c:v>
                </c:pt>
                <c:pt idx="66">
                  <c:v>4.45</c:v>
                </c:pt>
                <c:pt idx="67">
                  <c:v>3.45</c:v>
                </c:pt>
                <c:pt idx="68">
                  <c:v>3.68</c:v>
                </c:pt>
                <c:pt idx="69">
                  <c:v>3.84</c:v>
                </c:pt>
                <c:pt idx="70">
                  <c:v>3.83</c:v>
                </c:pt>
                <c:pt idx="71">
                  <c:v>4.0199999999999996</c:v>
                </c:pt>
                <c:pt idx="72">
                  <c:v>4.2699999999999996</c:v>
                </c:pt>
                <c:pt idx="73">
                  <c:v>4.42</c:v>
                </c:pt>
                <c:pt idx="74">
                  <c:v>4.16</c:v>
                </c:pt>
                <c:pt idx="75">
                  <c:v>4.26</c:v>
                </c:pt>
                <c:pt idx="76">
                  <c:v>4.17</c:v>
                </c:pt>
                <c:pt idx="77">
                  <c:v>4.1399999999999997</c:v>
                </c:pt>
                <c:pt idx="78">
                  <c:v>4.2300000000000004</c:v>
                </c:pt>
                <c:pt idx="79">
                  <c:v>4.1500000000000004</c:v>
                </c:pt>
                <c:pt idx="80">
                  <c:v>4.38</c:v>
                </c:pt>
                <c:pt idx="81">
                  <c:v>4.33</c:v>
                </c:pt>
                <c:pt idx="82">
                  <c:v>4.34</c:v>
                </c:pt>
                <c:pt idx="83">
                  <c:v>4.3899999999999997</c:v>
                </c:pt>
                <c:pt idx="84">
                  <c:v>4.3499999999999996</c:v>
                </c:pt>
                <c:pt idx="85">
                  <c:v>4.4800000000000004</c:v>
                </c:pt>
                <c:pt idx="86">
                  <c:v>4.58</c:v>
                </c:pt>
                <c:pt idx="87">
                  <c:v>4.5199999999999996</c:v>
                </c:pt>
                <c:pt idx="88">
                  <c:v>4.59</c:v>
                </c:pt>
                <c:pt idx="89">
                  <c:v>4.5999999999999996</c:v>
                </c:pt>
                <c:pt idx="90">
                  <c:v>4.47</c:v>
                </c:pt>
                <c:pt idx="91">
                  <c:v>4.53</c:v>
                </c:pt>
                <c:pt idx="92">
                  <c:v>4.76</c:v>
                </c:pt>
                <c:pt idx="93">
                  <c:v>4.71</c:v>
                </c:pt>
                <c:pt idx="94">
                  <c:v>4.79</c:v>
                </c:pt>
                <c:pt idx="95">
                  <c:v>4.96</c:v>
                </c:pt>
                <c:pt idx="96">
                  <c:v>4.8899999999999997</c:v>
                </c:pt>
                <c:pt idx="97">
                  <c:v>4.9800000000000004</c:v>
                </c:pt>
                <c:pt idx="98">
                  <c:v>5.0599999999999996</c:v>
                </c:pt>
                <c:pt idx="99">
                  <c:v>5.07</c:v>
                </c:pt>
                <c:pt idx="100">
                  <c:v>5.09</c:v>
                </c:pt>
                <c:pt idx="101">
                  <c:v>5.14</c:v>
                </c:pt>
                <c:pt idx="102">
                  <c:v>5.1100000000000003</c:v>
                </c:pt>
                <c:pt idx="103">
                  <c:v>5.27</c:v>
                </c:pt>
                <c:pt idx="104">
                  <c:v>5.26</c:v>
                </c:pt>
                <c:pt idx="105">
                  <c:v>5.14</c:v>
                </c:pt>
                <c:pt idx="106">
                  <c:v>5.04</c:v>
                </c:pt>
                <c:pt idx="107">
                  <c:v>4.92</c:v>
                </c:pt>
                <c:pt idx="108">
                  <c:v>4.8600000000000003</c:v>
                </c:pt>
                <c:pt idx="109">
                  <c:v>4.76</c:v>
                </c:pt>
                <c:pt idx="110">
                  <c:v>4.78</c:v>
                </c:pt>
                <c:pt idx="111">
                  <c:v>4.75</c:v>
                </c:pt>
                <c:pt idx="112">
                  <c:v>4.79</c:v>
                </c:pt>
                <c:pt idx="113">
                  <c:v>4.9000000000000004</c:v>
                </c:pt>
                <c:pt idx="114">
                  <c:v>4.9400000000000004</c:v>
                </c:pt>
                <c:pt idx="115">
                  <c:v>4.9800000000000004</c:v>
                </c:pt>
                <c:pt idx="116">
                  <c:v>4.97</c:v>
                </c:pt>
                <c:pt idx="117">
                  <c:v>5</c:v>
                </c:pt>
                <c:pt idx="118">
                  <c:v>5.12</c:v>
                </c:pt>
                <c:pt idx="119">
                  <c:v>4.99</c:v>
                </c:pt>
                <c:pt idx="120">
                  <c:v>5.09</c:v>
                </c:pt>
                <c:pt idx="121">
                  <c:v>4.92</c:v>
                </c:pt>
                <c:pt idx="122">
                  <c:v>5.08</c:v>
                </c:pt>
                <c:pt idx="123">
                  <c:v>5.25</c:v>
                </c:pt>
                <c:pt idx="124">
                  <c:v>5.17</c:v>
                </c:pt>
                <c:pt idx="125">
                  <c:v>5.25</c:v>
                </c:pt>
                <c:pt idx="126">
                  <c:v>5.36</c:v>
                </c:pt>
                <c:pt idx="127">
                  <c:v>5.44</c:v>
                </c:pt>
                <c:pt idx="128">
                  <c:v>5.36</c:v>
                </c:pt>
                <c:pt idx="129">
                  <c:v>5.41</c:v>
                </c:pt>
                <c:pt idx="130">
                  <c:v>5.28</c:v>
                </c:pt>
                <c:pt idx="131">
                  <c:v>4.78</c:v>
                </c:pt>
                <c:pt idx="132">
                  <c:v>5.44</c:v>
                </c:pt>
                <c:pt idx="133">
                  <c:v>5.43</c:v>
                </c:pt>
                <c:pt idx="134">
                  <c:v>5.26</c:v>
                </c:pt>
                <c:pt idx="135">
                  <c:v>5.34</c:v>
                </c:pt>
                <c:pt idx="136">
                  <c:v>5.47</c:v>
                </c:pt>
                <c:pt idx="137">
                  <c:v>5.44</c:v>
                </c:pt>
                <c:pt idx="138">
                  <c:v>5.47</c:v>
                </c:pt>
                <c:pt idx="139">
                  <c:v>5.37</c:v>
                </c:pt>
                <c:pt idx="140">
                  <c:v>5.4</c:v>
                </c:pt>
                <c:pt idx="141">
                  <c:v>5.47</c:v>
                </c:pt>
                <c:pt idx="142">
                  <c:v>5.56</c:v>
                </c:pt>
                <c:pt idx="143">
                  <c:v>5.51</c:v>
                </c:pt>
                <c:pt idx="144">
                  <c:v>5.52</c:v>
                </c:pt>
                <c:pt idx="145">
                  <c:v>5.67</c:v>
                </c:pt>
                <c:pt idx="146">
                  <c:v>5.45</c:v>
                </c:pt>
                <c:pt idx="147">
                  <c:v>5.61</c:v>
                </c:pt>
                <c:pt idx="148">
                  <c:v>5.56</c:v>
                </c:pt>
                <c:pt idx="149">
                  <c:v>5.59</c:v>
                </c:pt>
                <c:pt idx="150">
                  <c:v>5.49</c:v>
                </c:pt>
                <c:pt idx="151">
                  <c:v>5.46</c:v>
                </c:pt>
                <c:pt idx="152">
                  <c:v>5.39</c:v>
                </c:pt>
                <c:pt idx="153">
                  <c:v>5.45</c:v>
                </c:pt>
                <c:pt idx="154">
                  <c:v>5.46</c:v>
                </c:pt>
                <c:pt idx="155">
                  <c:v>5.62</c:v>
                </c:pt>
                <c:pt idx="156">
                  <c:v>5.57</c:v>
                </c:pt>
                <c:pt idx="157">
                  <c:v>5.41</c:v>
                </c:pt>
                <c:pt idx="158">
                  <c:v>5.48</c:v>
                </c:pt>
                <c:pt idx="159">
                  <c:v>5.53</c:v>
                </c:pt>
                <c:pt idx="160">
                  <c:v>5.47</c:v>
                </c:pt>
                <c:pt idx="161">
                  <c:v>5.43</c:v>
                </c:pt>
                <c:pt idx="162">
                  <c:v>5.45</c:v>
                </c:pt>
                <c:pt idx="163">
                  <c:v>5.38</c:v>
                </c:pt>
                <c:pt idx="164">
                  <c:v>5.31</c:v>
                </c:pt>
                <c:pt idx="165">
                  <c:v>5.2</c:v>
                </c:pt>
                <c:pt idx="166">
                  <c:v>5.16</c:v>
                </c:pt>
                <c:pt idx="167">
                  <c:v>5.18</c:v>
                </c:pt>
                <c:pt idx="168">
                  <c:v>5.01</c:v>
                </c:pt>
                <c:pt idx="169">
                  <c:v>4.97</c:v>
                </c:pt>
                <c:pt idx="170">
                  <c:v>5.31</c:v>
                </c:pt>
                <c:pt idx="171">
                  <c:v>5.25</c:v>
                </c:pt>
                <c:pt idx="172">
                  <c:v>5.31</c:v>
                </c:pt>
                <c:pt idx="173">
                  <c:v>5.46</c:v>
                </c:pt>
                <c:pt idx="174">
                  <c:v>5.39</c:v>
                </c:pt>
                <c:pt idx="175">
                  <c:v>5.43</c:v>
                </c:pt>
                <c:pt idx="176">
                  <c:v>5.47</c:v>
                </c:pt>
                <c:pt idx="177">
                  <c:v>5.31</c:v>
                </c:pt>
                <c:pt idx="178">
                  <c:v>5.29</c:v>
                </c:pt>
                <c:pt idx="179">
                  <c:v>5.26</c:v>
                </c:pt>
                <c:pt idx="180">
                  <c:v>5.45</c:v>
                </c:pt>
                <c:pt idx="181">
                  <c:v>5.35</c:v>
                </c:pt>
                <c:pt idx="182">
                  <c:v>5.63</c:v>
                </c:pt>
                <c:pt idx="183">
                  <c:v>5.34</c:v>
                </c:pt>
                <c:pt idx="184">
                  <c:v>4.46</c:v>
                </c:pt>
                <c:pt idx="185">
                  <c:v>4.09</c:v>
                </c:pt>
                <c:pt idx="186">
                  <c:v>4.87</c:v>
                </c:pt>
                <c:pt idx="187">
                  <c:v>5.96</c:v>
                </c:pt>
                <c:pt idx="188">
                  <c:v>6.04</c:v>
                </c:pt>
                <c:pt idx="189">
                  <c:v>6.35</c:v>
                </c:pt>
                <c:pt idx="190">
                  <c:v>6.56</c:v>
                </c:pt>
                <c:pt idx="191">
                  <c:v>6.47</c:v>
                </c:pt>
                <c:pt idx="192">
                  <c:v>6.51</c:v>
                </c:pt>
                <c:pt idx="193">
                  <c:v>6.6</c:v>
                </c:pt>
                <c:pt idx="194">
                  <c:v>6.13</c:v>
                </c:pt>
                <c:pt idx="195">
                  <c:v>5.98</c:v>
                </c:pt>
                <c:pt idx="196">
                  <c:v>5.94</c:v>
                </c:pt>
                <c:pt idx="197">
                  <c:v>5.88</c:v>
                </c:pt>
                <c:pt idx="198">
                  <c:v>5.99</c:v>
                </c:pt>
                <c:pt idx="199">
                  <c:v>6.07</c:v>
                </c:pt>
                <c:pt idx="200">
                  <c:v>5.99</c:v>
                </c:pt>
                <c:pt idx="201">
                  <c:v>6.17</c:v>
                </c:pt>
                <c:pt idx="202">
                  <c:v>6.21</c:v>
                </c:pt>
                <c:pt idx="203">
                  <c:v>6.43</c:v>
                </c:pt>
                <c:pt idx="204">
                  <c:v>6.21</c:v>
                </c:pt>
                <c:pt idx="205">
                  <c:v>6.43</c:v>
                </c:pt>
                <c:pt idx="206">
                  <c:v>5.89</c:v>
                </c:pt>
                <c:pt idx="207">
                  <c:v>5.63</c:v>
                </c:pt>
                <c:pt idx="208">
                  <c:v>5.53</c:v>
                </c:pt>
                <c:pt idx="209">
                  <c:v>5.35</c:v>
                </c:pt>
                <c:pt idx="210">
                  <c:v>5.0999999999999996</c:v>
                </c:pt>
                <c:pt idx="211">
                  <c:v>4.8600000000000003</c:v>
                </c:pt>
                <c:pt idx="212">
                  <c:v>4.75</c:v>
                </c:pt>
                <c:pt idx="213">
                  <c:v>4.7</c:v>
                </c:pt>
                <c:pt idx="214">
                  <c:v>4.49</c:v>
                </c:pt>
                <c:pt idx="215">
                  <c:v>4.1900000000000004</c:v>
                </c:pt>
                <c:pt idx="216">
                  <c:v>4.12</c:v>
                </c:pt>
                <c:pt idx="217">
                  <c:v>4.07</c:v>
                </c:pt>
                <c:pt idx="218">
                  <c:v>4.53</c:v>
                </c:pt>
                <c:pt idx="219">
                  <c:v>4.3499999999999996</c:v>
                </c:pt>
                <c:pt idx="220">
                  <c:v>4.22</c:v>
                </c:pt>
                <c:pt idx="221">
                  <c:v>4.2300000000000004</c:v>
                </c:pt>
                <c:pt idx="222">
                  <c:v>4.1100000000000003</c:v>
                </c:pt>
                <c:pt idx="223">
                  <c:v>4.05</c:v>
                </c:pt>
                <c:pt idx="224">
                  <c:v>4.03</c:v>
                </c:pt>
                <c:pt idx="225">
                  <c:v>3.98</c:v>
                </c:pt>
                <c:pt idx="226">
                  <c:v>3.85</c:v>
                </c:pt>
                <c:pt idx="227">
                  <c:v>3.91</c:v>
                </c:pt>
                <c:pt idx="228">
                  <c:v>3.88</c:v>
                </c:pt>
                <c:pt idx="229">
                  <c:v>4</c:v>
                </c:pt>
                <c:pt idx="230">
                  <c:v>4.38</c:v>
                </c:pt>
                <c:pt idx="231">
                  <c:v>4.22</c:v>
                </c:pt>
                <c:pt idx="232">
                  <c:v>4.1399999999999997</c:v>
                </c:pt>
                <c:pt idx="233">
                  <c:v>4.1100000000000003</c:v>
                </c:pt>
                <c:pt idx="234">
                  <c:v>4.1100000000000003</c:v>
                </c:pt>
                <c:pt idx="235">
                  <c:v>4.1100000000000003</c:v>
                </c:pt>
                <c:pt idx="236">
                  <c:v>4.1100000000000003</c:v>
                </c:pt>
                <c:pt idx="237">
                  <c:v>4.1100000000000003</c:v>
                </c:pt>
                <c:pt idx="238">
                  <c:v>4.1100000000000003</c:v>
                </c:pt>
                <c:pt idx="239">
                  <c:v>4.1100000000000003</c:v>
                </c:pt>
                <c:pt idx="240">
                  <c:v>4.1100000000000003</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numCache>
            </c:numRef>
          </c:val>
          <c:smooth val="0"/>
          <c:extLst>
            <c:ext xmlns:c16="http://schemas.microsoft.com/office/drawing/2014/chart" uri="{C3380CC4-5D6E-409C-BE32-E72D297353CC}">
              <c16:uniqueId val="{00000001-6081-4783-BD13-5BAF46C1B02F}"/>
            </c:ext>
          </c:extLst>
        </c:ser>
        <c:dLbls>
          <c:showLegendKey val="0"/>
          <c:showVal val="0"/>
          <c:showCatName val="0"/>
          <c:showSerName val="0"/>
          <c:showPercent val="0"/>
          <c:showBubbleSize val="0"/>
        </c:dLbls>
        <c:marker val="1"/>
        <c:smooth val="0"/>
        <c:axId val="861062496"/>
        <c:axId val="861058144"/>
        <c:extLst>
          <c:ext xmlns:c15="http://schemas.microsoft.com/office/drawing/2012/chart" uri="{02D57815-91ED-43cb-92C2-25804820EDAC}">
            <c15:filteredLineSeries>
              <c15:ser>
                <c:idx val="2"/>
                <c:order val="0"/>
                <c:tx>
                  <c:strRef>
                    <c:extLst>
                      <c:ext uri="{02D57815-91ED-43cb-92C2-25804820EDAC}">
                        <c15:formulaRef>
                          <c15:sqref>'Page 5 Data'!$R$4</c15:sqref>
                        </c15:formulaRef>
                      </c:ext>
                    </c:extLst>
                    <c:strCache>
                      <c:ptCount val="1"/>
                      <c:pt idx="0">
                        <c:v>US Job Openings</c:v>
                      </c:pt>
                    </c:strCache>
                  </c:strRef>
                </c:tx>
                <c:spPr>
                  <a:ln w="31750">
                    <a:solidFill>
                      <a:srgbClr val="FFB343"/>
                    </a:solidFill>
                  </a:ln>
                </c:spPr>
                <c:marker>
                  <c:symbol val="none"/>
                </c:marker>
                <c:cat>
                  <c:strRef>
                    <c:extLst>
                      <c:ext uri="{02D57815-91ED-43cb-92C2-25804820EDAC}">
                        <c15:formulaRef>
                          <c15:sqref>'Page 5 Data'!$AE$6:$AE$1007</c15:sqref>
                        </c15:formulaRef>
                      </c:ext>
                    </c:extLst>
                    <c:strCache>
                      <c:ptCount val="241"/>
                      <c:pt idx="0">
                        <c:v>12/31/2004</c:v>
                      </c:pt>
                      <c:pt idx="1">
                        <c:v>1/31/2005</c:v>
                      </c:pt>
                      <c:pt idx="2">
                        <c:v>2/28/2005</c:v>
                      </c:pt>
                      <c:pt idx="3">
                        <c:v>3/31/2005</c:v>
                      </c:pt>
                      <c:pt idx="4">
                        <c:v>4/30/2005</c:v>
                      </c:pt>
                      <c:pt idx="5">
                        <c:v>5/31/2005</c:v>
                      </c:pt>
                      <c:pt idx="6">
                        <c:v>6/30/2005</c:v>
                      </c:pt>
                      <c:pt idx="7">
                        <c:v>7/31/2005</c:v>
                      </c:pt>
                      <c:pt idx="8">
                        <c:v>8/31/2005</c:v>
                      </c:pt>
                      <c:pt idx="9">
                        <c:v>9/30/2005</c:v>
                      </c:pt>
                      <c:pt idx="10">
                        <c:v>10/31/2005</c:v>
                      </c:pt>
                      <c:pt idx="11">
                        <c:v>11/30/2005</c:v>
                      </c:pt>
                      <c:pt idx="12">
                        <c:v>12/31/2005</c:v>
                      </c:pt>
                      <c:pt idx="13">
                        <c:v>1/31/2006</c:v>
                      </c:pt>
                      <c:pt idx="14">
                        <c:v>2/28/2006</c:v>
                      </c:pt>
                      <c:pt idx="15">
                        <c:v>3/31/2006</c:v>
                      </c:pt>
                      <c:pt idx="16">
                        <c:v>4/30/2006</c:v>
                      </c:pt>
                      <c:pt idx="17">
                        <c:v>5/31/2006</c:v>
                      </c:pt>
                      <c:pt idx="18">
                        <c:v>6/30/2006</c:v>
                      </c:pt>
                      <c:pt idx="19">
                        <c:v>7/31/2006</c:v>
                      </c:pt>
                      <c:pt idx="20">
                        <c:v>8/31/2006</c:v>
                      </c:pt>
                      <c:pt idx="21">
                        <c:v>9/30/2006</c:v>
                      </c:pt>
                      <c:pt idx="22">
                        <c:v>10/31/2006</c:v>
                      </c:pt>
                      <c:pt idx="23">
                        <c:v>11/30/2006</c:v>
                      </c:pt>
                      <c:pt idx="24">
                        <c:v>12/31/2006</c:v>
                      </c:pt>
                      <c:pt idx="25">
                        <c:v>1/31/2007</c:v>
                      </c:pt>
                      <c:pt idx="26">
                        <c:v>2/28/2007</c:v>
                      </c:pt>
                      <c:pt idx="27">
                        <c:v>3/31/2007</c:v>
                      </c:pt>
                      <c:pt idx="28">
                        <c:v>4/30/2007</c:v>
                      </c:pt>
                      <c:pt idx="29">
                        <c:v>5/31/2007</c:v>
                      </c:pt>
                      <c:pt idx="30">
                        <c:v>6/30/2007</c:v>
                      </c:pt>
                      <c:pt idx="31">
                        <c:v>7/31/2007</c:v>
                      </c:pt>
                      <c:pt idx="32">
                        <c:v>8/31/2007</c:v>
                      </c:pt>
                      <c:pt idx="33">
                        <c:v>9/30/2007</c:v>
                      </c:pt>
                      <c:pt idx="34">
                        <c:v>10/31/2007</c:v>
                      </c:pt>
                      <c:pt idx="35">
                        <c:v>11/30/2007</c:v>
                      </c:pt>
                      <c:pt idx="36">
                        <c:v>12/31/2007</c:v>
                      </c:pt>
                      <c:pt idx="37">
                        <c:v>1/31/2008</c:v>
                      </c:pt>
                      <c:pt idx="38">
                        <c:v>2/29/2008</c:v>
                      </c:pt>
                      <c:pt idx="39">
                        <c:v>3/31/2008</c:v>
                      </c:pt>
                      <c:pt idx="40">
                        <c:v>4/30/2008</c:v>
                      </c:pt>
                      <c:pt idx="41">
                        <c:v>5/31/2008</c:v>
                      </c:pt>
                      <c:pt idx="42">
                        <c:v>6/30/2008</c:v>
                      </c:pt>
                      <c:pt idx="43">
                        <c:v>7/31/2008</c:v>
                      </c:pt>
                      <c:pt idx="44">
                        <c:v>8/31/2008</c:v>
                      </c:pt>
                      <c:pt idx="45">
                        <c:v>9/30/2008</c:v>
                      </c:pt>
                      <c:pt idx="46">
                        <c:v>10/31/2008</c:v>
                      </c:pt>
                      <c:pt idx="47">
                        <c:v>11/30/2008</c:v>
                      </c:pt>
                      <c:pt idx="48">
                        <c:v>12/31/2008</c:v>
                      </c:pt>
                      <c:pt idx="49">
                        <c:v>1/31/2009</c:v>
                      </c:pt>
                      <c:pt idx="50">
                        <c:v>2/28/2009</c:v>
                      </c:pt>
                      <c:pt idx="51">
                        <c:v>3/31/2009</c:v>
                      </c:pt>
                      <c:pt idx="52">
                        <c:v>4/30/2009</c:v>
                      </c:pt>
                      <c:pt idx="53">
                        <c:v>5/31/2009</c:v>
                      </c:pt>
                      <c:pt idx="54">
                        <c:v>6/30/2009</c:v>
                      </c:pt>
                      <c:pt idx="55">
                        <c:v>7/31/2009</c:v>
                      </c:pt>
                      <c:pt idx="56">
                        <c:v>8/31/2009</c:v>
                      </c:pt>
                      <c:pt idx="57">
                        <c:v>9/30/2009</c:v>
                      </c:pt>
                      <c:pt idx="58">
                        <c:v>10/31/2009</c:v>
                      </c:pt>
                      <c:pt idx="59">
                        <c:v>11/30/2009</c:v>
                      </c:pt>
                      <c:pt idx="60">
                        <c:v>12/31/2009</c:v>
                      </c:pt>
                      <c:pt idx="61">
                        <c:v>1/31/2010</c:v>
                      </c:pt>
                      <c:pt idx="62">
                        <c:v>2/28/2010</c:v>
                      </c:pt>
                      <c:pt idx="63">
                        <c:v>3/31/2010</c:v>
                      </c:pt>
                      <c:pt idx="64">
                        <c:v>4/30/2010</c:v>
                      </c:pt>
                      <c:pt idx="65">
                        <c:v>5/31/2010</c:v>
                      </c:pt>
                      <c:pt idx="66">
                        <c:v>6/30/2010</c:v>
                      </c:pt>
                      <c:pt idx="67">
                        <c:v>7/31/2010</c:v>
                      </c:pt>
                      <c:pt idx="68">
                        <c:v>8/31/2010</c:v>
                      </c:pt>
                      <c:pt idx="69">
                        <c:v>9/30/2010</c:v>
                      </c:pt>
                      <c:pt idx="70">
                        <c:v>10/31/2010</c:v>
                      </c:pt>
                      <c:pt idx="71">
                        <c:v>11/30/2010</c:v>
                      </c:pt>
                      <c:pt idx="72">
                        <c:v>12/31/2010</c:v>
                      </c:pt>
                      <c:pt idx="73">
                        <c:v>1/31/2011</c:v>
                      </c:pt>
                      <c:pt idx="74">
                        <c:v>2/28/2011</c:v>
                      </c:pt>
                      <c:pt idx="75">
                        <c:v>3/31/2011</c:v>
                      </c:pt>
                      <c:pt idx="76">
                        <c:v>4/30/2011</c:v>
                      </c:pt>
                      <c:pt idx="77">
                        <c:v>5/31/2011</c:v>
                      </c:pt>
                      <c:pt idx="78">
                        <c:v>6/30/2011</c:v>
                      </c:pt>
                      <c:pt idx="79">
                        <c:v>7/31/2011</c:v>
                      </c:pt>
                      <c:pt idx="80">
                        <c:v>8/31/2011</c:v>
                      </c:pt>
                      <c:pt idx="81">
                        <c:v>9/30/2011</c:v>
                      </c:pt>
                      <c:pt idx="82">
                        <c:v>10/31/2011</c:v>
                      </c:pt>
                      <c:pt idx="83">
                        <c:v>11/30/2011</c:v>
                      </c:pt>
                      <c:pt idx="84">
                        <c:v>12/31/2011</c:v>
                      </c:pt>
                      <c:pt idx="85">
                        <c:v>1/31/2012</c:v>
                      </c:pt>
                      <c:pt idx="86">
                        <c:v>2/29/2012</c:v>
                      </c:pt>
                      <c:pt idx="87">
                        <c:v>3/31/2012</c:v>
                      </c:pt>
                      <c:pt idx="88">
                        <c:v>4/30/2012</c:v>
                      </c:pt>
                      <c:pt idx="89">
                        <c:v>5/31/2012</c:v>
                      </c:pt>
                      <c:pt idx="90">
                        <c:v>6/30/2012</c:v>
                      </c:pt>
                      <c:pt idx="91">
                        <c:v>7/31/2012</c:v>
                      </c:pt>
                      <c:pt idx="92">
                        <c:v>8/31/2012</c:v>
                      </c:pt>
                      <c:pt idx="93">
                        <c:v>9/30/2012</c:v>
                      </c:pt>
                      <c:pt idx="94">
                        <c:v>10/31/2012</c:v>
                      </c:pt>
                      <c:pt idx="95">
                        <c:v>11/30/2012</c:v>
                      </c:pt>
                      <c:pt idx="96">
                        <c:v>12/31/2012</c:v>
                      </c:pt>
                      <c:pt idx="97">
                        <c:v>1/31/2013</c:v>
                      </c:pt>
                      <c:pt idx="98">
                        <c:v>2/28/2013</c:v>
                      </c:pt>
                      <c:pt idx="99">
                        <c:v>3/31/2013</c:v>
                      </c:pt>
                      <c:pt idx="100">
                        <c:v>4/30/2013</c:v>
                      </c:pt>
                      <c:pt idx="101">
                        <c:v>5/31/2013</c:v>
                      </c:pt>
                      <c:pt idx="102">
                        <c:v>6/30/2013</c:v>
                      </c:pt>
                      <c:pt idx="103">
                        <c:v>7/31/2013</c:v>
                      </c:pt>
                      <c:pt idx="104">
                        <c:v>8/31/2013</c:v>
                      </c:pt>
                      <c:pt idx="105">
                        <c:v>9/30/2013</c:v>
                      </c:pt>
                      <c:pt idx="106">
                        <c:v>10/31/2013</c:v>
                      </c:pt>
                      <c:pt idx="107">
                        <c:v>11/30/2013</c:v>
                      </c:pt>
                      <c:pt idx="108">
                        <c:v>12/31/2013</c:v>
                      </c:pt>
                      <c:pt idx="109">
                        <c:v>1/31/2014</c:v>
                      </c:pt>
                      <c:pt idx="110">
                        <c:v>2/28/2014</c:v>
                      </c:pt>
                      <c:pt idx="111">
                        <c:v>3/31/2014</c:v>
                      </c:pt>
                      <c:pt idx="112">
                        <c:v>4/30/2014</c:v>
                      </c:pt>
                      <c:pt idx="113">
                        <c:v>5/31/2014</c:v>
                      </c:pt>
                      <c:pt idx="114">
                        <c:v>6/30/2014</c:v>
                      </c:pt>
                      <c:pt idx="115">
                        <c:v>7/31/2014</c:v>
                      </c:pt>
                      <c:pt idx="116">
                        <c:v>8/31/2014</c:v>
                      </c:pt>
                      <c:pt idx="117">
                        <c:v>9/30/2014</c:v>
                      </c:pt>
                      <c:pt idx="118">
                        <c:v>10/31/2014</c:v>
                      </c:pt>
                      <c:pt idx="119">
                        <c:v>11/30/2014</c:v>
                      </c:pt>
                      <c:pt idx="120">
                        <c:v>12/31/2014</c:v>
                      </c:pt>
                      <c:pt idx="121">
                        <c:v>1/31/2015</c:v>
                      </c:pt>
                      <c:pt idx="122">
                        <c:v>2/28/2015</c:v>
                      </c:pt>
                      <c:pt idx="123">
                        <c:v>3/31/2015</c:v>
                      </c:pt>
                      <c:pt idx="124">
                        <c:v>4/30/2015</c:v>
                      </c:pt>
                      <c:pt idx="125">
                        <c:v>5/31/2015</c:v>
                      </c:pt>
                      <c:pt idx="126">
                        <c:v>6/30/2015</c:v>
                      </c:pt>
                      <c:pt idx="127">
                        <c:v>7/31/2015</c:v>
                      </c:pt>
                      <c:pt idx="128">
                        <c:v>8/31/2015</c:v>
                      </c:pt>
                      <c:pt idx="129">
                        <c:v>9/30/2015</c:v>
                      </c:pt>
                      <c:pt idx="130">
                        <c:v>10/31/2015</c:v>
                      </c:pt>
                      <c:pt idx="131">
                        <c:v>11/30/2015</c:v>
                      </c:pt>
                      <c:pt idx="132">
                        <c:v>12/31/2015</c:v>
                      </c:pt>
                      <c:pt idx="133">
                        <c:v>1/31/2016</c:v>
                      </c:pt>
                      <c:pt idx="134">
                        <c:v>2/29/2016</c:v>
                      </c:pt>
                      <c:pt idx="135">
                        <c:v>3/31/2016</c:v>
                      </c:pt>
                      <c:pt idx="136">
                        <c:v>4/30/2016</c:v>
                      </c:pt>
                      <c:pt idx="137">
                        <c:v>5/31/2016</c:v>
                      </c:pt>
                      <c:pt idx="138">
                        <c:v>6/30/2016</c:v>
                      </c:pt>
                      <c:pt idx="139">
                        <c:v>7/31/2016</c:v>
                      </c:pt>
                      <c:pt idx="140">
                        <c:v>8/31/2016</c:v>
                      </c:pt>
                      <c:pt idx="141">
                        <c:v>9/30/2016</c:v>
                      </c:pt>
                      <c:pt idx="142">
                        <c:v>10/31/2016</c:v>
                      </c:pt>
                      <c:pt idx="143">
                        <c:v>11/30/2016</c:v>
                      </c:pt>
                      <c:pt idx="144">
                        <c:v>12/31/2016</c:v>
                      </c:pt>
                      <c:pt idx="145">
                        <c:v>1/31/2017</c:v>
                      </c:pt>
                      <c:pt idx="146">
                        <c:v>2/28/2017</c:v>
                      </c:pt>
                      <c:pt idx="147">
                        <c:v>3/31/2017</c:v>
                      </c:pt>
                      <c:pt idx="148">
                        <c:v>4/30/2017</c:v>
                      </c:pt>
                      <c:pt idx="149">
                        <c:v>5/31/2017</c:v>
                      </c:pt>
                      <c:pt idx="150">
                        <c:v>6/30/2017</c:v>
                      </c:pt>
                      <c:pt idx="151">
                        <c:v>7/31/2017</c:v>
                      </c:pt>
                      <c:pt idx="152">
                        <c:v>8/31/2017</c:v>
                      </c:pt>
                      <c:pt idx="153">
                        <c:v>9/30/2017</c:v>
                      </c:pt>
                      <c:pt idx="154">
                        <c:v>10/31/2017</c:v>
                      </c:pt>
                      <c:pt idx="155">
                        <c:v>11/30/2017</c:v>
                      </c:pt>
                      <c:pt idx="156">
                        <c:v>12/31/2017</c:v>
                      </c:pt>
                      <c:pt idx="157">
                        <c:v>1/31/2018</c:v>
                      </c:pt>
                      <c:pt idx="158">
                        <c:v>2/28/2018</c:v>
                      </c:pt>
                      <c:pt idx="159">
                        <c:v>3/31/2018</c:v>
                      </c:pt>
                      <c:pt idx="160">
                        <c:v>4/30/2018</c:v>
                      </c:pt>
                      <c:pt idx="161">
                        <c:v>5/31/2018</c:v>
                      </c:pt>
                      <c:pt idx="162">
                        <c:v>6/30/2018</c:v>
                      </c:pt>
                      <c:pt idx="163">
                        <c:v>7/31/2018</c:v>
                      </c:pt>
                      <c:pt idx="164">
                        <c:v>8/31/2018</c:v>
                      </c:pt>
                      <c:pt idx="165">
                        <c:v>9/30/2018</c:v>
                      </c:pt>
                      <c:pt idx="166">
                        <c:v>10/31/2018</c:v>
                      </c:pt>
                      <c:pt idx="167">
                        <c:v>11/30/2018</c:v>
                      </c:pt>
                      <c:pt idx="168">
                        <c:v>12/31/2018</c:v>
                      </c:pt>
                      <c:pt idx="169">
                        <c:v>1/31/2019</c:v>
                      </c:pt>
                      <c:pt idx="170">
                        <c:v>2/28/2019</c:v>
                      </c:pt>
                      <c:pt idx="171">
                        <c:v>3/31/2019</c:v>
                      </c:pt>
                      <c:pt idx="172">
                        <c:v>4/30/2019</c:v>
                      </c:pt>
                      <c:pt idx="173">
                        <c:v>5/31/2019</c:v>
                      </c:pt>
                      <c:pt idx="174">
                        <c:v>6/30/2019</c:v>
                      </c:pt>
                      <c:pt idx="175">
                        <c:v>7/31/2019</c:v>
                      </c:pt>
                      <c:pt idx="176">
                        <c:v>8/31/2019</c:v>
                      </c:pt>
                      <c:pt idx="177">
                        <c:v>9/30/2019</c:v>
                      </c:pt>
                      <c:pt idx="178">
                        <c:v>10/31/2019</c:v>
                      </c:pt>
                      <c:pt idx="179">
                        <c:v>11/30/2019</c:v>
                      </c:pt>
                      <c:pt idx="180">
                        <c:v>12/31/2019</c:v>
                      </c:pt>
                      <c:pt idx="181">
                        <c:v>1/31/2020</c:v>
                      </c:pt>
                      <c:pt idx="182">
                        <c:v>2/29/2020</c:v>
                      </c:pt>
                      <c:pt idx="183">
                        <c:v>3/31/2020</c:v>
                      </c:pt>
                      <c:pt idx="184">
                        <c:v>4/30/2020</c:v>
                      </c:pt>
                      <c:pt idx="185">
                        <c:v>5/31/2020</c:v>
                      </c:pt>
                      <c:pt idx="186">
                        <c:v>6/30/2020</c:v>
                      </c:pt>
                      <c:pt idx="187">
                        <c:v>7/31/2020</c:v>
                      </c:pt>
                      <c:pt idx="188">
                        <c:v>8/31/2020</c:v>
                      </c:pt>
                      <c:pt idx="189">
                        <c:v>9/30/2020</c:v>
                      </c:pt>
                      <c:pt idx="190">
                        <c:v>10/31/2020</c:v>
                      </c:pt>
                      <c:pt idx="191">
                        <c:v>11/30/2020</c:v>
                      </c:pt>
                      <c:pt idx="192">
                        <c:v>12/31/2020</c:v>
                      </c:pt>
                      <c:pt idx="193">
                        <c:v>1/31/2021</c:v>
                      </c:pt>
                      <c:pt idx="194">
                        <c:v>2/28/2021</c:v>
                      </c:pt>
                      <c:pt idx="195">
                        <c:v>3/31/2021</c:v>
                      </c:pt>
                      <c:pt idx="196">
                        <c:v>4/30/2021</c:v>
                      </c:pt>
                      <c:pt idx="197">
                        <c:v>5/31/2021</c:v>
                      </c:pt>
                      <c:pt idx="198">
                        <c:v>6/30/2021</c:v>
                      </c:pt>
                      <c:pt idx="199">
                        <c:v>7/31/2021</c:v>
                      </c:pt>
                      <c:pt idx="200">
                        <c:v>8/31/2021</c:v>
                      </c:pt>
                      <c:pt idx="201">
                        <c:v>9/30/2021</c:v>
                      </c:pt>
                      <c:pt idx="202">
                        <c:v>10/31/2021</c:v>
                      </c:pt>
                      <c:pt idx="203">
                        <c:v>11/30/2021</c:v>
                      </c:pt>
                      <c:pt idx="204">
                        <c:v>12/31/2021</c:v>
                      </c:pt>
                      <c:pt idx="205">
                        <c:v>1/31/2022</c:v>
                      </c:pt>
                      <c:pt idx="206">
                        <c:v>2/28/2022</c:v>
                      </c:pt>
                      <c:pt idx="207">
                        <c:v>3/31/2022</c:v>
                      </c:pt>
                      <c:pt idx="208">
                        <c:v>4/30/2022</c:v>
                      </c:pt>
                      <c:pt idx="209">
                        <c:v>5/31/2022</c:v>
                      </c:pt>
                      <c:pt idx="210">
                        <c:v>6/30/2022</c:v>
                      </c:pt>
                      <c:pt idx="211">
                        <c:v>7/31/2022</c:v>
                      </c:pt>
                      <c:pt idx="212">
                        <c:v>8/31/2022</c:v>
                      </c:pt>
                      <c:pt idx="213">
                        <c:v>9/30/2022</c:v>
                      </c:pt>
                      <c:pt idx="214">
                        <c:v>10/31/2022</c:v>
                      </c:pt>
                      <c:pt idx="215">
                        <c:v>11/30/2022</c:v>
                      </c:pt>
                      <c:pt idx="216">
                        <c:v>12/31/2022</c:v>
                      </c:pt>
                      <c:pt idx="217">
                        <c:v>1/31/2023</c:v>
                      </c:pt>
                      <c:pt idx="218">
                        <c:v>2/28/2023</c:v>
                      </c:pt>
                      <c:pt idx="219">
                        <c:v>3/31/2023</c:v>
                      </c:pt>
                      <c:pt idx="220">
                        <c:v>4/30/2023</c:v>
                      </c:pt>
                      <c:pt idx="221">
                        <c:v>5/31/2023</c:v>
                      </c:pt>
                      <c:pt idx="222">
                        <c:v>6/30/2023</c:v>
                      </c:pt>
                      <c:pt idx="223">
                        <c:v>7/31/2023</c:v>
                      </c:pt>
                      <c:pt idx="224">
                        <c:v>8/31/2023</c:v>
                      </c:pt>
                      <c:pt idx="225">
                        <c:v>9/30/2023</c:v>
                      </c:pt>
                      <c:pt idx="226">
                        <c:v>10/31/2023</c:v>
                      </c:pt>
                      <c:pt idx="227">
                        <c:v>11/30/2023</c:v>
                      </c:pt>
                      <c:pt idx="228">
                        <c:v>12/31/2023</c:v>
                      </c:pt>
                      <c:pt idx="229">
                        <c:v>1/31/2024</c:v>
                      </c:pt>
                      <c:pt idx="230">
                        <c:v>2/29/2024</c:v>
                      </c:pt>
                      <c:pt idx="231">
                        <c:v>3/31/2024</c:v>
                      </c:pt>
                      <c:pt idx="232">
                        <c:v>4/30/2024</c:v>
                      </c:pt>
                      <c:pt idx="233">
                        <c:v>5/31/2024</c:v>
                      </c:pt>
                      <c:pt idx="234">
                        <c:v>6/30/2024</c:v>
                      </c:pt>
                      <c:pt idx="235">
                        <c:v>7/31/2024</c:v>
                      </c:pt>
                      <c:pt idx="236">
                        <c:v>8/31/2024</c:v>
                      </c:pt>
                      <c:pt idx="237">
                        <c:v>9/30/2024</c:v>
                      </c:pt>
                      <c:pt idx="238">
                        <c:v>10/31/2024</c:v>
                      </c:pt>
                      <c:pt idx="239">
                        <c:v>11/30/2024</c:v>
                      </c:pt>
                      <c:pt idx="240">
                        <c:v>12/31/2024</c:v>
                      </c:pt>
                    </c:strCache>
                  </c:strRef>
                </c:cat>
                <c:val>
                  <c:numRef>
                    <c:extLst>
                      <c:ext uri="{02D57815-91ED-43cb-92C2-25804820EDAC}">
                        <c15:formulaRef>
                          <c15:sqref>'Page 5 Data'!$R$6:$R$1007</c15:sqref>
                        </c15:formulaRef>
                      </c:ext>
                    </c:extLst>
                    <c:numCache>
                      <c:formatCode>General</c:formatCode>
                      <c:ptCount val="1002"/>
                      <c:pt idx="0">
                        <c:v>4074</c:v>
                      </c:pt>
                      <c:pt idx="1">
                        <c:v>3804</c:v>
                      </c:pt>
                      <c:pt idx="2">
                        <c:v>3965</c:v>
                      </c:pt>
                      <c:pt idx="3">
                        <c:v>4044</c:v>
                      </c:pt>
                      <c:pt idx="4">
                        <c:v>4159</c:v>
                      </c:pt>
                      <c:pt idx="5">
                        <c:v>3797</c:v>
                      </c:pt>
                      <c:pt idx="6">
                        <c:v>4062</c:v>
                      </c:pt>
                      <c:pt idx="7">
                        <c:v>4256</c:v>
                      </c:pt>
                      <c:pt idx="8">
                        <c:v>4142</c:v>
                      </c:pt>
                      <c:pt idx="9">
                        <c:v>4352</c:v>
                      </c:pt>
                      <c:pt idx="10">
                        <c:v>4184</c:v>
                      </c:pt>
                      <c:pt idx="11">
                        <c:v>4248</c:v>
                      </c:pt>
                      <c:pt idx="12">
                        <c:v>4282</c:v>
                      </c:pt>
                      <c:pt idx="13">
                        <c:v>4397</c:v>
                      </c:pt>
                      <c:pt idx="14">
                        <c:v>4325</c:v>
                      </c:pt>
                      <c:pt idx="15">
                        <c:v>4732</c:v>
                      </c:pt>
                      <c:pt idx="16">
                        <c:v>4790</c:v>
                      </c:pt>
                      <c:pt idx="17">
                        <c:v>4463</c:v>
                      </c:pt>
                      <c:pt idx="18">
                        <c:v>4614</c:v>
                      </c:pt>
                      <c:pt idx="19">
                        <c:v>4394</c:v>
                      </c:pt>
                      <c:pt idx="20">
                        <c:v>4710</c:v>
                      </c:pt>
                      <c:pt idx="21">
                        <c:v>4737</c:v>
                      </c:pt>
                      <c:pt idx="22">
                        <c:v>4591</c:v>
                      </c:pt>
                      <c:pt idx="23">
                        <c:v>4645</c:v>
                      </c:pt>
                      <c:pt idx="24">
                        <c:v>4620</c:v>
                      </c:pt>
                      <c:pt idx="25">
                        <c:v>4763</c:v>
                      </c:pt>
                      <c:pt idx="26">
                        <c:v>4699</c:v>
                      </c:pt>
                      <c:pt idx="27">
                        <c:v>4962</c:v>
                      </c:pt>
                      <c:pt idx="28">
                        <c:v>4689</c:v>
                      </c:pt>
                      <c:pt idx="29">
                        <c:v>4657</c:v>
                      </c:pt>
                      <c:pt idx="30">
                        <c:v>4859</c:v>
                      </c:pt>
                      <c:pt idx="31">
                        <c:v>4598</c:v>
                      </c:pt>
                      <c:pt idx="32">
                        <c:v>4546</c:v>
                      </c:pt>
                      <c:pt idx="33">
                        <c:v>4652</c:v>
                      </c:pt>
                      <c:pt idx="34">
                        <c:v>4636</c:v>
                      </c:pt>
                      <c:pt idx="35">
                        <c:v>4646</c:v>
                      </c:pt>
                      <c:pt idx="36">
                        <c:v>4545</c:v>
                      </c:pt>
                      <c:pt idx="37">
                        <c:v>4624</c:v>
                      </c:pt>
                      <c:pt idx="38">
                        <c:v>4279</c:v>
                      </c:pt>
                      <c:pt idx="39">
                        <c:v>4225</c:v>
                      </c:pt>
                      <c:pt idx="40">
                        <c:v>4035</c:v>
                      </c:pt>
                      <c:pt idx="41">
                        <c:v>4194</c:v>
                      </c:pt>
                      <c:pt idx="42">
                        <c:v>3830</c:v>
                      </c:pt>
                      <c:pt idx="43">
                        <c:v>3749</c:v>
                      </c:pt>
                      <c:pt idx="44">
                        <c:v>3674</c:v>
                      </c:pt>
                      <c:pt idx="45">
                        <c:v>3222</c:v>
                      </c:pt>
                      <c:pt idx="46">
                        <c:v>3377</c:v>
                      </c:pt>
                      <c:pt idx="47">
                        <c:v>3231</c:v>
                      </c:pt>
                      <c:pt idx="48">
                        <c:v>3146</c:v>
                      </c:pt>
                      <c:pt idx="49">
                        <c:v>2738</c:v>
                      </c:pt>
                      <c:pt idx="50">
                        <c:v>2864</c:v>
                      </c:pt>
                      <c:pt idx="51">
                        <c:v>2534</c:v>
                      </c:pt>
                      <c:pt idx="52">
                        <c:v>2295</c:v>
                      </c:pt>
                      <c:pt idx="53">
                        <c:v>2549</c:v>
                      </c:pt>
                      <c:pt idx="54">
                        <c:v>2503</c:v>
                      </c:pt>
                      <c:pt idx="55">
                        <c:v>2232</c:v>
                      </c:pt>
                      <c:pt idx="56">
                        <c:v>2338</c:v>
                      </c:pt>
                      <c:pt idx="57">
                        <c:v>2487</c:v>
                      </c:pt>
                      <c:pt idx="58">
                        <c:v>2406</c:v>
                      </c:pt>
                      <c:pt idx="59">
                        <c:v>2503</c:v>
                      </c:pt>
                      <c:pt idx="60">
                        <c:v>2568</c:v>
                      </c:pt>
                      <c:pt idx="61">
                        <c:v>2837</c:v>
                      </c:pt>
                      <c:pt idx="62">
                        <c:v>2666</c:v>
                      </c:pt>
                      <c:pt idx="63">
                        <c:v>2679</c:v>
                      </c:pt>
                      <c:pt idx="64">
                        <c:v>3153</c:v>
                      </c:pt>
                      <c:pt idx="65">
                        <c:v>2988</c:v>
                      </c:pt>
                      <c:pt idx="66">
                        <c:v>2801</c:v>
                      </c:pt>
                      <c:pt idx="67">
                        <c:v>3082</c:v>
                      </c:pt>
                      <c:pt idx="68">
                        <c:v>2999</c:v>
                      </c:pt>
                      <c:pt idx="69">
                        <c:v>2918</c:v>
                      </c:pt>
                      <c:pt idx="70">
                        <c:v>3235</c:v>
                      </c:pt>
                      <c:pt idx="71">
                        <c:v>3211</c:v>
                      </c:pt>
                      <c:pt idx="72">
                        <c:v>3058</c:v>
                      </c:pt>
                      <c:pt idx="73">
                        <c:v>3104</c:v>
                      </c:pt>
                      <c:pt idx="74">
                        <c:v>3226</c:v>
                      </c:pt>
                      <c:pt idx="75">
                        <c:v>3261</c:v>
                      </c:pt>
                      <c:pt idx="76">
                        <c:v>3259</c:v>
                      </c:pt>
                      <c:pt idx="77">
                        <c:v>3179</c:v>
                      </c:pt>
                      <c:pt idx="78">
                        <c:v>3455</c:v>
                      </c:pt>
                      <c:pt idx="79">
                        <c:v>3623</c:v>
                      </c:pt>
                      <c:pt idx="80">
                        <c:v>3329</c:v>
                      </c:pt>
                      <c:pt idx="81">
                        <c:v>3774</c:v>
                      </c:pt>
                      <c:pt idx="82">
                        <c:v>3619</c:v>
                      </c:pt>
                      <c:pt idx="83">
                        <c:v>3565</c:v>
                      </c:pt>
                      <c:pt idx="84">
                        <c:v>3768</c:v>
                      </c:pt>
                      <c:pt idx="85">
                        <c:v>3909</c:v>
                      </c:pt>
                      <c:pt idx="86">
                        <c:v>3616</c:v>
                      </c:pt>
                      <c:pt idx="87">
                        <c:v>3979</c:v>
                      </c:pt>
                      <c:pt idx="88">
                        <c:v>3793</c:v>
                      </c:pt>
                      <c:pt idx="89">
                        <c:v>3835</c:v>
                      </c:pt>
                      <c:pt idx="90">
                        <c:v>3911</c:v>
                      </c:pt>
                      <c:pt idx="91">
                        <c:v>3735</c:v>
                      </c:pt>
                      <c:pt idx="92">
                        <c:v>3809</c:v>
                      </c:pt>
                      <c:pt idx="93">
                        <c:v>3882</c:v>
                      </c:pt>
                      <c:pt idx="94">
                        <c:v>3775</c:v>
                      </c:pt>
                      <c:pt idx="95">
                        <c:v>3878</c:v>
                      </c:pt>
                      <c:pt idx="96">
                        <c:v>3970</c:v>
                      </c:pt>
                      <c:pt idx="97">
                        <c:v>3923</c:v>
                      </c:pt>
                      <c:pt idx="98">
                        <c:v>4004</c:v>
                      </c:pt>
                      <c:pt idx="99">
                        <c:v>4076</c:v>
                      </c:pt>
                      <c:pt idx="100">
                        <c:v>3988</c:v>
                      </c:pt>
                      <c:pt idx="101">
                        <c:v>4145</c:v>
                      </c:pt>
                      <c:pt idx="102">
                        <c:v>4150</c:v>
                      </c:pt>
                      <c:pt idx="103">
                        <c:v>3885</c:v>
                      </c:pt>
                      <c:pt idx="104">
                        <c:v>4085</c:v>
                      </c:pt>
                      <c:pt idx="105">
                        <c:v>4128</c:v>
                      </c:pt>
                      <c:pt idx="106">
                        <c:v>4222</c:v>
                      </c:pt>
                      <c:pt idx="107">
                        <c:v>4119</c:v>
                      </c:pt>
                      <c:pt idx="108">
                        <c:v>4121</c:v>
                      </c:pt>
                      <c:pt idx="109">
                        <c:v>4127</c:v>
                      </c:pt>
                      <c:pt idx="110">
                        <c:v>4373</c:v>
                      </c:pt>
                      <c:pt idx="111">
                        <c:v>4388</c:v>
                      </c:pt>
                      <c:pt idx="112">
                        <c:v>4566</c:v>
                      </c:pt>
                      <c:pt idx="113">
                        <c:v>4747</c:v>
                      </c:pt>
                      <c:pt idx="114">
                        <c:v>4982</c:v>
                      </c:pt>
                      <c:pt idx="115">
                        <c:v>4846</c:v>
                      </c:pt>
                      <c:pt idx="116">
                        <c:v>5349</c:v>
                      </c:pt>
                      <c:pt idx="117">
                        <c:v>4914</c:v>
                      </c:pt>
                      <c:pt idx="118">
                        <c:v>5012</c:v>
                      </c:pt>
                      <c:pt idx="119">
                        <c:v>4843</c:v>
                      </c:pt>
                      <c:pt idx="120">
                        <c:v>5130</c:v>
                      </c:pt>
                      <c:pt idx="121">
                        <c:v>5344</c:v>
                      </c:pt>
                      <c:pt idx="122">
                        <c:v>5466</c:v>
                      </c:pt>
                      <c:pt idx="123">
                        <c:v>5210</c:v>
                      </c:pt>
                      <c:pt idx="124">
                        <c:v>5598</c:v>
                      </c:pt>
                      <c:pt idx="125">
                        <c:v>5563</c:v>
                      </c:pt>
                      <c:pt idx="126">
                        <c:v>5248</c:v>
                      </c:pt>
                      <c:pt idx="127">
                        <c:v>6056</c:v>
                      </c:pt>
                      <c:pt idx="128">
                        <c:v>5467</c:v>
                      </c:pt>
                      <c:pt idx="129">
                        <c:v>5488</c:v>
                      </c:pt>
                      <c:pt idx="130">
                        <c:v>5773</c:v>
                      </c:pt>
                      <c:pt idx="131">
                        <c:v>5708</c:v>
                      </c:pt>
                      <c:pt idx="132">
                        <c:v>5845</c:v>
                      </c:pt>
                      <c:pt idx="133">
                        <c:v>6012</c:v>
                      </c:pt>
                      <c:pt idx="134">
                        <c:v>5770</c:v>
                      </c:pt>
                      <c:pt idx="135">
                        <c:v>6129</c:v>
                      </c:pt>
                      <c:pt idx="136">
                        <c:v>5803</c:v>
                      </c:pt>
                      <c:pt idx="137">
                        <c:v>5777</c:v>
                      </c:pt>
                      <c:pt idx="138">
                        <c:v>5742</c:v>
                      </c:pt>
                      <c:pt idx="139">
                        <c:v>5962</c:v>
                      </c:pt>
                      <c:pt idx="140">
                        <c:v>5677</c:v>
                      </c:pt>
                      <c:pt idx="141">
                        <c:v>5868</c:v>
                      </c:pt>
                      <c:pt idx="142">
                        <c:v>5591</c:v>
                      </c:pt>
                      <c:pt idx="143">
                        <c:v>5971</c:v>
                      </c:pt>
                      <c:pt idx="144">
                        <c:v>5964</c:v>
                      </c:pt>
                      <c:pt idx="145">
                        <c:v>5646</c:v>
                      </c:pt>
                      <c:pt idx="146">
                        <c:v>5931</c:v>
                      </c:pt>
                      <c:pt idx="147">
                        <c:v>5813</c:v>
                      </c:pt>
                      <c:pt idx="148">
                        <c:v>6103</c:v>
                      </c:pt>
                      <c:pt idx="149">
                        <c:v>5810</c:v>
                      </c:pt>
                      <c:pt idx="150">
                        <c:v>6334</c:v>
                      </c:pt>
                      <c:pt idx="151">
                        <c:v>6203</c:v>
                      </c:pt>
                      <c:pt idx="152">
                        <c:v>6300</c:v>
                      </c:pt>
                      <c:pt idx="153">
                        <c:v>6279</c:v>
                      </c:pt>
                      <c:pt idx="154">
                        <c:v>6380</c:v>
                      </c:pt>
                      <c:pt idx="155">
                        <c:v>6282</c:v>
                      </c:pt>
                      <c:pt idx="156">
                        <c:v>6359</c:v>
                      </c:pt>
                      <c:pt idx="157">
                        <c:v>6601</c:v>
                      </c:pt>
                      <c:pt idx="158">
                        <c:v>6586</c:v>
                      </c:pt>
                      <c:pt idx="159">
                        <c:v>6833</c:v>
                      </c:pt>
                      <c:pt idx="160">
                        <c:v>6910</c:v>
                      </c:pt>
                      <c:pt idx="161">
                        <c:v>6987</c:v>
                      </c:pt>
                      <c:pt idx="162">
                        <c:v>7271</c:v>
                      </c:pt>
                      <c:pt idx="163">
                        <c:v>7209</c:v>
                      </c:pt>
                      <c:pt idx="164">
                        <c:v>7204</c:v>
                      </c:pt>
                      <c:pt idx="165">
                        <c:v>7352</c:v>
                      </c:pt>
                      <c:pt idx="166">
                        <c:v>7295</c:v>
                      </c:pt>
                      <c:pt idx="167">
                        <c:v>7574</c:v>
                      </c:pt>
                      <c:pt idx="168">
                        <c:v>7436</c:v>
                      </c:pt>
                      <c:pt idx="169">
                        <c:v>7478</c:v>
                      </c:pt>
                      <c:pt idx="170">
                        <c:v>7058</c:v>
                      </c:pt>
                      <c:pt idx="171">
                        <c:v>7332</c:v>
                      </c:pt>
                      <c:pt idx="172">
                        <c:v>7257</c:v>
                      </c:pt>
                      <c:pt idx="173">
                        <c:v>7279</c:v>
                      </c:pt>
                      <c:pt idx="174">
                        <c:v>7165</c:v>
                      </c:pt>
                      <c:pt idx="175">
                        <c:v>7137</c:v>
                      </c:pt>
                      <c:pt idx="176">
                        <c:v>7150</c:v>
                      </c:pt>
                      <c:pt idx="177">
                        <c:v>7100</c:v>
                      </c:pt>
                      <c:pt idx="178">
                        <c:v>7340</c:v>
                      </c:pt>
                      <c:pt idx="179">
                        <c:v>6915</c:v>
                      </c:pt>
                      <c:pt idx="180">
                        <c:v>6730</c:v>
                      </c:pt>
                      <c:pt idx="181">
                        <c:v>7154</c:v>
                      </c:pt>
                      <c:pt idx="182">
                        <c:v>7012</c:v>
                      </c:pt>
                      <c:pt idx="183">
                        <c:v>5769</c:v>
                      </c:pt>
                      <c:pt idx="184">
                        <c:v>4630</c:v>
                      </c:pt>
                      <c:pt idx="185">
                        <c:v>5447</c:v>
                      </c:pt>
                      <c:pt idx="186">
                        <c:v>6112</c:v>
                      </c:pt>
                      <c:pt idx="187">
                        <c:v>6717</c:v>
                      </c:pt>
                      <c:pt idx="188">
                        <c:v>6451</c:v>
                      </c:pt>
                      <c:pt idx="189">
                        <c:v>6611</c:v>
                      </c:pt>
                      <c:pt idx="190">
                        <c:v>6873</c:v>
                      </c:pt>
                      <c:pt idx="191">
                        <c:v>6766</c:v>
                      </c:pt>
                      <c:pt idx="192">
                        <c:v>6752</c:v>
                      </c:pt>
                      <c:pt idx="193">
                        <c:v>7099</c:v>
                      </c:pt>
                      <c:pt idx="194">
                        <c:v>7526</c:v>
                      </c:pt>
                      <c:pt idx="195">
                        <c:v>8288</c:v>
                      </c:pt>
                      <c:pt idx="196">
                        <c:v>9193</c:v>
                      </c:pt>
                      <c:pt idx="197">
                        <c:v>9483</c:v>
                      </c:pt>
                      <c:pt idx="198">
                        <c:v>10185</c:v>
                      </c:pt>
                      <c:pt idx="199">
                        <c:v>11098</c:v>
                      </c:pt>
                      <c:pt idx="200">
                        <c:v>10629</c:v>
                      </c:pt>
                      <c:pt idx="201">
                        <c:v>10602</c:v>
                      </c:pt>
                      <c:pt idx="202">
                        <c:v>11094</c:v>
                      </c:pt>
                      <c:pt idx="203">
                        <c:v>10922</c:v>
                      </c:pt>
                      <c:pt idx="204">
                        <c:v>11448</c:v>
                      </c:pt>
                      <c:pt idx="205">
                        <c:v>11283</c:v>
                      </c:pt>
                      <c:pt idx="206">
                        <c:v>11344</c:v>
                      </c:pt>
                      <c:pt idx="207">
                        <c:v>11855</c:v>
                      </c:pt>
                      <c:pt idx="208">
                        <c:v>11681</c:v>
                      </c:pt>
                      <c:pt idx="209">
                        <c:v>11303</c:v>
                      </c:pt>
                      <c:pt idx="210">
                        <c:v>11040</c:v>
                      </c:pt>
                      <c:pt idx="211">
                        <c:v>11170</c:v>
                      </c:pt>
                      <c:pt idx="212">
                        <c:v>10280</c:v>
                      </c:pt>
                      <c:pt idx="213">
                        <c:v>10687</c:v>
                      </c:pt>
                      <c:pt idx="214">
                        <c:v>10471</c:v>
                      </c:pt>
                      <c:pt idx="215">
                        <c:v>10746</c:v>
                      </c:pt>
                      <c:pt idx="216">
                        <c:v>11234</c:v>
                      </c:pt>
                      <c:pt idx="217">
                        <c:v>10563</c:v>
                      </c:pt>
                      <c:pt idx="218">
                        <c:v>9974</c:v>
                      </c:pt>
                      <c:pt idx="219">
                        <c:v>9745</c:v>
                      </c:pt>
                      <c:pt idx="220">
                        <c:v>10320</c:v>
                      </c:pt>
                      <c:pt idx="221">
                        <c:v>9616</c:v>
                      </c:pt>
                      <c:pt idx="222">
                        <c:v>9165</c:v>
                      </c:pt>
                      <c:pt idx="223">
                        <c:v>8920</c:v>
                      </c:pt>
                      <c:pt idx="224">
                        <c:v>9497</c:v>
                      </c:pt>
                      <c:pt idx="225">
                        <c:v>9350</c:v>
                      </c:pt>
                      <c:pt idx="226">
                        <c:v>8685</c:v>
                      </c:pt>
                      <c:pt idx="227">
                        <c:v>8931</c:v>
                      </c:pt>
                      <c:pt idx="228">
                        <c:v>8889</c:v>
                      </c:pt>
                      <c:pt idx="229">
                        <c:v>8748</c:v>
                      </c:pt>
                      <c:pt idx="230">
                        <c:v>8813</c:v>
                      </c:pt>
                      <c:pt idx="231">
                        <c:v>8355</c:v>
                      </c:pt>
                      <c:pt idx="232">
                        <c:v>7919</c:v>
                      </c:pt>
                      <c:pt idx="233">
                        <c:v>8230</c:v>
                      </c:pt>
                      <c:pt idx="234">
                        <c:v>7910</c:v>
                      </c:pt>
                      <c:pt idx="235">
                        <c:v>7711</c:v>
                      </c:pt>
                      <c:pt idx="236">
                        <c:v>7861</c:v>
                      </c:pt>
                      <c:pt idx="237">
                        <c:v>7372</c:v>
                      </c:pt>
                      <c:pt idx="238">
                        <c:v>7839</c:v>
                      </c:pt>
                      <c:pt idx="239">
                        <c:v>8098</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numCache>
                  </c:numRef>
                </c:val>
                <c:smooth val="0"/>
                <c:extLst>
                  <c:ext xmlns:c16="http://schemas.microsoft.com/office/drawing/2014/chart" uri="{C3380CC4-5D6E-409C-BE32-E72D297353CC}">
                    <c16:uniqueId val="{00000002-6081-4783-BD13-5BAF46C1B02F}"/>
                  </c:ext>
                </c:extLst>
              </c15:ser>
            </c15:filteredLineSeries>
          </c:ext>
        </c:extLst>
      </c:lineChart>
      <c:dateAx>
        <c:axId val="861062496"/>
        <c:scaling>
          <c:orientation val="minMax"/>
          <c:max val="45199"/>
        </c:scaling>
        <c:delete val="0"/>
        <c:axPos val="b"/>
        <c:majorGridlines>
          <c:spPr>
            <a:ln>
              <a:noFill/>
            </a:ln>
          </c:spPr>
        </c:majorGridlines>
        <c:numFmt formatCode="[$-409]mmm\-yy;@" sourceLinked="0"/>
        <c:majorTickMark val="out"/>
        <c:minorTickMark val="none"/>
        <c:tickLblPos val="nextTo"/>
        <c:spPr>
          <a:ln>
            <a:solidFill>
              <a:srgbClr val="D9D9D9"/>
            </a:solidFill>
          </a:ln>
        </c:spPr>
        <c:txPr>
          <a:bodyPr rot="0" vert="horz"/>
          <a:lstStyle/>
          <a:p>
            <a:pPr>
              <a:defRPr cap="all" baseline="0">
                <a:solidFill>
                  <a:schemeClr val="bg1"/>
                </a:solidFill>
                <a:latin typeface="Poppins" panose="00000500000000000000" pitchFamily="2" charset="0"/>
                <a:cs typeface="Poppins" panose="00000500000000000000" pitchFamily="2" charset="0"/>
              </a:defRPr>
            </a:pPr>
            <a:endParaRPr lang="en-US"/>
          </a:p>
        </c:txPr>
        <c:crossAx val="861058144"/>
        <c:crosses val="autoZero"/>
        <c:auto val="1"/>
        <c:lblOffset val="100"/>
        <c:baseTimeUnit val="days"/>
        <c:majorUnit val="4"/>
        <c:majorTimeUnit val="years"/>
      </c:dateAx>
      <c:valAx>
        <c:axId val="861058144"/>
        <c:scaling>
          <c:orientation val="minMax"/>
          <c:max val="8"/>
          <c:min val="3"/>
        </c:scaling>
        <c:delete val="0"/>
        <c:axPos val="l"/>
        <c:majorGridlines>
          <c:spPr>
            <a:ln>
              <a:solidFill>
                <a:srgbClr val="D9D9D9">
                  <a:alpha val="72000"/>
                </a:srgbClr>
              </a:solidFill>
            </a:ln>
          </c:spPr>
        </c:majorGridlines>
        <c:numFmt formatCode="#,##0.0" sourceLinked="0"/>
        <c:majorTickMark val="out"/>
        <c:minorTickMark val="none"/>
        <c:tickLblPos val="nextTo"/>
        <c:spPr>
          <a:ln>
            <a:solidFill>
              <a:srgbClr val="D9D9D9"/>
            </a:solidFill>
          </a:ln>
        </c:spPr>
        <c:txPr>
          <a:bodyPr/>
          <a:lstStyle/>
          <a:p>
            <a:pPr algn="ct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861062496"/>
        <c:crosses val="autoZero"/>
        <c:crossBetween val="between"/>
        <c:majorUnit val="1"/>
      </c:valAx>
      <c:spPr>
        <a:solidFill>
          <a:srgbClr val="2B3E59"/>
        </a:solidFill>
      </c:spPr>
    </c:plotArea>
    <c:plotVisOnly val="1"/>
    <c:dispBlanksAs val="gap"/>
    <c:showDLblsOverMax val="0"/>
  </c:chart>
  <c:spPr>
    <a:solidFill>
      <a:srgbClr val="2B3E59"/>
    </a:solidFill>
    <a:ln>
      <a:solidFill>
        <a:srgbClr val="5891A6">
          <a:alpha val="51000"/>
        </a:srgbClr>
      </a:solidFill>
    </a:ln>
  </c:spPr>
  <c:txPr>
    <a:bodyPr/>
    <a:lstStyle/>
    <a:p>
      <a:pPr>
        <a:defRPr>
          <a:latin typeface="Arial" panose="020B0604020202020204" pitchFamily="34" charset="0"/>
          <a:cs typeface="Arial" panose="020B0604020202020204" pitchFamily="34" charset="0"/>
        </a:defRPr>
      </a:pPr>
      <a:endParaRPr lang="en-US"/>
    </a:p>
  </c:txPr>
  <c:externalData r:id="rId1">
    <c:autoUpdate val="1"/>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658384048147827"/>
          <c:y val="0.21823967558550755"/>
          <c:w val="0.76794823723957584"/>
          <c:h val="0.58403781747503825"/>
        </c:manualLayout>
      </c:layout>
      <c:barChart>
        <c:barDir val="col"/>
        <c:grouping val="stacked"/>
        <c:varyColors val="0"/>
        <c:ser>
          <c:idx val="0"/>
          <c:order val="0"/>
          <c:tx>
            <c:strRef>
              <c:f>'Page 5 Data'!$BL$4</c:f>
              <c:strCache>
                <c:ptCount val="1"/>
                <c:pt idx="0">
                  <c:v>US RECESSION</c:v>
                </c:pt>
              </c:strCache>
              <c:extLst xmlns:c15="http://schemas.microsoft.com/office/drawing/2012/chart"/>
            </c:strRef>
          </c:tx>
          <c:spPr>
            <a:noFill/>
            <a:ln w="34925">
              <a:solidFill>
                <a:srgbClr val="5891A6">
                  <a:alpha val="60000"/>
                </a:srgbClr>
              </a:solidFill>
            </a:ln>
          </c:spPr>
          <c:invertIfNegative val="0"/>
          <c:cat>
            <c:numRef>
              <c:f>'Page 5 Data'!$BL$6:$BL$1007</c:f>
              <c:numCache>
                <c:formatCode>[$-409]mmm\-yy;@</c:formatCode>
                <c:ptCount val="1002"/>
                <c:pt idx="0">
                  <c:v>38168</c:v>
                </c:pt>
                <c:pt idx="1">
                  <c:v>38199</c:v>
                </c:pt>
                <c:pt idx="2">
                  <c:v>38230</c:v>
                </c:pt>
                <c:pt idx="3">
                  <c:v>38260</c:v>
                </c:pt>
                <c:pt idx="4">
                  <c:v>38291</c:v>
                </c:pt>
                <c:pt idx="5">
                  <c:v>38321</c:v>
                </c:pt>
                <c:pt idx="6">
                  <c:v>38352</c:v>
                </c:pt>
                <c:pt idx="7">
                  <c:v>38383</c:v>
                </c:pt>
                <c:pt idx="8">
                  <c:v>38411</c:v>
                </c:pt>
                <c:pt idx="9">
                  <c:v>38442</c:v>
                </c:pt>
                <c:pt idx="10">
                  <c:v>38472</c:v>
                </c:pt>
                <c:pt idx="11">
                  <c:v>38503</c:v>
                </c:pt>
                <c:pt idx="12">
                  <c:v>38533</c:v>
                </c:pt>
                <c:pt idx="13">
                  <c:v>38564</c:v>
                </c:pt>
                <c:pt idx="14">
                  <c:v>38595</c:v>
                </c:pt>
                <c:pt idx="15">
                  <c:v>38625</c:v>
                </c:pt>
                <c:pt idx="16">
                  <c:v>38656</c:v>
                </c:pt>
                <c:pt idx="17">
                  <c:v>38686</c:v>
                </c:pt>
                <c:pt idx="18">
                  <c:v>38717</c:v>
                </c:pt>
                <c:pt idx="19">
                  <c:v>38748</c:v>
                </c:pt>
                <c:pt idx="20">
                  <c:v>38776</c:v>
                </c:pt>
                <c:pt idx="21">
                  <c:v>38807</c:v>
                </c:pt>
                <c:pt idx="22">
                  <c:v>38837</c:v>
                </c:pt>
                <c:pt idx="23">
                  <c:v>38868</c:v>
                </c:pt>
                <c:pt idx="24">
                  <c:v>38898</c:v>
                </c:pt>
                <c:pt idx="25">
                  <c:v>38929</c:v>
                </c:pt>
                <c:pt idx="26">
                  <c:v>38960</c:v>
                </c:pt>
                <c:pt idx="27">
                  <c:v>38990</c:v>
                </c:pt>
                <c:pt idx="28">
                  <c:v>39021</c:v>
                </c:pt>
                <c:pt idx="29">
                  <c:v>39051</c:v>
                </c:pt>
                <c:pt idx="30">
                  <c:v>39082</c:v>
                </c:pt>
                <c:pt idx="31">
                  <c:v>39113</c:v>
                </c:pt>
                <c:pt idx="32">
                  <c:v>39141</c:v>
                </c:pt>
                <c:pt idx="33">
                  <c:v>39172</c:v>
                </c:pt>
                <c:pt idx="34">
                  <c:v>39202</c:v>
                </c:pt>
                <c:pt idx="35">
                  <c:v>39233</c:v>
                </c:pt>
                <c:pt idx="36">
                  <c:v>39263</c:v>
                </c:pt>
                <c:pt idx="37">
                  <c:v>39294</c:v>
                </c:pt>
                <c:pt idx="38">
                  <c:v>39325</c:v>
                </c:pt>
                <c:pt idx="39">
                  <c:v>39355</c:v>
                </c:pt>
                <c:pt idx="40">
                  <c:v>39386</c:v>
                </c:pt>
                <c:pt idx="41">
                  <c:v>39416</c:v>
                </c:pt>
                <c:pt idx="42">
                  <c:v>39447</c:v>
                </c:pt>
                <c:pt idx="43">
                  <c:v>39478</c:v>
                </c:pt>
                <c:pt idx="44">
                  <c:v>39507</c:v>
                </c:pt>
                <c:pt idx="45">
                  <c:v>39538</c:v>
                </c:pt>
                <c:pt idx="46">
                  <c:v>39568</c:v>
                </c:pt>
                <c:pt idx="47">
                  <c:v>39599</c:v>
                </c:pt>
                <c:pt idx="48">
                  <c:v>39629</c:v>
                </c:pt>
                <c:pt idx="49">
                  <c:v>39660</c:v>
                </c:pt>
                <c:pt idx="50">
                  <c:v>39691</c:v>
                </c:pt>
                <c:pt idx="51">
                  <c:v>39721</c:v>
                </c:pt>
                <c:pt idx="52">
                  <c:v>39752</c:v>
                </c:pt>
                <c:pt idx="53">
                  <c:v>39782</c:v>
                </c:pt>
                <c:pt idx="54">
                  <c:v>39813</c:v>
                </c:pt>
                <c:pt idx="55">
                  <c:v>39844</c:v>
                </c:pt>
                <c:pt idx="56">
                  <c:v>39872</c:v>
                </c:pt>
                <c:pt idx="57">
                  <c:v>39903</c:v>
                </c:pt>
                <c:pt idx="58">
                  <c:v>39933</c:v>
                </c:pt>
                <c:pt idx="59">
                  <c:v>39964</c:v>
                </c:pt>
                <c:pt idx="60">
                  <c:v>39994</c:v>
                </c:pt>
                <c:pt idx="61">
                  <c:v>40025</c:v>
                </c:pt>
                <c:pt idx="62">
                  <c:v>40056</c:v>
                </c:pt>
                <c:pt idx="63">
                  <c:v>40086</c:v>
                </c:pt>
                <c:pt idx="64">
                  <c:v>40117</c:v>
                </c:pt>
                <c:pt idx="65">
                  <c:v>40147</c:v>
                </c:pt>
                <c:pt idx="66">
                  <c:v>40178</c:v>
                </c:pt>
                <c:pt idx="67">
                  <c:v>40209</c:v>
                </c:pt>
                <c:pt idx="68">
                  <c:v>40237</c:v>
                </c:pt>
                <c:pt idx="69">
                  <c:v>40268</c:v>
                </c:pt>
                <c:pt idx="70">
                  <c:v>40298</c:v>
                </c:pt>
                <c:pt idx="71">
                  <c:v>40329</c:v>
                </c:pt>
                <c:pt idx="72">
                  <c:v>40359</c:v>
                </c:pt>
                <c:pt idx="73">
                  <c:v>40390</c:v>
                </c:pt>
                <c:pt idx="74">
                  <c:v>40421</c:v>
                </c:pt>
                <c:pt idx="75">
                  <c:v>40451</c:v>
                </c:pt>
                <c:pt idx="76">
                  <c:v>40482</c:v>
                </c:pt>
                <c:pt idx="77">
                  <c:v>40512</c:v>
                </c:pt>
                <c:pt idx="78">
                  <c:v>40543</c:v>
                </c:pt>
                <c:pt idx="79">
                  <c:v>40574</c:v>
                </c:pt>
                <c:pt idx="80">
                  <c:v>40602</c:v>
                </c:pt>
                <c:pt idx="81">
                  <c:v>40633</c:v>
                </c:pt>
                <c:pt idx="82">
                  <c:v>40663</c:v>
                </c:pt>
                <c:pt idx="83">
                  <c:v>40694</c:v>
                </c:pt>
                <c:pt idx="84">
                  <c:v>40724</c:v>
                </c:pt>
                <c:pt idx="85">
                  <c:v>40755</c:v>
                </c:pt>
                <c:pt idx="86">
                  <c:v>40786</c:v>
                </c:pt>
                <c:pt idx="87">
                  <c:v>40816</c:v>
                </c:pt>
                <c:pt idx="88">
                  <c:v>40847</c:v>
                </c:pt>
                <c:pt idx="89">
                  <c:v>40877</c:v>
                </c:pt>
                <c:pt idx="90">
                  <c:v>40908</c:v>
                </c:pt>
                <c:pt idx="91">
                  <c:v>40939</c:v>
                </c:pt>
                <c:pt idx="92">
                  <c:v>40968</c:v>
                </c:pt>
                <c:pt idx="93">
                  <c:v>40999</c:v>
                </c:pt>
                <c:pt idx="94">
                  <c:v>41029</c:v>
                </c:pt>
                <c:pt idx="95">
                  <c:v>41060</c:v>
                </c:pt>
                <c:pt idx="96">
                  <c:v>41090</c:v>
                </c:pt>
                <c:pt idx="97">
                  <c:v>41121</c:v>
                </c:pt>
                <c:pt idx="98">
                  <c:v>41152</c:v>
                </c:pt>
                <c:pt idx="99">
                  <c:v>41182</c:v>
                </c:pt>
                <c:pt idx="100">
                  <c:v>41213</c:v>
                </c:pt>
                <c:pt idx="101">
                  <c:v>41243</c:v>
                </c:pt>
                <c:pt idx="102">
                  <c:v>41274</c:v>
                </c:pt>
                <c:pt idx="103">
                  <c:v>41305</c:v>
                </c:pt>
                <c:pt idx="104">
                  <c:v>41333</c:v>
                </c:pt>
                <c:pt idx="105">
                  <c:v>41364</c:v>
                </c:pt>
                <c:pt idx="106">
                  <c:v>41394</c:v>
                </c:pt>
                <c:pt idx="107">
                  <c:v>41425</c:v>
                </c:pt>
                <c:pt idx="108">
                  <c:v>41455</c:v>
                </c:pt>
                <c:pt idx="109">
                  <c:v>41486</c:v>
                </c:pt>
                <c:pt idx="110">
                  <c:v>41517</c:v>
                </c:pt>
                <c:pt idx="111">
                  <c:v>41547</c:v>
                </c:pt>
                <c:pt idx="112">
                  <c:v>41578</c:v>
                </c:pt>
                <c:pt idx="113">
                  <c:v>41608</c:v>
                </c:pt>
                <c:pt idx="114">
                  <c:v>41639</c:v>
                </c:pt>
                <c:pt idx="115">
                  <c:v>41670</c:v>
                </c:pt>
                <c:pt idx="116">
                  <c:v>41698</c:v>
                </c:pt>
                <c:pt idx="117">
                  <c:v>41729</c:v>
                </c:pt>
                <c:pt idx="118">
                  <c:v>41759</c:v>
                </c:pt>
                <c:pt idx="119">
                  <c:v>41790</c:v>
                </c:pt>
                <c:pt idx="120">
                  <c:v>41820</c:v>
                </c:pt>
                <c:pt idx="121">
                  <c:v>41851</c:v>
                </c:pt>
                <c:pt idx="122">
                  <c:v>41882</c:v>
                </c:pt>
                <c:pt idx="123">
                  <c:v>41912</c:v>
                </c:pt>
                <c:pt idx="124">
                  <c:v>41943</c:v>
                </c:pt>
                <c:pt idx="125">
                  <c:v>41973</c:v>
                </c:pt>
                <c:pt idx="126">
                  <c:v>42004</c:v>
                </c:pt>
                <c:pt idx="127">
                  <c:v>42035</c:v>
                </c:pt>
                <c:pt idx="128">
                  <c:v>42063</c:v>
                </c:pt>
                <c:pt idx="129">
                  <c:v>42094</c:v>
                </c:pt>
                <c:pt idx="130">
                  <c:v>42124</c:v>
                </c:pt>
                <c:pt idx="131">
                  <c:v>42155</c:v>
                </c:pt>
                <c:pt idx="132">
                  <c:v>42185</c:v>
                </c:pt>
                <c:pt idx="133">
                  <c:v>42216</c:v>
                </c:pt>
                <c:pt idx="134">
                  <c:v>42247</c:v>
                </c:pt>
                <c:pt idx="135">
                  <c:v>42277</c:v>
                </c:pt>
                <c:pt idx="136">
                  <c:v>42308</c:v>
                </c:pt>
                <c:pt idx="137">
                  <c:v>42338</c:v>
                </c:pt>
                <c:pt idx="138">
                  <c:v>42369</c:v>
                </c:pt>
                <c:pt idx="139">
                  <c:v>42400</c:v>
                </c:pt>
                <c:pt idx="140">
                  <c:v>42429</c:v>
                </c:pt>
                <c:pt idx="141">
                  <c:v>42460</c:v>
                </c:pt>
                <c:pt idx="142">
                  <c:v>42490</c:v>
                </c:pt>
                <c:pt idx="143">
                  <c:v>42521</c:v>
                </c:pt>
                <c:pt idx="144">
                  <c:v>42551</c:v>
                </c:pt>
                <c:pt idx="145">
                  <c:v>42582</c:v>
                </c:pt>
                <c:pt idx="146">
                  <c:v>42613</c:v>
                </c:pt>
                <c:pt idx="147">
                  <c:v>42643</c:v>
                </c:pt>
                <c:pt idx="148">
                  <c:v>42674</c:v>
                </c:pt>
                <c:pt idx="149">
                  <c:v>42704</c:v>
                </c:pt>
                <c:pt idx="150">
                  <c:v>42735</c:v>
                </c:pt>
                <c:pt idx="151">
                  <c:v>42766</c:v>
                </c:pt>
                <c:pt idx="152">
                  <c:v>42794</c:v>
                </c:pt>
                <c:pt idx="153">
                  <c:v>42825</c:v>
                </c:pt>
                <c:pt idx="154">
                  <c:v>42855</c:v>
                </c:pt>
                <c:pt idx="155">
                  <c:v>42886</c:v>
                </c:pt>
                <c:pt idx="156">
                  <c:v>42916</c:v>
                </c:pt>
                <c:pt idx="157">
                  <c:v>42947</c:v>
                </c:pt>
                <c:pt idx="158">
                  <c:v>42978</c:v>
                </c:pt>
                <c:pt idx="159">
                  <c:v>43008</c:v>
                </c:pt>
                <c:pt idx="160">
                  <c:v>43039</c:v>
                </c:pt>
                <c:pt idx="161">
                  <c:v>43069</c:v>
                </c:pt>
                <c:pt idx="162">
                  <c:v>43100</c:v>
                </c:pt>
                <c:pt idx="163">
                  <c:v>43131</c:v>
                </c:pt>
                <c:pt idx="164">
                  <c:v>43159</c:v>
                </c:pt>
                <c:pt idx="165">
                  <c:v>43190</c:v>
                </c:pt>
                <c:pt idx="166">
                  <c:v>43220</c:v>
                </c:pt>
                <c:pt idx="167">
                  <c:v>43251</c:v>
                </c:pt>
                <c:pt idx="168">
                  <c:v>43281</c:v>
                </c:pt>
                <c:pt idx="169">
                  <c:v>43312</c:v>
                </c:pt>
                <c:pt idx="170">
                  <c:v>43343</c:v>
                </c:pt>
                <c:pt idx="171">
                  <c:v>43373</c:v>
                </c:pt>
                <c:pt idx="172">
                  <c:v>43404</c:v>
                </c:pt>
                <c:pt idx="173">
                  <c:v>43434</c:v>
                </c:pt>
                <c:pt idx="174">
                  <c:v>43465</c:v>
                </c:pt>
                <c:pt idx="175">
                  <c:v>43496</c:v>
                </c:pt>
                <c:pt idx="176">
                  <c:v>43524</c:v>
                </c:pt>
                <c:pt idx="177">
                  <c:v>43555</c:v>
                </c:pt>
                <c:pt idx="178">
                  <c:v>43585</c:v>
                </c:pt>
                <c:pt idx="179">
                  <c:v>43616</c:v>
                </c:pt>
                <c:pt idx="180">
                  <c:v>43646</c:v>
                </c:pt>
                <c:pt idx="181">
                  <c:v>43677</c:v>
                </c:pt>
                <c:pt idx="182">
                  <c:v>43708</c:v>
                </c:pt>
                <c:pt idx="183">
                  <c:v>43738</c:v>
                </c:pt>
                <c:pt idx="184">
                  <c:v>43769</c:v>
                </c:pt>
                <c:pt idx="185">
                  <c:v>43799</c:v>
                </c:pt>
                <c:pt idx="186">
                  <c:v>43830</c:v>
                </c:pt>
                <c:pt idx="187">
                  <c:v>43861</c:v>
                </c:pt>
                <c:pt idx="188">
                  <c:v>43890</c:v>
                </c:pt>
                <c:pt idx="189">
                  <c:v>43921</c:v>
                </c:pt>
                <c:pt idx="190">
                  <c:v>43951</c:v>
                </c:pt>
                <c:pt idx="191">
                  <c:v>43982</c:v>
                </c:pt>
                <c:pt idx="192">
                  <c:v>44012</c:v>
                </c:pt>
                <c:pt idx="193">
                  <c:v>44043</c:v>
                </c:pt>
                <c:pt idx="194">
                  <c:v>44074</c:v>
                </c:pt>
                <c:pt idx="195">
                  <c:v>44104</c:v>
                </c:pt>
                <c:pt idx="196">
                  <c:v>44135</c:v>
                </c:pt>
                <c:pt idx="197">
                  <c:v>44165</c:v>
                </c:pt>
                <c:pt idx="198">
                  <c:v>44196</c:v>
                </c:pt>
                <c:pt idx="199">
                  <c:v>44227</c:v>
                </c:pt>
                <c:pt idx="200">
                  <c:v>44255</c:v>
                </c:pt>
                <c:pt idx="201">
                  <c:v>44286</c:v>
                </c:pt>
                <c:pt idx="202">
                  <c:v>44316</c:v>
                </c:pt>
                <c:pt idx="203">
                  <c:v>44347</c:v>
                </c:pt>
                <c:pt idx="204">
                  <c:v>44377</c:v>
                </c:pt>
                <c:pt idx="205">
                  <c:v>44408</c:v>
                </c:pt>
                <c:pt idx="206">
                  <c:v>44439</c:v>
                </c:pt>
                <c:pt idx="207">
                  <c:v>44469</c:v>
                </c:pt>
                <c:pt idx="208">
                  <c:v>44500</c:v>
                </c:pt>
                <c:pt idx="209">
                  <c:v>44530</c:v>
                </c:pt>
                <c:pt idx="210">
                  <c:v>44561</c:v>
                </c:pt>
                <c:pt idx="211">
                  <c:v>44592</c:v>
                </c:pt>
                <c:pt idx="212">
                  <c:v>44620</c:v>
                </c:pt>
                <c:pt idx="213">
                  <c:v>44651</c:v>
                </c:pt>
                <c:pt idx="214">
                  <c:v>44681</c:v>
                </c:pt>
                <c:pt idx="215">
                  <c:v>44712</c:v>
                </c:pt>
                <c:pt idx="216">
                  <c:v>44742</c:v>
                </c:pt>
                <c:pt idx="217">
                  <c:v>44773</c:v>
                </c:pt>
                <c:pt idx="218">
                  <c:v>44804</c:v>
                </c:pt>
                <c:pt idx="219">
                  <c:v>44834</c:v>
                </c:pt>
                <c:pt idx="220">
                  <c:v>44865</c:v>
                </c:pt>
                <c:pt idx="221">
                  <c:v>44895</c:v>
                </c:pt>
                <c:pt idx="222">
                  <c:v>44926</c:v>
                </c:pt>
                <c:pt idx="223">
                  <c:v>44957</c:v>
                </c:pt>
                <c:pt idx="224">
                  <c:v>44985</c:v>
                </c:pt>
                <c:pt idx="225">
                  <c:v>45016</c:v>
                </c:pt>
                <c:pt idx="226">
                  <c:v>45046</c:v>
                </c:pt>
                <c:pt idx="227">
                  <c:v>45077</c:v>
                </c:pt>
                <c:pt idx="228">
                  <c:v>45107</c:v>
                </c:pt>
                <c:pt idx="229">
                  <c:v>45138</c:v>
                </c:pt>
                <c:pt idx="230">
                  <c:v>45169</c:v>
                </c:pt>
                <c:pt idx="231">
                  <c:v>45199</c:v>
                </c:pt>
                <c:pt idx="232">
                  <c:v>45230</c:v>
                </c:pt>
                <c:pt idx="233">
                  <c:v>45260</c:v>
                </c:pt>
                <c:pt idx="234">
                  <c:v>45291</c:v>
                </c:pt>
                <c:pt idx="235">
                  <c:v>45322</c:v>
                </c:pt>
                <c:pt idx="236">
                  <c:v>45351</c:v>
                </c:pt>
                <c:pt idx="237">
                  <c:v>45382</c:v>
                </c:pt>
                <c:pt idx="238">
                  <c:v>45412</c:v>
                </c:pt>
                <c:pt idx="239">
                  <c:v>45443</c:v>
                </c:pt>
                <c:pt idx="240">
                  <c:v>45473</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numCache>
              <c:extLst xmlns:c15="http://schemas.microsoft.com/office/drawing/2012/chart"/>
            </c:numRef>
          </c:cat>
          <c:val>
            <c:numRef>
              <c:f>'Page 5 Data'!$BM$6:$BM$1007</c:f>
              <c:numCache>
                <c:formatCode>General</c:formatCode>
                <c:ptCount val="1002"/>
                <c:pt idx="0">
                  <c:v>3</c:v>
                </c:pt>
                <c:pt idx="1">
                  <c:v>3</c:v>
                </c:pt>
                <c:pt idx="2">
                  <c:v>3</c:v>
                </c:pt>
                <c:pt idx="3">
                  <c:v>3</c:v>
                </c:pt>
                <c:pt idx="4">
                  <c:v>3</c:v>
                </c:pt>
                <c:pt idx="5">
                  <c:v>3</c:v>
                </c:pt>
                <c:pt idx="6">
                  <c:v>3</c:v>
                </c:pt>
                <c:pt idx="7">
                  <c:v>3</c:v>
                </c:pt>
                <c:pt idx="8">
                  <c:v>3</c:v>
                </c:pt>
                <c:pt idx="9">
                  <c:v>3</c:v>
                </c:pt>
                <c:pt idx="10">
                  <c:v>3</c:v>
                </c:pt>
                <c:pt idx="11">
                  <c:v>3</c:v>
                </c:pt>
                <c:pt idx="12">
                  <c:v>3</c:v>
                </c:pt>
                <c:pt idx="13">
                  <c:v>3</c:v>
                </c:pt>
                <c:pt idx="14">
                  <c:v>3</c:v>
                </c:pt>
                <c:pt idx="15">
                  <c:v>3</c:v>
                </c:pt>
                <c:pt idx="16">
                  <c:v>3</c:v>
                </c:pt>
                <c:pt idx="17">
                  <c:v>3</c:v>
                </c:pt>
                <c:pt idx="18">
                  <c:v>3</c:v>
                </c:pt>
                <c:pt idx="19">
                  <c:v>3</c:v>
                </c:pt>
                <c:pt idx="20">
                  <c:v>3</c:v>
                </c:pt>
                <c:pt idx="21">
                  <c:v>3</c:v>
                </c:pt>
                <c:pt idx="22">
                  <c:v>3</c:v>
                </c:pt>
                <c:pt idx="23">
                  <c:v>3</c:v>
                </c:pt>
                <c:pt idx="24">
                  <c:v>3</c:v>
                </c:pt>
                <c:pt idx="25">
                  <c:v>3</c:v>
                </c:pt>
                <c:pt idx="26">
                  <c:v>3</c:v>
                </c:pt>
                <c:pt idx="27">
                  <c:v>3</c:v>
                </c:pt>
                <c:pt idx="28">
                  <c:v>3</c:v>
                </c:pt>
                <c:pt idx="29">
                  <c:v>3</c:v>
                </c:pt>
                <c:pt idx="30">
                  <c:v>3</c:v>
                </c:pt>
                <c:pt idx="31">
                  <c:v>3</c:v>
                </c:pt>
                <c:pt idx="32">
                  <c:v>3</c:v>
                </c:pt>
                <c:pt idx="33">
                  <c:v>3</c:v>
                </c:pt>
                <c:pt idx="34">
                  <c:v>3</c:v>
                </c:pt>
                <c:pt idx="35">
                  <c:v>3</c:v>
                </c:pt>
                <c:pt idx="36">
                  <c:v>3</c:v>
                </c:pt>
                <c:pt idx="37">
                  <c:v>3</c:v>
                </c:pt>
                <c:pt idx="38">
                  <c:v>3</c:v>
                </c:pt>
                <c:pt idx="39">
                  <c:v>3</c:v>
                </c:pt>
                <c:pt idx="40">
                  <c:v>3</c:v>
                </c:pt>
                <c:pt idx="41">
                  <c:v>3</c:v>
                </c:pt>
                <c:pt idx="42">
                  <c:v>8</c:v>
                </c:pt>
                <c:pt idx="43">
                  <c:v>8</c:v>
                </c:pt>
                <c:pt idx="44">
                  <c:v>8</c:v>
                </c:pt>
                <c:pt idx="45">
                  <c:v>8</c:v>
                </c:pt>
                <c:pt idx="46">
                  <c:v>8</c:v>
                </c:pt>
                <c:pt idx="47">
                  <c:v>8</c:v>
                </c:pt>
                <c:pt idx="48">
                  <c:v>8</c:v>
                </c:pt>
                <c:pt idx="49">
                  <c:v>8</c:v>
                </c:pt>
                <c:pt idx="50">
                  <c:v>8</c:v>
                </c:pt>
                <c:pt idx="51">
                  <c:v>8</c:v>
                </c:pt>
                <c:pt idx="52">
                  <c:v>8</c:v>
                </c:pt>
                <c:pt idx="53">
                  <c:v>8</c:v>
                </c:pt>
                <c:pt idx="54">
                  <c:v>8</c:v>
                </c:pt>
                <c:pt idx="55">
                  <c:v>8</c:v>
                </c:pt>
                <c:pt idx="56">
                  <c:v>8</c:v>
                </c:pt>
                <c:pt idx="57">
                  <c:v>8</c:v>
                </c:pt>
                <c:pt idx="58">
                  <c:v>8</c:v>
                </c:pt>
                <c:pt idx="59">
                  <c:v>8</c:v>
                </c:pt>
                <c:pt idx="60">
                  <c:v>8</c:v>
                </c:pt>
                <c:pt idx="61">
                  <c:v>3</c:v>
                </c:pt>
                <c:pt idx="62">
                  <c:v>3</c:v>
                </c:pt>
                <c:pt idx="63">
                  <c:v>3</c:v>
                </c:pt>
                <c:pt idx="64">
                  <c:v>3</c:v>
                </c:pt>
                <c:pt idx="65">
                  <c:v>3</c:v>
                </c:pt>
                <c:pt idx="66">
                  <c:v>3</c:v>
                </c:pt>
                <c:pt idx="67">
                  <c:v>3</c:v>
                </c:pt>
                <c:pt idx="68">
                  <c:v>3</c:v>
                </c:pt>
                <c:pt idx="69">
                  <c:v>3</c:v>
                </c:pt>
                <c:pt idx="70">
                  <c:v>3</c:v>
                </c:pt>
                <c:pt idx="71">
                  <c:v>3</c:v>
                </c:pt>
                <c:pt idx="72">
                  <c:v>3</c:v>
                </c:pt>
                <c:pt idx="73">
                  <c:v>3</c:v>
                </c:pt>
                <c:pt idx="74">
                  <c:v>3</c:v>
                </c:pt>
                <c:pt idx="75">
                  <c:v>3</c:v>
                </c:pt>
                <c:pt idx="76">
                  <c:v>3</c:v>
                </c:pt>
                <c:pt idx="77">
                  <c:v>3</c:v>
                </c:pt>
                <c:pt idx="78">
                  <c:v>3</c:v>
                </c:pt>
                <c:pt idx="79">
                  <c:v>3</c:v>
                </c:pt>
                <c:pt idx="80">
                  <c:v>3</c:v>
                </c:pt>
                <c:pt idx="81">
                  <c:v>3</c:v>
                </c:pt>
                <c:pt idx="82">
                  <c:v>3</c:v>
                </c:pt>
                <c:pt idx="83">
                  <c:v>3</c:v>
                </c:pt>
                <c:pt idx="84">
                  <c:v>3</c:v>
                </c:pt>
                <c:pt idx="85">
                  <c:v>3</c:v>
                </c:pt>
                <c:pt idx="86">
                  <c:v>3</c:v>
                </c:pt>
                <c:pt idx="87">
                  <c:v>3</c:v>
                </c:pt>
                <c:pt idx="88">
                  <c:v>3</c:v>
                </c:pt>
                <c:pt idx="89">
                  <c:v>3</c:v>
                </c:pt>
                <c:pt idx="90">
                  <c:v>3</c:v>
                </c:pt>
                <c:pt idx="91">
                  <c:v>3</c:v>
                </c:pt>
                <c:pt idx="92">
                  <c:v>3</c:v>
                </c:pt>
                <c:pt idx="93">
                  <c:v>3</c:v>
                </c:pt>
                <c:pt idx="94">
                  <c:v>3</c:v>
                </c:pt>
                <c:pt idx="95">
                  <c:v>3</c:v>
                </c:pt>
                <c:pt idx="96">
                  <c:v>3</c:v>
                </c:pt>
                <c:pt idx="97">
                  <c:v>3</c:v>
                </c:pt>
                <c:pt idx="98">
                  <c:v>3</c:v>
                </c:pt>
                <c:pt idx="99">
                  <c:v>3</c:v>
                </c:pt>
                <c:pt idx="100">
                  <c:v>3</c:v>
                </c:pt>
                <c:pt idx="101">
                  <c:v>3</c:v>
                </c:pt>
                <c:pt idx="102">
                  <c:v>3</c:v>
                </c:pt>
                <c:pt idx="103">
                  <c:v>3</c:v>
                </c:pt>
                <c:pt idx="104">
                  <c:v>3</c:v>
                </c:pt>
                <c:pt idx="105">
                  <c:v>3</c:v>
                </c:pt>
                <c:pt idx="106">
                  <c:v>3</c:v>
                </c:pt>
                <c:pt idx="107">
                  <c:v>3</c:v>
                </c:pt>
                <c:pt idx="108">
                  <c:v>3</c:v>
                </c:pt>
                <c:pt idx="109">
                  <c:v>3</c:v>
                </c:pt>
                <c:pt idx="110">
                  <c:v>3</c:v>
                </c:pt>
                <c:pt idx="111">
                  <c:v>3</c:v>
                </c:pt>
                <c:pt idx="112">
                  <c:v>3</c:v>
                </c:pt>
                <c:pt idx="113">
                  <c:v>3</c:v>
                </c:pt>
                <c:pt idx="114">
                  <c:v>3</c:v>
                </c:pt>
                <c:pt idx="115">
                  <c:v>3</c:v>
                </c:pt>
                <c:pt idx="116">
                  <c:v>3</c:v>
                </c:pt>
                <c:pt idx="117">
                  <c:v>3</c:v>
                </c:pt>
                <c:pt idx="118">
                  <c:v>3</c:v>
                </c:pt>
                <c:pt idx="119">
                  <c:v>3</c:v>
                </c:pt>
                <c:pt idx="120">
                  <c:v>3</c:v>
                </c:pt>
                <c:pt idx="121">
                  <c:v>3</c:v>
                </c:pt>
                <c:pt idx="122">
                  <c:v>3</c:v>
                </c:pt>
                <c:pt idx="123">
                  <c:v>3</c:v>
                </c:pt>
                <c:pt idx="124">
                  <c:v>3</c:v>
                </c:pt>
                <c:pt idx="125">
                  <c:v>3</c:v>
                </c:pt>
                <c:pt idx="126">
                  <c:v>3</c:v>
                </c:pt>
                <c:pt idx="127">
                  <c:v>3</c:v>
                </c:pt>
                <c:pt idx="128">
                  <c:v>3</c:v>
                </c:pt>
                <c:pt idx="129">
                  <c:v>3</c:v>
                </c:pt>
                <c:pt idx="130">
                  <c:v>3</c:v>
                </c:pt>
                <c:pt idx="131">
                  <c:v>3</c:v>
                </c:pt>
                <c:pt idx="132">
                  <c:v>3</c:v>
                </c:pt>
                <c:pt idx="133">
                  <c:v>3</c:v>
                </c:pt>
                <c:pt idx="134">
                  <c:v>3</c:v>
                </c:pt>
                <c:pt idx="135">
                  <c:v>3</c:v>
                </c:pt>
                <c:pt idx="136">
                  <c:v>3</c:v>
                </c:pt>
                <c:pt idx="137">
                  <c:v>3</c:v>
                </c:pt>
                <c:pt idx="138">
                  <c:v>3</c:v>
                </c:pt>
                <c:pt idx="139">
                  <c:v>3</c:v>
                </c:pt>
                <c:pt idx="140">
                  <c:v>3</c:v>
                </c:pt>
                <c:pt idx="141">
                  <c:v>3</c:v>
                </c:pt>
                <c:pt idx="142">
                  <c:v>3</c:v>
                </c:pt>
                <c:pt idx="143">
                  <c:v>3</c:v>
                </c:pt>
                <c:pt idx="144">
                  <c:v>3</c:v>
                </c:pt>
                <c:pt idx="145">
                  <c:v>3</c:v>
                </c:pt>
                <c:pt idx="146">
                  <c:v>3</c:v>
                </c:pt>
                <c:pt idx="147">
                  <c:v>3</c:v>
                </c:pt>
                <c:pt idx="148">
                  <c:v>3</c:v>
                </c:pt>
                <c:pt idx="149">
                  <c:v>3</c:v>
                </c:pt>
                <c:pt idx="150">
                  <c:v>3</c:v>
                </c:pt>
                <c:pt idx="151">
                  <c:v>3</c:v>
                </c:pt>
                <c:pt idx="152">
                  <c:v>3</c:v>
                </c:pt>
                <c:pt idx="153">
                  <c:v>3</c:v>
                </c:pt>
                <c:pt idx="154">
                  <c:v>3</c:v>
                </c:pt>
                <c:pt idx="155">
                  <c:v>3</c:v>
                </c:pt>
                <c:pt idx="156">
                  <c:v>3</c:v>
                </c:pt>
                <c:pt idx="157">
                  <c:v>3</c:v>
                </c:pt>
                <c:pt idx="158">
                  <c:v>3</c:v>
                </c:pt>
                <c:pt idx="159">
                  <c:v>3</c:v>
                </c:pt>
                <c:pt idx="160">
                  <c:v>3</c:v>
                </c:pt>
                <c:pt idx="161">
                  <c:v>3</c:v>
                </c:pt>
                <c:pt idx="162">
                  <c:v>3</c:v>
                </c:pt>
                <c:pt idx="163">
                  <c:v>3</c:v>
                </c:pt>
                <c:pt idx="164">
                  <c:v>3</c:v>
                </c:pt>
                <c:pt idx="165">
                  <c:v>3</c:v>
                </c:pt>
                <c:pt idx="166">
                  <c:v>3</c:v>
                </c:pt>
                <c:pt idx="167">
                  <c:v>3</c:v>
                </c:pt>
                <c:pt idx="168">
                  <c:v>3</c:v>
                </c:pt>
                <c:pt idx="169">
                  <c:v>3</c:v>
                </c:pt>
                <c:pt idx="170">
                  <c:v>3</c:v>
                </c:pt>
                <c:pt idx="171">
                  <c:v>3</c:v>
                </c:pt>
                <c:pt idx="172">
                  <c:v>3</c:v>
                </c:pt>
                <c:pt idx="173">
                  <c:v>3</c:v>
                </c:pt>
                <c:pt idx="174">
                  <c:v>3</c:v>
                </c:pt>
                <c:pt idx="175">
                  <c:v>3</c:v>
                </c:pt>
                <c:pt idx="176">
                  <c:v>3</c:v>
                </c:pt>
                <c:pt idx="177">
                  <c:v>3</c:v>
                </c:pt>
                <c:pt idx="178">
                  <c:v>3</c:v>
                </c:pt>
                <c:pt idx="179">
                  <c:v>3</c:v>
                </c:pt>
                <c:pt idx="180">
                  <c:v>3</c:v>
                </c:pt>
                <c:pt idx="181">
                  <c:v>3</c:v>
                </c:pt>
                <c:pt idx="182">
                  <c:v>3</c:v>
                </c:pt>
                <c:pt idx="183">
                  <c:v>3</c:v>
                </c:pt>
                <c:pt idx="184">
                  <c:v>3</c:v>
                </c:pt>
                <c:pt idx="185">
                  <c:v>3</c:v>
                </c:pt>
                <c:pt idx="186">
                  <c:v>3</c:v>
                </c:pt>
                <c:pt idx="187">
                  <c:v>3</c:v>
                </c:pt>
                <c:pt idx="188">
                  <c:v>8</c:v>
                </c:pt>
                <c:pt idx="189">
                  <c:v>8</c:v>
                </c:pt>
                <c:pt idx="190">
                  <c:v>8</c:v>
                </c:pt>
                <c:pt idx="191">
                  <c:v>3</c:v>
                </c:pt>
                <c:pt idx="192">
                  <c:v>3</c:v>
                </c:pt>
                <c:pt idx="193">
                  <c:v>3</c:v>
                </c:pt>
                <c:pt idx="194">
                  <c:v>3</c:v>
                </c:pt>
                <c:pt idx="195">
                  <c:v>3</c:v>
                </c:pt>
                <c:pt idx="196">
                  <c:v>3</c:v>
                </c:pt>
                <c:pt idx="197">
                  <c:v>3</c:v>
                </c:pt>
                <c:pt idx="198">
                  <c:v>3</c:v>
                </c:pt>
                <c:pt idx="199">
                  <c:v>3</c:v>
                </c:pt>
                <c:pt idx="200">
                  <c:v>3</c:v>
                </c:pt>
                <c:pt idx="201">
                  <c:v>3</c:v>
                </c:pt>
                <c:pt idx="202">
                  <c:v>3</c:v>
                </c:pt>
                <c:pt idx="203">
                  <c:v>3</c:v>
                </c:pt>
                <c:pt idx="204">
                  <c:v>3</c:v>
                </c:pt>
                <c:pt idx="205">
                  <c:v>3</c:v>
                </c:pt>
                <c:pt idx="206">
                  <c:v>3</c:v>
                </c:pt>
                <c:pt idx="207">
                  <c:v>3</c:v>
                </c:pt>
                <c:pt idx="208">
                  <c:v>3</c:v>
                </c:pt>
                <c:pt idx="209">
                  <c:v>3</c:v>
                </c:pt>
                <c:pt idx="210">
                  <c:v>3</c:v>
                </c:pt>
                <c:pt idx="211">
                  <c:v>3</c:v>
                </c:pt>
                <c:pt idx="212">
                  <c:v>3</c:v>
                </c:pt>
                <c:pt idx="213">
                  <c:v>3</c:v>
                </c:pt>
                <c:pt idx="214">
                  <c:v>3</c:v>
                </c:pt>
                <c:pt idx="215">
                  <c:v>3</c:v>
                </c:pt>
                <c:pt idx="216">
                  <c:v>3</c:v>
                </c:pt>
                <c:pt idx="217">
                  <c:v>3</c:v>
                </c:pt>
                <c:pt idx="218">
                  <c:v>3</c:v>
                </c:pt>
                <c:pt idx="219">
                  <c:v>3</c:v>
                </c:pt>
                <c:pt idx="220">
                  <c:v>3</c:v>
                </c:pt>
                <c:pt idx="221">
                  <c:v>3</c:v>
                </c:pt>
                <c:pt idx="222">
                  <c:v>3</c:v>
                </c:pt>
                <c:pt idx="223">
                  <c:v>3</c:v>
                </c:pt>
                <c:pt idx="224">
                  <c:v>3</c:v>
                </c:pt>
                <c:pt idx="225">
                  <c:v>3</c:v>
                </c:pt>
                <c:pt idx="226">
                  <c:v>3</c:v>
                </c:pt>
                <c:pt idx="227">
                  <c:v>3</c:v>
                </c:pt>
                <c:pt idx="228">
                  <c:v>3</c:v>
                </c:pt>
                <c:pt idx="229">
                  <c:v>3</c:v>
                </c:pt>
                <c:pt idx="230">
                  <c:v>3</c:v>
                </c:pt>
                <c:pt idx="231">
                  <c:v>3</c:v>
                </c:pt>
                <c:pt idx="232">
                  <c:v>3</c:v>
                </c:pt>
                <c:pt idx="233">
                  <c:v>3</c:v>
                </c:pt>
                <c:pt idx="234">
                  <c:v>3</c:v>
                </c:pt>
                <c:pt idx="235">
                  <c:v>3</c:v>
                </c:pt>
                <c:pt idx="236">
                  <c:v>3</c:v>
                </c:pt>
                <c:pt idx="237">
                  <c:v>3</c:v>
                </c:pt>
                <c:pt idx="238">
                  <c:v>3</c:v>
                </c:pt>
                <c:pt idx="239">
                  <c:v>3</c:v>
                </c:pt>
                <c:pt idx="240">
                  <c:v>3</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numCache>
              <c:extLst xmlns:c15="http://schemas.microsoft.com/office/drawing/2012/chart"/>
            </c:numRef>
          </c:val>
          <c:extLst xmlns:c15="http://schemas.microsoft.com/office/drawing/2012/chart">
            <c:ext xmlns:c16="http://schemas.microsoft.com/office/drawing/2014/chart" uri="{C3380CC4-5D6E-409C-BE32-E72D297353CC}">
              <c16:uniqueId val="{00000000-5427-43A2-B2E4-1107F1067538}"/>
            </c:ext>
          </c:extLst>
        </c:ser>
        <c:dLbls>
          <c:showLegendKey val="0"/>
          <c:showVal val="0"/>
          <c:showCatName val="0"/>
          <c:showSerName val="0"/>
          <c:showPercent val="0"/>
          <c:showBubbleSize val="0"/>
        </c:dLbls>
        <c:gapWidth val="150"/>
        <c:overlap val="100"/>
        <c:axId val="861062496"/>
        <c:axId val="861058144"/>
        <c:extLst/>
      </c:barChart>
      <c:lineChart>
        <c:grouping val="standard"/>
        <c:varyColors val="0"/>
        <c:ser>
          <c:idx val="1"/>
          <c:order val="1"/>
          <c:tx>
            <c:strRef>
              <c:f>'Page 5 Data'!$AF$4</c:f>
              <c:strCache>
                <c:ptCount val="1"/>
                <c:pt idx="0">
                  <c:v>Existing Home Sales</c:v>
                </c:pt>
              </c:strCache>
            </c:strRef>
          </c:tx>
          <c:spPr>
            <a:ln w="34925">
              <a:solidFill>
                <a:schemeClr val="bg1"/>
              </a:solidFill>
            </a:ln>
          </c:spPr>
          <c:marker>
            <c:symbol val="none"/>
          </c:marker>
          <c:cat>
            <c:strRef>
              <c:f>'Page 5 Data'!$AE$6:$AE$1007</c:f>
              <c:strCache>
                <c:ptCount val="241"/>
                <c:pt idx="0">
                  <c:v>6/30/2004</c:v>
                </c:pt>
                <c:pt idx="1">
                  <c:v>7/31/2004</c:v>
                </c:pt>
                <c:pt idx="2">
                  <c:v>8/31/2004</c:v>
                </c:pt>
                <c:pt idx="3">
                  <c:v>9/30/2004</c:v>
                </c:pt>
                <c:pt idx="4">
                  <c:v>10/31/2004</c:v>
                </c:pt>
                <c:pt idx="5">
                  <c:v>11/30/2004</c:v>
                </c:pt>
                <c:pt idx="6">
                  <c:v>12/31/2004</c:v>
                </c:pt>
                <c:pt idx="7">
                  <c:v>1/31/2005</c:v>
                </c:pt>
                <c:pt idx="8">
                  <c:v>2/28/2005</c:v>
                </c:pt>
                <c:pt idx="9">
                  <c:v>3/31/2005</c:v>
                </c:pt>
                <c:pt idx="10">
                  <c:v>4/30/2005</c:v>
                </c:pt>
                <c:pt idx="11">
                  <c:v>5/31/2005</c:v>
                </c:pt>
                <c:pt idx="12">
                  <c:v>6/30/2005</c:v>
                </c:pt>
                <c:pt idx="13">
                  <c:v>7/31/2005</c:v>
                </c:pt>
                <c:pt idx="14">
                  <c:v>8/31/2005</c:v>
                </c:pt>
                <c:pt idx="15">
                  <c:v>9/30/2005</c:v>
                </c:pt>
                <c:pt idx="16">
                  <c:v>10/31/2005</c:v>
                </c:pt>
                <c:pt idx="17">
                  <c:v>11/30/2005</c:v>
                </c:pt>
                <c:pt idx="18">
                  <c:v>12/31/2005</c:v>
                </c:pt>
                <c:pt idx="19">
                  <c:v>1/31/2006</c:v>
                </c:pt>
                <c:pt idx="20">
                  <c:v>2/28/2006</c:v>
                </c:pt>
                <c:pt idx="21">
                  <c:v>3/31/2006</c:v>
                </c:pt>
                <c:pt idx="22">
                  <c:v>4/30/2006</c:v>
                </c:pt>
                <c:pt idx="23">
                  <c:v>5/31/2006</c:v>
                </c:pt>
                <c:pt idx="24">
                  <c:v>6/30/2006</c:v>
                </c:pt>
                <c:pt idx="25">
                  <c:v>7/31/2006</c:v>
                </c:pt>
                <c:pt idx="26">
                  <c:v>8/31/2006</c:v>
                </c:pt>
                <c:pt idx="27">
                  <c:v>9/30/2006</c:v>
                </c:pt>
                <c:pt idx="28">
                  <c:v>10/31/2006</c:v>
                </c:pt>
                <c:pt idx="29">
                  <c:v>11/30/2006</c:v>
                </c:pt>
                <c:pt idx="30">
                  <c:v>12/31/2006</c:v>
                </c:pt>
                <c:pt idx="31">
                  <c:v>1/31/2007</c:v>
                </c:pt>
                <c:pt idx="32">
                  <c:v>2/28/2007</c:v>
                </c:pt>
                <c:pt idx="33">
                  <c:v>3/31/2007</c:v>
                </c:pt>
                <c:pt idx="34">
                  <c:v>4/30/2007</c:v>
                </c:pt>
                <c:pt idx="35">
                  <c:v>5/31/2007</c:v>
                </c:pt>
                <c:pt idx="36">
                  <c:v>6/30/2007</c:v>
                </c:pt>
                <c:pt idx="37">
                  <c:v>7/31/2007</c:v>
                </c:pt>
                <c:pt idx="38">
                  <c:v>8/31/2007</c:v>
                </c:pt>
                <c:pt idx="39">
                  <c:v>9/30/2007</c:v>
                </c:pt>
                <c:pt idx="40">
                  <c:v>10/31/2007</c:v>
                </c:pt>
                <c:pt idx="41">
                  <c:v>11/30/2007</c:v>
                </c:pt>
                <c:pt idx="42">
                  <c:v>12/31/2007</c:v>
                </c:pt>
                <c:pt idx="43">
                  <c:v>1/31/2008</c:v>
                </c:pt>
                <c:pt idx="44">
                  <c:v>2/29/2008</c:v>
                </c:pt>
                <c:pt idx="45">
                  <c:v>3/31/2008</c:v>
                </c:pt>
                <c:pt idx="46">
                  <c:v>4/30/2008</c:v>
                </c:pt>
                <c:pt idx="47">
                  <c:v>5/31/2008</c:v>
                </c:pt>
                <c:pt idx="48">
                  <c:v>6/30/2008</c:v>
                </c:pt>
                <c:pt idx="49">
                  <c:v>7/31/2008</c:v>
                </c:pt>
                <c:pt idx="50">
                  <c:v>8/31/2008</c:v>
                </c:pt>
                <c:pt idx="51">
                  <c:v>9/30/2008</c:v>
                </c:pt>
                <c:pt idx="52">
                  <c:v>10/31/2008</c:v>
                </c:pt>
                <c:pt idx="53">
                  <c:v>11/30/2008</c:v>
                </c:pt>
                <c:pt idx="54">
                  <c:v>12/31/2008</c:v>
                </c:pt>
                <c:pt idx="55">
                  <c:v>1/31/2009</c:v>
                </c:pt>
                <c:pt idx="56">
                  <c:v>2/28/2009</c:v>
                </c:pt>
                <c:pt idx="57">
                  <c:v>3/31/2009</c:v>
                </c:pt>
                <c:pt idx="58">
                  <c:v>4/30/2009</c:v>
                </c:pt>
                <c:pt idx="59">
                  <c:v>5/31/2009</c:v>
                </c:pt>
                <c:pt idx="60">
                  <c:v>6/30/2009</c:v>
                </c:pt>
                <c:pt idx="61">
                  <c:v>7/31/2009</c:v>
                </c:pt>
                <c:pt idx="62">
                  <c:v>8/31/2009</c:v>
                </c:pt>
                <c:pt idx="63">
                  <c:v>9/30/2009</c:v>
                </c:pt>
                <c:pt idx="64">
                  <c:v>10/31/2009</c:v>
                </c:pt>
                <c:pt idx="65">
                  <c:v>11/30/2009</c:v>
                </c:pt>
                <c:pt idx="66">
                  <c:v>12/31/2009</c:v>
                </c:pt>
                <c:pt idx="67">
                  <c:v>1/31/2010</c:v>
                </c:pt>
                <c:pt idx="68">
                  <c:v>2/28/2010</c:v>
                </c:pt>
                <c:pt idx="69">
                  <c:v>3/31/2010</c:v>
                </c:pt>
                <c:pt idx="70">
                  <c:v>4/30/2010</c:v>
                </c:pt>
                <c:pt idx="71">
                  <c:v>5/31/2010</c:v>
                </c:pt>
                <c:pt idx="72">
                  <c:v>6/30/2010</c:v>
                </c:pt>
                <c:pt idx="73">
                  <c:v>7/31/2010</c:v>
                </c:pt>
                <c:pt idx="74">
                  <c:v>8/31/2010</c:v>
                </c:pt>
                <c:pt idx="75">
                  <c:v>9/30/2010</c:v>
                </c:pt>
                <c:pt idx="76">
                  <c:v>10/31/2010</c:v>
                </c:pt>
                <c:pt idx="77">
                  <c:v>11/30/2010</c:v>
                </c:pt>
                <c:pt idx="78">
                  <c:v>12/31/2010</c:v>
                </c:pt>
                <c:pt idx="79">
                  <c:v>1/31/2011</c:v>
                </c:pt>
                <c:pt idx="80">
                  <c:v>2/28/2011</c:v>
                </c:pt>
                <c:pt idx="81">
                  <c:v>3/31/2011</c:v>
                </c:pt>
                <c:pt idx="82">
                  <c:v>4/30/2011</c:v>
                </c:pt>
                <c:pt idx="83">
                  <c:v>5/31/2011</c:v>
                </c:pt>
                <c:pt idx="84">
                  <c:v>6/30/2011</c:v>
                </c:pt>
                <c:pt idx="85">
                  <c:v>7/31/2011</c:v>
                </c:pt>
                <c:pt idx="86">
                  <c:v>8/31/2011</c:v>
                </c:pt>
                <c:pt idx="87">
                  <c:v>9/30/2011</c:v>
                </c:pt>
                <c:pt idx="88">
                  <c:v>10/31/2011</c:v>
                </c:pt>
                <c:pt idx="89">
                  <c:v>11/30/2011</c:v>
                </c:pt>
                <c:pt idx="90">
                  <c:v>12/31/2011</c:v>
                </c:pt>
                <c:pt idx="91">
                  <c:v>1/31/2012</c:v>
                </c:pt>
                <c:pt idx="92">
                  <c:v>2/29/2012</c:v>
                </c:pt>
                <c:pt idx="93">
                  <c:v>3/31/2012</c:v>
                </c:pt>
                <c:pt idx="94">
                  <c:v>4/30/2012</c:v>
                </c:pt>
                <c:pt idx="95">
                  <c:v>5/31/2012</c:v>
                </c:pt>
                <c:pt idx="96">
                  <c:v>6/30/2012</c:v>
                </c:pt>
                <c:pt idx="97">
                  <c:v>7/31/2012</c:v>
                </c:pt>
                <c:pt idx="98">
                  <c:v>8/31/2012</c:v>
                </c:pt>
                <c:pt idx="99">
                  <c:v>9/30/2012</c:v>
                </c:pt>
                <c:pt idx="100">
                  <c:v>10/31/2012</c:v>
                </c:pt>
                <c:pt idx="101">
                  <c:v>11/30/2012</c:v>
                </c:pt>
                <c:pt idx="102">
                  <c:v>12/31/2012</c:v>
                </c:pt>
                <c:pt idx="103">
                  <c:v>1/31/2013</c:v>
                </c:pt>
                <c:pt idx="104">
                  <c:v>2/28/2013</c:v>
                </c:pt>
                <c:pt idx="105">
                  <c:v>3/31/2013</c:v>
                </c:pt>
                <c:pt idx="106">
                  <c:v>4/30/2013</c:v>
                </c:pt>
                <c:pt idx="107">
                  <c:v>5/31/2013</c:v>
                </c:pt>
                <c:pt idx="108">
                  <c:v>6/30/2013</c:v>
                </c:pt>
                <c:pt idx="109">
                  <c:v>7/31/2013</c:v>
                </c:pt>
                <c:pt idx="110">
                  <c:v>8/31/2013</c:v>
                </c:pt>
                <c:pt idx="111">
                  <c:v>9/30/2013</c:v>
                </c:pt>
                <c:pt idx="112">
                  <c:v>10/31/2013</c:v>
                </c:pt>
                <c:pt idx="113">
                  <c:v>11/30/2013</c:v>
                </c:pt>
                <c:pt idx="114">
                  <c:v>12/31/2013</c:v>
                </c:pt>
                <c:pt idx="115">
                  <c:v>1/31/2014</c:v>
                </c:pt>
                <c:pt idx="116">
                  <c:v>2/28/2014</c:v>
                </c:pt>
                <c:pt idx="117">
                  <c:v>3/31/2014</c:v>
                </c:pt>
                <c:pt idx="118">
                  <c:v>4/30/2014</c:v>
                </c:pt>
                <c:pt idx="119">
                  <c:v>5/31/2014</c:v>
                </c:pt>
                <c:pt idx="120">
                  <c:v>6/30/2014</c:v>
                </c:pt>
                <c:pt idx="121">
                  <c:v>7/31/2014</c:v>
                </c:pt>
                <c:pt idx="122">
                  <c:v>8/31/2014</c:v>
                </c:pt>
                <c:pt idx="123">
                  <c:v>9/30/2014</c:v>
                </c:pt>
                <c:pt idx="124">
                  <c:v>10/31/2014</c:v>
                </c:pt>
                <c:pt idx="125">
                  <c:v>11/30/2014</c:v>
                </c:pt>
                <c:pt idx="126">
                  <c:v>12/31/2014</c:v>
                </c:pt>
                <c:pt idx="127">
                  <c:v>1/31/2015</c:v>
                </c:pt>
                <c:pt idx="128">
                  <c:v>2/28/2015</c:v>
                </c:pt>
                <c:pt idx="129">
                  <c:v>3/31/2015</c:v>
                </c:pt>
                <c:pt idx="130">
                  <c:v>4/30/2015</c:v>
                </c:pt>
                <c:pt idx="131">
                  <c:v>5/31/2015</c:v>
                </c:pt>
                <c:pt idx="132">
                  <c:v>6/30/2015</c:v>
                </c:pt>
                <c:pt idx="133">
                  <c:v>7/31/2015</c:v>
                </c:pt>
                <c:pt idx="134">
                  <c:v>8/31/2015</c:v>
                </c:pt>
                <c:pt idx="135">
                  <c:v>9/30/2015</c:v>
                </c:pt>
                <c:pt idx="136">
                  <c:v>10/31/2015</c:v>
                </c:pt>
                <c:pt idx="137">
                  <c:v>11/30/2015</c:v>
                </c:pt>
                <c:pt idx="138">
                  <c:v>12/31/2015</c:v>
                </c:pt>
                <c:pt idx="139">
                  <c:v>1/31/2016</c:v>
                </c:pt>
                <c:pt idx="140">
                  <c:v>2/29/2016</c:v>
                </c:pt>
                <c:pt idx="141">
                  <c:v>3/31/2016</c:v>
                </c:pt>
                <c:pt idx="142">
                  <c:v>4/30/2016</c:v>
                </c:pt>
                <c:pt idx="143">
                  <c:v>5/31/2016</c:v>
                </c:pt>
                <c:pt idx="144">
                  <c:v>6/30/2016</c:v>
                </c:pt>
                <c:pt idx="145">
                  <c:v>7/31/2016</c:v>
                </c:pt>
                <c:pt idx="146">
                  <c:v>8/31/2016</c:v>
                </c:pt>
                <c:pt idx="147">
                  <c:v>9/30/2016</c:v>
                </c:pt>
                <c:pt idx="148">
                  <c:v>10/31/2016</c:v>
                </c:pt>
                <c:pt idx="149">
                  <c:v>11/30/2016</c:v>
                </c:pt>
                <c:pt idx="150">
                  <c:v>12/31/2016</c:v>
                </c:pt>
                <c:pt idx="151">
                  <c:v>1/31/2017</c:v>
                </c:pt>
                <c:pt idx="152">
                  <c:v>2/28/2017</c:v>
                </c:pt>
                <c:pt idx="153">
                  <c:v>3/31/2017</c:v>
                </c:pt>
                <c:pt idx="154">
                  <c:v>4/30/2017</c:v>
                </c:pt>
                <c:pt idx="155">
                  <c:v>5/31/2017</c:v>
                </c:pt>
                <c:pt idx="156">
                  <c:v>6/30/2017</c:v>
                </c:pt>
                <c:pt idx="157">
                  <c:v>7/31/2017</c:v>
                </c:pt>
                <c:pt idx="158">
                  <c:v>8/31/2017</c:v>
                </c:pt>
                <c:pt idx="159">
                  <c:v>9/30/2017</c:v>
                </c:pt>
                <c:pt idx="160">
                  <c:v>10/31/2017</c:v>
                </c:pt>
                <c:pt idx="161">
                  <c:v>11/30/2017</c:v>
                </c:pt>
                <c:pt idx="162">
                  <c:v>12/31/2017</c:v>
                </c:pt>
                <c:pt idx="163">
                  <c:v>1/31/2018</c:v>
                </c:pt>
                <c:pt idx="164">
                  <c:v>2/28/2018</c:v>
                </c:pt>
                <c:pt idx="165">
                  <c:v>3/31/2018</c:v>
                </c:pt>
                <c:pt idx="166">
                  <c:v>4/30/2018</c:v>
                </c:pt>
                <c:pt idx="167">
                  <c:v>5/31/2018</c:v>
                </c:pt>
                <c:pt idx="168">
                  <c:v>6/30/2018</c:v>
                </c:pt>
                <c:pt idx="169">
                  <c:v>7/31/2018</c:v>
                </c:pt>
                <c:pt idx="170">
                  <c:v>8/31/2018</c:v>
                </c:pt>
                <c:pt idx="171">
                  <c:v>9/30/2018</c:v>
                </c:pt>
                <c:pt idx="172">
                  <c:v>10/31/2018</c:v>
                </c:pt>
                <c:pt idx="173">
                  <c:v>11/30/2018</c:v>
                </c:pt>
                <c:pt idx="174">
                  <c:v>12/31/2018</c:v>
                </c:pt>
                <c:pt idx="175">
                  <c:v>1/31/2019</c:v>
                </c:pt>
                <c:pt idx="176">
                  <c:v>2/28/2019</c:v>
                </c:pt>
                <c:pt idx="177">
                  <c:v>3/31/2019</c:v>
                </c:pt>
                <c:pt idx="178">
                  <c:v>4/30/2019</c:v>
                </c:pt>
                <c:pt idx="179">
                  <c:v>5/31/2019</c:v>
                </c:pt>
                <c:pt idx="180">
                  <c:v>6/30/2019</c:v>
                </c:pt>
                <c:pt idx="181">
                  <c:v>7/31/2019</c:v>
                </c:pt>
                <c:pt idx="182">
                  <c:v>8/31/2019</c:v>
                </c:pt>
                <c:pt idx="183">
                  <c:v>9/30/2019</c:v>
                </c:pt>
                <c:pt idx="184">
                  <c:v>10/31/2019</c:v>
                </c:pt>
                <c:pt idx="185">
                  <c:v>11/30/2019</c:v>
                </c:pt>
                <c:pt idx="186">
                  <c:v>12/31/2019</c:v>
                </c:pt>
                <c:pt idx="187">
                  <c:v>1/31/2020</c:v>
                </c:pt>
                <c:pt idx="188">
                  <c:v>2/29/2020</c:v>
                </c:pt>
                <c:pt idx="189">
                  <c:v>3/31/2020</c:v>
                </c:pt>
                <c:pt idx="190">
                  <c:v>4/30/2020</c:v>
                </c:pt>
                <c:pt idx="191">
                  <c:v>5/31/2020</c:v>
                </c:pt>
                <c:pt idx="192">
                  <c:v>6/30/2020</c:v>
                </c:pt>
                <c:pt idx="193">
                  <c:v>7/31/2020</c:v>
                </c:pt>
                <c:pt idx="194">
                  <c:v>8/31/2020</c:v>
                </c:pt>
                <c:pt idx="195">
                  <c:v>9/30/2020</c:v>
                </c:pt>
                <c:pt idx="196">
                  <c:v>10/31/2020</c:v>
                </c:pt>
                <c:pt idx="197">
                  <c:v>11/30/2020</c:v>
                </c:pt>
                <c:pt idx="198">
                  <c:v>12/31/2020</c:v>
                </c:pt>
                <c:pt idx="199">
                  <c:v>1/31/2021</c:v>
                </c:pt>
                <c:pt idx="200">
                  <c:v>2/28/2021</c:v>
                </c:pt>
                <c:pt idx="201">
                  <c:v>3/31/2021</c:v>
                </c:pt>
                <c:pt idx="202">
                  <c:v>4/30/2021</c:v>
                </c:pt>
                <c:pt idx="203">
                  <c:v>5/31/2021</c:v>
                </c:pt>
                <c:pt idx="204">
                  <c:v>6/30/2021</c:v>
                </c:pt>
                <c:pt idx="205">
                  <c:v>7/31/2021</c:v>
                </c:pt>
                <c:pt idx="206">
                  <c:v>8/31/2021</c:v>
                </c:pt>
                <c:pt idx="207">
                  <c:v>9/30/2021</c:v>
                </c:pt>
                <c:pt idx="208">
                  <c:v>10/31/2021</c:v>
                </c:pt>
                <c:pt idx="209">
                  <c:v>11/30/2021</c:v>
                </c:pt>
                <c:pt idx="210">
                  <c:v>12/31/2021</c:v>
                </c:pt>
                <c:pt idx="211">
                  <c:v>1/31/2022</c:v>
                </c:pt>
                <c:pt idx="212">
                  <c:v>2/28/2022</c:v>
                </c:pt>
                <c:pt idx="213">
                  <c:v>3/31/2022</c:v>
                </c:pt>
                <c:pt idx="214">
                  <c:v>4/30/2022</c:v>
                </c:pt>
                <c:pt idx="215">
                  <c:v>5/31/2022</c:v>
                </c:pt>
                <c:pt idx="216">
                  <c:v>6/30/2022</c:v>
                </c:pt>
                <c:pt idx="217">
                  <c:v>7/31/2022</c:v>
                </c:pt>
                <c:pt idx="218">
                  <c:v>8/31/2022</c:v>
                </c:pt>
                <c:pt idx="219">
                  <c:v>9/30/2022</c:v>
                </c:pt>
                <c:pt idx="220">
                  <c:v>10/31/2022</c:v>
                </c:pt>
                <c:pt idx="221">
                  <c:v>11/30/2022</c:v>
                </c:pt>
                <c:pt idx="222">
                  <c:v>12/31/2022</c:v>
                </c:pt>
                <c:pt idx="223">
                  <c:v>1/31/2023</c:v>
                </c:pt>
                <c:pt idx="224">
                  <c:v>2/28/2023</c:v>
                </c:pt>
                <c:pt idx="225">
                  <c:v>3/31/2023</c:v>
                </c:pt>
                <c:pt idx="226">
                  <c:v>4/30/2023</c:v>
                </c:pt>
                <c:pt idx="227">
                  <c:v>5/31/2023</c:v>
                </c:pt>
                <c:pt idx="228">
                  <c:v>6/30/2023</c:v>
                </c:pt>
                <c:pt idx="229">
                  <c:v>7/31/2023</c:v>
                </c:pt>
                <c:pt idx="230">
                  <c:v>8/31/2023</c:v>
                </c:pt>
                <c:pt idx="231">
                  <c:v>9/30/2023</c:v>
                </c:pt>
                <c:pt idx="232">
                  <c:v>10/31/2023</c:v>
                </c:pt>
                <c:pt idx="233">
                  <c:v>11/30/2023</c:v>
                </c:pt>
                <c:pt idx="234">
                  <c:v>12/31/2023</c:v>
                </c:pt>
                <c:pt idx="235">
                  <c:v>1/31/2024</c:v>
                </c:pt>
                <c:pt idx="236">
                  <c:v>2/29/2024</c:v>
                </c:pt>
                <c:pt idx="237">
                  <c:v>3/31/2024</c:v>
                </c:pt>
                <c:pt idx="238">
                  <c:v>4/30/2024</c:v>
                </c:pt>
                <c:pt idx="239">
                  <c:v>5/31/2024</c:v>
                </c:pt>
                <c:pt idx="240">
                  <c:v>6/30/2024</c:v>
                </c:pt>
              </c:strCache>
            </c:strRef>
          </c:cat>
          <c:val>
            <c:numRef>
              <c:f>'Page 5 Data'!$AF$6:$AF$1007</c:f>
              <c:numCache>
                <c:formatCode>_(* #,##0.00_);_(* \(#,##0.00\);_(* "-"??_);_(@_)</c:formatCode>
                <c:ptCount val="1002"/>
                <c:pt idx="0">
                  <c:v>6.92</c:v>
                </c:pt>
                <c:pt idx="1">
                  <c:v>6.84</c:v>
                </c:pt>
                <c:pt idx="2">
                  <c:v>6.7</c:v>
                </c:pt>
                <c:pt idx="3">
                  <c:v>6.68</c:v>
                </c:pt>
                <c:pt idx="4">
                  <c:v>6.85</c:v>
                </c:pt>
                <c:pt idx="5">
                  <c:v>6.96</c:v>
                </c:pt>
                <c:pt idx="6">
                  <c:v>6.89</c:v>
                </c:pt>
                <c:pt idx="7">
                  <c:v>7.1</c:v>
                </c:pt>
                <c:pt idx="8">
                  <c:v>6.88</c:v>
                </c:pt>
                <c:pt idx="9">
                  <c:v>6.96</c:v>
                </c:pt>
                <c:pt idx="10">
                  <c:v>7.12</c:v>
                </c:pt>
                <c:pt idx="11">
                  <c:v>7.08</c:v>
                </c:pt>
                <c:pt idx="12">
                  <c:v>7.18</c:v>
                </c:pt>
                <c:pt idx="13">
                  <c:v>7.14</c:v>
                </c:pt>
                <c:pt idx="14">
                  <c:v>7.23</c:v>
                </c:pt>
                <c:pt idx="15">
                  <c:v>7.25</c:v>
                </c:pt>
                <c:pt idx="16">
                  <c:v>7.1</c:v>
                </c:pt>
                <c:pt idx="17">
                  <c:v>7.03</c:v>
                </c:pt>
                <c:pt idx="18">
                  <c:v>6.84</c:v>
                </c:pt>
                <c:pt idx="19">
                  <c:v>6.72</c:v>
                </c:pt>
                <c:pt idx="20">
                  <c:v>6.84</c:v>
                </c:pt>
                <c:pt idx="21">
                  <c:v>6.83</c:v>
                </c:pt>
                <c:pt idx="22">
                  <c:v>6.7</c:v>
                </c:pt>
                <c:pt idx="23">
                  <c:v>6.58</c:v>
                </c:pt>
                <c:pt idx="24">
                  <c:v>6.48</c:v>
                </c:pt>
                <c:pt idx="25">
                  <c:v>6.32</c:v>
                </c:pt>
                <c:pt idx="26">
                  <c:v>6.34</c:v>
                </c:pt>
                <c:pt idx="27">
                  <c:v>6.28</c:v>
                </c:pt>
                <c:pt idx="28">
                  <c:v>6.36</c:v>
                </c:pt>
                <c:pt idx="29">
                  <c:v>6.34</c:v>
                </c:pt>
                <c:pt idx="30">
                  <c:v>6.4</c:v>
                </c:pt>
                <c:pt idx="31">
                  <c:v>5.74</c:v>
                </c:pt>
                <c:pt idx="32">
                  <c:v>5.79</c:v>
                </c:pt>
                <c:pt idx="33">
                  <c:v>5.46</c:v>
                </c:pt>
                <c:pt idx="34">
                  <c:v>5.29</c:v>
                </c:pt>
                <c:pt idx="35">
                  <c:v>5.27</c:v>
                </c:pt>
                <c:pt idx="36">
                  <c:v>5.12</c:v>
                </c:pt>
                <c:pt idx="37">
                  <c:v>5.07</c:v>
                </c:pt>
                <c:pt idx="38">
                  <c:v>4.87</c:v>
                </c:pt>
                <c:pt idx="39">
                  <c:v>4.58</c:v>
                </c:pt>
                <c:pt idx="40">
                  <c:v>4.43</c:v>
                </c:pt>
                <c:pt idx="41">
                  <c:v>4.46</c:v>
                </c:pt>
                <c:pt idx="42">
                  <c:v>4.41</c:v>
                </c:pt>
                <c:pt idx="43">
                  <c:v>4.17</c:v>
                </c:pt>
                <c:pt idx="44">
                  <c:v>4.12</c:v>
                </c:pt>
                <c:pt idx="45">
                  <c:v>4.16</c:v>
                </c:pt>
                <c:pt idx="46">
                  <c:v>4.1100000000000003</c:v>
                </c:pt>
                <c:pt idx="47">
                  <c:v>4.1399999999999997</c:v>
                </c:pt>
                <c:pt idx="48">
                  <c:v>4.09</c:v>
                </c:pt>
                <c:pt idx="49">
                  <c:v>4.1500000000000004</c:v>
                </c:pt>
                <c:pt idx="50">
                  <c:v>4.1900000000000004</c:v>
                </c:pt>
                <c:pt idx="51">
                  <c:v>4.2699999999999996</c:v>
                </c:pt>
                <c:pt idx="52">
                  <c:v>4.09</c:v>
                </c:pt>
                <c:pt idx="53">
                  <c:v>3.77</c:v>
                </c:pt>
                <c:pt idx="54">
                  <c:v>4.01</c:v>
                </c:pt>
                <c:pt idx="55">
                  <c:v>3.82</c:v>
                </c:pt>
                <c:pt idx="56">
                  <c:v>3.97</c:v>
                </c:pt>
                <c:pt idx="57">
                  <c:v>3.86</c:v>
                </c:pt>
                <c:pt idx="58">
                  <c:v>3.9</c:v>
                </c:pt>
                <c:pt idx="59">
                  <c:v>4</c:v>
                </c:pt>
                <c:pt idx="60">
                  <c:v>4.0999999999999996</c:v>
                </c:pt>
                <c:pt idx="61">
                  <c:v>4.37</c:v>
                </c:pt>
                <c:pt idx="62">
                  <c:v>4.45</c:v>
                </c:pt>
                <c:pt idx="63">
                  <c:v>4.62</c:v>
                </c:pt>
                <c:pt idx="64">
                  <c:v>5.0199999999999996</c:v>
                </c:pt>
                <c:pt idx="65">
                  <c:v>5.44</c:v>
                </c:pt>
                <c:pt idx="66">
                  <c:v>4.4000000000000004</c:v>
                </c:pt>
                <c:pt idx="67">
                  <c:v>4.1900000000000004</c:v>
                </c:pt>
                <c:pt idx="68">
                  <c:v>4.2699999999999996</c:v>
                </c:pt>
                <c:pt idx="69">
                  <c:v>4.49</c:v>
                </c:pt>
                <c:pt idx="70">
                  <c:v>4.82</c:v>
                </c:pt>
                <c:pt idx="71">
                  <c:v>4.88</c:v>
                </c:pt>
                <c:pt idx="72">
                  <c:v>4.45</c:v>
                </c:pt>
                <c:pt idx="73">
                  <c:v>3.45</c:v>
                </c:pt>
                <c:pt idx="74">
                  <c:v>3.68</c:v>
                </c:pt>
                <c:pt idx="75">
                  <c:v>3.84</c:v>
                </c:pt>
                <c:pt idx="76">
                  <c:v>3.83</c:v>
                </c:pt>
                <c:pt idx="77">
                  <c:v>4.0199999999999996</c:v>
                </c:pt>
                <c:pt idx="78">
                  <c:v>4.2699999999999996</c:v>
                </c:pt>
                <c:pt idx="79">
                  <c:v>4.42</c:v>
                </c:pt>
                <c:pt idx="80">
                  <c:v>4.16</c:v>
                </c:pt>
                <c:pt idx="81">
                  <c:v>4.26</c:v>
                </c:pt>
                <c:pt idx="82">
                  <c:v>4.17</c:v>
                </c:pt>
                <c:pt idx="83">
                  <c:v>4.1399999999999997</c:v>
                </c:pt>
                <c:pt idx="84">
                  <c:v>4.2300000000000004</c:v>
                </c:pt>
                <c:pt idx="85">
                  <c:v>4.1500000000000004</c:v>
                </c:pt>
                <c:pt idx="86">
                  <c:v>4.38</c:v>
                </c:pt>
                <c:pt idx="87">
                  <c:v>4.33</c:v>
                </c:pt>
                <c:pt idx="88">
                  <c:v>4.34</c:v>
                </c:pt>
                <c:pt idx="89">
                  <c:v>4.3899999999999997</c:v>
                </c:pt>
                <c:pt idx="90">
                  <c:v>4.3499999999999996</c:v>
                </c:pt>
                <c:pt idx="91">
                  <c:v>4.4800000000000004</c:v>
                </c:pt>
                <c:pt idx="92">
                  <c:v>4.58</c:v>
                </c:pt>
                <c:pt idx="93">
                  <c:v>4.5199999999999996</c:v>
                </c:pt>
                <c:pt idx="94">
                  <c:v>4.59</c:v>
                </c:pt>
                <c:pt idx="95">
                  <c:v>4.5999999999999996</c:v>
                </c:pt>
                <c:pt idx="96">
                  <c:v>4.47</c:v>
                </c:pt>
                <c:pt idx="97">
                  <c:v>4.53</c:v>
                </c:pt>
                <c:pt idx="98">
                  <c:v>4.76</c:v>
                </c:pt>
                <c:pt idx="99">
                  <c:v>4.71</c:v>
                </c:pt>
                <c:pt idx="100">
                  <c:v>4.79</c:v>
                </c:pt>
                <c:pt idx="101">
                  <c:v>4.96</c:v>
                </c:pt>
                <c:pt idx="102">
                  <c:v>4.8899999999999997</c:v>
                </c:pt>
                <c:pt idx="103">
                  <c:v>4.9800000000000004</c:v>
                </c:pt>
                <c:pt idx="104">
                  <c:v>5.0599999999999996</c:v>
                </c:pt>
                <c:pt idx="105">
                  <c:v>5.07</c:v>
                </c:pt>
                <c:pt idx="106">
                  <c:v>5.09</c:v>
                </c:pt>
                <c:pt idx="107">
                  <c:v>5.14</c:v>
                </c:pt>
                <c:pt idx="108">
                  <c:v>5.1100000000000003</c:v>
                </c:pt>
                <c:pt idx="109">
                  <c:v>5.27</c:v>
                </c:pt>
                <c:pt idx="110">
                  <c:v>5.26</c:v>
                </c:pt>
                <c:pt idx="111">
                  <c:v>5.14</c:v>
                </c:pt>
                <c:pt idx="112">
                  <c:v>5.04</c:v>
                </c:pt>
                <c:pt idx="113">
                  <c:v>4.92</c:v>
                </c:pt>
                <c:pt idx="114">
                  <c:v>4.8600000000000003</c:v>
                </c:pt>
                <c:pt idx="115">
                  <c:v>4.76</c:v>
                </c:pt>
                <c:pt idx="116">
                  <c:v>4.78</c:v>
                </c:pt>
                <c:pt idx="117">
                  <c:v>4.75</c:v>
                </c:pt>
                <c:pt idx="118">
                  <c:v>4.79</c:v>
                </c:pt>
                <c:pt idx="119">
                  <c:v>4.9000000000000004</c:v>
                </c:pt>
                <c:pt idx="120">
                  <c:v>4.9400000000000004</c:v>
                </c:pt>
                <c:pt idx="121">
                  <c:v>4.9800000000000004</c:v>
                </c:pt>
                <c:pt idx="122">
                  <c:v>4.97</c:v>
                </c:pt>
                <c:pt idx="123">
                  <c:v>5</c:v>
                </c:pt>
                <c:pt idx="124">
                  <c:v>5.12</c:v>
                </c:pt>
                <c:pt idx="125">
                  <c:v>4.99</c:v>
                </c:pt>
                <c:pt idx="126">
                  <c:v>5.09</c:v>
                </c:pt>
                <c:pt idx="127">
                  <c:v>4.92</c:v>
                </c:pt>
                <c:pt idx="128">
                  <c:v>5.08</c:v>
                </c:pt>
                <c:pt idx="129">
                  <c:v>5.25</c:v>
                </c:pt>
                <c:pt idx="130">
                  <c:v>5.17</c:v>
                </c:pt>
                <c:pt idx="131">
                  <c:v>5.25</c:v>
                </c:pt>
                <c:pt idx="132">
                  <c:v>5.36</c:v>
                </c:pt>
                <c:pt idx="133">
                  <c:v>5.44</c:v>
                </c:pt>
                <c:pt idx="134">
                  <c:v>5.36</c:v>
                </c:pt>
                <c:pt idx="135">
                  <c:v>5.41</c:v>
                </c:pt>
                <c:pt idx="136">
                  <c:v>5.28</c:v>
                </c:pt>
                <c:pt idx="137">
                  <c:v>4.78</c:v>
                </c:pt>
                <c:pt idx="138">
                  <c:v>5.44</c:v>
                </c:pt>
                <c:pt idx="139">
                  <c:v>5.43</c:v>
                </c:pt>
                <c:pt idx="140">
                  <c:v>5.26</c:v>
                </c:pt>
                <c:pt idx="141">
                  <c:v>5.34</c:v>
                </c:pt>
                <c:pt idx="142">
                  <c:v>5.47</c:v>
                </c:pt>
                <c:pt idx="143">
                  <c:v>5.44</c:v>
                </c:pt>
                <c:pt idx="144">
                  <c:v>5.47</c:v>
                </c:pt>
                <c:pt idx="145">
                  <c:v>5.37</c:v>
                </c:pt>
                <c:pt idx="146">
                  <c:v>5.4</c:v>
                </c:pt>
                <c:pt idx="147">
                  <c:v>5.47</c:v>
                </c:pt>
                <c:pt idx="148">
                  <c:v>5.56</c:v>
                </c:pt>
                <c:pt idx="149">
                  <c:v>5.51</c:v>
                </c:pt>
                <c:pt idx="150">
                  <c:v>5.52</c:v>
                </c:pt>
                <c:pt idx="151">
                  <c:v>5.67</c:v>
                </c:pt>
                <c:pt idx="152">
                  <c:v>5.45</c:v>
                </c:pt>
                <c:pt idx="153">
                  <c:v>5.61</c:v>
                </c:pt>
                <c:pt idx="154">
                  <c:v>5.56</c:v>
                </c:pt>
                <c:pt idx="155">
                  <c:v>5.59</c:v>
                </c:pt>
                <c:pt idx="156">
                  <c:v>5.49</c:v>
                </c:pt>
                <c:pt idx="157">
                  <c:v>5.46</c:v>
                </c:pt>
                <c:pt idx="158">
                  <c:v>5.39</c:v>
                </c:pt>
                <c:pt idx="159">
                  <c:v>5.45</c:v>
                </c:pt>
                <c:pt idx="160">
                  <c:v>5.46</c:v>
                </c:pt>
                <c:pt idx="161">
                  <c:v>5.62</c:v>
                </c:pt>
                <c:pt idx="162">
                  <c:v>5.57</c:v>
                </c:pt>
                <c:pt idx="163">
                  <c:v>5.41</c:v>
                </c:pt>
                <c:pt idx="164">
                  <c:v>5.48</c:v>
                </c:pt>
                <c:pt idx="165">
                  <c:v>5.53</c:v>
                </c:pt>
                <c:pt idx="166">
                  <c:v>5.47</c:v>
                </c:pt>
                <c:pt idx="167">
                  <c:v>5.43</c:v>
                </c:pt>
                <c:pt idx="168">
                  <c:v>5.45</c:v>
                </c:pt>
                <c:pt idx="169">
                  <c:v>5.38</c:v>
                </c:pt>
                <c:pt idx="170">
                  <c:v>5.31</c:v>
                </c:pt>
                <c:pt idx="171">
                  <c:v>5.2</c:v>
                </c:pt>
                <c:pt idx="172">
                  <c:v>5.16</c:v>
                </c:pt>
                <c:pt idx="173">
                  <c:v>5.18</c:v>
                </c:pt>
                <c:pt idx="174">
                  <c:v>5.01</c:v>
                </c:pt>
                <c:pt idx="175">
                  <c:v>4.97</c:v>
                </c:pt>
                <c:pt idx="176">
                  <c:v>5.31</c:v>
                </c:pt>
                <c:pt idx="177">
                  <c:v>5.25</c:v>
                </c:pt>
                <c:pt idx="178">
                  <c:v>5.31</c:v>
                </c:pt>
                <c:pt idx="179">
                  <c:v>5.46</c:v>
                </c:pt>
                <c:pt idx="180">
                  <c:v>5.39</c:v>
                </c:pt>
                <c:pt idx="181">
                  <c:v>5.43</c:v>
                </c:pt>
                <c:pt idx="182">
                  <c:v>5.47</c:v>
                </c:pt>
                <c:pt idx="183">
                  <c:v>5.31</c:v>
                </c:pt>
                <c:pt idx="184">
                  <c:v>5.29</c:v>
                </c:pt>
                <c:pt idx="185">
                  <c:v>5.26</c:v>
                </c:pt>
                <c:pt idx="186">
                  <c:v>5.45</c:v>
                </c:pt>
                <c:pt idx="187">
                  <c:v>5.35</c:v>
                </c:pt>
                <c:pt idx="188">
                  <c:v>5.63</c:v>
                </c:pt>
                <c:pt idx="189">
                  <c:v>5.34</c:v>
                </c:pt>
                <c:pt idx="190">
                  <c:v>4.46</c:v>
                </c:pt>
                <c:pt idx="191">
                  <c:v>4.09</c:v>
                </c:pt>
                <c:pt idx="192">
                  <c:v>4.87</c:v>
                </c:pt>
                <c:pt idx="193">
                  <c:v>5.96</c:v>
                </c:pt>
                <c:pt idx="194">
                  <c:v>6.04</c:v>
                </c:pt>
                <c:pt idx="195">
                  <c:v>6.35</c:v>
                </c:pt>
                <c:pt idx="196">
                  <c:v>6.56</c:v>
                </c:pt>
                <c:pt idx="197">
                  <c:v>6.47</c:v>
                </c:pt>
                <c:pt idx="198">
                  <c:v>6.51</c:v>
                </c:pt>
                <c:pt idx="199">
                  <c:v>6.6</c:v>
                </c:pt>
                <c:pt idx="200">
                  <c:v>6.13</c:v>
                </c:pt>
                <c:pt idx="201">
                  <c:v>5.98</c:v>
                </c:pt>
                <c:pt idx="202">
                  <c:v>5.94</c:v>
                </c:pt>
                <c:pt idx="203">
                  <c:v>5.88</c:v>
                </c:pt>
                <c:pt idx="204">
                  <c:v>5.99</c:v>
                </c:pt>
                <c:pt idx="205">
                  <c:v>6.07</c:v>
                </c:pt>
                <c:pt idx="206">
                  <c:v>5.99</c:v>
                </c:pt>
                <c:pt idx="207">
                  <c:v>6.17</c:v>
                </c:pt>
                <c:pt idx="208">
                  <c:v>6.21</c:v>
                </c:pt>
                <c:pt idx="209">
                  <c:v>6.43</c:v>
                </c:pt>
                <c:pt idx="210">
                  <c:v>6.21</c:v>
                </c:pt>
                <c:pt idx="211">
                  <c:v>6.43</c:v>
                </c:pt>
                <c:pt idx="212">
                  <c:v>5.89</c:v>
                </c:pt>
                <c:pt idx="213">
                  <c:v>5.63</c:v>
                </c:pt>
                <c:pt idx="214">
                  <c:v>5.53</c:v>
                </c:pt>
                <c:pt idx="215">
                  <c:v>5.35</c:v>
                </c:pt>
                <c:pt idx="216">
                  <c:v>5.0999999999999996</c:v>
                </c:pt>
                <c:pt idx="217">
                  <c:v>4.8600000000000003</c:v>
                </c:pt>
                <c:pt idx="218">
                  <c:v>4.75</c:v>
                </c:pt>
                <c:pt idx="219">
                  <c:v>4.7</c:v>
                </c:pt>
                <c:pt idx="220">
                  <c:v>4.49</c:v>
                </c:pt>
                <c:pt idx="221">
                  <c:v>4.1900000000000004</c:v>
                </c:pt>
                <c:pt idx="222">
                  <c:v>4.12</c:v>
                </c:pt>
                <c:pt idx="223">
                  <c:v>4.07</c:v>
                </c:pt>
                <c:pt idx="224">
                  <c:v>4.53</c:v>
                </c:pt>
                <c:pt idx="225">
                  <c:v>4.3499999999999996</c:v>
                </c:pt>
                <c:pt idx="226">
                  <c:v>4.22</c:v>
                </c:pt>
                <c:pt idx="227">
                  <c:v>4.2300000000000004</c:v>
                </c:pt>
                <c:pt idx="228">
                  <c:v>4.1100000000000003</c:v>
                </c:pt>
                <c:pt idx="229">
                  <c:v>4.05</c:v>
                </c:pt>
                <c:pt idx="230">
                  <c:v>4.03</c:v>
                </c:pt>
                <c:pt idx="231">
                  <c:v>3.98</c:v>
                </c:pt>
                <c:pt idx="232">
                  <c:v>3.85</c:v>
                </c:pt>
                <c:pt idx="233">
                  <c:v>3.91</c:v>
                </c:pt>
                <c:pt idx="234">
                  <c:v>3.88</c:v>
                </c:pt>
                <c:pt idx="235">
                  <c:v>4</c:v>
                </c:pt>
                <c:pt idx="236">
                  <c:v>4.38</c:v>
                </c:pt>
                <c:pt idx="237">
                  <c:v>4.22</c:v>
                </c:pt>
                <c:pt idx="238">
                  <c:v>4.1399999999999997</c:v>
                </c:pt>
                <c:pt idx="239">
                  <c:v>4.1100000000000003</c:v>
                </c:pt>
                <c:pt idx="240">
                  <c:v>4.1100000000000003</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numCache>
            </c:numRef>
          </c:val>
          <c:smooth val="1"/>
          <c:extLst>
            <c:ext xmlns:c16="http://schemas.microsoft.com/office/drawing/2014/chart" uri="{C3380CC4-5D6E-409C-BE32-E72D297353CC}">
              <c16:uniqueId val="{00000001-5427-43A2-B2E4-1107F1067538}"/>
            </c:ext>
          </c:extLst>
        </c:ser>
        <c:dLbls>
          <c:showLegendKey val="0"/>
          <c:showVal val="0"/>
          <c:showCatName val="0"/>
          <c:showSerName val="0"/>
          <c:showPercent val="0"/>
          <c:showBubbleSize val="0"/>
        </c:dLbls>
        <c:marker val="1"/>
        <c:smooth val="0"/>
        <c:axId val="861062496"/>
        <c:axId val="861058144"/>
        <c:extLst/>
      </c:lineChart>
      <c:dateAx>
        <c:axId val="861062496"/>
        <c:scaling>
          <c:orientation val="minMax"/>
          <c:max val="45565"/>
          <c:min val="38260"/>
        </c:scaling>
        <c:delete val="0"/>
        <c:axPos val="b"/>
        <c:majorGridlines>
          <c:spPr>
            <a:ln>
              <a:noFill/>
            </a:ln>
          </c:spPr>
        </c:majorGridlines>
        <c:numFmt formatCode="[$-409]mmm\-yy;@" sourceLinked="0"/>
        <c:majorTickMark val="out"/>
        <c:minorTickMark val="none"/>
        <c:tickLblPos val="nextTo"/>
        <c:spPr>
          <a:ln>
            <a:solidFill>
              <a:srgbClr val="D9D9D9"/>
            </a:solidFill>
          </a:ln>
        </c:spPr>
        <c:txPr>
          <a:bodyPr rot="0" vert="horz"/>
          <a:lstStyle/>
          <a:p>
            <a:pPr>
              <a:defRPr cap="all" baseline="0">
                <a:solidFill>
                  <a:schemeClr val="bg1"/>
                </a:solidFill>
                <a:latin typeface="Poppins" panose="00000500000000000000" pitchFamily="2" charset="0"/>
                <a:cs typeface="Poppins" panose="00000500000000000000" pitchFamily="2" charset="0"/>
              </a:defRPr>
            </a:pPr>
            <a:endParaRPr lang="en-US"/>
          </a:p>
        </c:txPr>
        <c:crossAx val="861058144"/>
        <c:crosses val="autoZero"/>
        <c:auto val="1"/>
        <c:lblOffset val="100"/>
        <c:baseTimeUnit val="days"/>
        <c:majorUnit val="4"/>
        <c:majorTimeUnit val="years"/>
      </c:dateAx>
      <c:valAx>
        <c:axId val="861058144"/>
        <c:scaling>
          <c:orientation val="minMax"/>
          <c:max val="8"/>
          <c:min val="3"/>
        </c:scaling>
        <c:delete val="0"/>
        <c:axPos val="l"/>
        <c:majorGridlines>
          <c:spPr>
            <a:ln>
              <a:solidFill>
                <a:srgbClr val="D9D9D9">
                  <a:alpha val="72000"/>
                </a:srgbClr>
              </a:solidFill>
            </a:ln>
          </c:spPr>
        </c:majorGridlines>
        <c:numFmt formatCode="#,##0.0" sourceLinked="0"/>
        <c:majorTickMark val="out"/>
        <c:minorTickMark val="none"/>
        <c:tickLblPos val="nextTo"/>
        <c:spPr>
          <a:ln>
            <a:solidFill>
              <a:srgbClr val="D9D9D9"/>
            </a:solidFill>
          </a:ln>
        </c:spPr>
        <c:txPr>
          <a:bodyPr/>
          <a:lstStyle/>
          <a:p>
            <a:pPr algn="ct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861062496"/>
        <c:crosses val="autoZero"/>
        <c:crossBetween val="between"/>
        <c:majorUnit val="1"/>
      </c:valAx>
      <c:spPr>
        <a:solidFill>
          <a:srgbClr val="2B3E59"/>
        </a:solidFill>
      </c:spPr>
    </c:plotArea>
    <c:plotVisOnly val="1"/>
    <c:dispBlanksAs val="gap"/>
    <c:showDLblsOverMax val="0"/>
  </c:chart>
  <c:spPr>
    <a:solidFill>
      <a:srgbClr val="2B3E59"/>
    </a:solidFill>
    <a:ln>
      <a:noFill/>
    </a:ln>
  </c:spPr>
  <c:txPr>
    <a:bodyPr/>
    <a:lstStyle/>
    <a:p>
      <a:pPr>
        <a:defRPr>
          <a:latin typeface="Arial" panose="020B0604020202020204" pitchFamily="34" charset="0"/>
          <a:cs typeface="Arial" panose="020B0604020202020204" pitchFamily="3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15200023074036"/>
          <c:y val="9.2792145593869738E-2"/>
          <c:w val="0.80477272071760253"/>
          <c:h val="0.75454980842911867"/>
        </c:manualLayout>
      </c:layout>
      <c:barChart>
        <c:barDir val="col"/>
        <c:grouping val="clustered"/>
        <c:varyColors val="0"/>
        <c:ser>
          <c:idx val="3"/>
          <c:order val="3"/>
          <c:tx>
            <c:strRef>
              <c:f>Sheet1!$E$1</c:f>
              <c:strCache>
                <c:ptCount val="1"/>
                <c:pt idx="0">
                  <c:v>Recession</c:v>
                </c:pt>
              </c:strCache>
            </c:strRef>
          </c:tx>
          <c:spPr>
            <a:noFill/>
            <a:ln w="19050">
              <a:solidFill>
                <a:srgbClr val="9ACCD4">
                  <a:alpha val="52000"/>
                </a:srgbClr>
              </a:solidFill>
            </a:ln>
            <a:effectLst/>
          </c:spPr>
          <c:invertIfNegative val="0"/>
          <c:cat>
            <c:numRef>
              <c:f>Sheet1!$A$2:$A$242</c:f>
              <c:numCache>
                <c:formatCode>m/d/yyyy</c:formatCode>
                <c:ptCount val="241"/>
                <c:pt idx="0" formatCode="[$-409]mmm\-yy;@">
                  <c:v>38442</c:v>
                </c:pt>
                <c:pt idx="1">
                  <c:v>38472</c:v>
                </c:pt>
                <c:pt idx="2">
                  <c:v>38503</c:v>
                </c:pt>
                <c:pt idx="3">
                  <c:v>38533</c:v>
                </c:pt>
                <c:pt idx="4">
                  <c:v>38564</c:v>
                </c:pt>
                <c:pt idx="5">
                  <c:v>38595</c:v>
                </c:pt>
                <c:pt idx="6">
                  <c:v>38625</c:v>
                </c:pt>
                <c:pt idx="7">
                  <c:v>38656</c:v>
                </c:pt>
                <c:pt idx="8">
                  <c:v>38686</c:v>
                </c:pt>
                <c:pt idx="9">
                  <c:v>38717</c:v>
                </c:pt>
                <c:pt idx="10">
                  <c:v>38748</c:v>
                </c:pt>
                <c:pt idx="11">
                  <c:v>38776</c:v>
                </c:pt>
                <c:pt idx="12">
                  <c:v>38807</c:v>
                </c:pt>
                <c:pt idx="13">
                  <c:v>38837</c:v>
                </c:pt>
                <c:pt idx="14">
                  <c:v>38868</c:v>
                </c:pt>
                <c:pt idx="15">
                  <c:v>38898</c:v>
                </c:pt>
                <c:pt idx="16">
                  <c:v>38929</c:v>
                </c:pt>
                <c:pt idx="17">
                  <c:v>38960</c:v>
                </c:pt>
                <c:pt idx="18">
                  <c:v>38990</c:v>
                </c:pt>
                <c:pt idx="19">
                  <c:v>39021</c:v>
                </c:pt>
                <c:pt idx="20">
                  <c:v>39051</c:v>
                </c:pt>
                <c:pt idx="21">
                  <c:v>39082</c:v>
                </c:pt>
                <c:pt idx="22">
                  <c:v>39113</c:v>
                </c:pt>
                <c:pt idx="23">
                  <c:v>39141</c:v>
                </c:pt>
                <c:pt idx="24">
                  <c:v>39172</c:v>
                </c:pt>
                <c:pt idx="25">
                  <c:v>39202</c:v>
                </c:pt>
                <c:pt idx="26">
                  <c:v>39233</c:v>
                </c:pt>
                <c:pt idx="27">
                  <c:v>39263</c:v>
                </c:pt>
                <c:pt idx="28">
                  <c:v>39294</c:v>
                </c:pt>
                <c:pt idx="29">
                  <c:v>39325</c:v>
                </c:pt>
                <c:pt idx="30">
                  <c:v>39355</c:v>
                </c:pt>
                <c:pt idx="31">
                  <c:v>39386</c:v>
                </c:pt>
                <c:pt idx="32">
                  <c:v>39416</c:v>
                </c:pt>
                <c:pt idx="33">
                  <c:v>39447</c:v>
                </c:pt>
                <c:pt idx="34">
                  <c:v>39478</c:v>
                </c:pt>
                <c:pt idx="35">
                  <c:v>39507</c:v>
                </c:pt>
                <c:pt idx="36">
                  <c:v>39538</c:v>
                </c:pt>
                <c:pt idx="37">
                  <c:v>39568</c:v>
                </c:pt>
                <c:pt idx="38">
                  <c:v>39599</c:v>
                </c:pt>
                <c:pt idx="39">
                  <c:v>39629</c:v>
                </c:pt>
                <c:pt idx="40">
                  <c:v>39660</c:v>
                </c:pt>
                <c:pt idx="41">
                  <c:v>39691</c:v>
                </c:pt>
                <c:pt idx="42">
                  <c:v>39721</c:v>
                </c:pt>
                <c:pt idx="43">
                  <c:v>39752</c:v>
                </c:pt>
                <c:pt idx="44">
                  <c:v>39782</c:v>
                </c:pt>
                <c:pt idx="45">
                  <c:v>39813</c:v>
                </c:pt>
                <c:pt idx="46">
                  <c:v>39844</c:v>
                </c:pt>
                <c:pt idx="47">
                  <c:v>39872</c:v>
                </c:pt>
                <c:pt idx="48">
                  <c:v>39903</c:v>
                </c:pt>
                <c:pt idx="49">
                  <c:v>39933</c:v>
                </c:pt>
                <c:pt idx="50">
                  <c:v>39964</c:v>
                </c:pt>
                <c:pt idx="51">
                  <c:v>39994</c:v>
                </c:pt>
                <c:pt idx="52">
                  <c:v>40025</c:v>
                </c:pt>
                <c:pt idx="53">
                  <c:v>40056</c:v>
                </c:pt>
                <c:pt idx="54">
                  <c:v>40086</c:v>
                </c:pt>
                <c:pt idx="55">
                  <c:v>40117</c:v>
                </c:pt>
                <c:pt idx="56">
                  <c:v>40147</c:v>
                </c:pt>
                <c:pt idx="57">
                  <c:v>40178</c:v>
                </c:pt>
                <c:pt idx="58">
                  <c:v>40209</c:v>
                </c:pt>
                <c:pt idx="59">
                  <c:v>40237</c:v>
                </c:pt>
                <c:pt idx="60">
                  <c:v>40268</c:v>
                </c:pt>
                <c:pt idx="61">
                  <c:v>40298</c:v>
                </c:pt>
                <c:pt idx="62">
                  <c:v>40329</c:v>
                </c:pt>
                <c:pt idx="63">
                  <c:v>40359</c:v>
                </c:pt>
                <c:pt idx="64">
                  <c:v>40390</c:v>
                </c:pt>
                <c:pt idx="65">
                  <c:v>40421</c:v>
                </c:pt>
                <c:pt idx="66">
                  <c:v>40451</c:v>
                </c:pt>
                <c:pt idx="67">
                  <c:v>40482</c:v>
                </c:pt>
                <c:pt idx="68">
                  <c:v>40512</c:v>
                </c:pt>
                <c:pt idx="69">
                  <c:v>40543</c:v>
                </c:pt>
                <c:pt idx="70">
                  <c:v>40574</c:v>
                </c:pt>
                <c:pt idx="71">
                  <c:v>40602</c:v>
                </c:pt>
                <c:pt idx="72">
                  <c:v>40633</c:v>
                </c:pt>
                <c:pt idx="73">
                  <c:v>40663</c:v>
                </c:pt>
                <c:pt idx="74">
                  <c:v>40694</c:v>
                </c:pt>
                <c:pt idx="75">
                  <c:v>40724</c:v>
                </c:pt>
                <c:pt idx="76">
                  <c:v>40755</c:v>
                </c:pt>
                <c:pt idx="77">
                  <c:v>40786</c:v>
                </c:pt>
                <c:pt idx="78">
                  <c:v>40816</c:v>
                </c:pt>
                <c:pt idx="79">
                  <c:v>40847</c:v>
                </c:pt>
                <c:pt idx="80">
                  <c:v>40877</c:v>
                </c:pt>
                <c:pt idx="81">
                  <c:v>40908</c:v>
                </c:pt>
                <c:pt idx="82">
                  <c:v>40939</c:v>
                </c:pt>
                <c:pt idx="83">
                  <c:v>40968</c:v>
                </c:pt>
                <c:pt idx="84">
                  <c:v>40999</c:v>
                </c:pt>
                <c:pt idx="85">
                  <c:v>41029</c:v>
                </c:pt>
                <c:pt idx="86">
                  <c:v>41060</c:v>
                </c:pt>
                <c:pt idx="87">
                  <c:v>41090</c:v>
                </c:pt>
                <c:pt idx="88">
                  <c:v>41121</c:v>
                </c:pt>
                <c:pt idx="89">
                  <c:v>41152</c:v>
                </c:pt>
                <c:pt idx="90">
                  <c:v>41182</c:v>
                </c:pt>
                <c:pt idx="91">
                  <c:v>41213</c:v>
                </c:pt>
                <c:pt idx="92">
                  <c:v>41243</c:v>
                </c:pt>
                <c:pt idx="93">
                  <c:v>41274</c:v>
                </c:pt>
                <c:pt idx="94">
                  <c:v>41305</c:v>
                </c:pt>
                <c:pt idx="95">
                  <c:v>41333</c:v>
                </c:pt>
                <c:pt idx="96">
                  <c:v>41364</c:v>
                </c:pt>
                <c:pt idx="97">
                  <c:v>41394</c:v>
                </c:pt>
                <c:pt idx="98">
                  <c:v>41425</c:v>
                </c:pt>
                <c:pt idx="99">
                  <c:v>41455</c:v>
                </c:pt>
                <c:pt idx="100">
                  <c:v>41486</c:v>
                </c:pt>
                <c:pt idx="101">
                  <c:v>41517</c:v>
                </c:pt>
                <c:pt idx="102">
                  <c:v>41547</c:v>
                </c:pt>
                <c:pt idx="103">
                  <c:v>41578</c:v>
                </c:pt>
                <c:pt idx="104">
                  <c:v>41608</c:v>
                </c:pt>
                <c:pt idx="105">
                  <c:v>41639</c:v>
                </c:pt>
                <c:pt idx="106">
                  <c:v>41670</c:v>
                </c:pt>
                <c:pt idx="107">
                  <c:v>41698</c:v>
                </c:pt>
                <c:pt idx="108">
                  <c:v>41729</c:v>
                </c:pt>
                <c:pt idx="109">
                  <c:v>41759</c:v>
                </c:pt>
                <c:pt idx="110">
                  <c:v>41790</c:v>
                </c:pt>
                <c:pt idx="111">
                  <c:v>41820</c:v>
                </c:pt>
                <c:pt idx="112">
                  <c:v>41851</c:v>
                </c:pt>
                <c:pt idx="113">
                  <c:v>41882</c:v>
                </c:pt>
                <c:pt idx="114">
                  <c:v>41912</c:v>
                </c:pt>
                <c:pt idx="115">
                  <c:v>41943</c:v>
                </c:pt>
                <c:pt idx="116">
                  <c:v>41973</c:v>
                </c:pt>
                <c:pt idx="117">
                  <c:v>42004</c:v>
                </c:pt>
                <c:pt idx="118">
                  <c:v>42035</c:v>
                </c:pt>
                <c:pt idx="119">
                  <c:v>42063</c:v>
                </c:pt>
                <c:pt idx="120">
                  <c:v>42094</c:v>
                </c:pt>
                <c:pt idx="121">
                  <c:v>42124</c:v>
                </c:pt>
                <c:pt idx="122">
                  <c:v>42155</c:v>
                </c:pt>
                <c:pt idx="123">
                  <c:v>42185</c:v>
                </c:pt>
                <c:pt idx="124">
                  <c:v>42216</c:v>
                </c:pt>
                <c:pt idx="125">
                  <c:v>42247</c:v>
                </c:pt>
                <c:pt idx="126">
                  <c:v>42277</c:v>
                </c:pt>
                <c:pt idx="127">
                  <c:v>42308</c:v>
                </c:pt>
                <c:pt idx="128">
                  <c:v>42338</c:v>
                </c:pt>
                <c:pt idx="129">
                  <c:v>42369</c:v>
                </c:pt>
                <c:pt idx="130">
                  <c:v>42400</c:v>
                </c:pt>
                <c:pt idx="131">
                  <c:v>42429</c:v>
                </c:pt>
                <c:pt idx="132">
                  <c:v>42460</c:v>
                </c:pt>
                <c:pt idx="133">
                  <c:v>42490</c:v>
                </c:pt>
                <c:pt idx="134">
                  <c:v>42521</c:v>
                </c:pt>
                <c:pt idx="135">
                  <c:v>42551</c:v>
                </c:pt>
                <c:pt idx="136">
                  <c:v>42582</c:v>
                </c:pt>
                <c:pt idx="137">
                  <c:v>42613</c:v>
                </c:pt>
                <c:pt idx="138">
                  <c:v>42643</c:v>
                </c:pt>
                <c:pt idx="139">
                  <c:v>42674</c:v>
                </c:pt>
                <c:pt idx="140">
                  <c:v>42704</c:v>
                </c:pt>
                <c:pt idx="141">
                  <c:v>42735</c:v>
                </c:pt>
                <c:pt idx="142">
                  <c:v>42766</c:v>
                </c:pt>
                <c:pt idx="143">
                  <c:v>42794</c:v>
                </c:pt>
                <c:pt idx="144">
                  <c:v>42825</c:v>
                </c:pt>
                <c:pt idx="145">
                  <c:v>42855</c:v>
                </c:pt>
                <c:pt idx="146">
                  <c:v>42886</c:v>
                </c:pt>
                <c:pt idx="147">
                  <c:v>42916</c:v>
                </c:pt>
                <c:pt idx="148">
                  <c:v>42947</c:v>
                </c:pt>
                <c:pt idx="149">
                  <c:v>42978</c:v>
                </c:pt>
                <c:pt idx="150">
                  <c:v>43008</c:v>
                </c:pt>
                <c:pt idx="151">
                  <c:v>43039</c:v>
                </c:pt>
                <c:pt idx="152">
                  <c:v>43069</c:v>
                </c:pt>
                <c:pt idx="153">
                  <c:v>43100</c:v>
                </c:pt>
                <c:pt idx="154">
                  <c:v>43131</c:v>
                </c:pt>
                <c:pt idx="155">
                  <c:v>43159</c:v>
                </c:pt>
                <c:pt idx="156">
                  <c:v>43190</c:v>
                </c:pt>
                <c:pt idx="157">
                  <c:v>43220</c:v>
                </c:pt>
                <c:pt idx="158">
                  <c:v>43251</c:v>
                </c:pt>
                <c:pt idx="159">
                  <c:v>43281</c:v>
                </c:pt>
                <c:pt idx="160">
                  <c:v>43312</c:v>
                </c:pt>
                <c:pt idx="161">
                  <c:v>43343</c:v>
                </c:pt>
                <c:pt idx="162">
                  <c:v>43373</c:v>
                </c:pt>
                <c:pt idx="163">
                  <c:v>43404</c:v>
                </c:pt>
                <c:pt idx="164">
                  <c:v>43434</c:v>
                </c:pt>
                <c:pt idx="165">
                  <c:v>43465</c:v>
                </c:pt>
                <c:pt idx="166">
                  <c:v>43496</c:v>
                </c:pt>
                <c:pt idx="167">
                  <c:v>43524</c:v>
                </c:pt>
                <c:pt idx="168">
                  <c:v>43555</c:v>
                </c:pt>
                <c:pt idx="169">
                  <c:v>43585</c:v>
                </c:pt>
                <c:pt idx="170">
                  <c:v>43616</c:v>
                </c:pt>
                <c:pt idx="171">
                  <c:v>43646</c:v>
                </c:pt>
                <c:pt idx="172">
                  <c:v>43677</c:v>
                </c:pt>
                <c:pt idx="173">
                  <c:v>43708</c:v>
                </c:pt>
                <c:pt idx="174">
                  <c:v>43738</c:v>
                </c:pt>
                <c:pt idx="175">
                  <c:v>43769</c:v>
                </c:pt>
                <c:pt idx="176">
                  <c:v>43799</c:v>
                </c:pt>
                <c:pt idx="177">
                  <c:v>43830</c:v>
                </c:pt>
                <c:pt idx="178">
                  <c:v>43861</c:v>
                </c:pt>
                <c:pt idx="179">
                  <c:v>43890</c:v>
                </c:pt>
                <c:pt idx="180">
                  <c:v>43921</c:v>
                </c:pt>
                <c:pt idx="181">
                  <c:v>43951</c:v>
                </c:pt>
                <c:pt idx="182">
                  <c:v>43982</c:v>
                </c:pt>
                <c:pt idx="183">
                  <c:v>44012</c:v>
                </c:pt>
                <c:pt idx="184">
                  <c:v>44043</c:v>
                </c:pt>
                <c:pt idx="185">
                  <c:v>44074</c:v>
                </c:pt>
                <c:pt idx="186">
                  <c:v>44104</c:v>
                </c:pt>
                <c:pt idx="187">
                  <c:v>44135</c:v>
                </c:pt>
                <c:pt idx="188">
                  <c:v>44165</c:v>
                </c:pt>
                <c:pt idx="189">
                  <c:v>44196</c:v>
                </c:pt>
                <c:pt idx="190">
                  <c:v>44227</c:v>
                </c:pt>
                <c:pt idx="191">
                  <c:v>44255</c:v>
                </c:pt>
                <c:pt idx="192">
                  <c:v>44286</c:v>
                </c:pt>
                <c:pt idx="193">
                  <c:v>44316</c:v>
                </c:pt>
                <c:pt idx="194">
                  <c:v>44347</c:v>
                </c:pt>
                <c:pt idx="195">
                  <c:v>44377</c:v>
                </c:pt>
                <c:pt idx="196">
                  <c:v>44408</c:v>
                </c:pt>
                <c:pt idx="197">
                  <c:v>44439</c:v>
                </c:pt>
                <c:pt idx="198">
                  <c:v>44469</c:v>
                </c:pt>
                <c:pt idx="199">
                  <c:v>44500</c:v>
                </c:pt>
                <c:pt idx="200">
                  <c:v>44530</c:v>
                </c:pt>
                <c:pt idx="201">
                  <c:v>44561</c:v>
                </c:pt>
                <c:pt idx="202">
                  <c:v>44592</c:v>
                </c:pt>
                <c:pt idx="203">
                  <c:v>44620</c:v>
                </c:pt>
                <c:pt idx="204">
                  <c:v>44651</c:v>
                </c:pt>
                <c:pt idx="205">
                  <c:v>44681</c:v>
                </c:pt>
                <c:pt idx="206">
                  <c:v>44712</c:v>
                </c:pt>
                <c:pt idx="207">
                  <c:v>44742</c:v>
                </c:pt>
                <c:pt idx="208">
                  <c:v>44773</c:v>
                </c:pt>
                <c:pt idx="209">
                  <c:v>44804</c:v>
                </c:pt>
                <c:pt idx="210">
                  <c:v>44834</c:v>
                </c:pt>
                <c:pt idx="211">
                  <c:v>44865</c:v>
                </c:pt>
                <c:pt idx="212">
                  <c:v>44895</c:v>
                </c:pt>
                <c:pt idx="213">
                  <c:v>44926</c:v>
                </c:pt>
                <c:pt idx="214">
                  <c:v>44957</c:v>
                </c:pt>
                <c:pt idx="215">
                  <c:v>44985</c:v>
                </c:pt>
                <c:pt idx="216">
                  <c:v>45016</c:v>
                </c:pt>
                <c:pt idx="217">
                  <c:v>45046</c:v>
                </c:pt>
                <c:pt idx="218">
                  <c:v>45077</c:v>
                </c:pt>
                <c:pt idx="219">
                  <c:v>45107</c:v>
                </c:pt>
                <c:pt idx="220">
                  <c:v>45138</c:v>
                </c:pt>
                <c:pt idx="221">
                  <c:v>45169</c:v>
                </c:pt>
                <c:pt idx="222">
                  <c:v>45199</c:v>
                </c:pt>
                <c:pt idx="223">
                  <c:v>45230</c:v>
                </c:pt>
                <c:pt idx="224">
                  <c:v>45260</c:v>
                </c:pt>
                <c:pt idx="225">
                  <c:v>45291</c:v>
                </c:pt>
                <c:pt idx="226">
                  <c:v>45322</c:v>
                </c:pt>
                <c:pt idx="227">
                  <c:v>45351</c:v>
                </c:pt>
                <c:pt idx="228">
                  <c:v>45382</c:v>
                </c:pt>
                <c:pt idx="229">
                  <c:v>45412</c:v>
                </c:pt>
                <c:pt idx="230">
                  <c:v>45443</c:v>
                </c:pt>
                <c:pt idx="231">
                  <c:v>45473</c:v>
                </c:pt>
                <c:pt idx="232">
                  <c:v>45504</c:v>
                </c:pt>
                <c:pt idx="233">
                  <c:v>45535</c:v>
                </c:pt>
                <c:pt idx="234">
                  <c:v>45565</c:v>
                </c:pt>
                <c:pt idx="235">
                  <c:v>45596</c:v>
                </c:pt>
                <c:pt idx="236">
                  <c:v>45626</c:v>
                </c:pt>
                <c:pt idx="237">
                  <c:v>45657</c:v>
                </c:pt>
                <c:pt idx="238">
                  <c:v>45688</c:v>
                </c:pt>
                <c:pt idx="239">
                  <c:v>45716</c:v>
                </c:pt>
                <c:pt idx="240">
                  <c:v>45747</c:v>
                </c:pt>
              </c:numCache>
            </c:numRef>
          </c:cat>
          <c:val>
            <c:numRef>
              <c:f>Sheet1!$E$2:$E$242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100</c:v>
                </c:pt>
                <c:pt idx="180">
                  <c:v>100</c:v>
                </c:pt>
                <c:pt idx="181">
                  <c:v>100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val>
          <c:extLst>
            <c:ext xmlns:c16="http://schemas.microsoft.com/office/drawing/2014/chart" uri="{C3380CC4-5D6E-409C-BE32-E72D297353CC}">
              <c16:uniqueId val="{00000000-63AC-4F57-A6FF-629B730CD53E}"/>
            </c:ext>
          </c:extLst>
        </c:ser>
        <c:dLbls>
          <c:showLegendKey val="0"/>
          <c:showVal val="0"/>
          <c:showCatName val="0"/>
          <c:showSerName val="0"/>
          <c:showPercent val="0"/>
          <c:showBubbleSize val="0"/>
        </c:dLbls>
        <c:gapWidth val="150"/>
        <c:axId val="628205040"/>
        <c:axId val="628203600"/>
      </c:barChart>
      <c:lineChart>
        <c:grouping val="standard"/>
        <c:varyColors val="0"/>
        <c:ser>
          <c:idx val="2"/>
          <c:order val="2"/>
          <c:tx>
            <c:strRef>
              <c:f>Sheet1!$D$1</c:f>
              <c:strCache>
                <c:ptCount val="1"/>
                <c:pt idx="0">
                  <c:v>2-YR BREAKEVENS</c:v>
                </c:pt>
              </c:strCache>
            </c:strRef>
          </c:tx>
          <c:spPr>
            <a:ln w="41275" cap="rnd">
              <a:solidFill>
                <a:srgbClr val="EAA03E"/>
              </a:solidFill>
              <a:round/>
            </a:ln>
            <a:effectLst/>
          </c:spPr>
          <c:marker>
            <c:symbol val="none"/>
          </c:marker>
          <c:cat>
            <c:numRef>
              <c:f>Sheet1!$A$2:$A$242</c:f>
              <c:numCache>
                <c:formatCode>m/d/yyyy</c:formatCode>
                <c:ptCount val="241"/>
                <c:pt idx="0" formatCode="[$-409]mmm\-yy;@">
                  <c:v>38442</c:v>
                </c:pt>
                <c:pt idx="1">
                  <c:v>38472</c:v>
                </c:pt>
                <c:pt idx="2">
                  <c:v>38503</c:v>
                </c:pt>
                <c:pt idx="3">
                  <c:v>38533</c:v>
                </c:pt>
                <c:pt idx="4">
                  <c:v>38564</c:v>
                </c:pt>
                <c:pt idx="5">
                  <c:v>38595</c:v>
                </c:pt>
                <c:pt idx="6">
                  <c:v>38625</c:v>
                </c:pt>
                <c:pt idx="7">
                  <c:v>38656</c:v>
                </c:pt>
                <c:pt idx="8">
                  <c:v>38686</c:v>
                </c:pt>
                <c:pt idx="9">
                  <c:v>38717</c:v>
                </c:pt>
                <c:pt idx="10">
                  <c:v>38748</c:v>
                </c:pt>
                <c:pt idx="11">
                  <c:v>38776</c:v>
                </c:pt>
                <c:pt idx="12">
                  <c:v>38807</c:v>
                </c:pt>
                <c:pt idx="13">
                  <c:v>38837</c:v>
                </c:pt>
                <c:pt idx="14">
                  <c:v>38868</c:v>
                </c:pt>
                <c:pt idx="15">
                  <c:v>38898</c:v>
                </c:pt>
                <c:pt idx="16">
                  <c:v>38929</c:v>
                </c:pt>
                <c:pt idx="17">
                  <c:v>38960</c:v>
                </c:pt>
                <c:pt idx="18">
                  <c:v>38990</c:v>
                </c:pt>
                <c:pt idx="19">
                  <c:v>39021</c:v>
                </c:pt>
                <c:pt idx="20">
                  <c:v>39051</c:v>
                </c:pt>
                <c:pt idx="21">
                  <c:v>39082</c:v>
                </c:pt>
                <c:pt idx="22">
                  <c:v>39113</c:v>
                </c:pt>
                <c:pt idx="23">
                  <c:v>39141</c:v>
                </c:pt>
                <c:pt idx="24">
                  <c:v>39172</c:v>
                </c:pt>
                <c:pt idx="25">
                  <c:v>39202</c:v>
                </c:pt>
                <c:pt idx="26">
                  <c:v>39233</c:v>
                </c:pt>
                <c:pt idx="27">
                  <c:v>39263</c:v>
                </c:pt>
                <c:pt idx="28">
                  <c:v>39294</c:v>
                </c:pt>
                <c:pt idx="29">
                  <c:v>39325</c:v>
                </c:pt>
                <c:pt idx="30">
                  <c:v>39355</c:v>
                </c:pt>
                <c:pt idx="31">
                  <c:v>39386</c:v>
                </c:pt>
                <c:pt idx="32">
                  <c:v>39416</c:v>
                </c:pt>
                <c:pt idx="33">
                  <c:v>39447</c:v>
                </c:pt>
                <c:pt idx="34">
                  <c:v>39478</c:v>
                </c:pt>
                <c:pt idx="35">
                  <c:v>39507</c:v>
                </c:pt>
                <c:pt idx="36">
                  <c:v>39538</c:v>
                </c:pt>
                <c:pt idx="37">
                  <c:v>39568</c:v>
                </c:pt>
                <c:pt idx="38">
                  <c:v>39599</c:v>
                </c:pt>
                <c:pt idx="39">
                  <c:v>39629</c:v>
                </c:pt>
                <c:pt idx="40">
                  <c:v>39660</c:v>
                </c:pt>
                <c:pt idx="41">
                  <c:v>39691</c:v>
                </c:pt>
                <c:pt idx="42">
                  <c:v>39721</c:v>
                </c:pt>
                <c:pt idx="43">
                  <c:v>39752</c:v>
                </c:pt>
                <c:pt idx="44">
                  <c:v>39782</c:v>
                </c:pt>
                <c:pt idx="45">
                  <c:v>39813</c:v>
                </c:pt>
                <c:pt idx="46">
                  <c:v>39844</c:v>
                </c:pt>
                <c:pt idx="47">
                  <c:v>39872</c:v>
                </c:pt>
                <c:pt idx="48">
                  <c:v>39903</c:v>
                </c:pt>
                <c:pt idx="49">
                  <c:v>39933</c:v>
                </c:pt>
                <c:pt idx="50">
                  <c:v>39964</c:v>
                </c:pt>
                <c:pt idx="51">
                  <c:v>39994</c:v>
                </c:pt>
                <c:pt idx="52">
                  <c:v>40025</c:v>
                </c:pt>
                <c:pt idx="53">
                  <c:v>40056</c:v>
                </c:pt>
                <c:pt idx="54">
                  <c:v>40086</c:v>
                </c:pt>
                <c:pt idx="55">
                  <c:v>40117</c:v>
                </c:pt>
                <c:pt idx="56">
                  <c:v>40147</c:v>
                </c:pt>
                <c:pt idx="57">
                  <c:v>40178</c:v>
                </c:pt>
                <c:pt idx="58">
                  <c:v>40209</c:v>
                </c:pt>
                <c:pt idx="59">
                  <c:v>40237</c:v>
                </c:pt>
                <c:pt idx="60">
                  <c:v>40268</c:v>
                </c:pt>
                <c:pt idx="61">
                  <c:v>40298</c:v>
                </c:pt>
                <c:pt idx="62">
                  <c:v>40329</c:v>
                </c:pt>
                <c:pt idx="63">
                  <c:v>40359</c:v>
                </c:pt>
                <c:pt idx="64">
                  <c:v>40390</c:v>
                </c:pt>
                <c:pt idx="65">
                  <c:v>40421</c:v>
                </c:pt>
                <c:pt idx="66">
                  <c:v>40451</c:v>
                </c:pt>
                <c:pt idx="67">
                  <c:v>40482</c:v>
                </c:pt>
                <c:pt idx="68">
                  <c:v>40512</c:v>
                </c:pt>
                <c:pt idx="69">
                  <c:v>40543</c:v>
                </c:pt>
                <c:pt idx="70">
                  <c:v>40574</c:v>
                </c:pt>
                <c:pt idx="71">
                  <c:v>40602</c:v>
                </c:pt>
                <c:pt idx="72">
                  <c:v>40633</c:v>
                </c:pt>
                <c:pt idx="73">
                  <c:v>40663</c:v>
                </c:pt>
                <c:pt idx="74">
                  <c:v>40694</c:v>
                </c:pt>
                <c:pt idx="75">
                  <c:v>40724</c:v>
                </c:pt>
                <c:pt idx="76">
                  <c:v>40755</c:v>
                </c:pt>
                <c:pt idx="77">
                  <c:v>40786</c:v>
                </c:pt>
                <c:pt idx="78">
                  <c:v>40816</c:v>
                </c:pt>
                <c:pt idx="79">
                  <c:v>40847</c:v>
                </c:pt>
                <c:pt idx="80">
                  <c:v>40877</c:v>
                </c:pt>
                <c:pt idx="81">
                  <c:v>40908</c:v>
                </c:pt>
                <c:pt idx="82">
                  <c:v>40939</c:v>
                </c:pt>
                <c:pt idx="83">
                  <c:v>40968</c:v>
                </c:pt>
                <c:pt idx="84">
                  <c:v>40999</c:v>
                </c:pt>
                <c:pt idx="85">
                  <c:v>41029</c:v>
                </c:pt>
                <c:pt idx="86">
                  <c:v>41060</c:v>
                </c:pt>
                <c:pt idx="87">
                  <c:v>41090</c:v>
                </c:pt>
                <c:pt idx="88">
                  <c:v>41121</c:v>
                </c:pt>
                <c:pt idx="89">
                  <c:v>41152</c:v>
                </c:pt>
                <c:pt idx="90">
                  <c:v>41182</c:v>
                </c:pt>
                <c:pt idx="91">
                  <c:v>41213</c:v>
                </c:pt>
                <c:pt idx="92">
                  <c:v>41243</c:v>
                </c:pt>
                <c:pt idx="93">
                  <c:v>41274</c:v>
                </c:pt>
                <c:pt idx="94">
                  <c:v>41305</c:v>
                </c:pt>
                <c:pt idx="95">
                  <c:v>41333</c:v>
                </c:pt>
                <c:pt idx="96">
                  <c:v>41364</c:v>
                </c:pt>
                <c:pt idx="97">
                  <c:v>41394</c:v>
                </c:pt>
                <c:pt idx="98">
                  <c:v>41425</c:v>
                </c:pt>
                <c:pt idx="99">
                  <c:v>41455</c:v>
                </c:pt>
                <c:pt idx="100">
                  <c:v>41486</c:v>
                </c:pt>
                <c:pt idx="101">
                  <c:v>41517</c:v>
                </c:pt>
                <c:pt idx="102">
                  <c:v>41547</c:v>
                </c:pt>
                <c:pt idx="103">
                  <c:v>41578</c:v>
                </c:pt>
                <c:pt idx="104">
                  <c:v>41608</c:v>
                </c:pt>
                <c:pt idx="105">
                  <c:v>41639</c:v>
                </c:pt>
                <c:pt idx="106">
                  <c:v>41670</c:v>
                </c:pt>
                <c:pt idx="107">
                  <c:v>41698</c:v>
                </c:pt>
                <c:pt idx="108">
                  <c:v>41729</c:v>
                </c:pt>
                <c:pt idx="109">
                  <c:v>41759</c:v>
                </c:pt>
                <c:pt idx="110">
                  <c:v>41790</c:v>
                </c:pt>
                <c:pt idx="111">
                  <c:v>41820</c:v>
                </c:pt>
                <c:pt idx="112">
                  <c:v>41851</c:v>
                </c:pt>
                <c:pt idx="113">
                  <c:v>41882</c:v>
                </c:pt>
                <c:pt idx="114">
                  <c:v>41912</c:v>
                </c:pt>
                <c:pt idx="115">
                  <c:v>41943</c:v>
                </c:pt>
                <c:pt idx="116">
                  <c:v>41973</c:v>
                </c:pt>
                <c:pt idx="117">
                  <c:v>42004</c:v>
                </c:pt>
                <c:pt idx="118">
                  <c:v>42035</c:v>
                </c:pt>
                <c:pt idx="119">
                  <c:v>42063</c:v>
                </c:pt>
                <c:pt idx="120">
                  <c:v>42094</c:v>
                </c:pt>
                <c:pt idx="121">
                  <c:v>42124</c:v>
                </c:pt>
                <c:pt idx="122">
                  <c:v>42155</c:v>
                </c:pt>
                <c:pt idx="123">
                  <c:v>42185</c:v>
                </c:pt>
                <c:pt idx="124">
                  <c:v>42216</c:v>
                </c:pt>
                <c:pt idx="125">
                  <c:v>42247</c:v>
                </c:pt>
                <c:pt idx="126">
                  <c:v>42277</c:v>
                </c:pt>
                <c:pt idx="127">
                  <c:v>42308</c:v>
                </c:pt>
                <c:pt idx="128">
                  <c:v>42338</c:v>
                </c:pt>
                <c:pt idx="129">
                  <c:v>42369</c:v>
                </c:pt>
                <c:pt idx="130">
                  <c:v>42400</c:v>
                </c:pt>
                <c:pt idx="131">
                  <c:v>42429</c:v>
                </c:pt>
                <c:pt idx="132">
                  <c:v>42460</c:v>
                </c:pt>
                <c:pt idx="133">
                  <c:v>42490</c:v>
                </c:pt>
                <c:pt idx="134">
                  <c:v>42521</c:v>
                </c:pt>
                <c:pt idx="135">
                  <c:v>42551</c:v>
                </c:pt>
                <c:pt idx="136">
                  <c:v>42582</c:v>
                </c:pt>
                <c:pt idx="137">
                  <c:v>42613</c:v>
                </c:pt>
                <c:pt idx="138">
                  <c:v>42643</c:v>
                </c:pt>
                <c:pt idx="139">
                  <c:v>42674</c:v>
                </c:pt>
                <c:pt idx="140">
                  <c:v>42704</c:v>
                </c:pt>
                <c:pt idx="141">
                  <c:v>42735</c:v>
                </c:pt>
                <c:pt idx="142">
                  <c:v>42766</c:v>
                </c:pt>
                <c:pt idx="143">
                  <c:v>42794</c:v>
                </c:pt>
                <c:pt idx="144">
                  <c:v>42825</c:v>
                </c:pt>
                <c:pt idx="145">
                  <c:v>42855</c:v>
                </c:pt>
                <c:pt idx="146">
                  <c:v>42886</c:v>
                </c:pt>
                <c:pt idx="147">
                  <c:v>42916</c:v>
                </c:pt>
                <c:pt idx="148">
                  <c:v>42947</c:v>
                </c:pt>
                <c:pt idx="149">
                  <c:v>42978</c:v>
                </c:pt>
                <c:pt idx="150">
                  <c:v>43008</c:v>
                </c:pt>
                <c:pt idx="151">
                  <c:v>43039</c:v>
                </c:pt>
                <c:pt idx="152">
                  <c:v>43069</c:v>
                </c:pt>
                <c:pt idx="153">
                  <c:v>43100</c:v>
                </c:pt>
                <c:pt idx="154">
                  <c:v>43131</c:v>
                </c:pt>
                <c:pt idx="155">
                  <c:v>43159</c:v>
                </c:pt>
                <c:pt idx="156">
                  <c:v>43190</c:v>
                </c:pt>
                <c:pt idx="157">
                  <c:v>43220</c:v>
                </c:pt>
                <c:pt idx="158">
                  <c:v>43251</c:v>
                </c:pt>
                <c:pt idx="159">
                  <c:v>43281</c:v>
                </c:pt>
                <c:pt idx="160">
                  <c:v>43312</c:v>
                </c:pt>
                <c:pt idx="161">
                  <c:v>43343</c:v>
                </c:pt>
                <c:pt idx="162">
                  <c:v>43373</c:v>
                </c:pt>
                <c:pt idx="163">
                  <c:v>43404</c:v>
                </c:pt>
                <c:pt idx="164">
                  <c:v>43434</c:v>
                </c:pt>
                <c:pt idx="165">
                  <c:v>43465</c:v>
                </c:pt>
                <c:pt idx="166">
                  <c:v>43496</c:v>
                </c:pt>
                <c:pt idx="167">
                  <c:v>43524</c:v>
                </c:pt>
                <c:pt idx="168">
                  <c:v>43555</c:v>
                </c:pt>
                <c:pt idx="169">
                  <c:v>43585</c:v>
                </c:pt>
                <c:pt idx="170">
                  <c:v>43616</c:v>
                </c:pt>
                <c:pt idx="171">
                  <c:v>43646</c:v>
                </c:pt>
                <c:pt idx="172">
                  <c:v>43677</c:v>
                </c:pt>
                <c:pt idx="173">
                  <c:v>43708</c:v>
                </c:pt>
                <c:pt idx="174">
                  <c:v>43738</c:v>
                </c:pt>
                <c:pt idx="175">
                  <c:v>43769</c:v>
                </c:pt>
                <c:pt idx="176">
                  <c:v>43799</c:v>
                </c:pt>
                <c:pt idx="177">
                  <c:v>43830</c:v>
                </c:pt>
                <c:pt idx="178">
                  <c:v>43861</c:v>
                </c:pt>
                <c:pt idx="179">
                  <c:v>43890</c:v>
                </c:pt>
                <c:pt idx="180">
                  <c:v>43921</c:v>
                </c:pt>
                <c:pt idx="181">
                  <c:v>43951</c:v>
                </c:pt>
                <c:pt idx="182">
                  <c:v>43982</c:v>
                </c:pt>
                <c:pt idx="183">
                  <c:v>44012</c:v>
                </c:pt>
                <c:pt idx="184">
                  <c:v>44043</c:v>
                </c:pt>
                <c:pt idx="185">
                  <c:v>44074</c:v>
                </c:pt>
                <c:pt idx="186">
                  <c:v>44104</c:v>
                </c:pt>
                <c:pt idx="187">
                  <c:v>44135</c:v>
                </c:pt>
                <c:pt idx="188">
                  <c:v>44165</c:v>
                </c:pt>
                <c:pt idx="189">
                  <c:v>44196</c:v>
                </c:pt>
                <c:pt idx="190">
                  <c:v>44227</c:v>
                </c:pt>
                <c:pt idx="191">
                  <c:v>44255</c:v>
                </c:pt>
                <c:pt idx="192">
                  <c:v>44286</c:v>
                </c:pt>
                <c:pt idx="193">
                  <c:v>44316</c:v>
                </c:pt>
                <c:pt idx="194">
                  <c:v>44347</c:v>
                </c:pt>
                <c:pt idx="195">
                  <c:v>44377</c:v>
                </c:pt>
                <c:pt idx="196">
                  <c:v>44408</c:v>
                </c:pt>
                <c:pt idx="197">
                  <c:v>44439</c:v>
                </c:pt>
                <c:pt idx="198">
                  <c:v>44469</c:v>
                </c:pt>
                <c:pt idx="199">
                  <c:v>44500</c:v>
                </c:pt>
                <c:pt idx="200">
                  <c:v>44530</c:v>
                </c:pt>
                <c:pt idx="201">
                  <c:v>44561</c:v>
                </c:pt>
                <c:pt idx="202">
                  <c:v>44592</c:v>
                </c:pt>
                <c:pt idx="203">
                  <c:v>44620</c:v>
                </c:pt>
                <c:pt idx="204">
                  <c:v>44651</c:v>
                </c:pt>
                <c:pt idx="205">
                  <c:v>44681</c:v>
                </c:pt>
                <c:pt idx="206">
                  <c:v>44712</c:v>
                </c:pt>
                <c:pt idx="207">
                  <c:v>44742</c:v>
                </c:pt>
                <c:pt idx="208">
                  <c:v>44773</c:v>
                </c:pt>
                <c:pt idx="209">
                  <c:v>44804</c:v>
                </c:pt>
                <c:pt idx="210">
                  <c:v>44834</c:v>
                </c:pt>
                <c:pt idx="211">
                  <c:v>44865</c:v>
                </c:pt>
                <c:pt idx="212">
                  <c:v>44895</c:v>
                </c:pt>
                <c:pt idx="213">
                  <c:v>44926</c:v>
                </c:pt>
                <c:pt idx="214">
                  <c:v>44957</c:v>
                </c:pt>
                <c:pt idx="215">
                  <c:v>44985</c:v>
                </c:pt>
                <c:pt idx="216">
                  <c:v>45016</c:v>
                </c:pt>
                <c:pt idx="217">
                  <c:v>45046</c:v>
                </c:pt>
                <c:pt idx="218">
                  <c:v>45077</c:v>
                </c:pt>
                <c:pt idx="219">
                  <c:v>45107</c:v>
                </c:pt>
                <c:pt idx="220">
                  <c:v>45138</c:v>
                </c:pt>
                <c:pt idx="221">
                  <c:v>45169</c:v>
                </c:pt>
                <c:pt idx="222">
                  <c:v>45199</c:v>
                </c:pt>
                <c:pt idx="223">
                  <c:v>45230</c:v>
                </c:pt>
                <c:pt idx="224">
                  <c:v>45260</c:v>
                </c:pt>
                <c:pt idx="225">
                  <c:v>45291</c:v>
                </c:pt>
                <c:pt idx="226">
                  <c:v>45322</c:v>
                </c:pt>
                <c:pt idx="227">
                  <c:v>45351</c:v>
                </c:pt>
                <c:pt idx="228">
                  <c:v>45382</c:v>
                </c:pt>
                <c:pt idx="229">
                  <c:v>45412</c:v>
                </c:pt>
                <c:pt idx="230">
                  <c:v>45443</c:v>
                </c:pt>
                <c:pt idx="231">
                  <c:v>45473</c:v>
                </c:pt>
                <c:pt idx="232">
                  <c:v>45504</c:v>
                </c:pt>
                <c:pt idx="233">
                  <c:v>45535</c:v>
                </c:pt>
                <c:pt idx="234">
                  <c:v>45565</c:v>
                </c:pt>
                <c:pt idx="235">
                  <c:v>45596</c:v>
                </c:pt>
                <c:pt idx="236">
                  <c:v>45626</c:v>
                </c:pt>
                <c:pt idx="237">
                  <c:v>45657</c:v>
                </c:pt>
                <c:pt idx="238">
                  <c:v>45688</c:v>
                </c:pt>
                <c:pt idx="239">
                  <c:v>45716</c:v>
                </c:pt>
                <c:pt idx="240">
                  <c:v>45747</c:v>
                </c:pt>
              </c:numCache>
            </c:numRef>
          </c:cat>
          <c:val>
            <c:numRef>
              <c:f>Sheet1!$D$2:$D$242</c:f>
              <c:numCache>
                <c:formatCode>General</c:formatCode>
                <c:ptCount val="241"/>
                <c:pt idx="0">
                  <c:v>3.2</c:v>
                </c:pt>
                <c:pt idx="1">
                  <c:v>3.2</c:v>
                </c:pt>
                <c:pt idx="2">
                  <c:v>2.8</c:v>
                </c:pt>
                <c:pt idx="3">
                  <c:v>2.4</c:v>
                </c:pt>
                <c:pt idx="4">
                  <c:v>2.5</c:v>
                </c:pt>
                <c:pt idx="5">
                  <c:v>3.2</c:v>
                </c:pt>
                <c:pt idx="6">
                  <c:v>3.5</c:v>
                </c:pt>
                <c:pt idx="7">
                  <c:v>3.2</c:v>
                </c:pt>
                <c:pt idx="8">
                  <c:v>1.9</c:v>
                </c:pt>
                <c:pt idx="9">
                  <c:v>1.8</c:v>
                </c:pt>
                <c:pt idx="10">
                  <c:v>2.7</c:v>
                </c:pt>
                <c:pt idx="11">
                  <c:v>3</c:v>
                </c:pt>
                <c:pt idx="12">
                  <c:v>2.8</c:v>
                </c:pt>
                <c:pt idx="13">
                  <c:v>3.1</c:v>
                </c:pt>
                <c:pt idx="14">
                  <c:v>3</c:v>
                </c:pt>
                <c:pt idx="15">
                  <c:v>2.7</c:v>
                </c:pt>
                <c:pt idx="16">
                  <c:v>2.5</c:v>
                </c:pt>
                <c:pt idx="17">
                  <c:v>2.1</c:v>
                </c:pt>
                <c:pt idx="18">
                  <c:v>1.7</c:v>
                </c:pt>
                <c:pt idx="19">
                  <c:v>1.2</c:v>
                </c:pt>
                <c:pt idx="20">
                  <c:v>2.2000000000000002</c:v>
                </c:pt>
                <c:pt idx="21">
                  <c:v>2.2999999999999998</c:v>
                </c:pt>
                <c:pt idx="22">
                  <c:v>2.5</c:v>
                </c:pt>
                <c:pt idx="23">
                  <c:v>2.7</c:v>
                </c:pt>
                <c:pt idx="24">
                  <c:v>2.9</c:v>
                </c:pt>
                <c:pt idx="25">
                  <c:v>2.8</c:v>
                </c:pt>
                <c:pt idx="26">
                  <c:v>2.2999999999999998</c:v>
                </c:pt>
                <c:pt idx="27">
                  <c:v>2.1</c:v>
                </c:pt>
                <c:pt idx="28">
                  <c:v>1.9</c:v>
                </c:pt>
                <c:pt idx="29">
                  <c:v>1.6</c:v>
                </c:pt>
                <c:pt idx="30">
                  <c:v>1.9</c:v>
                </c:pt>
                <c:pt idx="31">
                  <c:v>2.2000000000000002</c:v>
                </c:pt>
                <c:pt idx="32">
                  <c:v>2.1</c:v>
                </c:pt>
                <c:pt idx="33">
                  <c:v>2.1</c:v>
                </c:pt>
                <c:pt idx="34">
                  <c:v>1.9</c:v>
                </c:pt>
                <c:pt idx="35">
                  <c:v>2.1</c:v>
                </c:pt>
                <c:pt idx="36">
                  <c:v>2</c:v>
                </c:pt>
                <c:pt idx="37">
                  <c:v>2.2999999999999998</c:v>
                </c:pt>
                <c:pt idx="38">
                  <c:v>2.5</c:v>
                </c:pt>
                <c:pt idx="39">
                  <c:v>2.6</c:v>
                </c:pt>
                <c:pt idx="40">
                  <c:v>1.8</c:v>
                </c:pt>
                <c:pt idx="41">
                  <c:v>1.4</c:v>
                </c:pt>
                <c:pt idx="42">
                  <c:v>-0.3</c:v>
                </c:pt>
                <c:pt idx="43">
                  <c:v>-3.8</c:v>
                </c:pt>
                <c:pt idx="44">
                  <c:v>-5.6</c:v>
                </c:pt>
                <c:pt idx="45">
                  <c:v>-5.4</c:v>
                </c:pt>
                <c:pt idx="46">
                  <c:v>-2.5</c:v>
                </c:pt>
                <c:pt idx="47">
                  <c:v>-1.3</c:v>
                </c:pt>
                <c:pt idx="48">
                  <c:v>-0.7</c:v>
                </c:pt>
                <c:pt idx="49">
                  <c:v>-0.4</c:v>
                </c:pt>
                <c:pt idx="50">
                  <c:v>0</c:v>
                </c:pt>
                <c:pt idx="51">
                  <c:v>0.4</c:v>
                </c:pt>
                <c:pt idx="52">
                  <c:v>0.3</c:v>
                </c:pt>
                <c:pt idx="53">
                  <c:v>-0.1</c:v>
                </c:pt>
                <c:pt idx="54">
                  <c:v>0.3</c:v>
                </c:pt>
                <c:pt idx="55">
                  <c:v>0.6</c:v>
                </c:pt>
                <c:pt idx="56">
                  <c:v>1.1000000000000001</c:v>
                </c:pt>
                <c:pt idx="57">
                  <c:v>1.2</c:v>
                </c:pt>
                <c:pt idx="58">
                  <c:v>1.3</c:v>
                </c:pt>
                <c:pt idx="59">
                  <c:v>1.4</c:v>
                </c:pt>
                <c:pt idx="60">
                  <c:v>1.5</c:v>
                </c:pt>
                <c:pt idx="61">
                  <c:v>1.6</c:v>
                </c:pt>
                <c:pt idx="62">
                  <c:v>0.6</c:v>
                </c:pt>
                <c:pt idx="63">
                  <c:v>0.6</c:v>
                </c:pt>
                <c:pt idx="64">
                  <c:v>0.6</c:v>
                </c:pt>
                <c:pt idx="65">
                  <c:v>0.5</c:v>
                </c:pt>
                <c:pt idx="66">
                  <c:v>0.6</c:v>
                </c:pt>
                <c:pt idx="67">
                  <c:v>0.8</c:v>
                </c:pt>
                <c:pt idx="68">
                  <c:v>0.7</c:v>
                </c:pt>
                <c:pt idx="69">
                  <c:v>1.2</c:v>
                </c:pt>
                <c:pt idx="70">
                  <c:v>1.7</c:v>
                </c:pt>
                <c:pt idx="71">
                  <c:v>2.1</c:v>
                </c:pt>
                <c:pt idx="72">
                  <c:v>2.5</c:v>
                </c:pt>
                <c:pt idx="73">
                  <c:v>2.6</c:v>
                </c:pt>
                <c:pt idx="74">
                  <c:v>1.9</c:v>
                </c:pt>
                <c:pt idx="75">
                  <c:v>1.5</c:v>
                </c:pt>
                <c:pt idx="76">
                  <c:v>1.6</c:v>
                </c:pt>
                <c:pt idx="77">
                  <c:v>1.2</c:v>
                </c:pt>
                <c:pt idx="78">
                  <c:v>1</c:v>
                </c:pt>
                <c:pt idx="79">
                  <c:v>1.5</c:v>
                </c:pt>
                <c:pt idx="80">
                  <c:v>1.2</c:v>
                </c:pt>
                <c:pt idx="81">
                  <c:v>1.4</c:v>
                </c:pt>
                <c:pt idx="82">
                  <c:v>1.9</c:v>
                </c:pt>
                <c:pt idx="83">
                  <c:v>2.2000000000000002</c:v>
                </c:pt>
                <c:pt idx="84">
                  <c:v>2.1</c:v>
                </c:pt>
                <c:pt idx="85">
                  <c:v>1.8</c:v>
                </c:pt>
                <c:pt idx="86">
                  <c:v>1.1000000000000001</c:v>
                </c:pt>
                <c:pt idx="87">
                  <c:v>0.9</c:v>
                </c:pt>
                <c:pt idx="88">
                  <c:v>1.2</c:v>
                </c:pt>
                <c:pt idx="89">
                  <c:v>1.4</c:v>
                </c:pt>
                <c:pt idx="90">
                  <c:v>1.6</c:v>
                </c:pt>
                <c:pt idx="91">
                  <c:v>1.4</c:v>
                </c:pt>
                <c:pt idx="92">
                  <c:v>1.2</c:v>
                </c:pt>
                <c:pt idx="93">
                  <c:v>1.7</c:v>
                </c:pt>
                <c:pt idx="94">
                  <c:v>2.2000000000000002</c:v>
                </c:pt>
                <c:pt idx="95">
                  <c:v>2.2000000000000002</c:v>
                </c:pt>
                <c:pt idx="96">
                  <c:v>2.2999999999999998</c:v>
                </c:pt>
                <c:pt idx="97">
                  <c:v>1.5</c:v>
                </c:pt>
                <c:pt idx="98">
                  <c:v>1.3</c:v>
                </c:pt>
                <c:pt idx="99">
                  <c:v>1.2</c:v>
                </c:pt>
                <c:pt idx="100">
                  <c:v>1.4</c:v>
                </c:pt>
                <c:pt idx="101">
                  <c:v>1.3</c:v>
                </c:pt>
                <c:pt idx="102">
                  <c:v>1.2</c:v>
                </c:pt>
                <c:pt idx="103">
                  <c:v>1.1000000000000001</c:v>
                </c:pt>
                <c:pt idx="104">
                  <c:v>1.4</c:v>
                </c:pt>
                <c:pt idx="105">
                  <c:v>1.6</c:v>
                </c:pt>
                <c:pt idx="106">
                  <c:v>1.8</c:v>
                </c:pt>
                <c:pt idx="107">
                  <c:v>1.9</c:v>
                </c:pt>
                <c:pt idx="108">
                  <c:v>1.7</c:v>
                </c:pt>
                <c:pt idx="109">
                  <c:v>1.7</c:v>
                </c:pt>
                <c:pt idx="110">
                  <c:v>1.6</c:v>
                </c:pt>
                <c:pt idx="111">
                  <c:v>1.7</c:v>
                </c:pt>
                <c:pt idx="112">
                  <c:v>1.5</c:v>
                </c:pt>
                <c:pt idx="113">
                  <c:v>1.3</c:v>
                </c:pt>
                <c:pt idx="114">
                  <c:v>1</c:v>
                </c:pt>
                <c:pt idx="115">
                  <c:v>0.9</c:v>
                </c:pt>
                <c:pt idx="116">
                  <c:v>0.6</c:v>
                </c:pt>
                <c:pt idx="117">
                  <c:v>0.1</c:v>
                </c:pt>
                <c:pt idx="118">
                  <c:v>0.4</c:v>
                </c:pt>
                <c:pt idx="119">
                  <c:v>1.3</c:v>
                </c:pt>
                <c:pt idx="120">
                  <c:v>1.2</c:v>
                </c:pt>
                <c:pt idx="121">
                  <c:v>1.5</c:v>
                </c:pt>
                <c:pt idx="122">
                  <c:v>1.3</c:v>
                </c:pt>
                <c:pt idx="123">
                  <c:v>1.2</c:v>
                </c:pt>
                <c:pt idx="124">
                  <c:v>0.8</c:v>
                </c:pt>
                <c:pt idx="125">
                  <c:v>0.3</c:v>
                </c:pt>
                <c:pt idx="126">
                  <c:v>0.2</c:v>
                </c:pt>
                <c:pt idx="127">
                  <c:v>0.4</c:v>
                </c:pt>
                <c:pt idx="128">
                  <c:v>0.6</c:v>
                </c:pt>
                <c:pt idx="129">
                  <c:v>0.6</c:v>
                </c:pt>
                <c:pt idx="130">
                  <c:v>0.6</c:v>
                </c:pt>
                <c:pt idx="131">
                  <c:v>1.2</c:v>
                </c:pt>
                <c:pt idx="132">
                  <c:v>1.7</c:v>
                </c:pt>
                <c:pt idx="133">
                  <c:v>1.5</c:v>
                </c:pt>
                <c:pt idx="134">
                  <c:v>1.4</c:v>
                </c:pt>
                <c:pt idx="135">
                  <c:v>1.3</c:v>
                </c:pt>
                <c:pt idx="136">
                  <c:v>1</c:v>
                </c:pt>
                <c:pt idx="137">
                  <c:v>1</c:v>
                </c:pt>
                <c:pt idx="138">
                  <c:v>1.3</c:v>
                </c:pt>
                <c:pt idx="139">
                  <c:v>1.4</c:v>
                </c:pt>
                <c:pt idx="140">
                  <c:v>1.4</c:v>
                </c:pt>
                <c:pt idx="141">
                  <c:v>1.6</c:v>
                </c:pt>
                <c:pt idx="142">
                  <c:v>1.9</c:v>
                </c:pt>
                <c:pt idx="143">
                  <c:v>2.1</c:v>
                </c:pt>
                <c:pt idx="144">
                  <c:v>1.8</c:v>
                </c:pt>
                <c:pt idx="145">
                  <c:v>1.6</c:v>
                </c:pt>
                <c:pt idx="146">
                  <c:v>1.5</c:v>
                </c:pt>
                <c:pt idx="147">
                  <c:v>1.3</c:v>
                </c:pt>
                <c:pt idx="148">
                  <c:v>1.3</c:v>
                </c:pt>
                <c:pt idx="149">
                  <c:v>1.3</c:v>
                </c:pt>
                <c:pt idx="150">
                  <c:v>1.6</c:v>
                </c:pt>
                <c:pt idx="151">
                  <c:v>1.6</c:v>
                </c:pt>
                <c:pt idx="152">
                  <c:v>1.3</c:v>
                </c:pt>
                <c:pt idx="153">
                  <c:v>1.6</c:v>
                </c:pt>
                <c:pt idx="154">
                  <c:v>1.8</c:v>
                </c:pt>
                <c:pt idx="155">
                  <c:v>2.1</c:v>
                </c:pt>
                <c:pt idx="156">
                  <c:v>2</c:v>
                </c:pt>
                <c:pt idx="157">
                  <c:v>2</c:v>
                </c:pt>
                <c:pt idx="158">
                  <c:v>1.8</c:v>
                </c:pt>
                <c:pt idx="159">
                  <c:v>1.8</c:v>
                </c:pt>
                <c:pt idx="160">
                  <c:v>1.6</c:v>
                </c:pt>
                <c:pt idx="161">
                  <c:v>1.7</c:v>
                </c:pt>
                <c:pt idx="162">
                  <c:v>1.8</c:v>
                </c:pt>
                <c:pt idx="163">
                  <c:v>1.5</c:v>
                </c:pt>
                <c:pt idx="164">
                  <c:v>1.2</c:v>
                </c:pt>
                <c:pt idx="165">
                  <c:v>0.7</c:v>
                </c:pt>
                <c:pt idx="166">
                  <c:v>1.3</c:v>
                </c:pt>
                <c:pt idx="167">
                  <c:v>1.7</c:v>
                </c:pt>
                <c:pt idx="168">
                  <c:v>1.8</c:v>
                </c:pt>
                <c:pt idx="169">
                  <c:v>1.8</c:v>
                </c:pt>
                <c:pt idx="170">
                  <c:v>1.3</c:v>
                </c:pt>
                <c:pt idx="171">
                  <c:v>1.2</c:v>
                </c:pt>
                <c:pt idx="172">
                  <c:v>1.4</c:v>
                </c:pt>
                <c:pt idx="173">
                  <c:v>1.3</c:v>
                </c:pt>
                <c:pt idx="174">
                  <c:v>1.3</c:v>
                </c:pt>
                <c:pt idx="175">
                  <c:v>1.1000000000000001</c:v>
                </c:pt>
                <c:pt idx="176">
                  <c:v>1.2</c:v>
                </c:pt>
                <c:pt idx="177">
                  <c:v>1.5</c:v>
                </c:pt>
                <c:pt idx="178">
                  <c:v>1.4</c:v>
                </c:pt>
                <c:pt idx="179">
                  <c:v>1.2</c:v>
                </c:pt>
                <c:pt idx="180">
                  <c:v>-0.7</c:v>
                </c:pt>
                <c:pt idx="181">
                  <c:v>-0.3</c:v>
                </c:pt>
                <c:pt idx="182">
                  <c:v>0.2</c:v>
                </c:pt>
                <c:pt idx="183">
                  <c:v>0.9</c:v>
                </c:pt>
                <c:pt idx="184">
                  <c:v>1.1000000000000001</c:v>
                </c:pt>
                <c:pt idx="185">
                  <c:v>1.4</c:v>
                </c:pt>
                <c:pt idx="186">
                  <c:v>1.1000000000000001</c:v>
                </c:pt>
                <c:pt idx="187">
                  <c:v>1.2</c:v>
                </c:pt>
                <c:pt idx="188">
                  <c:v>1.6</c:v>
                </c:pt>
                <c:pt idx="189">
                  <c:v>2</c:v>
                </c:pt>
                <c:pt idx="190">
                  <c:v>2.4</c:v>
                </c:pt>
                <c:pt idx="191">
                  <c:v>2.5</c:v>
                </c:pt>
                <c:pt idx="192">
                  <c:v>2.7</c:v>
                </c:pt>
                <c:pt idx="193">
                  <c:v>2.7</c:v>
                </c:pt>
                <c:pt idx="194">
                  <c:v>2.8</c:v>
                </c:pt>
                <c:pt idx="195">
                  <c:v>2.7</c:v>
                </c:pt>
                <c:pt idx="196">
                  <c:v>2.8</c:v>
                </c:pt>
                <c:pt idx="197">
                  <c:v>2.5</c:v>
                </c:pt>
                <c:pt idx="198">
                  <c:v>2.5</c:v>
                </c:pt>
                <c:pt idx="199">
                  <c:v>3.1</c:v>
                </c:pt>
                <c:pt idx="200">
                  <c:v>3.2</c:v>
                </c:pt>
                <c:pt idx="201">
                  <c:v>3.2</c:v>
                </c:pt>
                <c:pt idx="202">
                  <c:v>3.3</c:v>
                </c:pt>
                <c:pt idx="203">
                  <c:v>4</c:v>
                </c:pt>
                <c:pt idx="204">
                  <c:v>4.4000000000000004</c:v>
                </c:pt>
                <c:pt idx="205">
                  <c:v>4.4000000000000004</c:v>
                </c:pt>
                <c:pt idx="206">
                  <c:v>3.9</c:v>
                </c:pt>
                <c:pt idx="207">
                  <c:v>3.3</c:v>
                </c:pt>
                <c:pt idx="208">
                  <c:v>3.2</c:v>
                </c:pt>
                <c:pt idx="209">
                  <c:v>2.4</c:v>
                </c:pt>
                <c:pt idx="210">
                  <c:v>2</c:v>
                </c:pt>
                <c:pt idx="211">
                  <c:v>2.9</c:v>
                </c:pt>
                <c:pt idx="212">
                  <c:v>2.5</c:v>
                </c:pt>
                <c:pt idx="213">
                  <c:v>2.2999999999999998</c:v>
                </c:pt>
                <c:pt idx="214">
                  <c:v>2.2999999999999998</c:v>
                </c:pt>
                <c:pt idx="215">
                  <c:v>3.2</c:v>
                </c:pt>
                <c:pt idx="216">
                  <c:v>2.7</c:v>
                </c:pt>
                <c:pt idx="217">
                  <c:v>2.2000000000000002</c:v>
                </c:pt>
                <c:pt idx="218">
                  <c:v>2.1</c:v>
                </c:pt>
                <c:pt idx="219">
                  <c:v>2.1</c:v>
                </c:pt>
                <c:pt idx="220">
                  <c:v>2.1</c:v>
                </c:pt>
                <c:pt idx="221">
                  <c:v>2</c:v>
                </c:pt>
                <c:pt idx="222">
                  <c:v>2</c:v>
                </c:pt>
                <c:pt idx="223">
                  <c:v>2.2999999999999998</c:v>
                </c:pt>
                <c:pt idx="224">
                  <c:v>2.1</c:v>
                </c:pt>
                <c:pt idx="225">
                  <c:v>2</c:v>
                </c:pt>
                <c:pt idx="226">
                  <c:v>2.2999999999999998</c:v>
                </c:pt>
                <c:pt idx="227">
                  <c:v>2.8</c:v>
                </c:pt>
                <c:pt idx="228">
                  <c:v>2.7</c:v>
                </c:pt>
                <c:pt idx="229">
                  <c:v>2.4</c:v>
                </c:pt>
                <c:pt idx="230">
                  <c:v>2.2999999999999998</c:v>
                </c:pt>
                <c:pt idx="231">
                  <c:v>2.1</c:v>
                </c:pt>
                <c:pt idx="232">
                  <c:v>1.8</c:v>
                </c:pt>
                <c:pt idx="233">
                  <c:v>1.7</c:v>
                </c:pt>
                <c:pt idx="234">
                  <c:v>1.8</c:v>
                </c:pt>
                <c:pt idx="235">
                  <c:v>2.4</c:v>
                </c:pt>
                <c:pt idx="236">
                  <c:v>2.5</c:v>
                </c:pt>
                <c:pt idx="237">
                  <c:v>2.5</c:v>
                </c:pt>
                <c:pt idx="238">
                  <c:v>2.9</c:v>
                </c:pt>
                <c:pt idx="239">
                  <c:v>3.2</c:v>
                </c:pt>
                <c:pt idx="240">
                  <c:v>3.3</c:v>
                </c:pt>
              </c:numCache>
            </c:numRef>
          </c:val>
          <c:smooth val="0"/>
          <c:extLst>
            <c:ext xmlns:c16="http://schemas.microsoft.com/office/drawing/2014/chart" uri="{C3380CC4-5D6E-409C-BE32-E72D297353CC}">
              <c16:uniqueId val="{00000001-63AC-4F57-A6FF-629B730CD53E}"/>
            </c:ext>
          </c:extLst>
        </c:ser>
        <c:dLbls>
          <c:showLegendKey val="0"/>
          <c:showVal val="0"/>
          <c:showCatName val="0"/>
          <c:showSerName val="0"/>
          <c:showPercent val="0"/>
          <c:showBubbleSize val="0"/>
        </c:dLbls>
        <c:marker val="1"/>
        <c:smooth val="0"/>
        <c:axId val="949611887"/>
        <c:axId val="949609007"/>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1-YR INFLATION EXPECTATIONS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extLst>
                      <c:ext uri="{02D57815-91ED-43cb-92C2-25804820EDAC}">
                        <c15:formulaRef>
                          <c15:sqref>Sheet1!$A$2:$A$242</c15:sqref>
                        </c15:formulaRef>
                      </c:ext>
                    </c:extLst>
                    <c:numCache>
                      <c:formatCode>m/d/yyyy</c:formatCode>
                      <c:ptCount val="241"/>
                      <c:pt idx="0" formatCode="[$-409]mmm\-yy;@">
                        <c:v>38442</c:v>
                      </c:pt>
                      <c:pt idx="1">
                        <c:v>38472</c:v>
                      </c:pt>
                      <c:pt idx="2">
                        <c:v>38503</c:v>
                      </c:pt>
                      <c:pt idx="3">
                        <c:v>38533</c:v>
                      </c:pt>
                      <c:pt idx="4">
                        <c:v>38564</c:v>
                      </c:pt>
                      <c:pt idx="5">
                        <c:v>38595</c:v>
                      </c:pt>
                      <c:pt idx="6">
                        <c:v>38625</c:v>
                      </c:pt>
                      <c:pt idx="7">
                        <c:v>38656</c:v>
                      </c:pt>
                      <c:pt idx="8">
                        <c:v>38686</c:v>
                      </c:pt>
                      <c:pt idx="9">
                        <c:v>38717</c:v>
                      </c:pt>
                      <c:pt idx="10">
                        <c:v>38748</c:v>
                      </c:pt>
                      <c:pt idx="11">
                        <c:v>38776</c:v>
                      </c:pt>
                      <c:pt idx="12">
                        <c:v>38807</c:v>
                      </c:pt>
                      <c:pt idx="13">
                        <c:v>38837</c:v>
                      </c:pt>
                      <c:pt idx="14">
                        <c:v>38868</c:v>
                      </c:pt>
                      <c:pt idx="15">
                        <c:v>38898</c:v>
                      </c:pt>
                      <c:pt idx="16">
                        <c:v>38929</c:v>
                      </c:pt>
                      <c:pt idx="17">
                        <c:v>38960</c:v>
                      </c:pt>
                      <c:pt idx="18">
                        <c:v>38990</c:v>
                      </c:pt>
                      <c:pt idx="19">
                        <c:v>39021</c:v>
                      </c:pt>
                      <c:pt idx="20">
                        <c:v>39051</c:v>
                      </c:pt>
                      <c:pt idx="21">
                        <c:v>39082</c:v>
                      </c:pt>
                      <c:pt idx="22">
                        <c:v>39113</c:v>
                      </c:pt>
                      <c:pt idx="23">
                        <c:v>39141</c:v>
                      </c:pt>
                      <c:pt idx="24">
                        <c:v>39172</c:v>
                      </c:pt>
                      <c:pt idx="25">
                        <c:v>39202</c:v>
                      </c:pt>
                      <c:pt idx="26">
                        <c:v>39233</c:v>
                      </c:pt>
                      <c:pt idx="27">
                        <c:v>39263</c:v>
                      </c:pt>
                      <c:pt idx="28">
                        <c:v>39294</c:v>
                      </c:pt>
                      <c:pt idx="29">
                        <c:v>39325</c:v>
                      </c:pt>
                      <c:pt idx="30">
                        <c:v>39355</c:v>
                      </c:pt>
                      <c:pt idx="31">
                        <c:v>39386</c:v>
                      </c:pt>
                      <c:pt idx="32">
                        <c:v>39416</c:v>
                      </c:pt>
                      <c:pt idx="33">
                        <c:v>39447</c:v>
                      </c:pt>
                      <c:pt idx="34">
                        <c:v>39478</c:v>
                      </c:pt>
                      <c:pt idx="35">
                        <c:v>39507</c:v>
                      </c:pt>
                      <c:pt idx="36">
                        <c:v>39538</c:v>
                      </c:pt>
                      <c:pt idx="37">
                        <c:v>39568</c:v>
                      </c:pt>
                      <c:pt idx="38">
                        <c:v>39599</c:v>
                      </c:pt>
                      <c:pt idx="39">
                        <c:v>39629</c:v>
                      </c:pt>
                      <c:pt idx="40">
                        <c:v>39660</c:v>
                      </c:pt>
                      <c:pt idx="41">
                        <c:v>39691</c:v>
                      </c:pt>
                      <c:pt idx="42">
                        <c:v>39721</c:v>
                      </c:pt>
                      <c:pt idx="43">
                        <c:v>39752</c:v>
                      </c:pt>
                      <c:pt idx="44">
                        <c:v>39782</c:v>
                      </c:pt>
                      <c:pt idx="45">
                        <c:v>39813</c:v>
                      </c:pt>
                      <c:pt idx="46">
                        <c:v>39844</c:v>
                      </c:pt>
                      <c:pt idx="47">
                        <c:v>39872</c:v>
                      </c:pt>
                      <c:pt idx="48">
                        <c:v>39903</c:v>
                      </c:pt>
                      <c:pt idx="49">
                        <c:v>39933</c:v>
                      </c:pt>
                      <c:pt idx="50">
                        <c:v>39964</c:v>
                      </c:pt>
                      <c:pt idx="51">
                        <c:v>39994</c:v>
                      </c:pt>
                      <c:pt idx="52">
                        <c:v>40025</c:v>
                      </c:pt>
                      <c:pt idx="53">
                        <c:v>40056</c:v>
                      </c:pt>
                      <c:pt idx="54">
                        <c:v>40086</c:v>
                      </c:pt>
                      <c:pt idx="55">
                        <c:v>40117</c:v>
                      </c:pt>
                      <c:pt idx="56">
                        <c:v>40147</c:v>
                      </c:pt>
                      <c:pt idx="57">
                        <c:v>40178</c:v>
                      </c:pt>
                      <c:pt idx="58">
                        <c:v>40209</c:v>
                      </c:pt>
                      <c:pt idx="59">
                        <c:v>40237</c:v>
                      </c:pt>
                      <c:pt idx="60">
                        <c:v>40268</c:v>
                      </c:pt>
                      <c:pt idx="61">
                        <c:v>40298</c:v>
                      </c:pt>
                      <c:pt idx="62">
                        <c:v>40329</c:v>
                      </c:pt>
                      <c:pt idx="63">
                        <c:v>40359</c:v>
                      </c:pt>
                      <c:pt idx="64">
                        <c:v>40390</c:v>
                      </c:pt>
                      <c:pt idx="65">
                        <c:v>40421</c:v>
                      </c:pt>
                      <c:pt idx="66">
                        <c:v>40451</c:v>
                      </c:pt>
                      <c:pt idx="67">
                        <c:v>40482</c:v>
                      </c:pt>
                      <c:pt idx="68">
                        <c:v>40512</c:v>
                      </c:pt>
                      <c:pt idx="69">
                        <c:v>40543</c:v>
                      </c:pt>
                      <c:pt idx="70">
                        <c:v>40574</c:v>
                      </c:pt>
                      <c:pt idx="71">
                        <c:v>40602</c:v>
                      </c:pt>
                      <c:pt idx="72">
                        <c:v>40633</c:v>
                      </c:pt>
                      <c:pt idx="73">
                        <c:v>40663</c:v>
                      </c:pt>
                      <c:pt idx="74">
                        <c:v>40694</c:v>
                      </c:pt>
                      <c:pt idx="75">
                        <c:v>40724</c:v>
                      </c:pt>
                      <c:pt idx="76">
                        <c:v>40755</c:v>
                      </c:pt>
                      <c:pt idx="77">
                        <c:v>40786</c:v>
                      </c:pt>
                      <c:pt idx="78">
                        <c:v>40816</c:v>
                      </c:pt>
                      <c:pt idx="79">
                        <c:v>40847</c:v>
                      </c:pt>
                      <c:pt idx="80">
                        <c:v>40877</c:v>
                      </c:pt>
                      <c:pt idx="81">
                        <c:v>40908</c:v>
                      </c:pt>
                      <c:pt idx="82">
                        <c:v>40939</c:v>
                      </c:pt>
                      <c:pt idx="83">
                        <c:v>40968</c:v>
                      </c:pt>
                      <c:pt idx="84">
                        <c:v>40999</c:v>
                      </c:pt>
                      <c:pt idx="85">
                        <c:v>41029</c:v>
                      </c:pt>
                      <c:pt idx="86">
                        <c:v>41060</c:v>
                      </c:pt>
                      <c:pt idx="87">
                        <c:v>41090</c:v>
                      </c:pt>
                      <c:pt idx="88">
                        <c:v>41121</c:v>
                      </c:pt>
                      <c:pt idx="89">
                        <c:v>41152</c:v>
                      </c:pt>
                      <c:pt idx="90">
                        <c:v>41182</c:v>
                      </c:pt>
                      <c:pt idx="91">
                        <c:v>41213</c:v>
                      </c:pt>
                      <c:pt idx="92">
                        <c:v>41243</c:v>
                      </c:pt>
                      <c:pt idx="93">
                        <c:v>41274</c:v>
                      </c:pt>
                      <c:pt idx="94">
                        <c:v>41305</c:v>
                      </c:pt>
                      <c:pt idx="95">
                        <c:v>41333</c:v>
                      </c:pt>
                      <c:pt idx="96">
                        <c:v>41364</c:v>
                      </c:pt>
                      <c:pt idx="97">
                        <c:v>41394</c:v>
                      </c:pt>
                      <c:pt idx="98">
                        <c:v>41425</c:v>
                      </c:pt>
                      <c:pt idx="99">
                        <c:v>41455</c:v>
                      </c:pt>
                      <c:pt idx="100">
                        <c:v>41486</c:v>
                      </c:pt>
                      <c:pt idx="101">
                        <c:v>41517</c:v>
                      </c:pt>
                      <c:pt idx="102">
                        <c:v>41547</c:v>
                      </c:pt>
                      <c:pt idx="103">
                        <c:v>41578</c:v>
                      </c:pt>
                      <c:pt idx="104">
                        <c:v>41608</c:v>
                      </c:pt>
                      <c:pt idx="105">
                        <c:v>41639</c:v>
                      </c:pt>
                      <c:pt idx="106">
                        <c:v>41670</c:v>
                      </c:pt>
                      <c:pt idx="107">
                        <c:v>41698</c:v>
                      </c:pt>
                      <c:pt idx="108">
                        <c:v>41729</c:v>
                      </c:pt>
                      <c:pt idx="109">
                        <c:v>41759</c:v>
                      </c:pt>
                      <c:pt idx="110">
                        <c:v>41790</c:v>
                      </c:pt>
                      <c:pt idx="111">
                        <c:v>41820</c:v>
                      </c:pt>
                      <c:pt idx="112">
                        <c:v>41851</c:v>
                      </c:pt>
                      <c:pt idx="113">
                        <c:v>41882</c:v>
                      </c:pt>
                      <c:pt idx="114">
                        <c:v>41912</c:v>
                      </c:pt>
                      <c:pt idx="115">
                        <c:v>41943</c:v>
                      </c:pt>
                      <c:pt idx="116">
                        <c:v>41973</c:v>
                      </c:pt>
                      <c:pt idx="117">
                        <c:v>42004</c:v>
                      </c:pt>
                      <c:pt idx="118">
                        <c:v>42035</c:v>
                      </c:pt>
                      <c:pt idx="119">
                        <c:v>42063</c:v>
                      </c:pt>
                      <c:pt idx="120">
                        <c:v>42094</c:v>
                      </c:pt>
                      <c:pt idx="121">
                        <c:v>42124</c:v>
                      </c:pt>
                      <c:pt idx="122">
                        <c:v>42155</c:v>
                      </c:pt>
                      <c:pt idx="123">
                        <c:v>42185</c:v>
                      </c:pt>
                      <c:pt idx="124">
                        <c:v>42216</c:v>
                      </c:pt>
                      <c:pt idx="125">
                        <c:v>42247</c:v>
                      </c:pt>
                      <c:pt idx="126">
                        <c:v>42277</c:v>
                      </c:pt>
                      <c:pt idx="127">
                        <c:v>42308</c:v>
                      </c:pt>
                      <c:pt idx="128">
                        <c:v>42338</c:v>
                      </c:pt>
                      <c:pt idx="129">
                        <c:v>42369</c:v>
                      </c:pt>
                      <c:pt idx="130">
                        <c:v>42400</c:v>
                      </c:pt>
                      <c:pt idx="131">
                        <c:v>42429</c:v>
                      </c:pt>
                      <c:pt idx="132">
                        <c:v>42460</c:v>
                      </c:pt>
                      <c:pt idx="133">
                        <c:v>42490</c:v>
                      </c:pt>
                      <c:pt idx="134">
                        <c:v>42521</c:v>
                      </c:pt>
                      <c:pt idx="135">
                        <c:v>42551</c:v>
                      </c:pt>
                      <c:pt idx="136">
                        <c:v>42582</c:v>
                      </c:pt>
                      <c:pt idx="137">
                        <c:v>42613</c:v>
                      </c:pt>
                      <c:pt idx="138">
                        <c:v>42643</c:v>
                      </c:pt>
                      <c:pt idx="139">
                        <c:v>42674</c:v>
                      </c:pt>
                      <c:pt idx="140">
                        <c:v>42704</c:v>
                      </c:pt>
                      <c:pt idx="141">
                        <c:v>42735</c:v>
                      </c:pt>
                      <c:pt idx="142">
                        <c:v>42766</c:v>
                      </c:pt>
                      <c:pt idx="143">
                        <c:v>42794</c:v>
                      </c:pt>
                      <c:pt idx="144">
                        <c:v>42825</c:v>
                      </c:pt>
                      <c:pt idx="145">
                        <c:v>42855</c:v>
                      </c:pt>
                      <c:pt idx="146">
                        <c:v>42886</c:v>
                      </c:pt>
                      <c:pt idx="147">
                        <c:v>42916</c:v>
                      </c:pt>
                      <c:pt idx="148">
                        <c:v>42947</c:v>
                      </c:pt>
                      <c:pt idx="149">
                        <c:v>42978</c:v>
                      </c:pt>
                      <c:pt idx="150">
                        <c:v>43008</c:v>
                      </c:pt>
                      <c:pt idx="151">
                        <c:v>43039</c:v>
                      </c:pt>
                      <c:pt idx="152">
                        <c:v>43069</c:v>
                      </c:pt>
                      <c:pt idx="153">
                        <c:v>43100</c:v>
                      </c:pt>
                      <c:pt idx="154">
                        <c:v>43131</c:v>
                      </c:pt>
                      <c:pt idx="155">
                        <c:v>43159</c:v>
                      </c:pt>
                      <c:pt idx="156">
                        <c:v>43190</c:v>
                      </c:pt>
                      <c:pt idx="157">
                        <c:v>43220</c:v>
                      </c:pt>
                      <c:pt idx="158">
                        <c:v>43251</c:v>
                      </c:pt>
                      <c:pt idx="159">
                        <c:v>43281</c:v>
                      </c:pt>
                      <c:pt idx="160">
                        <c:v>43312</c:v>
                      </c:pt>
                      <c:pt idx="161">
                        <c:v>43343</c:v>
                      </c:pt>
                      <c:pt idx="162">
                        <c:v>43373</c:v>
                      </c:pt>
                      <c:pt idx="163">
                        <c:v>43404</c:v>
                      </c:pt>
                      <c:pt idx="164">
                        <c:v>43434</c:v>
                      </c:pt>
                      <c:pt idx="165">
                        <c:v>43465</c:v>
                      </c:pt>
                      <c:pt idx="166">
                        <c:v>43496</c:v>
                      </c:pt>
                      <c:pt idx="167">
                        <c:v>43524</c:v>
                      </c:pt>
                      <c:pt idx="168">
                        <c:v>43555</c:v>
                      </c:pt>
                      <c:pt idx="169">
                        <c:v>43585</c:v>
                      </c:pt>
                      <c:pt idx="170">
                        <c:v>43616</c:v>
                      </c:pt>
                      <c:pt idx="171">
                        <c:v>43646</c:v>
                      </c:pt>
                      <c:pt idx="172">
                        <c:v>43677</c:v>
                      </c:pt>
                      <c:pt idx="173">
                        <c:v>43708</c:v>
                      </c:pt>
                      <c:pt idx="174">
                        <c:v>43738</c:v>
                      </c:pt>
                      <c:pt idx="175">
                        <c:v>43769</c:v>
                      </c:pt>
                      <c:pt idx="176">
                        <c:v>43799</c:v>
                      </c:pt>
                      <c:pt idx="177">
                        <c:v>43830</c:v>
                      </c:pt>
                      <c:pt idx="178">
                        <c:v>43861</c:v>
                      </c:pt>
                      <c:pt idx="179">
                        <c:v>43890</c:v>
                      </c:pt>
                      <c:pt idx="180">
                        <c:v>43921</c:v>
                      </c:pt>
                      <c:pt idx="181">
                        <c:v>43951</c:v>
                      </c:pt>
                      <c:pt idx="182">
                        <c:v>43982</c:v>
                      </c:pt>
                      <c:pt idx="183">
                        <c:v>44012</c:v>
                      </c:pt>
                      <c:pt idx="184">
                        <c:v>44043</c:v>
                      </c:pt>
                      <c:pt idx="185">
                        <c:v>44074</c:v>
                      </c:pt>
                      <c:pt idx="186">
                        <c:v>44104</c:v>
                      </c:pt>
                      <c:pt idx="187">
                        <c:v>44135</c:v>
                      </c:pt>
                      <c:pt idx="188">
                        <c:v>44165</c:v>
                      </c:pt>
                      <c:pt idx="189">
                        <c:v>44196</c:v>
                      </c:pt>
                      <c:pt idx="190">
                        <c:v>44227</c:v>
                      </c:pt>
                      <c:pt idx="191">
                        <c:v>44255</c:v>
                      </c:pt>
                      <c:pt idx="192">
                        <c:v>44286</c:v>
                      </c:pt>
                      <c:pt idx="193">
                        <c:v>44316</c:v>
                      </c:pt>
                      <c:pt idx="194">
                        <c:v>44347</c:v>
                      </c:pt>
                      <c:pt idx="195">
                        <c:v>44377</c:v>
                      </c:pt>
                      <c:pt idx="196">
                        <c:v>44408</c:v>
                      </c:pt>
                      <c:pt idx="197">
                        <c:v>44439</c:v>
                      </c:pt>
                      <c:pt idx="198">
                        <c:v>44469</c:v>
                      </c:pt>
                      <c:pt idx="199">
                        <c:v>44500</c:v>
                      </c:pt>
                      <c:pt idx="200">
                        <c:v>44530</c:v>
                      </c:pt>
                      <c:pt idx="201">
                        <c:v>44561</c:v>
                      </c:pt>
                      <c:pt idx="202">
                        <c:v>44592</c:v>
                      </c:pt>
                      <c:pt idx="203">
                        <c:v>44620</c:v>
                      </c:pt>
                      <c:pt idx="204">
                        <c:v>44651</c:v>
                      </c:pt>
                      <c:pt idx="205">
                        <c:v>44681</c:v>
                      </c:pt>
                      <c:pt idx="206">
                        <c:v>44712</c:v>
                      </c:pt>
                      <c:pt idx="207">
                        <c:v>44742</c:v>
                      </c:pt>
                      <c:pt idx="208">
                        <c:v>44773</c:v>
                      </c:pt>
                      <c:pt idx="209">
                        <c:v>44804</c:v>
                      </c:pt>
                      <c:pt idx="210">
                        <c:v>44834</c:v>
                      </c:pt>
                      <c:pt idx="211">
                        <c:v>44865</c:v>
                      </c:pt>
                      <c:pt idx="212">
                        <c:v>44895</c:v>
                      </c:pt>
                      <c:pt idx="213">
                        <c:v>44926</c:v>
                      </c:pt>
                      <c:pt idx="214">
                        <c:v>44957</c:v>
                      </c:pt>
                      <c:pt idx="215">
                        <c:v>44985</c:v>
                      </c:pt>
                      <c:pt idx="216">
                        <c:v>45016</c:v>
                      </c:pt>
                      <c:pt idx="217">
                        <c:v>45046</c:v>
                      </c:pt>
                      <c:pt idx="218">
                        <c:v>45077</c:v>
                      </c:pt>
                      <c:pt idx="219">
                        <c:v>45107</c:v>
                      </c:pt>
                      <c:pt idx="220">
                        <c:v>45138</c:v>
                      </c:pt>
                      <c:pt idx="221">
                        <c:v>45169</c:v>
                      </c:pt>
                      <c:pt idx="222">
                        <c:v>45199</c:v>
                      </c:pt>
                      <c:pt idx="223">
                        <c:v>45230</c:v>
                      </c:pt>
                      <c:pt idx="224">
                        <c:v>45260</c:v>
                      </c:pt>
                      <c:pt idx="225">
                        <c:v>45291</c:v>
                      </c:pt>
                      <c:pt idx="226">
                        <c:v>45322</c:v>
                      </c:pt>
                      <c:pt idx="227">
                        <c:v>45351</c:v>
                      </c:pt>
                      <c:pt idx="228">
                        <c:v>45382</c:v>
                      </c:pt>
                      <c:pt idx="229">
                        <c:v>45412</c:v>
                      </c:pt>
                      <c:pt idx="230">
                        <c:v>45443</c:v>
                      </c:pt>
                      <c:pt idx="231">
                        <c:v>45473</c:v>
                      </c:pt>
                      <c:pt idx="232">
                        <c:v>45504</c:v>
                      </c:pt>
                      <c:pt idx="233">
                        <c:v>45535</c:v>
                      </c:pt>
                      <c:pt idx="234">
                        <c:v>45565</c:v>
                      </c:pt>
                      <c:pt idx="235">
                        <c:v>45596</c:v>
                      </c:pt>
                      <c:pt idx="236">
                        <c:v>45626</c:v>
                      </c:pt>
                      <c:pt idx="237">
                        <c:v>45657</c:v>
                      </c:pt>
                      <c:pt idx="238">
                        <c:v>45688</c:v>
                      </c:pt>
                      <c:pt idx="239">
                        <c:v>45716</c:v>
                      </c:pt>
                      <c:pt idx="240">
                        <c:v>45747</c:v>
                      </c:pt>
                    </c:numCache>
                  </c:numRef>
                </c:cat>
                <c:val>
                  <c:numRef>
                    <c:extLst>
                      <c:ext uri="{02D57815-91ED-43cb-92C2-25804820EDAC}">
                        <c15:formulaRef>
                          <c15:sqref>Sheet1!$B$2:$B$242</c15:sqref>
                        </c15:formulaRef>
                      </c:ext>
                    </c:extLst>
                    <c:numCache>
                      <c:formatCode>General</c:formatCode>
                      <c:ptCount val="241"/>
                      <c:pt idx="0">
                        <c:v>3.2</c:v>
                      </c:pt>
                      <c:pt idx="1">
                        <c:v>3.3</c:v>
                      </c:pt>
                      <c:pt idx="2">
                        <c:v>3.2</c:v>
                      </c:pt>
                      <c:pt idx="3">
                        <c:v>3.2</c:v>
                      </c:pt>
                      <c:pt idx="4">
                        <c:v>3</c:v>
                      </c:pt>
                      <c:pt idx="5">
                        <c:v>3.1</c:v>
                      </c:pt>
                      <c:pt idx="6">
                        <c:v>4.3</c:v>
                      </c:pt>
                      <c:pt idx="7">
                        <c:v>4.5999999999999996</c:v>
                      </c:pt>
                      <c:pt idx="8">
                        <c:v>3.3</c:v>
                      </c:pt>
                      <c:pt idx="9">
                        <c:v>3.1</c:v>
                      </c:pt>
                      <c:pt idx="10">
                        <c:v>3</c:v>
                      </c:pt>
                      <c:pt idx="11">
                        <c:v>3</c:v>
                      </c:pt>
                      <c:pt idx="12">
                        <c:v>3</c:v>
                      </c:pt>
                      <c:pt idx="13">
                        <c:v>3.3</c:v>
                      </c:pt>
                      <c:pt idx="14">
                        <c:v>4</c:v>
                      </c:pt>
                      <c:pt idx="15">
                        <c:v>3.3</c:v>
                      </c:pt>
                      <c:pt idx="16">
                        <c:v>3.2</c:v>
                      </c:pt>
                      <c:pt idx="17">
                        <c:v>3.8</c:v>
                      </c:pt>
                      <c:pt idx="18">
                        <c:v>3.1</c:v>
                      </c:pt>
                      <c:pt idx="19">
                        <c:v>3.1</c:v>
                      </c:pt>
                      <c:pt idx="20">
                        <c:v>3</c:v>
                      </c:pt>
                      <c:pt idx="21">
                        <c:v>2.9</c:v>
                      </c:pt>
                      <c:pt idx="22">
                        <c:v>3</c:v>
                      </c:pt>
                      <c:pt idx="23">
                        <c:v>3</c:v>
                      </c:pt>
                      <c:pt idx="24">
                        <c:v>3</c:v>
                      </c:pt>
                      <c:pt idx="25">
                        <c:v>3.3</c:v>
                      </c:pt>
                      <c:pt idx="26">
                        <c:v>3.3</c:v>
                      </c:pt>
                      <c:pt idx="27">
                        <c:v>3.4</c:v>
                      </c:pt>
                      <c:pt idx="28">
                        <c:v>3.4</c:v>
                      </c:pt>
                      <c:pt idx="29">
                        <c:v>3.2</c:v>
                      </c:pt>
                      <c:pt idx="30">
                        <c:v>3.1</c:v>
                      </c:pt>
                      <c:pt idx="31">
                        <c:v>3.1</c:v>
                      </c:pt>
                      <c:pt idx="32">
                        <c:v>3.4</c:v>
                      </c:pt>
                      <c:pt idx="33">
                        <c:v>3.4</c:v>
                      </c:pt>
                      <c:pt idx="34">
                        <c:v>3.4</c:v>
                      </c:pt>
                      <c:pt idx="35">
                        <c:v>3.6</c:v>
                      </c:pt>
                      <c:pt idx="36">
                        <c:v>4.3</c:v>
                      </c:pt>
                      <c:pt idx="37">
                        <c:v>4.8</c:v>
                      </c:pt>
                      <c:pt idx="38">
                        <c:v>5.2</c:v>
                      </c:pt>
                      <c:pt idx="39">
                        <c:v>5.0999999999999996</c:v>
                      </c:pt>
                      <c:pt idx="40">
                        <c:v>5.0999999999999996</c:v>
                      </c:pt>
                      <c:pt idx="41">
                        <c:v>4.8</c:v>
                      </c:pt>
                      <c:pt idx="42">
                        <c:v>4.3</c:v>
                      </c:pt>
                      <c:pt idx="43">
                        <c:v>3.9</c:v>
                      </c:pt>
                      <c:pt idx="44">
                        <c:v>2.9</c:v>
                      </c:pt>
                      <c:pt idx="45">
                        <c:v>1.7</c:v>
                      </c:pt>
                      <c:pt idx="46">
                        <c:v>2.2000000000000002</c:v>
                      </c:pt>
                      <c:pt idx="47">
                        <c:v>1.9</c:v>
                      </c:pt>
                      <c:pt idx="48">
                        <c:v>2</c:v>
                      </c:pt>
                      <c:pt idx="49">
                        <c:v>2.8</c:v>
                      </c:pt>
                      <c:pt idx="50">
                        <c:v>2.8</c:v>
                      </c:pt>
                      <c:pt idx="51">
                        <c:v>3.1</c:v>
                      </c:pt>
                      <c:pt idx="52">
                        <c:v>2.9</c:v>
                      </c:pt>
                      <c:pt idx="53">
                        <c:v>2.8</c:v>
                      </c:pt>
                      <c:pt idx="54">
                        <c:v>2.2000000000000002</c:v>
                      </c:pt>
                      <c:pt idx="55">
                        <c:v>2.9</c:v>
                      </c:pt>
                      <c:pt idx="56">
                        <c:v>2.7</c:v>
                      </c:pt>
                      <c:pt idx="57">
                        <c:v>2.5</c:v>
                      </c:pt>
                      <c:pt idx="58">
                        <c:v>2.8</c:v>
                      </c:pt>
                      <c:pt idx="59">
                        <c:v>2.7</c:v>
                      </c:pt>
                      <c:pt idx="60">
                        <c:v>2.7</c:v>
                      </c:pt>
                      <c:pt idx="61">
                        <c:v>2.9</c:v>
                      </c:pt>
                      <c:pt idx="62">
                        <c:v>3.2</c:v>
                      </c:pt>
                      <c:pt idx="63">
                        <c:v>2.8</c:v>
                      </c:pt>
                      <c:pt idx="64">
                        <c:v>2.7</c:v>
                      </c:pt>
                      <c:pt idx="65">
                        <c:v>2.7</c:v>
                      </c:pt>
                      <c:pt idx="66">
                        <c:v>2.2000000000000002</c:v>
                      </c:pt>
                      <c:pt idx="67">
                        <c:v>2.7</c:v>
                      </c:pt>
                      <c:pt idx="68">
                        <c:v>3</c:v>
                      </c:pt>
                      <c:pt idx="69">
                        <c:v>3</c:v>
                      </c:pt>
                      <c:pt idx="70">
                        <c:v>3.4</c:v>
                      </c:pt>
                      <c:pt idx="71">
                        <c:v>3.4</c:v>
                      </c:pt>
                      <c:pt idx="72">
                        <c:v>4.5999999999999996</c:v>
                      </c:pt>
                      <c:pt idx="73">
                        <c:v>4.5999999999999996</c:v>
                      </c:pt>
                      <c:pt idx="74">
                        <c:v>4.0999999999999996</c:v>
                      </c:pt>
                      <c:pt idx="75">
                        <c:v>3.8</c:v>
                      </c:pt>
                      <c:pt idx="76">
                        <c:v>3.4</c:v>
                      </c:pt>
                      <c:pt idx="77">
                        <c:v>3.5</c:v>
                      </c:pt>
                      <c:pt idx="78">
                        <c:v>3.3</c:v>
                      </c:pt>
                      <c:pt idx="79">
                        <c:v>3.2</c:v>
                      </c:pt>
                      <c:pt idx="80">
                        <c:v>3.2</c:v>
                      </c:pt>
                      <c:pt idx="81">
                        <c:v>3.1</c:v>
                      </c:pt>
                      <c:pt idx="82">
                        <c:v>3.3</c:v>
                      </c:pt>
                      <c:pt idx="83">
                        <c:v>3.3</c:v>
                      </c:pt>
                      <c:pt idx="84">
                        <c:v>3.9</c:v>
                      </c:pt>
                      <c:pt idx="85">
                        <c:v>3.2</c:v>
                      </c:pt>
                      <c:pt idx="86">
                        <c:v>3</c:v>
                      </c:pt>
                      <c:pt idx="87">
                        <c:v>3.1</c:v>
                      </c:pt>
                      <c:pt idx="88">
                        <c:v>3</c:v>
                      </c:pt>
                      <c:pt idx="89">
                        <c:v>3.6</c:v>
                      </c:pt>
                      <c:pt idx="90">
                        <c:v>3.3</c:v>
                      </c:pt>
                      <c:pt idx="91">
                        <c:v>3.1</c:v>
                      </c:pt>
                      <c:pt idx="92">
                        <c:v>3.1</c:v>
                      </c:pt>
                      <c:pt idx="93">
                        <c:v>3.2</c:v>
                      </c:pt>
                      <c:pt idx="94">
                        <c:v>3.3</c:v>
                      </c:pt>
                      <c:pt idx="95">
                        <c:v>3.3</c:v>
                      </c:pt>
                      <c:pt idx="96">
                        <c:v>3.2</c:v>
                      </c:pt>
                      <c:pt idx="97">
                        <c:v>3.1</c:v>
                      </c:pt>
                      <c:pt idx="98">
                        <c:v>3.1</c:v>
                      </c:pt>
                      <c:pt idx="99">
                        <c:v>3</c:v>
                      </c:pt>
                      <c:pt idx="100">
                        <c:v>3.1</c:v>
                      </c:pt>
                      <c:pt idx="101">
                        <c:v>3</c:v>
                      </c:pt>
                      <c:pt idx="102">
                        <c:v>3.3</c:v>
                      </c:pt>
                      <c:pt idx="103">
                        <c:v>3</c:v>
                      </c:pt>
                      <c:pt idx="104">
                        <c:v>2.9</c:v>
                      </c:pt>
                      <c:pt idx="105">
                        <c:v>3</c:v>
                      </c:pt>
                      <c:pt idx="106">
                        <c:v>3.1</c:v>
                      </c:pt>
                      <c:pt idx="107">
                        <c:v>3.2</c:v>
                      </c:pt>
                      <c:pt idx="108">
                        <c:v>3.2</c:v>
                      </c:pt>
                      <c:pt idx="109">
                        <c:v>3.2</c:v>
                      </c:pt>
                      <c:pt idx="110">
                        <c:v>3.3</c:v>
                      </c:pt>
                      <c:pt idx="111">
                        <c:v>3.1</c:v>
                      </c:pt>
                      <c:pt idx="112">
                        <c:v>3.3</c:v>
                      </c:pt>
                      <c:pt idx="113">
                        <c:v>3.2</c:v>
                      </c:pt>
                      <c:pt idx="114">
                        <c:v>3</c:v>
                      </c:pt>
                      <c:pt idx="115">
                        <c:v>2.9</c:v>
                      </c:pt>
                      <c:pt idx="116">
                        <c:v>2.8</c:v>
                      </c:pt>
                      <c:pt idx="117">
                        <c:v>2.8</c:v>
                      </c:pt>
                      <c:pt idx="118">
                        <c:v>2.5</c:v>
                      </c:pt>
                      <c:pt idx="119">
                        <c:v>2.8</c:v>
                      </c:pt>
                      <c:pt idx="120">
                        <c:v>3</c:v>
                      </c:pt>
                      <c:pt idx="121">
                        <c:v>2.6</c:v>
                      </c:pt>
                      <c:pt idx="122">
                        <c:v>2.8</c:v>
                      </c:pt>
                      <c:pt idx="123">
                        <c:v>2.7</c:v>
                      </c:pt>
                      <c:pt idx="124">
                        <c:v>2.8</c:v>
                      </c:pt>
                      <c:pt idx="125">
                        <c:v>2.8</c:v>
                      </c:pt>
                      <c:pt idx="126">
                        <c:v>2.8</c:v>
                      </c:pt>
                      <c:pt idx="127">
                        <c:v>2.7</c:v>
                      </c:pt>
                      <c:pt idx="128">
                        <c:v>2.7</c:v>
                      </c:pt>
                      <c:pt idx="129">
                        <c:v>2.6</c:v>
                      </c:pt>
                      <c:pt idx="130">
                        <c:v>2.5</c:v>
                      </c:pt>
                      <c:pt idx="131">
                        <c:v>2.5</c:v>
                      </c:pt>
                      <c:pt idx="132">
                        <c:v>2.7</c:v>
                      </c:pt>
                      <c:pt idx="133">
                        <c:v>2.8</c:v>
                      </c:pt>
                      <c:pt idx="134">
                        <c:v>2.4</c:v>
                      </c:pt>
                      <c:pt idx="135">
                        <c:v>2.6</c:v>
                      </c:pt>
                      <c:pt idx="136">
                        <c:v>2.7</c:v>
                      </c:pt>
                      <c:pt idx="137">
                        <c:v>2.5</c:v>
                      </c:pt>
                      <c:pt idx="138">
                        <c:v>2.4</c:v>
                      </c:pt>
                      <c:pt idx="139">
                        <c:v>2.4</c:v>
                      </c:pt>
                      <c:pt idx="140">
                        <c:v>2.4</c:v>
                      </c:pt>
                      <c:pt idx="141">
                        <c:v>2.2000000000000002</c:v>
                      </c:pt>
                      <c:pt idx="142">
                        <c:v>2.6</c:v>
                      </c:pt>
                      <c:pt idx="143">
                        <c:v>2.7</c:v>
                      </c:pt>
                      <c:pt idx="144">
                        <c:v>2.5</c:v>
                      </c:pt>
                      <c:pt idx="145">
                        <c:v>2.5</c:v>
                      </c:pt>
                      <c:pt idx="146">
                        <c:v>2.6</c:v>
                      </c:pt>
                      <c:pt idx="147">
                        <c:v>2.6</c:v>
                      </c:pt>
                      <c:pt idx="148">
                        <c:v>2.6</c:v>
                      </c:pt>
                      <c:pt idx="149">
                        <c:v>2.6</c:v>
                      </c:pt>
                      <c:pt idx="150">
                        <c:v>2.7</c:v>
                      </c:pt>
                      <c:pt idx="151">
                        <c:v>2.4</c:v>
                      </c:pt>
                      <c:pt idx="152">
                        <c:v>2.5</c:v>
                      </c:pt>
                      <c:pt idx="153">
                        <c:v>2.7</c:v>
                      </c:pt>
                      <c:pt idx="154">
                        <c:v>2.7</c:v>
                      </c:pt>
                      <c:pt idx="155">
                        <c:v>2.7</c:v>
                      </c:pt>
                      <c:pt idx="156">
                        <c:v>2.8</c:v>
                      </c:pt>
                      <c:pt idx="157">
                        <c:v>2.7</c:v>
                      </c:pt>
                      <c:pt idx="158">
                        <c:v>2.8</c:v>
                      </c:pt>
                      <c:pt idx="159">
                        <c:v>3</c:v>
                      </c:pt>
                      <c:pt idx="160">
                        <c:v>2.9</c:v>
                      </c:pt>
                      <c:pt idx="161">
                        <c:v>3</c:v>
                      </c:pt>
                      <c:pt idx="162">
                        <c:v>2.7</c:v>
                      </c:pt>
                      <c:pt idx="163">
                        <c:v>2.9</c:v>
                      </c:pt>
                      <c:pt idx="164">
                        <c:v>2.8</c:v>
                      </c:pt>
                      <c:pt idx="165">
                        <c:v>2.7</c:v>
                      </c:pt>
                      <c:pt idx="166">
                        <c:v>2.7</c:v>
                      </c:pt>
                      <c:pt idx="167">
                        <c:v>2.6</c:v>
                      </c:pt>
                      <c:pt idx="168">
                        <c:v>2.5</c:v>
                      </c:pt>
                      <c:pt idx="169">
                        <c:v>2.5</c:v>
                      </c:pt>
                      <c:pt idx="170">
                        <c:v>2.9</c:v>
                      </c:pt>
                      <c:pt idx="171">
                        <c:v>2.7</c:v>
                      </c:pt>
                      <c:pt idx="172">
                        <c:v>2.6</c:v>
                      </c:pt>
                      <c:pt idx="173">
                        <c:v>2.7</c:v>
                      </c:pt>
                      <c:pt idx="174">
                        <c:v>2.8</c:v>
                      </c:pt>
                      <c:pt idx="175">
                        <c:v>2.5</c:v>
                      </c:pt>
                      <c:pt idx="176">
                        <c:v>2.5</c:v>
                      </c:pt>
                      <c:pt idx="177">
                        <c:v>2.2999999999999998</c:v>
                      </c:pt>
                      <c:pt idx="178">
                        <c:v>2.5</c:v>
                      </c:pt>
                      <c:pt idx="179">
                        <c:v>2.4</c:v>
                      </c:pt>
                      <c:pt idx="180">
                        <c:v>2.2000000000000002</c:v>
                      </c:pt>
                      <c:pt idx="181">
                        <c:v>2.1</c:v>
                      </c:pt>
                      <c:pt idx="182">
                        <c:v>3.2</c:v>
                      </c:pt>
                      <c:pt idx="183">
                        <c:v>3</c:v>
                      </c:pt>
                      <c:pt idx="184">
                        <c:v>3</c:v>
                      </c:pt>
                      <c:pt idx="185">
                        <c:v>3.1</c:v>
                      </c:pt>
                      <c:pt idx="186">
                        <c:v>2.6</c:v>
                      </c:pt>
                      <c:pt idx="187">
                        <c:v>2.6</c:v>
                      </c:pt>
                      <c:pt idx="188">
                        <c:v>2.8</c:v>
                      </c:pt>
                      <c:pt idx="189">
                        <c:v>2.5</c:v>
                      </c:pt>
                      <c:pt idx="190">
                        <c:v>3</c:v>
                      </c:pt>
                      <c:pt idx="191">
                        <c:v>3.3</c:v>
                      </c:pt>
                      <c:pt idx="192">
                        <c:v>3.1</c:v>
                      </c:pt>
                      <c:pt idx="193">
                        <c:v>3.4</c:v>
                      </c:pt>
                      <c:pt idx="194">
                        <c:v>4.5999999999999996</c:v>
                      </c:pt>
                      <c:pt idx="195">
                        <c:v>4.2</c:v>
                      </c:pt>
                      <c:pt idx="196">
                        <c:v>4.7</c:v>
                      </c:pt>
                      <c:pt idx="197">
                        <c:v>4.5999999999999996</c:v>
                      </c:pt>
                      <c:pt idx="198">
                        <c:v>4.5999999999999996</c:v>
                      </c:pt>
                      <c:pt idx="199">
                        <c:v>4.8</c:v>
                      </c:pt>
                      <c:pt idx="200">
                        <c:v>4.9000000000000004</c:v>
                      </c:pt>
                      <c:pt idx="201">
                        <c:v>4.8</c:v>
                      </c:pt>
                      <c:pt idx="202">
                        <c:v>4.9000000000000004</c:v>
                      </c:pt>
                      <c:pt idx="203">
                        <c:v>4.9000000000000004</c:v>
                      </c:pt>
                      <c:pt idx="204">
                        <c:v>5.4</c:v>
                      </c:pt>
                      <c:pt idx="205">
                        <c:v>5.4</c:v>
                      </c:pt>
                      <c:pt idx="206">
                        <c:v>5.3</c:v>
                      </c:pt>
                      <c:pt idx="207">
                        <c:v>5.3</c:v>
                      </c:pt>
                      <c:pt idx="208">
                        <c:v>5.2</c:v>
                      </c:pt>
                      <c:pt idx="209">
                        <c:v>4.8</c:v>
                      </c:pt>
                      <c:pt idx="210">
                        <c:v>4.7</c:v>
                      </c:pt>
                      <c:pt idx="211">
                        <c:v>5</c:v>
                      </c:pt>
                      <c:pt idx="212">
                        <c:v>5</c:v>
                      </c:pt>
                      <c:pt idx="213">
                        <c:v>4.3</c:v>
                      </c:pt>
                      <c:pt idx="214">
                        <c:v>3.9</c:v>
                      </c:pt>
                      <c:pt idx="215">
                        <c:v>4.2</c:v>
                      </c:pt>
                      <c:pt idx="216">
                        <c:v>3.6</c:v>
                      </c:pt>
                      <c:pt idx="217">
                        <c:v>4.7</c:v>
                      </c:pt>
                      <c:pt idx="218">
                        <c:v>4.2</c:v>
                      </c:pt>
                      <c:pt idx="219">
                        <c:v>3.3</c:v>
                      </c:pt>
                      <c:pt idx="220">
                        <c:v>3.4</c:v>
                      </c:pt>
                      <c:pt idx="221">
                        <c:v>3.5</c:v>
                      </c:pt>
                      <c:pt idx="222">
                        <c:v>3.2</c:v>
                      </c:pt>
                      <c:pt idx="223">
                        <c:v>4.2</c:v>
                      </c:pt>
                      <c:pt idx="224">
                        <c:v>4.5</c:v>
                      </c:pt>
                      <c:pt idx="225">
                        <c:v>3.1</c:v>
                      </c:pt>
                      <c:pt idx="226">
                        <c:v>2.9</c:v>
                      </c:pt>
                      <c:pt idx="227">
                        <c:v>3</c:v>
                      </c:pt>
                      <c:pt idx="228">
                        <c:v>2.9</c:v>
                      </c:pt>
                      <c:pt idx="229">
                        <c:v>3.2</c:v>
                      </c:pt>
                      <c:pt idx="230">
                        <c:v>3.3</c:v>
                      </c:pt>
                      <c:pt idx="231">
                        <c:v>3</c:v>
                      </c:pt>
                      <c:pt idx="232">
                        <c:v>2.9</c:v>
                      </c:pt>
                      <c:pt idx="233">
                        <c:v>2.8</c:v>
                      </c:pt>
                      <c:pt idx="234">
                        <c:v>2.7</c:v>
                      </c:pt>
                      <c:pt idx="235">
                        <c:v>2.7</c:v>
                      </c:pt>
                      <c:pt idx="236">
                        <c:v>2.6</c:v>
                      </c:pt>
                      <c:pt idx="237">
                        <c:v>2.8</c:v>
                      </c:pt>
                      <c:pt idx="238">
                        <c:v>3.3</c:v>
                      </c:pt>
                      <c:pt idx="239">
                        <c:v>4.3</c:v>
                      </c:pt>
                      <c:pt idx="240">
                        <c:v>5</c:v>
                      </c:pt>
                    </c:numCache>
                  </c:numRef>
                </c:val>
                <c:smooth val="0"/>
                <c:extLst>
                  <c:ext xmlns:c16="http://schemas.microsoft.com/office/drawing/2014/chart" uri="{C3380CC4-5D6E-409C-BE32-E72D297353CC}">
                    <c16:uniqueId val="{00000002-63AC-4F57-A6FF-629B730CD53E}"/>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Sheet1!$C$1</c15:sqref>
                        </c15:formulaRef>
                      </c:ext>
                    </c:extLst>
                    <c:strCache>
                      <c:ptCount val="1"/>
                      <c:pt idx="0">
                        <c:v>NFIB UNCERTAINTY INDEX</c:v>
                      </c:pt>
                    </c:strCache>
                  </c:strRef>
                </c:tx>
                <c:spPr>
                  <a:ln w="28575" cap="rnd">
                    <a:solidFill>
                      <a:schemeClr val="accent2"/>
                    </a:solidFill>
                    <a:round/>
                  </a:ln>
                  <a:effectLst/>
                </c:spPr>
                <c:marker>
                  <c:symbol val="none"/>
                </c:marker>
                <c:cat>
                  <c:numRef>
                    <c:extLst xmlns:c15="http://schemas.microsoft.com/office/drawing/2012/chart">
                      <c:ext xmlns:c15="http://schemas.microsoft.com/office/drawing/2012/chart" uri="{02D57815-91ED-43cb-92C2-25804820EDAC}">
                        <c15:formulaRef>
                          <c15:sqref>Sheet1!$A$2:$A$242</c15:sqref>
                        </c15:formulaRef>
                      </c:ext>
                    </c:extLst>
                    <c:numCache>
                      <c:formatCode>m/d/yyyy</c:formatCode>
                      <c:ptCount val="241"/>
                      <c:pt idx="0" formatCode="[$-409]mmm\-yy;@">
                        <c:v>38442</c:v>
                      </c:pt>
                      <c:pt idx="1">
                        <c:v>38472</c:v>
                      </c:pt>
                      <c:pt idx="2">
                        <c:v>38503</c:v>
                      </c:pt>
                      <c:pt idx="3">
                        <c:v>38533</c:v>
                      </c:pt>
                      <c:pt idx="4">
                        <c:v>38564</c:v>
                      </c:pt>
                      <c:pt idx="5">
                        <c:v>38595</c:v>
                      </c:pt>
                      <c:pt idx="6">
                        <c:v>38625</c:v>
                      </c:pt>
                      <c:pt idx="7">
                        <c:v>38656</c:v>
                      </c:pt>
                      <c:pt idx="8">
                        <c:v>38686</c:v>
                      </c:pt>
                      <c:pt idx="9">
                        <c:v>38717</c:v>
                      </c:pt>
                      <c:pt idx="10">
                        <c:v>38748</c:v>
                      </c:pt>
                      <c:pt idx="11">
                        <c:v>38776</c:v>
                      </c:pt>
                      <c:pt idx="12">
                        <c:v>38807</c:v>
                      </c:pt>
                      <c:pt idx="13">
                        <c:v>38837</c:v>
                      </c:pt>
                      <c:pt idx="14">
                        <c:v>38868</c:v>
                      </c:pt>
                      <c:pt idx="15">
                        <c:v>38898</c:v>
                      </c:pt>
                      <c:pt idx="16">
                        <c:v>38929</c:v>
                      </c:pt>
                      <c:pt idx="17">
                        <c:v>38960</c:v>
                      </c:pt>
                      <c:pt idx="18">
                        <c:v>38990</c:v>
                      </c:pt>
                      <c:pt idx="19">
                        <c:v>39021</c:v>
                      </c:pt>
                      <c:pt idx="20">
                        <c:v>39051</c:v>
                      </c:pt>
                      <c:pt idx="21">
                        <c:v>39082</c:v>
                      </c:pt>
                      <c:pt idx="22">
                        <c:v>39113</c:v>
                      </c:pt>
                      <c:pt idx="23">
                        <c:v>39141</c:v>
                      </c:pt>
                      <c:pt idx="24">
                        <c:v>39172</c:v>
                      </c:pt>
                      <c:pt idx="25">
                        <c:v>39202</c:v>
                      </c:pt>
                      <c:pt idx="26">
                        <c:v>39233</c:v>
                      </c:pt>
                      <c:pt idx="27">
                        <c:v>39263</c:v>
                      </c:pt>
                      <c:pt idx="28">
                        <c:v>39294</c:v>
                      </c:pt>
                      <c:pt idx="29">
                        <c:v>39325</c:v>
                      </c:pt>
                      <c:pt idx="30">
                        <c:v>39355</c:v>
                      </c:pt>
                      <c:pt idx="31">
                        <c:v>39386</c:v>
                      </c:pt>
                      <c:pt idx="32">
                        <c:v>39416</c:v>
                      </c:pt>
                      <c:pt idx="33">
                        <c:v>39447</c:v>
                      </c:pt>
                      <c:pt idx="34">
                        <c:v>39478</c:v>
                      </c:pt>
                      <c:pt idx="35">
                        <c:v>39507</c:v>
                      </c:pt>
                      <c:pt idx="36">
                        <c:v>39538</c:v>
                      </c:pt>
                      <c:pt idx="37">
                        <c:v>39568</c:v>
                      </c:pt>
                      <c:pt idx="38">
                        <c:v>39599</c:v>
                      </c:pt>
                      <c:pt idx="39">
                        <c:v>39629</c:v>
                      </c:pt>
                      <c:pt idx="40">
                        <c:v>39660</c:v>
                      </c:pt>
                      <c:pt idx="41">
                        <c:v>39691</c:v>
                      </c:pt>
                      <c:pt idx="42">
                        <c:v>39721</c:v>
                      </c:pt>
                      <c:pt idx="43">
                        <c:v>39752</c:v>
                      </c:pt>
                      <c:pt idx="44">
                        <c:v>39782</c:v>
                      </c:pt>
                      <c:pt idx="45">
                        <c:v>39813</c:v>
                      </c:pt>
                      <c:pt idx="46">
                        <c:v>39844</c:v>
                      </c:pt>
                      <c:pt idx="47">
                        <c:v>39872</c:v>
                      </c:pt>
                      <c:pt idx="48">
                        <c:v>39903</c:v>
                      </c:pt>
                      <c:pt idx="49">
                        <c:v>39933</c:v>
                      </c:pt>
                      <c:pt idx="50">
                        <c:v>39964</c:v>
                      </c:pt>
                      <c:pt idx="51">
                        <c:v>39994</c:v>
                      </c:pt>
                      <c:pt idx="52">
                        <c:v>40025</c:v>
                      </c:pt>
                      <c:pt idx="53">
                        <c:v>40056</c:v>
                      </c:pt>
                      <c:pt idx="54">
                        <c:v>40086</c:v>
                      </c:pt>
                      <c:pt idx="55">
                        <c:v>40117</c:v>
                      </c:pt>
                      <c:pt idx="56">
                        <c:v>40147</c:v>
                      </c:pt>
                      <c:pt idx="57">
                        <c:v>40178</c:v>
                      </c:pt>
                      <c:pt idx="58">
                        <c:v>40209</c:v>
                      </c:pt>
                      <c:pt idx="59">
                        <c:v>40237</c:v>
                      </c:pt>
                      <c:pt idx="60">
                        <c:v>40268</c:v>
                      </c:pt>
                      <c:pt idx="61">
                        <c:v>40298</c:v>
                      </c:pt>
                      <c:pt idx="62">
                        <c:v>40329</c:v>
                      </c:pt>
                      <c:pt idx="63">
                        <c:v>40359</c:v>
                      </c:pt>
                      <c:pt idx="64">
                        <c:v>40390</c:v>
                      </c:pt>
                      <c:pt idx="65">
                        <c:v>40421</c:v>
                      </c:pt>
                      <c:pt idx="66">
                        <c:v>40451</c:v>
                      </c:pt>
                      <c:pt idx="67">
                        <c:v>40482</c:v>
                      </c:pt>
                      <c:pt idx="68">
                        <c:v>40512</c:v>
                      </c:pt>
                      <c:pt idx="69">
                        <c:v>40543</c:v>
                      </c:pt>
                      <c:pt idx="70">
                        <c:v>40574</c:v>
                      </c:pt>
                      <c:pt idx="71">
                        <c:v>40602</c:v>
                      </c:pt>
                      <c:pt idx="72">
                        <c:v>40633</c:v>
                      </c:pt>
                      <c:pt idx="73">
                        <c:v>40663</c:v>
                      </c:pt>
                      <c:pt idx="74">
                        <c:v>40694</c:v>
                      </c:pt>
                      <c:pt idx="75">
                        <c:v>40724</c:v>
                      </c:pt>
                      <c:pt idx="76">
                        <c:v>40755</c:v>
                      </c:pt>
                      <c:pt idx="77">
                        <c:v>40786</c:v>
                      </c:pt>
                      <c:pt idx="78">
                        <c:v>40816</c:v>
                      </c:pt>
                      <c:pt idx="79">
                        <c:v>40847</c:v>
                      </c:pt>
                      <c:pt idx="80">
                        <c:v>40877</c:v>
                      </c:pt>
                      <c:pt idx="81">
                        <c:v>40908</c:v>
                      </c:pt>
                      <c:pt idx="82">
                        <c:v>40939</c:v>
                      </c:pt>
                      <c:pt idx="83">
                        <c:v>40968</c:v>
                      </c:pt>
                      <c:pt idx="84">
                        <c:v>40999</c:v>
                      </c:pt>
                      <c:pt idx="85">
                        <c:v>41029</c:v>
                      </c:pt>
                      <c:pt idx="86">
                        <c:v>41060</c:v>
                      </c:pt>
                      <c:pt idx="87">
                        <c:v>41090</c:v>
                      </c:pt>
                      <c:pt idx="88">
                        <c:v>41121</c:v>
                      </c:pt>
                      <c:pt idx="89">
                        <c:v>41152</c:v>
                      </c:pt>
                      <c:pt idx="90">
                        <c:v>41182</c:v>
                      </c:pt>
                      <c:pt idx="91">
                        <c:v>41213</c:v>
                      </c:pt>
                      <c:pt idx="92">
                        <c:v>41243</c:v>
                      </c:pt>
                      <c:pt idx="93">
                        <c:v>41274</c:v>
                      </c:pt>
                      <c:pt idx="94">
                        <c:v>41305</c:v>
                      </c:pt>
                      <c:pt idx="95">
                        <c:v>41333</c:v>
                      </c:pt>
                      <c:pt idx="96">
                        <c:v>41364</c:v>
                      </c:pt>
                      <c:pt idx="97">
                        <c:v>41394</c:v>
                      </c:pt>
                      <c:pt idx="98">
                        <c:v>41425</c:v>
                      </c:pt>
                      <c:pt idx="99">
                        <c:v>41455</c:v>
                      </c:pt>
                      <c:pt idx="100">
                        <c:v>41486</c:v>
                      </c:pt>
                      <c:pt idx="101">
                        <c:v>41517</c:v>
                      </c:pt>
                      <c:pt idx="102">
                        <c:v>41547</c:v>
                      </c:pt>
                      <c:pt idx="103">
                        <c:v>41578</c:v>
                      </c:pt>
                      <c:pt idx="104">
                        <c:v>41608</c:v>
                      </c:pt>
                      <c:pt idx="105">
                        <c:v>41639</c:v>
                      </c:pt>
                      <c:pt idx="106">
                        <c:v>41670</c:v>
                      </c:pt>
                      <c:pt idx="107">
                        <c:v>41698</c:v>
                      </c:pt>
                      <c:pt idx="108">
                        <c:v>41729</c:v>
                      </c:pt>
                      <c:pt idx="109">
                        <c:v>41759</c:v>
                      </c:pt>
                      <c:pt idx="110">
                        <c:v>41790</c:v>
                      </c:pt>
                      <c:pt idx="111">
                        <c:v>41820</c:v>
                      </c:pt>
                      <c:pt idx="112">
                        <c:v>41851</c:v>
                      </c:pt>
                      <c:pt idx="113">
                        <c:v>41882</c:v>
                      </c:pt>
                      <c:pt idx="114">
                        <c:v>41912</c:v>
                      </c:pt>
                      <c:pt idx="115">
                        <c:v>41943</c:v>
                      </c:pt>
                      <c:pt idx="116">
                        <c:v>41973</c:v>
                      </c:pt>
                      <c:pt idx="117">
                        <c:v>42004</c:v>
                      </c:pt>
                      <c:pt idx="118">
                        <c:v>42035</c:v>
                      </c:pt>
                      <c:pt idx="119">
                        <c:v>42063</c:v>
                      </c:pt>
                      <c:pt idx="120">
                        <c:v>42094</c:v>
                      </c:pt>
                      <c:pt idx="121">
                        <c:v>42124</c:v>
                      </c:pt>
                      <c:pt idx="122">
                        <c:v>42155</c:v>
                      </c:pt>
                      <c:pt idx="123">
                        <c:v>42185</c:v>
                      </c:pt>
                      <c:pt idx="124">
                        <c:v>42216</c:v>
                      </c:pt>
                      <c:pt idx="125">
                        <c:v>42247</c:v>
                      </c:pt>
                      <c:pt idx="126">
                        <c:v>42277</c:v>
                      </c:pt>
                      <c:pt idx="127">
                        <c:v>42308</c:v>
                      </c:pt>
                      <c:pt idx="128">
                        <c:v>42338</c:v>
                      </c:pt>
                      <c:pt idx="129">
                        <c:v>42369</c:v>
                      </c:pt>
                      <c:pt idx="130">
                        <c:v>42400</c:v>
                      </c:pt>
                      <c:pt idx="131">
                        <c:v>42429</c:v>
                      </c:pt>
                      <c:pt idx="132">
                        <c:v>42460</c:v>
                      </c:pt>
                      <c:pt idx="133">
                        <c:v>42490</c:v>
                      </c:pt>
                      <c:pt idx="134">
                        <c:v>42521</c:v>
                      </c:pt>
                      <c:pt idx="135">
                        <c:v>42551</c:v>
                      </c:pt>
                      <c:pt idx="136">
                        <c:v>42582</c:v>
                      </c:pt>
                      <c:pt idx="137">
                        <c:v>42613</c:v>
                      </c:pt>
                      <c:pt idx="138">
                        <c:v>42643</c:v>
                      </c:pt>
                      <c:pt idx="139">
                        <c:v>42674</c:v>
                      </c:pt>
                      <c:pt idx="140">
                        <c:v>42704</c:v>
                      </c:pt>
                      <c:pt idx="141">
                        <c:v>42735</c:v>
                      </c:pt>
                      <c:pt idx="142">
                        <c:v>42766</c:v>
                      </c:pt>
                      <c:pt idx="143">
                        <c:v>42794</c:v>
                      </c:pt>
                      <c:pt idx="144">
                        <c:v>42825</c:v>
                      </c:pt>
                      <c:pt idx="145">
                        <c:v>42855</c:v>
                      </c:pt>
                      <c:pt idx="146">
                        <c:v>42886</c:v>
                      </c:pt>
                      <c:pt idx="147">
                        <c:v>42916</c:v>
                      </c:pt>
                      <c:pt idx="148">
                        <c:v>42947</c:v>
                      </c:pt>
                      <c:pt idx="149">
                        <c:v>42978</c:v>
                      </c:pt>
                      <c:pt idx="150">
                        <c:v>43008</c:v>
                      </c:pt>
                      <c:pt idx="151">
                        <c:v>43039</c:v>
                      </c:pt>
                      <c:pt idx="152">
                        <c:v>43069</c:v>
                      </c:pt>
                      <c:pt idx="153">
                        <c:v>43100</c:v>
                      </c:pt>
                      <c:pt idx="154">
                        <c:v>43131</c:v>
                      </c:pt>
                      <c:pt idx="155">
                        <c:v>43159</c:v>
                      </c:pt>
                      <c:pt idx="156">
                        <c:v>43190</c:v>
                      </c:pt>
                      <c:pt idx="157">
                        <c:v>43220</c:v>
                      </c:pt>
                      <c:pt idx="158">
                        <c:v>43251</c:v>
                      </c:pt>
                      <c:pt idx="159">
                        <c:v>43281</c:v>
                      </c:pt>
                      <c:pt idx="160">
                        <c:v>43312</c:v>
                      </c:pt>
                      <c:pt idx="161">
                        <c:v>43343</c:v>
                      </c:pt>
                      <c:pt idx="162">
                        <c:v>43373</c:v>
                      </c:pt>
                      <c:pt idx="163">
                        <c:v>43404</c:v>
                      </c:pt>
                      <c:pt idx="164">
                        <c:v>43434</c:v>
                      </c:pt>
                      <c:pt idx="165">
                        <c:v>43465</c:v>
                      </c:pt>
                      <c:pt idx="166">
                        <c:v>43496</c:v>
                      </c:pt>
                      <c:pt idx="167">
                        <c:v>43524</c:v>
                      </c:pt>
                      <c:pt idx="168">
                        <c:v>43555</c:v>
                      </c:pt>
                      <c:pt idx="169">
                        <c:v>43585</c:v>
                      </c:pt>
                      <c:pt idx="170">
                        <c:v>43616</c:v>
                      </c:pt>
                      <c:pt idx="171">
                        <c:v>43646</c:v>
                      </c:pt>
                      <c:pt idx="172">
                        <c:v>43677</c:v>
                      </c:pt>
                      <c:pt idx="173">
                        <c:v>43708</c:v>
                      </c:pt>
                      <c:pt idx="174">
                        <c:v>43738</c:v>
                      </c:pt>
                      <c:pt idx="175">
                        <c:v>43769</c:v>
                      </c:pt>
                      <c:pt idx="176">
                        <c:v>43799</c:v>
                      </c:pt>
                      <c:pt idx="177">
                        <c:v>43830</c:v>
                      </c:pt>
                      <c:pt idx="178">
                        <c:v>43861</c:v>
                      </c:pt>
                      <c:pt idx="179">
                        <c:v>43890</c:v>
                      </c:pt>
                      <c:pt idx="180">
                        <c:v>43921</c:v>
                      </c:pt>
                      <c:pt idx="181">
                        <c:v>43951</c:v>
                      </c:pt>
                      <c:pt idx="182">
                        <c:v>43982</c:v>
                      </c:pt>
                      <c:pt idx="183">
                        <c:v>44012</c:v>
                      </c:pt>
                      <c:pt idx="184">
                        <c:v>44043</c:v>
                      </c:pt>
                      <c:pt idx="185">
                        <c:v>44074</c:v>
                      </c:pt>
                      <c:pt idx="186">
                        <c:v>44104</c:v>
                      </c:pt>
                      <c:pt idx="187">
                        <c:v>44135</c:v>
                      </c:pt>
                      <c:pt idx="188">
                        <c:v>44165</c:v>
                      </c:pt>
                      <c:pt idx="189">
                        <c:v>44196</c:v>
                      </c:pt>
                      <c:pt idx="190">
                        <c:v>44227</c:v>
                      </c:pt>
                      <c:pt idx="191">
                        <c:v>44255</c:v>
                      </c:pt>
                      <c:pt idx="192">
                        <c:v>44286</c:v>
                      </c:pt>
                      <c:pt idx="193">
                        <c:v>44316</c:v>
                      </c:pt>
                      <c:pt idx="194">
                        <c:v>44347</c:v>
                      </c:pt>
                      <c:pt idx="195">
                        <c:v>44377</c:v>
                      </c:pt>
                      <c:pt idx="196">
                        <c:v>44408</c:v>
                      </c:pt>
                      <c:pt idx="197">
                        <c:v>44439</c:v>
                      </c:pt>
                      <c:pt idx="198">
                        <c:v>44469</c:v>
                      </c:pt>
                      <c:pt idx="199">
                        <c:v>44500</c:v>
                      </c:pt>
                      <c:pt idx="200">
                        <c:v>44530</c:v>
                      </c:pt>
                      <c:pt idx="201">
                        <c:v>44561</c:v>
                      </c:pt>
                      <c:pt idx="202">
                        <c:v>44592</c:v>
                      </c:pt>
                      <c:pt idx="203">
                        <c:v>44620</c:v>
                      </c:pt>
                      <c:pt idx="204">
                        <c:v>44651</c:v>
                      </c:pt>
                      <c:pt idx="205">
                        <c:v>44681</c:v>
                      </c:pt>
                      <c:pt idx="206">
                        <c:v>44712</c:v>
                      </c:pt>
                      <c:pt idx="207">
                        <c:v>44742</c:v>
                      </c:pt>
                      <c:pt idx="208">
                        <c:v>44773</c:v>
                      </c:pt>
                      <c:pt idx="209">
                        <c:v>44804</c:v>
                      </c:pt>
                      <c:pt idx="210">
                        <c:v>44834</c:v>
                      </c:pt>
                      <c:pt idx="211">
                        <c:v>44865</c:v>
                      </c:pt>
                      <c:pt idx="212">
                        <c:v>44895</c:v>
                      </c:pt>
                      <c:pt idx="213">
                        <c:v>44926</c:v>
                      </c:pt>
                      <c:pt idx="214">
                        <c:v>44957</c:v>
                      </c:pt>
                      <c:pt idx="215">
                        <c:v>44985</c:v>
                      </c:pt>
                      <c:pt idx="216">
                        <c:v>45016</c:v>
                      </c:pt>
                      <c:pt idx="217">
                        <c:v>45046</c:v>
                      </c:pt>
                      <c:pt idx="218">
                        <c:v>45077</c:v>
                      </c:pt>
                      <c:pt idx="219">
                        <c:v>45107</c:v>
                      </c:pt>
                      <c:pt idx="220">
                        <c:v>45138</c:v>
                      </c:pt>
                      <c:pt idx="221">
                        <c:v>45169</c:v>
                      </c:pt>
                      <c:pt idx="222">
                        <c:v>45199</c:v>
                      </c:pt>
                      <c:pt idx="223">
                        <c:v>45230</c:v>
                      </c:pt>
                      <c:pt idx="224">
                        <c:v>45260</c:v>
                      </c:pt>
                      <c:pt idx="225">
                        <c:v>45291</c:v>
                      </c:pt>
                      <c:pt idx="226">
                        <c:v>45322</c:v>
                      </c:pt>
                      <c:pt idx="227">
                        <c:v>45351</c:v>
                      </c:pt>
                      <c:pt idx="228">
                        <c:v>45382</c:v>
                      </c:pt>
                      <c:pt idx="229">
                        <c:v>45412</c:v>
                      </c:pt>
                      <c:pt idx="230">
                        <c:v>45443</c:v>
                      </c:pt>
                      <c:pt idx="231">
                        <c:v>45473</c:v>
                      </c:pt>
                      <c:pt idx="232">
                        <c:v>45504</c:v>
                      </c:pt>
                      <c:pt idx="233">
                        <c:v>45535</c:v>
                      </c:pt>
                      <c:pt idx="234">
                        <c:v>45565</c:v>
                      </c:pt>
                      <c:pt idx="235">
                        <c:v>45596</c:v>
                      </c:pt>
                      <c:pt idx="236">
                        <c:v>45626</c:v>
                      </c:pt>
                      <c:pt idx="237">
                        <c:v>45657</c:v>
                      </c:pt>
                      <c:pt idx="238">
                        <c:v>45688</c:v>
                      </c:pt>
                      <c:pt idx="239">
                        <c:v>45716</c:v>
                      </c:pt>
                      <c:pt idx="240">
                        <c:v>45747</c:v>
                      </c:pt>
                    </c:numCache>
                  </c:numRef>
                </c:cat>
                <c:val>
                  <c:numRef>
                    <c:extLst xmlns:c15="http://schemas.microsoft.com/office/drawing/2012/chart">
                      <c:ext xmlns:c15="http://schemas.microsoft.com/office/drawing/2012/chart" uri="{02D57815-91ED-43cb-92C2-25804820EDAC}">
                        <c15:formulaRef>
                          <c15:sqref>Sheet1!$C$2:$C$242</c15:sqref>
                        </c15:formulaRef>
                      </c:ext>
                    </c:extLst>
                    <c:numCache>
                      <c:formatCode>General</c:formatCode>
                      <c:ptCount val="241"/>
                      <c:pt idx="0">
                        <c:v>68</c:v>
                      </c:pt>
                      <c:pt idx="1">
                        <c:v>80</c:v>
                      </c:pt>
                      <c:pt idx="2">
                        <c:v>69</c:v>
                      </c:pt>
                      <c:pt idx="3">
                        <c:v>66</c:v>
                      </c:pt>
                      <c:pt idx="4">
                        <c:v>74</c:v>
                      </c:pt>
                      <c:pt idx="5">
                        <c:v>73</c:v>
                      </c:pt>
                      <c:pt idx="6">
                        <c:v>69</c:v>
                      </c:pt>
                      <c:pt idx="7">
                        <c:v>74</c:v>
                      </c:pt>
                      <c:pt idx="8">
                        <c:v>66</c:v>
                      </c:pt>
                      <c:pt idx="9">
                        <c:v>68</c:v>
                      </c:pt>
                      <c:pt idx="10">
                        <c:v>73</c:v>
                      </c:pt>
                      <c:pt idx="11">
                        <c:v>77</c:v>
                      </c:pt>
                      <c:pt idx="12">
                        <c:v>78</c:v>
                      </c:pt>
                      <c:pt idx="13">
                        <c:v>75</c:v>
                      </c:pt>
                      <c:pt idx="14">
                        <c:v>77</c:v>
                      </c:pt>
                      <c:pt idx="15">
                        <c:v>70</c:v>
                      </c:pt>
                      <c:pt idx="16">
                        <c:v>69</c:v>
                      </c:pt>
                      <c:pt idx="17">
                        <c:v>72</c:v>
                      </c:pt>
                      <c:pt idx="18">
                        <c:v>68</c:v>
                      </c:pt>
                      <c:pt idx="19">
                        <c:v>70</c:v>
                      </c:pt>
                      <c:pt idx="20">
                        <c:v>68</c:v>
                      </c:pt>
                      <c:pt idx="21">
                        <c:v>77</c:v>
                      </c:pt>
                      <c:pt idx="22">
                        <c:v>71</c:v>
                      </c:pt>
                      <c:pt idx="23">
                        <c:v>70</c:v>
                      </c:pt>
                      <c:pt idx="24">
                        <c:v>70</c:v>
                      </c:pt>
                      <c:pt idx="25">
                        <c:v>70</c:v>
                      </c:pt>
                      <c:pt idx="26">
                        <c:v>69</c:v>
                      </c:pt>
                      <c:pt idx="27">
                        <c:v>70</c:v>
                      </c:pt>
                      <c:pt idx="28">
                        <c:v>70</c:v>
                      </c:pt>
                      <c:pt idx="29">
                        <c:v>70</c:v>
                      </c:pt>
                      <c:pt idx="30">
                        <c:v>72</c:v>
                      </c:pt>
                      <c:pt idx="31">
                        <c:v>65</c:v>
                      </c:pt>
                      <c:pt idx="32">
                        <c:v>62</c:v>
                      </c:pt>
                      <c:pt idx="33">
                        <c:v>60</c:v>
                      </c:pt>
                      <c:pt idx="34">
                        <c:v>62</c:v>
                      </c:pt>
                      <c:pt idx="35">
                        <c:v>64</c:v>
                      </c:pt>
                      <c:pt idx="36">
                        <c:v>67</c:v>
                      </c:pt>
                      <c:pt idx="37">
                        <c:v>63</c:v>
                      </c:pt>
                      <c:pt idx="38">
                        <c:v>61</c:v>
                      </c:pt>
                      <c:pt idx="39">
                        <c:v>59</c:v>
                      </c:pt>
                      <c:pt idx="40">
                        <c:v>57</c:v>
                      </c:pt>
                      <c:pt idx="41">
                        <c:v>61</c:v>
                      </c:pt>
                      <c:pt idx="42">
                        <c:v>61</c:v>
                      </c:pt>
                      <c:pt idx="43">
                        <c:v>59</c:v>
                      </c:pt>
                      <c:pt idx="44">
                        <c:v>66</c:v>
                      </c:pt>
                      <c:pt idx="45">
                        <c:v>55</c:v>
                      </c:pt>
                      <c:pt idx="46">
                        <c:v>53</c:v>
                      </c:pt>
                      <c:pt idx="47">
                        <c:v>53</c:v>
                      </c:pt>
                      <c:pt idx="48">
                        <c:v>53</c:v>
                      </c:pt>
                      <c:pt idx="49">
                        <c:v>57</c:v>
                      </c:pt>
                      <c:pt idx="50">
                        <c:v>56</c:v>
                      </c:pt>
                      <c:pt idx="51">
                        <c:v>57</c:v>
                      </c:pt>
                      <c:pt idx="52">
                        <c:v>48</c:v>
                      </c:pt>
                      <c:pt idx="53">
                        <c:v>55</c:v>
                      </c:pt>
                      <c:pt idx="54">
                        <c:v>49</c:v>
                      </c:pt>
                      <c:pt idx="55">
                        <c:v>54</c:v>
                      </c:pt>
                      <c:pt idx="56">
                        <c:v>53</c:v>
                      </c:pt>
                      <c:pt idx="57">
                        <c:v>55</c:v>
                      </c:pt>
                      <c:pt idx="58">
                        <c:v>54</c:v>
                      </c:pt>
                      <c:pt idx="59">
                        <c:v>52</c:v>
                      </c:pt>
                      <c:pt idx="60">
                        <c:v>57</c:v>
                      </c:pt>
                      <c:pt idx="61">
                        <c:v>57</c:v>
                      </c:pt>
                      <c:pt idx="62">
                        <c:v>59</c:v>
                      </c:pt>
                      <c:pt idx="63">
                        <c:v>54</c:v>
                      </c:pt>
                      <c:pt idx="64">
                        <c:v>53</c:v>
                      </c:pt>
                      <c:pt idx="65">
                        <c:v>55</c:v>
                      </c:pt>
                      <c:pt idx="66">
                        <c:v>50</c:v>
                      </c:pt>
                      <c:pt idx="67">
                        <c:v>57</c:v>
                      </c:pt>
                      <c:pt idx="68">
                        <c:v>57</c:v>
                      </c:pt>
                      <c:pt idx="69">
                        <c:v>60</c:v>
                      </c:pt>
                      <c:pt idx="70">
                        <c:v>62</c:v>
                      </c:pt>
                      <c:pt idx="71">
                        <c:v>60</c:v>
                      </c:pt>
                      <c:pt idx="72">
                        <c:v>61</c:v>
                      </c:pt>
                      <c:pt idx="73">
                        <c:v>64</c:v>
                      </c:pt>
                      <c:pt idx="74">
                        <c:v>59</c:v>
                      </c:pt>
                      <c:pt idx="75">
                        <c:v>55</c:v>
                      </c:pt>
                      <c:pt idx="76">
                        <c:v>58</c:v>
                      </c:pt>
                      <c:pt idx="77">
                        <c:v>54</c:v>
                      </c:pt>
                      <c:pt idx="78">
                        <c:v>54</c:v>
                      </c:pt>
                      <c:pt idx="79">
                        <c:v>52</c:v>
                      </c:pt>
                      <c:pt idx="80">
                        <c:v>53</c:v>
                      </c:pt>
                      <c:pt idx="81">
                        <c:v>63</c:v>
                      </c:pt>
                      <c:pt idx="82">
                        <c:v>64</c:v>
                      </c:pt>
                      <c:pt idx="83">
                        <c:v>66</c:v>
                      </c:pt>
                      <c:pt idx="84">
                        <c:v>70</c:v>
                      </c:pt>
                      <c:pt idx="85">
                        <c:v>73</c:v>
                      </c:pt>
                      <c:pt idx="86">
                        <c:v>68</c:v>
                      </c:pt>
                      <c:pt idx="87">
                        <c:v>74</c:v>
                      </c:pt>
                      <c:pt idx="88">
                        <c:v>65</c:v>
                      </c:pt>
                      <c:pt idx="89">
                        <c:v>71</c:v>
                      </c:pt>
                      <c:pt idx="90">
                        <c:v>77</c:v>
                      </c:pt>
                      <c:pt idx="91">
                        <c:v>77</c:v>
                      </c:pt>
                      <c:pt idx="92">
                        <c:v>58</c:v>
                      </c:pt>
                      <c:pt idx="93">
                        <c:v>64</c:v>
                      </c:pt>
                      <c:pt idx="94">
                        <c:v>64</c:v>
                      </c:pt>
                      <c:pt idx="95">
                        <c:v>63</c:v>
                      </c:pt>
                      <c:pt idx="96">
                        <c:v>60</c:v>
                      </c:pt>
                      <c:pt idx="97">
                        <c:v>68</c:v>
                      </c:pt>
                      <c:pt idx="98">
                        <c:v>64</c:v>
                      </c:pt>
                      <c:pt idx="99">
                        <c:v>71</c:v>
                      </c:pt>
                      <c:pt idx="100">
                        <c:v>66</c:v>
                      </c:pt>
                      <c:pt idx="101">
                        <c:v>59</c:v>
                      </c:pt>
                      <c:pt idx="102">
                        <c:v>58</c:v>
                      </c:pt>
                      <c:pt idx="103">
                        <c:v>60</c:v>
                      </c:pt>
                      <c:pt idx="104">
                        <c:v>61</c:v>
                      </c:pt>
                      <c:pt idx="105">
                        <c:v>58</c:v>
                      </c:pt>
                      <c:pt idx="106">
                        <c:v>65</c:v>
                      </c:pt>
                      <c:pt idx="107">
                        <c:v>66</c:v>
                      </c:pt>
                      <c:pt idx="108">
                        <c:v>62</c:v>
                      </c:pt>
                      <c:pt idx="109">
                        <c:v>72</c:v>
                      </c:pt>
                      <c:pt idx="110">
                        <c:v>71</c:v>
                      </c:pt>
                      <c:pt idx="111">
                        <c:v>67</c:v>
                      </c:pt>
                      <c:pt idx="112">
                        <c:v>66</c:v>
                      </c:pt>
                      <c:pt idx="113">
                        <c:v>75</c:v>
                      </c:pt>
                      <c:pt idx="114">
                        <c:v>70</c:v>
                      </c:pt>
                      <c:pt idx="115">
                        <c:v>64</c:v>
                      </c:pt>
                      <c:pt idx="116">
                        <c:v>73</c:v>
                      </c:pt>
                      <c:pt idx="117">
                        <c:v>69</c:v>
                      </c:pt>
                      <c:pt idx="118">
                        <c:v>72</c:v>
                      </c:pt>
                      <c:pt idx="119">
                        <c:v>73</c:v>
                      </c:pt>
                      <c:pt idx="120">
                        <c:v>76</c:v>
                      </c:pt>
                      <c:pt idx="121">
                        <c:v>73</c:v>
                      </c:pt>
                      <c:pt idx="122">
                        <c:v>68</c:v>
                      </c:pt>
                      <c:pt idx="123">
                        <c:v>71</c:v>
                      </c:pt>
                      <c:pt idx="124">
                        <c:v>73</c:v>
                      </c:pt>
                      <c:pt idx="125">
                        <c:v>75</c:v>
                      </c:pt>
                      <c:pt idx="126">
                        <c:v>75</c:v>
                      </c:pt>
                      <c:pt idx="127">
                        <c:v>70</c:v>
                      </c:pt>
                      <c:pt idx="128">
                        <c:v>65</c:v>
                      </c:pt>
                      <c:pt idx="129">
                        <c:v>74</c:v>
                      </c:pt>
                      <c:pt idx="130">
                        <c:v>66</c:v>
                      </c:pt>
                      <c:pt idx="131">
                        <c:v>70</c:v>
                      </c:pt>
                      <c:pt idx="132">
                        <c:v>83</c:v>
                      </c:pt>
                      <c:pt idx="133">
                        <c:v>72</c:v>
                      </c:pt>
                      <c:pt idx="134">
                        <c:v>77</c:v>
                      </c:pt>
                      <c:pt idx="135">
                        <c:v>77</c:v>
                      </c:pt>
                      <c:pt idx="136">
                        <c:v>81</c:v>
                      </c:pt>
                      <c:pt idx="137">
                        <c:v>87</c:v>
                      </c:pt>
                      <c:pt idx="138">
                        <c:v>86</c:v>
                      </c:pt>
                      <c:pt idx="139">
                        <c:v>88</c:v>
                      </c:pt>
                      <c:pt idx="140">
                        <c:v>100</c:v>
                      </c:pt>
                      <c:pt idx="141">
                        <c:v>85</c:v>
                      </c:pt>
                      <c:pt idx="142">
                        <c:v>85</c:v>
                      </c:pt>
                      <c:pt idx="143">
                        <c:v>86</c:v>
                      </c:pt>
                      <c:pt idx="144">
                        <c:v>93</c:v>
                      </c:pt>
                      <c:pt idx="145">
                        <c:v>83</c:v>
                      </c:pt>
                      <c:pt idx="146">
                        <c:v>82</c:v>
                      </c:pt>
                      <c:pt idx="147">
                        <c:v>83</c:v>
                      </c:pt>
                      <c:pt idx="148">
                        <c:v>83</c:v>
                      </c:pt>
                      <c:pt idx="149">
                        <c:v>81</c:v>
                      </c:pt>
                      <c:pt idx="150">
                        <c:v>85</c:v>
                      </c:pt>
                      <c:pt idx="151">
                        <c:v>80</c:v>
                      </c:pt>
                      <c:pt idx="152">
                        <c:v>79</c:v>
                      </c:pt>
                      <c:pt idx="153">
                        <c:v>80</c:v>
                      </c:pt>
                      <c:pt idx="154">
                        <c:v>78</c:v>
                      </c:pt>
                      <c:pt idx="155">
                        <c:v>81</c:v>
                      </c:pt>
                      <c:pt idx="156">
                        <c:v>80</c:v>
                      </c:pt>
                      <c:pt idx="157">
                        <c:v>80</c:v>
                      </c:pt>
                      <c:pt idx="158">
                        <c:v>72</c:v>
                      </c:pt>
                      <c:pt idx="159">
                        <c:v>78</c:v>
                      </c:pt>
                      <c:pt idx="160">
                        <c:v>75</c:v>
                      </c:pt>
                      <c:pt idx="161">
                        <c:v>74</c:v>
                      </c:pt>
                      <c:pt idx="162">
                        <c:v>79</c:v>
                      </c:pt>
                      <c:pt idx="163">
                        <c:v>83</c:v>
                      </c:pt>
                      <c:pt idx="164">
                        <c:v>81</c:v>
                      </c:pt>
                      <c:pt idx="165">
                        <c:v>79</c:v>
                      </c:pt>
                      <c:pt idx="166">
                        <c:v>86</c:v>
                      </c:pt>
                      <c:pt idx="167">
                        <c:v>85</c:v>
                      </c:pt>
                      <c:pt idx="168">
                        <c:v>79</c:v>
                      </c:pt>
                      <c:pt idx="169">
                        <c:v>78</c:v>
                      </c:pt>
                      <c:pt idx="170">
                        <c:v>79</c:v>
                      </c:pt>
                      <c:pt idx="171">
                        <c:v>87</c:v>
                      </c:pt>
                      <c:pt idx="172">
                        <c:v>76</c:v>
                      </c:pt>
                      <c:pt idx="173">
                        <c:v>80</c:v>
                      </c:pt>
                      <c:pt idx="174">
                        <c:v>82</c:v>
                      </c:pt>
                      <c:pt idx="175">
                        <c:v>78</c:v>
                      </c:pt>
                      <c:pt idx="176">
                        <c:v>72</c:v>
                      </c:pt>
                      <c:pt idx="177">
                        <c:v>80</c:v>
                      </c:pt>
                      <c:pt idx="178">
                        <c:v>81</c:v>
                      </c:pt>
                      <c:pt idx="179">
                        <c:v>80</c:v>
                      </c:pt>
                      <c:pt idx="180">
                        <c:v>92</c:v>
                      </c:pt>
                      <c:pt idx="181">
                        <c:v>75</c:v>
                      </c:pt>
                      <c:pt idx="182">
                        <c:v>82</c:v>
                      </c:pt>
                      <c:pt idx="183">
                        <c:v>81</c:v>
                      </c:pt>
                      <c:pt idx="184">
                        <c:v>88</c:v>
                      </c:pt>
                      <c:pt idx="185">
                        <c:v>90</c:v>
                      </c:pt>
                      <c:pt idx="186">
                        <c:v>92</c:v>
                      </c:pt>
                      <c:pt idx="187">
                        <c:v>98</c:v>
                      </c:pt>
                      <c:pt idx="188">
                        <c:v>90</c:v>
                      </c:pt>
                      <c:pt idx="189">
                        <c:v>82</c:v>
                      </c:pt>
                      <c:pt idx="190">
                        <c:v>80</c:v>
                      </c:pt>
                      <c:pt idx="191">
                        <c:v>75</c:v>
                      </c:pt>
                      <c:pt idx="192">
                        <c:v>81</c:v>
                      </c:pt>
                      <c:pt idx="193">
                        <c:v>80</c:v>
                      </c:pt>
                      <c:pt idx="194">
                        <c:v>79</c:v>
                      </c:pt>
                      <c:pt idx="195">
                        <c:v>83</c:v>
                      </c:pt>
                      <c:pt idx="196">
                        <c:v>76</c:v>
                      </c:pt>
                      <c:pt idx="197">
                        <c:v>69</c:v>
                      </c:pt>
                      <c:pt idx="198">
                        <c:v>74</c:v>
                      </c:pt>
                      <c:pt idx="199">
                        <c:v>67</c:v>
                      </c:pt>
                      <c:pt idx="200">
                        <c:v>63</c:v>
                      </c:pt>
                      <c:pt idx="201">
                        <c:v>72</c:v>
                      </c:pt>
                      <c:pt idx="202">
                        <c:v>71</c:v>
                      </c:pt>
                      <c:pt idx="203">
                        <c:v>73</c:v>
                      </c:pt>
                      <c:pt idx="204">
                        <c:v>63</c:v>
                      </c:pt>
                      <c:pt idx="205">
                        <c:v>69</c:v>
                      </c:pt>
                      <c:pt idx="206">
                        <c:v>59</c:v>
                      </c:pt>
                      <c:pt idx="207">
                        <c:v>55</c:v>
                      </c:pt>
                      <c:pt idx="208">
                        <c:v>67</c:v>
                      </c:pt>
                      <c:pt idx="209">
                        <c:v>74</c:v>
                      </c:pt>
                      <c:pt idx="210">
                        <c:v>72</c:v>
                      </c:pt>
                      <c:pt idx="211">
                        <c:v>72</c:v>
                      </c:pt>
                      <c:pt idx="212">
                        <c:v>68</c:v>
                      </c:pt>
                      <c:pt idx="213">
                        <c:v>71</c:v>
                      </c:pt>
                      <c:pt idx="214">
                        <c:v>76</c:v>
                      </c:pt>
                      <c:pt idx="215">
                        <c:v>71</c:v>
                      </c:pt>
                      <c:pt idx="216">
                        <c:v>74</c:v>
                      </c:pt>
                      <c:pt idx="217">
                        <c:v>72</c:v>
                      </c:pt>
                      <c:pt idx="218">
                        <c:v>71</c:v>
                      </c:pt>
                      <c:pt idx="219">
                        <c:v>76</c:v>
                      </c:pt>
                      <c:pt idx="220">
                        <c:v>80</c:v>
                      </c:pt>
                      <c:pt idx="221">
                        <c:v>77</c:v>
                      </c:pt>
                      <c:pt idx="222">
                        <c:v>79</c:v>
                      </c:pt>
                      <c:pt idx="223">
                        <c:v>76</c:v>
                      </c:pt>
                      <c:pt idx="224">
                        <c:v>65</c:v>
                      </c:pt>
                      <c:pt idx="225">
                        <c:v>71</c:v>
                      </c:pt>
                      <c:pt idx="226">
                        <c:v>73</c:v>
                      </c:pt>
                      <c:pt idx="227">
                        <c:v>76</c:v>
                      </c:pt>
                      <c:pt idx="228">
                        <c:v>77</c:v>
                      </c:pt>
                      <c:pt idx="229">
                        <c:v>78</c:v>
                      </c:pt>
                      <c:pt idx="230">
                        <c:v>85</c:v>
                      </c:pt>
                      <c:pt idx="231">
                        <c:v>82</c:v>
                      </c:pt>
                      <c:pt idx="232">
                        <c:v>90</c:v>
                      </c:pt>
                      <c:pt idx="233">
                        <c:v>92</c:v>
                      </c:pt>
                      <c:pt idx="234">
                        <c:v>103</c:v>
                      </c:pt>
                      <c:pt idx="235">
                        <c:v>110</c:v>
                      </c:pt>
                      <c:pt idx="236">
                        <c:v>98</c:v>
                      </c:pt>
                      <c:pt idx="237">
                        <c:v>86</c:v>
                      </c:pt>
                      <c:pt idx="238">
                        <c:v>100</c:v>
                      </c:pt>
                      <c:pt idx="239">
                        <c:v>104</c:v>
                      </c:pt>
                      <c:pt idx="240">
                        <c:v>96</c:v>
                      </c:pt>
                    </c:numCache>
                  </c:numRef>
                </c:val>
                <c:smooth val="0"/>
                <c:extLst xmlns:c15="http://schemas.microsoft.com/office/drawing/2012/chart">
                  <c:ext xmlns:c16="http://schemas.microsoft.com/office/drawing/2014/chart" uri="{C3380CC4-5D6E-409C-BE32-E72D297353CC}">
                    <c16:uniqueId val="{00000003-63AC-4F57-A6FF-629B730CD53E}"/>
                  </c:ext>
                </c:extLst>
              </c15:ser>
            </c15:filteredLineSeries>
          </c:ext>
        </c:extLst>
      </c:lineChart>
      <c:dateAx>
        <c:axId val="949611887"/>
        <c:scaling>
          <c:orientation val="minMax"/>
        </c:scaling>
        <c:delete val="0"/>
        <c:axPos val="b"/>
        <c:numFmt formatCode="[$-409]mmm\-yy;@" sourceLinked="1"/>
        <c:majorTickMark val="out"/>
        <c:minorTickMark val="none"/>
        <c:tickLblPos val="low"/>
        <c:spPr>
          <a:noFill/>
          <a:ln w="9525" cap="flat" cmpd="sng" algn="ctr">
            <a:solidFill>
              <a:schemeClr val="bg1">
                <a:lumMod val="95000"/>
              </a:schemeClr>
            </a:solidFill>
            <a:round/>
          </a:ln>
          <a:effectLst/>
        </c:spPr>
        <c:txPr>
          <a:bodyPr rot="-60000000" spcFirstLastPara="1" vertOverflow="ellipsis" vert="horz" wrap="square" anchor="ctr" anchorCtr="1"/>
          <a:lstStyle/>
          <a:p>
            <a:pPr algn="ctr">
              <a:defRPr lang="en-US" sz="900" b="0" i="0" u="none" strike="noStrike" kern="1200" cap="all" baseline="0">
                <a:solidFill>
                  <a:schemeClr val="bg1"/>
                </a:solidFill>
                <a:latin typeface="Poppins" panose="00000500000000000000" pitchFamily="2" charset="0"/>
                <a:ea typeface="+mn-ea"/>
                <a:cs typeface="Poppins" panose="00000500000000000000" pitchFamily="2" charset="0"/>
              </a:defRPr>
            </a:pPr>
            <a:endParaRPr lang="en-US"/>
          </a:p>
        </c:txPr>
        <c:crossAx val="949609007"/>
        <c:crosses val="autoZero"/>
        <c:auto val="1"/>
        <c:lblOffset val="100"/>
        <c:baseTimeUnit val="months"/>
        <c:majorUnit val="48"/>
        <c:majorTimeUnit val="months"/>
      </c:dateAx>
      <c:valAx>
        <c:axId val="949609007"/>
        <c:scaling>
          <c:orientation val="minMax"/>
          <c:max val="6"/>
          <c:min val="-6"/>
        </c:scaling>
        <c:delete val="0"/>
        <c:axPos val="l"/>
        <c:majorGridlines>
          <c:spPr>
            <a:ln w="9525" cap="flat" cmpd="sng" algn="ctr">
              <a:solidFill>
                <a:srgbClr val="FCFBF9">
                  <a:alpha val="49000"/>
                </a:srgbClr>
              </a:solidFill>
              <a:round/>
            </a:ln>
            <a:effectLst/>
          </c:spPr>
        </c:majorGridlines>
        <c:numFmt formatCode="General" sourceLinked="1"/>
        <c:majorTickMark val="none"/>
        <c:minorTickMark val="none"/>
        <c:tickLblPos val="nextTo"/>
        <c:spPr>
          <a:noFill/>
          <a:ln>
            <a:solidFill>
              <a:srgbClr val="FCFBF9"/>
            </a:solidFill>
          </a:ln>
          <a:effectLst/>
        </c:spPr>
        <c:txPr>
          <a:bodyPr rot="-60000000" spcFirstLastPara="1" vertOverflow="ellipsis" vert="horz" wrap="square" anchor="ctr" anchorCtr="1"/>
          <a:lstStyle/>
          <a:p>
            <a:pPr algn="ct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949611887"/>
        <c:crosses val="autoZero"/>
        <c:crossBetween val="between"/>
      </c:valAx>
      <c:valAx>
        <c:axId val="628203600"/>
        <c:scaling>
          <c:orientation val="minMax"/>
          <c:max val="10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noFill/>
                <a:latin typeface="+mn-lt"/>
                <a:ea typeface="+mn-ea"/>
                <a:cs typeface="+mn-cs"/>
              </a:defRPr>
            </a:pPr>
            <a:endParaRPr lang="en-US"/>
          </a:p>
        </c:txPr>
        <c:crossAx val="628205040"/>
        <c:crosses val="max"/>
        <c:crossBetween val="between"/>
      </c:valAx>
      <c:dateAx>
        <c:axId val="628205040"/>
        <c:scaling>
          <c:orientation val="minMax"/>
        </c:scaling>
        <c:delete val="1"/>
        <c:axPos val="b"/>
        <c:numFmt formatCode="[$-409]mmm\-yy;@" sourceLinked="1"/>
        <c:majorTickMark val="out"/>
        <c:minorTickMark val="none"/>
        <c:tickLblPos val="nextTo"/>
        <c:crossAx val="628203600"/>
        <c:crosses val="autoZero"/>
        <c:auto val="1"/>
        <c:lblOffset val="100"/>
        <c:baseTimeUnit val="months"/>
      </c:date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2B3E59"/>
    </a:solidFill>
    <a:ln w="9525" cap="flat" cmpd="sng" algn="ctr">
      <a:no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188183005779791"/>
          <c:y val="0.15751753476763372"/>
          <c:w val="0.8074288854502597"/>
          <c:h val="0.65044884249318913"/>
        </c:manualLayout>
      </c:layout>
      <c:barChart>
        <c:barDir val="col"/>
        <c:grouping val="stacked"/>
        <c:varyColors val="0"/>
        <c:ser>
          <c:idx val="0"/>
          <c:order val="0"/>
          <c:tx>
            <c:strRef>
              <c:f>'TOTAL BALANCE BY DELINQ STAT'!$B$1</c:f>
              <c:strCache>
                <c:ptCount val="1"/>
                <c:pt idx="0">
                  <c:v>30 DAYS </c:v>
                </c:pt>
              </c:strCache>
            </c:strRef>
          </c:tx>
          <c:spPr>
            <a:solidFill>
              <a:srgbClr val="68B6C0"/>
            </a:solidFill>
            <a:ln w="12700">
              <a:solidFill>
                <a:srgbClr val="68B6C0"/>
              </a:solidFill>
            </a:ln>
            <a:effectLst/>
          </c:spPr>
          <c:invertIfNegative val="0"/>
          <c:cat>
            <c:strRef>
              <c:f>'TOTAL BALANCE BY DELINQ STAT'!$A$2:$A$88</c:f>
              <c:strCache>
                <c:ptCount val="87"/>
                <c:pt idx="0">
                  <c:v>03:Q1</c:v>
                </c:pt>
                <c:pt idx="1">
                  <c:v>03:Q2</c:v>
                </c:pt>
                <c:pt idx="2">
                  <c:v>03:Q3</c:v>
                </c:pt>
                <c:pt idx="3">
                  <c:v>03:Q4</c:v>
                </c:pt>
                <c:pt idx="4">
                  <c:v>04:Q1</c:v>
                </c:pt>
                <c:pt idx="5">
                  <c:v>04:Q2</c:v>
                </c:pt>
                <c:pt idx="6">
                  <c:v>04:Q3</c:v>
                </c:pt>
                <c:pt idx="7">
                  <c:v>04:Q4</c:v>
                </c:pt>
                <c:pt idx="8">
                  <c:v>05:Q1</c:v>
                </c:pt>
                <c:pt idx="9">
                  <c:v>05:Q2</c:v>
                </c:pt>
                <c:pt idx="10">
                  <c:v>05:Q3</c:v>
                </c:pt>
                <c:pt idx="11">
                  <c:v>05:Q4</c:v>
                </c:pt>
                <c:pt idx="12">
                  <c:v>06:Q1</c:v>
                </c:pt>
                <c:pt idx="13">
                  <c:v>06:Q2</c:v>
                </c:pt>
                <c:pt idx="14">
                  <c:v>06:Q3</c:v>
                </c:pt>
                <c:pt idx="15">
                  <c:v>06:Q4</c:v>
                </c:pt>
                <c:pt idx="16">
                  <c:v>07:Q1</c:v>
                </c:pt>
                <c:pt idx="17">
                  <c:v>07:Q2</c:v>
                </c:pt>
                <c:pt idx="18">
                  <c:v>07:Q3</c:v>
                </c:pt>
                <c:pt idx="19">
                  <c:v>07:Q4</c:v>
                </c:pt>
                <c:pt idx="20">
                  <c:v>08:Q1</c:v>
                </c:pt>
                <c:pt idx="21">
                  <c:v>08:Q2</c:v>
                </c:pt>
                <c:pt idx="22">
                  <c:v>08:Q3</c:v>
                </c:pt>
                <c:pt idx="23">
                  <c:v>08:Q4</c:v>
                </c:pt>
                <c:pt idx="24">
                  <c:v>09:Q1</c:v>
                </c:pt>
                <c:pt idx="25">
                  <c:v>09:Q2</c:v>
                </c:pt>
                <c:pt idx="26">
                  <c:v>09:Q3</c:v>
                </c:pt>
                <c:pt idx="27">
                  <c:v>09:Q4</c:v>
                </c:pt>
                <c:pt idx="28">
                  <c:v>10:Q1</c:v>
                </c:pt>
                <c:pt idx="29">
                  <c:v>10:Q2</c:v>
                </c:pt>
                <c:pt idx="30">
                  <c:v>10:Q3</c:v>
                </c:pt>
                <c:pt idx="31">
                  <c:v>10:Q4</c:v>
                </c:pt>
                <c:pt idx="32">
                  <c:v>11:Q1</c:v>
                </c:pt>
                <c:pt idx="33">
                  <c:v>11:Q2</c:v>
                </c:pt>
                <c:pt idx="34">
                  <c:v>11:Q3</c:v>
                </c:pt>
                <c:pt idx="35">
                  <c:v>11:Q4</c:v>
                </c:pt>
                <c:pt idx="36">
                  <c:v>12:Q1</c:v>
                </c:pt>
                <c:pt idx="37">
                  <c:v>12:Q2</c:v>
                </c:pt>
                <c:pt idx="38">
                  <c:v>12:Q3</c:v>
                </c:pt>
                <c:pt idx="39">
                  <c:v>12:Q4</c:v>
                </c:pt>
                <c:pt idx="40">
                  <c:v>13:Q1</c:v>
                </c:pt>
                <c:pt idx="41">
                  <c:v>13:Q2</c:v>
                </c:pt>
                <c:pt idx="42">
                  <c:v>13:Q3</c:v>
                </c:pt>
                <c:pt idx="43">
                  <c:v>13:Q4</c:v>
                </c:pt>
                <c:pt idx="44">
                  <c:v>14:Q1</c:v>
                </c:pt>
                <c:pt idx="45">
                  <c:v>14:Q2</c:v>
                </c:pt>
                <c:pt idx="46">
                  <c:v>14:Q3</c:v>
                </c:pt>
                <c:pt idx="47">
                  <c:v>14:Q4</c:v>
                </c:pt>
                <c:pt idx="48">
                  <c:v>15:Q1</c:v>
                </c:pt>
                <c:pt idx="49">
                  <c:v>15:Q2</c:v>
                </c:pt>
                <c:pt idx="50">
                  <c:v>15:Q3</c:v>
                </c:pt>
                <c:pt idx="51">
                  <c:v>15:Q4</c:v>
                </c:pt>
                <c:pt idx="52">
                  <c:v>16:Q1</c:v>
                </c:pt>
                <c:pt idx="53">
                  <c:v>16:Q2</c:v>
                </c:pt>
                <c:pt idx="54">
                  <c:v>16:Q3</c:v>
                </c:pt>
                <c:pt idx="55">
                  <c:v>16:Q4</c:v>
                </c:pt>
                <c:pt idx="56">
                  <c:v>17:Q1</c:v>
                </c:pt>
                <c:pt idx="57">
                  <c:v>17:Q2</c:v>
                </c:pt>
                <c:pt idx="58">
                  <c:v>17:Q3</c:v>
                </c:pt>
                <c:pt idx="59">
                  <c:v>17:Q4</c:v>
                </c:pt>
                <c:pt idx="60">
                  <c:v>18:Q1</c:v>
                </c:pt>
                <c:pt idx="61">
                  <c:v>18:Q2</c:v>
                </c:pt>
                <c:pt idx="62">
                  <c:v>18:Q3</c:v>
                </c:pt>
                <c:pt idx="63">
                  <c:v>18:Q4</c:v>
                </c:pt>
                <c:pt idx="64">
                  <c:v>19:Q1</c:v>
                </c:pt>
                <c:pt idx="65">
                  <c:v>19:Q2</c:v>
                </c:pt>
                <c:pt idx="66">
                  <c:v>19:Q3</c:v>
                </c:pt>
                <c:pt idx="67">
                  <c:v>19:Q4</c:v>
                </c:pt>
                <c:pt idx="68">
                  <c:v>20:Q1</c:v>
                </c:pt>
                <c:pt idx="69">
                  <c:v>20:Q2</c:v>
                </c:pt>
                <c:pt idx="70">
                  <c:v>20:Q3</c:v>
                </c:pt>
                <c:pt idx="71">
                  <c:v>20:Q4</c:v>
                </c:pt>
                <c:pt idx="72">
                  <c:v>21:Q1</c:v>
                </c:pt>
                <c:pt idx="73">
                  <c:v>21:Q2</c:v>
                </c:pt>
                <c:pt idx="74">
                  <c:v>21:Q3</c:v>
                </c:pt>
                <c:pt idx="75">
                  <c:v>21:Q4</c:v>
                </c:pt>
                <c:pt idx="76">
                  <c:v>22:Q1</c:v>
                </c:pt>
                <c:pt idx="77">
                  <c:v>22:Q2</c:v>
                </c:pt>
                <c:pt idx="78">
                  <c:v>22:Q3</c:v>
                </c:pt>
                <c:pt idx="79">
                  <c:v>22:Q4</c:v>
                </c:pt>
                <c:pt idx="80">
                  <c:v>23:Q1</c:v>
                </c:pt>
                <c:pt idx="81">
                  <c:v>23:Q2</c:v>
                </c:pt>
                <c:pt idx="82">
                  <c:v>23:Q3</c:v>
                </c:pt>
                <c:pt idx="83">
                  <c:v>23:Q4</c:v>
                </c:pt>
                <c:pt idx="84">
                  <c:v>24:Q1</c:v>
                </c:pt>
                <c:pt idx="85">
                  <c:v>24:Q2</c:v>
                </c:pt>
                <c:pt idx="86">
                  <c:v>24:Q3</c:v>
                </c:pt>
              </c:strCache>
            </c:strRef>
          </c:cat>
          <c:val>
            <c:numRef>
              <c:f>'TOTAL BALANCE BY DELINQ STAT'!$B$2:$B$88</c:f>
              <c:numCache>
                <c:formatCode>0.00%</c:formatCode>
                <c:ptCount val="87"/>
                <c:pt idx="0">
                  <c:v>1.8003329308035883E-2</c:v>
                </c:pt>
                <c:pt idx="1">
                  <c:v>1.6329657527117226E-2</c:v>
                </c:pt>
                <c:pt idx="2">
                  <c:v>1.6391223066558679E-2</c:v>
                </c:pt>
                <c:pt idx="3">
                  <c:v>1.6012634048123892E-2</c:v>
                </c:pt>
                <c:pt idx="4">
                  <c:v>1.4996885410387205E-2</c:v>
                </c:pt>
                <c:pt idx="5">
                  <c:v>1.5341013622007835E-2</c:v>
                </c:pt>
                <c:pt idx="6">
                  <c:v>1.5378361332958976E-2</c:v>
                </c:pt>
                <c:pt idx="7">
                  <c:v>1.4743542354566576E-2</c:v>
                </c:pt>
                <c:pt idx="8">
                  <c:v>1.4825520742775673E-2</c:v>
                </c:pt>
                <c:pt idx="9">
                  <c:v>1.4101123935088375E-2</c:v>
                </c:pt>
                <c:pt idx="10">
                  <c:v>1.5010487049946614E-2</c:v>
                </c:pt>
                <c:pt idx="11">
                  <c:v>1.4284567128001129E-2</c:v>
                </c:pt>
                <c:pt idx="12">
                  <c:v>1.4040073108935913E-2</c:v>
                </c:pt>
                <c:pt idx="13">
                  <c:v>1.5076127962184278E-2</c:v>
                </c:pt>
                <c:pt idx="14">
                  <c:v>1.5853176475200348E-2</c:v>
                </c:pt>
                <c:pt idx="15">
                  <c:v>1.7686935213485432E-2</c:v>
                </c:pt>
                <c:pt idx="16">
                  <c:v>1.7734260262675654E-2</c:v>
                </c:pt>
                <c:pt idx="17">
                  <c:v>1.8560560185661785E-2</c:v>
                </c:pt>
                <c:pt idx="18">
                  <c:v>1.9021391307720653E-2</c:v>
                </c:pt>
                <c:pt idx="19">
                  <c:v>2.1063714206576743E-2</c:v>
                </c:pt>
                <c:pt idx="20">
                  <c:v>2.064154506800156E-2</c:v>
                </c:pt>
                <c:pt idx="21">
                  <c:v>2.0509984027310361E-2</c:v>
                </c:pt>
                <c:pt idx="22">
                  <c:v>2.2909130820356012E-2</c:v>
                </c:pt>
                <c:pt idx="23">
                  <c:v>2.4611747572945909E-2</c:v>
                </c:pt>
                <c:pt idx="24">
                  <c:v>2.3034679949984659E-2</c:v>
                </c:pt>
                <c:pt idx="25">
                  <c:v>2.1428273245936151E-2</c:v>
                </c:pt>
                <c:pt idx="26">
                  <c:v>2.2021349343995366E-2</c:v>
                </c:pt>
                <c:pt idx="27">
                  <c:v>2.1273878349074592E-2</c:v>
                </c:pt>
                <c:pt idx="28">
                  <c:v>2.0354173049221158E-2</c:v>
                </c:pt>
                <c:pt idx="29">
                  <c:v>1.9734688842228232E-2</c:v>
                </c:pt>
                <c:pt idx="30">
                  <c:v>2.0246318132009933E-2</c:v>
                </c:pt>
                <c:pt idx="31">
                  <c:v>1.844508668887793E-2</c:v>
                </c:pt>
                <c:pt idx="32">
                  <c:v>1.7764151965892035E-2</c:v>
                </c:pt>
                <c:pt idx="33">
                  <c:v>1.6465522060038942E-2</c:v>
                </c:pt>
                <c:pt idx="34">
                  <c:v>1.9484611525133231E-2</c:v>
                </c:pt>
                <c:pt idx="35">
                  <c:v>1.739304570211541E-2</c:v>
                </c:pt>
                <c:pt idx="36">
                  <c:v>1.529830381718943E-2</c:v>
                </c:pt>
                <c:pt idx="37">
                  <c:v>1.5700000000000002E-2</c:v>
                </c:pt>
                <c:pt idx="38">
                  <c:v>1.7100000000000001E-2</c:v>
                </c:pt>
                <c:pt idx="39">
                  <c:v>1.6200000000000003E-2</c:v>
                </c:pt>
                <c:pt idx="40">
                  <c:v>1.4199999999999999E-2</c:v>
                </c:pt>
                <c:pt idx="41">
                  <c:v>1.3100000000000001E-2</c:v>
                </c:pt>
                <c:pt idx="42">
                  <c:v>1.3899999999999999E-2</c:v>
                </c:pt>
                <c:pt idx="43">
                  <c:v>1.44E-2</c:v>
                </c:pt>
                <c:pt idx="44">
                  <c:v>1.26E-2</c:v>
                </c:pt>
                <c:pt idx="45">
                  <c:v>1.2199999999999999E-2</c:v>
                </c:pt>
                <c:pt idx="46">
                  <c:v>1.38E-2</c:v>
                </c:pt>
                <c:pt idx="47">
                  <c:v>1.1200000000000002E-2</c:v>
                </c:pt>
                <c:pt idx="48">
                  <c:v>1.01E-2</c:v>
                </c:pt>
                <c:pt idx="49">
                  <c:v>1.1699999999999999E-2</c:v>
                </c:pt>
                <c:pt idx="50">
                  <c:v>1.2800000000000001E-2</c:v>
                </c:pt>
                <c:pt idx="51">
                  <c:v>1.21E-2</c:v>
                </c:pt>
                <c:pt idx="52">
                  <c:v>1.03E-2</c:v>
                </c:pt>
                <c:pt idx="53">
                  <c:v>1.06E-2</c:v>
                </c:pt>
                <c:pt idx="54">
                  <c:v>1.2E-2</c:v>
                </c:pt>
                <c:pt idx="55">
                  <c:v>1.09E-2</c:v>
                </c:pt>
                <c:pt idx="56">
                  <c:v>1.0700000000000001E-2</c:v>
                </c:pt>
                <c:pt idx="57">
                  <c:v>1.1200000000000002E-2</c:v>
                </c:pt>
                <c:pt idx="58">
                  <c:v>1.2500000000000001E-2</c:v>
                </c:pt>
                <c:pt idx="59">
                  <c:v>1.1599999999999999E-2</c:v>
                </c:pt>
                <c:pt idx="60">
                  <c:v>1.0700000000000001E-2</c:v>
                </c:pt>
                <c:pt idx="61">
                  <c:v>1.0500000000000001E-2</c:v>
                </c:pt>
                <c:pt idx="62">
                  <c:v>1.2E-2</c:v>
                </c:pt>
                <c:pt idx="63">
                  <c:v>1.15E-2</c:v>
                </c:pt>
                <c:pt idx="64">
                  <c:v>1.0700000000000001E-2</c:v>
                </c:pt>
                <c:pt idx="65">
                  <c:v>1.0700000000000001E-2</c:v>
                </c:pt>
                <c:pt idx="66">
                  <c:v>1.24E-2</c:v>
                </c:pt>
                <c:pt idx="67">
                  <c:v>1.11E-2</c:v>
                </c:pt>
                <c:pt idx="68">
                  <c:v>1.06E-2</c:v>
                </c:pt>
                <c:pt idx="69">
                  <c:v>6.4000000000000003E-3</c:v>
                </c:pt>
                <c:pt idx="70">
                  <c:v>6.5000000000000006E-3</c:v>
                </c:pt>
                <c:pt idx="71">
                  <c:v>5.6999999999999993E-3</c:v>
                </c:pt>
                <c:pt idx="72">
                  <c:v>5.4000000000000003E-3</c:v>
                </c:pt>
                <c:pt idx="73">
                  <c:v>4.5999999999999999E-3</c:v>
                </c:pt>
                <c:pt idx="74">
                  <c:v>5.6000000000000008E-3</c:v>
                </c:pt>
                <c:pt idx="75">
                  <c:v>6.0999999999999995E-3</c:v>
                </c:pt>
                <c:pt idx="76">
                  <c:v>6.1999999999999998E-3</c:v>
                </c:pt>
                <c:pt idx="77">
                  <c:v>6.6E-3</c:v>
                </c:pt>
                <c:pt idx="78">
                  <c:v>7.7000000000000002E-3</c:v>
                </c:pt>
                <c:pt idx="79">
                  <c:v>8.199999999999999E-3</c:v>
                </c:pt>
                <c:pt idx="80">
                  <c:v>8.1000000000000013E-3</c:v>
                </c:pt>
                <c:pt idx="81">
                  <c:v>8.3000000000000001E-3</c:v>
                </c:pt>
                <c:pt idx="82">
                  <c:v>9.7999999999999997E-3</c:v>
                </c:pt>
                <c:pt idx="83">
                  <c:v>1.0200000000000001E-2</c:v>
                </c:pt>
                <c:pt idx="84">
                  <c:v>9.8999999999999991E-3</c:v>
                </c:pt>
                <c:pt idx="85">
                  <c:v>9.4999999999999998E-3</c:v>
                </c:pt>
                <c:pt idx="86">
                  <c:v>1.1136628286700912E-2</c:v>
                </c:pt>
              </c:numCache>
            </c:numRef>
          </c:val>
          <c:extLst>
            <c:ext xmlns:c16="http://schemas.microsoft.com/office/drawing/2014/chart" uri="{C3380CC4-5D6E-409C-BE32-E72D297353CC}">
              <c16:uniqueId val="{00000000-4329-4720-B488-2BE0DEE04126}"/>
            </c:ext>
          </c:extLst>
        </c:ser>
        <c:ser>
          <c:idx val="1"/>
          <c:order val="1"/>
          <c:tx>
            <c:strRef>
              <c:f>'TOTAL BALANCE BY DELINQ STAT'!$C$1</c:f>
              <c:strCache>
                <c:ptCount val="1"/>
                <c:pt idx="0">
                  <c:v>60 DAYS</c:v>
                </c:pt>
              </c:strCache>
            </c:strRef>
          </c:tx>
          <c:spPr>
            <a:solidFill>
              <a:srgbClr val="E5B337"/>
            </a:solidFill>
            <a:ln w="12700">
              <a:solidFill>
                <a:srgbClr val="E5B337"/>
              </a:solidFill>
            </a:ln>
            <a:effectLst/>
          </c:spPr>
          <c:invertIfNegative val="0"/>
          <c:cat>
            <c:strRef>
              <c:f>'TOTAL BALANCE BY DELINQ STAT'!$A$2:$A$88</c:f>
              <c:strCache>
                <c:ptCount val="87"/>
                <c:pt idx="0">
                  <c:v>03:Q1</c:v>
                </c:pt>
                <c:pt idx="1">
                  <c:v>03:Q2</c:v>
                </c:pt>
                <c:pt idx="2">
                  <c:v>03:Q3</c:v>
                </c:pt>
                <c:pt idx="3">
                  <c:v>03:Q4</c:v>
                </c:pt>
                <c:pt idx="4">
                  <c:v>04:Q1</c:v>
                </c:pt>
                <c:pt idx="5">
                  <c:v>04:Q2</c:v>
                </c:pt>
                <c:pt idx="6">
                  <c:v>04:Q3</c:v>
                </c:pt>
                <c:pt idx="7">
                  <c:v>04:Q4</c:v>
                </c:pt>
                <c:pt idx="8">
                  <c:v>05:Q1</c:v>
                </c:pt>
                <c:pt idx="9">
                  <c:v>05:Q2</c:v>
                </c:pt>
                <c:pt idx="10">
                  <c:v>05:Q3</c:v>
                </c:pt>
                <c:pt idx="11">
                  <c:v>05:Q4</c:v>
                </c:pt>
                <c:pt idx="12">
                  <c:v>06:Q1</c:v>
                </c:pt>
                <c:pt idx="13">
                  <c:v>06:Q2</c:v>
                </c:pt>
                <c:pt idx="14">
                  <c:v>06:Q3</c:v>
                </c:pt>
                <c:pt idx="15">
                  <c:v>06:Q4</c:v>
                </c:pt>
                <c:pt idx="16">
                  <c:v>07:Q1</c:v>
                </c:pt>
                <c:pt idx="17">
                  <c:v>07:Q2</c:v>
                </c:pt>
                <c:pt idx="18">
                  <c:v>07:Q3</c:v>
                </c:pt>
                <c:pt idx="19">
                  <c:v>07:Q4</c:v>
                </c:pt>
                <c:pt idx="20">
                  <c:v>08:Q1</c:v>
                </c:pt>
                <c:pt idx="21">
                  <c:v>08:Q2</c:v>
                </c:pt>
                <c:pt idx="22">
                  <c:v>08:Q3</c:v>
                </c:pt>
                <c:pt idx="23">
                  <c:v>08:Q4</c:v>
                </c:pt>
                <c:pt idx="24">
                  <c:v>09:Q1</c:v>
                </c:pt>
                <c:pt idx="25">
                  <c:v>09:Q2</c:v>
                </c:pt>
                <c:pt idx="26">
                  <c:v>09:Q3</c:v>
                </c:pt>
                <c:pt idx="27">
                  <c:v>09:Q4</c:v>
                </c:pt>
                <c:pt idx="28">
                  <c:v>10:Q1</c:v>
                </c:pt>
                <c:pt idx="29">
                  <c:v>10:Q2</c:v>
                </c:pt>
                <c:pt idx="30">
                  <c:v>10:Q3</c:v>
                </c:pt>
                <c:pt idx="31">
                  <c:v>10:Q4</c:v>
                </c:pt>
                <c:pt idx="32">
                  <c:v>11:Q1</c:v>
                </c:pt>
                <c:pt idx="33">
                  <c:v>11:Q2</c:v>
                </c:pt>
                <c:pt idx="34">
                  <c:v>11:Q3</c:v>
                </c:pt>
                <c:pt idx="35">
                  <c:v>11:Q4</c:v>
                </c:pt>
                <c:pt idx="36">
                  <c:v>12:Q1</c:v>
                </c:pt>
                <c:pt idx="37">
                  <c:v>12:Q2</c:v>
                </c:pt>
                <c:pt idx="38">
                  <c:v>12:Q3</c:v>
                </c:pt>
                <c:pt idx="39">
                  <c:v>12:Q4</c:v>
                </c:pt>
                <c:pt idx="40">
                  <c:v>13:Q1</c:v>
                </c:pt>
                <c:pt idx="41">
                  <c:v>13:Q2</c:v>
                </c:pt>
                <c:pt idx="42">
                  <c:v>13:Q3</c:v>
                </c:pt>
                <c:pt idx="43">
                  <c:v>13:Q4</c:v>
                </c:pt>
                <c:pt idx="44">
                  <c:v>14:Q1</c:v>
                </c:pt>
                <c:pt idx="45">
                  <c:v>14:Q2</c:v>
                </c:pt>
                <c:pt idx="46">
                  <c:v>14:Q3</c:v>
                </c:pt>
                <c:pt idx="47">
                  <c:v>14:Q4</c:v>
                </c:pt>
                <c:pt idx="48">
                  <c:v>15:Q1</c:v>
                </c:pt>
                <c:pt idx="49">
                  <c:v>15:Q2</c:v>
                </c:pt>
                <c:pt idx="50">
                  <c:v>15:Q3</c:v>
                </c:pt>
                <c:pt idx="51">
                  <c:v>15:Q4</c:v>
                </c:pt>
                <c:pt idx="52">
                  <c:v>16:Q1</c:v>
                </c:pt>
                <c:pt idx="53">
                  <c:v>16:Q2</c:v>
                </c:pt>
                <c:pt idx="54">
                  <c:v>16:Q3</c:v>
                </c:pt>
                <c:pt idx="55">
                  <c:v>16:Q4</c:v>
                </c:pt>
                <c:pt idx="56">
                  <c:v>17:Q1</c:v>
                </c:pt>
                <c:pt idx="57">
                  <c:v>17:Q2</c:v>
                </c:pt>
                <c:pt idx="58">
                  <c:v>17:Q3</c:v>
                </c:pt>
                <c:pt idx="59">
                  <c:v>17:Q4</c:v>
                </c:pt>
                <c:pt idx="60">
                  <c:v>18:Q1</c:v>
                </c:pt>
                <c:pt idx="61">
                  <c:v>18:Q2</c:v>
                </c:pt>
                <c:pt idx="62">
                  <c:v>18:Q3</c:v>
                </c:pt>
                <c:pt idx="63">
                  <c:v>18:Q4</c:v>
                </c:pt>
                <c:pt idx="64">
                  <c:v>19:Q1</c:v>
                </c:pt>
                <c:pt idx="65">
                  <c:v>19:Q2</c:v>
                </c:pt>
                <c:pt idx="66">
                  <c:v>19:Q3</c:v>
                </c:pt>
                <c:pt idx="67">
                  <c:v>19:Q4</c:v>
                </c:pt>
                <c:pt idx="68">
                  <c:v>20:Q1</c:v>
                </c:pt>
                <c:pt idx="69">
                  <c:v>20:Q2</c:v>
                </c:pt>
                <c:pt idx="70">
                  <c:v>20:Q3</c:v>
                </c:pt>
                <c:pt idx="71">
                  <c:v>20:Q4</c:v>
                </c:pt>
                <c:pt idx="72">
                  <c:v>21:Q1</c:v>
                </c:pt>
                <c:pt idx="73">
                  <c:v>21:Q2</c:v>
                </c:pt>
                <c:pt idx="74">
                  <c:v>21:Q3</c:v>
                </c:pt>
                <c:pt idx="75">
                  <c:v>21:Q4</c:v>
                </c:pt>
                <c:pt idx="76">
                  <c:v>22:Q1</c:v>
                </c:pt>
                <c:pt idx="77">
                  <c:v>22:Q2</c:v>
                </c:pt>
                <c:pt idx="78">
                  <c:v>22:Q3</c:v>
                </c:pt>
                <c:pt idx="79">
                  <c:v>22:Q4</c:v>
                </c:pt>
                <c:pt idx="80">
                  <c:v>23:Q1</c:v>
                </c:pt>
                <c:pt idx="81">
                  <c:v>23:Q2</c:v>
                </c:pt>
                <c:pt idx="82">
                  <c:v>23:Q3</c:v>
                </c:pt>
                <c:pt idx="83">
                  <c:v>23:Q4</c:v>
                </c:pt>
                <c:pt idx="84">
                  <c:v>24:Q1</c:v>
                </c:pt>
                <c:pt idx="85">
                  <c:v>24:Q2</c:v>
                </c:pt>
                <c:pt idx="86">
                  <c:v>24:Q3</c:v>
                </c:pt>
              </c:strCache>
            </c:strRef>
          </c:cat>
          <c:val>
            <c:numRef>
              <c:f>'TOTAL BALANCE BY DELINQ STAT'!$C$2:$C$88</c:f>
              <c:numCache>
                <c:formatCode>0.00%</c:formatCode>
                <c:ptCount val="87"/>
                <c:pt idx="0">
                  <c:v>5.5215861263305747E-3</c:v>
                </c:pt>
                <c:pt idx="1">
                  <c:v>5.3227448573770564E-3</c:v>
                </c:pt>
                <c:pt idx="2">
                  <c:v>5.2558161501653437E-3</c:v>
                </c:pt>
                <c:pt idx="3">
                  <c:v>5.1090000456998283E-3</c:v>
                </c:pt>
                <c:pt idx="4">
                  <c:v>4.6786452928407225E-3</c:v>
                </c:pt>
                <c:pt idx="5">
                  <c:v>5.0532136922716584E-3</c:v>
                </c:pt>
                <c:pt idx="6">
                  <c:v>4.9472272152056756E-3</c:v>
                </c:pt>
                <c:pt idx="7">
                  <c:v>5.1871655860210031E-3</c:v>
                </c:pt>
                <c:pt idx="8">
                  <c:v>4.2770021212226589E-3</c:v>
                </c:pt>
                <c:pt idx="9">
                  <c:v>4.0356228104971381E-3</c:v>
                </c:pt>
                <c:pt idx="10">
                  <c:v>4.7792257889284259E-3</c:v>
                </c:pt>
                <c:pt idx="11">
                  <c:v>4.7175734957444803E-3</c:v>
                </c:pt>
                <c:pt idx="12">
                  <c:v>4.5001050445678901E-3</c:v>
                </c:pt>
                <c:pt idx="13">
                  <c:v>5.3540569387029655E-3</c:v>
                </c:pt>
                <c:pt idx="14">
                  <c:v>6.3165201291527986E-3</c:v>
                </c:pt>
                <c:pt idx="15">
                  <c:v>5.9645879131815585E-3</c:v>
                </c:pt>
                <c:pt idx="16">
                  <c:v>6.4228842380236514E-3</c:v>
                </c:pt>
                <c:pt idx="17">
                  <c:v>7.6177125884504286E-3</c:v>
                </c:pt>
                <c:pt idx="18">
                  <c:v>9.3152726617015905E-3</c:v>
                </c:pt>
                <c:pt idx="19">
                  <c:v>9.9751481932983804E-3</c:v>
                </c:pt>
                <c:pt idx="20">
                  <c:v>9.4491702408945784E-3</c:v>
                </c:pt>
                <c:pt idx="21">
                  <c:v>1.0192734240640744E-2</c:v>
                </c:pt>
                <c:pt idx="22">
                  <c:v>1.1001041694076029E-2</c:v>
                </c:pt>
                <c:pt idx="23">
                  <c:v>1.4094414440147357E-2</c:v>
                </c:pt>
                <c:pt idx="24">
                  <c:v>1.2963872279549107E-2</c:v>
                </c:pt>
                <c:pt idx="25">
                  <c:v>1.1984786539834364E-2</c:v>
                </c:pt>
                <c:pt idx="26">
                  <c:v>1.264582242792971E-2</c:v>
                </c:pt>
                <c:pt idx="27">
                  <c:v>1.2172228246006495E-2</c:v>
                </c:pt>
                <c:pt idx="28">
                  <c:v>1.0416907907927118E-2</c:v>
                </c:pt>
                <c:pt idx="29">
                  <c:v>9.1208158565671514E-3</c:v>
                </c:pt>
                <c:pt idx="30">
                  <c:v>9.8891949179433156E-3</c:v>
                </c:pt>
                <c:pt idx="31">
                  <c:v>9.8409396680189058E-3</c:v>
                </c:pt>
                <c:pt idx="32">
                  <c:v>8.9620639557565877E-3</c:v>
                </c:pt>
                <c:pt idx="33">
                  <c:v>8.6095920020553482E-3</c:v>
                </c:pt>
                <c:pt idx="34">
                  <c:v>8.7805798159029651E-3</c:v>
                </c:pt>
                <c:pt idx="35">
                  <c:v>8.4342086873444629E-3</c:v>
                </c:pt>
                <c:pt idx="36">
                  <c:v>7.423961535713299E-3</c:v>
                </c:pt>
                <c:pt idx="37">
                  <c:v>6.9999999999999993E-3</c:v>
                </c:pt>
                <c:pt idx="38">
                  <c:v>6.8999999999999999E-3</c:v>
                </c:pt>
                <c:pt idx="39">
                  <c:v>7.1999999999999998E-3</c:v>
                </c:pt>
                <c:pt idx="40">
                  <c:v>6.3E-3</c:v>
                </c:pt>
                <c:pt idx="41">
                  <c:v>5.7999999999999996E-3</c:v>
                </c:pt>
                <c:pt idx="42">
                  <c:v>6.6E-3</c:v>
                </c:pt>
                <c:pt idx="43">
                  <c:v>6.7000000000000002E-3</c:v>
                </c:pt>
                <c:pt idx="44">
                  <c:v>5.7999999999999996E-3</c:v>
                </c:pt>
                <c:pt idx="45">
                  <c:v>5.1999999999999998E-3</c:v>
                </c:pt>
                <c:pt idx="46">
                  <c:v>5.5000000000000005E-3</c:v>
                </c:pt>
                <c:pt idx="47">
                  <c:v>5.8999999999999999E-3</c:v>
                </c:pt>
                <c:pt idx="48">
                  <c:v>4.8999999999999998E-3</c:v>
                </c:pt>
                <c:pt idx="49">
                  <c:v>5.0000000000000001E-3</c:v>
                </c:pt>
                <c:pt idx="50">
                  <c:v>5.1999999999999998E-3</c:v>
                </c:pt>
                <c:pt idx="51">
                  <c:v>5.1999999999999998E-3</c:v>
                </c:pt>
                <c:pt idx="52">
                  <c:v>4.0999999999999995E-3</c:v>
                </c:pt>
                <c:pt idx="53">
                  <c:v>4.1999999999999997E-3</c:v>
                </c:pt>
                <c:pt idx="54">
                  <c:v>4.8999999999999998E-3</c:v>
                </c:pt>
                <c:pt idx="55">
                  <c:v>4.5999999999999999E-3</c:v>
                </c:pt>
                <c:pt idx="56">
                  <c:v>4.0999999999999995E-3</c:v>
                </c:pt>
                <c:pt idx="57">
                  <c:v>4.5000000000000005E-3</c:v>
                </c:pt>
                <c:pt idx="58">
                  <c:v>4.5999999999999999E-3</c:v>
                </c:pt>
                <c:pt idx="59">
                  <c:v>4.5999999999999999E-3</c:v>
                </c:pt>
                <c:pt idx="60">
                  <c:v>4.3E-3</c:v>
                </c:pt>
                <c:pt idx="61">
                  <c:v>4.1999999999999997E-3</c:v>
                </c:pt>
                <c:pt idx="62">
                  <c:v>4.5000000000000005E-3</c:v>
                </c:pt>
                <c:pt idx="63">
                  <c:v>4.3E-3</c:v>
                </c:pt>
                <c:pt idx="64">
                  <c:v>4.4000000000000003E-3</c:v>
                </c:pt>
                <c:pt idx="65">
                  <c:v>3.7000000000000002E-3</c:v>
                </c:pt>
                <c:pt idx="66">
                  <c:v>5.0000000000000001E-3</c:v>
                </c:pt>
                <c:pt idx="67">
                  <c:v>4.7999999999999996E-3</c:v>
                </c:pt>
                <c:pt idx="68">
                  <c:v>3.5999999999999999E-3</c:v>
                </c:pt>
                <c:pt idx="69">
                  <c:v>2.3E-3</c:v>
                </c:pt>
                <c:pt idx="70">
                  <c:v>2E-3</c:v>
                </c:pt>
                <c:pt idx="71">
                  <c:v>2E-3</c:v>
                </c:pt>
                <c:pt idx="72">
                  <c:v>1.8E-3</c:v>
                </c:pt>
                <c:pt idx="73">
                  <c:v>1.4000000000000002E-3</c:v>
                </c:pt>
                <c:pt idx="74">
                  <c:v>1.6000000000000001E-3</c:v>
                </c:pt>
                <c:pt idx="75">
                  <c:v>2E-3</c:v>
                </c:pt>
                <c:pt idx="76">
                  <c:v>2.0999999999999999E-3</c:v>
                </c:pt>
                <c:pt idx="77">
                  <c:v>2.0999999999999999E-3</c:v>
                </c:pt>
                <c:pt idx="78">
                  <c:v>2.5999999999999999E-3</c:v>
                </c:pt>
                <c:pt idx="79">
                  <c:v>2.5999999999999999E-3</c:v>
                </c:pt>
                <c:pt idx="80">
                  <c:v>3.0999999999999999E-3</c:v>
                </c:pt>
                <c:pt idx="81">
                  <c:v>3.2000000000000002E-3</c:v>
                </c:pt>
                <c:pt idx="82">
                  <c:v>3.5999999999999999E-3</c:v>
                </c:pt>
                <c:pt idx="83">
                  <c:v>3.8E-3</c:v>
                </c:pt>
                <c:pt idx="84">
                  <c:v>3.9000000000000003E-3</c:v>
                </c:pt>
                <c:pt idx="85">
                  <c:v>4.0999999999999995E-3</c:v>
                </c:pt>
                <c:pt idx="86">
                  <c:v>4.5445258587484775E-3</c:v>
                </c:pt>
              </c:numCache>
            </c:numRef>
          </c:val>
          <c:extLst>
            <c:ext xmlns:c16="http://schemas.microsoft.com/office/drawing/2014/chart" uri="{C3380CC4-5D6E-409C-BE32-E72D297353CC}">
              <c16:uniqueId val="{00000001-4329-4720-B488-2BE0DEE04126}"/>
            </c:ext>
          </c:extLst>
        </c:ser>
        <c:ser>
          <c:idx val="2"/>
          <c:order val="2"/>
          <c:tx>
            <c:strRef>
              <c:f>'TOTAL BALANCE BY DELINQ STAT'!$D$1</c:f>
              <c:strCache>
                <c:ptCount val="1"/>
                <c:pt idx="0">
                  <c:v>90 DAYS</c:v>
                </c:pt>
              </c:strCache>
            </c:strRef>
          </c:tx>
          <c:spPr>
            <a:solidFill>
              <a:srgbClr val="00B050"/>
            </a:solidFill>
            <a:ln w="12700">
              <a:solidFill>
                <a:srgbClr val="00B050"/>
              </a:solidFill>
            </a:ln>
            <a:effectLst/>
          </c:spPr>
          <c:invertIfNegative val="0"/>
          <c:cat>
            <c:strRef>
              <c:f>'TOTAL BALANCE BY DELINQ STAT'!$A$2:$A$88</c:f>
              <c:strCache>
                <c:ptCount val="87"/>
                <c:pt idx="0">
                  <c:v>03:Q1</c:v>
                </c:pt>
                <c:pt idx="1">
                  <c:v>03:Q2</c:v>
                </c:pt>
                <c:pt idx="2">
                  <c:v>03:Q3</c:v>
                </c:pt>
                <c:pt idx="3">
                  <c:v>03:Q4</c:v>
                </c:pt>
                <c:pt idx="4">
                  <c:v>04:Q1</c:v>
                </c:pt>
                <c:pt idx="5">
                  <c:v>04:Q2</c:v>
                </c:pt>
                <c:pt idx="6">
                  <c:v>04:Q3</c:v>
                </c:pt>
                <c:pt idx="7">
                  <c:v>04:Q4</c:v>
                </c:pt>
                <c:pt idx="8">
                  <c:v>05:Q1</c:v>
                </c:pt>
                <c:pt idx="9">
                  <c:v>05:Q2</c:v>
                </c:pt>
                <c:pt idx="10">
                  <c:v>05:Q3</c:v>
                </c:pt>
                <c:pt idx="11">
                  <c:v>05:Q4</c:v>
                </c:pt>
                <c:pt idx="12">
                  <c:v>06:Q1</c:v>
                </c:pt>
                <c:pt idx="13">
                  <c:v>06:Q2</c:v>
                </c:pt>
                <c:pt idx="14">
                  <c:v>06:Q3</c:v>
                </c:pt>
                <c:pt idx="15">
                  <c:v>06:Q4</c:v>
                </c:pt>
                <c:pt idx="16">
                  <c:v>07:Q1</c:v>
                </c:pt>
                <c:pt idx="17">
                  <c:v>07:Q2</c:v>
                </c:pt>
                <c:pt idx="18">
                  <c:v>07:Q3</c:v>
                </c:pt>
                <c:pt idx="19">
                  <c:v>07:Q4</c:v>
                </c:pt>
                <c:pt idx="20">
                  <c:v>08:Q1</c:v>
                </c:pt>
                <c:pt idx="21">
                  <c:v>08:Q2</c:v>
                </c:pt>
                <c:pt idx="22">
                  <c:v>08:Q3</c:v>
                </c:pt>
                <c:pt idx="23">
                  <c:v>08:Q4</c:v>
                </c:pt>
                <c:pt idx="24">
                  <c:v>09:Q1</c:v>
                </c:pt>
                <c:pt idx="25">
                  <c:v>09:Q2</c:v>
                </c:pt>
                <c:pt idx="26">
                  <c:v>09:Q3</c:v>
                </c:pt>
                <c:pt idx="27">
                  <c:v>09:Q4</c:v>
                </c:pt>
                <c:pt idx="28">
                  <c:v>10:Q1</c:v>
                </c:pt>
                <c:pt idx="29">
                  <c:v>10:Q2</c:v>
                </c:pt>
                <c:pt idx="30">
                  <c:v>10:Q3</c:v>
                </c:pt>
                <c:pt idx="31">
                  <c:v>10:Q4</c:v>
                </c:pt>
                <c:pt idx="32">
                  <c:v>11:Q1</c:v>
                </c:pt>
                <c:pt idx="33">
                  <c:v>11:Q2</c:v>
                </c:pt>
                <c:pt idx="34">
                  <c:v>11:Q3</c:v>
                </c:pt>
                <c:pt idx="35">
                  <c:v>11:Q4</c:v>
                </c:pt>
                <c:pt idx="36">
                  <c:v>12:Q1</c:v>
                </c:pt>
                <c:pt idx="37">
                  <c:v>12:Q2</c:v>
                </c:pt>
                <c:pt idx="38">
                  <c:v>12:Q3</c:v>
                </c:pt>
                <c:pt idx="39">
                  <c:v>12:Q4</c:v>
                </c:pt>
                <c:pt idx="40">
                  <c:v>13:Q1</c:v>
                </c:pt>
                <c:pt idx="41">
                  <c:v>13:Q2</c:v>
                </c:pt>
                <c:pt idx="42">
                  <c:v>13:Q3</c:v>
                </c:pt>
                <c:pt idx="43">
                  <c:v>13:Q4</c:v>
                </c:pt>
                <c:pt idx="44">
                  <c:v>14:Q1</c:v>
                </c:pt>
                <c:pt idx="45">
                  <c:v>14:Q2</c:v>
                </c:pt>
                <c:pt idx="46">
                  <c:v>14:Q3</c:v>
                </c:pt>
                <c:pt idx="47">
                  <c:v>14:Q4</c:v>
                </c:pt>
                <c:pt idx="48">
                  <c:v>15:Q1</c:v>
                </c:pt>
                <c:pt idx="49">
                  <c:v>15:Q2</c:v>
                </c:pt>
                <c:pt idx="50">
                  <c:v>15:Q3</c:v>
                </c:pt>
                <c:pt idx="51">
                  <c:v>15:Q4</c:v>
                </c:pt>
                <c:pt idx="52">
                  <c:v>16:Q1</c:v>
                </c:pt>
                <c:pt idx="53">
                  <c:v>16:Q2</c:v>
                </c:pt>
                <c:pt idx="54">
                  <c:v>16:Q3</c:v>
                </c:pt>
                <c:pt idx="55">
                  <c:v>16:Q4</c:v>
                </c:pt>
                <c:pt idx="56">
                  <c:v>17:Q1</c:v>
                </c:pt>
                <c:pt idx="57">
                  <c:v>17:Q2</c:v>
                </c:pt>
                <c:pt idx="58">
                  <c:v>17:Q3</c:v>
                </c:pt>
                <c:pt idx="59">
                  <c:v>17:Q4</c:v>
                </c:pt>
                <c:pt idx="60">
                  <c:v>18:Q1</c:v>
                </c:pt>
                <c:pt idx="61">
                  <c:v>18:Q2</c:v>
                </c:pt>
                <c:pt idx="62">
                  <c:v>18:Q3</c:v>
                </c:pt>
                <c:pt idx="63">
                  <c:v>18:Q4</c:v>
                </c:pt>
                <c:pt idx="64">
                  <c:v>19:Q1</c:v>
                </c:pt>
                <c:pt idx="65">
                  <c:v>19:Q2</c:v>
                </c:pt>
                <c:pt idx="66">
                  <c:v>19:Q3</c:v>
                </c:pt>
                <c:pt idx="67">
                  <c:v>19:Q4</c:v>
                </c:pt>
                <c:pt idx="68">
                  <c:v>20:Q1</c:v>
                </c:pt>
                <c:pt idx="69">
                  <c:v>20:Q2</c:v>
                </c:pt>
                <c:pt idx="70">
                  <c:v>20:Q3</c:v>
                </c:pt>
                <c:pt idx="71">
                  <c:v>20:Q4</c:v>
                </c:pt>
                <c:pt idx="72">
                  <c:v>21:Q1</c:v>
                </c:pt>
                <c:pt idx="73">
                  <c:v>21:Q2</c:v>
                </c:pt>
                <c:pt idx="74">
                  <c:v>21:Q3</c:v>
                </c:pt>
                <c:pt idx="75">
                  <c:v>21:Q4</c:v>
                </c:pt>
                <c:pt idx="76">
                  <c:v>22:Q1</c:v>
                </c:pt>
                <c:pt idx="77">
                  <c:v>22:Q2</c:v>
                </c:pt>
                <c:pt idx="78">
                  <c:v>22:Q3</c:v>
                </c:pt>
                <c:pt idx="79">
                  <c:v>22:Q4</c:v>
                </c:pt>
                <c:pt idx="80">
                  <c:v>23:Q1</c:v>
                </c:pt>
                <c:pt idx="81">
                  <c:v>23:Q2</c:v>
                </c:pt>
                <c:pt idx="82">
                  <c:v>23:Q3</c:v>
                </c:pt>
                <c:pt idx="83">
                  <c:v>23:Q4</c:v>
                </c:pt>
                <c:pt idx="84">
                  <c:v>24:Q1</c:v>
                </c:pt>
                <c:pt idx="85">
                  <c:v>24:Q2</c:v>
                </c:pt>
                <c:pt idx="86">
                  <c:v>24:Q3</c:v>
                </c:pt>
              </c:strCache>
            </c:strRef>
          </c:cat>
          <c:val>
            <c:numRef>
              <c:f>'TOTAL BALANCE BY DELINQ STAT'!$D$2:$D$88</c:f>
              <c:numCache>
                <c:formatCode>0.00%</c:formatCode>
                <c:ptCount val="87"/>
                <c:pt idx="0">
                  <c:v>2.8420213488691633E-3</c:v>
                </c:pt>
                <c:pt idx="1">
                  <c:v>2.5988244503909823E-3</c:v>
                </c:pt>
                <c:pt idx="2">
                  <c:v>2.5767051677643717E-3</c:v>
                </c:pt>
                <c:pt idx="3">
                  <c:v>2.6675397819608225E-3</c:v>
                </c:pt>
                <c:pt idx="4">
                  <c:v>2.3495243218324595E-3</c:v>
                </c:pt>
                <c:pt idx="5">
                  <c:v>2.162773567791472E-3</c:v>
                </c:pt>
                <c:pt idx="6">
                  <c:v>2.3598809895537922E-3</c:v>
                </c:pt>
                <c:pt idx="7">
                  <c:v>2.4233185730430738E-3</c:v>
                </c:pt>
                <c:pt idx="8">
                  <c:v>2.2053326146677329E-3</c:v>
                </c:pt>
                <c:pt idx="9">
                  <c:v>2.1083217662744617E-3</c:v>
                </c:pt>
                <c:pt idx="10">
                  <c:v>2.2945148554889996E-3</c:v>
                </c:pt>
                <c:pt idx="11">
                  <c:v>2.4280480212429531E-3</c:v>
                </c:pt>
                <c:pt idx="12">
                  <c:v>2.023730716615373E-3</c:v>
                </c:pt>
                <c:pt idx="13">
                  <c:v>2.1112532030146615E-3</c:v>
                </c:pt>
                <c:pt idx="14">
                  <c:v>3.1385775208559747E-3</c:v>
                </c:pt>
                <c:pt idx="15">
                  <c:v>3.4646874350343459E-3</c:v>
                </c:pt>
                <c:pt idx="16">
                  <c:v>3.7058652060007651E-3</c:v>
                </c:pt>
                <c:pt idx="17">
                  <c:v>4.0516673979584016E-3</c:v>
                </c:pt>
                <c:pt idx="18">
                  <c:v>4.4119546384282643E-3</c:v>
                </c:pt>
                <c:pt idx="19">
                  <c:v>6.1686862576467646E-3</c:v>
                </c:pt>
                <c:pt idx="20">
                  <c:v>6.7819021370579182E-3</c:v>
                </c:pt>
                <c:pt idx="21">
                  <c:v>5.4365327245666549E-3</c:v>
                </c:pt>
                <c:pt idx="22">
                  <c:v>6.6491262546969276E-3</c:v>
                </c:pt>
                <c:pt idx="23">
                  <c:v>8.2132895948436434E-3</c:v>
                </c:pt>
                <c:pt idx="24">
                  <c:v>8.8201046142770897E-3</c:v>
                </c:pt>
                <c:pt idx="25">
                  <c:v>9.1410209371859241E-3</c:v>
                </c:pt>
                <c:pt idx="26">
                  <c:v>7.7970729835495738E-3</c:v>
                </c:pt>
                <c:pt idx="27">
                  <c:v>8.9478946001907856E-3</c:v>
                </c:pt>
                <c:pt idx="28">
                  <c:v>7.4382262464756724E-3</c:v>
                </c:pt>
                <c:pt idx="29">
                  <c:v>6.8842093955766371E-3</c:v>
                </c:pt>
                <c:pt idx="30">
                  <c:v>6.7166749167586869E-3</c:v>
                </c:pt>
                <c:pt idx="31">
                  <c:v>6.0940193476064271E-3</c:v>
                </c:pt>
                <c:pt idx="32">
                  <c:v>5.8252221862077373E-3</c:v>
                </c:pt>
                <c:pt idx="33">
                  <c:v>4.9180330671101001E-3</c:v>
                </c:pt>
                <c:pt idx="34">
                  <c:v>5.7609847303384584E-3</c:v>
                </c:pt>
                <c:pt idx="35">
                  <c:v>5.3086893609269057E-3</c:v>
                </c:pt>
                <c:pt idx="36">
                  <c:v>5.0466841517617413E-3</c:v>
                </c:pt>
                <c:pt idx="37">
                  <c:v>4.0000000000000001E-3</c:v>
                </c:pt>
                <c:pt idx="38">
                  <c:v>4.1999999999999997E-3</c:v>
                </c:pt>
                <c:pt idx="39">
                  <c:v>4.3E-3</c:v>
                </c:pt>
                <c:pt idx="40">
                  <c:v>4.0000000000000001E-3</c:v>
                </c:pt>
                <c:pt idx="41">
                  <c:v>3.0999999999999999E-3</c:v>
                </c:pt>
                <c:pt idx="42">
                  <c:v>3.4000000000000002E-3</c:v>
                </c:pt>
                <c:pt idx="43">
                  <c:v>3.4999999999999996E-3</c:v>
                </c:pt>
                <c:pt idx="44">
                  <c:v>3.4000000000000002E-3</c:v>
                </c:pt>
                <c:pt idx="45">
                  <c:v>3.0000000000000001E-3</c:v>
                </c:pt>
                <c:pt idx="46">
                  <c:v>3.2000000000000002E-3</c:v>
                </c:pt>
                <c:pt idx="47">
                  <c:v>3.0000000000000001E-3</c:v>
                </c:pt>
                <c:pt idx="48">
                  <c:v>2.8999999999999998E-3</c:v>
                </c:pt>
                <c:pt idx="49">
                  <c:v>2.7000000000000001E-3</c:v>
                </c:pt>
                <c:pt idx="50">
                  <c:v>2.8000000000000004E-3</c:v>
                </c:pt>
                <c:pt idx="51">
                  <c:v>2.5999999999999999E-3</c:v>
                </c:pt>
                <c:pt idx="52">
                  <c:v>2.5999999999999999E-3</c:v>
                </c:pt>
                <c:pt idx="53">
                  <c:v>2.2000000000000001E-3</c:v>
                </c:pt>
                <c:pt idx="54">
                  <c:v>2.5999999999999999E-3</c:v>
                </c:pt>
                <c:pt idx="55">
                  <c:v>2.8999999999999998E-3</c:v>
                </c:pt>
                <c:pt idx="56">
                  <c:v>2.7000000000000001E-3</c:v>
                </c:pt>
                <c:pt idx="57">
                  <c:v>2.3E-3</c:v>
                </c:pt>
                <c:pt idx="58">
                  <c:v>2.8999999999999998E-3</c:v>
                </c:pt>
                <c:pt idx="59">
                  <c:v>2.5999999999999999E-3</c:v>
                </c:pt>
                <c:pt idx="60">
                  <c:v>2.5999999999999999E-3</c:v>
                </c:pt>
                <c:pt idx="61">
                  <c:v>2.5000000000000001E-3</c:v>
                </c:pt>
                <c:pt idx="62">
                  <c:v>2.8000000000000004E-3</c:v>
                </c:pt>
                <c:pt idx="63">
                  <c:v>2.5000000000000001E-3</c:v>
                </c:pt>
                <c:pt idx="64">
                  <c:v>2.5999999999999999E-3</c:v>
                </c:pt>
                <c:pt idx="65">
                  <c:v>2.5000000000000001E-3</c:v>
                </c:pt>
                <c:pt idx="66">
                  <c:v>2.8999999999999998E-3</c:v>
                </c:pt>
                <c:pt idx="67">
                  <c:v>2.8999999999999998E-3</c:v>
                </c:pt>
                <c:pt idx="68">
                  <c:v>2.5999999999999999E-3</c:v>
                </c:pt>
                <c:pt idx="69">
                  <c:v>1.1999999999999999E-3</c:v>
                </c:pt>
                <c:pt idx="70">
                  <c:v>1.1000000000000001E-3</c:v>
                </c:pt>
                <c:pt idx="71">
                  <c:v>1.1000000000000001E-3</c:v>
                </c:pt>
                <c:pt idx="72">
                  <c:v>1E-3</c:v>
                </c:pt>
                <c:pt idx="73">
                  <c:v>8.0000000000000004E-4</c:v>
                </c:pt>
                <c:pt idx="74">
                  <c:v>7.000000000000001E-4</c:v>
                </c:pt>
                <c:pt idx="75">
                  <c:v>8.9999999999999998E-4</c:v>
                </c:pt>
                <c:pt idx="76">
                  <c:v>1.1000000000000001E-3</c:v>
                </c:pt>
                <c:pt idx="77">
                  <c:v>1.1999999999999999E-3</c:v>
                </c:pt>
                <c:pt idx="78">
                  <c:v>1.1999999999999999E-3</c:v>
                </c:pt>
                <c:pt idx="79">
                  <c:v>1.4000000000000002E-3</c:v>
                </c:pt>
                <c:pt idx="80">
                  <c:v>1.2999999999999999E-3</c:v>
                </c:pt>
                <c:pt idx="81">
                  <c:v>1.4000000000000002E-3</c:v>
                </c:pt>
                <c:pt idx="82">
                  <c:v>1.8E-3</c:v>
                </c:pt>
                <c:pt idx="83">
                  <c:v>2E-3</c:v>
                </c:pt>
                <c:pt idx="84">
                  <c:v>1.9E-3</c:v>
                </c:pt>
                <c:pt idx="85">
                  <c:v>1.8E-3</c:v>
                </c:pt>
                <c:pt idx="86">
                  <c:v>2.3652077218421939E-3</c:v>
                </c:pt>
              </c:numCache>
            </c:numRef>
          </c:val>
          <c:extLst>
            <c:ext xmlns:c16="http://schemas.microsoft.com/office/drawing/2014/chart" uri="{C3380CC4-5D6E-409C-BE32-E72D297353CC}">
              <c16:uniqueId val="{00000002-4329-4720-B488-2BE0DEE04126}"/>
            </c:ext>
          </c:extLst>
        </c:ser>
        <c:ser>
          <c:idx val="3"/>
          <c:order val="3"/>
          <c:tx>
            <c:strRef>
              <c:f>'TOTAL BALANCE BY DELINQ STAT'!$E$1</c:f>
              <c:strCache>
                <c:ptCount val="1"/>
                <c:pt idx="0">
                  <c:v>120+ DAYS</c:v>
                </c:pt>
              </c:strCache>
            </c:strRef>
          </c:tx>
          <c:spPr>
            <a:solidFill>
              <a:srgbClr val="1AA6CC"/>
            </a:solidFill>
            <a:ln w="12700">
              <a:solidFill>
                <a:srgbClr val="00B0F0">
                  <a:alpha val="93000"/>
                </a:srgbClr>
              </a:solidFill>
            </a:ln>
            <a:effectLst/>
          </c:spPr>
          <c:invertIfNegative val="0"/>
          <c:cat>
            <c:strRef>
              <c:f>'TOTAL BALANCE BY DELINQ STAT'!$A$2:$A$88</c:f>
              <c:strCache>
                <c:ptCount val="87"/>
                <c:pt idx="0">
                  <c:v>03:Q1</c:v>
                </c:pt>
                <c:pt idx="1">
                  <c:v>03:Q2</c:v>
                </c:pt>
                <c:pt idx="2">
                  <c:v>03:Q3</c:v>
                </c:pt>
                <c:pt idx="3">
                  <c:v>03:Q4</c:v>
                </c:pt>
                <c:pt idx="4">
                  <c:v>04:Q1</c:v>
                </c:pt>
                <c:pt idx="5">
                  <c:v>04:Q2</c:v>
                </c:pt>
                <c:pt idx="6">
                  <c:v>04:Q3</c:v>
                </c:pt>
                <c:pt idx="7">
                  <c:v>04:Q4</c:v>
                </c:pt>
                <c:pt idx="8">
                  <c:v>05:Q1</c:v>
                </c:pt>
                <c:pt idx="9">
                  <c:v>05:Q2</c:v>
                </c:pt>
                <c:pt idx="10">
                  <c:v>05:Q3</c:v>
                </c:pt>
                <c:pt idx="11">
                  <c:v>05:Q4</c:v>
                </c:pt>
                <c:pt idx="12">
                  <c:v>06:Q1</c:v>
                </c:pt>
                <c:pt idx="13">
                  <c:v>06:Q2</c:v>
                </c:pt>
                <c:pt idx="14">
                  <c:v>06:Q3</c:v>
                </c:pt>
                <c:pt idx="15">
                  <c:v>06:Q4</c:v>
                </c:pt>
                <c:pt idx="16">
                  <c:v>07:Q1</c:v>
                </c:pt>
                <c:pt idx="17">
                  <c:v>07:Q2</c:v>
                </c:pt>
                <c:pt idx="18">
                  <c:v>07:Q3</c:v>
                </c:pt>
                <c:pt idx="19">
                  <c:v>07:Q4</c:v>
                </c:pt>
                <c:pt idx="20">
                  <c:v>08:Q1</c:v>
                </c:pt>
                <c:pt idx="21">
                  <c:v>08:Q2</c:v>
                </c:pt>
                <c:pt idx="22">
                  <c:v>08:Q3</c:v>
                </c:pt>
                <c:pt idx="23">
                  <c:v>08:Q4</c:v>
                </c:pt>
                <c:pt idx="24">
                  <c:v>09:Q1</c:v>
                </c:pt>
                <c:pt idx="25">
                  <c:v>09:Q2</c:v>
                </c:pt>
                <c:pt idx="26">
                  <c:v>09:Q3</c:v>
                </c:pt>
                <c:pt idx="27">
                  <c:v>09:Q4</c:v>
                </c:pt>
                <c:pt idx="28">
                  <c:v>10:Q1</c:v>
                </c:pt>
                <c:pt idx="29">
                  <c:v>10:Q2</c:v>
                </c:pt>
                <c:pt idx="30">
                  <c:v>10:Q3</c:v>
                </c:pt>
                <c:pt idx="31">
                  <c:v>10:Q4</c:v>
                </c:pt>
                <c:pt idx="32">
                  <c:v>11:Q1</c:v>
                </c:pt>
                <c:pt idx="33">
                  <c:v>11:Q2</c:v>
                </c:pt>
                <c:pt idx="34">
                  <c:v>11:Q3</c:v>
                </c:pt>
                <c:pt idx="35">
                  <c:v>11:Q4</c:v>
                </c:pt>
                <c:pt idx="36">
                  <c:v>12:Q1</c:v>
                </c:pt>
                <c:pt idx="37">
                  <c:v>12:Q2</c:v>
                </c:pt>
                <c:pt idx="38">
                  <c:v>12:Q3</c:v>
                </c:pt>
                <c:pt idx="39">
                  <c:v>12:Q4</c:v>
                </c:pt>
                <c:pt idx="40">
                  <c:v>13:Q1</c:v>
                </c:pt>
                <c:pt idx="41">
                  <c:v>13:Q2</c:v>
                </c:pt>
                <c:pt idx="42">
                  <c:v>13:Q3</c:v>
                </c:pt>
                <c:pt idx="43">
                  <c:v>13:Q4</c:v>
                </c:pt>
                <c:pt idx="44">
                  <c:v>14:Q1</c:v>
                </c:pt>
                <c:pt idx="45">
                  <c:v>14:Q2</c:v>
                </c:pt>
                <c:pt idx="46">
                  <c:v>14:Q3</c:v>
                </c:pt>
                <c:pt idx="47">
                  <c:v>14:Q4</c:v>
                </c:pt>
                <c:pt idx="48">
                  <c:v>15:Q1</c:v>
                </c:pt>
                <c:pt idx="49">
                  <c:v>15:Q2</c:v>
                </c:pt>
                <c:pt idx="50">
                  <c:v>15:Q3</c:v>
                </c:pt>
                <c:pt idx="51">
                  <c:v>15:Q4</c:v>
                </c:pt>
                <c:pt idx="52">
                  <c:v>16:Q1</c:v>
                </c:pt>
                <c:pt idx="53">
                  <c:v>16:Q2</c:v>
                </c:pt>
                <c:pt idx="54">
                  <c:v>16:Q3</c:v>
                </c:pt>
                <c:pt idx="55">
                  <c:v>16:Q4</c:v>
                </c:pt>
                <c:pt idx="56">
                  <c:v>17:Q1</c:v>
                </c:pt>
                <c:pt idx="57">
                  <c:v>17:Q2</c:v>
                </c:pt>
                <c:pt idx="58">
                  <c:v>17:Q3</c:v>
                </c:pt>
                <c:pt idx="59">
                  <c:v>17:Q4</c:v>
                </c:pt>
                <c:pt idx="60">
                  <c:v>18:Q1</c:v>
                </c:pt>
                <c:pt idx="61">
                  <c:v>18:Q2</c:v>
                </c:pt>
                <c:pt idx="62">
                  <c:v>18:Q3</c:v>
                </c:pt>
                <c:pt idx="63">
                  <c:v>18:Q4</c:v>
                </c:pt>
                <c:pt idx="64">
                  <c:v>19:Q1</c:v>
                </c:pt>
                <c:pt idx="65">
                  <c:v>19:Q2</c:v>
                </c:pt>
                <c:pt idx="66">
                  <c:v>19:Q3</c:v>
                </c:pt>
                <c:pt idx="67">
                  <c:v>19:Q4</c:v>
                </c:pt>
                <c:pt idx="68">
                  <c:v>20:Q1</c:v>
                </c:pt>
                <c:pt idx="69">
                  <c:v>20:Q2</c:v>
                </c:pt>
                <c:pt idx="70">
                  <c:v>20:Q3</c:v>
                </c:pt>
                <c:pt idx="71">
                  <c:v>20:Q4</c:v>
                </c:pt>
                <c:pt idx="72">
                  <c:v>21:Q1</c:v>
                </c:pt>
                <c:pt idx="73">
                  <c:v>21:Q2</c:v>
                </c:pt>
                <c:pt idx="74">
                  <c:v>21:Q3</c:v>
                </c:pt>
                <c:pt idx="75">
                  <c:v>21:Q4</c:v>
                </c:pt>
                <c:pt idx="76">
                  <c:v>22:Q1</c:v>
                </c:pt>
                <c:pt idx="77">
                  <c:v>22:Q2</c:v>
                </c:pt>
                <c:pt idx="78">
                  <c:v>22:Q3</c:v>
                </c:pt>
                <c:pt idx="79">
                  <c:v>22:Q4</c:v>
                </c:pt>
                <c:pt idx="80">
                  <c:v>23:Q1</c:v>
                </c:pt>
                <c:pt idx="81">
                  <c:v>23:Q2</c:v>
                </c:pt>
                <c:pt idx="82">
                  <c:v>23:Q3</c:v>
                </c:pt>
                <c:pt idx="83">
                  <c:v>23:Q4</c:v>
                </c:pt>
                <c:pt idx="84">
                  <c:v>24:Q1</c:v>
                </c:pt>
                <c:pt idx="85">
                  <c:v>24:Q2</c:v>
                </c:pt>
                <c:pt idx="86">
                  <c:v>24:Q3</c:v>
                </c:pt>
              </c:strCache>
            </c:strRef>
          </c:cat>
          <c:val>
            <c:numRef>
              <c:f>'TOTAL BALANCE BY DELINQ STAT'!$E$2:$E$88</c:f>
              <c:numCache>
                <c:formatCode>0.00%</c:formatCode>
                <c:ptCount val="87"/>
                <c:pt idx="0">
                  <c:v>8.0702446716354858E-3</c:v>
                </c:pt>
                <c:pt idx="1">
                  <c:v>7.9570786692284012E-3</c:v>
                </c:pt>
                <c:pt idx="2">
                  <c:v>7.9659270816283632E-3</c:v>
                </c:pt>
                <c:pt idx="3">
                  <c:v>7.2526607245143766E-3</c:v>
                </c:pt>
                <c:pt idx="4">
                  <c:v>7.3439989978453576E-3</c:v>
                </c:pt>
                <c:pt idx="5">
                  <c:v>6.9892420082470928E-3</c:v>
                </c:pt>
                <c:pt idx="6">
                  <c:v>7.1514979560486159E-3</c:v>
                </c:pt>
                <c:pt idx="7">
                  <c:v>7.0086662661925318E-3</c:v>
                </c:pt>
                <c:pt idx="8">
                  <c:v>6.7201029314601672E-3</c:v>
                </c:pt>
                <c:pt idx="9">
                  <c:v>6.3019684938074826E-3</c:v>
                </c:pt>
                <c:pt idx="10">
                  <c:v>6.571524885659554E-3</c:v>
                </c:pt>
                <c:pt idx="11">
                  <c:v>6.4447014340176323E-3</c:v>
                </c:pt>
                <c:pt idx="12">
                  <c:v>6.3879365819004942E-3</c:v>
                </c:pt>
                <c:pt idx="13">
                  <c:v>6.1148789687349723E-3</c:v>
                </c:pt>
                <c:pt idx="14">
                  <c:v>7.0253619439629607E-3</c:v>
                </c:pt>
                <c:pt idx="15">
                  <c:v>7.1947664775014264E-3</c:v>
                </c:pt>
                <c:pt idx="16">
                  <c:v>7.7155084157741957E-3</c:v>
                </c:pt>
                <c:pt idx="17">
                  <c:v>8.6445484112664187E-3</c:v>
                </c:pt>
                <c:pt idx="18">
                  <c:v>9.753158808827541E-3</c:v>
                </c:pt>
                <c:pt idx="19">
                  <c:v>1.2150847063762205E-2</c:v>
                </c:pt>
                <c:pt idx="20">
                  <c:v>1.5971980937994235E-2</c:v>
                </c:pt>
                <c:pt idx="21">
                  <c:v>1.6147936098818792E-2</c:v>
                </c:pt>
                <c:pt idx="22">
                  <c:v>1.8538409100912048E-2</c:v>
                </c:pt>
                <c:pt idx="23">
                  <c:v>2.261782728409999E-2</c:v>
                </c:pt>
                <c:pt idx="24">
                  <c:v>2.8997746465867197E-2</c:v>
                </c:pt>
                <c:pt idx="25">
                  <c:v>3.2390333688453059E-2</c:v>
                </c:pt>
                <c:pt idx="26">
                  <c:v>3.6038509707817981E-2</c:v>
                </c:pt>
                <c:pt idx="27">
                  <c:v>3.9293347619026822E-2</c:v>
                </c:pt>
                <c:pt idx="28">
                  <c:v>4.301979578913518E-2</c:v>
                </c:pt>
                <c:pt idx="29">
                  <c:v>3.9833599366220704E-2</c:v>
                </c:pt>
                <c:pt idx="30">
                  <c:v>3.5878169410351116E-2</c:v>
                </c:pt>
                <c:pt idx="31">
                  <c:v>3.4930064134014512E-2</c:v>
                </c:pt>
                <c:pt idx="32">
                  <c:v>3.3414165528884654E-2</c:v>
                </c:pt>
                <c:pt idx="33">
                  <c:v>3.3221637294249352E-2</c:v>
                </c:pt>
                <c:pt idx="34">
                  <c:v>3.1866387108599507E-2</c:v>
                </c:pt>
                <c:pt idx="35">
                  <c:v>3.3264704021316115E-2</c:v>
                </c:pt>
                <c:pt idx="36">
                  <c:v>3.1850607207407039E-2</c:v>
                </c:pt>
                <c:pt idx="37">
                  <c:v>3.39E-2</c:v>
                </c:pt>
                <c:pt idx="38">
                  <c:v>3.1099999999999999E-2</c:v>
                </c:pt>
                <c:pt idx="39">
                  <c:v>3.0299999999999997E-2</c:v>
                </c:pt>
                <c:pt idx="40">
                  <c:v>2.8999999999999998E-2</c:v>
                </c:pt>
                <c:pt idx="41">
                  <c:v>2.7099999999999999E-2</c:v>
                </c:pt>
                <c:pt idx="42">
                  <c:v>2.41E-2</c:v>
                </c:pt>
                <c:pt idx="43">
                  <c:v>2.2599999999999999E-2</c:v>
                </c:pt>
                <c:pt idx="44">
                  <c:v>2.0899999999999998E-2</c:v>
                </c:pt>
                <c:pt idx="45">
                  <c:v>1.9E-2</c:v>
                </c:pt>
                <c:pt idx="46">
                  <c:v>1.8200000000000001E-2</c:v>
                </c:pt>
                <c:pt idx="47">
                  <c:v>1.8200000000000001E-2</c:v>
                </c:pt>
                <c:pt idx="48">
                  <c:v>1.78E-2</c:v>
                </c:pt>
                <c:pt idx="49">
                  <c:v>1.66E-2</c:v>
                </c:pt>
                <c:pt idx="50">
                  <c:v>1.47E-2</c:v>
                </c:pt>
                <c:pt idx="51">
                  <c:v>1.47E-2</c:v>
                </c:pt>
                <c:pt idx="52">
                  <c:v>1.3600000000000001E-2</c:v>
                </c:pt>
                <c:pt idx="53">
                  <c:v>1.2199999999999999E-2</c:v>
                </c:pt>
                <c:pt idx="54">
                  <c:v>1.15E-2</c:v>
                </c:pt>
                <c:pt idx="55">
                  <c:v>1.1299999999999999E-2</c:v>
                </c:pt>
                <c:pt idx="56">
                  <c:v>1.1699999999999999E-2</c:v>
                </c:pt>
                <c:pt idx="57">
                  <c:v>1.0500000000000001E-2</c:v>
                </c:pt>
                <c:pt idx="58">
                  <c:v>9.8999999999999991E-3</c:v>
                </c:pt>
                <c:pt idx="59">
                  <c:v>9.1000000000000004E-3</c:v>
                </c:pt>
                <c:pt idx="60">
                  <c:v>8.6999999999999994E-3</c:v>
                </c:pt>
                <c:pt idx="61">
                  <c:v>8.3999999999999995E-3</c:v>
                </c:pt>
                <c:pt idx="62">
                  <c:v>8.6E-3</c:v>
                </c:pt>
                <c:pt idx="63">
                  <c:v>9.0000000000000011E-3</c:v>
                </c:pt>
                <c:pt idx="64">
                  <c:v>8.199999999999999E-3</c:v>
                </c:pt>
                <c:pt idx="65">
                  <c:v>7.1999999999999998E-3</c:v>
                </c:pt>
                <c:pt idx="66">
                  <c:v>7.8000000000000005E-3</c:v>
                </c:pt>
                <c:pt idx="67">
                  <c:v>8.3000000000000001E-3</c:v>
                </c:pt>
                <c:pt idx="68">
                  <c:v>7.8000000000000005E-3</c:v>
                </c:pt>
                <c:pt idx="69">
                  <c:v>4.8999999999999998E-3</c:v>
                </c:pt>
                <c:pt idx="70">
                  <c:v>4.0999999999999995E-3</c:v>
                </c:pt>
                <c:pt idx="71">
                  <c:v>3.9000000000000003E-3</c:v>
                </c:pt>
                <c:pt idx="72">
                  <c:v>3.9000000000000003E-3</c:v>
                </c:pt>
                <c:pt idx="73">
                  <c:v>3.0000000000000001E-3</c:v>
                </c:pt>
                <c:pt idx="74">
                  <c:v>3.0999999999999999E-3</c:v>
                </c:pt>
                <c:pt idx="75">
                  <c:v>3.2000000000000002E-3</c:v>
                </c:pt>
                <c:pt idx="76">
                  <c:v>3.2000000000000002E-3</c:v>
                </c:pt>
                <c:pt idx="77">
                  <c:v>3.5999999999999999E-3</c:v>
                </c:pt>
                <c:pt idx="78">
                  <c:v>3.0999999999999999E-3</c:v>
                </c:pt>
                <c:pt idx="79">
                  <c:v>3.3E-3</c:v>
                </c:pt>
                <c:pt idx="80">
                  <c:v>3.3E-3</c:v>
                </c:pt>
                <c:pt idx="81">
                  <c:v>3.3E-3</c:v>
                </c:pt>
                <c:pt idx="82">
                  <c:v>3.4000000000000002E-3</c:v>
                </c:pt>
                <c:pt idx="83">
                  <c:v>4.1999999999999997E-3</c:v>
                </c:pt>
                <c:pt idx="84">
                  <c:v>4.0999999999999995E-3</c:v>
                </c:pt>
                <c:pt idx="85">
                  <c:v>4.0000000000000001E-3</c:v>
                </c:pt>
                <c:pt idx="86">
                  <c:v>4.3586362738125672E-3</c:v>
                </c:pt>
              </c:numCache>
            </c:numRef>
          </c:val>
          <c:extLst>
            <c:ext xmlns:c16="http://schemas.microsoft.com/office/drawing/2014/chart" uri="{C3380CC4-5D6E-409C-BE32-E72D297353CC}">
              <c16:uniqueId val="{00000003-4329-4720-B488-2BE0DEE04126}"/>
            </c:ext>
          </c:extLst>
        </c:ser>
        <c:ser>
          <c:idx val="4"/>
          <c:order val="4"/>
          <c:tx>
            <c:strRef>
              <c:f>'TOTAL BALANCE BY DELINQ STAT'!$F$1</c:f>
              <c:strCache>
                <c:ptCount val="1"/>
                <c:pt idx="0">
                  <c:v>SEVERELY DEROGATORY</c:v>
                </c:pt>
              </c:strCache>
            </c:strRef>
          </c:tx>
          <c:spPr>
            <a:solidFill>
              <a:schemeClr val="bg1"/>
            </a:solidFill>
            <a:ln w="12700">
              <a:solidFill>
                <a:schemeClr val="bg1"/>
              </a:solidFill>
            </a:ln>
            <a:effectLst/>
          </c:spPr>
          <c:invertIfNegative val="0"/>
          <c:cat>
            <c:strRef>
              <c:f>'TOTAL BALANCE BY DELINQ STAT'!$A$2:$A$88</c:f>
              <c:strCache>
                <c:ptCount val="87"/>
                <c:pt idx="0">
                  <c:v>03:Q1</c:v>
                </c:pt>
                <c:pt idx="1">
                  <c:v>03:Q2</c:v>
                </c:pt>
                <c:pt idx="2">
                  <c:v>03:Q3</c:v>
                </c:pt>
                <c:pt idx="3">
                  <c:v>03:Q4</c:v>
                </c:pt>
                <c:pt idx="4">
                  <c:v>04:Q1</c:v>
                </c:pt>
                <c:pt idx="5">
                  <c:v>04:Q2</c:v>
                </c:pt>
                <c:pt idx="6">
                  <c:v>04:Q3</c:v>
                </c:pt>
                <c:pt idx="7">
                  <c:v>04:Q4</c:v>
                </c:pt>
                <c:pt idx="8">
                  <c:v>05:Q1</c:v>
                </c:pt>
                <c:pt idx="9">
                  <c:v>05:Q2</c:v>
                </c:pt>
                <c:pt idx="10">
                  <c:v>05:Q3</c:v>
                </c:pt>
                <c:pt idx="11">
                  <c:v>05:Q4</c:v>
                </c:pt>
                <c:pt idx="12">
                  <c:v>06:Q1</c:v>
                </c:pt>
                <c:pt idx="13">
                  <c:v>06:Q2</c:v>
                </c:pt>
                <c:pt idx="14">
                  <c:v>06:Q3</c:v>
                </c:pt>
                <c:pt idx="15">
                  <c:v>06:Q4</c:v>
                </c:pt>
                <c:pt idx="16">
                  <c:v>07:Q1</c:v>
                </c:pt>
                <c:pt idx="17">
                  <c:v>07:Q2</c:v>
                </c:pt>
                <c:pt idx="18">
                  <c:v>07:Q3</c:v>
                </c:pt>
                <c:pt idx="19">
                  <c:v>07:Q4</c:v>
                </c:pt>
                <c:pt idx="20">
                  <c:v>08:Q1</c:v>
                </c:pt>
                <c:pt idx="21">
                  <c:v>08:Q2</c:v>
                </c:pt>
                <c:pt idx="22">
                  <c:v>08:Q3</c:v>
                </c:pt>
                <c:pt idx="23">
                  <c:v>08:Q4</c:v>
                </c:pt>
                <c:pt idx="24">
                  <c:v>09:Q1</c:v>
                </c:pt>
                <c:pt idx="25">
                  <c:v>09:Q2</c:v>
                </c:pt>
                <c:pt idx="26">
                  <c:v>09:Q3</c:v>
                </c:pt>
                <c:pt idx="27">
                  <c:v>09:Q4</c:v>
                </c:pt>
                <c:pt idx="28">
                  <c:v>10:Q1</c:v>
                </c:pt>
                <c:pt idx="29">
                  <c:v>10:Q2</c:v>
                </c:pt>
                <c:pt idx="30">
                  <c:v>10:Q3</c:v>
                </c:pt>
                <c:pt idx="31">
                  <c:v>10:Q4</c:v>
                </c:pt>
                <c:pt idx="32">
                  <c:v>11:Q1</c:v>
                </c:pt>
                <c:pt idx="33">
                  <c:v>11:Q2</c:v>
                </c:pt>
                <c:pt idx="34">
                  <c:v>11:Q3</c:v>
                </c:pt>
                <c:pt idx="35">
                  <c:v>11:Q4</c:v>
                </c:pt>
                <c:pt idx="36">
                  <c:v>12:Q1</c:v>
                </c:pt>
                <c:pt idx="37">
                  <c:v>12:Q2</c:v>
                </c:pt>
                <c:pt idx="38">
                  <c:v>12:Q3</c:v>
                </c:pt>
                <c:pt idx="39">
                  <c:v>12:Q4</c:v>
                </c:pt>
                <c:pt idx="40">
                  <c:v>13:Q1</c:v>
                </c:pt>
                <c:pt idx="41">
                  <c:v>13:Q2</c:v>
                </c:pt>
                <c:pt idx="42">
                  <c:v>13:Q3</c:v>
                </c:pt>
                <c:pt idx="43">
                  <c:v>13:Q4</c:v>
                </c:pt>
                <c:pt idx="44">
                  <c:v>14:Q1</c:v>
                </c:pt>
                <c:pt idx="45">
                  <c:v>14:Q2</c:v>
                </c:pt>
                <c:pt idx="46">
                  <c:v>14:Q3</c:v>
                </c:pt>
                <c:pt idx="47">
                  <c:v>14:Q4</c:v>
                </c:pt>
                <c:pt idx="48">
                  <c:v>15:Q1</c:v>
                </c:pt>
                <c:pt idx="49">
                  <c:v>15:Q2</c:v>
                </c:pt>
                <c:pt idx="50">
                  <c:v>15:Q3</c:v>
                </c:pt>
                <c:pt idx="51">
                  <c:v>15:Q4</c:v>
                </c:pt>
                <c:pt idx="52">
                  <c:v>16:Q1</c:v>
                </c:pt>
                <c:pt idx="53">
                  <c:v>16:Q2</c:v>
                </c:pt>
                <c:pt idx="54">
                  <c:v>16:Q3</c:v>
                </c:pt>
                <c:pt idx="55">
                  <c:v>16:Q4</c:v>
                </c:pt>
                <c:pt idx="56">
                  <c:v>17:Q1</c:v>
                </c:pt>
                <c:pt idx="57">
                  <c:v>17:Q2</c:v>
                </c:pt>
                <c:pt idx="58">
                  <c:v>17:Q3</c:v>
                </c:pt>
                <c:pt idx="59">
                  <c:v>17:Q4</c:v>
                </c:pt>
                <c:pt idx="60">
                  <c:v>18:Q1</c:v>
                </c:pt>
                <c:pt idx="61">
                  <c:v>18:Q2</c:v>
                </c:pt>
                <c:pt idx="62">
                  <c:v>18:Q3</c:v>
                </c:pt>
                <c:pt idx="63">
                  <c:v>18:Q4</c:v>
                </c:pt>
                <c:pt idx="64">
                  <c:v>19:Q1</c:v>
                </c:pt>
                <c:pt idx="65">
                  <c:v>19:Q2</c:v>
                </c:pt>
                <c:pt idx="66">
                  <c:v>19:Q3</c:v>
                </c:pt>
                <c:pt idx="67">
                  <c:v>19:Q4</c:v>
                </c:pt>
                <c:pt idx="68">
                  <c:v>20:Q1</c:v>
                </c:pt>
                <c:pt idx="69">
                  <c:v>20:Q2</c:v>
                </c:pt>
                <c:pt idx="70">
                  <c:v>20:Q3</c:v>
                </c:pt>
                <c:pt idx="71">
                  <c:v>20:Q4</c:v>
                </c:pt>
                <c:pt idx="72">
                  <c:v>21:Q1</c:v>
                </c:pt>
                <c:pt idx="73">
                  <c:v>21:Q2</c:v>
                </c:pt>
                <c:pt idx="74">
                  <c:v>21:Q3</c:v>
                </c:pt>
                <c:pt idx="75">
                  <c:v>21:Q4</c:v>
                </c:pt>
                <c:pt idx="76">
                  <c:v>22:Q1</c:v>
                </c:pt>
                <c:pt idx="77">
                  <c:v>22:Q2</c:v>
                </c:pt>
                <c:pt idx="78">
                  <c:v>22:Q3</c:v>
                </c:pt>
                <c:pt idx="79">
                  <c:v>22:Q4</c:v>
                </c:pt>
                <c:pt idx="80">
                  <c:v>23:Q1</c:v>
                </c:pt>
                <c:pt idx="81">
                  <c:v>23:Q2</c:v>
                </c:pt>
                <c:pt idx="82">
                  <c:v>23:Q3</c:v>
                </c:pt>
                <c:pt idx="83">
                  <c:v>23:Q4</c:v>
                </c:pt>
                <c:pt idx="84">
                  <c:v>24:Q1</c:v>
                </c:pt>
                <c:pt idx="85">
                  <c:v>24:Q2</c:v>
                </c:pt>
                <c:pt idx="86">
                  <c:v>24:Q3</c:v>
                </c:pt>
              </c:strCache>
            </c:strRef>
          </c:cat>
          <c:val>
            <c:numRef>
              <c:f>'TOTAL BALANCE BY DELINQ STAT'!$F$2:$F$88</c:f>
              <c:numCache>
                <c:formatCode>0.00%</c:formatCode>
                <c:ptCount val="87"/>
                <c:pt idx="0">
                  <c:v>1.4776739767003787E-2</c:v>
                </c:pt>
                <c:pt idx="1">
                  <c:v>1.4378892476569243E-2</c:v>
                </c:pt>
                <c:pt idx="2">
                  <c:v>1.3409332667143545E-2</c:v>
                </c:pt>
                <c:pt idx="3">
                  <c:v>1.3629505278081964E-2</c:v>
                </c:pt>
                <c:pt idx="4">
                  <c:v>1.3436113583256755E-2</c:v>
                </c:pt>
                <c:pt idx="5">
                  <c:v>1.3049431718677675E-2</c:v>
                </c:pt>
                <c:pt idx="6">
                  <c:v>1.2938997847104441E-2</c:v>
                </c:pt>
                <c:pt idx="7">
                  <c:v>1.3195726052672236E-2</c:v>
                </c:pt>
                <c:pt idx="8">
                  <c:v>1.3140278888618424E-2</c:v>
                </c:pt>
                <c:pt idx="9">
                  <c:v>1.1796200583914196E-2</c:v>
                </c:pt>
                <c:pt idx="10">
                  <c:v>1.1359948765407721E-2</c:v>
                </c:pt>
                <c:pt idx="11">
                  <c:v>1.0854702829952574E-2</c:v>
                </c:pt>
                <c:pt idx="12">
                  <c:v>1.1115376165552476E-2</c:v>
                </c:pt>
                <c:pt idx="13">
                  <c:v>1.0912936254556006E-2</c:v>
                </c:pt>
                <c:pt idx="14">
                  <c:v>1.0941602622431863E-2</c:v>
                </c:pt>
                <c:pt idx="15">
                  <c:v>1.2658914282933992E-2</c:v>
                </c:pt>
                <c:pt idx="16">
                  <c:v>1.3652069152345278E-2</c:v>
                </c:pt>
                <c:pt idx="17">
                  <c:v>1.3891853505826092E-2</c:v>
                </c:pt>
                <c:pt idx="18">
                  <c:v>1.6425929693112455E-2</c:v>
                </c:pt>
                <c:pt idx="19">
                  <c:v>1.7876838700320096E-2</c:v>
                </c:pt>
                <c:pt idx="20">
                  <c:v>2.1382711114138638E-2</c:v>
                </c:pt>
                <c:pt idx="21">
                  <c:v>2.4872603929727791E-2</c:v>
                </c:pt>
                <c:pt idx="22">
                  <c:v>2.5960963377772258E-2</c:v>
                </c:pt>
                <c:pt idx="23">
                  <c:v>2.8119394765173271E-2</c:v>
                </c:pt>
                <c:pt idx="24">
                  <c:v>3.2798024117632073E-2</c:v>
                </c:pt>
                <c:pt idx="25">
                  <c:v>3.6530116055424881E-2</c:v>
                </c:pt>
                <c:pt idx="26">
                  <c:v>3.6478111167369875E-2</c:v>
                </c:pt>
                <c:pt idx="27">
                  <c:v>3.7316691263976527E-2</c:v>
                </c:pt>
                <c:pt idx="28">
                  <c:v>3.6845232620538473E-2</c:v>
                </c:pt>
                <c:pt idx="29">
                  <c:v>3.6976221527347676E-2</c:v>
                </c:pt>
                <c:pt idx="30">
                  <c:v>3.7105867719293792E-2</c:v>
                </c:pt>
                <c:pt idx="31">
                  <c:v>3.7498300180324233E-2</c:v>
                </c:pt>
                <c:pt idx="32">
                  <c:v>3.7862110797327445E-2</c:v>
                </c:pt>
                <c:pt idx="33">
                  <c:v>3.4416488051577897E-2</c:v>
                </c:pt>
                <c:pt idx="34">
                  <c:v>3.3928855750307005E-2</c:v>
                </c:pt>
                <c:pt idx="35">
                  <c:v>3.3075225930893688E-2</c:v>
                </c:pt>
                <c:pt idx="36">
                  <c:v>3.2884720677578853E-2</c:v>
                </c:pt>
                <c:pt idx="37">
                  <c:v>2.9300000000000003E-2</c:v>
                </c:pt>
                <c:pt idx="38">
                  <c:v>3.0099999999999998E-2</c:v>
                </c:pt>
                <c:pt idx="39">
                  <c:v>2.8199999999999999E-2</c:v>
                </c:pt>
                <c:pt idx="40">
                  <c:v>2.7400000000000001E-2</c:v>
                </c:pt>
                <c:pt idx="41">
                  <c:v>2.6699999999999998E-2</c:v>
                </c:pt>
                <c:pt idx="42">
                  <c:v>2.5699999999999997E-2</c:v>
                </c:pt>
                <c:pt idx="43">
                  <c:v>2.4E-2</c:v>
                </c:pt>
                <c:pt idx="44">
                  <c:v>2.3399999999999997E-2</c:v>
                </c:pt>
                <c:pt idx="45">
                  <c:v>2.2799999999999997E-2</c:v>
                </c:pt>
                <c:pt idx="46">
                  <c:v>2.18E-2</c:v>
                </c:pt>
                <c:pt idx="47">
                  <c:v>2.1700000000000001E-2</c:v>
                </c:pt>
                <c:pt idx="48">
                  <c:v>2.1600000000000001E-2</c:v>
                </c:pt>
                <c:pt idx="49">
                  <c:v>2.0400000000000001E-2</c:v>
                </c:pt>
                <c:pt idx="50">
                  <c:v>2.0199999999999999E-2</c:v>
                </c:pt>
                <c:pt idx="51">
                  <c:v>1.9299999999999998E-2</c:v>
                </c:pt>
                <c:pt idx="52">
                  <c:v>1.9400000000000001E-2</c:v>
                </c:pt>
                <c:pt idx="53">
                  <c:v>1.8700000000000001E-2</c:v>
                </c:pt>
                <c:pt idx="54">
                  <c:v>1.83E-2</c:v>
                </c:pt>
                <c:pt idx="55">
                  <c:v>1.8600000000000002E-2</c:v>
                </c:pt>
                <c:pt idx="56">
                  <c:v>1.9099999999999999E-2</c:v>
                </c:pt>
                <c:pt idx="57">
                  <c:v>1.9199999999999998E-2</c:v>
                </c:pt>
                <c:pt idx="58">
                  <c:v>1.8700000000000001E-2</c:v>
                </c:pt>
                <c:pt idx="59">
                  <c:v>1.9199999999999998E-2</c:v>
                </c:pt>
                <c:pt idx="60">
                  <c:v>1.95E-2</c:v>
                </c:pt>
                <c:pt idx="61">
                  <c:v>1.9400000000000001E-2</c:v>
                </c:pt>
                <c:pt idx="62">
                  <c:v>1.9299999999999998E-2</c:v>
                </c:pt>
                <c:pt idx="63">
                  <c:v>1.9199999999999998E-2</c:v>
                </c:pt>
                <c:pt idx="64">
                  <c:v>1.9699999999999999E-2</c:v>
                </c:pt>
                <c:pt idx="65">
                  <c:v>1.95E-2</c:v>
                </c:pt>
                <c:pt idx="66">
                  <c:v>1.9699999999999999E-2</c:v>
                </c:pt>
                <c:pt idx="67">
                  <c:v>2.0199999999999999E-2</c:v>
                </c:pt>
                <c:pt idx="68">
                  <c:v>2.1000000000000001E-2</c:v>
                </c:pt>
                <c:pt idx="69">
                  <c:v>2.1000000000000001E-2</c:v>
                </c:pt>
                <c:pt idx="70">
                  <c:v>2.0099999999999996E-2</c:v>
                </c:pt>
                <c:pt idx="71">
                  <c:v>1.9E-2</c:v>
                </c:pt>
                <c:pt idx="72">
                  <c:v>1.8500000000000003E-2</c:v>
                </c:pt>
                <c:pt idx="73">
                  <c:v>1.7299999999999999E-2</c:v>
                </c:pt>
                <c:pt idx="74">
                  <c:v>1.6E-2</c:v>
                </c:pt>
                <c:pt idx="75">
                  <c:v>1.4999999999999999E-2</c:v>
                </c:pt>
                <c:pt idx="76">
                  <c:v>1.46E-2</c:v>
                </c:pt>
                <c:pt idx="77">
                  <c:v>1.32E-2</c:v>
                </c:pt>
                <c:pt idx="78">
                  <c:v>1.2199999999999999E-2</c:v>
                </c:pt>
                <c:pt idx="79">
                  <c:v>9.4999999999999998E-3</c:v>
                </c:pt>
                <c:pt idx="80">
                  <c:v>1.03E-2</c:v>
                </c:pt>
                <c:pt idx="81">
                  <c:v>9.8999999999999991E-3</c:v>
                </c:pt>
                <c:pt idx="82">
                  <c:v>1.1299999999999999E-2</c:v>
                </c:pt>
                <c:pt idx="83">
                  <c:v>1.11E-2</c:v>
                </c:pt>
                <c:pt idx="84">
                  <c:v>1.2699999999999999E-2</c:v>
                </c:pt>
                <c:pt idx="85">
                  <c:v>1.26E-2</c:v>
                </c:pt>
                <c:pt idx="86">
                  <c:v>1.2978777326606326E-2</c:v>
                </c:pt>
              </c:numCache>
            </c:numRef>
          </c:val>
          <c:extLst>
            <c:ext xmlns:c16="http://schemas.microsoft.com/office/drawing/2014/chart" uri="{C3380CC4-5D6E-409C-BE32-E72D297353CC}">
              <c16:uniqueId val="{00000004-4329-4720-B488-2BE0DEE04126}"/>
            </c:ext>
          </c:extLst>
        </c:ser>
        <c:dLbls>
          <c:showLegendKey val="0"/>
          <c:showVal val="0"/>
          <c:showCatName val="0"/>
          <c:showSerName val="0"/>
          <c:showPercent val="0"/>
          <c:showBubbleSize val="0"/>
        </c:dLbls>
        <c:gapWidth val="219"/>
        <c:overlap val="100"/>
        <c:axId val="205197744"/>
        <c:axId val="205202544"/>
      </c:barChart>
      <c:catAx>
        <c:axId val="20519774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5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205202544"/>
        <c:crosses val="autoZero"/>
        <c:auto val="1"/>
        <c:lblAlgn val="ctr"/>
        <c:lblOffset val="100"/>
        <c:tickMarkSkip val="4"/>
        <c:noMultiLvlLbl val="0"/>
      </c:catAx>
      <c:valAx>
        <c:axId val="205202544"/>
        <c:scaling>
          <c:orientation val="minMax"/>
          <c:max val="0.15000000000000002"/>
        </c:scaling>
        <c:delete val="0"/>
        <c:axPos val="l"/>
        <c:majorGridlines>
          <c:spPr>
            <a:ln w="9525" cap="flat" cmpd="sng" algn="ctr">
              <a:solidFill>
                <a:schemeClr val="bg1">
                  <a:lumMod val="95000"/>
                  <a:alpha val="58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Poppins Medium" panose="00000600000000000000" pitchFamily="2" charset="0"/>
                    <a:ea typeface="+mn-ea"/>
                    <a:cs typeface="Poppins Medium" panose="00000600000000000000" pitchFamily="2" charset="0"/>
                  </a:defRPr>
                </a:pPr>
                <a:r>
                  <a:rPr lang="en-US">
                    <a:solidFill>
                      <a:schemeClr val="bg1"/>
                    </a:solidFill>
                    <a:latin typeface="Poppins Medium" panose="00000600000000000000" pitchFamily="2" charset="0"/>
                    <a:cs typeface="Poppins Medium" panose="00000600000000000000" pitchFamily="2" charset="0"/>
                  </a:rPr>
                  <a:t>PERCENT</a:t>
                </a:r>
              </a:p>
            </c:rich>
          </c:tx>
          <c:layout>
            <c:manualLayout>
              <c:xMode val="edge"/>
              <c:yMode val="edge"/>
              <c:x val="5.1965080237361837E-4"/>
              <c:y val="0.2579465380169801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Poppins Medium" panose="00000600000000000000" pitchFamily="2" charset="0"/>
                  <a:ea typeface="+mn-ea"/>
                  <a:cs typeface="Poppins Medium" panose="00000600000000000000" pitchFamily="2" charset="0"/>
                </a:defRPr>
              </a:pPr>
              <a:endParaRPr lang="en-US"/>
            </a:p>
          </c:txPr>
        </c:title>
        <c:numFmt formatCode="0%" sourceLinked="0"/>
        <c:majorTickMark val="out"/>
        <c:minorTickMark val="none"/>
        <c:tickLblPos val="nextTo"/>
        <c:spPr>
          <a:noFill/>
          <a:ln>
            <a:solidFill>
              <a:schemeClr val="bg1">
                <a:alpha val="88000"/>
              </a:schemeClr>
            </a:solidFill>
          </a:ln>
          <a:effectLst/>
        </c:spPr>
        <c:txPr>
          <a:bodyPr rot="-60000000" spcFirstLastPara="1" vertOverflow="ellipsis" vert="horz" wrap="square" anchor="ctr" anchorCtr="1"/>
          <a:lstStyle/>
          <a:p>
            <a:pPr>
              <a:defRPr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205197744"/>
        <c:crosses val="autoZero"/>
        <c:crossBetween val="between"/>
        <c:majorUnit val="3.0000000000000006E-2"/>
      </c:valAx>
      <c:spPr>
        <a:noFill/>
        <a:ln>
          <a:noFill/>
        </a:ln>
        <a:effectLst/>
      </c:spPr>
    </c:plotArea>
    <c:legend>
      <c:legendPos val="b"/>
      <c:layout>
        <c:manualLayout>
          <c:xMode val="edge"/>
          <c:yMode val="edge"/>
          <c:x val="0.65434372049102929"/>
          <c:y val="9.3227194544417774E-2"/>
          <c:w val="0.29565627950897072"/>
          <c:h val="0.3962962393093053"/>
        </c:manualLayout>
      </c:layout>
      <c:overlay val="0"/>
      <c:spPr>
        <a:solidFill>
          <a:srgbClr val="051925"/>
        </a:solidFill>
        <a:ln>
          <a:noFill/>
        </a:ln>
        <a:effectLst/>
      </c:spPr>
      <c:txPr>
        <a:bodyPr rot="0" spcFirstLastPara="1" vertOverflow="ellipsis" vert="horz" wrap="square" anchor="ctr" anchorCtr="1"/>
        <a:lstStyle/>
        <a:p>
          <a:pPr>
            <a:defRPr sz="7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2B3E59"/>
    </a:solid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4267375231942162"/>
          <c:y val="7.0573622402890696E-2"/>
          <c:w val="0.78913068558737853"/>
          <c:h val="0.76600676439835258"/>
        </c:manualLayout>
      </c:layout>
      <c:lineChart>
        <c:grouping val="standard"/>
        <c:varyColors val="0"/>
        <c:ser>
          <c:idx val="0"/>
          <c:order val="0"/>
          <c:tx>
            <c:strRef>
              <c:f>'HY Credit Spreads'!$B$1</c:f>
              <c:strCache>
                <c:ptCount val="1"/>
                <c:pt idx="0">
                  <c:v>BB OAS</c:v>
                </c:pt>
              </c:strCache>
            </c:strRef>
          </c:tx>
          <c:spPr>
            <a:ln w="34925" cap="rnd">
              <a:solidFill>
                <a:srgbClr val="81A963"/>
              </a:solidFill>
              <a:round/>
            </a:ln>
            <a:effectLst/>
          </c:spPr>
          <c:marker>
            <c:symbol val="none"/>
          </c:marker>
          <c:cat>
            <c:numRef>
              <c:f>'HY Credit Spreads'!$A$2:$A$701</c:f>
              <c:numCache>
                <c:formatCode>m/d/yyyy</c:formatCode>
                <c:ptCount val="700"/>
                <c:pt idx="0" formatCode="[$-409]d\-mmm\-yy;@">
                  <c:v>45657</c:v>
                </c:pt>
                <c:pt idx="1">
                  <c:v>45659</c:v>
                </c:pt>
                <c:pt idx="2">
                  <c:v>45660</c:v>
                </c:pt>
                <c:pt idx="3">
                  <c:v>45663</c:v>
                </c:pt>
                <c:pt idx="4">
                  <c:v>45664</c:v>
                </c:pt>
                <c:pt idx="5">
                  <c:v>45665</c:v>
                </c:pt>
                <c:pt idx="6">
                  <c:v>45666</c:v>
                </c:pt>
                <c:pt idx="7">
                  <c:v>45667</c:v>
                </c:pt>
                <c:pt idx="8">
                  <c:v>45670</c:v>
                </c:pt>
                <c:pt idx="9">
                  <c:v>45671</c:v>
                </c:pt>
                <c:pt idx="10">
                  <c:v>45672</c:v>
                </c:pt>
                <c:pt idx="11">
                  <c:v>45673</c:v>
                </c:pt>
                <c:pt idx="12">
                  <c:v>45674</c:v>
                </c:pt>
                <c:pt idx="13">
                  <c:v>45677</c:v>
                </c:pt>
                <c:pt idx="14">
                  <c:v>45678</c:v>
                </c:pt>
                <c:pt idx="15">
                  <c:v>45679</c:v>
                </c:pt>
                <c:pt idx="16">
                  <c:v>45680</c:v>
                </c:pt>
                <c:pt idx="17">
                  <c:v>45681</c:v>
                </c:pt>
                <c:pt idx="18">
                  <c:v>45684</c:v>
                </c:pt>
                <c:pt idx="19">
                  <c:v>45685</c:v>
                </c:pt>
                <c:pt idx="20">
                  <c:v>45686</c:v>
                </c:pt>
                <c:pt idx="21">
                  <c:v>45687</c:v>
                </c:pt>
                <c:pt idx="22">
                  <c:v>45688</c:v>
                </c:pt>
                <c:pt idx="23">
                  <c:v>45691</c:v>
                </c:pt>
                <c:pt idx="24">
                  <c:v>45692</c:v>
                </c:pt>
                <c:pt idx="25">
                  <c:v>45693</c:v>
                </c:pt>
                <c:pt idx="26">
                  <c:v>45694</c:v>
                </c:pt>
                <c:pt idx="27">
                  <c:v>45695</c:v>
                </c:pt>
                <c:pt idx="28">
                  <c:v>45698</c:v>
                </c:pt>
                <c:pt idx="29">
                  <c:v>45699</c:v>
                </c:pt>
                <c:pt idx="30">
                  <c:v>45700</c:v>
                </c:pt>
                <c:pt idx="31">
                  <c:v>45701</c:v>
                </c:pt>
                <c:pt idx="32">
                  <c:v>45702</c:v>
                </c:pt>
                <c:pt idx="33">
                  <c:v>45705</c:v>
                </c:pt>
                <c:pt idx="34">
                  <c:v>45706</c:v>
                </c:pt>
                <c:pt idx="35">
                  <c:v>45707</c:v>
                </c:pt>
                <c:pt idx="36">
                  <c:v>45708</c:v>
                </c:pt>
                <c:pt idx="37">
                  <c:v>45709</c:v>
                </c:pt>
                <c:pt idx="38">
                  <c:v>45712</c:v>
                </c:pt>
                <c:pt idx="39">
                  <c:v>45713</c:v>
                </c:pt>
                <c:pt idx="40">
                  <c:v>45714</c:v>
                </c:pt>
                <c:pt idx="41">
                  <c:v>45715</c:v>
                </c:pt>
                <c:pt idx="42">
                  <c:v>45716</c:v>
                </c:pt>
                <c:pt idx="43">
                  <c:v>45719</c:v>
                </c:pt>
                <c:pt idx="44">
                  <c:v>45720</c:v>
                </c:pt>
                <c:pt idx="45">
                  <c:v>45721</c:v>
                </c:pt>
                <c:pt idx="46">
                  <c:v>45722</c:v>
                </c:pt>
                <c:pt idx="47">
                  <c:v>45723</c:v>
                </c:pt>
                <c:pt idx="48">
                  <c:v>45726</c:v>
                </c:pt>
                <c:pt idx="49">
                  <c:v>45727</c:v>
                </c:pt>
                <c:pt idx="50">
                  <c:v>45728</c:v>
                </c:pt>
                <c:pt idx="51">
                  <c:v>45729</c:v>
                </c:pt>
                <c:pt idx="52">
                  <c:v>45730</c:v>
                </c:pt>
                <c:pt idx="53">
                  <c:v>45733</c:v>
                </c:pt>
                <c:pt idx="54">
                  <c:v>45734</c:v>
                </c:pt>
                <c:pt idx="55">
                  <c:v>45735</c:v>
                </c:pt>
                <c:pt idx="56">
                  <c:v>45736</c:v>
                </c:pt>
                <c:pt idx="57">
                  <c:v>45737</c:v>
                </c:pt>
                <c:pt idx="58">
                  <c:v>45740</c:v>
                </c:pt>
                <c:pt idx="59">
                  <c:v>45741</c:v>
                </c:pt>
                <c:pt idx="60">
                  <c:v>45742</c:v>
                </c:pt>
                <c:pt idx="61">
                  <c:v>45743</c:v>
                </c:pt>
                <c:pt idx="62">
                  <c:v>45744</c:v>
                </c:pt>
                <c:pt idx="63">
                  <c:v>45747</c:v>
                </c:pt>
                <c:pt idx="64">
                  <c:v>45748</c:v>
                </c:pt>
                <c:pt idx="65">
                  <c:v>45749</c:v>
                </c:pt>
                <c:pt idx="66">
                  <c:v>45750</c:v>
                </c:pt>
                <c:pt idx="67">
                  <c:v>45751</c:v>
                </c:pt>
                <c:pt idx="68">
                  <c:v>45754</c:v>
                </c:pt>
                <c:pt idx="69">
                  <c:v>45755</c:v>
                </c:pt>
                <c:pt idx="70">
                  <c:v>45756</c:v>
                </c:pt>
                <c:pt idx="71">
                  <c:v>45757</c:v>
                </c:pt>
                <c:pt idx="72">
                  <c:v>45758</c:v>
                </c:pt>
                <c:pt idx="73">
                  <c:v>45761</c:v>
                </c:pt>
                <c:pt idx="74">
                  <c:v>45762</c:v>
                </c:pt>
                <c:pt idx="75">
                  <c:v>45763</c:v>
                </c:pt>
                <c:pt idx="76">
                  <c:v>45764</c:v>
                </c:pt>
                <c:pt idx="77">
                  <c:v>45765</c:v>
                </c:pt>
                <c:pt idx="78">
                  <c:v>45768</c:v>
                </c:pt>
                <c:pt idx="79">
                  <c:v>45769</c:v>
                </c:pt>
                <c:pt idx="80">
                  <c:v>45770</c:v>
                </c:pt>
                <c:pt idx="81">
                  <c:v>45771</c:v>
                </c:pt>
                <c:pt idx="82">
                  <c:v>45772</c:v>
                </c:pt>
                <c:pt idx="83">
                  <c:v>45775</c:v>
                </c:pt>
                <c:pt idx="84">
                  <c:v>45776</c:v>
                </c:pt>
                <c:pt idx="85">
                  <c:v>45777</c:v>
                </c:pt>
                <c:pt idx="86">
                  <c:v>45778</c:v>
                </c:pt>
                <c:pt idx="87">
                  <c:v>45779</c:v>
                </c:pt>
                <c:pt idx="88">
                  <c:v>45782</c:v>
                </c:pt>
                <c:pt idx="89">
                  <c:v>45783</c:v>
                </c:pt>
                <c:pt idx="90">
                  <c:v>45784</c:v>
                </c:pt>
                <c:pt idx="91">
                  <c:v>45785</c:v>
                </c:pt>
                <c:pt idx="92">
                  <c:v>45786</c:v>
                </c:pt>
                <c:pt idx="93">
                  <c:v>45789</c:v>
                </c:pt>
                <c:pt idx="94">
                  <c:v>45790</c:v>
                </c:pt>
                <c:pt idx="95">
                  <c:v>45791</c:v>
                </c:pt>
                <c:pt idx="96">
                  <c:v>45792</c:v>
                </c:pt>
                <c:pt idx="97">
                  <c:v>45793</c:v>
                </c:pt>
                <c:pt idx="98">
                  <c:v>45796</c:v>
                </c:pt>
                <c:pt idx="99">
                  <c:v>45797</c:v>
                </c:pt>
                <c:pt idx="100">
                  <c:v>45798</c:v>
                </c:pt>
                <c:pt idx="101">
                  <c:v>45799</c:v>
                </c:pt>
                <c:pt idx="102">
                  <c:v>45800</c:v>
                </c:pt>
                <c:pt idx="103">
                  <c:v>45803</c:v>
                </c:pt>
                <c:pt idx="104">
                  <c:v>45804</c:v>
                </c:pt>
                <c:pt idx="105">
                  <c:v>45805</c:v>
                </c:pt>
                <c:pt idx="106">
                  <c:v>45806</c:v>
                </c:pt>
                <c:pt idx="107">
                  <c:v>45807</c:v>
                </c:pt>
                <c:pt idx="108">
                  <c:v>45810</c:v>
                </c:pt>
                <c:pt idx="109">
                  <c:v>45811</c:v>
                </c:pt>
                <c:pt idx="110">
                  <c:v>45812</c:v>
                </c:pt>
                <c:pt idx="111">
                  <c:v>45813</c:v>
                </c:pt>
                <c:pt idx="112">
                  <c:v>45814</c:v>
                </c:pt>
                <c:pt idx="113">
                  <c:v>45817</c:v>
                </c:pt>
                <c:pt idx="114">
                  <c:v>45818</c:v>
                </c:pt>
                <c:pt idx="115">
                  <c:v>45819</c:v>
                </c:pt>
                <c:pt idx="116">
                  <c:v>45820</c:v>
                </c:pt>
                <c:pt idx="117">
                  <c:v>45821</c:v>
                </c:pt>
                <c:pt idx="118">
                  <c:v>45824</c:v>
                </c:pt>
                <c:pt idx="119">
                  <c:v>45825</c:v>
                </c:pt>
                <c:pt idx="120">
                  <c:v>45826</c:v>
                </c:pt>
                <c:pt idx="121">
                  <c:v>45827</c:v>
                </c:pt>
                <c:pt idx="122">
                  <c:v>45828</c:v>
                </c:pt>
                <c:pt idx="123">
                  <c:v>45831</c:v>
                </c:pt>
                <c:pt idx="124">
                  <c:v>45832</c:v>
                </c:pt>
                <c:pt idx="125">
                  <c:v>45833</c:v>
                </c:pt>
                <c:pt idx="126">
                  <c:v>45834</c:v>
                </c:pt>
                <c:pt idx="127">
                  <c:v>45835</c:v>
                </c:pt>
                <c:pt idx="128">
                  <c:v>45838</c:v>
                </c:pt>
                <c:pt idx="129">
                  <c:v>45839</c:v>
                </c:pt>
                <c:pt idx="130">
                  <c:v>45840</c:v>
                </c:pt>
                <c:pt idx="131">
                  <c:v>45841</c:v>
                </c:pt>
                <c:pt idx="132">
                  <c:v>45842</c:v>
                </c:pt>
                <c:pt idx="133">
                  <c:v>45845</c:v>
                </c:pt>
                <c:pt idx="134">
                  <c:v>45846</c:v>
                </c:pt>
                <c:pt idx="135">
                  <c:v>45847</c:v>
                </c:pt>
                <c:pt idx="136">
                  <c:v>45848</c:v>
                </c:pt>
                <c:pt idx="137">
                  <c:v>45849</c:v>
                </c:pt>
                <c:pt idx="138">
                  <c:v>45852</c:v>
                </c:pt>
                <c:pt idx="139">
                  <c:v>45853</c:v>
                </c:pt>
                <c:pt idx="140">
                  <c:v>45854</c:v>
                </c:pt>
                <c:pt idx="141">
                  <c:v>45855</c:v>
                </c:pt>
                <c:pt idx="142">
                  <c:v>45856</c:v>
                </c:pt>
                <c:pt idx="143">
                  <c:v>45859</c:v>
                </c:pt>
                <c:pt idx="144">
                  <c:v>45860</c:v>
                </c:pt>
                <c:pt idx="145">
                  <c:v>45861</c:v>
                </c:pt>
                <c:pt idx="146">
                  <c:v>45862</c:v>
                </c:pt>
                <c:pt idx="147">
                  <c:v>45863</c:v>
                </c:pt>
                <c:pt idx="148">
                  <c:v>45866</c:v>
                </c:pt>
                <c:pt idx="149">
                  <c:v>45867</c:v>
                </c:pt>
                <c:pt idx="150">
                  <c:v>45868</c:v>
                </c:pt>
                <c:pt idx="151">
                  <c:v>45869</c:v>
                </c:pt>
                <c:pt idx="152">
                  <c:v>45870</c:v>
                </c:pt>
                <c:pt idx="153">
                  <c:v>45873</c:v>
                </c:pt>
                <c:pt idx="154">
                  <c:v>45874</c:v>
                </c:pt>
                <c:pt idx="155">
                  <c:v>45875</c:v>
                </c:pt>
                <c:pt idx="156">
                  <c:v>45876</c:v>
                </c:pt>
                <c:pt idx="157">
                  <c:v>45877</c:v>
                </c:pt>
                <c:pt idx="158">
                  <c:v>45880</c:v>
                </c:pt>
                <c:pt idx="159">
                  <c:v>45881</c:v>
                </c:pt>
                <c:pt idx="160">
                  <c:v>45882</c:v>
                </c:pt>
                <c:pt idx="161">
                  <c:v>45883</c:v>
                </c:pt>
                <c:pt idx="162">
                  <c:v>45884</c:v>
                </c:pt>
                <c:pt idx="163">
                  <c:v>45887</c:v>
                </c:pt>
                <c:pt idx="164">
                  <c:v>45888</c:v>
                </c:pt>
                <c:pt idx="165">
                  <c:v>45889</c:v>
                </c:pt>
                <c:pt idx="166">
                  <c:v>45890</c:v>
                </c:pt>
                <c:pt idx="167">
                  <c:v>45891</c:v>
                </c:pt>
                <c:pt idx="168">
                  <c:v>45894</c:v>
                </c:pt>
                <c:pt idx="169">
                  <c:v>45895</c:v>
                </c:pt>
                <c:pt idx="170">
                  <c:v>45896</c:v>
                </c:pt>
                <c:pt idx="171">
                  <c:v>45897</c:v>
                </c:pt>
                <c:pt idx="172">
                  <c:v>45900</c:v>
                </c:pt>
                <c:pt idx="173">
                  <c:v>45901</c:v>
                </c:pt>
                <c:pt idx="174">
                  <c:v>45902</c:v>
                </c:pt>
                <c:pt idx="175">
                  <c:v>45903</c:v>
                </c:pt>
                <c:pt idx="176">
                  <c:v>45904</c:v>
                </c:pt>
                <c:pt idx="177">
                  <c:v>45905</c:v>
                </c:pt>
                <c:pt idx="178">
                  <c:v>45908</c:v>
                </c:pt>
                <c:pt idx="179">
                  <c:v>45909</c:v>
                </c:pt>
                <c:pt idx="180">
                  <c:v>45910</c:v>
                </c:pt>
                <c:pt idx="181">
                  <c:v>45911</c:v>
                </c:pt>
                <c:pt idx="182">
                  <c:v>45912</c:v>
                </c:pt>
                <c:pt idx="183">
                  <c:v>45915</c:v>
                </c:pt>
                <c:pt idx="184">
                  <c:v>45916</c:v>
                </c:pt>
                <c:pt idx="185">
                  <c:v>45917</c:v>
                </c:pt>
                <c:pt idx="186">
                  <c:v>45918</c:v>
                </c:pt>
                <c:pt idx="187">
                  <c:v>45919</c:v>
                </c:pt>
                <c:pt idx="188">
                  <c:v>45922</c:v>
                </c:pt>
                <c:pt idx="189">
                  <c:v>45923</c:v>
                </c:pt>
                <c:pt idx="190">
                  <c:v>45924</c:v>
                </c:pt>
                <c:pt idx="191">
                  <c:v>45925</c:v>
                </c:pt>
                <c:pt idx="192">
                  <c:v>45926</c:v>
                </c:pt>
                <c:pt idx="193">
                  <c:v>45929</c:v>
                </c:pt>
                <c:pt idx="194">
                  <c:v>45930</c:v>
                </c:pt>
              </c:numCache>
            </c:numRef>
          </c:cat>
          <c:val>
            <c:numRef>
              <c:f>'HY Credit Spreads'!$B$2:$B$701</c:f>
              <c:numCache>
                <c:formatCode>General</c:formatCode>
                <c:ptCount val="700"/>
                <c:pt idx="0">
                  <c:v>178.78139999999999</c:v>
                </c:pt>
                <c:pt idx="1">
                  <c:v>174.67509999999999</c:v>
                </c:pt>
                <c:pt idx="2">
                  <c:v>167.70269999999999</c:v>
                </c:pt>
                <c:pt idx="3">
                  <c:v>163.79060000000001</c:v>
                </c:pt>
                <c:pt idx="4">
                  <c:v>166.06569999999999</c:v>
                </c:pt>
                <c:pt idx="5">
                  <c:v>171.0796</c:v>
                </c:pt>
                <c:pt idx="6">
                  <c:v>169.78139999999999</c:v>
                </c:pt>
                <c:pt idx="7">
                  <c:v>167.0763</c:v>
                </c:pt>
                <c:pt idx="8">
                  <c:v>170.9084</c:v>
                </c:pt>
                <c:pt idx="9">
                  <c:v>169.77</c:v>
                </c:pt>
                <c:pt idx="10">
                  <c:v>163.16210000000001</c:v>
                </c:pt>
                <c:pt idx="11">
                  <c:v>165.46559999999999</c:v>
                </c:pt>
                <c:pt idx="12">
                  <c:v>157.2097</c:v>
                </c:pt>
                <c:pt idx="13">
                  <c:v>157.2097</c:v>
                </c:pt>
                <c:pt idx="14">
                  <c:v>154.31569999999999</c:v>
                </c:pt>
                <c:pt idx="15">
                  <c:v>152.3578</c:v>
                </c:pt>
                <c:pt idx="16">
                  <c:v>154.26750000000001</c:v>
                </c:pt>
                <c:pt idx="17">
                  <c:v>152.97409999999999</c:v>
                </c:pt>
                <c:pt idx="18">
                  <c:v>157.95230000000001</c:v>
                </c:pt>
                <c:pt idx="19">
                  <c:v>158.83879999999999</c:v>
                </c:pt>
                <c:pt idx="20">
                  <c:v>157.3212</c:v>
                </c:pt>
                <c:pt idx="21">
                  <c:v>155.4203</c:v>
                </c:pt>
                <c:pt idx="22">
                  <c:v>155.8244</c:v>
                </c:pt>
                <c:pt idx="23">
                  <c:v>161.02680000000001</c:v>
                </c:pt>
                <c:pt idx="24">
                  <c:v>160.47979999999998</c:v>
                </c:pt>
                <c:pt idx="25">
                  <c:v>158.0386</c:v>
                </c:pt>
                <c:pt idx="26">
                  <c:v>156.24199999999999</c:v>
                </c:pt>
                <c:pt idx="27">
                  <c:v>159.35990000000001</c:v>
                </c:pt>
                <c:pt idx="28">
                  <c:v>158.13900000000001</c:v>
                </c:pt>
                <c:pt idx="29">
                  <c:v>158.63900000000001</c:v>
                </c:pt>
                <c:pt idx="30">
                  <c:v>157.57570000000001</c:v>
                </c:pt>
                <c:pt idx="31">
                  <c:v>158.6542</c:v>
                </c:pt>
                <c:pt idx="32">
                  <c:v>157.37129999999999</c:v>
                </c:pt>
                <c:pt idx="33">
                  <c:v>157.37129999999999</c:v>
                </c:pt>
                <c:pt idx="34">
                  <c:v>153.55090000000001</c:v>
                </c:pt>
                <c:pt idx="35">
                  <c:v>159.03020000000001</c:v>
                </c:pt>
                <c:pt idx="36">
                  <c:v>159.8126</c:v>
                </c:pt>
                <c:pt idx="37">
                  <c:v>169.3152</c:v>
                </c:pt>
                <c:pt idx="38">
                  <c:v>170.10240000000002</c:v>
                </c:pt>
                <c:pt idx="39">
                  <c:v>174.01400000000001</c:v>
                </c:pt>
                <c:pt idx="40">
                  <c:v>172.80880000000002</c:v>
                </c:pt>
                <c:pt idx="41">
                  <c:v>173.35249999999999</c:v>
                </c:pt>
                <c:pt idx="42">
                  <c:v>177.60079999999999</c:v>
                </c:pt>
                <c:pt idx="43">
                  <c:v>183.53820000000002</c:v>
                </c:pt>
                <c:pt idx="44">
                  <c:v>184.89249999999998</c:v>
                </c:pt>
                <c:pt idx="45">
                  <c:v>176.31020000000001</c:v>
                </c:pt>
                <c:pt idx="46">
                  <c:v>185.0829</c:v>
                </c:pt>
                <c:pt idx="47">
                  <c:v>182.15950000000001</c:v>
                </c:pt>
                <c:pt idx="48">
                  <c:v>197.2396</c:v>
                </c:pt>
                <c:pt idx="49">
                  <c:v>199.5068</c:v>
                </c:pt>
                <c:pt idx="50">
                  <c:v>196.268</c:v>
                </c:pt>
                <c:pt idx="51">
                  <c:v>213.0754</c:v>
                </c:pt>
                <c:pt idx="52">
                  <c:v>199.79420000000002</c:v>
                </c:pt>
                <c:pt idx="53">
                  <c:v>195.44909999999999</c:v>
                </c:pt>
                <c:pt idx="54">
                  <c:v>198.18629999999999</c:v>
                </c:pt>
                <c:pt idx="55">
                  <c:v>193.6371</c:v>
                </c:pt>
                <c:pt idx="56">
                  <c:v>193.0472</c:v>
                </c:pt>
                <c:pt idx="57">
                  <c:v>196.57980000000001</c:v>
                </c:pt>
                <c:pt idx="58">
                  <c:v>183.71869999999998</c:v>
                </c:pt>
                <c:pt idx="59">
                  <c:v>187.72890000000001</c:v>
                </c:pt>
                <c:pt idx="60">
                  <c:v>194.8852</c:v>
                </c:pt>
                <c:pt idx="61">
                  <c:v>201.88990000000001</c:v>
                </c:pt>
                <c:pt idx="62">
                  <c:v>215.5761</c:v>
                </c:pt>
                <c:pt idx="63">
                  <c:v>219.2243</c:v>
                </c:pt>
                <c:pt idx="64">
                  <c:v>217.53319999999999</c:v>
                </c:pt>
                <c:pt idx="65">
                  <c:v>207.5335</c:v>
                </c:pt>
                <c:pt idx="66">
                  <c:v>250.46889999999999</c:v>
                </c:pt>
                <c:pt idx="67">
                  <c:v>280.80430000000001</c:v>
                </c:pt>
                <c:pt idx="68">
                  <c:v>297.625</c:v>
                </c:pt>
                <c:pt idx="69">
                  <c:v>302.91219999999998</c:v>
                </c:pt>
                <c:pt idx="70">
                  <c:v>281.0471</c:v>
                </c:pt>
                <c:pt idx="71">
                  <c:v>287.62909999999999</c:v>
                </c:pt>
                <c:pt idx="72">
                  <c:v>274.55340000000001</c:v>
                </c:pt>
                <c:pt idx="73">
                  <c:v>268.17840000000001</c:v>
                </c:pt>
                <c:pt idx="74">
                  <c:v>264.13259999999997</c:v>
                </c:pt>
                <c:pt idx="75">
                  <c:v>269.971</c:v>
                </c:pt>
                <c:pt idx="76">
                  <c:v>257.97710000000001</c:v>
                </c:pt>
                <c:pt idx="77">
                  <c:v>257.97710000000001</c:v>
                </c:pt>
                <c:pt idx="78">
                  <c:v>269.32550000000003</c:v>
                </c:pt>
                <c:pt idx="79">
                  <c:v>255.99020000000002</c:v>
                </c:pt>
                <c:pt idx="80">
                  <c:v>236.67340000000002</c:v>
                </c:pt>
                <c:pt idx="81">
                  <c:v>234.78690000000003</c:v>
                </c:pt>
                <c:pt idx="82">
                  <c:v>230.2587</c:v>
                </c:pt>
                <c:pt idx="83">
                  <c:v>238.416</c:v>
                </c:pt>
                <c:pt idx="84">
                  <c:v>239.2321</c:v>
                </c:pt>
                <c:pt idx="85">
                  <c:v>250.4769</c:v>
                </c:pt>
                <c:pt idx="86">
                  <c:v>238.51480000000001</c:v>
                </c:pt>
                <c:pt idx="87">
                  <c:v>222.36349999999999</c:v>
                </c:pt>
                <c:pt idx="88">
                  <c:v>223.17830000000001</c:v>
                </c:pt>
                <c:pt idx="89">
                  <c:v>227.92970000000003</c:v>
                </c:pt>
                <c:pt idx="90">
                  <c:v>227.55070000000001</c:v>
                </c:pt>
                <c:pt idx="91">
                  <c:v>214.5994</c:v>
                </c:pt>
                <c:pt idx="92">
                  <c:v>216.12029999999999</c:v>
                </c:pt>
                <c:pt idx="93">
                  <c:v>183.19630000000001</c:v>
                </c:pt>
                <c:pt idx="94">
                  <c:v>178.2064</c:v>
                </c:pt>
                <c:pt idx="95">
                  <c:v>181.2287</c:v>
                </c:pt>
                <c:pt idx="96">
                  <c:v>190.14400000000001</c:v>
                </c:pt>
                <c:pt idx="97">
                  <c:v>183.30289999999999</c:v>
                </c:pt>
                <c:pt idx="98">
                  <c:v>189.46080000000001</c:v>
                </c:pt>
                <c:pt idx="99">
                  <c:v>188.065</c:v>
                </c:pt>
                <c:pt idx="100">
                  <c:v>193.1865</c:v>
                </c:pt>
                <c:pt idx="101">
                  <c:v>196.4271</c:v>
                </c:pt>
                <c:pt idx="102">
                  <c:v>201.99630000000002</c:v>
                </c:pt>
                <c:pt idx="103">
                  <c:v>201.99630000000002</c:v>
                </c:pt>
                <c:pt idx="104">
                  <c:v>189.95079999999999</c:v>
                </c:pt>
                <c:pt idx="105">
                  <c:v>186.77429999999998</c:v>
                </c:pt>
                <c:pt idx="106">
                  <c:v>187.40699999999998</c:v>
                </c:pt>
                <c:pt idx="107">
                  <c:v>191.39230000000001</c:v>
                </c:pt>
                <c:pt idx="108">
                  <c:v>189.15820000000002</c:v>
                </c:pt>
                <c:pt idx="109">
                  <c:v>181.8972</c:v>
                </c:pt>
                <c:pt idx="110">
                  <c:v>183.74289999999999</c:v>
                </c:pt>
                <c:pt idx="111">
                  <c:v>179.50579999999999</c:v>
                </c:pt>
                <c:pt idx="112">
                  <c:v>171.09289999999999</c:v>
                </c:pt>
                <c:pt idx="113">
                  <c:v>173.27870000000001</c:v>
                </c:pt>
                <c:pt idx="114">
                  <c:v>171.8288</c:v>
                </c:pt>
                <c:pt idx="115">
                  <c:v>177.81379999999999</c:v>
                </c:pt>
                <c:pt idx="116">
                  <c:v>183.08880000000002</c:v>
                </c:pt>
                <c:pt idx="117">
                  <c:v>182.70079999999999</c:v>
                </c:pt>
                <c:pt idx="118">
                  <c:v>179.09630000000001</c:v>
                </c:pt>
                <c:pt idx="119">
                  <c:v>185.2286</c:v>
                </c:pt>
                <c:pt idx="120">
                  <c:v>185.16829999999999</c:v>
                </c:pt>
                <c:pt idx="121">
                  <c:v>185.16829999999999</c:v>
                </c:pt>
                <c:pt idx="122">
                  <c:v>182.1875</c:v>
                </c:pt>
                <c:pt idx="123">
                  <c:v>184.2389</c:v>
                </c:pt>
                <c:pt idx="124">
                  <c:v>176.99270000000001</c:v>
                </c:pt>
                <c:pt idx="125">
                  <c:v>175.99519999999998</c:v>
                </c:pt>
                <c:pt idx="126">
                  <c:v>174.791</c:v>
                </c:pt>
                <c:pt idx="127">
                  <c:v>174.2877</c:v>
                </c:pt>
                <c:pt idx="128">
                  <c:v>171.25559999999999</c:v>
                </c:pt>
                <c:pt idx="129">
                  <c:v>165.6936</c:v>
                </c:pt>
                <c:pt idx="130">
                  <c:v>164.6207</c:v>
                </c:pt>
                <c:pt idx="131">
                  <c:v>158.3201</c:v>
                </c:pt>
                <c:pt idx="132">
                  <c:v>158.3201</c:v>
                </c:pt>
                <c:pt idx="133">
                  <c:v>164.12049999999999</c:v>
                </c:pt>
                <c:pt idx="134">
                  <c:v>169.38810000000001</c:v>
                </c:pt>
                <c:pt idx="135">
                  <c:v>172.56279999999998</c:v>
                </c:pt>
                <c:pt idx="136">
                  <c:v>171.72710000000001</c:v>
                </c:pt>
                <c:pt idx="137">
                  <c:v>175.214</c:v>
                </c:pt>
                <c:pt idx="138">
                  <c:v>176.12449999999998</c:v>
                </c:pt>
                <c:pt idx="139">
                  <c:v>174.6206</c:v>
                </c:pt>
                <c:pt idx="140">
                  <c:v>179.47379999999998</c:v>
                </c:pt>
                <c:pt idx="141">
                  <c:v>171.92189999999999</c:v>
                </c:pt>
                <c:pt idx="142">
                  <c:v>172.398</c:v>
                </c:pt>
                <c:pt idx="143">
                  <c:v>169.7705</c:v>
                </c:pt>
                <c:pt idx="144">
                  <c:v>170.8486</c:v>
                </c:pt>
                <c:pt idx="145">
                  <c:v>164.21710000000002</c:v>
                </c:pt>
                <c:pt idx="146">
                  <c:v>163.6302</c:v>
                </c:pt>
                <c:pt idx="147">
                  <c:v>165.29050000000001</c:v>
                </c:pt>
                <c:pt idx="148">
                  <c:v>165.0461</c:v>
                </c:pt>
                <c:pt idx="149">
                  <c:v>169.9066</c:v>
                </c:pt>
                <c:pt idx="150">
                  <c:v>170.42839999999998</c:v>
                </c:pt>
                <c:pt idx="151">
                  <c:v>169.2773</c:v>
                </c:pt>
                <c:pt idx="152">
                  <c:v>189.9562</c:v>
                </c:pt>
                <c:pt idx="153">
                  <c:v>184.8596</c:v>
                </c:pt>
                <c:pt idx="154">
                  <c:v>180.89830000000001</c:v>
                </c:pt>
                <c:pt idx="155">
                  <c:v>180.15030000000002</c:v>
                </c:pt>
                <c:pt idx="156">
                  <c:v>177.8708</c:v>
                </c:pt>
                <c:pt idx="157">
                  <c:v>175.03870000000001</c:v>
                </c:pt>
                <c:pt idx="158">
                  <c:v>177.0607</c:v>
                </c:pt>
                <c:pt idx="159">
                  <c:v>176.61579999999998</c:v>
                </c:pt>
                <c:pt idx="160">
                  <c:v>173.47030000000001</c:v>
                </c:pt>
                <c:pt idx="161">
                  <c:v>174.12520000000001</c:v>
                </c:pt>
                <c:pt idx="162">
                  <c:v>172.1831</c:v>
                </c:pt>
                <c:pt idx="163">
                  <c:v>171.38420000000002</c:v>
                </c:pt>
                <c:pt idx="164">
                  <c:v>173.9641</c:v>
                </c:pt>
                <c:pt idx="165">
                  <c:v>176.06180000000001</c:v>
                </c:pt>
                <c:pt idx="166">
                  <c:v>176.40960000000001</c:v>
                </c:pt>
                <c:pt idx="167">
                  <c:v>169.9922</c:v>
                </c:pt>
                <c:pt idx="168">
                  <c:v>164.5513</c:v>
                </c:pt>
                <c:pt idx="169">
                  <c:v>167.4195</c:v>
                </c:pt>
                <c:pt idx="170">
                  <c:v>168.24280000000002</c:v>
                </c:pt>
                <c:pt idx="171">
                  <c:v>167.2345</c:v>
                </c:pt>
                <c:pt idx="172">
                  <c:v>170.06739999999999</c:v>
                </c:pt>
                <c:pt idx="173">
                  <c:v>170.8467</c:v>
                </c:pt>
                <c:pt idx="174">
                  <c:v>178.9658</c:v>
                </c:pt>
                <c:pt idx="175">
                  <c:v>176.8295</c:v>
                </c:pt>
                <c:pt idx="176">
                  <c:v>173.54320000000001</c:v>
                </c:pt>
                <c:pt idx="177">
                  <c:v>172.95609999999999</c:v>
                </c:pt>
                <c:pt idx="178">
                  <c:v>173.25200000000001</c:v>
                </c:pt>
                <c:pt idx="179">
                  <c:v>174.73320000000001</c:v>
                </c:pt>
                <c:pt idx="180">
                  <c:v>173.1028</c:v>
                </c:pt>
                <c:pt idx="181">
                  <c:v>167.35329999999999</c:v>
                </c:pt>
                <c:pt idx="182">
                  <c:v>168.31020000000001</c:v>
                </c:pt>
                <c:pt idx="183">
                  <c:v>165.5909</c:v>
                </c:pt>
                <c:pt idx="184">
                  <c:v>167.8416</c:v>
                </c:pt>
                <c:pt idx="185">
                  <c:v>166.7756</c:v>
                </c:pt>
                <c:pt idx="186">
                  <c:v>160.95939999999999</c:v>
                </c:pt>
                <c:pt idx="187">
                  <c:v>161.93789999999998</c:v>
                </c:pt>
                <c:pt idx="188">
                  <c:v>159.75630000000001</c:v>
                </c:pt>
                <c:pt idx="189">
                  <c:v>162.39179999999999</c:v>
                </c:pt>
                <c:pt idx="190">
                  <c:v>162.22989999999999</c:v>
                </c:pt>
                <c:pt idx="191">
                  <c:v>165.9538</c:v>
                </c:pt>
                <c:pt idx="192">
                  <c:v>165.6849</c:v>
                </c:pt>
                <c:pt idx="193">
                  <c:v>165.66639999999998</c:v>
                </c:pt>
                <c:pt idx="194">
                  <c:v>167.92840000000001</c:v>
                </c:pt>
              </c:numCache>
            </c:numRef>
          </c:val>
          <c:smooth val="0"/>
          <c:extLst>
            <c:ext xmlns:c16="http://schemas.microsoft.com/office/drawing/2014/chart" uri="{C3380CC4-5D6E-409C-BE32-E72D297353CC}">
              <c16:uniqueId val="{00000000-18B7-4E9A-9113-80097DA18B0D}"/>
            </c:ext>
          </c:extLst>
        </c:ser>
        <c:ser>
          <c:idx val="1"/>
          <c:order val="1"/>
          <c:tx>
            <c:strRef>
              <c:f>'HY Credit Spreads'!$C$1</c:f>
              <c:strCache>
                <c:ptCount val="1"/>
                <c:pt idx="0">
                  <c:v>B OAS</c:v>
                </c:pt>
              </c:strCache>
            </c:strRef>
          </c:tx>
          <c:spPr>
            <a:ln w="41275" cap="rnd">
              <a:solidFill>
                <a:srgbClr val="7FABBB"/>
              </a:solidFill>
              <a:round/>
            </a:ln>
            <a:effectLst/>
          </c:spPr>
          <c:marker>
            <c:symbol val="none"/>
          </c:marker>
          <c:cat>
            <c:numRef>
              <c:f>'HY Credit Spreads'!$A$2:$A$701</c:f>
              <c:numCache>
                <c:formatCode>m/d/yyyy</c:formatCode>
                <c:ptCount val="700"/>
                <c:pt idx="0" formatCode="[$-409]d\-mmm\-yy;@">
                  <c:v>45657</c:v>
                </c:pt>
                <c:pt idx="1">
                  <c:v>45659</c:v>
                </c:pt>
                <c:pt idx="2">
                  <c:v>45660</c:v>
                </c:pt>
                <c:pt idx="3">
                  <c:v>45663</c:v>
                </c:pt>
                <c:pt idx="4">
                  <c:v>45664</c:v>
                </c:pt>
                <c:pt idx="5">
                  <c:v>45665</c:v>
                </c:pt>
                <c:pt idx="6">
                  <c:v>45666</c:v>
                </c:pt>
                <c:pt idx="7">
                  <c:v>45667</c:v>
                </c:pt>
                <c:pt idx="8">
                  <c:v>45670</c:v>
                </c:pt>
                <c:pt idx="9">
                  <c:v>45671</c:v>
                </c:pt>
                <c:pt idx="10">
                  <c:v>45672</c:v>
                </c:pt>
                <c:pt idx="11">
                  <c:v>45673</c:v>
                </c:pt>
                <c:pt idx="12">
                  <c:v>45674</c:v>
                </c:pt>
                <c:pt idx="13">
                  <c:v>45677</c:v>
                </c:pt>
                <c:pt idx="14">
                  <c:v>45678</c:v>
                </c:pt>
                <c:pt idx="15">
                  <c:v>45679</c:v>
                </c:pt>
                <c:pt idx="16">
                  <c:v>45680</c:v>
                </c:pt>
                <c:pt idx="17">
                  <c:v>45681</c:v>
                </c:pt>
                <c:pt idx="18">
                  <c:v>45684</c:v>
                </c:pt>
                <c:pt idx="19">
                  <c:v>45685</c:v>
                </c:pt>
                <c:pt idx="20">
                  <c:v>45686</c:v>
                </c:pt>
                <c:pt idx="21">
                  <c:v>45687</c:v>
                </c:pt>
                <c:pt idx="22">
                  <c:v>45688</c:v>
                </c:pt>
                <c:pt idx="23">
                  <c:v>45691</c:v>
                </c:pt>
                <c:pt idx="24">
                  <c:v>45692</c:v>
                </c:pt>
                <c:pt idx="25">
                  <c:v>45693</c:v>
                </c:pt>
                <c:pt idx="26">
                  <c:v>45694</c:v>
                </c:pt>
                <c:pt idx="27">
                  <c:v>45695</c:v>
                </c:pt>
                <c:pt idx="28">
                  <c:v>45698</c:v>
                </c:pt>
                <c:pt idx="29">
                  <c:v>45699</c:v>
                </c:pt>
                <c:pt idx="30">
                  <c:v>45700</c:v>
                </c:pt>
                <c:pt idx="31">
                  <c:v>45701</c:v>
                </c:pt>
                <c:pt idx="32">
                  <c:v>45702</c:v>
                </c:pt>
                <c:pt idx="33">
                  <c:v>45705</c:v>
                </c:pt>
                <c:pt idx="34">
                  <c:v>45706</c:v>
                </c:pt>
                <c:pt idx="35">
                  <c:v>45707</c:v>
                </c:pt>
                <c:pt idx="36">
                  <c:v>45708</c:v>
                </c:pt>
                <c:pt idx="37">
                  <c:v>45709</c:v>
                </c:pt>
                <c:pt idx="38">
                  <c:v>45712</c:v>
                </c:pt>
                <c:pt idx="39">
                  <c:v>45713</c:v>
                </c:pt>
                <c:pt idx="40">
                  <c:v>45714</c:v>
                </c:pt>
                <c:pt idx="41">
                  <c:v>45715</c:v>
                </c:pt>
                <c:pt idx="42">
                  <c:v>45716</c:v>
                </c:pt>
                <c:pt idx="43">
                  <c:v>45719</c:v>
                </c:pt>
                <c:pt idx="44">
                  <c:v>45720</c:v>
                </c:pt>
                <c:pt idx="45">
                  <c:v>45721</c:v>
                </c:pt>
                <c:pt idx="46">
                  <c:v>45722</c:v>
                </c:pt>
                <c:pt idx="47">
                  <c:v>45723</c:v>
                </c:pt>
                <c:pt idx="48">
                  <c:v>45726</c:v>
                </c:pt>
                <c:pt idx="49">
                  <c:v>45727</c:v>
                </c:pt>
                <c:pt idx="50">
                  <c:v>45728</c:v>
                </c:pt>
                <c:pt idx="51">
                  <c:v>45729</c:v>
                </c:pt>
                <c:pt idx="52">
                  <c:v>45730</c:v>
                </c:pt>
                <c:pt idx="53">
                  <c:v>45733</c:v>
                </c:pt>
                <c:pt idx="54">
                  <c:v>45734</c:v>
                </c:pt>
                <c:pt idx="55">
                  <c:v>45735</c:v>
                </c:pt>
                <c:pt idx="56">
                  <c:v>45736</c:v>
                </c:pt>
                <c:pt idx="57">
                  <c:v>45737</c:v>
                </c:pt>
                <c:pt idx="58">
                  <c:v>45740</c:v>
                </c:pt>
                <c:pt idx="59">
                  <c:v>45741</c:v>
                </c:pt>
                <c:pt idx="60">
                  <c:v>45742</c:v>
                </c:pt>
                <c:pt idx="61">
                  <c:v>45743</c:v>
                </c:pt>
                <c:pt idx="62">
                  <c:v>45744</c:v>
                </c:pt>
                <c:pt idx="63">
                  <c:v>45747</c:v>
                </c:pt>
                <c:pt idx="64">
                  <c:v>45748</c:v>
                </c:pt>
                <c:pt idx="65">
                  <c:v>45749</c:v>
                </c:pt>
                <c:pt idx="66">
                  <c:v>45750</c:v>
                </c:pt>
                <c:pt idx="67">
                  <c:v>45751</c:v>
                </c:pt>
                <c:pt idx="68">
                  <c:v>45754</c:v>
                </c:pt>
                <c:pt idx="69">
                  <c:v>45755</c:v>
                </c:pt>
                <c:pt idx="70">
                  <c:v>45756</c:v>
                </c:pt>
                <c:pt idx="71">
                  <c:v>45757</c:v>
                </c:pt>
                <c:pt idx="72">
                  <c:v>45758</c:v>
                </c:pt>
                <c:pt idx="73">
                  <c:v>45761</c:v>
                </c:pt>
                <c:pt idx="74">
                  <c:v>45762</c:v>
                </c:pt>
                <c:pt idx="75">
                  <c:v>45763</c:v>
                </c:pt>
                <c:pt idx="76">
                  <c:v>45764</c:v>
                </c:pt>
                <c:pt idx="77">
                  <c:v>45765</c:v>
                </c:pt>
                <c:pt idx="78">
                  <c:v>45768</c:v>
                </c:pt>
                <c:pt idx="79">
                  <c:v>45769</c:v>
                </c:pt>
                <c:pt idx="80">
                  <c:v>45770</c:v>
                </c:pt>
                <c:pt idx="81">
                  <c:v>45771</c:v>
                </c:pt>
                <c:pt idx="82">
                  <c:v>45772</c:v>
                </c:pt>
                <c:pt idx="83">
                  <c:v>45775</c:v>
                </c:pt>
                <c:pt idx="84">
                  <c:v>45776</c:v>
                </c:pt>
                <c:pt idx="85">
                  <c:v>45777</c:v>
                </c:pt>
                <c:pt idx="86">
                  <c:v>45778</c:v>
                </c:pt>
                <c:pt idx="87">
                  <c:v>45779</c:v>
                </c:pt>
                <c:pt idx="88">
                  <c:v>45782</c:v>
                </c:pt>
                <c:pt idx="89">
                  <c:v>45783</c:v>
                </c:pt>
                <c:pt idx="90">
                  <c:v>45784</c:v>
                </c:pt>
                <c:pt idx="91">
                  <c:v>45785</c:v>
                </c:pt>
                <c:pt idx="92">
                  <c:v>45786</c:v>
                </c:pt>
                <c:pt idx="93">
                  <c:v>45789</c:v>
                </c:pt>
                <c:pt idx="94">
                  <c:v>45790</c:v>
                </c:pt>
                <c:pt idx="95">
                  <c:v>45791</c:v>
                </c:pt>
                <c:pt idx="96">
                  <c:v>45792</c:v>
                </c:pt>
                <c:pt idx="97">
                  <c:v>45793</c:v>
                </c:pt>
                <c:pt idx="98">
                  <c:v>45796</c:v>
                </c:pt>
                <c:pt idx="99">
                  <c:v>45797</c:v>
                </c:pt>
                <c:pt idx="100">
                  <c:v>45798</c:v>
                </c:pt>
                <c:pt idx="101">
                  <c:v>45799</c:v>
                </c:pt>
                <c:pt idx="102">
                  <c:v>45800</c:v>
                </c:pt>
                <c:pt idx="103">
                  <c:v>45803</c:v>
                </c:pt>
                <c:pt idx="104">
                  <c:v>45804</c:v>
                </c:pt>
                <c:pt idx="105">
                  <c:v>45805</c:v>
                </c:pt>
                <c:pt idx="106">
                  <c:v>45806</c:v>
                </c:pt>
                <c:pt idx="107">
                  <c:v>45807</c:v>
                </c:pt>
                <c:pt idx="108">
                  <c:v>45810</c:v>
                </c:pt>
                <c:pt idx="109">
                  <c:v>45811</c:v>
                </c:pt>
                <c:pt idx="110">
                  <c:v>45812</c:v>
                </c:pt>
                <c:pt idx="111">
                  <c:v>45813</c:v>
                </c:pt>
                <c:pt idx="112">
                  <c:v>45814</c:v>
                </c:pt>
                <c:pt idx="113">
                  <c:v>45817</c:v>
                </c:pt>
                <c:pt idx="114">
                  <c:v>45818</c:v>
                </c:pt>
                <c:pt idx="115">
                  <c:v>45819</c:v>
                </c:pt>
                <c:pt idx="116">
                  <c:v>45820</c:v>
                </c:pt>
                <c:pt idx="117">
                  <c:v>45821</c:v>
                </c:pt>
                <c:pt idx="118">
                  <c:v>45824</c:v>
                </c:pt>
                <c:pt idx="119">
                  <c:v>45825</c:v>
                </c:pt>
                <c:pt idx="120">
                  <c:v>45826</c:v>
                </c:pt>
                <c:pt idx="121">
                  <c:v>45827</c:v>
                </c:pt>
                <c:pt idx="122">
                  <c:v>45828</c:v>
                </c:pt>
                <c:pt idx="123">
                  <c:v>45831</c:v>
                </c:pt>
                <c:pt idx="124">
                  <c:v>45832</c:v>
                </c:pt>
                <c:pt idx="125">
                  <c:v>45833</c:v>
                </c:pt>
                <c:pt idx="126">
                  <c:v>45834</c:v>
                </c:pt>
                <c:pt idx="127">
                  <c:v>45835</c:v>
                </c:pt>
                <c:pt idx="128">
                  <c:v>45838</c:v>
                </c:pt>
                <c:pt idx="129">
                  <c:v>45839</c:v>
                </c:pt>
                <c:pt idx="130">
                  <c:v>45840</c:v>
                </c:pt>
                <c:pt idx="131">
                  <c:v>45841</c:v>
                </c:pt>
                <c:pt idx="132">
                  <c:v>45842</c:v>
                </c:pt>
                <c:pt idx="133">
                  <c:v>45845</c:v>
                </c:pt>
                <c:pt idx="134">
                  <c:v>45846</c:v>
                </c:pt>
                <c:pt idx="135">
                  <c:v>45847</c:v>
                </c:pt>
                <c:pt idx="136">
                  <c:v>45848</c:v>
                </c:pt>
                <c:pt idx="137">
                  <c:v>45849</c:v>
                </c:pt>
                <c:pt idx="138">
                  <c:v>45852</c:v>
                </c:pt>
                <c:pt idx="139">
                  <c:v>45853</c:v>
                </c:pt>
                <c:pt idx="140">
                  <c:v>45854</c:v>
                </c:pt>
                <c:pt idx="141">
                  <c:v>45855</c:v>
                </c:pt>
                <c:pt idx="142">
                  <c:v>45856</c:v>
                </c:pt>
                <c:pt idx="143">
                  <c:v>45859</c:v>
                </c:pt>
                <c:pt idx="144">
                  <c:v>45860</c:v>
                </c:pt>
                <c:pt idx="145">
                  <c:v>45861</c:v>
                </c:pt>
                <c:pt idx="146">
                  <c:v>45862</c:v>
                </c:pt>
                <c:pt idx="147">
                  <c:v>45863</c:v>
                </c:pt>
                <c:pt idx="148">
                  <c:v>45866</c:v>
                </c:pt>
                <c:pt idx="149">
                  <c:v>45867</c:v>
                </c:pt>
                <c:pt idx="150">
                  <c:v>45868</c:v>
                </c:pt>
                <c:pt idx="151">
                  <c:v>45869</c:v>
                </c:pt>
                <c:pt idx="152">
                  <c:v>45870</c:v>
                </c:pt>
                <c:pt idx="153">
                  <c:v>45873</c:v>
                </c:pt>
                <c:pt idx="154">
                  <c:v>45874</c:v>
                </c:pt>
                <c:pt idx="155">
                  <c:v>45875</c:v>
                </c:pt>
                <c:pt idx="156">
                  <c:v>45876</c:v>
                </c:pt>
                <c:pt idx="157">
                  <c:v>45877</c:v>
                </c:pt>
                <c:pt idx="158">
                  <c:v>45880</c:v>
                </c:pt>
                <c:pt idx="159">
                  <c:v>45881</c:v>
                </c:pt>
                <c:pt idx="160">
                  <c:v>45882</c:v>
                </c:pt>
                <c:pt idx="161">
                  <c:v>45883</c:v>
                </c:pt>
                <c:pt idx="162">
                  <c:v>45884</c:v>
                </c:pt>
                <c:pt idx="163">
                  <c:v>45887</c:v>
                </c:pt>
                <c:pt idx="164">
                  <c:v>45888</c:v>
                </c:pt>
                <c:pt idx="165">
                  <c:v>45889</c:v>
                </c:pt>
                <c:pt idx="166">
                  <c:v>45890</c:v>
                </c:pt>
                <c:pt idx="167">
                  <c:v>45891</c:v>
                </c:pt>
                <c:pt idx="168">
                  <c:v>45894</c:v>
                </c:pt>
                <c:pt idx="169">
                  <c:v>45895</c:v>
                </c:pt>
                <c:pt idx="170">
                  <c:v>45896</c:v>
                </c:pt>
                <c:pt idx="171">
                  <c:v>45897</c:v>
                </c:pt>
                <c:pt idx="172">
                  <c:v>45900</c:v>
                </c:pt>
                <c:pt idx="173">
                  <c:v>45901</c:v>
                </c:pt>
                <c:pt idx="174">
                  <c:v>45902</c:v>
                </c:pt>
                <c:pt idx="175">
                  <c:v>45903</c:v>
                </c:pt>
                <c:pt idx="176">
                  <c:v>45904</c:v>
                </c:pt>
                <c:pt idx="177">
                  <c:v>45905</c:v>
                </c:pt>
                <c:pt idx="178">
                  <c:v>45908</c:v>
                </c:pt>
                <c:pt idx="179">
                  <c:v>45909</c:v>
                </c:pt>
                <c:pt idx="180">
                  <c:v>45910</c:v>
                </c:pt>
                <c:pt idx="181">
                  <c:v>45911</c:v>
                </c:pt>
                <c:pt idx="182">
                  <c:v>45912</c:v>
                </c:pt>
                <c:pt idx="183">
                  <c:v>45915</c:v>
                </c:pt>
                <c:pt idx="184">
                  <c:v>45916</c:v>
                </c:pt>
                <c:pt idx="185">
                  <c:v>45917</c:v>
                </c:pt>
                <c:pt idx="186">
                  <c:v>45918</c:v>
                </c:pt>
                <c:pt idx="187">
                  <c:v>45919</c:v>
                </c:pt>
                <c:pt idx="188">
                  <c:v>45922</c:v>
                </c:pt>
                <c:pt idx="189">
                  <c:v>45923</c:v>
                </c:pt>
                <c:pt idx="190">
                  <c:v>45924</c:v>
                </c:pt>
                <c:pt idx="191">
                  <c:v>45925</c:v>
                </c:pt>
                <c:pt idx="192">
                  <c:v>45926</c:v>
                </c:pt>
                <c:pt idx="193">
                  <c:v>45929</c:v>
                </c:pt>
                <c:pt idx="194">
                  <c:v>45930</c:v>
                </c:pt>
              </c:numCache>
            </c:numRef>
          </c:cat>
          <c:val>
            <c:numRef>
              <c:f>'HY Credit Spreads'!$C$2:$C$701</c:f>
              <c:numCache>
                <c:formatCode>General</c:formatCode>
                <c:ptCount val="700"/>
                <c:pt idx="0">
                  <c:v>276.89279999999997</c:v>
                </c:pt>
                <c:pt idx="1">
                  <c:v>271.31820000000005</c:v>
                </c:pt>
                <c:pt idx="2">
                  <c:v>262.91079999999999</c:v>
                </c:pt>
                <c:pt idx="3">
                  <c:v>258.43029999999999</c:v>
                </c:pt>
                <c:pt idx="4">
                  <c:v>258.15260000000001</c:v>
                </c:pt>
                <c:pt idx="5">
                  <c:v>263.29300000000001</c:v>
                </c:pt>
                <c:pt idx="6">
                  <c:v>263.13729999999998</c:v>
                </c:pt>
                <c:pt idx="7">
                  <c:v>261.96100000000001</c:v>
                </c:pt>
                <c:pt idx="8">
                  <c:v>267.26490000000001</c:v>
                </c:pt>
                <c:pt idx="9">
                  <c:v>265.45920000000001</c:v>
                </c:pt>
                <c:pt idx="10">
                  <c:v>257.9846</c:v>
                </c:pt>
                <c:pt idx="11">
                  <c:v>258.46969999999999</c:v>
                </c:pt>
                <c:pt idx="12">
                  <c:v>251.8382</c:v>
                </c:pt>
                <c:pt idx="13">
                  <c:v>251.8382</c:v>
                </c:pt>
                <c:pt idx="14">
                  <c:v>246.31810000000002</c:v>
                </c:pt>
                <c:pt idx="15">
                  <c:v>245.1524</c:v>
                </c:pt>
                <c:pt idx="16">
                  <c:v>245.1686</c:v>
                </c:pt>
                <c:pt idx="17">
                  <c:v>244.10120000000001</c:v>
                </c:pt>
                <c:pt idx="18">
                  <c:v>249.45970000000003</c:v>
                </c:pt>
                <c:pt idx="19">
                  <c:v>250.95170000000002</c:v>
                </c:pt>
                <c:pt idx="20">
                  <c:v>250.40749999999997</c:v>
                </c:pt>
                <c:pt idx="21">
                  <c:v>248.45239999999998</c:v>
                </c:pt>
                <c:pt idx="22">
                  <c:v>249.67939999999999</c:v>
                </c:pt>
                <c:pt idx="23">
                  <c:v>256.83080000000001</c:v>
                </c:pt>
                <c:pt idx="24">
                  <c:v>256.69309999999996</c:v>
                </c:pt>
                <c:pt idx="25">
                  <c:v>252.08240000000001</c:v>
                </c:pt>
                <c:pt idx="26">
                  <c:v>251.0189</c:v>
                </c:pt>
                <c:pt idx="27">
                  <c:v>252.20329999999998</c:v>
                </c:pt>
                <c:pt idx="28">
                  <c:v>250.8683</c:v>
                </c:pt>
                <c:pt idx="29">
                  <c:v>250.58009999999999</c:v>
                </c:pt>
                <c:pt idx="30">
                  <c:v>249.44880000000001</c:v>
                </c:pt>
                <c:pt idx="31">
                  <c:v>248.86199999999999</c:v>
                </c:pt>
                <c:pt idx="32">
                  <c:v>248.71170000000001</c:v>
                </c:pt>
                <c:pt idx="33">
                  <c:v>248.71170000000001</c:v>
                </c:pt>
                <c:pt idx="34">
                  <c:v>244.84219999999999</c:v>
                </c:pt>
                <c:pt idx="35">
                  <c:v>250.69530000000003</c:v>
                </c:pt>
                <c:pt idx="36">
                  <c:v>249.23639999999997</c:v>
                </c:pt>
                <c:pt idx="37">
                  <c:v>259.9228</c:v>
                </c:pt>
                <c:pt idx="38">
                  <c:v>261.92689999999999</c:v>
                </c:pt>
                <c:pt idx="39">
                  <c:v>266.46249999999998</c:v>
                </c:pt>
                <c:pt idx="40">
                  <c:v>263.87510000000003</c:v>
                </c:pt>
                <c:pt idx="41">
                  <c:v>265.58870000000002</c:v>
                </c:pt>
                <c:pt idx="42">
                  <c:v>270.22110000000004</c:v>
                </c:pt>
                <c:pt idx="43">
                  <c:v>278.4513</c:v>
                </c:pt>
                <c:pt idx="44">
                  <c:v>284.0942</c:v>
                </c:pt>
                <c:pt idx="45">
                  <c:v>274.07589999999999</c:v>
                </c:pt>
                <c:pt idx="46">
                  <c:v>284.60200000000003</c:v>
                </c:pt>
                <c:pt idx="47">
                  <c:v>278.54349999999999</c:v>
                </c:pt>
                <c:pt idx="48">
                  <c:v>297.65160000000003</c:v>
                </c:pt>
                <c:pt idx="49">
                  <c:v>306.86019999999996</c:v>
                </c:pt>
                <c:pt idx="50">
                  <c:v>304.57279999999997</c:v>
                </c:pt>
                <c:pt idx="51">
                  <c:v>331.1995</c:v>
                </c:pt>
                <c:pt idx="52">
                  <c:v>315.8886</c:v>
                </c:pt>
                <c:pt idx="53">
                  <c:v>309.1764</c:v>
                </c:pt>
                <c:pt idx="54">
                  <c:v>313.92399999999998</c:v>
                </c:pt>
                <c:pt idx="55">
                  <c:v>308.6311</c:v>
                </c:pt>
                <c:pt idx="56">
                  <c:v>307.09289999999999</c:v>
                </c:pt>
                <c:pt idx="57">
                  <c:v>311.05489999999998</c:v>
                </c:pt>
                <c:pt idx="58">
                  <c:v>294.25150000000002</c:v>
                </c:pt>
                <c:pt idx="59">
                  <c:v>298.39799999999997</c:v>
                </c:pt>
                <c:pt idx="60">
                  <c:v>306.37459999999999</c:v>
                </c:pt>
                <c:pt idx="61">
                  <c:v>315.63150000000002</c:v>
                </c:pt>
                <c:pt idx="62">
                  <c:v>337.84890000000001</c:v>
                </c:pt>
                <c:pt idx="63">
                  <c:v>345.88679999999999</c:v>
                </c:pt>
                <c:pt idx="64">
                  <c:v>344.43310000000002</c:v>
                </c:pt>
                <c:pt idx="65">
                  <c:v>332.21949999999998</c:v>
                </c:pt>
                <c:pt idx="66">
                  <c:v>389.08619999999996</c:v>
                </c:pt>
                <c:pt idx="67">
                  <c:v>432.72810000000004</c:v>
                </c:pt>
                <c:pt idx="68">
                  <c:v>457.38799999999998</c:v>
                </c:pt>
                <c:pt idx="69">
                  <c:v>459.65369999999996</c:v>
                </c:pt>
                <c:pt idx="70">
                  <c:v>429.40060000000005</c:v>
                </c:pt>
                <c:pt idx="71">
                  <c:v>438.97839999999997</c:v>
                </c:pt>
                <c:pt idx="72">
                  <c:v>422.21710000000002</c:v>
                </c:pt>
                <c:pt idx="73">
                  <c:v>411.40939999999995</c:v>
                </c:pt>
                <c:pt idx="74">
                  <c:v>406.20859999999999</c:v>
                </c:pt>
                <c:pt idx="75">
                  <c:v>411.57260000000002</c:v>
                </c:pt>
                <c:pt idx="76">
                  <c:v>400.76260000000002</c:v>
                </c:pt>
                <c:pt idx="77">
                  <c:v>400.76260000000002</c:v>
                </c:pt>
                <c:pt idx="78">
                  <c:v>414.25200000000001</c:v>
                </c:pt>
                <c:pt idx="79">
                  <c:v>398.90379999999999</c:v>
                </c:pt>
                <c:pt idx="80">
                  <c:v>371.5686</c:v>
                </c:pt>
                <c:pt idx="81">
                  <c:v>368.20580000000001</c:v>
                </c:pt>
                <c:pt idx="82">
                  <c:v>357.56459999999998</c:v>
                </c:pt>
                <c:pt idx="83">
                  <c:v>365.30429999999996</c:v>
                </c:pt>
                <c:pt idx="84">
                  <c:v>366.9873</c:v>
                </c:pt>
                <c:pt idx="85">
                  <c:v>383.43779999999998</c:v>
                </c:pt>
                <c:pt idx="86">
                  <c:v>368.73040000000003</c:v>
                </c:pt>
                <c:pt idx="87">
                  <c:v>352.74610000000001</c:v>
                </c:pt>
                <c:pt idx="88">
                  <c:v>352.2946</c:v>
                </c:pt>
                <c:pt idx="89">
                  <c:v>358.35289999999998</c:v>
                </c:pt>
                <c:pt idx="90">
                  <c:v>356.77949999999998</c:v>
                </c:pt>
                <c:pt idx="91">
                  <c:v>343.66669999999999</c:v>
                </c:pt>
                <c:pt idx="92">
                  <c:v>340.4427</c:v>
                </c:pt>
                <c:pt idx="93">
                  <c:v>295.09899999999999</c:v>
                </c:pt>
                <c:pt idx="94">
                  <c:v>285.82420000000002</c:v>
                </c:pt>
                <c:pt idx="95">
                  <c:v>287.48019999999997</c:v>
                </c:pt>
                <c:pt idx="96">
                  <c:v>294.2029</c:v>
                </c:pt>
                <c:pt idx="97">
                  <c:v>293.2072</c:v>
                </c:pt>
                <c:pt idx="98">
                  <c:v>298.59589999999997</c:v>
                </c:pt>
                <c:pt idx="99">
                  <c:v>297.48500000000001</c:v>
                </c:pt>
                <c:pt idx="100">
                  <c:v>308.5634</c:v>
                </c:pt>
                <c:pt idx="101">
                  <c:v>314.46269999999998</c:v>
                </c:pt>
                <c:pt idx="102">
                  <c:v>324.2201</c:v>
                </c:pt>
                <c:pt idx="103">
                  <c:v>324.2201</c:v>
                </c:pt>
                <c:pt idx="104">
                  <c:v>307.73519999999996</c:v>
                </c:pt>
                <c:pt idx="105">
                  <c:v>303.04950000000002</c:v>
                </c:pt>
                <c:pt idx="106">
                  <c:v>301.90589999999997</c:v>
                </c:pt>
                <c:pt idx="107">
                  <c:v>301.41919999999999</c:v>
                </c:pt>
                <c:pt idx="108">
                  <c:v>303.50540000000001</c:v>
                </c:pt>
                <c:pt idx="109">
                  <c:v>297.94640000000004</c:v>
                </c:pt>
                <c:pt idx="110">
                  <c:v>299.58030000000002</c:v>
                </c:pt>
                <c:pt idx="111">
                  <c:v>294.78460000000001</c:v>
                </c:pt>
                <c:pt idx="112">
                  <c:v>287.55489999999998</c:v>
                </c:pt>
                <c:pt idx="113">
                  <c:v>289.55700000000002</c:v>
                </c:pt>
                <c:pt idx="114">
                  <c:v>286.67060000000004</c:v>
                </c:pt>
                <c:pt idx="115">
                  <c:v>288.32529999999997</c:v>
                </c:pt>
                <c:pt idx="116">
                  <c:v>293.11859999999996</c:v>
                </c:pt>
                <c:pt idx="117">
                  <c:v>295.48610000000002</c:v>
                </c:pt>
                <c:pt idx="118">
                  <c:v>290.74540000000002</c:v>
                </c:pt>
                <c:pt idx="119">
                  <c:v>297.66199999999998</c:v>
                </c:pt>
                <c:pt idx="120">
                  <c:v>296.90470000000005</c:v>
                </c:pt>
                <c:pt idx="121">
                  <c:v>296.90470000000005</c:v>
                </c:pt>
                <c:pt idx="122">
                  <c:v>293.33109999999999</c:v>
                </c:pt>
                <c:pt idx="123">
                  <c:v>292.2081</c:v>
                </c:pt>
                <c:pt idx="124">
                  <c:v>279.34929999999997</c:v>
                </c:pt>
                <c:pt idx="125">
                  <c:v>281.99360000000001</c:v>
                </c:pt>
                <c:pt idx="126">
                  <c:v>280.33169999999996</c:v>
                </c:pt>
                <c:pt idx="127">
                  <c:v>280.64209999999997</c:v>
                </c:pt>
                <c:pt idx="128">
                  <c:v>280.68919999999997</c:v>
                </c:pt>
                <c:pt idx="129">
                  <c:v>272.62099999999998</c:v>
                </c:pt>
                <c:pt idx="130">
                  <c:v>268.40820000000002</c:v>
                </c:pt>
                <c:pt idx="131">
                  <c:v>249.50160000000002</c:v>
                </c:pt>
                <c:pt idx="132">
                  <c:v>249.50160000000002</c:v>
                </c:pt>
                <c:pt idx="133">
                  <c:v>259.31970000000001</c:v>
                </c:pt>
                <c:pt idx="134">
                  <c:v>260.36109999999996</c:v>
                </c:pt>
                <c:pt idx="135">
                  <c:v>262.17590000000001</c:v>
                </c:pt>
                <c:pt idx="136">
                  <c:v>258.74809999999997</c:v>
                </c:pt>
                <c:pt idx="137">
                  <c:v>264.68099999999998</c:v>
                </c:pt>
                <c:pt idx="138">
                  <c:v>265.86610000000002</c:v>
                </c:pt>
                <c:pt idx="139">
                  <c:v>263.0102</c:v>
                </c:pt>
                <c:pt idx="140">
                  <c:v>270.52930000000003</c:v>
                </c:pt>
                <c:pt idx="141">
                  <c:v>263.88410000000005</c:v>
                </c:pt>
                <c:pt idx="142">
                  <c:v>266.29999999999995</c:v>
                </c:pt>
                <c:pt idx="143">
                  <c:v>262.90619999999996</c:v>
                </c:pt>
                <c:pt idx="144">
                  <c:v>261.87040000000002</c:v>
                </c:pt>
                <c:pt idx="145">
                  <c:v>256.6773</c:v>
                </c:pt>
                <c:pt idx="146">
                  <c:v>256.27970000000005</c:v>
                </c:pt>
                <c:pt idx="147">
                  <c:v>257.99770000000001</c:v>
                </c:pt>
                <c:pt idx="148">
                  <c:v>257.7543</c:v>
                </c:pt>
                <c:pt idx="149">
                  <c:v>262.73390000000001</c:v>
                </c:pt>
                <c:pt idx="150">
                  <c:v>264.21440000000001</c:v>
                </c:pt>
                <c:pt idx="151">
                  <c:v>265.04059999999998</c:v>
                </c:pt>
                <c:pt idx="152">
                  <c:v>291.48009999999999</c:v>
                </c:pt>
                <c:pt idx="153">
                  <c:v>280.1284</c:v>
                </c:pt>
                <c:pt idx="154">
                  <c:v>280.01310000000001</c:v>
                </c:pt>
                <c:pt idx="155">
                  <c:v>279.5992</c:v>
                </c:pt>
                <c:pt idx="156">
                  <c:v>278.64279999999997</c:v>
                </c:pt>
                <c:pt idx="157">
                  <c:v>277.42059999999998</c:v>
                </c:pt>
                <c:pt idx="158">
                  <c:v>280.73899999999998</c:v>
                </c:pt>
                <c:pt idx="159">
                  <c:v>280.55310000000003</c:v>
                </c:pt>
                <c:pt idx="160">
                  <c:v>277.65879999999999</c:v>
                </c:pt>
                <c:pt idx="161">
                  <c:v>278.56209999999999</c:v>
                </c:pt>
                <c:pt idx="162">
                  <c:v>277.2724</c:v>
                </c:pt>
                <c:pt idx="163">
                  <c:v>281.70709999999997</c:v>
                </c:pt>
                <c:pt idx="164">
                  <c:v>286.51689999999996</c:v>
                </c:pt>
                <c:pt idx="165">
                  <c:v>286.20249999999999</c:v>
                </c:pt>
                <c:pt idx="166">
                  <c:v>282.98429999999996</c:v>
                </c:pt>
                <c:pt idx="167">
                  <c:v>272.56279999999998</c:v>
                </c:pt>
                <c:pt idx="168">
                  <c:v>265.26659999999998</c:v>
                </c:pt>
                <c:pt idx="169">
                  <c:v>263.49939999999998</c:v>
                </c:pt>
                <c:pt idx="170">
                  <c:v>264.25329999999997</c:v>
                </c:pt>
                <c:pt idx="171">
                  <c:v>259.58160000000004</c:v>
                </c:pt>
                <c:pt idx="172">
                  <c:v>265.83780000000002</c:v>
                </c:pt>
                <c:pt idx="173">
                  <c:v>265.83780000000002</c:v>
                </c:pt>
                <c:pt idx="174">
                  <c:v>276.44690000000003</c:v>
                </c:pt>
                <c:pt idx="175">
                  <c:v>271.28860000000003</c:v>
                </c:pt>
                <c:pt idx="176">
                  <c:v>265.44880000000001</c:v>
                </c:pt>
                <c:pt idx="177">
                  <c:v>261.77120000000002</c:v>
                </c:pt>
                <c:pt idx="178">
                  <c:v>264.98419999999999</c:v>
                </c:pt>
                <c:pt idx="179">
                  <c:v>270.14190000000002</c:v>
                </c:pt>
                <c:pt idx="180">
                  <c:v>267.0779</c:v>
                </c:pt>
                <c:pt idx="181">
                  <c:v>260.54000000000002</c:v>
                </c:pt>
                <c:pt idx="182">
                  <c:v>261.3723</c:v>
                </c:pt>
                <c:pt idx="183">
                  <c:v>257.59899999999999</c:v>
                </c:pt>
                <c:pt idx="184">
                  <c:v>262.17259999999999</c:v>
                </c:pt>
                <c:pt idx="185">
                  <c:v>261.62459999999999</c:v>
                </c:pt>
                <c:pt idx="186">
                  <c:v>255.55259999999998</c:v>
                </c:pt>
                <c:pt idx="187">
                  <c:v>254.57670000000002</c:v>
                </c:pt>
                <c:pt idx="188">
                  <c:v>252.7022</c:v>
                </c:pt>
                <c:pt idx="189">
                  <c:v>255.483</c:v>
                </c:pt>
                <c:pt idx="190">
                  <c:v>254.35279999999997</c:v>
                </c:pt>
                <c:pt idx="191">
                  <c:v>261.72980000000001</c:v>
                </c:pt>
                <c:pt idx="192">
                  <c:v>260.95619999999997</c:v>
                </c:pt>
                <c:pt idx="193">
                  <c:v>261.15050000000002</c:v>
                </c:pt>
                <c:pt idx="194">
                  <c:v>263.32499999999999</c:v>
                </c:pt>
              </c:numCache>
            </c:numRef>
          </c:val>
          <c:smooth val="0"/>
          <c:extLst>
            <c:ext xmlns:c16="http://schemas.microsoft.com/office/drawing/2014/chart" uri="{C3380CC4-5D6E-409C-BE32-E72D297353CC}">
              <c16:uniqueId val="{00000001-18B7-4E9A-9113-80097DA18B0D}"/>
            </c:ext>
          </c:extLst>
        </c:ser>
        <c:ser>
          <c:idx val="2"/>
          <c:order val="2"/>
          <c:tx>
            <c:strRef>
              <c:f>'HY Credit Spreads'!$D$1</c:f>
              <c:strCache>
                <c:ptCount val="1"/>
                <c:pt idx="0">
                  <c:v>CCC OAS</c:v>
                </c:pt>
              </c:strCache>
            </c:strRef>
          </c:tx>
          <c:spPr>
            <a:ln w="28575" cap="rnd">
              <a:solidFill>
                <a:sysClr val="window" lastClr="FFFFFF"/>
              </a:solidFill>
              <a:round/>
            </a:ln>
            <a:effectLst/>
          </c:spPr>
          <c:marker>
            <c:symbol val="none"/>
          </c:marker>
          <c:cat>
            <c:numRef>
              <c:f>'HY Credit Spreads'!$A$2:$A$701</c:f>
              <c:numCache>
                <c:formatCode>m/d/yyyy</c:formatCode>
                <c:ptCount val="700"/>
                <c:pt idx="0" formatCode="[$-409]d\-mmm\-yy;@">
                  <c:v>45657</c:v>
                </c:pt>
                <c:pt idx="1">
                  <c:v>45659</c:v>
                </c:pt>
                <c:pt idx="2">
                  <c:v>45660</c:v>
                </c:pt>
                <c:pt idx="3">
                  <c:v>45663</c:v>
                </c:pt>
                <c:pt idx="4">
                  <c:v>45664</c:v>
                </c:pt>
                <c:pt idx="5">
                  <c:v>45665</c:v>
                </c:pt>
                <c:pt idx="6">
                  <c:v>45666</c:v>
                </c:pt>
                <c:pt idx="7">
                  <c:v>45667</c:v>
                </c:pt>
                <c:pt idx="8">
                  <c:v>45670</c:v>
                </c:pt>
                <c:pt idx="9">
                  <c:v>45671</c:v>
                </c:pt>
                <c:pt idx="10">
                  <c:v>45672</c:v>
                </c:pt>
                <c:pt idx="11">
                  <c:v>45673</c:v>
                </c:pt>
                <c:pt idx="12">
                  <c:v>45674</c:v>
                </c:pt>
                <c:pt idx="13">
                  <c:v>45677</c:v>
                </c:pt>
                <c:pt idx="14">
                  <c:v>45678</c:v>
                </c:pt>
                <c:pt idx="15">
                  <c:v>45679</c:v>
                </c:pt>
                <c:pt idx="16">
                  <c:v>45680</c:v>
                </c:pt>
                <c:pt idx="17">
                  <c:v>45681</c:v>
                </c:pt>
                <c:pt idx="18">
                  <c:v>45684</c:v>
                </c:pt>
                <c:pt idx="19">
                  <c:v>45685</c:v>
                </c:pt>
                <c:pt idx="20">
                  <c:v>45686</c:v>
                </c:pt>
                <c:pt idx="21">
                  <c:v>45687</c:v>
                </c:pt>
                <c:pt idx="22">
                  <c:v>45688</c:v>
                </c:pt>
                <c:pt idx="23">
                  <c:v>45691</c:v>
                </c:pt>
                <c:pt idx="24">
                  <c:v>45692</c:v>
                </c:pt>
                <c:pt idx="25">
                  <c:v>45693</c:v>
                </c:pt>
                <c:pt idx="26">
                  <c:v>45694</c:v>
                </c:pt>
                <c:pt idx="27">
                  <c:v>45695</c:v>
                </c:pt>
                <c:pt idx="28">
                  <c:v>45698</c:v>
                </c:pt>
                <c:pt idx="29">
                  <c:v>45699</c:v>
                </c:pt>
                <c:pt idx="30">
                  <c:v>45700</c:v>
                </c:pt>
                <c:pt idx="31">
                  <c:v>45701</c:v>
                </c:pt>
                <c:pt idx="32">
                  <c:v>45702</c:v>
                </c:pt>
                <c:pt idx="33">
                  <c:v>45705</c:v>
                </c:pt>
                <c:pt idx="34">
                  <c:v>45706</c:v>
                </c:pt>
                <c:pt idx="35">
                  <c:v>45707</c:v>
                </c:pt>
                <c:pt idx="36">
                  <c:v>45708</c:v>
                </c:pt>
                <c:pt idx="37">
                  <c:v>45709</c:v>
                </c:pt>
                <c:pt idx="38">
                  <c:v>45712</c:v>
                </c:pt>
                <c:pt idx="39">
                  <c:v>45713</c:v>
                </c:pt>
                <c:pt idx="40">
                  <c:v>45714</c:v>
                </c:pt>
                <c:pt idx="41">
                  <c:v>45715</c:v>
                </c:pt>
                <c:pt idx="42">
                  <c:v>45716</c:v>
                </c:pt>
                <c:pt idx="43">
                  <c:v>45719</c:v>
                </c:pt>
                <c:pt idx="44">
                  <c:v>45720</c:v>
                </c:pt>
                <c:pt idx="45">
                  <c:v>45721</c:v>
                </c:pt>
                <c:pt idx="46">
                  <c:v>45722</c:v>
                </c:pt>
                <c:pt idx="47">
                  <c:v>45723</c:v>
                </c:pt>
                <c:pt idx="48">
                  <c:v>45726</c:v>
                </c:pt>
                <c:pt idx="49">
                  <c:v>45727</c:v>
                </c:pt>
                <c:pt idx="50">
                  <c:v>45728</c:v>
                </c:pt>
                <c:pt idx="51">
                  <c:v>45729</c:v>
                </c:pt>
                <c:pt idx="52">
                  <c:v>45730</c:v>
                </c:pt>
                <c:pt idx="53">
                  <c:v>45733</c:v>
                </c:pt>
                <c:pt idx="54">
                  <c:v>45734</c:v>
                </c:pt>
                <c:pt idx="55">
                  <c:v>45735</c:v>
                </c:pt>
                <c:pt idx="56">
                  <c:v>45736</c:v>
                </c:pt>
                <c:pt idx="57">
                  <c:v>45737</c:v>
                </c:pt>
                <c:pt idx="58">
                  <c:v>45740</c:v>
                </c:pt>
                <c:pt idx="59">
                  <c:v>45741</c:v>
                </c:pt>
                <c:pt idx="60">
                  <c:v>45742</c:v>
                </c:pt>
                <c:pt idx="61">
                  <c:v>45743</c:v>
                </c:pt>
                <c:pt idx="62">
                  <c:v>45744</c:v>
                </c:pt>
                <c:pt idx="63">
                  <c:v>45747</c:v>
                </c:pt>
                <c:pt idx="64">
                  <c:v>45748</c:v>
                </c:pt>
                <c:pt idx="65">
                  <c:v>45749</c:v>
                </c:pt>
                <c:pt idx="66">
                  <c:v>45750</c:v>
                </c:pt>
                <c:pt idx="67">
                  <c:v>45751</c:v>
                </c:pt>
                <c:pt idx="68">
                  <c:v>45754</c:v>
                </c:pt>
                <c:pt idx="69">
                  <c:v>45755</c:v>
                </c:pt>
                <c:pt idx="70">
                  <c:v>45756</c:v>
                </c:pt>
                <c:pt idx="71">
                  <c:v>45757</c:v>
                </c:pt>
                <c:pt idx="72">
                  <c:v>45758</c:v>
                </c:pt>
                <c:pt idx="73">
                  <c:v>45761</c:v>
                </c:pt>
                <c:pt idx="74">
                  <c:v>45762</c:v>
                </c:pt>
                <c:pt idx="75">
                  <c:v>45763</c:v>
                </c:pt>
                <c:pt idx="76">
                  <c:v>45764</c:v>
                </c:pt>
                <c:pt idx="77">
                  <c:v>45765</c:v>
                </c:pt>
                <c:pt idx="78">
                  <c:v>45768</c:v>
                </c:pt>
                <c:pt idx="79">
                  <c:v>45769</c:v>
                </c:pt>
                <c:pt idx="80">
                  <c:v>45770</c:v>
                </c:pt>
                <c:pt idx="81">
                  <c:v>45771</c:v>
                </c:pt>
                <c:pt idx="82">
                  <c:v>45772</c:v>
                </c:pt>
                <c:pt idx="83">
                  <c:v>45775</c:v>
                </c:pt>
                <c:pt idx="84">
                  <c:v>45776</c:v>
                </c:pt>
                <c:pt idx="85">
                  <c:v>45777</c:v>
                </c:pt>
                <c:pt idx="86">
                  <c:v>45778</c:v>
                </c:pt>
                <c:pt idx="87">
                  <c:v>45779</c:v>
                </c:pt>
                <c:pt idx="88">
                  <c:v>45782</c:v>
                </c:pt>
                <c:pt idx="89">
                  <c:v>45783</c:v>
                </c:pt>
                <c:pt idx="90">
                  <c:v>45784</c:v>
                </c:pt>
                <c:pt idx="91">
                  <c:v>45785</c:v>
                </c:pt>
                <c:pt idx="92">
                  <c:v>45786</c:v>
                </c:pt>
                <c:pt idx="93">
                  <c:v>45789</c:v>
                </c:pt>
                <c:pt idx="94">
                  <c:v>45790</c:v>
                </c:pt>
                <c:pt idx="95">
                  <c:v>45791</c:v>
                </c:pt>
                <c:pt idx="96">
                  <c:v>45792</c:v>
                </c:pt>
                <c:pt idx="97">
                  <c:v>45793</c:v>
                </c:pt>
                <c:pt idx="98">
                  <c:v>45796</c:v>
                </c:pt>
                <c:pt idx="99">
                  <c:v>45797</c:v>
                </c:pt>
                <c:pt idx="100">
                  <c:v>45798</c:v>
                </c:pt>
                <c:pt idx="101">
                  <c:v>45799</c:v>
                </c:pt>
                <c:pt idx="102">
                  <c:v>45800</c:v>
                </c:pt>
                <c:pt idx="103">
                  <c:v>45803</c:v>
                </c:pt>
                <c:pt idx="104">
                  <c:v>45804</c:v>
                </c:pt>
                <c:pt idx="105">
                  <c:v>45805</c:v>
                </c:pt>
                <c:pt idx="106">
                  <c:v>45806</c:v>
                </c:pt>
                <c:pt idx="107">
                  <c:v>45807</c:v>
                </c:pt>
                <c:pt idx="108">
                  <c:v>45810</c:v>
                </c:pt>
                <c:pt idx="109">
                  <c:v>45811</c:v>
                </c:pt>
                <c:pt idx="110">
                  <c:v>45812</c:v>
                </c:pt>
                <c:pt idx="111">
                  <c:v>45813</c:v>
                </c:pt>
                <c:pt idx="112">
                  <c:v>45814</c:v>
                </c:pt>
                <c:pt idx="113">
                  <c:v>45817</c:v>
                </c:pt>
                <c:pt idx="114">
                  <c:v>45818</c:v>
                </c:pt>
                <c:pt idx="115">
                  <c:v>45819</c:v>
                </c:pt>
                <c:pt idx="116">
                  <c:v>45820</c:v>
                </c:pt>
                <c:pt idx="117">
                  <c:v>45821</c:v>
                </c:pt>
                <c:pt idx="118">
                  <c:v>45824</c:v>
                </c:pt>
                <c:pt idx="119">
                  <c:v>45825</c:v>
                </c:pt>
                <c:pt idx="120">
                  <c:v>45826</c:v>
                </c:pt>
                <c:pt idx="121">
                  <c:v>45827</c:v>
                </c:pt>
                <c:pt idx="122">
                  <c:v>45828</c:v>
                </c:pt>
                <c:pt idx="123">
                  <c:v>45831</c:v>
                </c:pt>
                <c:pt idx="124">
                  <c:v>45832</c:v>
                </c:pt>
                <c:pt idx="125">
                  <c:v>45833</c:v>
                </c:pt>
                <c:pt idx="126">
                  <c:v>45834</c:v>
                </c:pt>
                <c:pt idx="127">
                  <c:v>45835</c:v>
                </c:pt>
                <c:pt idx="128">
                  <c:v>45838</c:v>
                </c:pt>
                <c:pt idx="129">
                  <c:v>45839</c:v>
                </c:pt>
                <c:pt idx="130">
                  <c:v>45840</c:v>
                </c:pt>
                <c:pt idx="131">
                  <c:v>45841</c:v>
                </c:pt>
                <c:pt idx="132">
                  <c:v>45842</c:v>
                </c:pt>
                <c:pt idx="133">
                  <c:v>45845</c:v>
                </c:pt>
                <c:pt idx="134">
                  <c:v>45846</c:v>
                </c:pt>
                <c:pt idx="135">
                  <c:v>45847</c:v>
                </c:pt>
                <c:pt idx="136">
                  <c:v>45848</c:v>
                </c:pt>
                <c:pt idx="137">
                  <c:v>45849</c:v>
                </c:pt>
                <c:pt idx="138">
                  <c:v>45852</c:v>
                </c:pt>
                <c:pt idx="139">
                  <c:v>45853</c:v>
                </c:pt>
                <c:pt idx="140">
                  <c:v>45854</c:v>
                </c:pt>
                <c:pt idx="141">
                  <c:v>45855</c:v>
                </c:pt>
                <c:pt idx="142">
                  <c:v>45856</c:v>
                </c:pt>
                <c:pt idx="143">
                  <c:v>45859</c:v>
                </c:pt>
                <c:pt idx="144">
                  <c:v>45860</c:v>
                </c:pt>
                <c:pt idx="145">
                  <c:v>45861</c:v>
                </c:pt>
                <c:pt idx="146">
                  <c:v>45862</c:v>
                </c:pt>
                <c:pt idx="147">
                  <c:v>45863</c:v>
                </c:pt>
                <c:pt idx="148">
                  <c:v>45866</c:v>
                </c:pt>
                <c:pt idx="149">
                  <c:v>45867</c:v>
                </c:pt>
                <c:pt idx="150">
                  <c:v>45868</c:v>
                </c:pt>
                <c:pt idx="151">
                  <c:v>45869</c:v>
                </c:pt>
                <c:pt idx="152">
                  <c:v>45870</c:v>
                </c:pt>
                <c:pt idx="153">
                  <c:v>45873</c:v>
                </c:pt>
                <c:pt idx="154">
                  <c:v>45874</c:v>
                </c:pt>
                <c:pt idx="155">
                  <c:v>45875</c:v>
                </c:pt>
                <c:pt idx="156">
                  <c:v>45876</c:v>
                </c:pt>
                <c:pt idx="157">
                  <c:v>45877</c:v>
                </c:pt>
                <c:pt idx="158">
                  <c:v>45880</c:v>
                </c:pt>
                <c:pt idx="159">
                  <c:v>45881</c:v>
                </c:pt>
                <c:pt idx="160">
                  <c:v>45882</c:v>
                </c:pt>
                <c:pt idx="161">
                  <c:v>45883</c:v>
                </c:pt>
                <c:pt idx="162">
                  <c:v>45884</c:v>
                </c:pt>
                <c:pt idx="163">
                  <c:v>45887</c:v>
                </c:pt>
                <c:pt idx="164">
                  <c:v>45888</c:v>
                </c:pt>
                <c:pt idx="165">
                  <c:v>45889</c:v>
                </c:pt>
                <c:pt idx="166">
                  <c:v>45890</c:v>
                </c:pt>
                <c:pt idx="167">
                  <c:v>45891</c:v>
                </c:pt>
                <c:pt idx="168">
                  <c:v>45894</c:v>
                </c:pt>
                <c:pt idx="169">
                  <c:v>45895</c:v>
                </c:pt>
                <c:pt idx="170">
                  <c:v>45896</c:v>
                </c:pt>
                <c:pt idx="171">
                  <c:v>45897</c:v>
                </c:pt>
                <c:pt idx="172">
                  <c:v>45900</c:v>
                </c:pt>
                <c:pt idx="173">
                  <c:v>45901</c:v>
                </c:pt>
                <c:pt idx="174">
                  <c:v>45902</c:v>
                </c:pt>
                <c:pt idx="175">
                  <c:v>45903</c:v>
                </c:pt>
                <c:pt idx="176">
                  <c:v>45904</c:v>
                </c:pt>
                <c:pt idx="177">
                  <c:v>45905</c:v>
                </c:pt>
                <c:pt idx="178">
                  <c:v>45908</c:v>
                </c:pt>
                <c:pt idx="179">
                  <c:v>45909</c:v>
                </c:pt>
                <c:pt idx="180">
                  <c:v>45910</c:v>
                </c:pt>
                <c:pt idx="181">
                  <c:v>45911</c:v>
                </c:pt>
                <c:pt idx="182">
                  <c:v>45912</c:v>
                </c:pt>
                <c:pt idx="183">
                  <c:v>45915</c:v>
                </c:pt>
                <c:pt idx="184">
                  <c:v>45916</c:v>
                </c:pt>
                <c:pt idx="185">
                  <c:v>45917</c:v>
                </c:pt>
                <c:pt idx="186">
                  <c:v>45918</c:v>
                </c:pt>
                <c:pt idx="187">
                  <c:v>45919</c:v>
                </c:pt>
                <c:pt idx="188">
                  <c:v>45922</c:v>
                </c:pt>
                <c:pt idx="189">
                  <c:v>45923</c:v>
                </c:pt>
                <c:pt idx="190">
                  <c:v>45924</c:v>
                </c:pt>
                <c:pt idx="191">
                  <c:v>45925</c:v>
                </c:pt>
                <c:pt idx="192">
                  <c:v>45926</c:v>
                </c:pt>
                <c:pt idx="193">
                  <c:v>45929</c:v>
                </c:pt>
                <c:pt idx="194">
                  <c:v>45930</c:v>
                </c:pt>
              </c:numCache>
            </c:numRef>
          </c:cat>
          <c:val>
            <c:numRef>
              <c:f>'HY Credit Spreads'!$D$2:$D$701</c:f>
              <c:numCache>
                <c:formatCode>General</c:formatCode>
                <c:ptCount val="700"/>
                <c:pt idx="0">
                  <c:v>558.33180000000004</c:v>
                </c:pt>
                <c:pt idx="1">
                  <c:v>548.60569999999996</c:v>
                </c:pt>
                <c:pt idx="2">
                  <c:v>541.47730000000001</c:v>
                </c:pt>
                <c:pt idx="3">
                  <c:v>535.42790000000002</c:v>
                </c:pt>
                <c:pt idx="4">
                  <c:v>537.59040000000005</c:v>
                </c:pt>
                <c:pt idx="5">
                  <c:v>544.81489999999997</c:v>
                </c:pt>
                <c:pt idx="6">
                  <c:v>534.38260000000002</c:v>
                </c:pt>
                <c:pt idx="7">
                  <c:v>537.73210000000006</c:v>
                </c:pt>
                <c:pt idx="8">
                  <c:v>543.53160000000003</c:v>
                </c:pt>
                <c:pt idx="9">
                  <c:v>537.87330000000009</c:v>
                </c:pt>
                <c:pt idx="10">
                  <c:v>525.27049999999997</c:v>
                </c:pt>
                <c:pt idx="11">
                  <c:v>526.18380000000002</c:v>
                </c:pt>
                <c:pt idx="12">
                  <c:v>521.02629999999999</c:v>
                </c:pt>
                <c:pt idx="13">
                  <c:v>521.02629999999999</c:v>
                </c:pt>
                <c:pt idx="14">
                  <c:v>512.57479999999998</c:v>
                </c:pt>
                <c:pt idx="15">
                  <c:v>504.62249999999995</c:v>
                </c:pt>
                <c:pt idx="16">
                  <c:v>503.3734</c:v>
                </c:pt>
                <c:pt idx="17">
                  <c:v>506.42519999999996</c:v>
                </c:pt>
                <c:pt idx="18">
                  <c:v>521.15070000000003</c:v>
                </c:pt>
                <c:pt idx="19">
                  <c:v>521.35629999999992</c:v>
                </c:pt>
                <c:pt idx="20">
                  <c:v>519.63530000000003</c:v>
                </c:pt>
                <c:pt idx="21">
                  <c:v>520.15419999999995</c:v>
                </c:pt>
                <c:pt idx="22">
                  <c:v>518.26279999999997</c:v>
                </c:pt>
                <c:pt idx="23">
                  <c:v>531.89869999999996</c:v>
                </c:pt>
                <c:pt idx="24">
                  <c:v>535.87450000000001</c:v>
                </c:pt>
                <c:pt idx="25">
                  <c:v>532.31900000000007</c:v>
                </c:pt>
                <c:pt idx="26">
                  <c:v>529.81360000000006</c:v>
                </c:pt>
                <c:pt idx="27">
                  <c:v>529.72789999999998</c:v>
                </c:pt>
                <c:pt idx="28">
                  <c:v>529.76750000000004</c:v>
                </c:pt>
                <c:pt idx="29">
                  <c:v>529.40060000000005</c:v>
                </c:pt>
                <c:pt idx="30">
                  <c:v>532.08029999999997</c:v>
                </c:pt>
                <c:pt idx="31">
                  <c:v>530.72619999999995</c:v>
                </c:pt>
                <c:pt idx="32">
                  <c:v>527.76940000000002</c:v>
                </c:pt>
                <c:pt idx="33">
                  <c:v>527.76940000000002</c:v>
                </c:pt>
                <c:pt idx="34">
                  <c:v>521.96879999999999</c:v>
                </c:pt>
                <c:pt idx="35">
                  <c:v>530.43709999999999</c:v>
                </c:pt>
                <c:pt idx="36">
                  <c:v>529.71139999999991</c:v>
                </c:pt>
                <c:pt idx="37">
                  <c:v>544.93629999999996</c:v>
                </c:pt>
                <c:pt idx="38">
                  <c:v>542.8691</c:v>
                </c:pt>
                <c:pt idx="39">
                  <c:v>553.18669999999997</c:v>
                </c:pt>
                <c:pt idx="40">
                  <c:v>547.91109999999992</c:v>
                </c:pt>
                <c:pt idx="41">
                  <c:v>553.2201</c:v>
                </c:pt>
                <c:pt idx="42">
                  <c:v>547.46069999999997</c:v>
                </c:pt>
                <c:pt idx="43">
                  <c:v>559.06130000000007</c:v>
                </c:pt>
                <c:pt idx="44">
                  <c:v>570.18829999999991</c:v>
                </c:pt>
                <c:pt idx="45">
                  <c:v>568.49740000000008</c:v>
                </c:pt>
                <c:pt idx="46">
                  <c:v>587.22829999999999</c:v>
                </c:pt>
                <c:pt idx="47">
                  <c:v>594.84260000000006</c:v>
                </c:pt>
                <c:pt idx="48">
                  <c:v>624.84519999999998</c:v>
                </c:pt>
                <c:pt idx="49">
                  <c:v>638.2586</c:v>
                </c:pt>
                <c:pt idx="50">
                  <c:v>632.26889999999992</c:v>
                </c:pt>
                <c:pt idx="51">
                  <c:v>667.0489</c:v>
                </c:pt>
                <c:pt idx="52">
                  <c:v>649.44880000000001</c:v>
                </c:pt>
                <c:pt idx="53">
                  <c:v>639.92849999999999</c:v>
                </c:pt>
                <c:pt idx="54">
                  <c:v>636.80920000000003</c:v>
                </c:pt>
                <c:pt idx="55">
                  <c:v>628.9991</c:v>
                </c:pt>
                <c:pt idx="56">
                  <c:v>631.00310000000002</c:v>
                </c:pt>
                <c:pt idx="57">
                  <c:v>629.91520000000003</c:v>
                </c:pt>
                <c:pt idx="58">
                  <c:v>612.1345</c:v>
                </c:pt>
                <c:pt idx="59">
                  <c:v>611.50330000000008</c:v>
                </c:pt>
                <c:pt idx="60">
                  <c:v>621.93209999999999</c:v>
                </c:pt>
                <c:pt idx="61">
                  <c:v>626.20780000000002</c:v>
                </c:pt>
                <c:pt idx="62">
                  <c:v>656.71699999999998</c:v>
                </c:pt>
                <c:pt idx="63">
                  <c:v>676.48099999999999</c:v>
                </c:pt>
                <c:pt idx="64">
                  <c:v>673.96900000000005</c:v>
                </c:pt>
                <c:pt idx="65">
                  <c:v>659.21109999999999</c:v>
                </c:pt>
                <c:pt idx="66">
                  <c:v>743.2229000000001</c:v>
                </c:pt>
                <c:pt idx="67">
                  <c:v>811.44870000000003</c:v>
                </c:pt>
                <c:pt idx="68">
                  <c:v>873.79960000000005</c:v>
                </c:pt>
                <c:pt idx="69">
                  <c:v>873.68010000000004</c:v>
                </c:pt>
                <c:pt idx="70">
                  <c:v>840.08660000000009</c:v>
                </c:pt>
                <c:pt idx="71">
                  <c:v>843.15599999999995</c:v>
                </c:pt>
                <c:pt idx="72">
                  <c:v>824.0453</c:v>
                </c:pt>
                <c:pt idx="73">
                  <c:v>806.81499999999994</c:v>
                </c:pt>
                <c:pt idx="74">
                  <c:v>802.32720000000006</c:v>
                </c:pt>
                <c:pt idx="75">
                  <c:v>820.02880000000005</c:v>
                </c:pt>
                <c:pt idx="76">
                  <c:v>800.57659999999998</c:v>
                </c:pt>
                <c:pt idx="77">
                  <c:v>800.57659999999998</c:v>
                </c:pt>
                <c:pt idx="78">
                  <c:v>828.25009999999997</c:v>
                </c:pt>
                <c:pt idx="79">
                  <c:v>804.0874</c:v>
                </c:pt>
                <c:pt idx="80">
                  <c:v>759.59209999999996</c:v>
                </c:pt>
                <c:pt idx="81">
                  <c:v>751.38059999999996</c:v>
                </c:pt>
                <c:pt idx="82">
                  <c:v>737.00810000000001</c:v>
                </c:pt>
                <c:pt idx="83">
                  <c:v>744.28739999999993</c:v>
                </c:pt>
                <c:pt idx="84">
                  <c:v>746.62549999999999</c:v>
                </c:pt>
                <c:pt idx="85">
                  <c:v>770.45039999999995</c:v>
                </c:pt>
                <c:pt idx="86">
                  <c:v>747.68780000000004</c:v>
                </c:pt>
                <c:pt idx="87">
                  <c:v>732.84829999999999</c:v>
                </c:pt>
                <c:pt idx="88">
                  <c:v>722.56850000000009</c:v>
                </c:pt>
                <c:pt idx="89">
                  <c:v>733.12369999999999</c:v>
                </c:pt>
                <c:pt idx="90">
                  <c:v>735.26859999999999</c:v>
                </c:pt>
                <c:pt idx="91">
                  <c:v>715.76599999999996</c:v>
                </c:pt>
                <c:pt idx="92">
                  <c:v>710.23800000000006</c:v>
                </c:pt>
                <c:pt idx="93">
                  <c:v>674.29769999999996</c:v>
                </c:pt>
                <c:pt idx="94">
                  <c:v>672.97730000000001</c:v>
                </c:pt>
                <c:pt idx="95">
                  <c:v>671.37830000000008</c:v>
                </c:pt>
                <c:pt idx="96">
                  <c:v>682.56650000000002</c:v>
                </c:pt>
                <c:pt idx="97">
                  <c:v>673.99289999999996</c:v>
                </c:pt>
                <c:pt idx="98">
                  <c:v>679.22490000000005</c:v>
                </c:pt>
                <c:pt idx="99">
                  <c:v>683.83390000000009</c:v>
                </c:pt>
                <c:pt idx="100">
                  <c:v>695.38729999999998</c:v>
                </c:pt>
                <c:pt idx="101">
                  <c:v>699.95600000000002</c:v>
                </c:pt>
                <c:pt idx="102">
                  <c:v>713.53639999999996</c:v>
                </c:pt>
                <c:pt idx="103">
                  <c:v>713.53639999999996</c:v>
                </c:pt>
                <c:pt idx="104">
                  <c:v>697.13760000000002</c:v>
                </c:pt>
                <c:pt idx="105">
                  <c:v>686.4692</c:v>
                </c:pt>
                <c:pt idx="106">
                  <c:v>680.26980000000003</c:v>
                </c:pt>
                <c:pt idx="107">
                  <c:v>700.17439999999999</c:v>
                </c:pt>
                <c:pt idx="108">
                  <c:v>703.09770000000003</c:v>
                </c:pt>
                <c:pt idx="109">
                  <c:v>697.05430000000001</c:v>
                </c:pt>
                <c:pt idx="110">
                  <c:v>711.11090000000002</c:v>
                </c:pt>
                <c:pt idx="111">
                  <c:v>714.71889999999996</c:v>
                </c:pt>
                <c:pt idx="112">
                  <c:v>699.54190000000006</c:v>
                </c:pt>
                <c:pt idx="113">
                  <c:v>708.30870000000004</c:v>
                </c:pt>
                <c:pt idx="114">
                  <c:v>713.82529999999997</c:v>
                </c:pt>
                <c:pt idx="115">
                  <c:v>715.98259999999993</c:v>
                </c:pt>
                <c:pt idx="116">
                  <c:v>709.8614</c:v>
                </c:pt>
                <c:pt idx="117">
                  <c:v>716.48900000000003</c:v>
                </c:pt>
                <c:pt idx="118">
                  <c:v>683.8021</c:v>
                </c:pt>
                <c:pt idx="119">
                  <c:v>693.85860000000002</c:v>
                </c:pt>
                <c:pt idx="120">
                  <c:v>695.41380000000004</c:v>
                </c:pt>
                <c:pt idx="121">
                  <c:v>695.41380000000004</c:v>
                </c:pt>
                <c:pt idx="122">
                  <c:v>677.7287</c:v>
                </c:pt>
                <c:pt idx="123">
                  <c:v>692.98070000000007</c:v>
                </c:pt>
                <c:pt idx="124">
                  <c:v>679.66459999999995</c:v>
                </c:pt>
                <c:pt idx="125">
                  <c:v>683.22589999999991</c:v>
                </c:pt>
                <c:pt idx="126">
                  <c:v>686.8288</c:v>
                </c:pt>
                <c:pt idx="127">
                  <c:v>680.01569999999992</c:v>
                </c:pt>
                <c:pt idx="128">
                  <c:v>677.44619999999998</c:v>
                </c:pt>
                <c:pt idx="129">
                  <c:v>658.21720000000005</c:v>
                </c:pt>
                <c:pt idx="130">
                  <c:v>649.87810000000002</c:v>
                </c:pt>
                <c:pt idx="131">
                  <c:v>657.52509999999995</c:v>
                </c:pt>
                <c:pt idx="132">
                  <c:v>657.52509999999995</c:v>
                </c:pt>
                <c:pt idx="133">
                  <c:v>663.24940000000004</c:v>
                </c:pt>
                <c:pt idx="134">
                  <c:v>664.3569</c:v>
                </c:pt>
                <c:pt idx="135">
                  <c:v>662.50639999999999</c:v>
                </c:pt>
                <c:pt idx="136">
                  <c:v>657.41920000000005</c:v>
                </c:pt>
                <c:pt idx="137">
                  <c:v>658.63220000000001</c:v>
                </c:pt>
                <c:pt idx="138">
                  <c:v>663.00920000000008</c:v>
                </c:pt>
                <c:pt idx="139">
                  <c:v>661.38739999999996</c:v>
                </c:pt>
                <c:pt idx="140">
                  <c:v>664.06830000000002</c:v>
                </c:pt>
                <c:pt idx="141">
                  <c:v>660.85789999999997</c:v>
                </c:pt>
                <c:pt idx="142">
                  <c:v>668.12250000000006</c:v>
                </c:pt>
                <c:pt idx="143">
                  <c:v>659.54550000000006</c:v>
                </c:pt>
                <c:pt idx="144">
                  <c:v>656.59469999999999</c:v>
                </c:pt>
                <c:pt idx="145">
                  <c:v>649.29600000000005</c:v>
                </c:pt>
                <c:pt idx="146">
                  <c:v>641.8854</c:v>
                </c:pt>
                <c:pt idx="147">
                  <c:v>645.40350000000001</c:v>
                </c:pt>
                <c:pt idx="148">
                  <c:v>642.99630000000002</c:v>
                </c:pt>
                <c:pt idx="149">
                  <c:v>650.07159999999999</c:v>
                </c:pt>
                <c:pt idx="150">
                  <c:v>651.06259999999997</c:v>
                </c:pt>
                <c:pt idx="151">
                  <c:v>647.28030000000001</c:v>
                </c:pt>
                <c:pt idx="152">
                  <c:v>670.649</c:v>
                </c:pt>
                <c:pt idx="153">
                  <c:v>652.98140000000001</c:v>
                </c:pt>
                <c:pt idx="154">
                  <c:v>645.65279999999996</c:v>
                </c:pt>
                <c:pt idx="155">
                  <c:v>643.25710000000004</c:v>
                </c:pt>
                <c:pt idx="156">
                  <c:v>641.67459999999994</c:v>
                </c:pt>
                <c:pt idx="157">
                  <c:v>641.49800000000005</c:v>
                </c:pt>
                <c:pt idx="158">
                  <c:v>647.32209999999998</c:v>
                </c:pt>
                <c:pt idx="159">
                  <c:v>640.9769</c:v>
                </c:pt>
                <c:pt idx="160">
                  <c:v>635.88519999999994</c:v>
                </c:pt>
                <c:pt idx="161">
                  <c:v>640.2423</c:v>
                </c:pt>
                <c:pt idx="162">
                  <c:v>643.53840000000002</c:v>
                </c:pt>
                <c:pt idx="163">
                  <c:v>658.25030000000004</c:v>
                </c:pt>
                <c:pt idx="164">
                  <c:v>661.1191</c:v>
                </c:pt>
                <c:pt idx="165">
                  <c:v>667.39449999999999</c:v>
                </c:pt>
                <c:pt idx="166">
                  <c:v>670.03359999999998</c:v>
                </c:pt>
                <c:pt idx="167">
                  <c:v>661.23820000000001</c:v>
                </c:pt>
                <c:pt idx="168">
                  <c:v>652.15149999999994</c:v>
                </c:pt>
                <c:pt idx="169">
                  <c:v>632.27710000000002</c:v>
                </c:pt>
                <c:pt idx="170">
                  <c:v>613.02679999999998</c:v>
                </c:pt>
                <c:pt idx="171">
                  <c:v>614.82270000000005</c:v>
                </c:pt>
                <c:pt idx="172">
                  <c:v>617.24980000000005</c:v>
                </c:pt>
                <c:pt idx="173">
                  <c:v>601.67930000000001</c:v>
                </c:pt>
                <c:pt idx="174">
                  <c:v>613.19389999999999</c:v>
                </c:pt>
                <c:pt idx="175">
                  <c:v>630.56270000000006</c:v>
                </c:pt>
                <c:pt idx="176">
                  <c:v>620.89769999999999</c:v>
                </c:pt>
                <c:pt idx="177">
                  <c:v>616.17860000000007</c:v>
                </c:pt>
                <c:pt idx="178">
                  <c:v>612.35609999999997</c:v>
                </c:pt>
                <c:pt idx="179">
                  <c:v>616.16070000000002</c:v>
                </c:pt>
                <c:pt idx="180">
                  <c:v>626.79880000000003</c:v>
                </c:pt>
                <c:pt idx="181">
                  <c:v>612.66100000000006</c:v>
                </c:pt>
                <c:pt idx="182">
                  <c:v>619.85669999999993</c:v>
                </c:pt>
                <c:pt idx="183">
                  <c:v>618.98710000000005</c:v>
                </c:pt>
                <c:pt idx="184">
                  <c:v>623.27499999999998</c:v>
                </c:pt>
                <c:pt idx="185">
                  <c:v>620.08210000000008</c:v>
                </c:pt>
                <c:pt idx="186">
                  <c:v>607.07630000000006</c:v>
                </c:pt>
                <c:pt idx="187">
                  <c:v>605.80200000000002</c:v>
                </c:pt>
                <c:pt idx="188">
                  <c:v>600.77680000000009</c:v>
                </c:pt>
                <c:pt idx="189">
                  <c:v>605.02409999999998</c:v>
                </c:pt>
                <c:pt idx="190">
                  <c:v>603.05930000000001</c:v>
                </c:pt>
                <c:pt idx="191">
                  <c:v>610.63</c:v>
                </c:pt>
                <c:pt idx="192">
                  <c:v>610.73149999999998</c:v>
                </c:pt>
                <c:pt idx="193">
                  <c:v>610.29169999999999</c:v>
                </c:pt>
                <c:pt idx="194">
                  <c:v>604.25430000000006</c:v>
                </c:pt>
              </c:numCache>
            </c:numRef>
          </c:val>
          <c:smooth val="0"/>
          <c:extLst>
            <c:ext xmlns:c16="http://schemas.microsoft.com/office/drawing/2014/chart" uri="{C3380CC4-5D6E-409C-BE32-E72D297353CC}">
              <c16:uniqueId val="{00000002-18B7-4E9A-9113-80097DA18B0D}"/>
            </c:ext>
          </c:extLst>
        </c:ser>
        <c:ser>
          <c:idx val="3"/>
          <c:order val="3"/>
          <c:tx>
            <c:strRef>
              <c:f>'HY Credit Spreads'!$E$1</c:f>
              <c:strCache>
                <c:ptCount val="1"/>
                <c:pt idx="0">
                  <c:v>HY INDEX OAS</c:v>
                </c:pt>
              </c:strCache>
            </c:strRef>
          </c:tx>
          <c:spPr>
            <a:ln w="28575" cap="rnd">
              <a:solidFill>
                <a:srgbClr val="EDAF5D"/>
              </a:solidFill>
              <a:round/>
            </a:ln>
            <a:effectLst/>
          </c:spPr>
          <c:marker>
            <c:symbol val="none"/>
          </c:marker>
          <c:cat>
            <c:numRef>
              <c:f>'HY Credit Spreads'!$A$2:$A$701</c:f>
              <c:numCache>
                <c:formatCode>m/d/yyyy</c:formatCode>
                <c:ptCount val="700"/>
                <c:pt idx="0" formatCode="[$-409]d\-mmm\-yy;@">
                  <c:v>45657</c:v>
                </c:pt>
                <c:pt idx="1">
                  <c:v>45659</c:v>
                </c:pt>
                <c:pt idx="2">
                  <c:v>45660</c:v>
                </c:pt>
                <c:pt idx="3">
                  <c:v>45663</c:v>
                </c:pt>
                <c:pt idx="4">
                  <c:v>45664</c:v>
                </c:pt>
                <c:pt idx="5">
                  <c:v>45665</c:v>
                </c:pt>
                <c:pt idx="6">
                  <c:v>45666</c:v>
                </c:pt>
                <c:pt idx="7">
                  <c:v>45667</c:v>
                </c:pt>
                <c:pt idx="8">
                  <c:v>45670</c:v>
                </c:pt>
                <c:pt idx="9">
                  <c:v>45671</c:v>
                </c:pt>
                <c:pt idx="10">
                  <c:v>45672</c:v>
                </c:pt>
                <c:pt idx="11">
                  <c:v>45673</c:v>
                </c:pt>
                <c:pt idx="12">
                  <c:v>45674</c:v>
                </c:pt>
                <c:pt idx="13">
                  <c:v>45677</c:v>
                </c:pt>
                <c:pt idx="14">
                  <c:v>45678</c:v>
                </c:pt>
                <c:pt idx="15">
                  <c:v>45679</c:v>
                </c:pt>
                <c:pt idx="16">
                  <c:v>45680</c:v>
                </c:pt>
                <c:pt idx="17">
                  <c:v>45681</c:v>
                </c:pt>
                <c:pt idx="18">
                  <c:v>45684</c:v>
                </c:pt>
                <c:pt idx="19">
                  <c:v>45685</c:v>
                </c:pt>
                <c:pt idx="20">
                  <c:v>45686</c:v>
                </c:pt>
                <c:pt idx="21">
                  <c:v>45687</c:v>
                </c:pt>
                <c:pt idx="22">
                  <c:v>45688</c:v>
                </c:pt>
                <c:pt idx="23">
                  <c:v>45691</c:v>
                </c:pt>
                <c:pt idx="24">
                  <c:v>45692</c:v>
                </c:pt>
                <c:pt idx="25">
                  <c:v>45693</c:v>
                </c:pt>
                <c:pt idx="26">
                  <c:v>45694</c:v>
                </c:pt>
                <c:pt idx="27">
                  <c:v>45695</c:v>
                </c:pt>
                <c:pt idx="28">
                  <c:v>45698</c:v>
                </c:pt>
                <c:pt idx="29">
                  <c:v>45699</c:v>
                </c:pt>
                <c:pt idx="30">
                  <c:v>45700</c:v>
                </c:pt>
                <c:pt idx="31">
                  <c:v>45701</c:v>
                </c:pt>
                <c:pt idx="32">
                  <c:v>45702</c:v>
                </c:pt>
                <c:pt idx="33">
                  <c:v>45705</c:v>
                </c:pt>
                <c:pt idx="34">
                  <c:v>45706</c:v>
                </c:pt>
                <c:pt idx="35">
                  <c:v>45707</c:v>
                </c:pt>
                <c:pt idx="36">
                  <c:v>45708</c:v>
                </c:pt>
                <c:pt idx="37">
                  <c:v>45709</c:v>
                </c:pt>
                <c:pt idx="38">
                  <c:v>45712</c:v>
                </c:pt>
                <c:pt idx="39">
                  <c:v>45713</c:v>
                </c:pt>
                <c:pt idx="40">
                  <c:v>45714</c:v>
                </c:pt>
                <c:pt idx="41">
                  <c:v>45715</c:v>
                </c:pt>
                <c:pt idx="42">
                  <c:v>45716</c:v>
                </c:pt>
                <c:pt idx="43">
                  <c:v>45719</c:v>
                </c:pt>
                <c:pt idx="44">
                  <c:v>45720</c:v>
                </c:pt>
                <c:pt idx="45">
                  <c:v>45721</c:v>
                </c:pt>
                <c:pt idx="46">
                  <c:v>45722</c:v>
                </c:pt>
                <c:pt idx="47">
                  <c:v>45723</c:v>
                </c:pt>
                <c:pt idx="48">
                  <c:v>45726</c:v>
                </c:pt>
                <c:pt idx="49">
                  <c:v>45727</c:v>
                </c:pt>
                <c:pt idx="50">
                  <c:v>45728</c:v>
                </c:pt>
                <c:pt idx="51">
                  <c:v>45729</c:v>
                </c:pt>
                <c:pt idx="52">
                  <c:v>45730</c:v>
                </c:pt>
                <c:pt idx="53">
                  <c:v>45733</c:v>
                </c:pt>
                <c:pt idx="54">
                  <c:v>45734</c:v>
                </c:pt>
                <c:pt idx="55">
                  <c:v>45735</c:v>
                </c:pt>
                <c:pt idx="56">
                  <c:v>45736</c:v>
                </c:pt>
                <c:pt idx="57">
                  <c:v>45737</c:v>
                </c:pt>
                <c:pt idx="58">
                  <c:v>45740</c:v>
                </c:pt>
                <c:pt idx="59">
                  <c:v>45741</c:v>
                </c:pt>
                <c:pt idx="60">
                  <c:v>45742</c:v>
                </c:pt>
                <c:pt idx="61">
                  <c:v>45743</c:v>
                </c:pt>
                <c:pt idx="62">
                  <c:v>45744</c:v>
                </c:pt>
                <c:pt idx="63">
                  <c:v>45747</c:v>
                </c:pt>
                <c:pt idx="64">
                  <c:v>45748</c:v>
                </c:pt>
                <c:pt idx="65">
                  <c:v>45749</c:v>
                </c:pt>
                <c:pt idx="66">
                  <c:v>45750</c:v>
                </c:pt>
                <c:pt idx="67">
                  <c:v>45751</c:v>
                </c:pt>
                <c:pt idx="68">
                  <c:v>45754</c:v>
                </c:pt>
                <c:pt idx="69">
                  <c:v>45755</c:v>
                </c:pt>
                <c:pt idx="70">
                  <c:v>45756</c:v>
                </c:pt>
                <c:pt idx="71">
                  <c:v>45757</c:v>
                </c:pt>
                <c:pt idx="72">
                  <c:v>45758</c:v>
                </c:pt>
                <c:pt idx="73">
                  <c:v>45761</c:v>
                </c:pt>
                <c:pt idx="74">
                  <c:v>45762</c:v>
                </c:pt>
                <c:pt idx="75">
                  <c:v>45763</c:v>
                </c:pt>
                <c:pt idx="76">
                  <c:v>45764</c:v>
                </c:pt>
                <c:pt idx="77">
                  <c:v>45765</c:v>
                </c:pt>
                <c:pt idx="78">
                  <c:v>45768</c:v>
                </c:pt>
                <c:pt idx="79">
                  <c:v>45769</c:v>
                </c:pt>
                <c:pt idx="80">
                  <c:v>45770</c:v>
                </c:pt>
                <c:pt idx="81">
                  <c:v>45771</c:v>
                </c:pt>
                <c:pt idx="82">
                  <c:v>45772</c:v>
                </c:pt>
                <c:pt idx="83">
                  <c:v>45775</c:v>
                </c:pt>
                <c:pt idx="84">
                  <c:v>45776</c:v>
                </c:pt>
                <c:pt idx="85">
                  <c:v>45777</c:v>
                </c:pt>
                <c:pt idx="86">
                  <c:v>45778</c:v>
                </c:pt>
                <c:pt idx="87">
                  <c:v>45779</c:v>
                </c:pt>
                <c:pt idx="88">
                  <c:v>45782</c:v>
                </c:pt>
                <c:pt idx="89">
                  <c:v>45783</c:v>
                </c:pt>
                <c:pt idx="90">
                  <c:v>45784</c:v>
                </c:pt>
                <c:pt idx="91">
                  <c:v>45785</c:v>
                </c:pt>
                <c:pt idx="92">
                  <c:v>45786</c:v>
                </c:pt>
                <c:pt idx="93">
                  <c:v>45789</c:v>
                </c:pt>
                <c:pt idx="94">
                  <c:v>45790</c:v>
                </c:pt>
                <c:pt idx="95">
                  <c:v>45791</c:v>
                </c:pt>
                <c:pt idx="96">
                  <c:v>45792</c:v>
                </c:pt>
                <c:pt idx="97">
                  <c:v>45793</c:v>
                </c:pt>
                <c:pt idx="98">
                  <c:v>45796</c:v>
                </c:pt>
                <c:pt idx="99">
                  <c:v>45797</c:v>
                </c:pt>
                <c:pt idx="100">
                  <c:v>45798</c:v>
                </c:pt>
                <c:pt idx="101">
                  <c:v>45799</c:v>
                </c:pt>
                <c:pt idx="102">
                  <c:v>45800</c:v>
                </c:pt>
                <c:pt idx="103">
                  <c:v>45803</c:v>
                </c:pt>
                <c:pt idx="104">
                  <c:v>45804</c:v>
                </c:pt>
                <c:pt idx="105">
                  <c:v>45805</c:v>
                </c:pt>
                <c:pt idx="106">
                  <c:v>45806</c:v>
                </c:pt>
                <c:pt idx="107">
                  <c:v>45807</c:v>
                </c:pt>
                <c:pt idx="108">
                  <c:v>45810</c:v>
                </c:pt>
                <c:pt idx="109">
                  <c:v>45811</c:v>
                </c:pt>
                <c:pt idx="110">
                  <c:v>45812</c:v>
                </c:pt>
                <c:pt idx="111">
                  <c:v>45813</c:v>
                </c:pt>
                <c:pt idx="112">
                  <c:v>45814</c:v>
                </c:pt>
                <c:pt idx="113">
                  <c:v>45817</c:v>
                </c:pt>
                <c:pt idx="114">
                  <c:v>45818</c:v>
                </c:pt>
                <c:pt idx="115">
                  <c:v>45819</c:v>
                </c:pt>
                <c:pt idx="116">
                  <c:v>45820</c:v>
                </c:pt>
                <c:pt idx="117">
                  <c:v>45821</c:v>
                </c:pt>
                <c:pt idx="118">
                  <c:v>45824</c:v>
                </c:pt>
                <c:pt idx="119">
                  <c:v>45825</c:v>
                </c:pt>
                <c:pt idx="120">
                  <c:v>45826</c:v>
                </c:pt>
                <c:pt idx="121">
                  <c:v>45827</c:v>
                </c:pt>
                <c:pt idx="122">
                  <c:v>45828</c:v>
                </c:pt>
                <c:pt idx="123">
                  <c:v>45831</c:v>
                </c:pt>
                <c:pt idx="124">
                  <c:v>45832</c:v>
                </c:pt>
                <c:pt idx="125">
                  <c:v>45833</c:v>
                </c:pt>
                <c:pt idx="126">
                  <c:v>45834</c:v>
                </c:pt>
                <c:pt idx="127">
                  <c:v>45835</c:v>
                </c:pt>
                <c:pt idx="128">
                  <c:v>45838</c:v>
                </c:pt>
                <c:pt idx="129">
                  <c:v>45839</c:v>
                </c:pt>
                <c:pt idx="130">
                  <c:v>45840</c:v>
                </c:pt>
                <c:pt idx="131">
                  <c:v>45841</c:v>
                </c:pt>
                <c:pt idx="132">
                  <c:v>45842</c:v>
                </c:pt>
                <c:pt idx="133">
                  <c:v>45845</c:v>
                </c:pt>
                <c:pt idx="134">
                  <c:v>45846</c:v>
                </c:pt>
                <c:pt idx="135">
                  <c:v>45847</c:v>
                </c:pt>
                <c:pt idx="136">
                  <c:v>45848</c:v>
                </c:pt>
                <c:pt idx="137">
                  <c:v>45849</c:v>
                </c:pt>
                <c:pt idx="138">
                  <c:v>45852</c:v>
                </c:pt>
                <c:pt idx="139">
                  <c:v>45853</c:v>
                </c:pt>
                <c:pt idx="140">
                  <c:v>45854</c:v>
                </c:pt>
                <c:pt idx="141">
                  <c:v>45855</c:v>
                </c:pt>
                <c:pt idx="142">
                  <c:v>45856</c:v>
                </c:pt>
                <c:pt idx="143">
                  <c:v>45859</c:v>
                </c:pt>
                <c:pt idx="144">
                  <c:v>45860</c:v>
                </c:pt>
                <c:pt idx="145">
                  <c:v>45861</c:v>
                </c:pt>
                <c:pt idx="146">
                  <c:v>45862</c:v>
                </c:pt>
                <c:pt idx="147">
                  <c:v>45863</c:v>
                </c:pt>
                <c:pt idx="148">
                  <c:v>45866</c:v>
                </c:pt>
                <c:pt idx="149">
                  <c:v>45867</c:v>
                </c:pt>
                <c:pt idx="150">
                  <c:v>45868</c:v>
                </c:pt>
                <c:pt idx="151">
                  <c:v>45869</c:v>
                </c:pt>
                <c:pt idx="152">
                  <c:v>45870</c:v>
                </c:pt>
                <c:pt idx="153">
                  <c:v>45873</c:v>
                </c:pt>
                <c:pt idx="154">
                  <c:v>45874</c:v>
                </c:pt>
                <c:pt idx="155">
                  <c:v>45875</c:v>
                </c:pt>
                <c:pt idx="156">
                  <c:v>45876</c:v>
                </c:pt>
                <c:pt idx="157">
                  <c:v>45877</c:v>
                </c:pt>
                <c:pt idx="158">
                  <c:v>45880</c:v>
                </c:pt>
                <c:pt idx="159">
                  <c:v>45881</c:v>
                </c:pt>
                <c:pt idx="160">
                  <c:v>45882</c:v>
                </c:pt>
                <c:pt idx="161">
                  <c:v>45883</c:v>
                </c:pt>
                <c:pt idx="162">
                  <c:v>45884</c:v>
                </c:pt>
                <c:pt idx="163">
                  <c:v>45887</c:v>
                </c:pt>
                <c:pt idx="164">
                  <c:v>45888</c:v>
                </c:pt>
                <c:pt idx="165">
                  <c:v>45889</c:v>
                </c:pt>
                <c:pt idx="166">
                  <c:v>45890</c:v>
                </c:pt>
                <c:pt idx="167">
                  <c:v>45891</c:v>
                </c:pt>
                <c:pt idx="168">
                  <c:v>45894</c:v>
                </c:pt>
                <c:pt idx="169">
                  <c:v>45895</c:v>
                </c:pt>
                <c:pt idx="170">
                  <c:v>45896</c:v>
                </c:pt>
                <c:pt idx="171">
                  <c:v>45897</c:v>
                </c:pt>
                <c:pt idx="172">
                  <c:v>45900</c:v>
                </c:pt>
                <c:pt idx="173">
                  <c:v>45901</c:v>
                </c:pt>
                <c:pt idx="174">
                  <c:v>45902</c:v>
                </c:pt>
                <c:pt idx="175">
                  <c:v>45903</c:v>
                </c:pt>
                <c:pt idx="176">
                  <c:v>45904</c:v>
                </c:pt>
                <c:pt idx="177">
                  <c:v>45905</c:v>
                </c:pt>
                <c:pt idx="178">
                  <c:v>45908</c:v>
                </c:pt>
                <c:pt idx="179">
                  <c:v>45909</c:v>
                </c:pt>
                <c:pt idx="180">
                  <c:v>45910</c:v>
                </c:pt>
                <c:pt idx="181">
                  <c:v>45911</c:v>
                </c:pt>
                <c:pt idx="182">
                  <c:v>45912</c:v>
                </c:pt>
                <c:pt idx="183">
                  <c:v>45915</c:v>
                </c:pt>
                <c:pt idx="184">
                  <c:v>45916</c:v>
                </c:pt>
                <c:pt idx="185">
                  <c:v>45917</c:v>
                </c:pt>
                <c:pt idx="186">
                  <c:v>45918</c:v>
                </c:pt>
                <c:pt idx="187">
                  <c:v>45919</c:v>
                </c:pt>
                <c:pt idx="188">
                  <c:v>45922</c:v>
                </c:pt>
                <c:pt idx="189">
                  <c:v>45923</c:v>
                </c:pt>
                <c:pt idx="190">
                  <c:v>45924</c:v>
                </c:pt>
                <c:pt idx="191">
                  <c:v>45925</c:v>
                </c:pt>
                <c:pt idx="192">
                  <c:v>45926</c:v>
                </c:pt>
                <c:pt idx="193">
                  <c:v>45929</c:v>
                </c:pt>
                <c:pt idx="194">
                  <c:v>45930</c:v>
                </c:pt>
              </c:numCache>
            </c:numRef>
          </c:cat>
          <c:val>
            <c:numRef>
              <c:f>'HY Credit Spreads'!$E$2:$E$701</c:f>
              <c:numCache>
                <c:formatCode>General</c:formatCode>
                <c:ptCount val="700"/>
                <c:pt idx="0">
                  <c:v>286.83049999999997</c:v>
                </c:pt>
                <c:pt idx="1">
                  <c:v>281.61879999999996</c:v>
                </c:pt>
                <c:pt idx="2">
                  <c:v>274.27519999999998</c:v>
                </c:pt>
                <c:pt idx="3">
                  <c:v>269.87800000000004</c:v>
                </c:pt>
                <c:pt idx="4">
                  <c:v>271.19510000000002</c:v>
                </c:pt>
                <c:pt idx="5">
                  <c:v>276.61239999999998</c:v>
                </c:pt>
                <c:pt idx="6">
                  <c:v>275.2106</c:v>
                </c:pt>
                <c:pt idx="7">
                  <c:v>273.60540000000003</c:v>
                </c:pt>
                <c:pt idx="8">
                  <c:v>278.30469999999997</c:v>
                </c:pt>
                <c:pt idx="9">
                  <c:v>276.15780000000001</c:v>
                </c:pt>
                <c:pt idx="10">
                  <c:v>268.22140000000002</c:v>
                </c:pt>
                <c:pt idx="11">
                  <c:v>269.76840000000004</c:v>
                </c:pt>
                <c:pt idx="12">
                  <c:v>262.45509999999996</c:v>
                </c:pt>
                <c:pt idx="13">
                  <c:v>262.45509999999996</c:v>
                </c:pt>
                <c:pt idx="14">
                  <c:v>258.2364</c:v>
                </c:pt>
                <c:pt idx="15">
                  <c:v>255.79640000000001</c:v>
                </c:pt>
                <c:pt idx="16">
                  <c:v>256.39050000000003</c:v>
                </c:pt>
                <c:pt idx="17">
                  <c:v>255.80419999999998</c:v>
                </c:pt>
                <c:pt idx="18">
                  <c:v>262.55039999999997</c:v>
                </c:pt>
                <c:pt idx="19">
                  <c:v>263.71050000000002</c:v>
                </c:pt>
                <c:pt idx="20">
                  <c:v>262.12110000000001</c:v>
                </c:pt>
                <c:pt idx="21">
                  <c:v>260.18819999999999</c:v>
                </c:pt>
                <c:pt idx="22">
                  <c:v>260.56740000000002</c:v>
                </c:pt>
                <c:pt idx="23">
                  <c:v>266.39339999999999</c:v>
                </c:pt>
                <c:pt idx="24">
                  <c:v>266.29410000000001</c:v>
                </c:pt>
                <c:pt idx="25">
                  <c:v>262.96659999999997</c:v>
                </c:pt>
                <c:pt idx="26">
                  <c:v>261.5059</c:v>
                </c:pt>
                <c:pt idx="27">
                  <c:v>263.62720000000002</c:v>
                </c:pt>
                <c:pt idx="28">
                  <c:v>262.74590000000001</c:v>
                </c:pt>
                <c:pt idx="29">
                  <c:v>263.20400000000001</c:v>
                </c:pt>
                <c:pt idx="30">
                  <c:v>261.64139999999998</c:v>
                </c:pt>
                <c:pt idx="31">
                  <c:v>261.77450000000005</c:v>
                </c:pt>
                <c:pt idx="32">
                  <c:v>260.1155</c:v>
                </c:pt>
                <c:pt idx="33">
                  <c:v>260.1155</c:v>
                </c:pt>
                <c:pt idx="34">
                  <c:v>256.26139999999998</c:v>
                </c:pt>
                <c:pt idx="35">
                  <c:v>262.01310000000001</c:v>
                </c:pt>
                <c:pt idx="36">
                  <c:v>261.08069999999998</c:v>
                </c:pt>
                <c:pt idx="37">
                  <c:v>270.839</c:v>
                </c:pt>
                <c:pt idx="38">
                  <c:v>272.10550000000001</c:v>
                </c:pt>
                <c:pt idx="39">
                  <c:v>276.88229999999999</c:v>
                </c:pt>
                <c:pt idx="40">
                  <c:v>274.05770000000001</c:v>
                </c:pt>
                <c:pt idx="41">
                  <c:v>275.43430000000001</c:v>
                </c:pt>
                <c:pt idx="42">
                  <c:v>280.38059999999996</c:v>
                </c:pt>
                <c:pt idx="43">
                  <c:v>288.11589999999995</c:v>
                </c:pt>
                <c:pt idx="44">
                  <c:v>291.99380000000002</c:v>
                </c:pt>
                <c:pt idx="45">
                  <c:v>283.13630000000001</c:v>
                </c:pt>
                <c:pt idx="46">
                  <c:v>293.58019999999999</c:v>
                </c:pt>
                <c:pt idx="47">
                  <c:v>290.82549999999998</c:v>
                </c:pt>
                <c:pt idx="48">
                  <c:v>309.65250000000003</c:v>
                </c:pt>
                <c:pt idx="49">
                  <c:v>315.80419999999998</c:v>
                </c:pt>
                <c:pt idx="50">
                  <c:v>312.73160000000001</c:v>
                </c:pt>
                <c:pt idx="51">
                  <c:v>334.99189999999999</c:v>
                </c:pt>
                <c:pt idx="52">
                  <c:v>320.7681</c:v>
                </c:pt>
                <c:pt idx="53">
                  <c:v>315.1687</c:v>
                </c:pt>
                <c:pt idx="54">
                  <c:v>319.08580000000001</c:v>
                </c:pt>
                <c:pt idx="55">
                  <c:v>314.4744</c:v>
                </c:pt>
                <c:pt idx="56">
                  <c:v>313.65020000000004</c:v>
                </c:pt>
                <c:pt idx="57">
                  <c:v>316.51479999999998</c:v>
                </c:pt>
                <c:pt idx="58">
                  <c:v>301.7928</c:v>
                </c:pt>
                <c:pt idx="59">
                  <c:v>305.56390000000005</c:v>
                </c:pt>
                <c:pt idx="60">
                  <c:v>314.42779999999999</c:v>
                </c:pt>
                <c:pt idx="61">
                  <c:v>322.28059999999999</c:v>
                </c:pt>
                <c:pt idx="62">
                  <c:v>339.75849999999997</c:v>
                </c:pt>
                <c:pt idx="63">
                  <c:v>346.94619999999998</c:v>
                </c:pt>
                <c:pt idx="64">
                  <c:v>345.24160000000001</c:v>
                </c:pt>
                <c:pt idx="65">
                  <c:v>334.12560000000002</c:v>
                </c:pt>
                <c:pt idx="66">
                  <c:v>387.0686</c:v>
                </c:pt>
                <c:pt idx="67">
                  <c:v>426.72939999999994</c:v>
                </c:pt>
                <c:pt idx="68">
                  <c:v>449.37310000000002</c:v>
                </c:pt>
                <c:pt idx="69">
                  <c:v>452.70530000000002</c:v>
                </c:pt>
                <c:pt idx="70">
                  <c:v>426.49540000000002</c:v>
                </c:pt>
                <c:pt idx="71">
                  <c:v>433.77960000000002</c:v>
                </c:pt>
                <c:pt idx="72">
                  <c:v>418.68920000000003</c:v>
                </c:pt>
                <c:pt idx="73">
                  <c:v>409.2346</c:v>
                </c:pt>
                <c:pt idx="74">
                  <c:v>404.79919999999998</c:v>
                </c:pt>
                <c:pt idx="75">
                  <c:v>411.59429999999998</c:v>
                </c:pt>
                <c:pt idx="76">
                  <c:v>397.96589999999998</c:v>
                </c:pt>
                <c:pt idx="77">
                  <c:v>397.96589999999998</c:v>
                </c:pt>
                <c:pt idx="78">
                  <c:v>412.47439999999995</c:v>
                </c:pt>
                <c:pt idx="79">
                  <c:v>397.06060000000002</c:v>
                </c:pt>
                <c:pt idx="80">
                  <c:v>371.38</c:v>
                </c:pt>
                <c:pt idx="81">
                  <c:v>367.94110000000001</c:v>
                </c:pt>
                <c:pt idx="82">
                  <c:v>360.16059999999999</c:v>
                </c:pt>
                <c:pt idx="83">
                  <c:v>368.41800000000001</c:v>
                </c:pt>
                <c:pt idx="84">
                  <c:v>369.72399999999999</c:v>
                </c:pt>
                <c:pt idx="85">
                  <c:v>384.13380000000001</c:v>
                </c:pt>
                <c:pt idx="86">
                  <c:v>368.10070000000002</c:v>
                </c:pt>
                <c:pt idx="87">
                  <c:v>351.58179999999999</c:v>
                </c:pt>
                <c:pt idx="88">
                  <c:v>350.85300000000001</c:v>
                </c:pt>
                <c:pt idx="89">
                  <c:v>356.93640000000005</c:v>
                </c:pt>
                <c:pt idx="90">
                  <c:v>356.48950000000002</c:v>
                </c:pt>
                <c:pt idx="91">
                  <c:v>342.32920000000001</c:v>
                </c:pt>
                <c:pt idx="92">
                  <c:v>343.23469999999998</c:v>
                </c:pt>
                <c:pt idx="93">
                  <c:v>305.4547</c:v>
                </c:pt>
                <c:pt idx="94">
                  <c:v>299.34989999999999</c:v>
                </c:pt>
                <c:pt idx="95">
                  <c:v>300.512</c:v>
                </c:pt>
                <c:pt idx="96">
                  <c:v>308.8297</c:v>
                </c:pt>
                <c:pt idx="97">
                  <c:v>305.29849999999999</c:v>
                </c:pt>
                <c:pt idx="98">
                  <c:v>311.6155</c:v>
                </c:pt>
                <c:pt idx="99">
                  <c:v>310.7833</c:v>
                </c:pt>
                <c:pt idx="100">
                  <c:v>318.6671</c:v>
                </c:pt>
                <c:pt idx="101">
                  <c:v>323.1157</c:v>
                </c:pt>
                <c:pt idx="102">
                  <c:v>330.26979999999998</c:v>
                </c:pt>
                <c:pt idx="103">
                  <c:v>330.26979999999998</c:v>
                </c:pt>
                <c:pt idx="104">
                  <c:v>315.9162</c:v>
                </c:pt>
                <c:pt idx="105">
                  <c:v>311.63569999999999</c:v>
                </c:pt>
                <c:pt idx="106">
                  <c:v>310.7568</c:v>
                </c:pt>
                <c:pt idx="107">
                  <c:v>314.59969999999998</c:v>
                </c:pt>
                <c:pt idx="108">
                  <c:v>315.63670000000002</c:v>
                </c:pt>
                <c:pt idx="109">
                  <c:v>309.07439999999997</c:v>
                </c:pt>
                <c:pt idx="110">
                  <c:v>312.16030000000001</c:v>
                </c:pt>
                <c:pt idx="111">
                  <c:v>308.88350000000003</c:v>
                </c:pt>
                <c:pt idx="112">
                  <c:v>299.77719999999999</c:v>
                </c:pt>
                <c:pt idx="113">
                  <c:v>301.45609999999999</c:v>
                </c:pt>
                <c:pt idx="114">
                  <c:v>300.33319999999998</c:v>
                </c:pt>
                <c:pt idx="115">
                  <c:v>301.72500000000002</c:v>
                </c:pt>
                <c:pt idx="116">
                  <c:v>305.76099999999997</c:v>
                </c:pt>
                <c:pt idx="117">
                  <c:v>307.66320000000002</c:v>
                </c:pt>
                <c:pt idx="118">
                  <c:v>296.9375</c:v>
                </c:pt>
                <c:pt idx="119">
                  <c:v>304.04610000000002</c:v>
                </c:pt>
                <c:pt idx="120">
                  <c:v>303.8279</c:v>
                </c:pt>
                <c:pt idx="121">
                  <c:v>303.8279</c:v>
                </c:pt>
                <c:pt idx="122">
                  <c:v>299.00690000000003</c:v>
                </c:pt>
                <c:pt idx="123">
                  <c:v>301.59069999999997</c:v>
                </c:pt>
                <c:pt idx="124">
                  <c:v>291.85550000000001</c:v>
                </c:pt>
                <c:pt idx="125">
                  <c:v>293.51159999999999</c:v>
                </c:pt>
                <c:pt idx="126">
                  <c:v>292.8064</c:v>
                </c:pt>
                <c:pt idx="127">
                  <c:v>291.76069999999999</c:v>
                </c:pt>
                <c:pt idx="128">
                  <c:v>289.7946</c:v>
                </c:pt>
                <c:pt idx="129">
                  <c:v>280.81330000000003</c:v>
                </c:pt>
                <c:pt idx="130">
                  <c:v>277.36610000000002</c:v>
                </c:pt>
                <c:pt idx="131">
                  <c:v>267.58519999999999</c:v>
                </c:pt>
                <c:pt idx="132">
                  <c:v>267.58519999999999</c:v>
                </c:pt>
                <c:pt idx="133">
                  <c:v>273.9819</c:v>
                </c:pt>
                <c:pt idx="134">
                  <c:v>279.0822</c:v>
                </c:pt>
                <c:pt idx="135">
                  <c:v>281.12330000000003</c:v>
                </c:pt>
                <c:pt idx="136">
                  <c:v>278.87490000000003</c:v>
                </c:pt>
                <c:pt idx="137">
                  <c:v>282.97629999999998</c:v>
                </c:pt>
                <c:pt idx="138">
                  <c:v>284.18430000000001</c:v>
                </c:pt>
                <c:pt idx="139">
                  <c:v>282.13339999999999</c:v>
                </c:pt>
                <c:pt idx="140">
                  <c:v>287.55709999999999</c:v>
                </c:pt>
                <c:pt idx="141">
                  <c:v>281.19060000000002</c:v>
                </c:pt>
                <c:pt idx="142">
                  <c:v>283.23109999999997</c:v>
                </c:pt>
                <c:pt idx="143">
                  <c:v>279.65819999999997</c:v>
                </c:pt>
                <c:pt idx="144">
                  <c:v>279.50799999999998</c:v>
                </c:pt>
                <c:pt idx="145">
                  <c:v>273.26310000000001</c:v>
                </c:pt>
                <c:pt idx="146">
                  <c:v>271.85579999999999</c:v>
                </c:pt>
                <c:pt idx="147">
                  <c:v>273.73390000000001</c:v>
                </c:pt>
                <c:pt idx="148">
                  <c:v>273.28829999999999</c:v>
                </c:pt>
                <c:pt idx="149">
                  <c:v>277.40219999999999</c:v>
                </c:pt>
                <c:pt idx="150">
                  <c:v>278.42439999999999</c:v>
                </c:pt>
                <c:pt idx="151">
                  <c:v>277.60329999999999</c:v>
                </c:pt>
                <c:pt idx="152">
                  <c:v>300.71010000000001</c:v>
                </c:pt>
                <c:pt idx="153">
                  <c:v>292.56619999999998</c:v>
                </c:pt>
                <c:pt idx="154">
                  <c:v>289.3528</c:v>
                </c:pt>
                <c:pt idx="155">
                  <c:v>288.19759999999997</c:v>
                </c:pt>
                <c:pt idx="156">
                  <c:v>286.34399999999999</c:v>
                </c:pt>
                <c:pt idx="157">
                  <c:v>283.29749999999996</c:v>
                </c:pt>
                <c:pt idx="158">
                  <c:v>285.69100000000003</c:v>
                </c:pt>
                <c:pt idx="159">
                  <c:v>284.2167</c:v>
                </c:pt>
                <c:pt idx="160">
                  <c:v>280.34809999999999</c:v>
                </c:pt>
                <c:pt idx="161">
                  <c:v>281.23520000000002</c:v>
                </c:pt>
                <c:pt idx="162">
                  <c:v>279.3929</c:v>
                </c:pt>
                <c:pt idx="163">
                  <c:v>281.90430000000003</c:v>
                </c:pt>
                <c:pt idx="164">
                  <c:v>285.21299999999997</c:v>
                </c:pt>
                <c:pt idx="165">
                  <c:v>287.42019999999997</c:v>
                </c:pt>
                <c:pt idx="166">
                  <c:v>286.97159999999997</c:v>
                </c:pt>
                <c:pt idx="167">
                  <c:v>279.10180000000003</c:v>
                </c:pt>
                <c:pt idx="168">
                  <c:v>272.60469999999998</c:v>
                </c:pt>
                <c:pt idx="169">
                  <c:v>271.63750000000005</c:v>
                </c:pt>
                <c:pt idx="170">
                  <c:v>270.32769999999999</c:v>
                </c:pt>
                <c:pt idx="171">
                  <c:v>268.12889999999999</c:v>
                </c:pt>
                <c:pt idx="172">
                  <c:v>272.33770000000004</c:v>
                </c:pt>
                <c:pt idx="173">
                  <c:v>271.334</c:v>
                </c:pt>
                <c:pt idx="174">
                  <c:v>280.6103</c:v>
                </c:pt>
                <c:pt idx="175">
                  <c:v>279.59570000000002</c:v>
                </c:pt>
                <c:pt idx="176">
                  <c:v>274.77619999999996</c:v>
                </c:pt>
                <c:pt idx="177">
                  <c:v>272.3716</c:v>
                </c:pt>
                <c:pt idx="178">
                  <c:v>273.55990000000003</c:v>
                </c:pt>
                <c:pt idx="179">
                  <c:v>276.42660000000001</c:v>
                </c:pt>
                <c:pt idx="180">
                  <c:v>274.04309999999998</c:v>
                </c:pt>
                <c:pt idx="181">
                  <c:v>267.7414</c:v>
                </c:pt>
                <c:pt idx="182">
                  <c:v>269.81220000000002</c:v>
                </c:pt>
                <c:pt idx="183">
                  <c:v>267.11059999999998</c:v>
                </c:pt>
                <c:pt idx="184">
                  <c:v>269.03250000000003</c:v>
                </c:pt>
                <c:pt idx="185">
                  <c:v>267.72490000000005</c:v>
                </c:pt>
                <c:pt idx="186">
                  <c:v>261.70699999999999</c:v>
                </c:pt>
                <c:pt idx="187">
                  <c:v>261.72829999999999</c:v>
                </c:pt>
                <c:pt idx="188">
                  <c:v>259.44499999999999</c:v>
                </c:pt>
                <c:pt idx="189">
                  <c:v>261.88889999999998</c:v>
                </c:pt>
                <c:pt idx="190">
                  <c:v>261.38819999999998</c:v>
                </c:pt>
                <c:pt idx="191">
                  <c:v>266.36</c:v>
                </c:pt>
                <c:pt idx="192">
                  <c:v>265.61259999999999</c:v>
                </c:pt>
                <c:pt idx="193">
                  <c:v>265.66370000000001</c:v>
                </c:pt>
                <c:pt idx="194">
                  <c:v>266.98419999999999</c:v>
                </c:pt>
              </c:numCache>
            </c:numRef>
          </c:val>
          <c:smooth val="0"/>
          <c:extLst>
            <c:ext xmlns:c16="http://schemas.microsoft.com/office/drawing/2014/chart" uri="{C3380CC4-5D6E-409C-BE32-E72D297353CC}">
              <c16:uniqueId val="{00000003-18B7-4E9A-9113-80097DA18B0D}"/>
            </c:ext>
          </c:extLst>
        </c:ser>
        <c:dLbls>
          <c:showLegendKey val="0"/>
          <c:showVal val="0"/>
          <c:showCatName val="0"/>
          <c:showSerName val="0"/>
          <c:showPercent val="0"/>
          <c:showBubbleSize val="0"/>
        </c:dLbls>
        <c:smooth val="0"/>
        <c:axId val="1097573023"/>
        <c:axId val="1097573983"/>
      </c:lineChart>
      <c:dateAx>
        <c:axId val="1097573023"/>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lgn="ctr">
              <a:defRPr lang="en-US" sz="900" b="0" i="0" u="none" strike="noStrike" kern="1200" cap="all" spc="-40" baseline="0">
                <a:solidFill>
                  <a:schemeClr val="bg1"/>
                </a:solidFill>
                <a:latin typeface="Poppins Medium" panose="00000600000000000000" pitchFamily="2" charset="0"/>
                <a:ea typeface="+mn-ea"/>
                <a:cs typeface="Poppins Medium" panose="00000600000000000000" pitchFamily="2" charset="0"/>
              </a:defRPr>
            </a:pPr>
            <a:endParaRPr lang="en-US"/>
          </a:p>
        </c:txPr>
        <c:crossAx val="1097573983"/>
        <c:crosses val="autoZero"/>
        <c:auto val="1"/>
        <c:lblOffset val="100"/>
        <c:baseTimeUnit val="days"/>
        <c:majorUnit val="3"/>
        <c:majorTimeUnit val="months"/>
      </c:dateAx>
      <c:valAx>
        <c:axId val="1097573983"/>
        <c:scaling>
          <c:orientation val="minMax"/>
          <c:max val="900"/>
        </c:scaling>
        <c:delete val="0"/>
        <c:axPos val="l"/>
        <c:majorGridlines>
          <c:spPr>
            <a:ln w="9525" cap="flat" cmpd="sng" algn="ctr">
              <a:solidFill>
                <a:schemeClr val="bg1">
                  <a:alpha val="24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lumMod val="95000"/>
                      </a:schemeClr>
                    </a:solidFill>
                    <a:latin typeface="Poppins Medium" panose="00000600000000000000" pitchFamily="2" charset="0"/>
                    <a:ea typeface="+mn-ea"/>
                    <a:cs typeface="Poppins Medium" panose="00000600000000000000" pitchFamily="2" charset="0"/>
                  </a:defRPr>
                </a:pPr>
                <a:r>
                  <a:rPr lang="en-US">
                    <a:latin typeface="Poppins Medium" panose="00000600000000000000" pitchFamily="2" charset="0"/>
                    <a:cs typeface="Poppins Medium" panose="00000600000000000000" pitchFamily="2" charset="0"/>
                  </a:rPr>
                  <a:t>BASIS POINTS</a:t>
                </a:r>
              </a:p>
            </c:rich>
          </c:tx>
          <c:layout>
            <c:manualLayout>
              <c:xMode val="edge"/>
              <c:yMode val="edge"/>
              <c:x val="0"/>
              <c:y val="0.2350654554451185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bg1">
                      <a:lumMod val="95000"/>
                    </a:schemeClr>
                  </a:solidFill>
                  <a:latin typeface="Poppins Medium" panose="00000600000000000000" pitchFamily="2" charset="0"/>
                  <a:ea typeface="+mn-ea"/>
                  <a:cs typeface="Poppins Medium" panose="00000600000000000000" pitchFamily="2" charset="0"/>
                </a:defRPr>
              </a:pPr>
              <a:endParaRPr lang="en-US"/>
            </a:p>
          </c:txPr>
        </c:title>
        <c:numFmt formatCode="General" sourceLinked="1"/>
        <c:majorTickMark val="none"/>
        <c:minorTickMark val="none"/>
        <c:tickLblPos val="nextTo"/>
        <c:spPr>
          <a:noFill/>
          <a:ln w="6350">
            <a:solidFill>
              <a:schemeClr val="bg1"/>
            </a:solidFill>
          </a:ln>
          <a:effectLst/>
        </c:spPr>
        <c:txPr>
          <a:bodyPr rot="-60000000" spcFirstLastPara="1" vertOverflow="ellipsis" vert="horz" wrap="square" anchor="ctr" anchorCtr="1"/>
          <a:lstStyle/>
          <a:p>
            <a:pPr algn="ct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1097573023"/>
        <c:crosses val="autoZero"/>
        <c:crossBetween val="between"/>
        <c:majorUnit val="150"/>
      </c:valAx>
      <c:spPr>
        <a:solidFill>
          <a:srgbClr val="253751"/>
        </a:solidFill>
        <a:ln>
          <a:noFill/>
        </a:ln>
        <a:effectLst/>
      </c:spPr>
    </c:plotArea>
    <c:legend>
      <c:legendPos val="b"/>
      <c:layout>
        <c:manualLayout>
          <c:xMode val="edge"/>
          <c:yMode val="edge"/>
          <c:x val="0.1418632767057964"/>
          <c:y val="1.7250405174762992E-2"/>
          <c:w val="0.23606087700575892"/>
          <c:h val="0.22379048162012533"/>
        </c:manualLayout>
      </c:layout>
      <c:overlay val="0"/>
      <c:spPr>
        <a:solidFill>
          <a:srgbClr val="2B3E59"/>
        </a:solidFill>
        <a:ln w="12700">
          <a:solidFill>
            <a:srgbClr val="5891A6"/>
          </a:solidFill>
        </a:ln>
        <a:effectLst/>
      </c:spPr>
      <c:txPr>
        <a:bodyPr rot="0" spcFirstLastPara="1" vertOverflow="ellipsis" vert="horz" wrap="square" anchor="ctr" anchorCtr="1"/>
        <a:lstStyle/>
        <a:p>
          <a:pPr>
            <a:defRPr sz="750" b="0" i="0" u="none" strike="noStrike" kern="1200" baseline="0">
              <a:solidFill>
                <a:schemeClr val="bg1">
                  <a:lumMod val="95000"/>
                </a:schemeClr>
              </a:solidFill>
              <a:latin typeface="Poppins Medium" panose="00000600000000000000" pitchFamily="2" charset="0"/>
              <a:ea typeface="+mn-ea"/>
              <a:cs typeface="Poppins Medium" panose="000006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44546A"/>
    </a:solidFill>
    <a:ln w="9525" cap="flat" cmpd="sng" algn="ctr">
      <a:noFill/>
      <a:round/>
    </a:ln>
    <a:effectLst/>
  </c:spPr>
  <c:txPr>
    <a:bodyPr/>
    <a:lstStyle/>
    <a:p>
      <a:pPr>
        <a:defRPr>
          <a:solidFill>
            <a:schemeClr val="bg1">
              <a:lumMod val="95000"/>
            </a:schemeClr>
          </a:solidFill>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138372126561103"/>
          <c:y val="0.15559812310456708"/>
          <c:w val="0.77202777537423206"/>
          <c:h val="0.69388733919470824"/>
        </c:manualLayout>
      </c:layout>
      <c:barChart>
        <c:barDir val="col"/>
        <c:grouping val="stacked"/>
        <c:varyColors val="0"/>
        <c:ser>
          <c:idx val="1"/>
          <c:order val="1"/>
          <c:tx>
            <c:strRef>
              <c:f>'Page 6 Data'!$V$5</c:f>
              <c:strCache>
                <c:ptCount val="1"/>
                <c:pt idx="0">
                  <c:v>US RECESSION</c:v>
                </c:pt>
              </c:strCache>
            </c:strRef>
          </c:tx>
          <c:spPr>
            <a:noFill/>
            <a:ln>
              <a:solidFill>
                <a:srgbClr val="5891A6">
                  <a:alpha val="72941"/>
                </a:srgbClr>
              </a:solidFill>
            </a:ln>
          </c:spPr>
          <c:invertIfNegative val="0"/>
          <c:dPt>
            <c:idx val="1148"/>
            <c:invertIfNegative val="0"/>
            <c:bubble3D val="0"/>
            <c:extLst>
              <c:ext xmlns:c16="http://schemas.microsoft.com/office/drawing/2014/chart" uri="{C3380CC4-5D6E-409C-BE32-E72D297353CC}">
                <c16:uniqueId val="{00000000-A532-4454-A4D7-247BBE0C245B}"/>
              </c:ext>
            </c:extLst>
          </c:dPt>
          <c:dPt>
            <c:idx val="1298"/>
            <c:invertIfNegative val="0"/>
            <c:bubble3D val="0"/>
            <c:extLst>
              <c:ext xmlns:c16="http://schemas.microsoft.com/office/drawing/2014/chart" uri="{C3380CC4-5D6E-409C-BE32-E72D297353CC}">
                <c16:uniqueId val="{00000001-A532-4454-A4D7-247BBE0C245B}"/>
              </c:ext>
            </c:extLst>
          </c:dPt>
          <c:cat>
            <c:strRef>
              <c:f>'Page 6 Data'!$V$7:$V$10007</c:f>
              <c:strCache>
                <c:ptCount val="564"/>
                <c:pt idx="0">
                  <c:v>Jan-78</c:v>
                </c:pt>
                <c:pt idx="1">
                  <c:v>Feb-78</c:v>
                </c:pt>
                <c:pt idx="2">
                  <c:v>Mar-78</c:v>
                </c:pt>
                <c:pt idx="3">
                  <c:v>Apr-78</c:v>
                </c:pt>
                <c:pt idx="4">
                  <c:v>May-78</c:v>
                </c:pt>
                <c:pt idx="5">
                  <c:v>Jun-78</c:v>
                </c:pt>
                <c:pt idx="6">
                  <c:v>Jul-78</c:v>
                </c:pt>
                <c:pt idx="7">
                  <c:v>Aug-78</c:v>
                </c:pt>
                <c:pt idx="8">
                  <c:v>Sep-78</c:v>
                </c:pt>
                <c:pt idx="9">
                  <c:v>Oct-78</c:v>
                </c:pt>
                <c:pt idx="10">
                  <c:v>Nov-78</c:v>
                </c:pt>
                <c:pt idx="11">
                  <c:v>Dec-78</c:v>
                </c:pt>
                <c:pt idx="12">
                  <c:v>Jan-79</c:v>
                </c:pt>
                <c:pt idx="13">
                  <c:v>Feb-79</c:v>
                </c:pt>
                <c:pt idx="14">
                  <c:v>Mar-79</c:v>
                </c:pt>
                <c:pt idx="15">
                  <c:v>Apr-79</c:v>
                </c:pt>
                <c:pt idx="16">
                  <c:v>May-79</c:v>
                </c:pt>
                <c:pt idx="17">
                  <c:v>Jun-79</c:v>
                </c:pt>
                <c:pt idx="18">
                  <c:v>Jul-79</c:v>
                </c:pt>
                <c:pt idx="19">
                  <c:v>Aug-79</c:v>
                </c:pt>
                <c:pt idx="20">
                  <c:v>Sep-79</c:v>
                </c:pt>
                <c:pt idx="21">
                  <c:v>Oct-79</c:v>
                </c:pt>
                <c:pt idx="22">
                  <c:v>Nov-79</c:v>
                </c:pt>
                <c:pt idx="23">
                  <c:v>Dec-79</c:v>
                </c:pt>
                <c:pt idx="24">
                  <c:v>Jan-80</c:v>
                </c:pt>
                <c:pt idx="25">
                  <c:v>Feb-80</c:v>
                </c:pt>
                <c:pt idx="26">
                  <c:v>Mar-80</c:v>
                </c:pt>
                <c:pt idx="27">
                  <c:v>Apr-80</c:v>
                </c:pt>
                <c:pt idx="28">
                  <c:v>May-80</c:v>
                </c:pt>
                <c:pt idx="29">
                  <c:v>Jun-80</c:v>
                </c:pt>
                <c:pt idx="30">
                  <c:v>Jul-80</c:v>
                </c:pt>
                <c:pt idx="31">
                  <c:v>Aug-80</c:v>
                </c:pt>
                <c:pt idx="32">
                  <c:v>Sep-80</c:v>
                </c:pt>
                <c:pt idx="33">
                  <c:v>Oct-80</c:v>
                </c:pt>
                <c:pt idx="34">
                  <c:v>Nov-80</c:v>
                </c:pt>
                <c:pt idx="35">
                  <c:v>Dec-80</c:v>
                </c:pt>
                <c:pt idx="36">
                  <c:v>Jan-81</c:v>
                </c:pt>
                <c:pt idx="37">
                  <c:v>Feb-81</c:v>
                </c:pt>
                <c:pt idx="38">
                  <c:v>Mar-81</c:v>
                </c:pt>
                <c:pt idx="39">
                  <c:v>Apr-81</c:v>
                </c:pt>
                <c:pt idx="40">
                  <c:v>May-81</c:v>
                </c:pt>
                <c:pt idx="41">
                  <c:v>Jun-81</c:v>
                </c:pt>
                <c:pt idx="42">
                  <c:v>Jul-81</c:v>
                </c:pt>
                <c:pt idx="43">
                  <c:v>Aug-81</c:v>
                </c:pt>
                <c:pt idx="44">
                  <c:v>Sep-81</c:v>
                </c:pt>
                <c:pt idx="45">
                  <c:v>Oct-81</c:v>
                </c:pt>
                <c:pt idx="46">
                  <c:v>Nov-81</c:v>
                </c:pt>
                <c:pt idx="47">
                  <c:v>Dec-81</c:v>
                </c:pt>
                <c:pt idx="48">
                  <c:v>Jan-82</c:v>
                </c:pt>
                <c:pt idx="49">
                  <c:v>Feb-82</c:v>
                </c:pt>
                <c:pt idx="50">
                  <c:v>Mar-82</c:v>
                </c:pt>
                <c:pt idx="51">
                  <c:v>Apr-82</c:v>
                </c:pt>
                <c:pt idx="52">
                  <c:v>May-82</c:v>
                </c:pt>
                <c:pt idx="53">
                  <c:v>Jun-82</c:v>
                </c:pt>
                <c:pt idx="54">
                  <c:v>Jul-82</c:v>
                </c:pt>
                <c:pt idx="55">
                  <c:v>Aug-82</c:v>
                </c:pt>
                <c:pt idx="56">
                  <c:v>Sep-82</c:v>
                </c:pt>
                <c:pt idx="57">
                  <c:v>Oct-82</c:v>
                </c:pt>
                <c:pt idx="58">
                  <c:v>Nov-82</c:v>
                </c:pt>
                <c:pt idx="59">
                  <c:v>Dec-82</c:v>
                </c:pt>
                <c:pt idx="60">
                  <c:v>Jan-83</c:v>
                </c:pt>
                <c:pt idx="61">
                  <c:v>Feb-83</c:v>
                </c:pt>
                <c:pt idx="62">
                  <c:v>Mar-83</c:v>
                </c:pt>
                <c:pt idx="63">
                  <c:v>Apr-83</c:v>
                </c:pt>
                <c:pt idx="64">
                  <c:v>May-83</c:v>
                </c:pt>
                <c:pt idx="65">
                  <c:v>Jun-83</c:v>
                </c:pt>
                <c:pt idx="66">
                  <c:v>Jul-83</c:v>
                </c:pt>
                <c:pt idx="67">
                  <c:v>Aug-83</c:v>
                </c:pt>
                <c:pt idx="68">
                  <c:v>Sep-83</c:v>
                </c:pt>
                <c:pt idx="69">
                  <c:v>Oct-83</c:v>
                </c:pt>
                <c:pt idx="70">
                  <c:v>Nov-83</c:v>
                </c:pt>
                <c:pt idx="71">
                  <c:v>Dec-83</c:v>
                </c:pt>
                <c:pt idx="72">
                  <c:v>Jan-84</c:v>
                </c:pt>
                <c:pt idx="73">
                  <c:v>Feb-84</c:v>
                </c:pt>
                <c:pt idx="74">
                  <c:v>Mar-84</c:v>
                </c:pt>
                <c:pt idx="75">
                  <c:v>Apr-84</c:v>
                </c:pt>
                <c:pt idx="76">
                  <c:v>May-84</c:v>
                </c:pt>
                <c:pt idx="77">
                  <c:v>Jun-84</c:v>
                </c:pt>
                <c:pt idx="78">
                  <c:v>Jul-84</c:v>
                </c:pt>
                <c:pt idx="79">
                  <c:v>Aug-84</c:v>
                </c:pt>
                <c:pt idx="80">
                  <c:v>Sep-84</c:v>
                </c:pt>
                <c:pt idx="81">
                  <c:v>Oct-84</c:v>
                </c:pt>
                <c:pt idx="82">
                  <c:v>Nov-84</c:v>
                </c:pt>
                <c:pt idx="83">
                  <c:v>Dec-84</c:v>
                </c:pt>
                <c:pt idx="84">
                  <c:v>Jan-85</c:v>
                </c:pt>
                <c:pt idx="85">
                  <c:v>Feb-85</c:v>
                </c:pt>
                <c:pt idx="86">
                  <c:v>Mar-85</c:v>
                </c:pt>
                <c:pt idx="87">
                  <c:v>Apr-85</c:v>
                </c:pt>
                <c:pt idx="88">
                  <c:v>May-85</c:v>
                </c:pt>
                <c:pt idx="89">
                  <c:v>Jun-85</c:v>
                </c:pt>
                <c:pt idx="90">
                  <c:v>Jul-85</c:v>
                </c:pt>
                <c:pt idx="91">
                  <c:v>Aug-85</c:v>
                </c:pt>
                <c:pt idx="92">
                  <c:v>Sep-85</c:v>
                </c:pt>
                <c:pt idx="93">
                  <c:v>Oct-85</c:v>
                </c:pt>
                <c:pt idx="94">
                  <c:v>Nov-85</c:v>
                </c:pt>
                <c:pt idx="95">
                  <c:v>Dec-85</c:v>
                </c:pt>
                <c:pt idx="96">
                  <c:v>Jan-86</c:v>
                </c:pt>
                <c:pt idx="97">
                  <c:v>Feb-86</c:v>
                </c:pt>
                <c:pt idx="98">
                  <c:v>Mar-86</c:v>
                </c:pt>
                <c:pt idx="99">
                  <c:v>Apr-86</c:v>
                </c:pt>
                <c:pt idx="100">
                  <c:v>May-86</c:v>
                </c:pt>
                <c:pt idx="101">
                  <c:v>Jun-86</c:v>
                </c:pt>
                <c:pt idx="102">
                  <c:v>Jul-86</c:v>
                </c:pt>
                <c:pt idx="103">
                  <c:v>Aug-86</c:v>
                </c:pt>
                <c:pt idx="104">
                  <c:v>Sep-86</c:v>
                </c:pt>
                <c:pt idx="105">
                  <c:v>Oct-86</c:v>
                </c:pt>
                <c:pt idx="106">
                  <c:v>Nov-86</c:v>
                </c:pt>
                <c:pt idx="107">
                  <c:v>Dec-86</c:v>
                </c:pt>
                <c:pt idx="108">
                  <c:v>Jan-87</c:v>
                </c:pt>
                <c:pt idx="109">
                  <c:v>Feb-87</c:v>
                </c:pt>
                <c:pt idx="110">
                  <c:v>Mar-87</c:v>
                </c:pt>
                <c:pt idx="111">
                  <c:v>Apr-87</c:v>
                </c:pt>
                <c:pt idx="112">
                  <c:v>May-87</c:v>
                </c:pt>
                <c:pt idx="113">
                  <c:v>Jun-87</c:v>
                </c:pt>
                <c:pt idx="114">
                  <c:v>Jul-87</c:v>
                </c:pt>
                <c:pt idx="115">
                  <c:v>Aug-87</c:v>
                </c:pt>
                <c:pt idx="116">
                  <c:v>Sep-87</c:v>
                </c:pt>
                <c:pt idx="117">
                  <c:v>Oct-87</c:v>
                </c:pt>
                <c:pt idx="118">
                  <c:v>Nov-87</c:v>
                </c:pt>
                <c:pt idx="119">
                  <c:v>Dec-87</c:v>
                </c:pt>
                <c:pt idx="120">
                  <c:v>Jan-88</c:v>
                </c:pt>
                <c:pt idx="121">
                  <c:v>Feb-88</c:v>
                </c:pt>
                <c:pt idx="122">
                  <c:v>Mar-88</c:v>
                </c:pt>
                <c:pt idx="123">
                  <c:v>Apr-88</c:v>
                </c:pt>
                <c:pt idx="124">
                  <c:v>May-88</c:v>
                </c:pt>
                <c:pt idx="125">
                  <c:v>Jun-88</c:v>
                </c:pt>
                <c:pt idx="126">
                  <c:v>Jul-88</c:v>
                </c:pt>
                <c:pt idx="127">
                  <c:v>Aug-88</c:v>
                </c:pt>
                <c:pt idx="128">
                  <c:v>Sep-88</c:v>
                </c:pt>
                <c:pt idx="129">
                  <c:v>Oct-88</c:v>
                </c:pt>
                <c:pt idx="130">
                  <c:v>Nov-88</c:v>
                </c:pt>
                <c:pt idx="131">
                  <c:v>Dec-88</c:v>
                </c:pt>
                <c:pt idx="132">
                  <c:v>Jan-89</c:v>
                </c:pt>
                <c:pt idx="133">
                  <c:v>Feb-89</c:v>
                </c:pt>
                <c:pt idx="134">
                  <c:v>Mar-89</c:v>
                </c:pt>
                <c:pt idx="135">
                  <c:v>Apr-89</c:v>
                </c:pt>
                <c:pt idx="136">
                  <c:v>May-89</c:v>
                </c:pt>
                <c:pt idx="137">
                  <c:v>Jun-89</c:v>
                </c:pt>
                <c:pt idx="138">
                  <c:v>Jul-89</c:v>
                </c:pt>
                <c:pt idx="139">
                  <c:v>Aug-89</c:v>
                </c:pt>
                <c:pt idx="140">
                  <c:v>Sep-89</c:v>
                </c:pt>
                <c:pt idx="141">
                  <c:v>Oct-89</c:v>
                </c:pt>
                <c:pt idx="142">
                  <c:v>Nov-89</c:v>
                </c:pt>
                <c:pt idx="143">
                  <c:v>Dec-89</c:v>
                </c:pt>
                <c:pt idx="144">
                  <c:v>Jan-90</c:v>
                </c:pt>
                <c:pt idx="145">
                  <c:v>Feb-90</c:v>
                </c:pt>
                <c:pt idx="146">
                  <c:v>Mar-90</c:v>
                </c:pt>
                <c:pt idx="147">
                  <c:v>Apr-90</c:v>
                </c:pt>
                <c:pt idx="148">
                  <c:v>May-90</c:v>
                </c:pt>
                <c:pt idx="149">
                  <c:v>Jun-90</c:v>
                </c:pt>
                <c:pt idx="150">
                  <c:v>Jul-90</c:v>
                </c:pt>
                <c:pt idx="151">
                  <c:v>Aug-90</c:v>
                </c:pt>
                <c:pt idx="152">
                  <c:v>Sep-90</c:v>
                </c:pt>
                <c:pt idx="153">
                  <c:v>Oct-90</c:v>
                </c:pt>
                <c:pt idx="154">
                  <c:v>Nov-90</c:v>
                </c:pt>
                <c:pt idx="155">
                  <c:v>Dec-90</c:v>
                </c:pt>
                <c:pt idx="156">
                  <c:v>Jan-91</c:v>
                </c:pt>
                <c:pt idx="157">
                  <c:v>Feb-91</c:v>
                </c:pt>
                <c:pt idx="158">
                  <c:v>Mar-91</c:v>
                </c:pt>
                <c:pt idx="159">
                  <c:v>Apr-91</c:v>
                </c:pt>
                <c:pt idx="160">
                  <c:v>May-91</c:v>
                </c:pt>
                <c:pt idx="161">
                  <c:v>Jun-91</c:v>
                </c:pt>
                <c:pt idx="162">
                  <c:v>Jul-91</c:v>
                </c:pt>
                <c:pt idx="163">
                  <c:v>Aug-91</c:v>
                </c:pt>
                <c:pt idx="164">
                  <c:v>Sep-91</c:v>
                </c:pt>
                <c:pt idx="165">
                  <c:v>Oct-91</c:v>
                </c:pt>
                <c:pt idx="166">
                  <c:v>Nov-91</c:v>
                </c:pt>
                <c:pt idx="167">
                  <c:v>Dec-91</c:v>
                </c:pt>
                <c:pt idx="168">
                  <c:v>Jan-92</c:v>
                </c:pt>
                <c:pt idx="169">
                  <c:v>Feb-92</c:v>
                </c:pt>
                <c:pt idx="170">
                  <c:v>Mar-92</c:v>
                </c:pt>
                <c:pt idx="171">
                  <c:v>Apr-92</c:v>
                </c:pt>
                <c:pt idx="172">
                  <c:v>May-92</c:v>
                </c:pt>
                <c:pt idx="173">
                  <c:v>Jun-92</c:v>
                </c:pt>
                <c:pt idx="174">
                  <c:v>Jul-92</c:v>
                </c:pt>
                <c:pt idx="175">
                  <c:v>Aug-92</c:v>
                </c:pt>
                <c:pt idx="176">
                  <c:v>Sep-92</c:v>
                </c:pt>
                <c:pt idx="177">
                  <c:v>Oct-92</c:v>
                </c:pt>
                <c:pt idx="178">
                  <c:v>Nov-92</c:v>
                </c:pt>
                <c:pt idx="179">
                  <c:v>Dec-92</c:v>
                </c:pt>
                <c:pt idx="180">
                  <c:v>Jan-93</c:v>
                </c:pt>
                <c:pt idx="181">
                  <c:v>Feb-93</c:v>
                </c:pt>
                <c:pt idx="182">
                  <c:v>Mar-93</c:v>
                </c:pt>
                <c:pt idx="183">
                  <c:v>Apr-93</c:v>
                </c:pt>
                <c:pt idx="184">
                  <c:v>May-93</c:v>
                </c:pt>
                <c:pt idx="185">
                  <c:v>Jun-93</c:v>
                </c:pt>
                <c:pt idx="186">
                  <c:v>Jul-93</c:v>
                </c:pt>
                <c:pt idx="187">
                  <c:v>Aug-93</c:v>
                </c:pt>
                <c:pt idx="188">
                  <c:v>Sep-93</c:v>
                </c:pt>
                <c:pt idx="189">
                  <c:v>Oct-93</c:v>
                </c:pt>
                <c:pt idx="190">
                  <c:v>Nov-93</c:v>
                </c:pt>
                <c:pt idx="191">
                  <c:v>Dec-93</c:v>
                </c:pt>
                <c:pt idx="192">
                  <c:v>Jan-94</c:v>
                </c:pt>
                <c:pt idx="193">
                  <c:v>Feb-94</c:v>
                </c:pt>
                <c:pt idx="194">
                  <c:v>Mar-94</c:v>
                </c:pt>
                <c:pt idx="195">
                  <c:v>Apr-94</c:v>
                </c:pt>
                <c:pt idx="196">
                  <c:v>May-94</c:v>
                </c:pt>
                <c:pt idx="197">
                  <c:v>Jun-94</c:v>
                </c:pt>
                <c:pt idx="198">
                  <c:v>Jul-94</c:v>
                </c:pt>
                <c:pt idx="199">
                  <c:v>Aug-94</c:v>
                </c:pt>
                <c:pt idx="200">
                  <c:v>Sep-94</c:v>
                </c:pt>
                <c:pt idx="201">
                  <c:v>Oct-94</c:v>
                </c:pt>
                <c:pt idx="202">
                  <c:v>Nov-94</c:v>
                </c:pt>
                <c:pt idx="203">
                  <c:v>Dec-94</c:v>
                </c:pt>
                <c:pt idx="204">
                  <c:v>Jan-95</c:v>
                </c:pt>
                <c:pt idx="205">
                  <c:v>Feb-95</c:v>
                </c:pt>
                <c:pt idx="206">
                  <c:v>Mar-95</c:v>
                </c:pt>
                <c:pt idx="207">
                  <c:v>Apr-95</c:v>
                </c:pt>
                <c:pt idx="208">
                  <c:v>May-95</c:v>
                </c:pt>
                <c:pt idx="209">
                  <c:v>Jun-95</c:v>
                </c:pt>
                <c:pt idx="210">
                  <c:v>Jul-95</c:v>
                </c:pt>
                <c:pt idx="211">
                  <c:v>Aug-95</c:v>
                </c:pt>
                <c:pt idx="212">
                  <c:v>Sep-95</c:v>
                </c:pt>
                <c:pt idx="213">
                  <c:v>Oct-95</c:v>
                </c:pt>
                <c:pt idx="214">
                  <c:v>Nov-95</c:v>
                </c:pt>
                <c:pt idx="215">
                  <c:v>Dec-95</c:v>
                </c:pt>
                <c:pt idx="216">
                  <c:v>Jan-96</c:v>
                </c:pt>
                <c:pt idx="217">
                  <c:v>Feb-96</c:v>
                </c:pt>
                <c:pt idx="218">
                  <c:v>Mar-96</c:v>
                </c:pt>
                <c:pt idx="219">
                  <c:v>Apr-96</c:v>
                </c:pt>
                <c:pt idx="220">
                  <c:v>May-96</c:v>
                </c:pt>
                <c:pt idx="221">
                  <c:v>Jun-96</c:v>
                </c:pt>
                <c:pt idx="222">
                  <c:v>Jul-96</c:v>
                </c:pt>
                <c:pt idx="223">
                  <c:v>Aug-96</c:v>
                </c:pt>
                <c:pt idx="224">
                  <c:v>Sep-96</c:v>
                </c:pt>
                <c:pt idx="225">
                  <c:v>Oct-96</c:v>
                </c:pt>
                <c:pt idx="226">
                  <c:v>Nov-96</c:v>
                </c:pt>
                <c:pt idx="227">
                  <c:v>Dec-96</c:v>
                </c:pt>
                <c:pt idx="228">
                  <c:v>Jan-97</c:v>
                </c:pt>
                <c:pt idx="229">
                  <c:v>Feb-97</c:v>
                </c:pt>
                <c:pt idx="230">
                  <c:v>Mar-97</c:v>
                </c:pt>
                <c:pt idx="231">
                  <c:v>Apr-97</c:v>
                </c:pt>
                <c:pt idx="232">
                  <c:v>May-97</c:v>
                </c:pt>
                <c:pt idx="233">
                  <c:v>Jun-97</c:v>
                </c:pt>
                <c:pt idx="234">
                  <c:v>Jul-97</c:v>
                </c:pt>
                <c:pt idx="235">
                  <c:v>Aug-97</c:v>
                </c:pt>
                <c:pt idx="236">
                  <c:v>Sep-97</c:v>
                </c:pt>
                <c:pt idx="237">
                  <c:v>Oct-97</c:v>
                </c:pt>
                <c:pt idx="238">
                  <c:v>Nov-97</c:v>
                </c:pt>
                <c:pt idx="239">
                  <c:v>Dec-97</c:v>
                </c:pt>
                <c:pt idx="240">
                  <c:v>Jan-98</c:v>
                </c:pt>
                <c:pt idx="241">
                  <c:v>Feb-98</c:v>
                </c:pt>
                <c:pt idx="242">
                  <c:v>Mar-98</c:v>
                </c:pt>
                <c:pt idx="243">
                  <c:v>Apr-98</c:v>
                </c:pt>
                <c:pt idx="244">
                  <c:v>May-98</c:v>
                </c:pt>
                <c:pt idx="245">
                  <c:v>Jun-98</c:v>
                </c:pt>
                <c:pt idx="246">
                  <c:v>Jul-98</c:v>
                </c:pt>
                <c:pt idx="247">
                  <c:v>Aug-98</c:v>
                </c:pt>
                <c:pt idx="248">
                  <c:v>Sep-98</c:v>
                </c:pt>
                <c:pt idx="249">
                  <c:v>Oct-98</c:v>
                </c:pt>
                <c:pt idx="250">
                  <c:v>Nov-98</c:v>
                </c:pt>
                <c:pt idx="251">
                  <c:v>Dec-98</c:v>
                </c:pt>
                <c:pt idx="252">
                  <c:v>Jan-99</c:v>
                </c:pt>
                <c:pt idx="253">
                  <c:v>Feb-99</c:v>
                </c:pt>
                <c:pt idx="254">
                  <c:v>Mar-99</c:v>
                </c:pt>
                <c:pt idx="255">
                  <c:v>Apr-99</c:v>
                </c:pt>
                <c:pt idx="256">
                  <c:v>May-99</c:v>
                </c:pt>
                <c:pt idx="257">
                  <c:v>Jun-99</c:v>
                </c:pt>
                <c:pt idx="258">
                  <c:v>Jul-99</c:v>
                </c:pt>
                <c:pt idx="259">
                  <c:v>Aug-99</c:v>
                </c:pt>
                <c:pt idx="260">
                  <c:v>Sep-99</c:v>
                </c:pt>
                <c:pt idx="261">
                  <c:v>Oct-99</c:v>
                </c:pt>
                <c:pt idx="262">
                  <c:v>Nov-99</c:v>
                </c:pt>
                <c:pt idx="263">
                  <c:v>Dec-99</c:v>
                </c:pt>
                <c:pt idx="264">
                  <c:v>Jan-00</c:v>
                </c:pt>
                <c:pt idx="265">
                  <c:v>Feb-00</c:v>
                </c:pt>
                <c:pt idx="266">
                  <c:v>Mar-00</c:v>
                </c:pt>
                <c:pt idx="267">
                  <c:v>Apr-00</c:v>
                </c:pt>
                <c:pt idx="268">
                  <c:v>May-00</c:v>
                </c:pt>
                <c:pt idx="269">
                  <c:v>Jun-00</c:v>
                </c:pt>
                <c:pt idx="270">
                  <c:v>Jul-00</c:v>
                </c:pt>
                <c:pt idx="271">
                  <c:v>Aug-00</c:v>
                </c:pt>
                <c:pt idx="272">
                  <c:v>Sep-00</c:v>
                </c:pt>
                <c:pt idx="273">
                  <c:v>Oct-00</c:v>
                </c:pt>
                <c:pt idx="274">
                  <c:v>Nov-00</c:v>
                </c:pt>
                <c:pt idx="275">
                  <c:v>Dec-00</c:v>
                </c:pt>
                <c:pt idx="276">
                  <c:v>Jan-01</c:v>
                </c:pt>
                <c:pt idx="277">
                  <c:v>Feb-01</c:v>
                </c:pt>
                <c:pt idx="278">
                  <c:v>Mar-01</c:v>
                </c:pt>
                <c:pt idx="279">
                  <c:v>Apr-01</c:v>
                </c:pt>
                <c:pt idx="280">
                  <c:v>May-01</c:v>
                </c:pt>
                <c:pt idx="281">
                  <c:v>Jun-01</c:v>
                </c:pt>
                <c:pt idx="282">
                  <c:v>Jul-01</c:v>
                </c:pt>
                <c:pt idx="283">
                  <c:v>Aug-01</c:v>
                </c:pt>
                <c:pt idx="284">
                  <c:v>Sep-01</c:v>
                </c:pt>
                <c:pt idx="285">
                  <c:v>Oct-01</c:v>
                </c:pt>
                <c:pt idx="286">
                  <c:v>Nov-01</c:v>
                </c:pt>
                <c:pt idx="287">
                  <c:v>Dec-01</c:v>
                </c:pt>
                <c:pt idx="288">
                  <c:v>Jan-02</c:v>
                </c:pt>
                <c:pt idx="289">
                  <c:v>Feb-02</c:v>
                </c:pt>
                <c:pt idx="290">
                  <c:v>Mar-02</c:v>
                </c:pt>
                <c:pt idx="291">
                  <c:v>Apr-02</c:v>
                </c:pt>
                <c:pt idx="292">
                  <c:v>May-02</c:v>
                </c:pt>
                <c:pt idx="293">
                  <c:v>Jun-02</c:v>
                </c:pt>
                <c:pt idx="294">
                  <c:v>Jul-02</c:v>
                </c:pt>
                <c:pt idx="295">
                  <c:v>Aug-02</c:v>
                </c:pt>
                <c:pt idx="296">
                  <c:v>Sep-02</c:v>
                </c:pt>
                <c:pt idx="297">
                  <c:v>Oct-02</c:v>
                </c:pt>
                <c:pt idx="298">
                  <c:v>Nov-02</c:v>
                </c:pt>
                <c:pt idx="299">
                  <c:v>Dec-02</c:v>
                </c:pt>
                <c:pt idx="300">
                  <c:v>Jan-03</c:v>
                </c:pt>
                <c:pt idx="301">
                  <c:v>Feb-03</c:v>
                </c:pt>
                <c:pt idx="302">
                  <c:v>Mar-03</c:v>
                </c:pt>
                <c:pt idx="303">
                  <c:v>Apr-03</c:v>
                </c:pt>
                <c:pt idx="304">
                  <c:v>May-03</c:v>
                </c:pt>
                <c:pt idx="305">
                  <c:v>Jun-03</c:v>
                </c:pt>
                <c:pt idx="306">
                  <c:v>Jul-03</c:v>
                </c:pt>
                <c:pt idx="307">
                  <c:v>Aug-03</c:v>
                </c:pt>
                <c:pt idx="308">
                  <c:v>Sep-03</c:v>
                </c:pt>
                <c:pt idx="309">
                  <c:v>Oct-03</c:v>
                </c:pt>
                <c:pt idx="310">
                  <c:v>Nov-03</c:v>
                </c:pt>
                <c:pt idx="311">
                  <c:v>Dec-03</c:v>
                </c:pt>
                <c:pt idx="312">
                  <c:v>Jan-04</c:v>
                </c:pt>
                <c:pt idx="313">
                  <c:v>Feb-04</c:v>
                </c:pt>
                <c:pt idx="314">
                  <c:v>Mar-04</c:v>
                </c:pt>
                <c:pt idx="315">
                  <c:v>Apr-04</c:v>
                </c:pt>
                <c:pt idx="316">
                  <c:v>May-04</c:v>
                </c:pt>
                <c:pt idx="317">
                  <c:v>Jun-04</c:v>
                </c:pt>
                <c:pt idx="318">
                  <c:v>Jul-04</c:v>
                </c:pt>
                <c:pt idx="319">
                  <c:v>Aug-04</c:v>
                </c:pt>
                <c:pt idx="320">
                  <c:v>Sep-04</c:v>
                </c:pt>
                <c:pt idx="321">
                  <c:v>Oct-04</c:v>
                </c:pt>
                <c:pt idx="322">
                  <c:v>Nov-04</c:v>
                </c:pt>
                <c:pt idx="323">
                  <c:v>Dec-04</c:v>
                </c:pt>
                <c:pt idx="324">
                  <c:v>Jan-05</c:v>
                </c:pt>
                <c:pt idx="325">
                  <c:v>Feb-05</c:v>
                </c:pt>
                <c:pt idx="326">
                  <c:v>Mar-05</c:v>
                </c:pt>
                <c:pt idx="327">
                  <c:v>Apr-05</c:v>
                </c:pt>
                <c:pt idx="328">
                  <c:v>May-05</c:v>
                </c:pt>
                <c:pt idx="329">
                  <c:v>Jun-05</c:v>
                </c:pt>
                <c:pt idx="330">
                  <c:v>Jul-05</c:v>
                </c:pt>
                <c:pt idx="331">
                  <c:v>Aug-05</c:v>
                </c:pt>
                <c:pt idx="332">
                  <c:v>Sep-05</c:v>
                </c:pt>
                <c:pt idx="333">
                  <c:v>Oct-05</c:v>
                </c:pt>
                <c:pt idx="334">
                  <c:v>Nov-05</c:v>
                </c:pt>
                <c:pt idx="335">
                  <c:v>Dec-05</c:v>
                </c:pt>
                <c:pt idx="336">
                  <c:v>Jan-06</c:v>
                </c:pt>
                <c:pt idx="337">
                  <c:v>Feb-06</c:v>
                </c:pt>
                <c:pt idx="338">
                  <c:v>Mar-06</c:v>
                </c:pt>
                <c:pt idx="339">
                  <c:v>Apr-06</c:v>
                </c:pt>
                <c:pt idx="340">
                  <c:v>May-06</c:v>
                </c:pt>
                <c:pt idx="341">
                  <c:v>Jun-06</c:v>
                </c:pt>
                <c:pt idx="342">
                  <c:v>Jul-06</c:v>
                </c:pt>
                <c:pt idx="343">
                  <c:v>Aug-06</c:v>
                </c:pt>
                <c:pt idx="344">
                  <c:v>Sep-06</c:v>
                </c:pt>
                <c:pt idx="345">
                  <c:v>Oct-06</c:v>
                </c:pt>
                <c:pt idx="346">
                  <c:v>Nov-06</c:v>
                </c:pt>
                <c:pt idx="347">
                  <c:v>Dec-06</c:v>
                </c:pt>
                <c:pt idx="348">
                  <c:v>Jan-07</c:v>
                </c:pt>
                <c:pt idx="349">
                  <c:v>Feb-07</c:v>
                </c:pt>
                <c:pt idx="350">
                  <c:v>Mar-07</c:v>
                </c:pt>
                <c:pt idx="351">
                  <c:v>Apr-07</c:v>
                </c:pt>
                <c:pt idx="352">
                  <c:v>May-07</c:v>
                </c:pt>
                <c:pt idx="353">
                  <c:v>Jun-07</c:v>
                </c:pt>
                <c:pt idx="354">
                  <c:v>Jul-07</c:v>
                </c:pt>
                <c:pt idx="355">
                  <c:v>Aug-07</c:v>
                </c:pt>
                <c:pt idx="356">
                  <c:v>Sep-07</c:v>
                </c:pt>
                <c:pt idx="357">
                  <c:v>Oct-07</c:v>
                </c:pt>
                <c:pt idx="358">
                  <c:v>Nov-07</c:v>
                </c:pt>
                <c:pt idx="359">
                  <c:v>Dec-07</c:v>
                </c:pt>
                <c:pt idx="360">
                  <c:v>Jan-08</c:v>
                </c:pt>
                <c:pt idx="361">
                  <c:v>Feb-08</c:v>
                </c:pt>
                <c:pt idx="362">
                  <c:v>Mar-08</c:v>
                </c:pt>
                <c:pt idx="363">
                  <c:v>Apr-08</c:v>
                </c:pt>
                <c:pt idx="364">
                  <c:v>May-08</c:v>
                </c:pt>
                <c:pt idx="365">
                  <c:v>Jun-08</c:v>
                </c:pt>
                <c:pt idx="366">
                  <c:v>Jul-08</c:v>
                </c:pt>
                <c:pt idx="367">
                  <c:v>Aug-08</c:v>
                </c:pt>
                <c:pt idx="368">
                  <c:v>Sep-08</c:v>
                </c:pt>
                <c:pt idx="369">
                  <c:v>Oct-08</c:v>
                </c:pt>
                <c:pt idx="370">
                  <c:v>Nov-08</c:v>
                </c:pt>
                <c:pt idx="371">
                  <c:v>Dec-08</c:v>
                </c:pt>
                <c:pt idx="372">
                  <c:v>Jan-09</c:v>
                </c:pt>
                <c:pt idx="373">
                  <c:v>Feb-09</c:v>
                </c:pt>
                <c:pt idx="374">
                  <c:v>Mar-09</c:v>
                </c:pt>
                <c:pt idx="375">
                  <c:v>Apr-09</c:v>
                </c:pt>
                <c:pt idx="376">
                  <c:v>May-09</c:v>
                </c:pt>
                <c:pt idx="377">
                  <c:v>Jun-09</c:v>
                </c:pt>
                <c:pt idx="378">
                  <c:v>Jul-09</c:v>
                </c:pt>
                <c:pt idx="379">
                  <c:v>Aug-09</c:v>
                </c:pt>
                <c:pt idx="380">
                  <c:v>Sep-09</c:v>
                </c:pt>
                <c:pt idx="381">
                  <c:v>Oct-09</c:v>
                </c:pt>
                <c:pt idx="382">
                  <c:v>Nov-09</c:v>
                </c:pt>
                <c:pt idx="383">
                  <c:v>Dec-09</c:v>
                </c:pt>
                <c:pt idx="384">
                  <c:v>Jan-10</c:v>
                </c:pt>
                <c:pt idx="385">
                  <c:v>Feb-10</c:v>
                </c:pt>
                <c:pt idx="386">
                  <c:v>Mar-10</c:v>
                </c:pt>
                <c:pt idx="387">
                  <c:v>Apr-10</c:v>
                </c:pt>
                <c:pt idx="388">
                  <c:v>May-10</c:v>
                </c:pt>
                <c:pt idx="389">
                  <c:v>Jun-10</c:v>
                </c:pt>
                <c:pt idx="390">
                  <c:v>Jul-10</c:v>
                </c:pt>
                <c:pt idx="391">
                  <c:v>Aug-10</c:v>
                </c:pt>
                <c:pt idx="392">
                  <c:v>Sep-10</c:v>
                </c:pt>
                <c:pt idx="393">
                  <c:v>Oct-10</c:v>
                </c:pt>
                <c:pt idx="394">
                  <c:v>Nov-10</c:v>
                </c:pt>
                <c:pt idx="395">
                  <c:v>Dec-10</c:v>
                </c:pt>
                <c:pt idx="396">
                  <c:v>Jan-11</c:v>
                </c:pt>
                <c:pt idx="397">
                  <c:v>Feb-11</c:v>
                </c:pt>
                <c:pt idx="398">
                  <c:v>Mar-11</c:v>
                </c:pt>
                <c:pt idx="399">
                  <c:v>Apr-11</c:v>
                </c:pt>
                <c:pt idx="400">
                  <c:v>May-11</c:v>
                </c:pt>
                <c:pt idx="401">
                  <c:v>Jun-11</c:v>
                </c:pt>
                <c:pt idx="402">
                  <c:v>Jul-11</c:v>
                </c:pt>
                <c:pt idx="403">
                  <c:v>Aug-11</c:v>
                </c:pt>
                <c:pt idx="404">
                  <c:v>Sep-11</c:v>
                </c:pt>
                <c:pt idx="405">
                  <c:v>Oct-11</c:v>
                </c:pt>
                <c:pt idx="406">
                  <c:v>Nov-11</c:v>
                </c:pt>
                <c:pt idx="407">
                  <c:v>Dec-11</c:v>
                </c:pt>
                <c:pt idx="408">
                  <c:v>Jan-12</c:v>
                </c:pt>
                <c:pt idx="409">
                  <c:v>Feb-12</c:v>
                </c:pt>
                <c:pt idx="410">
                  <c:v>Mar-12</c:v>
                </c:pt>
                <c:pt idx="411">
                  <c:v>Apr-12</c:v>
                </c:pt>
                <c:pt idx="412">
                  <c:v>May-12</c:v>
                </c:pt>
                <c:pt idx="413">
                  <c:v>Jun-12</c:v>
                </c:pt>
                <c:pt idx="414">
                  <c:v>Jul-12</c:v>
                </c:pt>
                <c:pt idx="415">
                  <c:v>Aug-12</c:v>
                </c:pt>
                <c:pt idx="416">
                  <c:v>Sep-12</c:v>
                </c:pt>
                <c:pt idx="417">
                  <c:v>Oct-12</c:v>
                </c:pt>
                <c:pt idx="418">
                  <c:v>Nov-12</c:v>
                </c:pt>
                <c:pt idx="419">
                  <c:v>Dec-12</c:v>
                </c:pt>
                <c:pt idx="420">
                  <c:v>Jan-13</c:v>
                </c:pt>
                <c:pt idx="421">
                  <c:v>Feb-13</c:v>
                </c:pt>
                <c:pt idx="422">
                  <c:v>Mar-13</c:v>
                </c:pt>
                <c:pt idx="423">
                  <c:v>Apr-13</c:v>
                </c:pt>
                <c:pt idx="424">
                  <c:v>May-13</c:v>
                </c:pt>
                <c:pt idx="425">
                  <c:v>Jun-13</c:v>
                </c:pt>
                <c:pt idx="426">
                  <c:v>Jul-13</c:v>
                </c:pt>
                <c:pt idx="427">
                  <c:v>Aug-13</c:v>
                </c:pt>
                <c:pt idx="428">
                  <c:v>Sep-13</c:v>
                </c:pt>
                <c:pt idx="429">
                  <c:v>Oct-13</c:v>
                </c:pt>
                <c:pt idx="430">
                  <c:v>Nov-13</c:v>
                </c:pt>
                <c:pt idx="431">
                  <c:v>Dec-13</c:v>
                </c:pt>
                <c:pt idx="432">
                  <c:v>Jan-14</c:v>
                </c:pt>
                <c:pt idx="433">
                  <c:v>Feb-14</c:v>
                </c:pt>
                <c:pt idx="434">
                  <c:v>Mar-14</c:v>
                </c:pt>
                <c:pt idx="435">
                  <c:v>Apr-14</c:v>
                </c:pt>
                <c:pt idx="436">
                  <c:v>May-14</c:v>
                </c:pt>
                <c:pt idx="437">
                  <c:v>Jun-14</c:v>
                </c:pt>
                <c:pt idx="438">
                  <c:v>Jul-14</c:v>
                </c:pt>
                <c:pt idx="439">
                  <c:v>Aug-14</c:v>
                </c:pt>
                <c:pt idx="440">
                  <c:v>Sep-14</c:v>
                </c:pt>
                <c:pt idx="441">
                  <c:v>Oct-14</c:v>
                </c:pt>
                <c:pt idx="442">
                  <c:v>Nov-14</c:v>
                </c:pt>
                <c:pt idx="443">
                  <c:v>Dec-14</c:v>
                </c:pt>
                <c:pt idx="444">
                  <c:v>Jan-15</c:v>
                </c:pt>
                <c:pt idx="445">
                  <c:v>Feb-15</c:v>
                </c:pt>
                <c:pt idx="446">
                  <c:v>Mar-15</c:v>
                </c:pt>
                <c:pt idx="447">
                  <c:v>Apr-15</c:v>
                </c:pt>
                <c:pt idx="448">
                  <c:v>May-15</c:v>
                </c:pt>
                <c:pt idx="449">
                  <c:v>Jun-15</c:v>
                </c:pt>
                <c:pt idx="450">
                  <c:v>Jul-15</c:v>
                </c:pt>
                <c:pt idx="451">
                  <c:v>Aug-15</c:v>
                </c:pt>
                <c:pt idx="452">
                  <c:v>Sep-15</c:v>
                </c:pt>
                <c:pt idx="453">
                  <c:v>Oct-15</c:v>
                </c:pt>
                <c:pt idx="454">
                  <c:v>Nov-15</c:v>
                </c:pt>
                <c:pt idx="455">
                  <c:v>Dec-15</c:v>
                </c:pt>
                <c:pt idx="456">
                  <c:v>Jan-16</c:v>
                </c:pt>
                <c:pt idx="457">
                  <c:v>Feb-16</c:v>
                </c:pt>
                <c:pt idx="458">
                  <c:v>Mar-16</c:v>
                </c:pt>
                <c:pt idx="459">
                  <c:v>Apr-16</c:v>
                </c:pt>
                <c:pt idx="460">
                  <c:v>May-16</c:v>
                </c:pt>
                <c:pt idx="461">
                  <c:v>Jun-16</c:v>
                </c:pt>
                <c:pt idx="462">
                  <c:v>Jul-16</c:v>
                </c:pt>
                <c:pt idx="463">
                  <c:v>Aug-16</c:v>
                </c:pt>
                <c:pt idx="464">
                  <c:v>Sep-16</c:v>
                </c:pt>
                <c:pt idx="465">
                  <c:v>Oct-16</c:v>
                </c:pt>
                <c:pt idx="466">
                  <c:v>Nov-16</c:v>
                </c:pt>
                <c:pt idx="467">
                  <c:v>Dec-16</c:v>
                </c:pt>
                <c:pt idx="468">
                  <c:v>Jan-17</c:v>
                </c:pt>
                <c:pt idx="469">
                  <c:v>Feb-17</c:v>
                </c:pt>
                <c:pt idx="470">
                  <c:v>Mar-17</c:v>
                </c:pt>
                <c:pt idx="471">
                  <c:v>Apr-17</c:v>
                </c:pt>
                <c:pt idx="472">
                  <c:v>May-17</c:v>
                </c:pt>
                <c:pt idx="473">
                  <c:v>Jun-17</c:v>
                </c:pt>
                <c:pt idx="474">
                  <c:v>Jul-17</c:v>
                </c:pt>
                <c:pt idx="475">
                  <c:v>Aug-17</c:v>
                </c:pt>
                <c:pt idx="476">
                  <c:v>Sep-17</c:v>
                </c:pt>
                <c:pt idx="477">
                  <c:v>Oct-17</c:v>
                </c:pt>
                <c:pt idx="478">
                  <c:v>Nov-17</c:v>
                </c:pt>
                <c:pt idx="479">
                  <c:v>Dec-17</c:v>
                </c:pt>
                <c:pt idx="480">
                  <c:v>Jan-18</c:v>
                </c:pt>
                <c:pt idx="481">
                  <c:v>Feb-18</c:v>
                </c:pt>
                <c:pt idx="482">
                  <c:v>Mar-18</c:v>
                </c:pt>
                <c:pt idx="483">
                  <c:v>Apr-18</c:v>
                </c:pt>
                <c:pt idx="484">
                  <c:v>May-18</c:v>
                </c:pt>
                <c:pt idx="485">
                  <c:v>Jun-18</c:v>
                </c:pt>
                <c:pt idx="486">
                  <c:v>Jul-18</c:v>
                </c:pt>
                <c:pt idx="487">
                  <c:v>Aug-18</c:v>
                </c:pt>
                <c:pt idx="488">
                  <c:v>Sep-18</c:v>
                </c:pt>
                <c:pt idx="489">
                  <c:v>Oct-18</c:v>
                </c:pt>
                <c:pt idx="490">
                  <c:v>Nov-18</c:v>
                </c:pt>
                <c:pt idx="491">
                  <c:v>Dec-18</c:v>
                </c:pt>
                <c:pt idx="492">
                  <c:v>Jan-19</c:v>
                </c:pt>
                <c:pt idx="493">
                  <c:v>Feb-19</c:v>
                </c:pt>
                <c:pt idx="494">
                  <c:v>Mar-19</c:v>
                </c:pt>
                <c:pt idx="495">
                  <c:v>Apr-19</c:v>
                </c:pt>
                <c:pt idx="496">
                  <c:v>May-19</c:v>
                </c:pt>
                <c:pt idx="497">
                  <c:v>Jun-19</c:v>
                </c:pt>
                <c:pt idx="498">
                  <c:v>Jul-19</c:v>
                </c:pt>
                <c:pt idx="499">
                  <c:v>Aug-19</c:v>
                </c:pt>
                <c:pt idx="500">
                  <c:v>Sep-19</c:v>
                </c:pt>
                <c:pt idx="501">
                  <c:v>Oct-19</c:v>
                </c:pt>
                <c:pt idx="502">
                  <c:v>Nov-19</c:v>
                </c:pt>
                <c:pt idx="503">
                  <c:v>Dec-19</c:v>
                </c:pt>
                <c:pt idx="504">
                  <c:v>Jan-20</c:v>
                </c:pt>
                <c:pt idx="505">
                  <c:v>Feb-20</c:v>
                </c:pt>
                <c:pt idx="506">
                  <c:v>Mar-20</c:v>
                </c:pt>
                <c:pt idx="507">
                  <c:v>Apr-20</c:v>
                </c:pt>
                <c:pt idx="508">
                  <c:v>May-20</c:v>
                </c:pt>
                <c:pt idx="509">
                  <c:v>Jun-20</c:v>
                </c:pt>
                <c:pt idx="510">
                  <c:v>Jul-20</c:v>
                </c:pt>
                <c:pt idx="511">
                  <c:v>Aug-20</c:v>
                </c:pt>
                <c:pt idx="512">
                  <c:v>Sep-20</c:v>
                </c:pt>
                <c:pt idx="513">
                  <c:v>Oct-20</c:v>
                </c:pt>
                <c:pt idx="514">
                  <c:v>Nov-20</c:v>
                </c:pt>
                <c:pt idx="515">
                  <c:v>Dec-20</c:v>
                </c:pt>
                <c:pt idx="516">
                  <c:v>Jan-21</c:v>
                </c:pt>
                <c:pt idx="517">
                  <c:v>Feb-21</c:v>
                </c:pt>
                <c:pt idx="518">
                  <c:v>Mar-21</c:v>
                </c:pt>
                <c:pt idx="519">
                  <c:v>Apr-21</c:v>
                </c:pt>
                <c:pt idx="520">
                  <c:v>May-21</c:v>
                </c:pt>
                <c:pt idx="521">
                  <c:v>Jun-21</c:v>
                </c:pt>
                <c:pt idx="522">
                  <c:v>Jul-21</c:v>
                </c:pt>
                <c:pt idx="523">
                  <c:v>Aug-21</c:v>
                </c:pt>
                <c:pt idx="524">
                  <c:v>Sep-21</c:v>
                </c:pt>
                <c:pt idx="525">
                  <c:v>Oct-21</c:v>
                </c:pt>
                <c:pt idx="526">
                  <c:v>Nov-21</c:v>
                </c:pt>
                <c:pt idx="527">
                  <c:v>Dec-21</c:v>
                </c:pt>
                <c:pt idx="528">
                  <c:v>Jan-22</c:v>
                </c:pt>
                <c:pt idx="529">
                  <c:v>Feb-22</c:v>
                </c:pt>
                <c:pt idx="530">
                  <c:v>Mar-22</c:v>
                </c:pt>
                <c:pt idx="531">
                  <c:v>Apr-22</c:v>
                </c:pt>
                <c:pt idx="532">
                  <c:v>May-22</c:v>
                </c:pt>
                <c:pt idx="533">
                  <c:v>Jun-22</c:v>
                </c:pt>
                <c:pt idx="534">
                  <c:v>Jul-22</c:v>
                </c:pt>
                <c:pt idx="535">
                  <c:v>Aug-22</c:v>
                </c:pt>
                <c:pt idx="536">
                  <c:v>Sep-22</c:v>
                </c:pt>
                <c:pt idx="537">
                  <c:v>Oct-22</c:v>
                </c:pt>
                <c:pt idx="538">
                  <c:v>Nov-22</c:v>
                </c:pt>
                <c:pt idx="539">
                  <c:v>Dec-22</c:v>
                </c:pt>
                <c:pt idx="540">
                  <c:v>Jan-23</c:v>
                </c:pt>
                <c:pt idx="541">
                  <c:v>Feb-23</c:v>
                </c:pt>
                <c:pt idx="542">
                  <c:v>Mar-23</c:v>
                </c:pt>
                <c:pt idx="543">
                  <c:v>Apr-23</c:v>
                </c:pt>
                <c:pt idx="544">
                  <c:v>May-23</c:v>
                </c:pt>
                <c:pt idx="545">
                  <c:v>Jun-23</c:v>
                </c:pt>
                <c:pt idx="546">
                  <c:v>Jul-23</c:v>
                </c:pt>
                <c:pt idx="547">
                  <c:v>Aug-23</c:v>
                </c:pt>
                <c:pt idx="548">
                  <c:v>Sep-23</c:v>
                </c:pt>
                <c:pt idx="549">
                  <c:v>Oct-23</c:v>
                </c:pt>
                <c:pt idx="550">
                  <c:v>Nov-23</c:v>
                </c:pt>
                <c:pt idx="551">
                  <c:v>Dec-23</c:v>
                </c:pt>
                <c:pt idx="552">
                  <c:v>Jan-24</c:v>
                </c:pt>
                <c:pt idx="553">
                  <c:v>Feb-24</c:v>
                </c:pt>
                <c:pt idx="554">
                  <c:v>Mar-24</c:v>
                </c:pt>
                <c:pt idx="555">
                  <c:v>Apr-24</c:v>
                </c:pt>
                <c:pt idx="556">
                  <c:v>May-24</c:v>
                </c:pt>
                <c:pt idx="557">
                  <c:v>Jun-24</c:v>
                </c:pt>
                <c:pt idx="558">
                  <c:v>Jul-24</c:v>
                </c:pt>
                <c:pt idx="559">
                  <c:v>Aug-24</c:v>
                </c:pt>
                <c:pt idx="560">
                  <c:v>Sep-24</c:v>
                </c:pt>
                <c:pt idx="561">
                  <c:v>Oct-24</c:v>
                </c:pt>
                <c:pt idx="562">
                  <c:v>Nov-24</c:v>
                </c:pt>
                <c:pt idx="563">
                  <c:v>Dec-24</c:v>
                </c:pt>
              </c:strCache>
            </c:strRef>
          </c:cat>
          <c:val>
            <c:numRef>
              <c:f>'Page 6 Data'!$W$7:$W$10007</c:f>
              <c:numCache>
                <c:formatCode>General</c:formatCode>
                <c:ptCount val="100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0.36</c:v>
                </c:pt>
                <c:pt idx="25">
                  <c:v>0.36</c:v>
                </c:pt>
                <c:pt idx="26">
                  <c:v>0.36</c:v>
                </c:pt>
                <c:pt idx="27">
                  <c:v>0.36</c:v>
                </c:pt>
                <c:pt idx="28">
                  <c:v>0.36</c:v>
                </c:pt>
                <c:pt idx="29">
                  <c:v>0.36</c:v>
                </c:pt>
                <c:pt idx="30">
                  <c:v>0.36</c:v>
                </c:pt>
                <c:pt idx="31">
                  <c:v>0</c:v>
                </c:pt>
                <c:pt idx="32">
                  <c:v>0</c:v>
                </c:pt>
                <c:pt idx="33">
                  <c:v>0</c:v>
                </c:pt>
                <c:pt idx="34">
                  <c:v>0</c:v>
                </c:pt>
                <c:pt idx="35">
                  <c:v>0</c:v>
                </c:pt>
                <c:pt idx="36">
                  <c:v>0</c:v>
                </c:pt>
                <c:pt idx="37">
                  <c:v>0</c:v>
                </c:pt>
                <c:pt idx="38">
                  <c:v>0</c:v>
                </c:pt>
                <c:pt idx="39">
                  <c:v>0</c:v>
                </c:pt>
                <c:pt idx="40">
                  <c:v>0</c:v>
                </c:pt>
                <c:pt idx="41">
                  <c:v>0</c:v>
                </c:pt>
                <c:pt idx="42">
                  <c:v>0.36</c:v>
                </c:pt>
                <c:pt idx="43">
                  <c:v>0.36</c:v>
                </c:pt>
                <c:pt idx="44">
                  <c:v>0.36</c:v>
                </c:pt>
                <c:pt idx="45">
                  <c:v>0.36</c:v>
                </c:pt>
                <c:pt idx="46">
                  <c:v>0.36</c:v>
                </c:pt>
                <c:pt idx="47">
                  <c:v>0.36</c:v>
                </c:pt>
                <c:pt idx="48">
                  <c:v>0.36</c:v>
                </c:pt>
                <c:pt idx="49">
                  <c:v>0.36</c:v>
                </c:pt>
                <c:pt idx="50">
                  <c:v>0.36</c:v>
                </c:pt>
                <c:pt idx="51">
                  <c:v>0.36</c:v>
                </c:pt>
                <c:pt idx="52">
                  <c:v>0.36</c:v>
                </c:pt>
                <c:pt idx="53">
                  <c:v>0.36</c:v>
                </c:pt>
                <c:pt idx="54">
                  <c:v>0.36</c:v>
                </c:pt>
                <c:pt idx="55">
                  <c:v>0.36</c:v>
                </c:pt>
                <c:pt idx="56">
                  <c:v>0.36</c:v>
                </c:pt>
                <c:pt idx="57">
                  <c:v>0.36</c:v>
                </c:pt>
                <c:pt idx="58">
                  <c:v>0.36</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0.36</c:v>
                </c:pt>
                <c:pt idx="151">
                  <c:v>0.36</c:v>
                </c:pt>
                <c:pt idx="152">
                  <c:v>0.36</c:v>
                </c:pt>
                <c:pt idx="153">
                  <c:v>0.36</c:v>
                </c:pt>
                <c:pt idx="154">
                  <c:v>0.36</c:v>
                </c:pt>
                <c:pt idx="155">
                  <c:v>0.36</c:v>
                </c:pt>
                <c:pt idx="156">
                  <c:v>0.36</c:v>
                </c:pt>
                <c:pt idx="157">
                  <c:v>0.36</c:v>
                </c:pt>
                <c:pt idx="158">
                  <c:v>0.36</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0.36</c:v>
                </c:pt>
                <c:pt idx="279">
                  <c:v>0.36</c:v>
                </c:pt>
                <c:pt idx="280">
                  <c:v>0.36</c:v>
                </c:pt>
                <c:pt idx="281">
                  <c:v>0.36</c:v>
                </c:pt>
                <c:pt idx="282">
                  <c:v>0.36</c:v>
                </c:pt>
                <c:pt idx="283">
                  <c:v>0.36</c:v>
                </c:pt>
                <c:pt idx="284">
                  <c:v>0.36</c:v>
                </c:pt>
                <c:pt idx="285">
                  <c:v>0.36</c:v>
                </c:pt>
                <c:pt idx="286">
                  <c:v>0.36</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0.36</c:v>
                </c:pt>
                <c:pt idx="360">
                  <c:v>0.36</c:v>
                </c:pt>
                <c:pt idx="361">
                  <c:v>0.36</c:v>
                </c:pt>
                <c:pt idx="362">
                  <c:v>0.36</c:v>
                </c:pt>
                <c:pt idx="363">
                  <c:v>0.36</c:v>
                </c:pt>
                <c:pt idx="364">
                  <c:v>0.36</c:v>
                </c:pt>
                <c:pt idx="365">
                  <c:v>0.36</c:v>
                </c:pt>
                <c:pt idx="366">
                  <c:v>0.36</c:v>
                </c:pt>
                <c:pt idx="367">
                  <c:v>0.36</c:v>
                </c:pt>
                <c:pt idx="368">
                  <c:v>0.36</c:v>
                </c:pt>
                <c:pt idx="369">
                  <c:v>0.36</c:v>
                </c:pt>
                <c:pt idx="370">
                  <c:v>0.36</c:v>
                </c:pt>
                <c:pt idx="371">
                  <c:v>0.36</c:v>
                </c:pt>
                <c:pt idx="372">
                  <c:v>0.36</c:v>
                </c:pt>
                <c:pt idx="373">
                  <c:v>0.36</c:v>
                </c:pt>
                <c:pt idx="374">
                  <c:v>0.36</c:v>
                </c:pt>
                <c:pt idx="375">
                  <c:v>0.36</c:v>
                </c:pt>
                <c:pt idx="376">
                  <c:v>0.36</c:v>
                </c:pt>
                <c:pt idx="377">
                  <c:v>0.36</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0.36</c:v>
                </c:pt>
                <c:pt idx="506">
                  <c:v>0.36</c:v>
                </c:pt>
                <c:pt idx="507">
                  <c:v>0.36</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pt idx="4980">
                  <c:v>#N/A</c:v>
                </c:pt>
                <c:pt idx="4981">
                  <c:v>#N/A</c:v>
                </c:pt>
                <c:pt idx="4982">
                  <c:v>#N/A</c:v>
                </c:pt>
                <c:pt idx="4983">
                  <c:v>#N/A</c:v>
                </c:pt>
                <c:pt idx="4984">
                  <c:v>#N/A</c:v>
                </c:pt>
                <c:pt idx="4985">
                  <c:v>#N/A</c:v>
                </c:pt>
                <c:pt idx="4986">
                  <c:v>#N/A</c:v>
                </c:pt>
                <c:pt idx="4987">
                  <c:v>#N/A</c:v>
                </c:pt>
                <c:pt idx="4988">
                  <c:v>#N/A</c:v>
                </c:pt>
                <c:pt idx="4989">
                  <c:v>#N/A</c:v>
                </c:pt>
                <c:pt idx="4990">
                  <c:v>#N/A</c:v>
                </c:pt>
                <c:pt idx="4991">
                  <c:v>#N/A</c:v>
                </c:pt>
                <c:pt idx="4992">
                  <c:v>#N/A</c:v>
                </c:pt>
                <c:pt idx="4993">
                  <c:v>#N/A</c:v>
                </c:pt>
                <c:pt idx="4994">
                  <c:v>#N/A</c:v>
                </c:pt>
                <c:pt idx="4995">
                  <c:v>#N/A</c:v>
                </c:pt>
                <c:pt idx="4996">
                  <c:v>#N/A</c:v>
                </c:pt>
                <c:pt idx="4997">
                  <c:v>#N/A</c:v>
                </c:pt>
                <c:pt idx="4998">
                  <c:v>#N/A</c:v>
                </c:pt>
                <c:pt idx="4999">
                  <c:v>#N/A</c:v>
                </c:pt>
                <c:pt idx="5000">
                  <c:v>#N/A</c:v>
                </c:pt>
                <c:pt idx="5001">
                  <c:v>#N/A</c:v>
                </c:pt>
                <c:pt idx="5002">
                  <c:v>#N/A</c:v>
                </c:pt>
                <c:pt idx="5003">
                  <c:v>#N/A</c:v>
                </c:pt>
                <c:pt idx="5004">
                  <c:v>#N/A</c:v>
                </c:pt>
                <c:pt idx="5005">
                  <c:v>#N/A</c:v>
                </c:pt>
                <c:pt idx="5006">
                  <c:v>#N/A</c:v>
                </c:pt>
                <c:pt idx="5007">
                  <c:v>#N/A</c:v>
                </c:pt>
                <c:pt idx="5008">
                  <c:v>#N/A</c:v>
                </c:pt>
                <c:pt idx="5009">
                  <c:v>#N/A</c:v>
                </c:pt>
                <c:pt idx="5010">
                  <c:v>#N/A</c:v>
                </c:pt>
                <c:pt idx="5011">
                  <c:v>#N/A</c:v>
                </c:pt>
                <c:pt idx="5012">
                  <c:v>#N/A</c:v>
                </c:pt>
                <c:pt idx="5013">
                  <c:v>#N/A</c:v>
                </c:pt>
                <c:pt idx="5014">
                  <c:v>#N/A</c:v>
                </c:pt>
                <c:pt idx="5015">
                  <c:v>#N/A</c:v>
                </c:pt>
                <c:pt idx="5016">
                  <c:v>#N/A</c:v>
                </c:pt>
                <c:pt idx="5017">
                  <c:v>#N/A</c:v>
                </c:pt>
                <c:pt idx="5018">
                  <c:v>#N/A</c:v>
                </c:pt>
                <c:pt idx="5019">
                  <c:v>#N/A</c:v>
                </c:pt>
                <c:pt idx="5020">
                  <c:v>#N/A</c:v>
                </c:pt>
                <c:pt idx="5021">
                  <c:v>#N/A</c:v>
                </c:pt>
                <c:pt idx="5022">
                  <c:v>#N/A</c:v>
                </c:pt>
                <c:pt idx="5023">
                  <c:v>#N/A</c:v>
                </c:pt>
                <c:pt idx="5024">
                  <c:v>#N/A</c:v>
                </c:pt>
                <c:pt idx="5025">
                  <c:v>#N/A</c:v>
                </c:pt>
                <c:pt idx="5026">
                  <c:v>#N/A</c:v>
                </c:pt>
                <c:pt idx="5027">
                  <c:v>#N/A</c:v>
                </c:pt>
                <c:pt idx="5028">
                  <c:v>#N/A</c:v>
                </c:pt>
                <c:pt idx="5029">
                  <c:v>#N/A</c:v>
                </c:pt>
                <c:pt idx="5030">
                  <c:v>#N/A</c:v>
                </c:pt>
                <c:pt idx="5031">
                  <c:v>#N/A</c:v>
                </c:pt>
                <c:pt idx="5032">
                  <c:v>#N/A</c:v>
                </c:pt>
                <c:pt idx="5033">
                  <c:v>#N/A</c:v>
                </c:pt>
                <c:pt idx="5034">
                  <c:v>#N/A</c:v>
                </c:pt>
                <c:pt idx="5035">
                  <c:v>#N/A</c:v>
                </c:pt>
                <c:pt idx="5036">
                  <c:v>#N/A</c:v>
                </c:pt>
                <c:pt idx="5037">
                  <c:v>#N/A</c:v>
                </c:pt>
                <c:pt idx="5038">
                  <c:v>#N/A</c:v>
                </c:pt>
                <c:pt idx="5039">
                  <c:v>#N/A</c:v>
                </c:pt>
                <c:pt idx="5040">
                  <c:v>#N/A</c:v>
                </c:pt>
                <c:pt idx="5041">
                  <c:v>#N/A</c:v>
                </c:pt>
                <c:pt idx="5042">
                  <c:v>#N/A</c:v>
                </c:pt>
                <c:pt idx="5043">
                  <c:v>#N/A</c:v>
                </c:pt>
                <c:pt idx="5044">
                  <c:v>#N/A</c:v>
                </c:pt>
                <c:pt idx="5045">
                  <c:v>#N/A</c:v>
                </c:pt>
                <c:pt idx="5046">
                  <c:v>#N/A</c:v>
                </c:pt>
                <c:pt idx="5047">
                  <c:v>#N/A</c:v>
                </c:pt>
                <c:pt idx="5048">
                  <c:v>#N/A</c:v>
                </c:pt>
                <c:pt idx="5049">
                  <c:v>#N/A</c:v>
                </c:pt>
                <c:pt idx="5050">
                  <c:v>#N/A</c:v>
                </c:pt>
                <c:pt idx="5051">
                  <c:v>#N/A</c:v>
                </c:pt>
                <c:pt idx="5052">
                  <c:v>#N/A</c:v>
                </c:pt>
                <c:pt idx="5053">
                  <c:v>#N/A</c:v>
                </c:pt>
                <c:pt idx="5054">
                  <c:v>#N/A</c:v>
                </c:pt>
                <c:pt idx="5055">
                  <c:v>#N/A</c:v>
                </c:pt>
                <c:pt idx="5056">
                  <c:v>#N/A</c:v>
                </c:pt>
                <c:pt idx="5057">
                  <c:v>#N/A</c:v>
                </c:pt>
                <c:pt idx="5058">
                  <c:v>#N/A</c:v>
                </c:pt>
                <c:pt idx="5059">
                  <c:v>#N/A</c:v>
                </c:pt>
                <c:pt idx="5060">
                  <c:v>#N/A</c:v>
                </c:pt>
                <c:pt idx="5061">
                  <c:v>#N/A</c:v>
                </c:pt>
                <c:pt idx="5062">
                  <c:v>#N/A</c:v>
                </c:pt>
                <c:pt idx="5063">
                  <c:v>#N/A</c:v>
                </c:pt>
                <c:pt idx="5064">
                  <c:v>#N/A</c:v>
                </c:pt>
                <c:pt idx="5065">
                  <c:v>#N/A</c:v>
                </c:pt>
                <c:pt idx="5066">
                  <c:v>#N/A</c:v>
                </c:pt>
                <c:pt idx="5067">
                  <c:v>#N/A</c:v>
                </c:pt>
                <c:pt idx="5068">
                  <c:v>#N/A</c:v>
                </c:pt>
                <c:pt idx="5069">
                  <c:v>#N/A</c:v>
                </c:pt>
                <c:pt idx="5070">
                  <c:v>#N/A</c:v>
                </c:pt>
                <c:pt idx="5071">
                  <c:v>#N/A</c:v>
                </c:pt>
                <c:pt idx="5072">
                  <c:v>#N/A</c:v>
                </c:pt>
                <c:pt idx="5073">
                  <c:v>#N/A</c:v>
                </c:pt>
                <c:pt idx="5074">
                  <c:v>#N/A</c:v>
                </c:pt>
                <c:pt idx="5075">
                  <c:v>#N/A</c:v>
                </c:pt>
                <c:pt idx="5076">
                  <c:v>#N/A</c:v>
                </c:pt>
                <c:pt idx="5077">
                  <c:v>#N/A</c:v>
                </c:pt>
                <c:pt idx="5078">
                  <c:v>#N/A</c:v>
                </c:pt>
                <c:pt idx="5079">
                  <c:v>#N/A</c:v>
                </c:pt>
                <c:pt idx="5080">
                  <c:v>#N/A</c:v>
                </c:pt>
                <c:pt idx="5081">
                  <c:v>#N/A</c:v>
                </c:pt>
                <c:pt idx="5082">
                  <c:v>#N/A</c:v>
                </c:pt>
                <c:pt idx="5083">
                  <c:v>#N/A</c:v>
                </c:pt>
                <c:pt idx="5084">
                  <c:v>#N/A</c:v>
                </c:pt>
                <c:pt idx="5085">
                  <c:v>#N/A</c:v>
                </c:pt>
                <c:pt idx="5086">
                  <c:v>#N/A</c:v>
                </c:pt>
                <c:pt idx="5087">
                  <c:v>#N/A</c:v>
                </c:pt>
                <c:pt idx="5088">
                  <c:v>#N/A</c:v>
                </c:pt>
                <c:pt idx="5089">
                  <c:v>#N/A</c:v>
                </c:pt>
                <c:pt idx="5090">
                  <c:v>#N/A</c:v>
                </c:pt>
                <c:pt idx="5091">
                  <c:v>#N/A</c:v>
                </c:pt>
                <c:pt idx="5092">
                  <c:v>#N/A</c:v>
                </c:pt>
                <c:pt idx="5093">
                  <c:v>#N/A</c:v>
                </c:pt>
                <c:pt idx="5094">
                  <c:v>#N/A</c:v>
                </c:pt>
                <c:pt idx="5095">
                  <c:v>#N/A</c:v>
                </c:pt>
                <c:pt idx="5096">
                  <c:v>#N/A</c:v>
                </c:pt>
                <c:pt idx="5097">
                  <c:v>#N/A</c:v>
                </c:pt>
                <c:pt idx="5098">
                  <c:v>#N/A</c:v>
                </c:pt>
                <c:pt idx="5099">
                  <c:v>#N/A</c:v>
                </c:pt>
                <c:pt idx="5100">
                  <c:v>#N/A</c:v>
                </c:pt>
                <c:pt idx="5101">
                  <c:v>#N/A</c:v>
                </c:pt>
                <c:pt idx="5102">
                  <c:v>#N/A</c:v>
                </c:pt>
                <c:pt idx="5103">
                  <c:v>#N/A</c:v>
                </c:pt>
                <c:pt idx="5104">
                  <c:v>#N/A</c:v>
                </c:pt>
                <c:pt idx="5105">
                  <c:v>#N/A</c:v>
                </c:pt>
                <c:pt idx="5106">
                  <c:v>#N/A</c:v>
                </c:pt>
                <c:pt idx="5107">
                  <c:v>#N/A</c:v>
                </c:pt>
                <c:pt idx="5108">
                  <c:v>#N/A</c:v>
                </c:pt>
                <c:pt idx="5109">
                  <c:v>#N/A</c:v>
                </c:pt>
                <c:pt idx="5110">
                  <c:v>#N/A</c:v>
                </c:pt>
                <c:pt idx="5111">
                  <c:v>#N/A</c:v>
                </c:pt>
                <c:pt idx="5112">
                  <c:v>#N/A</c:v>
                </c:pt>
                <c:pt idx="5113">
                  <c:v>#N/A</c:v>
                </c:pt>
                <c:pt idx="5114">
                  <c:v>#N/A</c:v>
                </c:pt>
                <c:pt idx="5115">
                  <c:v>#N/A</c:v>
                </c:pt>
                <c:pt idx="5116">
                  <c:v>#N/A</c:v>
                </c:pt>
                <c:pt idx="5117">
                  <c:v>#N/A</c:v>
                </c:pt>
                <c:pt idx="5118">
                  <c:v>#N/A</c:v>
                </c:pt>
                <c:pt idx="5119">
                  <c:v>#N/A</c:v>
                </c:pt>
                <c:pt idx="5120">
                  <c:v>#N/A</c:v>
                </c:pt>
                <c:pt idx="5121">
                  <c:v>#N/A</c:v>
                </c:pt>
                <c:pt idx="5122">
                  <c:v>#N/A</c:v>
                </c:pt>
                <c:pt idx="5123">
                  <c:v>#N/A</c:v>
                </c:pt>
                <c:pt idx="5124">
                  <c:v>#N/A</c:v>
                </c:pt>
                <c:pt idx="5125">
                  <c:v>#N/A</c:v>
                </c:pt>
                <c:pt idx="5126">
                  <c:v>#N/A</c:v>
                </c:pt>
                <c:pt idx="5127">
                  <c:v>#N/A</c:v>
                </c:pt>
                <c:pt idx="5128">
                  <c:v>#N/A</c:v>
                </c:pt>
                <c:pt idx="5129">
                  <c:v>#N/A</c:v>
                </c:pt>
                <c:pt idx="5130">
                  <c:v>#N/A</c:v>
                </c:pt>
                <c:pt idx="5131">
                  <c:v>#N/A</c:v>
                </c:pt>
                <c:pt idx="5132">
                  <c:v>#N/A</c:v>
                </c:pt>
                <c:pt idx="5133">
                  <c:v>#N/A</c:v>
                </c:pt>
                <c:pt idx="5134">
                  <c:v>#N/A</c:v>
                </c:pt>
                <c:pt idx="5135">
                  <c:v>#N/A</c:v>
                </c:pt>
                <c:pt idx="5136">
                  <c:v>#N/A</c:v>
                </c:pt>
                <c:pt idx="5137">
                  <c:v>#N/A</c:v>
                </c:pt>
                <c:pt idx="5138">
                  <c:v>#N/A</c:v>
                </c:pt>
                <c:pt idx="5139">
                  <c:v>#N/A</c:v>
                </c:pt>
                <c:pt idx="5140">
                  <c:v>#N/A</c:v>
                </c:pt>
                <c:pt idx="5141">
                  <c:v>#N/A</c:v>
                </c:pt>
                <c:pt idx="5142">
                  <c:v>#N/A</c:v>
                </c:pt>
                <c:pt idx="5143">
                  <c:v>#N/A</c:v>
                </c:pt>
                <c:pt idx="5144">
                  <c:v>#N/A</c:v>
                </c:pt>
                <c:pt idx="5145">
                  <c:v>#N/A</c:v>
                </c:pt>
                <c:pt idx="5146">
                  <c:v>#N/A</c:v>
                </c:pt>
                <c:pt idx="5147">
                  <c:v>#N/A</c:v>
                </c:pt>
                <c:pt idx="5148">
                  <c:v>#N/A</c:v>
                </c:pt>
                <c:pt idx="5149">
                  <c:v>#N/A</c:v>
                </c:pt>
                <c:pt idx="5150">
                  <c:v>#N/A</c:v>
                </c:pt>
                <c:pt idx="5151">
                  <c:v>#N/A</c:v>
                </c:pt>
                <c:pt idx="5152">
                  <c:v>#N/A</c:v>
                </c:pt>
                <c:pt idx="5153">
                  <c:v>#N/A</c:v>
                </c:pt>
                <c:pt idx="5154">
                  <c:v>#N/A</c:v>
                </c:pt>
                <c:pt idx="5155">
                  <c:v>#N/A</c:v>
                </c:pt>
                <c:pt idx="5156">
                  <c:v>#N/A</c:v>
                </c:pt>
                <c:pt idx="5157">
                  <c:v>#N/A</c:v>
                </c:pt>
                <c:pt idx="5158">
                  <c:v>#N/A</c:v>
                </c:pt>
                <c:pt idx="5159">
                  <c:v>#N/A</c:v>
                </c:pt>
                <c:pt idx="5160">
                  <c:v>#N/A</c:v>
                </c:pt>
                <c:pt idx="5161">
                  <c:v>#N/A</c:v>
                </c:pt>
                <c:pt idx="5162">
                  <c:v>#N/A</c:v>
                </c:pt>
                <c:pt idx="5163">
                  <c:v>#N/A</c:v>
                </c:pt>
                <c:pt idx="5164">
                  <c:v>#N/A</c:v>
                </c:pt>
                <c:pt idx="5165">
                  <c:v>#N/A</c:v>
                </c:pt>
                <c:pt idx="5166">
                  <c:v>#N/A</c:v>
                </c:pt>
                <c:pt idx="5167">
                  <c:v>#N/A</c:v>
                </c:pt>
                <c:pt idx="5168">
                  <c:v>#N/A</c:v>
                </c:pt>
                <c:pt idx="5169">
                  <c:v>#N/A</c:v>
                </c:pt>
                <c:pt idx="5170">
                  <c:v>#N/A</c:v>
                </c:pt>
                <c:pt idx="5171">
                  <c:v>#N/A</c:v>
                </c:pt>
                <c:pt idx="5172">
                  <c:v>#N/A</c:v>
                </c:pt>
                <c:pt idx="5173">
                  <c:v>#N/A</c:v>
                </c:pt>
                <c:pt idx="5174">
                  <c:v>#N/A</c:v>
                </c:pt>
                <c:pt idx="5175">
                  <c:v>#N/A</c:v>
                </c:pt>
                <c:pt idx="5176">
                  <c:v>#N/A</c:v>
                </c:pt>
                <c:pt idx="5177">
                  <c:v>#N/A</c:v>
                </c:pt>
                <c:pt idx="5178">
                  <c:v>#N/A</c:v>
                </c:pt>
                <c:pt idx="5179">
                  <c:v>#N/A</c:v>
                </c:pt>
                <c:pt idx="5180">
                  <c:v>#N/A</c:v>
                </c:pt>
                <c:pt idx="5181">
                  <c:v>#N/A</c:v>
                </c:pt>
                <c:pt idx="5182">
                  <c:v>#N/A</c:v>
                </c:pt>
                <c:pt idx="5183">
                  <c:v>#N/A</c:v>
                </c:pt>
                <c:pt idx="5184">
                  <c:v>#N/A</c:v>
                </c:pt>
                <c:pt idx="5185">
                  <c:v>#N/A</c:v>
                </c:pt>
                <c:pt idx="5186">
                  <c:v>#N/A</c:v>
                </c:pt>
                <c:pt idx="5187">
                  <c:v>#N/A</c:v>
                </c:pt>
                <c:pt idx="5188">
                  <c:v>#N/A</c:v>
                </c:pt>
                <c:pt idx="5189">
                  <c:v>#N/A</c:v>
                </c:pt>
                <c:pt idx="5190">
                  <c:v>#N/A</c:v>
                </c:pt>
                <c:pt idx="5191">
                  <c:v>#N/A</c:v>
                </c:pt>
                <c:pt idx="5192">
                  <c:v>#N/A</c:v>
                </c:pt>
                <c:pt idx="5193">
                  <c:v>#N/A</c:v>
                </c:pt>
                <c:pt idx="5194">
                  <c:v>#N/A</c:v>
                </c:pt>
                <c:pt idx="5195">
                  <c:v>#N/A</c:v>
                </c:pt>
                <c:pt idx="5196">
                  <c:v>#N/A</c:v>
                </c:pt>
                <c:pt idx="5197">
                  <c:v>#N/A</c:v>
                </c:pt>
                <c:pt idx="5198">
                  <c:v>#N/A</c:v>
                </c:pt>
                <c:pt idx="5199">
                  <c:v>#N/A</c:v>
                </c:pt>
                <c:pt idx="5200">
                  <c:v>#N/A</c:v>
                </c:pt>
                <c:pt idx="5201">
                  <c:v>#N/A</c:v>
                </c:pt>
                <c:pt idx="5202">
                  <c:v>#N/A</c:v>
                </c:pt>
                <c:pt idx="5203">
                  <c:v>#N/A</c:v>
                </c:pt>
                <c:pt idx="5204">
                  <c:v>#N/A</c:v>
                </c:pt>
                <c:pt idx="5205">
                  <c:v>#N/A</c:v>
                </c:pt>
                <c:pt idx="5206">
                  <c:v>#N/A</c:v>
                </c:pt>
                <c:pt idx="5207">
                  <c:v>#N/A</c:v>
                </c:pt>
                <c:pt idx="5208">
                  <c:v>#N/A</c:v>
                </c:pt>
                <c:pt idx="5209">
                  <c:v>#N/A</c:v>
                </c:pt>
                <c:pt idx="5210">
                  <c:v>#N/A</c:v>
                </c:pt>
                <c:pt idx="5211">
                  <c:v>#N/A</c:v>
                </c:pt>
                <c:pt idx="5212">
                  <c:v>#N/A</c:v>
                </c:pt>
                <c:pt idx="5213">
                  <c:v>#N/A</c:v>
                </c:pt>
                <c:pt idx="5214">
                  <c:v>#N/A</c:v>
                </c:pt>
                <c:pt idx="5215">
                  <c:v>#N/A</c:v>
                </c:pt>
                <c:pt idx="5216">
                  <c:v>#N/A</c:v>
                </c:pt>
                <c:pt idx="5217">
                  <c:v>#N/A</c:v>
                </c:pt>
                <c:pt idx="5218">
                  <c:v>#N/A</c:v>
                </c:pt>
                <c:pt idx="5219">
                  <c:v>#N/A</c:v>
                </c:pt>
                <c:pt idx="5220">
                  <c:v>#N/A</c:v>
                </c:pt>
                <c:pt idx="5221">
                  <c:v>#N/A</c:v>
                </c:pt>
                <c:pt idx="5222">
                  <c:v>#N/A</c:v>
                </c:pt>
                <c:pt idx="5223">
                  <c:v>#N/A</c:v>
                </c:pt>
                <c:pt idx="5224">
                  <c:v>#N/A</c:v>
                </c:pt>
                <c:pt idx="5225">
                  <c:v>#N/A</c:v>
                </c:pt>
                <c:pt idx="5226">
                  <c:v>#N/A</c:v>
                </c:pt>
                <c:pt idx="5227">
                  <c:v>#N/A</c:v>
                </c:pt>
                <c:pt idx="5228">
                  <c:v>#N/A</c:v>
                </c:pt>
                <c:pt idx="5229">
                  <c:v>#N/A</c:v>
                </c:pt>
                <c:pt idx="5230">
                  <c:v>#N/A</c:v>
                </c:pt>
                <c:pt idx="5231">
                  <c:v>#N/A</c:v>
                </c:pt>
                <c:pt idx="5232">
                  <c:v>#N/A</c:v>
                </c:pt>
                <c:pt idx="5233">
                  <c:v>#N/A</c:v>
                </c:pt>
                <c:pt idx="5234">
                  <c:v>#N/A</c:v>
                </c:pt>
                <c:pt idx="5235">
                  <c:v>#N/A</c:v>
                </c:pt>
                <c:pt idx="5236">
                  <c:v>#N/A</c:v>
                </c:pt>
                <c:pt idx="5237">
                  <c:v>#N/A</c:v>
                </c:pt>
                <c:pt idx="5238">
                  <c:v>#N/A</c:v>
                </c:pt>
                <c:pt idx="5239">
                  <c:v>#N/A</c:v>
                </c:pt>
                <c:pt idx="5240">
                  <c:v>#N/A</c:v>
                </c:pt>
                <c:pt idx="5241">
                  <c:v>#N/A</c:v>
                </c:pt>
                <c:pt idx="5242">
                  <c:v>#N/A</c:v>
                </c:pt>
                <c:pt idx="5243">
                  <c:v>#N/A</c:v>
                </c:pt>
                <c:pt idx="5244">
                  <c:v>#N/A</c:v>
                </c:pt>
                <c:pt idx="5245">
                  <c:v>#N/A</c:v>
                </c:pt>
                <c:pt idx="5246">
                  <c:v>#N/A</c:v>
                </c:pt>
                <c:pt idx="5247">
                  <c:v>#N/A</c:v>
                </c:pt>
                <c:pt idx="5248">
                  <c:v>#N/A</c:v>
                </c:pt>
                <c:pt idx="5249">
                  <c:v>#N/A</c:v>
                </c:pt>
                <c:pt idx="5250">
                  <c:v>#N/A</c:v>
                </c:pt>
                <c:pt idx="5251">
                  <c:v>#N/A</c:v>
                </c:pt>
                <c:pt idx="5252">
                  <c:v>#N/A</c:v>
                </c:pt>
                <c:pt idx="5253">
                  <c:v>#N/A</c:v>
                </c:pt>
                <c:pt idx="5254">
                  <c:v>#N/A</c:v>
                </c:pt>
                <c:pt idx="5255">
                  <c:v>#N/A</c:v>
                </c:pt>
                <c:pt idx="5256">
                  <c:v>#N/A</c:v>
                </c:pt>
                <c:pt idx="5257">
                  <c:v>#N/A</c:v>
                </c:pt>
                <c:pt idx="5258">
                  <c:v>#N/A</c:v>
                </c:pt>
                <c:pt idx="5259">
                  <c:v>#N/A</c:v>
                </c:pt>
                <c:pt idx="5260">
                  <c:v>#N/A</c:v>
                </c:pt>
                <c:pt idx="5261">
                  <c:v>#N/A</c:v>
                </c:pt>
                <c:pt idx="5262">
                  <c:v>#N/A</c:v>
                </c:pt>
                <c:pt idx="5263">
                  <c:v>#N/A</c:v>
                </c:pt>
                <c:pt idx="5264">
                  <c:v>#N/A</c:v>
                </c:pt>
                <c:pt idx="5265">
                  <c:v>#N/A</c:v>
                </c:pt>
                <c:pt idx="5266">
                  <c:v>#N/A</c:v>
                </c:pt>
                <c:pt idx="5267">
                  <c:v>#N/A</c:v>
                </c:pt>
                <c:pt idx="5268">
                  <c:v>#N/A</c:v>
                </c:pt>
                <c:pt idx="5269">
                  <c:v>#N/A</c:v>
                </c:pt>
                <c:pt idx="5270">
                  <c:v>#N/A</c:v>
                </c:pt>
                <c:pt idx="5271">
                  <c:v>#N/A</c:v>
                </c:pt>
                <c:pt idx="5272">
                  <c:v>#N/A</c:v>
                </c:pt>
                <c:pt idx="5273">
                  <c:v>#N/A</c:v>
                </c:pt>
                <c:pt idx="5274">
                  <c:v>#N/A</c:v>
                </c:pt>
                <c:pt idx="5275">
                  <c:v>#N/A</c:v>
                </c:pt>
                <c:pt idx="5276">
                  <c:v>#N/A</c:v>
                </c:pt>
                <c:pt idx="5277">
                  <c:v>#N/A</c:v>
                </c:pt>
                <c:pt idx="5278">
                  <c:v>#N/A</c:v>
                </c:pt>
                <c:pt idx="5279">
                  <c:v>#N/A</c:v>
                </c:pt>
                <c:pt idx="5280">
                  <c:v>#N/A</c:v>
                </c:pt>
                <c:pt idx="5281">
                  <c:v>#N/A</c:v>
                </c:pt>
                <c:pt idx="5282">
                  <c:v>#N/A</c:v>
                </c:pt>
                <c:pt idx="5283">
                  <c:v>#N/A</c:v>
                </c:pt>
                <c:pt idx="5284">
                  <c:v>#N/A</c:v>
                </c:pt>
                <c:pt idx="5285">
                  <c:v>#N/A</c:v>
                </c:pt>
                <c:pt idx="5286">
                  <c:v>#N/A</c:v>
                </c:pt>
                <c:pt idx="5287">
                  <c:v>#N/A</c:v>
                </c:pt>
                <c:pt idx="5288">
                  <c:v>#N/A</c:v>
                </c:pt>
                <c:pt idx="5289">
                  <c:v>#N/A</c:v>
                </c:pt>
                <c:pt idx="5290">
                  <c:v>#N/A</c:v>
                </c:pt>
                <c:pt idx="5291">
                  <c:v>#N/A</c:v>
                </c:pt>
                <c:pt idx="5292">
                  <c:v>#N/A</c:v>
                </c:pt>
                <c:pt idx="5293">
                  <c:v>#N/A</c:v>
                </c:pt>
                <c:pt idx="5294">
                  <c:v>#N/A</c:v>
                </c:pt>
                <c:pt idx="5295">
                  <c:v>#N/A</c:v>
                </c:pt>
                <c:pt idx="5296">
                  <c:v>#N/A</c:v>
                </c:pt>
                <c:pt idx="5297">
                  <c:v>#N/A</c:v>
                </c:pt>
                <c:pt idx="5298">
                  <c:v>#N/A</c:v>
                </c:pt>
                <c:pt idx="5299">
                  <c:v>#N/A</c:v>
                </c:pt>
                <c:pt idx="5300">
                  <c:v>#N/A</c:v>
                </c:pt>
                <c:pt idx="5301">
                  <c:v>#N/A</c:v>
                </c:pt>
                <c:pt idx="5302">
                  <c:v>#N/A</c:v>
                </c:pt>
                <c:pt idx="5303">
                  <c:v>#N/A</c:v>
                </c:pt>
                <c:pt idx="5304">
                  <c:v>#N/A</c:v>
                </c:pt>
                <c:pt idx="5305">
                  <c:v>#N/A</c:v>
                </c:pt>
                <c:pt idx="5306">
                  <c:v>#N/A</c:v>
                </c:pt>
                <c:pt idx="5307">
                  <c:v>#N/A</c:v>
                </c:pt>
                <c:pt idx="5308">
                  <c:v>#N/A</c:v>
                </c:pt>
                <c:pt idx="5309">
                  <c:v>#N/A</c:v>
                </c:pt>
                <c:pt idx="5310">
                  <c:v>#N/A</c:v>
                </c:pt>
                <c:pt idx="5311">
                  <c:v>#N/A</c:v>
                </c:pt>
                <c:pt idx="5312">
                  <c:v>#N/A</c:v>
                </c:pt>
                <c:pt idx="5313">
                  <c:v>#N/A</c:v>
                </c:pt>
                <c:pt idx="5314">
                  <c:v>#N/A</c:v>
                </c:pt>
                <c:pt idx="5315">
                  <c:v>#N/A</c:v>
                </c:pt>
                <c:pt idx="5316">
                  <c:v>#N/A</c:v>
                </c:pt>
                <c:pt idx="5317">
                  <c:v>#N/A</c:v>
                </c:pt>
                <c:pt idx="5318">
                  <c:v>#N/A</c:v>
                </c:pt>
                <c:pt idx="5319">
                  <c:v>#N/A</c:v>
                </c:pt>
                <c:pt idx="5320">
                  <c:v>#N/A</c:v>
                </c:pt>
                <c:pt idx="5321">
                  <c:v>#N/A</c:v>
                </c:pt>
                <c:pt idx="5322">
                  <c:v>#N/A</c:v>
                </c:pt>
                <c:pt idx="5323">
                  <c:v>#N/A</c:v>
                </c:pt>
                <c:pt idx="5324">
                  <c:v>#N/A</c:v>
                </c:pt>
                <c:pt idx="5325">
                  <c:v>#N/A</c:v>
                </c:pt>
                <c:pt idx="5326">
                  <c:v>#N/A</c:v>
                </c:pt>
                <c:pt idx="5327">
                  <c:v>#N/A</c:v>
                </c:pt>
                <c:pt idx="5328">
                  <c:v>#N/A</c:v>
                </c:pt>
                <c:pt idx="5329">
                  <c:v>#N/A</c:v>
                </c:pt>
                <c:pt idx="5330">
                  <c:v>#N/A</c:v>
                </c:pt>
                <c:pt idx="5331">
                  <c:v>#N/A</c:v>
                </c:pt>
                <c:pt idx="5332">
                  <c:v>#N/A</c:v>
                </c:pt>
                <c:pt idx="5333">
                  <c:v>#N/A</c:v>
                </c:pt>
                <c:pt idx="5334">
                  <c:v>#N/A</c:v>
                </c:pt>
                <c:pt idx="5335">
                  <c:v>#N/A</c:v>
                </c:pt>
                <c:pt idx="5336">
                  <c:v>#N/A</c:v>
                </c:pt>
                <c:pt idx="5337">
                  <c:v>#N/A</c:v>
                </c:pt>
                <c:pt idx="5338">
                  <c:v>#N/A</c:v>
                </c:pt>
                <c:pt idx="5339">
                  <c:v>#N/A</c:v>
                </c:pt>
                <c:pt idx="5340">
                  <c:v>#N/A</c:v>
                </c:pt>
                <c:pt idx="5341">
                  <c:v>#N/A</c:v>
                </c:pt>
                <c:pt idx="5342">
                  <c:v>#N/A</c:v>
                </c:pt>
                <c:pt idx="5343">
                  <c:v>#N/A</c:v>
                </c:pt>
                <c:pt idx="5344">
                  <c:v>#N/A</c:v>
                </c:pt>
                <c:pt idx="5345">
                  <c:v>#N/A</c:v>
                </c:pt>
                <c:pt idx="5346">
                  <c:v>#N/A</c:v>
                </c:pt>
                <c:pt idx="5347">
                  <c:v>#N/A</c:v>
                </c:pt>
                <c:pt idx="5348">
                  <c:v>#N/A</c:v>
                </c:pt>
                <c:pt idx="5349">
                  <c:v>#N/A</c:v>
                </c:pt>
                <c:pt idx="5350">
                  <c:v>#N/A</c:v>
                </c:pt>
                <c:pt idx="5351">
                  <c:v>#N/A</c:v>
                </c:pt>
                <c:pt idx="5352">
                  <c:v>#N/A</c:v>
                </c:pt>
                <c:pt idx="5353">
                  <c:v>#N/A</c:v>
                </c:pt>
                <c:pt idx="5354">
                  <c:v>#N/A</c:v>
                </c:pt>
                <c:pt idx="5355">
                  <c:v>#N/A</c:v>
                </c:pt>
                <c:pt idx="5356">
                  <c:v>#N/A</c:v>
                </c:pt>
                <c:pt idx="5357">
                  <c:v>#N/A</c:v>
                </c:pt>
                <c:pt idx="5358">
                  <c:v>#N/A</c:v>
                </c:pt>
                <c:pt idx="5359">
                  <c:v>#N/A</c:v>
                </c:pt>
                <c:pt idx="5360">
                  <c:v>#N/A</c:v>
                </c:pt>
                <c:pt idx="5361">
                  <c:v>#N/A</c:v>
                </c:pt>
                <c:pt idx="5362">
                  <c:v>#N/A</c:v>
                </c:pt>
                <c:pt idx="5363">
                  <c:v>#N/A</c:v>
                </c:pt>
                <c:pt idx="5364">
                  <c:v>#N/A</c:v>
                </c:pt>
                <c:pt idx="5365">
                  <c:v>#N/A</c:v>
                </c:pt>
                <c:pt idx="5366">
                  <c:v>#N/A</c:v>
                </c:pt>
                <c:pt idx="5367">
                  <c:v>#N/A</c:v>
                </c:pt>
                <c:pt idx="5368">
                  <c:v>#N/A</c:v>
                </c:pt>
                <c:pt idx="5369">
                  <c:v>#N/A</c:v>
                </c:pt>
                <c:pt idx="5370">
                  <c:v>#N/A</c:v>
                </c:pt>
                <c:pt idx="5371">
                  <c:v>#N/A</c:v>
                </c:pt>
                <c:pt idx="5372">
                  <c:v>#N/A</c:v>
                </c:pt>
                <c:pt idx="5373">
                  <c:v>#N/A</c:v>
                </c:pt>
                <c:pt idx="5374">
                  <c:v>#N/A</c:v>
                </c:pt>
                <c:pt idx="5375">
                  <c:v>#N/A</c:v>
                </c:pt>
                <c:pt idx="5376">
                  <c:v>#N/A</c:v>
                </c:pt>
                <c:pt idx="5377">
                  <c:v>#N/A</c:v>
                </c:pt>
                <c:pt idx="5378">
                  <c:v>#N/A</c:v>
                </c:pt>
                <c:pt idx="5379">
                  <c:v>#N/A</c:v>
                </c:pt>
                <c:pt idx="5380">
                  <c:v>#N/A</c:v>
                </c:pt>
                <c:pt idx="5381">
                  <c:v>#N/A</c:v>
                </c:pt>
                <c:pt idx="5382">
                  <c:v>#N/A</c:v>
                </c:pt>
                <c:pt idx="5383">
                  <c:v>#N/A</c:v>
                </c:pt>
                <c:pt idx="5384">
                  <c:v>#N/A</c:v>
                </c:pt>
                <c:pt idx="5385">
                  <c:v>#N/A</c:v>
                </c:pt>
                <c:pt idx="5386">
                  <c:v>#N/A</c:v>
                </c:pt>
                <c:pt idx="5387">
                  <c:v>#N/A</c:v>
                </c:pt>
                <c:pt idx="5388">
                  <c:v>#N/A</c:v>
                </c:pt>
                <c:pt idx="5389">
                  <c:v>#N/A</c:v>
                </c:pt>
                <c:pt idx="5390">
                  <c:v>#N/A</c:v>
                </c:pt>
                <c:pt idx="5391">
                  <c:v>#N/A</c:v>
                </c:pt>
                <c:pt idx="5392">
                  <c:v>#N/A</c:v>
                </c:pt>
                <c:pt idx="5393">
                  <c:v>#N/A</c:v>
                </c:pt>
                <c:pt idx="5394">
                  <c:v>#N/A</c:v>
                </c:pt>
                <c:pt idx="5395">
                  <c:v>#N/A</c:v>
                </c:pt>
                <c:pt idx="5396">
                  <c:v>#N/A</c:v>
                </c:pt>
                <c:pt idx="5397">
                  <c:v>#N/A</c:v>
                </c:pt>
                <c:pt idx="5398">
                  <c:v>#N/A</c:v>
                </c:pt>
                <c:pt idx="5399">
                  <c:v>#N/A</c:v>
                </c:pt>
                <c:pt idx="5400">
                  <c:v>#N/A</c:v>
                </c:pt>
                <c:pt idx="5401">
                  <c:v>#N/A</c:v>
                </c:pt>
                <c:pt idx="5402">
                  <c:v>#N/A</c:v>
                </c:pt>
                <c:pt idx="5403">
                  <c:v>#N/A</c:v>
                </c:pt>
                <c:pt idx="5404">
                  <c:v>#N/A</c:v>
                </c:pt>
                <c:pt idx="5405">
                  <c:v>#N/A</c:v>
                </c:pt>
                <c:pt idx="5406">
                  <c:v>#N/A</c:v>
                </c:pt>
                <c:pt idx="5407">
                  <c:v>#N/A</c:v>
                </c:pt>
                <c:pt idx="5408">
                  <c:v>#N/A</c:v>
                </c:pt>
                <c:pt idx="5409">
                  <c:v>#N/A</c:v>
                </c:pt>
                <c:pt idx="5410">
                  <c:v>#N/A</c:v>
                </c:pt>
                <c:pt idx="5411">
                  <c:v>#N/A</c:v>
                </c:pt>
                <c:pt idx="5412">
                  <c:v>#N/A</c:v>
                </c:pt>
                <c:pt idx="5413">
                  <c:v>#N/A</c:v>
                </c:pt>
                <c:pt idx="5414">
                  <c:v>#N/A</c:v>
                </c:pt>
                <c:pt idx="5415">
                  <c:v>#N/A</c:v>
                </c:pt>
                <c:pt idx="5416">
                  <c:v>#N/A</c:v>
                </c:pt>
                <c:pt idx="5417">
                  <c:v>#N/A</c:v>
                </c:pt>
                <c:pt idx="5418">
                  <c:v>#N/A</c:v>
                </c:pt>
                <c:pt idx="5419">
                  <c:v>#N/A</c:v>
                </c:pt>
                <c:pt idx="5420">
                  <c:v>#N/A</c:v>
                </c:pt>
                <c:pt idx="5421">
                  <c:v>#N/A</c:v>
                </c:pt>
                <c:pt idx="5422">
                  <c:v>#N/A</c:v>
                </c:pt>
                <c:pt idx="5423">
                  <c:v>#N/A</c:v>
                </c:pt>
                <c:pt idx="5424">
                  <c:v>#N/A</c:v>
                </c:pt>
                <c:pt idx="5425">
                  <c:v>#N/A</c:v>
                </c:pt>
                <c:pt idx="5426">
                  <c:v>#N/A</c:v>
                </c:pt>
                <c:pt idx="5427">
                  <c:v>#N/A</c:v>
                </c:pt>
                <c:pt idx="5428">
                  <c:v>#N/A</c:v>
                </c:pt>
                <c:pt idx="5429">
                  <c:v>#N/A</c:v>
                </c:pt>
                <c:pt idx="5430">
                  <c:v>#N/A</c:v>
                </c:pt>
                <c:pt idx="5431">
                  <c:v>#N/A</c:v>
                </c:pt>
                <c:pt idx="5432">
                  <c:v>#N/A</c:v>
                </c:pt>
                <c:pt idx="5433">
                  <c:v>#N/A</c:v>
                </c:pt>
                <c:pt idx="5434">
                  <c:v>#N/A</c:v>
                </c:pt>
                <c:pt idx="5435">
                  <c:v>#N/A</c:v>
                </c:pt>
                <c:pt idx="5436">
                  <c:v>#N/A</c:v>
                </c:pt>
                <c:pt idx="5437">
                  <c:v>#N/A</c:v>
                </c:pt>
                <c:pt idx="5438">
                  <c:v>#N/A</c:v>
                </c:pt>
                <c:pt idx="5439">
                  <c:v>#N/A</c:v>
                </c:pt>
                <c:pt idx="5440">
                  <c:v>#N/A</c:v>
                </c:pt>
                <c:pt idx="5441">
                  <c:v>#N/A</c:v>
                </c:pt>
                <c:pt idx="5442">
                  <c:v>#N/A</c:v>
                </c:pt>
                <c:pt idx="5443">
                  <c:v>#N/A</c:v>
                </c:pt>
                <c:pt idx="5444">
                  <c:v>#N/A</c:v>
                </c:pt>
                <c:pt idx="5445">
                  <c:v>#N/A</c:v>
                </c:pt>
                <c:pt idx="5446">
                  <c:v>#N/A</c:v>
                </c:pt>
                <c:pt idx="5447">
                  <c:v>#N/A</c:v>
                </c:pt>
                <c:pt idx="5448">
                  <c:v>#N/A</c:v>
                </c:pt>
                <c:pt idx="5449">
                  <c:v>#N/A</c:v>
                </c:pt>
                <c:pt idx="5450">
                  <c:v>#N/A</c:v>
                </c:pt>
                <c:pt idx="5451">
                  <c:v>#N/A</c:v>
                </c:pt>
                <c:pt idx="5452">
                  <c:v>#N/A</c:v>
                </c:pt>
                <c:pt idx="5453">
                  <c:v>#N/A</c:v>
                </c:pt>
                <c:pt idx="5454">
                  <c:v>#N/A</c:v>
                </c:pt>
                <c:pt idx="5455">
                  <c:v>#N/A</c:v>
                </c:pt>
                <c:pt idx="5456">
                  <c:v>#N/A</c:v>
                </c:pt>
                <c:pt idx="5457">
                  <c:v>#N/A</c:v>
                </c:pt>
                <c:pt idx="5458">
                  <c:v>#N/A</c:v>
                </c:pt>
                <c:pt idx="5459">
                  <c:v>#N/A</c:v>
                </c:pt>
                <c:pt idx="5460">
                  <c:v>#N/A</c:v>
                </c:pt>
                <c:pt idx="5461">
                  <c:v>#N/A</c:v>
                </c:pt>
                <c:pt idx="5462">
                  <c:v>#N/A</c:v>
                </c:pt>
                <c:pt idx="5463">
                  <c:v>#N/A</c:v>
                </c:pt>
                <c:pt idx="5464">
                  <c:v>#N/A</c:v>
                </c:pt>
                <c:pt idx="5465">
                  <c:v>#N/A</c:v>
                </c:pt>
                <c:pt idx="5466">
                  <c:v>#N/A</c:v>
                </c:pt>
                <c:pt idx="5467">
                  <c:v>#N/A</c:v>
                </c:pt>
                <c:pt idx="5468">
                  <c:v>#N/A</c:v>
                </c:pt>
                <c:pt idx="5469">
                  <c:v>#N/A</c:v>
                </c:pt>
                <c:pt idx="5470">
                  <c:v>#N/A</c:v>
                </c:pt>
                <c:pt idx="5471">
                  <c:v>#N/A</c:v>
                </c:pt>
                <c:pt idx="5472">
                  <c:v>#N/A</c:v>
                </c:pt>
                <c:pt idx="5473">
                  <c:v>#N/A</c:v>
                </c:pt>
                <c:pt idx="5474">
                  <c:v>#N/A</c:v>
                </c:pt>
                <c:pt idx="5475">
                  <c:v>#N/A</c:v>
                </c:pt>
                <c:pt idx="5476">
                  <c:v>#N/A</c:v>
                </c:pt>
                <c:pt idx="5477">
                  <c:v>#N/A</c:v>
                </c:pt>
                <c:pt idx="5478">
                  <c:v>#N/A</c:v>
                </c:pt>
                <c:pt idx="5479">
                  <c:v>#N/A</c:v>
                </c:pt>
                <c:pt idx="5480">
                  <c:v>#N/A</c:v>
                </c:pt>
                <c:pt idx="5481">
                  <c:v>#N/A</c:v>
                </c:pt>
                <c:pt idx="5482">
                  <c:v>#N/A</c:v>
                </c:pt>
                <c:pt idx="5483">
                  <c:v>#N/A</c:v>
                </c:pt>
                <c:pt idx="5484">
                  <c:v>#N/A</c:v>
                </c:pt>
                <c:pt idx="5485">
                  <c:v>#N/A</c:v>
                </c:pt>
                <c:pt idx="5486">
                  <c:v>#N/A</c:v>
                </c:pt>
                <c:pt idx="5487">
                  <c:v>#N/A</c:v>
                </c:pt>
                <c:pt idx="5488">
                  <c:v>#N/A</c:v>
                </c:pt>
                <c:pt idx="5489">
                  <c:v>#N/A</c:v>
                </c:pt>
                <c:pt idx="5490">
                  <c:v>#N/A</c:v>
                </c:pt>
                <c:pt idx="5491">
                  <c:v>#N/A</c:v>
                </c:pt>
                <c:pt idx="5492">
                  <c:v>#N/A</c:v>
                </c:pt>
                <c:pt idx="5493">
                  <c:v>#N/A</c:v>
                </c:pt>
                <c:pt idx="5494">
                  <c:v>#N/A</c:v>
                </c:pt>
                <c:pt idx="5495">
                  <c:v>#N/A</c:v>
                </c:pt>
                <c:pt idx="5496">
                  <c:v>#N/A</c:v>
                </c:pt>
                <c:pt idx="5497">
                  <c:v>#N/A</c:v>
                </c:pt>
                <c:pt idx="5498">
                  <c:v>#N/A</c:v>
                </c:pt>
                <c:pt idx="5499">
                  <c:v>#N/A</c:v>
                </c:pt>
                <c:pt idx="5500">
                  <c:v>#N/A</c:v>
                </c:pt>
                <c:pt idx="5501">
                  <c:v>#N/A</c:v>
                </c:pt>
                <c:pt idx="5502">
                  <c:v>#N/A</c:v>
                </c:pt>
                <c:pt idx="5503">
                  <c:v>#N/A</c:v>
                </c:pt>
                <c:pt idx="5504">
                  <c:v>#N/A</c:v>
                </c:pt>
                <c:pt idx="5505">
                  <c:v>#N/A</c:v>
                </c:pt>
                <c:pt idx="5506">
                  <c:v>#N/A</c:v>
                </c:pt>
                <c:pt idx="5507">
                  <c:v>#N/A</c:v>
                </c:pt>
                <c:pt idx="5508">
                  <c:v>#N/A</c:v>
                </c:pt>
                <c:pt idx="5509">
                  <c:v>#N/A</c:v>
                </c:pt>
                <c:pt idx="5510">
                  <c:v>#N/A</c:v>
                </c:pt>
                <c:pt idx="5511">
                  <c:v>#N/A</c:v>
                </c:pt>
                <c:pt idx="5512">
                  <c:v>#N/A</c:v>
                </c:pt>
                <c:pt idx="5513">
                  <c:v>#N/A</c:v>
                </c:pt>
                <c:pt idx="5514">
                  <c:v>#N/A</c:v>
                </c:pt>
                <c:pt idx="5515">
                  <c:v>#N/A</c:v>
                </c:pt>
                <c:pt idx="5516">
                  <c:v>#N/A</c:v>
                </c:pt>
                <c:pt idx="5517">
                  <c:v>#N/A</c:v>
                </c:pt>
                <c:pt idx="5518">
                  <c:v>#N/A</c:v>
                </c:pt>
                <c:pt idx="5519">
                  <c:v>#N/A</c:v>
                </c:pt>
                <c:pt idx="5520">
                  <c:v>#N/A</c:v>
                </c:pt>
                <c:pt idx="5521">
                  <c:v>#N/A</c:v>
                </c:pt>
                <c:pt idx="5522">
                  <c:v>#N/A</c:v>
                </c:pt>
                <c:pt idx="5523">
                  <c:v>#N/A</c:v>
                </c:pt>
                <c:pt idx="5524">
                  <c:v>#N/A</c:v>
                </c:pt>
                <c:pt idx="5525">
                  <c:v>#N/A</c:v>
                </c:pt>
                <c:pt idx="5526">
                  <c:v>#N/A</c:v>
                </c:pt>
                <c:pt idx="5527">
                  <c:v>#N/A</c:v>
                </c:pt>
                <c:pt idx="5528">
                  <c:v>#N/A</c:v>
                </c:pt>
                <c:pt idx="5529">
                  <c:v>#N/A</c:v>
                </c:pt>
                <c:pt idx="5530">
                  <c:v>#N/A</c:v>
                </c:pt>
                <c:pt idx="5531">
                  <c:v>#N/A</c:v>
                </c:pt>
                <c:pt idx="5532">
                  <c:v>#N/A</c:v>
                </c:pt>
                <c:pt idx="5533">
                  <c:v>#N/A</c:v>
                </c:pt>
                <c:pt idx="5534">
                  <c:v>#N/A</c:v>
                </c:pt>
                <c:pt idx="5535">
                  <c:v>#N/A</c:v>
                </c:pt>
                <c:pt idx="5536">
                  <c:v>#N/A</c:v>
                </c:pt>
                <c:pt idx="5537">
                  <c:v>#N/A</c:v>
                </c:pt>
                <c:pt idx="5538">
                  <c:v>#N/A</c:v>
                </c:pt>
                <c:pt idx="5539">
                  <c:v>#N/A</c:v>
                </c:pt>
                <c:pt idx="5540">
                  <c:v>#N/A</c:v>
                </c:pt>
                <c:pt idx="5541">
                  <c:v>#N/A</c:v>
                </c:pt>
                <c:pt idx="5542">
                  <c:v>#N/A</c:v>
                </c:pt>
                <c:pt idx="5543">
                  <c:v>#N/A</c:v>
                </c:pt>
                <c:pt idx="5544">
                  <c:v>#N/A</c:v>
                </c:pt>
                <c:pt idx="5545">
                  <c:v>#N/A</c:v>
                </c:pt>
                <c:pt idx="5546">
                  <c:v>#N/A</c:v>
                </c:pt>
                <c:pt idx="5547">
                  <c:v>#N/A</c:v>
                </c:pt>
                <c:pt idx="5548">
                  <c:v>#N/A</c:v>
                </c:pt>
                <c:pt idx="5549">
                  <c:v>#N/A</c:v>
                </c:pt>
                <c:pt idx="5550">
                  <c:v>#N/A</c:v>
                </c:pt>
                <c:pt idx="5551">
                  <c:v>#N/A</c:v>
                </c:pt>
                <c:pt idx="5552">
                  <c:v>#N/A</c:v>
                </c:pt>
                <c:pt idx="5553">
                  <c:v>#N/A</c:v>
                </c:pt>
                <c:pt idx="5554">
                  <c:v>#N/A</c:v>
                </c:pt>
                <c:pt idx="5555">
                  <c:v>#N/A</c:v>
                </c:pt>
                <c:pt idx="5556">
                  <c:v>#N/A</c:v>
                </c:pt>
                <c:pt idx="5557">
                  <c:v>#N/A</c:v>
                </c:pt>
                <c:pt idx="5558">
                  <c:v>#N/A</c:v>
                </c:pt>
                <c:pt idx="5559">
                  <c:v>#N/A</c:v>
                </c:pt>
                <c:pt idx="5560">
                  <c:v>#N/A</c:v>
                </c:pt>
                <c:pt idx="5561">
                  <c:v>#N/A</c:v>
                </c:pt>
                <c:pt idx="5562">
                  <c:v>#N/A</c:v>
                </c:pt>
                <c:pt idx="5563">
                  <c:v>#N/A</c:v>
                </c:pt>
                <c:pt idx="5564">
                  <c:v>#N/A</c:v>
                </c:pt>
                <c:pt idx="5565">
                  <c:v>#N/A</c:v>
                </c:pt>
                <c:pt idx="5566">
                  <c:v>#N/A</c:v>
                </c:pt>
                <c:pt idx="5567">
                  <c:v>#N/A</c:v>
                </c:pt>
                <c:pt idx="5568">
                  <c:v>#N/A</c:v>
                </c:pt>
                <c:pt idx="5569">
                  <c:v>#N/A</c:v>
                </c:pt>
                <c:pt idx="5570">
                  <c:v>#N/A</c:v>
                </c:pt>
                <c:pt idx="5571">
                  <c:v>#N/A</c:v>
                </c:pt>
                <c:pt idx="5572">
                  <c:v>#N/A</c:v>
                </c:pt>
                <c:pt idx="5573">
                  <c:v>#N/A</c:v>
                </c:pt>
                <c:pt idx="5574">
                  <c:v>#N/A</c:v>
                </c:pt>
                <c:pt idx="5575">
                  <c:v>#N/A</c:v>
                </c:pt>
                <c:pt idx="5576">
                  <c:v>#N/A</c:v>
                </c:pt>
                <c:pt idx="5577">
                  <c:v>#N/A</c:v>
                </c:pt>
                <c:pt idx="5578">
                  <c:v>#N/A</c:v>
                </c:pt>
                <c:pt idx="5579">
                  <c:v>#N/A</c:v>
                </c:pt>
                <c:pt idx="5580">
                  <c:v>#N/A</c:v>
                </c:pt>
                <c:pt idx="5581">
                  <c:v>#N/A</c:v>
                </c:pt>
                <c:pt idx="5582">
                  <c:v>#N/A</c:v>
                </c:pt>
                <c:pt idx="5583">
                  <c:v>#N/A</c:v>
                </c:pt>
                <c:pt idx="5584">
                  <c:v>#N/A</c:v>
                </c:pt>
                <c:pt idx="5585">
                  <c:v>#N/A</c:v>
                </c:pt>
                <c:pt idx="5586">
                  <c:v>#N/A</c:v>
                </c:pt>
                <c:pt idx="5587">
                  <c:v>#N/A</c:v>
                </c:pt>
                <c:pt idx="5588">
                  <c:v>#N/A</c:v>
                </c:pt>
                <c:pt idx="5589">
                  <c:v>#N/A</c:v>
                </c:pt>
                <c:pt idx="5590">
                  <c:v>#N/A</c:v>
                </c:pt>
                <c:pt idx="5591">
                  <c:v>#N/A</c:v>
                </c:pt>
                <c:pt idx="5592">
                  <c:v>#N/A</c:v>
                </c:pt>
                <c:pt idx="5593">
                  <c:v>#N/A</c:v>
                </c:pt>
                <c:pt idx="5594">
                  <c:v>#N/A</c:v>
                </c:pt>
                <c:pt idx="5595">
                  <c:v>#N/A</c:v>
                </c:pt>
                <c:pt idx="5596">
                  <c:v>#N/A</c:v>
                </c:pt>
                <c:pt idx="5597">
                  <c:v>#N/A</c:v>
                </c:pt>
                <c:pt idx="5598">
                  <c:v>#N/A</c:v>
                </c:pt>
                <c:pt idx="5599">
                  <c:v>#N/A</c:v>
                </c:pt>
                <c:pt idx="5600">
                  <c:v>#N/A</c:v>
                </c:pt>
                <c:pt idx="5601">
                  <c:v>#N/A</c:v>
                </c:pt>
                <c:pt idx="5602">
                  <c:v>#N/A</c:v>
                </c:pt>
                <c:pt idx="5603">
                  <c:v>#N/A</c:v>
                </c:pt>
                <c:pt idx="5604">
                  <c:v>#N/A</c:v>
                </c:pt>
                <c:pt idx="5605">
                  <c:v>#N/A</c:v>
                </c:pt>
                <c:pt idx="5606">
                  <c:v>#N/A</c:v>
                </c:pt>
                <c:pt idx="5607">
                  <c:v>#N/A</c:v>
                </c:pt>
                <c:pt idx="5608">
                  <c:v>#N/A</c:v>
                </c:pt>
                <c:pt idx="5609">
                  <c:v>#N/A</c:v>
                </c:pt>
                <c:pt idx="5610">
                  <c:v>#N/A</c:v>
                </c:pt>
                <c:pt idx="5611">
                  <c:v>#N/A</c:v>
                </c:pt>
                <c:pt idx="5612">
                  <c:v>#N/A</c:v>
                </c:pt>
                <c:pt idx="5613">
                  <c:v>#N/A</c:v>
                </c:pt>
                <c:pt idx="5614">
                  <c:v>#N/A</c:v>
                </c:pt>
                <c:pt idx="5615">
                  <c:v>#N/A</c:v>
                </c:pt>
                <c:pt idx="5616">
                  <c:v>#N/A</c:v>
                </c:pt>
                <c:pt idx="5617">
                  <c:v>#N/A</c:v>
                </c:pt>
                <c:pt idx="5618">
                  <c:v>#N/A</c:v>
                </c:pt>
                <c:pt idx="5619">
                  <c:v>#N/A</c:v>
                </c:pt>
                <c:pt idx="5620">
                  <c:v>#N/A</c:v>
                </c:pt>
                <c:pt idx="5621">
                  <c:v>#N/A</c:v>
                </c:pt>
                <c:pt idx="5622">
                  <c:v>#N/A</c:v>
                </c:pt>
                <c:pt idx="5623">
                  <c:v>#N/A</c:v>
                </c:pt>
                <c:pt idx="5624">
                  <c:v>#N/A</c:v>
                </c:pt>
                <c:pt idx="5625">
                  <c:v>#N/A</c:v>
                </c:pt>
                <c:pt idx="5626">
                  <c:v>#N/A</c:v>
                </c:pt>
                <c:pt idx="5627">
                  <c:v>#N/A</c:v>
                </c:pt>
                <c:pt idx="5628">
                  <c:v>#N/A</c:v>
                </c:pt>
                <c:pt idx="5629">
                  <c:v>#N/A</c:v>
                </c:pt>
                <c:pt idx="5630">
                  <c:v>#N/A</c:v>
                </c:pt>
                <c:pt idx="5631">
                  <c:v>#N/A</c:v>
                </c:pt>
                <c:pt idx="5632">
                  <c:v>#N/A</c:v>
                </c:pt>
                <c:pt idx="5633">
                  <c:v>#N/A</c:v>
                </c:pt>
                <c:pt idx="5634">
                  <c:v>#N/A</c:v>
                </c:pt>
                <c:pt idx="5635">
                  <c:v>#N/A</c:v>
                </c:pt>
                <c:pt idx="5636">
                  <c:v>#N/A</c:v>
                </c:pt>
                <c:pt idx="5637">
                  <c:v>#N/A</c:v>
                </c:pt>
                <c:pt idx="5638">
                  <c:v>#N/A</c:v>
                </c:pt>
                <c:pt idx="5639">
                  <c:v>#N/A</c:v>
                </c:pt>
                <c:pt idx="5640">
                  <c:v>#N/A</c:v>
                </c:pt>
                <c:pt idx="5641">
                  <c:v>#N/A</c:v>
                </c:pt>
                <c:pt idx="5642">
                  <c:v>#N/A</c:v>
                </c:pt>
                <c:pt idx="5643">
                  <c:v>#N/A</c:v>
                </c:pt>
                <c:pt idx="5644">
                  <c:v>#N/A</c:v>
                </c:pt>
                <c:pt idx="5645">
                  <c:v>#N/A</c:v>
                </c:pt>
                <c:pt idx="5646">
                  <c:v>#N/A</c:v>
                </c:pt>
                <c:pt idx="5647">
                  <c:v>#N/A</c:v>
                </c:pt>
                <c:pt idx="5648">
                  <c:v>#N/A</c:v>
                </c:pt>
                <c:pt idx="5649">
                  <c:v>#N/A</c:v>
                </c:pt>
                <c:pt idx="5650">
                  <c:v>#N/A</c:v>
                </c:pt>
                <c:pt idx="5651">
                  <c:v>#N/A</c:v>
                </c:pt>
                <c:pt idx="5652">
                  <c:v>#N/A</c:v>
                </c:pt>
                <c:pt idx="5653">
                  <c:v>#N/A</c:v>
                </c:pt>
                <c:pt idx="5654">
                  <c:v>#N/A</c:v>
                </c:pt>
                <c:pt idx="5655">
                  <c:v>#N/A</c:v>
                </c:pt>
                <c:pt idx="5656">
                  <c:v>#N/A</c:v>
                </c:pt>
                <c:pt idx="5657">
                  <c:v>#N/A</c:v>
                </c:pt>
                <c:pt idx="5658">
                  <c:v>#N/A</c:v>
                </c:pt>
                <c:pt idx="5659">
                  <c:v>#N/A</c:v>
                </c:pt>
                <c:pt idx="5660">
                  <c:v>#N/A</c:v>
                </c:pt>
                <c:pt idx="5661">
                  <c:v>#N/A</c:v>
                </c:pt>
                <c:pt idx="5662">
                  <c:v>#N/A</c:v>
                </c:pt>
                <c:pt idx="5663">
                  <c:v>#N/A</c:v>
                </c:pt>
                <c:pt idx="5664">
                  <c:v>#N/A</c:v>
                </c:pt>
                <c:pt idx="5665">
                  <c:v>#N/A</c:v>
                </c:pt>
                <c:pt idx="5666">
                  <c:v>#N/A</c:v>
                </c:pt>
                <c:pt idx="5667">
                  <c:v>#N/A</c:v>
                </c:pt>
                <c:pt idx="5668">
                  <c:v>#N/A</c:v>
                </c:pt>
                <c:pt idx="5669">
                  <c:v>#N/A</c:v>
                </c:pt>
                <c:pt idx="5670">
                  <c:v>#N/A</c:v>
                </c:pt>
                <c:pt idx="5671">
                  <c:v>#N/A</c:v>
                </c:pt>
                <c:pt idx="5672">
                  <c:v>#N/A</c:v>
                </c:pt>
                <c:pt idx="5673">
                  <c:v>#N/A</c:v>
                </c:pt>
                <c:pt idx="5674">
                  <c:v>#N/A</c:v>
                </c:pt>
                <c:pt idx="5675">
                  <c:v>#N/A</c:v>
                </c:pt>
                <c:pt idx="5676">
                  <c:v>#N/A</c:v>
                </c:pt>
                <c:pt idx="5677">
                  <c:v>#N/A</c:v>
                </c:pt>
                <c:pt idx="5678">
                  <c:v>#N/A</c:v>
                </c:pt>
                <c:pt idx="5679">
                  <c:v>#N/A</c:v>
                </c:pt>
                <c:pt idx="5680">
                  <c:v>#N/A</c:v>
                </c:pt>
                <c:pt idx="5681">
                  <c:v>#N/A</c:v>
                </c:pt>
                <c:pt idx="5682">
                  <c:v>#N/A</c:v>
                </c:pt>
                <c:pt idx="5683">
                  <c:v>#N/A</c:v>
                </c:pt>
                <c:pt idx="5684">
                  <c:v>#N/A</c:v>
                </c:pt>
                <c:pt idx="5685">
                  <c:v>#N/A</c:v>
                </c:pt>
                <c:pt idx="5686">
                  <c:v>#N/A</c:v>
                </c:pt>
                <c:pt idx="5687">
                  <c:v>#N/A</c:v>
                </c:pt>
                <c:pt idx="5688">
                  <c:v>#N/A</c:v>
                </c:pt>
                <c:pt idx="5689">
                  <c:v>#N/A</c:v>
                </c:pt>
                <c:pt idx="5690">
                  <c:v>#N/A</c:v>
                </c:pt>
                <c:pt idx="5691">
                  <c:v>#N/A</c:v>
                </c:pt>
                <c:pt idx="5692">
                  <c:v>#N/A</c:v>
                </c:pt>
                <c:pt idx="5693">
                  <c:v>#N/A</c:v>
                </c:pt>
                <c:pt idx="5694">
                  <c:v>#N/A</c:v>
                </c:pt>
                <c:pt idx="5695">
                  <c:v>#N/A</c:v>
                </c:pt>
                <c:pt idx="5696">
                  <c:v>#N/A</c:v>
                </c:pt>
                <c:pt idx="5697">
                  <c:v>#N/A</c:v>
                </c:pt>
                <c:pt idx="5698">
                  <c:v>#N/A</c:v>
                </c:pt>
                <c:pt idx="5699">
                  <c:v>#N/A</c:v>
                </c:pt>
                <c:pt idx="5700">
                  <c:v>#N/A</c:v>
                </c:pt>
                <c:pt idx="5701">
                  <c:v>#N/A</c:v>
                </c:pt>
                <c:pt idx="5702">
                  <c:v>#N/A</c:v>
                </c:pt>
                <c:pt idx="5703">
                  <c:v>#N/A</c:v>
                </c:pt>
                <c:pt idx="5704">
                  <c:v>#N/A</c:v>
                </c:pt>
                <c:pt idx="5705">
                  <c:v>#N/A</c:v>
                </c:pt>
                <c:pt idx="5706">
                  <c:v>#N/A</c:v>
                </c:pt>
                <c:pt idx="5707">
                  <c:v>#N/A</c:v>
                </c:pt>
                <c:pt idx="5708">
                  <c:v>#N/A</c:v>
                </c:pt>
                <c:pt idx="5709">
                  <c:v>#N/A</c:v>
                </c:pt>
                <c:pt idx="5710">
                  <c:v>#N/A</c:v>
                </c:pt>
                <c:pt idx="5711">
                  <c:v>#N/A</c:v>
                </c:pt>
                <c:pt idx="5712">
                  <c:v>#N/A</c:v>
                </c:pt>
                <c:pt idx="5713">
                  <c:v>#N/A</c:v>
                </c:pt>
                <c:pt idx="5714">
                  <c:v>#N/A</c:v>
                </c:pt>
                <c:pt idx="5715">
                  <c:v>#N/A</c:v>
                </c:pt>
                <c:pt idx="5716">
                  <c:v>#N/A</c:v>
                </c:pt>
                <c:pt idx="5717">
                  <c:v>#N/A</c:v>
                </c:pt>
                <c:pt idx="5718">
                  <c:v>#N/A</c:v>
                </c:pt>
                <c:pt idx="5719">
                  <c:v>#N/A</c:v>
                </c:pt>
                <c:pt idx="5720">
                  <c:v>#N/A</c:v>
                </c:pt>
                <c:pt idx="5721">
                  <c:v>#N/A</c:v>
                </c:pt>
                <c:pt idx="5722">
                  <c:v>#N/A</c:v>
                </c:pt>
                <c:pt idx="5723">
                  <c:v>#N/A</c:v>
                </c:pt>
                <c:pt idx="5724">
                  <c:v>#N/A</c:v>
                </c:pt>
                <c:pt idx="5725">
                  <c:v>#N/A</c:v>
                </c:pt>
                <c:pt idx="5726">
                  <c:v>#N/A</c:v>
                </c:pt>
                <c:pt idx="5727">
                  <c:v>#N/A</c:v>
                </c:pt>
                <c:pt idx="5728">
                  <c:v>#N/A</c:v>
                </c:pt>
                <c:pt idx="5729">
                  <c:v>#N/A</c:v>
                </c:pt>
                <c:pt idx="5730">
                  <c:v>#N/A</c:v>
                </c:pt>
                <c:pt idx="5731">
                  <c:v>#N/A</c:v>
                </c:pt>
                <c:pt idx="5732">
                  <c:v>#N/A</c:v>
                </c:pt>
                <c:pt idx="5733">
                  <c:v>#N/A</c:v>
                </c:pt>
                <c:pt idx="5734">
                  <c:v>#N/A</c:v>
                </c:pt>
                <c:pt idx="5735">
                  <c:v>#N/A</c:v>
                </c:pt>
                <c:pt idx="5736">
                  <c:v>#N/A</c:v>
                </c:pt>
                <c:pt idx="5737">
                  <c:v>#N/A</c:v>
                </c:pt>
                <c:pt idx="5738">
                  <c:v>#N/A</c:v>
                </c:pt>
                <c:pt idx="5739">
                  <c:v>#N/A</c:v>
                </c:pt>
                <c:pt idx="5740">
                  <c:v>#N/A</c:v>
                </c:pt>
                <c:pt idx="5741">
                  <c:v>#N/A</c:v>
                </c:pt>
                <c:pt idx="5742">
                  <c:v>#N/A</c:v>
                </c:pt>
                <c:pt idx="5743">
                  <c:v>#N/A</c:v>
                </c:pt>
                <c:pt idx="5744">
                  <c:v>#N/A</c:v>
                </c:pt>
                <c:pt idx="5745">
                  <c:v>#N/A</c:v>
                </c:pt>
                <c:pt idx="5746">
                  <c:v>#N/A</c:v>
                </c:pt>
                <c:pt idx="5747">
                  <c:v>#N/A</c:v>
                </c:pt>
                <c:pt idx="5748">
                  <c:v>#N/A</c:v>
                </c:pt>
                <c:pt idx="5749">
                  <c:v>#N/A</c:v>
                </c:pt>
                <c:pt idx="5750">
                  <c:v>#N/A</c:v>
                </c:pt>
                <c:pt idx="5751">
                  <c:v>#N/A</c:v>
                </c:pt>
                <c:pt idx="5752">
                  <c:v>#N/A</c:v>
                </c:pt>
                <c:pt idx="5753">
                  <c:v>#N/A</c:v>
                </c:pt>
                <c:pt idx="5754">
                  <c:v>#N/A</c:v>
                </c:pt>
                <c:pt idx="5755">
                  <c:v>#N/A</c:v>
                </c:pt>
                <c:pt idx="5756">
                  <c:v>#N/A</c:v>
                </c:pt>
                <c:pt idx="5757">
                  <c:v>#N/A</c:v>
                </c:pt>
                <c:pt idx="5758">
                  <c:v>#N/A</c:v>
                </c:pt>
                <c:pt idx="5759">
                  <c:v>#N/A</c:v>
                </c:pt>
                <c:pt idx="5760">
                  <c:v>#N/A</c:v>
                </c:pt>
                <c:pt idx="5761">
                  <c:v>#N/A</c:v>
                </c:pt>
                <c:pt idx="5762">
                  <c:v>#N/A</c:v>
                </c:pt>
                <c:pt idx="5763">
                  <c:v>#N/A</c:v>
                </c:pt>
                <c:pt idx="5764">
                  <c:v>#N/A</c:v>
                </c:pt>
                <c:pt idx="5765">
                  <c:v>#N/A</c:v>
                </c:pt>
                <c:pt idx="5766">
                  <c:v>#N/A</c:v>
                </c:pt>
                <c:pt idx="5767">
                  <c:v>#N/A</c:v>
                </c:pt>
                <c:pt idx="5768">
                  <c:v>#N/A</c:v>
                </c:pt>
                <c:pt idx="5769">
                  <c:v>#N/A</c:v>
                </c:pt>
                <c:pt idx="5770">
                  <c:v>#N/A</c:v>
                </c:pt>
                <c:pt idx="5771">
                  <c:v>#N/A</c:v>
                </c:pt>
                <c:pt idx="5772">
                  <c:v>#N/A</c:v>
                </c:pt>
                <c:pt idx="5773">
                  <c:v>#N/A</c:v>
                </c:pt>
                <c:pt idx="5774">
                  <c:v>#N/A</c:v>
                </c:pt>
                <c:pt idx="5775">
                  <c:v>#N/A</c:v>
                </c:pt>
                <c:pt idx="5776">
                  <c:v>#N/A</c:v>
                </c:pt>
                <c:pt idx="5777">
                  <c:v>#N/A</c:v>
                </c:pt>
                <c:pt idx="5778">
                  <c:v>#N/A</c:v>
                </c:pt>
                <c:pt idx="5779">
                  <c:v>#N/A</c:v>
                </c:pt>
                <c:pt idx="5780">
                  <c:v>#N/A</c:v>
                </c:pt>
                <c:pt idx="5781">
                  <c:v>#N/A</c:v>
                </c:pt>
                <c:pt idx="5782">
                  <c:v>#N/A</c:v>
                </c:pt>
                <c:pt idx="5783">
                  <c:v>#N/A</c:v>
                </c:pt>
                <c:pt idx="5784">
                  <c:v>#N/A</c:v>
                </c:pt>
                <c:pt idx="5785">
                  <c:v>#N/A</c:v>
                </c:pt>
                <c:pt idx="5786">
                  <c:v>#N/A</c:v>
                </c:pt>
                <c:pt idx="5787">
                  <c:v>#N/A</c:v>
                </c:pt>
                <c:pt idx="5788">
                  <c:v>#N/A</c:v>
                </c:pt>
                <c:pt idx="5789">
                  <c:v>#N/A</c:v>
                </c:pt>
                <c:pt idx="5790">
                  <c:v>#N/A</c:v>
                </c:pt>
                <c:pt idx="5791">
                  <c:v>#N/A</c:v>
                </c:pt>
                <c:pt idx="5792">
                  <c:v>#N/A</c:v>
                </c:pt>
                <c:pt idx="5793">
                  <c:v>#N/A</c:v>
                </c:pt>
                <c:pt idx="5794">
                  <c:v>#N/A</c:v>
                </c:pt>
                <c:pt idx="5795">
                  <c:v>#N/A</c:v>
                </c:pt>
                <c:pt idx="5796">
                  <c:v>#N/A</c:v>
                </c:pt>
                <c:pt idx="5797">
                  <c:v>#N/A</c:v>
                </c:pt>
                <c:pt idx="5798">
                  <c:v>#N/A</c:v>
                </c:pt>
                <c:pt idx="5799">
                  <c:v>#N/A</c:v>
                </c:pt>
                <c:pt idx="5800">
                  <c:v>#N/A</c:v>
                </c:pt>
                <c:pt idx="5801">
                  <c:v>#N/A</c:v>
                </c:pt>
                <c:pt idx="5802">
                  <c:v>#N/A</c:v>
                </c:pt>
                <c:pt idx="5803">
                  <c:v>#N/A</c:v>
                </c:pt>
                <c:pt idx="5804">
                  <c:v>#N/A</c:v>
                </c:pt>
                <c:pt idx="5805">
                  <c:v>#N/A</c:v>
                </c:pt>
                <c:pt idx="5806">
                  <c:v>#N/A</c:v>
                </c:pt>
                <c:pt idx="5807">
                  <c:v>#N/A</c:v>
                </c:pt>
                <c:pt idx="5808">
                  <c:v>#N/A</c:v>
                </c:pt>
                <c:pt idx="5809">
                  <c:v>#N/A</c:v>
                </c:pt>
                <c:pt idx="5810">
                  <c:v>#N/A</c:v>
                </c:pt>
                <c:pt idx="5811">
                  <c:v>#N/A</c:v>
                </c:pt>
                <c:pt idx="5812">
                  <c:v>#N/A</c:v>
                </c:pt>
                <c:pt idx="5813">
                  <c:v>#N/A</c:v>
                </c:pt>
                <c:pt idx="5814">
                  <c:v>#N/A</c:v>
                </c:pt>
                <c:pt idx="5815">
                  <c:v>#N/A</c:v>
                </c:pt>
                <c:pt idx="5816">
                  <c:v>#N/A</c:v>
                </c:pt>
                <c:pt idx="5817">
                  <c:v>#N/A</c:v>
                </c:pt>
                <c:pt idx="5818">
                  <c:v>#N/A</c:v>
                </c:pt>
                <c:pt idx="5819">
                  <c:v>#N/A</c:v>
                </c:pt>
                <c:pt idx="5820">
                  <c:v>#N/A</c:v>
                </c:pt>
                <c:pt idx="5821">
                  <c:v>#N/A</c:v>
                </c:pt>
                <c:pt idx="5822">
                  <c:v>#N/A</c:v>
                </c:pt>
                <c:pt idx="5823">
                  <c:v>#N/A</c:v>
                </c:pt>
                <c:pt idx="5824">
                  <c:v>#N/A</c:v>
                </c:pt>
                <c:pt idx="5825">
                  <c:v>#N/A</c:v>
                </c:pt>
                <c:pt idx="5826">
                  <c:v>#N/A</c:v>
                </c:pt>
                <c:pt idx="5827">
                  <c:v>#N/A</c:v>
                </c:pt>
                <c:pt idx="5828">
                  <c:v>#N/A</c:v>
                </c:pt>
                <c:pt idx="5829">
                  <c:v>#N/A</c:v>
                </c:pt>
                <c:pt idx="5830">
                  <c:v>#N/A</c:v>
                </c:pt>
                <c:pt idx="5831">
                  <c:v>#N/A</c:v>
                </c:pt>
                <c:pt idx="5832">
                  <c:v>#N/A</c:v>
                </c:pt>
                <c:pt idx="5833">
                  <c:v>#N/A</c:v>
                </c:pt>
                <c:pt idx="5834">
                  <c:v>#N/A</c:v>
                </c:pt>
                <c:pt idx="5835">
                  <c:v>#N/A</c:v>
                </c:pt>
                <c:pt idx="5836">
                  <c:v>#N/A</c:v>
                </c:pt>
                <c:pt idx="5837">
                  <c:v>#N/A</c:v>
                </c:pt>
                <c:pt idx="5838">
                  <c:v>#N/A</c:v>
                </c:pt>
                <c:pt idx="5839">
                  <c:v>#N/A</c:v>
                </c:pt>
                <c:pt idx="5840">
                  <c:v>#N/A</c:v>
                </c:pt>
                <c:pt idx="5841">
                  <c:v>#N/A</c:v>
                </c:pt>
                <c:pt idx="5842">
                  <c:v>#N/A</c:v>
                </c:pt>
                <c:pt idx="5843">
                  <c:v>#N/A</c:v>
                </c:pt>
                <c:pt idx="5844">
                  <c:v>#N/A</c:v>
                </c:pt>
                <c:pt idx="5845">
                  <c:v>#N/A</c:v>
                </c:pt>
                <c:pt idx="5846">
                  <c:v>#N/A</c:v>
                </c:pt>
                <c:pt idx="5847">
                  <c:v>#N/A</c:v>
                </c:pt>
                <c:pt idx="5848">
                  <c:v>#N/A</c:v>
                </c:pt>
                <c:pt idx="5849">
                  <c:v>#N/A</c:v>
                </c:pt>
                <c:pt idx="5850">
                  <c:v>#N/A</c:v>
                </c:pt>
                <c:pt idx="5851">
                  <c:v>#N/A</c:v>
                </c:pt>
                <c:pt idx="5852">
                  <c:v>#N/A</c:v>
                </c:pt>
                <c:pt idx="5853">
                  <c:v>#N/A</c:v>
                </c:pt>
                <c:pt idx="5854">
                  <c:v>#N/A</c:v>
                </c:pt>
                <c:pt idx="5855">
                  <c:v>#N/A</c:v>
                </c:pt>
                <c:pt idx="5856">
                  <c:v>#N/A</c:v>
                </c:pt>
                <c:pt idx="5857">
                  <c:v>#N/A</c:v>
                </c:pt>
                <c:pt idx="5858">
                  <c:v>#N/A</c:v>
                </c:pt>
                <c:pt idx="5859">
                  <c:v>#N/A</c:v>
                </c:pt>
                <c:pt idx="5860">
                  <c:v>#N/A</c:v>
                </c:pt>
                <c:pt idx="5861">
                  <c:v>#N/A</c:v>
                </c:pt>
                <c:pt idx="5862">
                  <c:v>#N/A</c:v>
                </c:pt>
                <c:pt idx="5863">
                  <c:v>#N/A</c:v>
                </c:pt>
                <c:pt idx="5864">
                  <c:v>#N/A</c:v>
                </c:pt>
                <c:pt idx="5865">
                  <c:v>#N/A</c:v>
                </c:pt>
                <c:pt idx="5866">
                  <c:v>#N/A</c:v>
                </c:pt>
                <c:pt idx="5867">
                  <c:v>#N/A</c:v>
                </c:pt>
                <c:pt idx="5868">
                  <c:v>#N/A</c:v>
                </c:pt>
                <c:pt idx="5869">
                  <c:v>#N/A</c:v>
                </c:pt>
                <c:pt idx="5870">
                  <c:v>#N/A</c:v>
                </c:pt>
                <c:pt idx="5871">
                  <c:v>#N/A</c:v>
                </c:pt>
                <c:pt idx="5872">
                  <c:v>#N/A</c:v>
                </c:pt>
                <c:pt idx="5873">
                  <c:v>#N/A</c:v>
                </c:pt>
                <c:pt idx="5874">
                  <c:v>#N/A</c:v>
                </c:pt>
                <c:pt idx="5875">
                  <c:v>#N/A</c:v>
                </c:pt>
                <c:pt idx="5876">
                  <c:v>#N/A</c:v>
                </c:pt>
                <c:pt idx="5877">
                  <c:v>#N/A</c:v>
                </c:pt>
                <c:pt idx="5878">
                  <c:v>#N/A</c:v>
                </c:pt>
                <c:pt idx="5879">
                  <c:v>#N/A</c:v>
                </c:pt>
                <c:pt idx="5880">
                  <c:v>#N/A</c:v>
                </c:pt>
                <c:pt idx="5881">
                  <c:v>#N/A</c:v>
                </c:pt>
                <c:pt idx="5882">
                  <c:v>#N/A</c:v>
                </c:pt>
                <c:pt idx="5883">
                  <c:v>#N/A</c:v>
                </c:pt>
                <c:pt idx="5884">
                  <c:v>#N/A</c:v>
                </c:pt>
                <c:pt idx="5885">
                  <c:v>#N/A</c:v>
                </c:pt>
                <c:pt idx="5886">
                  <c:v>#N/A</c:v>
                </c:pt>
                <c:pt idx="5887">
                  <c:v>#N/A</c:v>
                </c:pt>
                <c:pt idx="5888">
                  <c:v>#N/A</c:v>
                </c:pt>
                <c:pt idx="5889">
                  <c:v>#N/A</c:v>
                </c:pt>
                <c:pt idx="5890">
                  <c:v>#N/A</c:v>
                </c:pt>
                <c:pt idx="5891">
                  <c:v>#N/A</c:v>
                </c:pt>
                <c:pt idx="5892">
                  <c:v>#N/A</c:v>
                </c:pt>
                <c:pt idx="5893">
                  <c:v>#N/A</c:v>
                </c:pt>
                <c:pt idx="5894">
                  <c:v>#N/A</c:v>
                </c:pt>
                <c:pt idx="5895">
                  <c:v>#N/A</c:v>
                </c:pt>
                <c:pt idx="5896">
                  <c:v>#N/A</c:v>
                </c:pt>
                <c:pt idx="5897">
                  <c:v>#N/A</c:v>
                </c:pt>
                <c:pt idx="5898">
                  <c:v>#N/A</c:v>
                </c:pt>
                <c:pt idx="5899">
                  <c:v>#N/A</c:v>
                </c:pt>
                <c:pt idx="5900">
                  <c:v>#N/A</c:v>
                </c:pt>
                <c:pt idx="5901">
                  <c:v>#N/A</c:v>
                </c:pt>
                <c:pt idx="5902">
                  <c:v>#N/A</c:v>
                </c:pt>
                <c:pt idx="5903">
                  <c:v>#N/A</c:v>
                </c:pt>
                <c:pt idx="5904">
                  <c:v>#N/A</c:v>
                </c:pt>
                <c:pt idx="5905">
                  <c:v>#N/A</c:v>
                </c:pt>
                <c:pt idx="5906">
                  <c:v>#N/A</c:v>
                </c:pt>
                <c:pt idx="5907">
                  <c:v>#N/A</c:v>
                </c:pt>
                <c:pt idx="5908">
                  <c:v>#N/A</c:v>
                </c:pt>
                <c:pt idx="5909">
                  <c:v>#N/A</c:v>
                </c:pt>
                <c:pt idx="5910">
                  <c:v>#N/A</c:v>
                </c:pt>
                <c:pt idx="5911">
                  <c:v>#N/A</c:v>
                </c:pt>
                <c:pt idx="5912">
                  <c:v>#N/A</c:v>
                </c:pt>
                <c:pt idx="5913">
                  <c:v>#N/A</c:v>
                </c:pt>
                <c:pt idx="5914">
                  <c:v>#N/A</c:v>
                </c:pt>
                <c:pt idx="5915">
                  <c:v>#N/A</c:v>
                </c:pt>
                <c:pt idx="5916">
                  <c:v>#N/A</c:v>
                </c:pt>
                <c:pt idx="5917">
                  <c:v>#N/A</c:v>
                </c:pt>
                <c:pt idx="5918">
                  <c:v>#N/A</c:v>
                </c:pt>
                <c:pt idx="5919">
                  <c:v>#N/A</c:v>
                </c:pt>
                <c:pt idx="5920">
                  <c:v>#N/A</c:v>
                </c:pt>
                <c:pt idx="5921">
                  <c:v>#N/A</c:v>
                </c:pt>
                <c:pt idx="5922">
                  <c:v>#N/A</c:v>
                </c:pt>
                <c:pt idx="5923">
                  <c:v>#N/A</c:v>
                </c:pt>
                <c:pt idx="5924">
                  <c:v>#N/A</c:v>
                </c:pt>
                <c:pt idx="5925">
                  <c:v>#N/A</c:v>
                </c:pt>
                <c:pt idx="5926">
                  <c:v>#N/A</c:v>
                </c:pt>
                <c:pt idx="5927">
                  <c:v>#N/A</c:v>
                </c:pt>
                <c:pt idx="5928">
                  <c:v>#N/A</c:v>
                </c:pt>
                <c:pt idx="5929">
                  <c:v>#N/A</c:v>
                </c:pt>
                <c:pt idx="5930">
                  <c:v>#N/A</c:v>
                </c:pt>
                <c:pt idx="5931">
                  <c:v>#N/A</c:v>
                </c:pt>
                <c:pt idx="5932">
                  <c:v>#N/A</c:v>
                </c:pt>
                <c:pt idx="5933">
                  <c:v>#N/A</c:v>
                </c:pt>
                <c:pt idx="5934">
                  <c:v>#N/A</c:v>
                </c:pt>
                <c:pt idx="5935">
                  <c:v>#N/A</c:v>
                </c:pt>
                <c:pt idx="5936">
                  <c:v>#N/A</c:v>
                </c:pt>
                <c:pt idx="5937">
                  <c:v>#N/A</c:v>
                </c:pt>
                <c:pt idx="5938">
                  <c:v>#N/A</c:v>
                </c:pt>
                <c:pt idx="5939">
                  <c:v>#N/A</c:v>
                </c:pt>
                <c:pt idx="5940">
                  <c:v>#N/A</c:v>
                </c:pt>
                <c:pt idx="5941">
                  <c:v>#N/A</c:v>
                </c:pt>
                <c:pt idx="5942">
                  <c:v>#N/A</c:v>
                </c:pt>
                <c:pt idx="5943">
                  <c:v>#N/A</c:v>
                </c:pt>
                <c:pt idx="5944">
                  <c:v>#N/A</c:v>
                </c:pt>
                <c:pt idx="5945">
                  <c:v>#N/A</c:v>
                </c:pt>
                <c:pt idx="5946">
                  <c:v>#N/A</c:v>
                </c:pt>
                <c:pt idx="5947">
                  <c:v>#N/A</c:v>
                </c:pt>
                <c:pt idx="5948">
                  <c:v>#N/A</c:v>
                </c:pt>
                <c:pt idx="5949">
                  <c:v>#N/A</c:v>
                </c:pt>
                <c:pt idx="5950">
                  <c:v>#N/A</c:v>
                </c:pt>
                <c:pt idx="5951">
                  <c:v>#N/A</c:v>
                </c:pt>
                <c:pt idx="5952">
                  <c:v>#N/A</c:v>
                </c:pt>
                <c:pt idx="5953">
                  <c:v>#N/A</c:v>
                </c:pt>
                <c:pt idx="5954">
                  <c:v>#N/A</c:v>
                </c:pt>
                <c:pt idx="5955">
                  <c:v>#N/A</c:v>
                </c:pt>
                <c:pt idx="5956">
                  <c:v>#N/A</c:v>
                </c:pt>
                <c:pt idx="5957">
                  <c:v>#N/A</c:v>
                </c:pt>
                <c:pt idx="5958">
                  <c:v>#N/A</c:v>
                </c:pt>
                <c:pt idx="5959">
                  <c:v>#N/A</c:v>
                </c:pt>
                <c:pt idx="5960">
                  <c:v>#N/A</c:v>
                </c:pt>
                <c:pt idx="5961">
                  <c:v>#N/A</c:v>
                </c:pt>
                <c:pt idx="5962">
                  <c:v>#N/A</c:v>
                </c:pt>
                <c:pt idx="5963">
                  <c:v>#N/A</c:v>
                </c:pt>
                <c:pt idx="5964">
                  <c:v>#N/A</c:v>
                </c:pt>
                <c:pt idx="5965">
                  <c:v>#N/A</c:v>
                </c:pt>
                <c:pt idx="5966">
                  <c:v>#N/A</c:v>
                </c:pt>
                <c:pt idx="5967">
                  <c:v>#N/A</c:v>
                </c:pt>
                <c:pt idx="5968">
                  <c:v>#N/A</c:v>
                </c:pt>
                <c:pt idx="5969">
                  <c:v>#N/A</c:v>
                </c:pt>
                <c:pt idx="5970">
                  <c:v>#N/A</c:v>
                </c:pt>
                <c:pt idx="5971">
                  <c:v>#N/A</c:v>
                </c:pt>
                <c:pt idx="5972">
                  <c:v>#N/A</c:v>
                </c:pt>
                <c:pt idx="5973">
                  <c:v>#N/A</c:v>
                </c:pt>
                <c:pt idx="5974">
                  <c:v>#N/A</c:v>
                </c:pt>
                <c:pt idx="5975">
                  <c:v>#N/A</c:v>
                </c:pt>
                <c:pt idx="5976">
                  <c:v>#N/A</c:v>
                </c:pt>
                <c:pt idx="5977">
                  <c:v>#N/A</c:v>
                </c:pt>
                <c:pt idx="5978">
                  <c:v>#N/A</c:v>
                </c:pt>
                <c:pt idx="5979">
                  <c:v>#N/A</c:v>
                </c:pt>
                <c:pt idx="5980">
                  <c:v>#N/A</c:v>
                </c:pt>
                <c:pt idx="5981">
                  <c:v>#N/A</c:v>
                </c:pt>
                <c:pt idx="5982">
                  <c:v>#N/A</c:v>
                </c:pt>
                <c:pt idx="5983">
                  <c:v>#N/A</c:v>
                </c:pt>
                <c:pt idx="5984">
                  <c:v>#N/A</c:v>
                </c:pt>
                <c:pt idx="5985">
                  <c:v>#N/A</c:v>
                </c:pt>
                <c:pt idx="5986">
                  <c:v>#N/A</c:v>
                </c:pt>
                <c:pt idx="5987">
                  <c:v>#N/A</c:v>
                </c:pt>
                <c:pt idx="5988">
                  <c:v>#N/A</c:v>
                </c:pt>
                <c:pt idx="5989">
                  <c:v>#N/A</c:v>
                </c:pt>
                <c:pt idx="5990">
                  <c:v>#N/A</c:v>
                </c:pt>
                <c:pt idx="5991">
                  <c:v>#N/A</c:v>
                </c:pt>
                <c:pt idx="5992">
                  <c:v>#N/A</c:v>
                </c:pt>
                <c:pt idx="5993">
                  <c:v>#N/A</c:v>
                </c:pt>
                <c:pt idx="5994">
                  <c:v>#N/A</c:v>
                </c:pt>
                <c:pt idx="5995">
                  <c:v>#N/A</c:v>
                </c:pt>
                <c:pt idx="5996">
                  <c:v>#N/A</c:v>
                </c:pt>
                <c:pt idx="5997">
                  <c:v>#N/A</c:v>
                </c:pt>
                <c:pt idx="5998">
                  <c:v>#N/A</c:v>
                </c:pt>
                <c:pt idx="5999">
                  <c:v>#N/A</c:v>
                </c:pt>
                <c:pt idx="6000">
                  <c:v>#N/A</c:v>
                </c:pt>
                <c:pt idx="6001">
                  <c:v>#N/A</c:v>
                </c:pt>
                <c:pt idx="6002">
                  <c:v>#N/A</c:v>
                </c:pt>
                <c:pt idx="6003">
                  <c:v>#N/A</c:v>
                </c:pt>
                <c:pt idx="6004">
                  <c:v>#N/A</c:v>
                </c:pt>
                <c:pt idx="6005">
                  <c:v>#N/A</c:v>
                </c:pt>
                <c:pt idx="6006">
                  <c:v>#N/A</c:v>
                </c:pt>
                <c:pt idx="6007">
                  <c:v>#N/A</c:v>
                </c:pt>
                <c:pt idx="6008">
                  <c:v>#N/A</c:v>
                </c:pt>
                <c:pt idx="6009">
                  <c:v>#N/A</c:v>
                </c:pt>
                <c:pt idx="6010">
                  <c:v>#N/A</c:v>
                </c:pt>
                <c:pt idx="6011">
                  <c:v>#N/A</c:v>
                </c:pt>
                <c:pt idx="6012">
                  <c:v>#N/A</c:v>
                </c:pt>
                <c:pt idx="6013">
                  <c:v>#N/A</c:v>
                </c:pt>
                <c:pt idx="6014">
                  <c:v>#N/A</c:v>
                </c:pt>
                <c:pt idx="6015">
                  <c:v>#N/A</c:v>
                </c:pt>
                <c:pt idx="6016">
                  <c:v>#N/A</c:v>
                </c:pt>
                <c:pt idx="6017">
                  <c:v>#N/A</c:v>
                </c:pt>
                <c:pt idx="6018">
                  <c:v>#N/A</c:v>
                </c:pt>
                <c:pt idx="6019">
                  <c:v>#N/A</c:v>
                </c:pt>
                <c:pt idx="6020">
                  <c:v>#N/A</c:v>
                </c:pt>
                <c:pt idx="6021">
                  <c:v>#N/A</c:v>
                </c:pt>
                <c:pt idx="6022">
                  <c:v>#N/A</c:v>
                </c:pt>
                <c:pt idx="6023">
                  <c:v>#N/A</c:v>
                </c:pt>
                <c:pt idx="6024">
                  <c:v>#N/A</c:v>
                </c:pt>
                <c:pt idx="6025">
                  <c:v>#N/A</c:v>
                </c:pt>
                <c:pt idx="6026">
                  <c:v>#N/A</c:v>
                </c:pt>
                <c:pt idx="6027">
                  <c:v>#N/A</c:v>
                </c:pt>
                <c:pt idx="6028">
                  <c:v>#N/A</c:v>
                </c:pt>
                <c:pt idx="6029">
                  <c:v>#N/A</c:v>
                </c:pt>
                <c:pt idx="6030">
                  <c:v>#N/A</c:v>
                </c:pt>
                <c:pt idx="6031">
                  <c:v>#N/A</c:v>
                </c:pt>
                <c:pt idx="6032">
                  <c:v>#N/A</c:v>
                </c:pt>
                <c:pt idx="6033">
                  <c:v>#N/A</c:v>
                </c:pt>
                <c:pt idx="6034">
                  <c:v>#N/A</c:v>
                </c:pt>
                <c:pt idx="6035">
                  <c:v>#N/A</c:v>
                </c:pt>
                <c:pt idx="6036">
                  <c:v>#N/A</c:v>
                </c:pt>
                <c:pt idx="6037">
                  <c:v>#N/A</c:v>
                </c:pt>
                <c:pt idx="6038">
                  <c:v>#N/A</c:v>
                </c:pt>
                <c:pt idx="6039">
                  <c:v>#N/A</c:v>
                </c:pt>
                <c:pt idx="6040">
                  <c:v>#N/A</c:v>
                </c:pt>
                <c:pt idx="6041">
                  <c:v>#N/A</c:v>
                </c:pt>
                <c:pt idx="6042">
                  <c:v>#N/A</c:v>
                </c:pt>
                <c:pt idx="6043">
                  <c:v>#N/A</c:v>
                </c:pt>
                <c:pt idx="6044">
                  <c:v>#N/A</c:v>
                </c:pt>
                <c:pt idx="6045">
                  <c:v>#N/A</c:v>
                </c:pt>
                <c:pt idx="6046">
                  <c:v>#N/A</c:v>
                </c:pt>
                <c:pt idx="6047">
                  <c:v>#N/A</c:v>
                </c:pt>
                <c:pt idx="6048">
                  <c:v>#N/A</c:v>
                </c:pt>
                <c:pt idx="6049">
                  <c:v>#N/A</c:v>
                </c:pt>
                <c:pt idx="6050">
                  <c:v>#N/A</c:v>
                </c:pt>
                <c:pt idx="6051">
                  <c:v>#N/A</c:v>
                </c:pt>
                <c:pt idx="6052">
                  <c:v>#N/A</c:v>
                </c:pt>
                <c:pt idx="6053">
                  <c:v>#N/A</c:v>
                </c:pt>
                <c:pt idx="6054">
                  <c:v>#N/A</c:v>
                </c:pt>
                <c:pt idx="6055">
                  <c:v>#N/A</c:v>
                </c:pt>
                <c:pt idx="6056">
                  <c:v>#N/A</c:v>
                </c:pt>
                <c:pt idx="6057">
                  <c:v>#N/A</c:v>
                </c:pt>
                <c:pt idx="6058">
                  <c:v>#N/A</c:v>
                </c:pt>
                <c:pt idx="6059">
                  <c:v>#N/A</c:v>
                </c:pt>
                <c:pt idx="6060">
                  <c:v>#N/A</c:v>
                </c:pt>
                <c:pt idx="6061">
                  <c:v>#N/A</c:v>
                </c:pt>
                <c:pt idx="6062">
                  <c:v>#N/A</c:v>
                </c:pt>
                <c:pt idx="6063">
                  <c:v>#N/A</c:v>
                </c:pt>
                <c:pt idx="6064">
                  <c:v>#N/A</c:v>
                </c:pt>
                <c:pt idx="6065">
                  <c:v>#N/A</c:v>
                </c:pt>
                <c:pt idx="6066">
                  <c:v>#N/A</c:v>
                </c:pt>
                <c:pt idx="6067">
                  <c:v>#N/A</c:v>
                </c:pt>
                <c:pt idx="6068">
                  <c:v>#N/A</c:v>
                </c:pt>
                <c:pt idx="6069">
                  <c:v>#N/A</c:v>
                </c:pt>
                <c:pt idx="6070">
                  <c:v>#N/A</c:v>
                </c:pt>
                <c:pt idx="6071">
                  <c:v>#N/A</c:v>
                </c:pt>
                <c:pt idx="6072">
                  <c:v>#N/A</c:v>
                </c:pt>
                <c:pt idx="6073">
                  <c:v>#N/A</c:v>
                </c:pt>
                <c:pt idx="6074">
                  <c:v>#N/A</c:v>
                </c:pt>
                <c:pt idx="6075">
                  <c:v>#N/A</c:v>
                </c:pt>
                <c:pt idx="6076">
                  <c:v>#N/A</c:v>
                </c:pt>
                <c:pt idx="6077">
                  <c:v>#N/A</c:v>
                </c:pt>
                <c:pt idx="6078">
                  <c:v>#N/A</c:v>
                </c:pt>
                <c:pt idx="6079">
                  <c:v>#N/A</c:v>
                </c:pt>
                <c:pt idx="6080">
                  <c:v>#N/A</c:v>
                </c:pt>
                <c:pt idx="6081">
                  <c:v>#N/A</c:v>
                </c:pt>
                <c:pt idx="6082">
                  <c:v>#N/A</c:v>
                </c:pt>
                <c:pt idx="6083">
                  <c:v>#N/A</c:v>
                </c:pt>
                <c:pt idx="6084">
                  <c:v>#N/A</c:v>
                </c:pt>
                <c:pt idx="6085">
                  <c:v>#N/A</c:v>
                </c:pt>
                <c:pt idx="6086">
                  <c:v>#N/A</c:v>
                </c:pt>
                <c:pt idx="6087">
                  <c:v>#N/A</c:v>
                </c:pt>
                <c:pt idx="6088">
                  <c:v>#N/A</c:v>
                </c:pt>
                <c:pt idx="6089">
                  <c:v>#N/A</c:v>
                </c:pt>
                <c:pt idx="6090">
                  <c:v>#N/A</c:v>
                </c:pt>
                <c:pt idx="6091">
                  <c:v>#N/A</c:v>
                </c:pt>
                <c:pt idx="6092">
                  <c:v>#N/A</c:v>
                </c:pt>
                <c:pt idx="6093">
                  <c:v>#N/A</c:v>
                </c:pt>
                <c:pt idx="6094">
                  <c:v>#N/A</c:v>
                </c:pt>
                <c:pt idx="6095">
                  <c:v>#N/A</c:v>
                </c:pt>
                <c:pt idx="6096">
                  <c:v>#N/A</c:v>
                </c:pt>
                <c:pt idx="6097">
                  <c:v>#N/A</c:v>
                </c:pt>
                <c:pt idx="6098">
                  <c:v>#N/A</c:v>
                </c:pt>
                <c:pt idx="6099">
                  <c:v>#N/A</c:v>
                </c:pt>
                <c:pt idx="6100">
                  <c:v>#N/A</c:v>
                </c:pt>
                <c:pt idx="6101">
                  <c:v>#N/A</c:v>
                </c:pt>
                <c:pt idx="6102">
                  <c:v>#N/A</c:v>
                </c:pt>
                <c:pt idx="6103">
                  <c:v>#N/A</c:v>
                </c:pt>
                <c:pt idx="6104">
                  <c:v>#N/A</c:v>
                </c:pt>
                <c:pt idx="6105">
                  <c:v>#N/A</c:v>
                </c:pt>
                <c:pt idx="6106">
                  <c:v>#N/A</c:v>
                </c:pt>
                <c:pt idx="6107">
                  <c:v>#N/A</c:v>
                </c:pt>
                <c:pt idx="6108">
                  <c:v>#N/A</c:v>
                </c:pt>
                <c:pt idx="6109">
                  <c:v>#N/A</c:v>
                </c:pt>
                <c:pt idx="6110">
                  <c:v>#N/A</c:v>
                </c:pt>
                <c:pt idx="6111">
                  <c:v>#N/A</c:v>
                </c:pt>
                <c:pt idx="6112">
                  <c:v>#N/A</c:v>
                </c:pt>
                <c:pt idx="6113">
                  <c:v>#N/A</c:v>
                </c:pt>
                <c:pt idx="6114">
                  <c:v>#N/A</c:v>
                </c:pt>
                <c:pt idx="6115">
                  <c:v>#N/A</c:v>
                </c:pt>
                <c:pt idx="6116">
                  <c:v>#N/A</c:v>
                </c:pt>
                <c:pt idx="6117">
                  <c:v>#N/A</c:v>
                </c:pt>
                <c:pt idx="6118">
                  <c:v>#N/A</c:v>
                </c:pt>
                <c:pt idx="6119">
                  <c:v>#N/A</c:v>
                </c:pt>
                <c:pt idx="6120">
                  <c:v>#N/A</c:v>
                </c:pt>
                <c:pt idx="6121">
                  <c:v>#N/A</c:v>
                </c:pt>
                <c:pt idx="6122">
                  <c:v>#N/A</c:v>
                </c:pt>
                <c:pt idx="6123">
                  <c:v>#N/A</c:v>
                </c:pt>
                <c:pt idx="6124">
                  <c:v>#N/A</c:v>
                </c:pt>
                <c:pt idx="6125">
                  <c:v>#N/A</c:v>
                </c:pt>
                <c:pt idx="6126">
                  <c:v>#N/A</c:v>
                </c:pt>
                <c:pt idx="6127">
                  <c:v>#N/A</c:v>
                </c:pt>
                <c:pt idx="6128">
                  <c:v>#N/A</c:v>
                </c:pt>
                <c:pt idx="6129">
                  <c:v>#N/A</c:v>
                </c:pt>
                <c:pt idx="6130">
                  <c:v>#N/A</c:v>
                </c:pt>
                <c:pt idx="6131">
                  <c:v>#N/A</c:v>
                </c:pt>
                <c:pt idx="6132">
                  <c:v>#N/A</c:v>
                </c:pt>
                <c:pt idx="6133">
                  <c:v>#N/A</c:v>
                </c:pt>
                <c:pt idx="6134">
                  <c:v>#N/A</c:v>
                </c:pt>
                <c:pt idx="6135">
                  <c:v>#N/A</c:v>
                </c:pt>
                <c:pt idx="6136">
                  <c:v>#N/A</c:v>
                </c:pt>
                <c:pt idx="6137">
                  <c:v>#N/A</c:v>
                </c:pt>
                <c:pt idx="6138">
                  <c:v>#N/A</c:v>
                </c:pt>
                <c:pt idx="6139">
                  <c:v>#N/A</c:v>
                </c:pt>
                <c:pt idx="6140">
                  <c:v>#N/A</c:v>
                </c:pt>
                <c:pt idx="6141">
                  <c:v>#N/A</c:v>
                </c:pt>
                <c:pt idx="6142">
                  <c:v>#N/A</c:v>
                </c:pt>
                <c:pt idx="6143">
                  <c:v>#N/A</c:v>
                </c:pt>
                <c:pt idx="6144">
                  <c:v>#N/A</c:v>
                </c:pt>
                <c:pt idx="6145">
                  <c:v>#N/A</c:v>
                </c:pt>
                <c:pt idx="6146">
                  <c:v>#N/A</c:v>
                </c:pt>
                <c:pt idx="6147">
                  <c:v>#N/A</c:v>
                </c:pt>
                <c:pt idx="6148">
                  <c:v>#N/A</c:v>
                </c:pt>
                <c:pt idx="6149">
                  <c:v>#N/A</c:v>
                </c:pt>
                <c:pt idx="6150">
                  <c:v>#N/A</c:v>
                </c:pt>
                <c:pt idx="6151">
                  <c:v>#N/A</c:v>
                </c:pt>
                <c:pt idx="6152">
                  <c:v>#N/A</c:v>
                </c:pt>
                <c:pt idx="6153">
                  <c:v>#N/A</c:v>
                </c:pt>
                <c:pt idx="6154">
                  <c:v>#N/A</c:v>
                </c:pt>
                <c:pt idx="6155">
                  <c:v>#N/A</c:v>
                </c:pt>
                <c:pt idx="6156">
                  <c:v>#N/A</c:v>
                </c:pt>
                <c:pt idx="6157">
                  <c:v>#N/A</c:v>
                </c:pt>
                <c:pt idx="6158">
                  <c:v>#N/A</c:v>
                </c:pt>
                <c:pt idx="6159">
                  <c:v>#N/A</c:v>
                </c:pt>
                <c:pt idx="6160">
                  <c:v>#N/A</c:v>
                </c:pt>
                <c:pt idx="6161">
                  <c:v>#N/A</c:v>
                </c:pt>
                <c:pt idx="6162">
                  <c:v>#N/A</c:v>
                </c:pt>
                <c:pt idx="6163">
                  <c:v>#N/A</c:v>
                </c:pt>
                <c:pt idx="6164">
                  <c:v>#N/A</c:v>
                </c:pt>
                <c:pt idx="6165">
                  <c:v>#N/A</c:v>
                </c:pt>
                <c:pt idx="6166">
                  <c:v>#N/A</c:v>
                </c:pt>
                <c:pt idx="6167">
                  <c:v>#N/A</c:v>
                </c:pt>
                <c:pt idx="6168">
                  <c:v>#N/A</c:v>
                </c:pt>
                <c:pt idx="6169">
                  <c:v>#N/A</c:v>
                </c:pt>
                <c:pt idx="6170">
                  <c:v>#N/A</c:v>
                </c:pt>
                <c:pt idx="6171">
                  <c:v>#N/A</c:v>
                </c:pt>
                <c:pt idx="6172">
                  <c:v>#N/A</c:v>
                </c:pt>
                <c:pt idx="6173">
                  <c:v>#N/A</c:v>
                </c:pt>
                <c:pt idx="6174">
                  <c:v>#N/A</c:v>
                </c:pt>
                <c:pt idx="6175">
                  <c:v>#N/A</c:v>
                </c:pt>
                <c:pt idx="6176">
                  <c:v>#N/A</c:v>
                </c:pt>
                <c:pt idx="6177">
                  <c:v>#N/A</c:v>
                </c:pt>
                <c:pt idx="6178">
                  <c:v>#N/A</c:v>
                </c:pt>
                <c:pt idx="6179">
                  <c:v>#N/A</c:v>
                </c:pt>
                <c:pt idx="6180">
                  <c:v>#N/A</c:v>
                </c:pt>
                <c:pt idx="6181">
                  <c:v>#N/A</c:v>
                </c:pt>
                <c:pt idx="6182">
                  <c:v>#N/A</c:v>
                </c:pt>
                <c:pt idx="6183">
                  <c:v>#N/A</c:v>
                </c:pt>
                <c:pt idx="6184">
                  <c:v>#N/A</c:v>
                </c:pt>
                <c:pt idx="6185">
                  <c:v>#N/A</c:v>
                </c:pt>
                <c:pt idx="6186">
                  <c:v>#N/A</c:v>
                </c:pt>
                <c:pt idx="6187">
                  <c:v>#N/A</c:v>
                </c:pt>
                <c:pt idx="6188">
                  <c:v>#N/A</c:v>
                </c:pt>
                <c:pt idx="6189">
                  <c:v>#N/A</c:v>
                </c:pt>
                <c:pt idx="6190">
                  <c:v>#N/A</c:v>
                </c:pt>
                <c:pt idx="6191">
                  <c:v>#N/A</c:v>
                </c:pt>
                <c:pt idx="6192">
                  <c:v>#N/A</c:v>
                </c:pt>
                <c:pt idx="6193">
                  <c:v>#N/A</c:v>
                </c:pt>
                <c:pt idx="6194">
                  <c:v>#N/A</c:v>
                </c:pt>
                <c:pt idx="6195">
                  <c:v>#N/A</c:v>
                </c:pt>
                <c:pt idx="6196">
                  <c:v>#N/A</c:v>
                </c:pt>
                <c:pt idx="6197">
                  <c:v>#N/A</c:v>
                </c:pt>
                <c:pt idx="6198">
                  <c:v>#N/A</c:v>
                </c:pt>
                <c:pt idx="6199">
                  <c:v>#N/A</c:v>
                </c:pt>
                <c:pt idx="6200">
                  <c:v>#N/A</c:v>
                </c:pt>
                <c:pt idx="6201">
                  <c:v>#N/A</c:v>
                </c:pt>
                <c:pt idx="6202">
                  <c:v>#N/A</c:v>
                </c:pt>
                <c:pt idx="6203">
                  <c:v>#N/A</c:v>
                </c:pt>
                <c:pt idx="6204">
                  <c:v>#N/A</c:v>
                </c:pt>
                <c:pt idx="6205">
                  <c:v>#N/A</c:v>
                </c:pt>
                <c:pt idx="6206">
                  <c:v>#N/A</c:v>
                </c:pt>
                <c:pt idx="6207">
                  <c:v>#N/A</c:v>
                </c:pt>
                <c:pt idx="6208">
                  <c:v>#N/A</c:v>
                </c:pt>
                <c:pt idx="6209">
                  <c:v>#N/A</c:v>
                </c:pt>
                <c:pt idx="6210">
                  <c:v>#N/A</c:v>
                </c:pt>
                <c:pt idx="6211">
                  <c:v>#N/A</c:v>
                </c:pt>
                <c:pt idx="6212">
                  <c:v>#N/A</c:v>
                </c:pt>
                <c:pt idx="6213">
                  <c:v>#N/A</c:v>
                </c:pt>
                <c:pt idx="6214">
                  <c:v>#N/A</c:v>
                </c:pt>
                <c:pt idx="6215">
                  <c:v>#N/A</c:v>
                </c:pt>
                <c:pt idx="6216">
                  <c:v>#N/A</c:v>
                </c:pt>
                <c:pt idx="6217">
                  <c:v>#N/A</c:v>
                </c:pt>
                <c:pt idx="6218">
                  <c:v>#N/A</c:v>
                </c:pt>
                <c:pt idx="6219">
                  <c:v>#N/A</c:v>
                </c:pt>
                <c:pt idx="6220">
                  <c:v>#N/A</c:v>
                </c:pt>
                <c:pt idx="6221">
                  <c:v>#N/A</c:v>
                </c:pt>
                <c:pt idx="6222">
                  <c:v>#N/A</c:v>
                </c:pt>
                <c:pt idx="6223">
                  <c:v>#N/A</c:v>
                </c:pt>
                <c:pt idx="6224">
                  <c:v>#N/A</c:v>
                </c:pt>
                <c:pt idx="6225">
                  <c:v>#N/A</c:v>
                </c:pt>
                <c:pt idx="6226">
                  <c:v>#N/A</c:v>
                </c:pt>
                <c:pt idx="6227">
                  <c:v>#N/A</c:v>
                </c:pt>
                <c:pt idx="6228">
                  <c:v>#N/A</c:v>
                </c:pt>
                <c:pt idx="6229">
                  <c:v>#N/A</c:v>
                </c:pt>
                <c:pt idx="6230">
                  <c:v>#N/A</c:v>
                </c:pt>
                <c:pt idx="6231">
                  <c:v>#N/A</c:v>
                </c:pt>
                <c:pt idx="6232">
                  <c:v>#N/A</c:v>
                </c:pt>
                <c:pt idx="6233">
                  <c:v>#N/A</c:v>
                </c:pt>
                <c:pt idx="6234">
                  <c:v>#N/A</c:v>
                </c:pt>
                <c:pt idx="6235">
                  <c:v>#N/A</c:v>
                </c:pt>
                <c:pt idx="6236">
                  <c:v>#N/A</c:v>
                </c:pt>
                <c:pt idx="6237">
                  <c:v>#N/A</c:v>
                </c:pt>
                <c:pt idx="6238">
                  <c:v>#N/A</c:v>
                </c:pt>
                <c:pt idx="6239">
                  <c:v>#N/A</c:v>
                </c:pt>
                <c:pt idx="6240">
                  <c:v>#N/A</c:v>
                </c:pt>
                <c:pt idx="6241">
                  <c:v>#N/A</c:v>
                </c:pt>
                <c:pt idx="6242">
                  <c:v>#N/A</c:v>
                </c:pt>
                <c:pt idx="6243">
                  <c:v>#N/A</c:v>
                </c:pt>
                <c:pt idx="6244">
                  <c:v>#N/A</c:v>
                </c:pt>
                <c:pt idx="6245">
                  <c:v>#N/A</c:v>
                </c:pt>
                <c:pt idx="6246">
                  <c:v>#N/A</c:v>
                </c:pt>
                <c:pt idx="6247">
                  <c:v>#N/A</c:v>
                </c:pt>
                <c:pt idx="6248">
                  <c:v>#N/A</c:v>
                </c:pt>
                <c:pt idx="6249">
                  <c:v>#N/A</c:v>
                </c:pt>
                <c:pt idx="6250">
                  <c:v>#N/A</c:v>
                </c:pt>
                <c:pt idx="6251">
                  <c:v>#N/A</c:v>
                </c:pt>
                <c:pt idx="6252">
                  <c:v>#N/A</c:v>
                </c:pt>
                <c:pt idx="6253">
                  <c:v>#N/A</c:v>
                </c:pt>
                <c:pt idx="6254">
                  <c:v>#N/A</c:v>
                </c:pt>
                <c:pt idx="6255">
                  <c:v>#N/A</c:v>
                </c:pt>
                <c:pt idx="6256">
                  <c:v>#N/A</c:v>
                </c:pt>
                <c:pt idx="6257">
                  <c:v>#N/A</c:v>
                </c:pt>
                <c:pt idx="6258">
                  <c:v>#N/A</c:v>
                </c:pt>
                <c:pt idx="6259">
                  <c:v>#N/A</c:v>
                </c:pt>
                <c:pt idx="6260">
                  <c:v>#N/A</c:v>
                </c:pt>
                <c:pt idx="6261">
                  <c:v>#N/A</c:v>
                </c:pt>
                <c:pt idx="6262">
                  <c:v>#N/A</c:v>
                </c:pt>
                <c:pt idx="6263">
                  <c:v>#N/A</c:v>
                </c:pt>
                <c:pt idx="6264">
                  <c:v>#N/A</c:v>
                </c:pt>
                <c:pt idx="6265">
                  <c:v>#N/A</c:v>
                </c:pt>
                <c:pt idx="6266">
                  <c:v>#N/A</c:v>
                </c:pt>
                <c:pt idx="6267">
                  <c:v>#N/A</c:v>
                </c:pt>
                <c:pt idx="6268">
                  <c:v>#N/A</c:v>
                </c:pt>
                <c:pt idx="6269">
                  <c:v>#N/A</c:v>
                </c:pt>
                <c:pt idx="6270">
                  <c:v>#N/A</c:v>
                </c:pt>
                <c:pt idx="6271">
                  <c:v>#N/A</c:v>
                </c:pt>
                <c:pt idx="6272">
                  <c:v>#N/A</c:v>
                </c:pt>
                <c:pt idx="6273">
                  <c:v>#N/A</c:v>
                </c:pt>
                <c:pt idx="6274">
                  <c:v>#N/A</c:v>
                </c:pt>
                <c:pt idx="6275">
                  <c:v>#N/A</c:v>
                </c:pt>
                <c:pt idx="6276">
                  <c:v>#N/A</c:v>
                </c:pt>
                <c:pt idx="6277">
                  <c:v>#N/A</c:v>
                </c:pt>
                <c:pt idx="6278">
                  <c:v>#N/A</c:v>
                </c:pt>
                <c:pt idx="6279">
                  <c:v>#N/A</c:v>
                </c:pt>
                <c:pt idx="6280">
                  <c:v>#N/A</c:v>
                </c:pt>
                <c:pt idx="6281">
                  <c:v>#N/A</c:v>
                </c:pt>
                <c:pt idx="6282">
                  <c:v>#N/A</c:v>
                </c:pt>
                <c:pt idx="6283">
                  <c:v>#N/A</c:v>
                </c:pt>
                <c:pt idx="6284">
                  <c:v>#N/A</c:v>
                </c:pt>
                <c:pt idx="6285">
                  <c:v>#N/A</c:v>
                </c:pt>
                <c:pt idx="6286">
                  <c:v>#N/A</c:v>
                </c:pt>
                <c:pt idx="6287">
                  <c:v>#N/A</c:v>
                </c:pt>
                <c:pt idx="6288">
                  <c:v>#N/A</c:v>
                </c:pt>
                <c:pt idx="6289">
                  <c:v>#N/A</c:v>
                </c:pt>
                <c:pt idx="6290">
                  <c:v>#N/A</c:v>
                </c:pt>
                <c:pt idx="6291">
                  <c:v>#N/A</c:v>
                </c:pt>
                <c:pt idx="6292">
                  <c:v>#N/A</c:v>
                </c:pt>
                <c:pt idx="6293">
                  <c:v>#N/A</c:v>
                </c:pt>
                <c:pt idx="6294">
                  <c:v>#N/A</c:v>
                </c:pt>
                <c:pt idx="6295">
                  <c:v>#N/A</c:v>
                </c:pt>
                <c:pt idx="6296">
                  <c:v>#N/A</c:v>
                </c:pt>
                <c:pt idx="6297">
                  <c:v>#N/A</c:v>
                </c:pt>
                <c:pt idx="6298">
                  <c:v>#N/A</c:v>
                </c:pt>
                <c:pt idx="6299">
                  <c:v>#N/A</c:v>
                </c:pt>
                <c:pt idx="6300">
                  <c:v>#N/A</c:v>
                </c:pt>
                <c:pt idx="6301">
                  <c:v>#N/A</c:v>
                </c:pt>
                <c:pt idx="6302">
                  <c:v>#N/A</c:v>
                </c:pt>
                <c:pt idx="6303">
                  <c:v>#N/A</c:v>
                </c:pt>
                <c:pt idx="6304">
                  <c:v>#N/A</c:v>
                </c:pt>
                <c:pt idx="6305">
                  <c:v>#N/A</c:v>
                </c:pt>
                <c:pt idx="6306">
                  <c:v>#N/A</c:v>
                </c:pt>
                <c:pt idx="6307">
                  <c:v>#N/A</c:v>
                </c:pt>
                <c:pt idx="6308">
                  <c:v>#N/A</c:v>
                </c:pt>
                <c:pt idx="6309">
                  <c:v>#N/A</c:v>
                </c:pt>
                <c:pt idx="6310">
                  <c:v>#N/A</c:v>
                </c:pt>
                <c:pt idx="6311">
                  <c:v>#N/A</c:v>
                </c:pt>
                <c:pt idx="6312">
                  <c:v>#N/A</c:v>
                </c:pt>
                <c:pt idx="6313">
                  <c:v>#N/A</c:v>
                </c:pt>
                <c:pt idx="6314">
                  <c:v>#N/A</c:v>
                </c:pt>
                <c:pt idx="6315">
                  <c:v>#N/A</c:v>
                </c:pt>
                <c:pt idx="6316">
                  <c:v>#N/A</c:v>
                </c:pt>
                <c:pt idx="6317">
                  <c:v>#N/A</c:v>
                </c:pt>
                <c:pt idx="6318">
                  <c:v>#N/A</c:v>
                </c:pt>
                <c:pt idx="6319">
                  <c:v>#N/A</c:v>
                </c:pt>
                <c:pt idx="6320">
                  <c:v>#N/A</c:v>
                </c:pt>
                <c:pt idx="6321">
                  <c:v>#N/A</c:v>
                </c:pt>
                <c:pt idx="6322">
                  <c:v>#N/A</c:v>
                </c:pt>
                <c:pt idx="6323">
                  <c:v>#N/A</c:v>
                </c:pt>
                <c:pt idx="6324">
                  <c:v>#N/A</c:v>
                </c:pt>
                <c:pt idx="6325">
                  <c:v>#N/A</c:v>
                </c:pt>
                <c:pt idx="6326">
                  <c:v>#N/A</c:v>
                </c:pt>
                <c:pt idx="6327">
                  <c:v>#N/A</c:v>
                </c:pt>
                <c:pt idx="6328">
                  <c:v>#N/A</c:v>
                </c:pt>
                <c:pt idx="6329">
                  <c:v>#N/A</c:v>
                </c:pt>
                <c:pt idx="6330">
                  <c:v>#N/A</c:v>
                </c:pt>
                <c:pt idx="6331">
                  <c:v>#N/A</c:v>
                </c:pt>
                <c:pt idx="6332">
                  <c:v>#N/A</c:v>
                </c:pt>
                <c:pt idx="6333">
                  <c:v>#N/A</c:v>
                </c:pt>
                <c:pt idx="6334">
                  <c:v>#N/A</c:v>
                </c:pt>
                <c:pt idx="6335">
                  <c:v>#N/A</c:v>
                </c:pt>
                <c:pt idx="6336">
                  <c:v>#N/A</c:v>
                </c:pt>
                <c:pt idx="6337">
                  <c:v>#N/A</c:v>
                </c:pt>
                <c:pt idx="6338">
                  <c:v>#N/A</c:v>
                </c:pt>
                <c:pt idx="6339">
                  <c:v>#N/A</c:v>
                </c:pt>
                <c:pt idx="6340">
                  <c:v>#N/A</c:v>
                </c:pt>
                <c:pt idx="6341">
                  <c:v>#N/A</c:v>
                </c:pt>
                <c:pt idx="6342">
                  <c:v>#N/A</c:v>
                </c:pt>
                <c:pt idx="6343">
                  <c:v>#N/A</c:v>
                </c:pt>
                <c:pt idx="6344">
                  <c:v>#N/A</c:v>
                </c:pt>
                <c:pt idx="6345">
                  <c:v>#N/A</c:v>
                </c:pt>
                <c:pt idx="6346">
                  <c:v>#N/A</c:v>
                </c:pt>
                <c:pt idx="6347">
                  <c:v>#N/A</c:v>
                </c:pt>
                <c:pt idx="6348">
                  <c:v>#N/A</c:v>
                </c:pt>
                <c:pt idx="6349">
                  <c:v>#N/A</c:v>
                </c:pt>
                <c:pt idx="6350">
                  <c:v>#N/A</c:v>
                </c:pt>
                <c:pt idx="6351">
                  <c:v>#N/A</c:v>
                </c:pt>
                <c:pt idx="6352">
                  <c:v>#N/A</c:v>
                </c:pt>
                <c:pt idx="6353">
                  <c:v>#N/A</c:v>
                </c:pt>
                <c:pt idx="6354">
                  <c:v>#N/A</c:v>
                </c:pt>
                <c:pt idx="6355">
                  <c:v>#N/A</c:v>
                </c:pt>
                <c:pt idx="6356">
                  <c:v>#N/A</c:v>
                </c:pt>
                <c:pt idx="6357">
                  <c:v>#N/A</c:v>
                </c:pt>
                <c:pt idx="6358">
                  <c:v>#N/A</c:v>
                </c:pt>
                <c:pt idx="6359">
                  <c:v>#N/A</c:v>
                </c:pt>
                <c:pt idx="6360">
                  <c:v>#N/A</c:v>
                </c:pt>
                <c:pt idx="6361">
                  <c:v>#N/A</c:v>
                </c:pt>
                <c:pt idx="6362">
                  <c:v>#N/A</c:v>
                </c:pt>
                <c:pt idx="6363">
                  <c:v>#N/A</c:v>
                </c:pt>
                <c:pt idx="6364">
                  <c:v>#N/A</c:v>
                </c:pt>
                <c:pt idx="6365">
                  <c:v>#N/A</c:v>
                </c:pt>
                <c:pt idx="6366">
                  <c:v>#N/A</c:v>
                </c:pt>
                <c:pt idx="6367">
                  <c:v>#N/A</c:v>
                </c:pt>
                <c:pt idx="6368">
                  <c:v>#N/A</c:v>
                </c:pt>
                <c:pt idx="6369">
                  <c:v>#N/A</c:v>
                </c:pt>
                <c:pt idx="6370">
                  <c:v>#N/A</c:v>
                </c:pt>
                <c:pt idx="6371">
                  <c:v>#N/A</c:v>
                </c:pt>
                <c:pt idx="6372">
                  <c:v>#N/A</c:v>
                </c:pt>
                <c:pt idx="6373">
                  <c:v>#N/A</c:v>
                </c:pt>
                <c:pt idx="6374">
                  <c:v>#N/A</c:v>
                </c:pt>
                <c:pt idx="6375">
                  <c:v>#N/A</c:v>
                </c:pt>
                <c:pt idx="6376">
                  <c:v>#N/A</c:v>
                </c:pt>
                <c:pt idx="6377">
                  <c:v>#N/A</c:v>
                </c:pt>
                <c:pt idx="6378">
                  <c:v>#N/A</c:v>
                </c:pt>
                <c:pt idx="6379">
                  <c:v>#N/A</c:v>
                </c:pt>
                <c:pt idx="6380">
                  <c:v>#N/A</c:v>
                </c:pt>
                <c:pt idx="6381">
                  <c:v>#N/A</c:v>
                </c:pt>
                <c:pt idx="6382">
                  <c:v>#N/A</c:v>
                </c:pt>
                <c:pt idx="6383">
                  <c:v>#N/A</c:v>
                </c:pt>
                <c:pt idx="6384">
                  <c:v>#N/A</c:v>
                </c:pt>
                <c:pt idx="6385">
                  <c:v>#N/A</c:v>
                </c:pt>
                <c:pt idx="6386">
                  <c:v>#N/A</c:v>
                </c:pt>
                <c:pt idx="6387">
                  <c:v>#N/A</c:v>
                </c:pt>
                <c:pt idx="6388">
                  <c:v>#N/A</c:v>
                </c:pt>
                <c:pt idx="6389">
                  <c:v>#N/A</c:v>
                </c:pt>
                <c:pt idx="6390">
                  <c:v>#N/A</c:v>
                </c:pt>
                <c:pt idx="6391">
                  <c:v>#N/A</c:v>
                </c:pt>
                <c:pt idx="6392">
                  <c:v>#N/A</c:v>
                </c:pt>
                <c:pt idx="6393">
                  <c:v>#N/A</c:v>
                </c:pt>
                <c:pt idx="6394">
                  <c:v>#N/A</c:v>
                </c:pt>
                <c:pt idx="6395">
                  <c:v>#N/A</c:v>
                </c:pt>
                <c:pt idx="6396">
                  <c:v>#N/A</c:v>
                </c:pt>
                <c:pt idx="6397">
                  <c:v>#N/A</c:v>
                </c:pt>
                <c:pt idx="6398">
                  <c:v>#N/A</c:v>
                </c:pt>
                <c:pt idx="6399">
                  <c:v>#N/A</c:v>
                </c:pt>
                <c:pt idx="6400">
                  <c:v>#N/A</c:v>
                </c:pt>
                <c:pt idx="6401">
                  <c:v>#N/A</c:v>
                </c:pt>
                <c:pt idx="6402">
                  <c:v>#N/A</c:v>
                </c:pt>
                <c:pt idx="6403">
                  <c:v>#N/A</c:v>
                </c:pt>
                <c:pt idx="6404">
                  <c:v>#N/A</c:v>
                </c:pt>
                <c:pt idx="6405">
                  <c:v>#N/A</c:v>
                </c:pt>
                <c:pt idx="6406">
                  <c:v>#N/A</c:v>
                </c:pt>
                <c:pt idx="6407">
                  <c:v>#N/A</c:v>
                </c:pt>
                <c:pt idx="6408">
                  <c:v>#N/A</c:v>
                </c:pt>
                <c:pt idx="6409">
                  <c:v>#N/A</c:v>
                </c:pt>
                <c:pt idx="6410">
                  <c:v>#N/A</c:v>
                </c:pt>
                <c:pt idx="6411">
                  <c:v>#N/A</c:v>
                </c:pt>
                <c:pt idx="6412">
                  <c:v>#N/A</c:v>
                </c:pt>
                <c:pt idx="6413">
                  <c:v>#N/A</c:v>
                </c:pt>
                <c:pt idx="6414">
                  <c:v>#N/A</c:v>
                </c:pt>
                <c:pt idx="6415">
                  <c:v>#N/A</c:v>
                </c:pt>
                <c:pt idx="6416">
                  <c:v>#N/A</c:v>
                </c:pt>
                <c:pt idx="6417">
                  <c:v>#N/A</c:v>
                </c:pt>
                <c:pt idx="6418">
                  <c:v>#N/A</c:v>
                </c:pt>
                <c:pt idx="6419">
                  <c:v>#N/A</c:v>
                </c:pt>
                <c:pt idx="6420">
                  <c:v>#N/A</c:v>
                </c:pt>
                <c:pt idx="6421">
                  <c:v>#N/A</c:v>
                </c:pt>
                <c:pt idx="6422">
                  <c:v>#N/A</c:v>
                </c:pt>
                <c:pt idx="6423">
                  <c:v>#N/A</c:v>
                </c:pt>
                <c:pt idx="6424">
                  <c:v>#N/A</c:v>
                </c:pt>
                <c:pt idx="6425">
                  <c:v>#N/A</c:v>
                </c:pt>
                <c:pt idx="6426">
                  <c:v>#N/A</c:v>
                </c:pt>
                <c:pt idx="6427">
                  <c:v>#N/A</c:v>
                </c:pt>
                <c:pt idx="6428">
                  <c:v>#N/A</c:v>
                </c:pt>
                <c:pt idx="6429">
                  <c:v>#N/A</c:v>
                </c:pt>
                <c:pt idx="6430">
                  <c:v>#N/A</c:v>
                </c:pt>
                <c:pt idx="6431">
                  <c:v>#N/A</c:v>
                </c:pt>
                <c:pt idx="6432">
                  <c:v>#N/A</c:v>
                </c:pt>
                <c:pt idx="6433">
                  <c:v>#N/A</c:v>
                </c:pt>
                <c:pt idx="6434">
                  <c:v>#N/A</c:v>
                </c:pt>
                <c:pt idx="6435">
                  <c:v>#N/A</c:v>
                </c:pt>
                <c:pt idx="6436">
                  <c:v>#N/A</c:v>
                </c:pt>
                <c:pt idx="6437">
                  <c:v>#N/A</c:v>
                </c:pt>
                <c:pt idx="6438">
                  <c:v>#N/A</c:v>
                </c:pt>
                <c:pt idx="6439">
                  <c:v>#N/A</c:v>
                </c:pt>
                <c:pt idx="6440">
                  <c:v>#N/A</c:v>
                </c:pt>
                <c:pt idx="6441">
                  <c:v>#N/A</c:v>
                </c:pt>
                <c:pt idx="6442">
                  <c:v>#N/A</c:v>
                </c:pt>
                <c:pt idx="6443">
                  <c:v>#N/A</c:v>
                </c:pt>
                <c:pt idx="6444">
                  <c:v>#N/A</c:v>
                </c:pt>
                <c:pt idx="6445">
                  <c:v>#N/A</c:v>
                </c:pt>
                <c:pt idx="6446">
                  <c:v>#N/A</c:v>
                </c:pt>
                <c:pt idx="6447">
                  <c:v>#N/A</c:v>
                </c:pt>
                <c:pt idx="6448">
                  <c:v>#N/A</c:v>
                </c:pt>
                <c:pt idx="6449">
                  <c:v>#N/A</c:v>
                </c:pt>
                <c:pt idx="6450">
                  <c:v>#N/A</c:v>
                </c:pt>
                <c:pt idx="6451">
                  <c:v>#N/A</c:v>
                </c:pt>
                <c:pt idx="6452">
                  <c:v>#N/A</c:v>
                </c:pt>
                <c:pt idx="6453">
                  <c:v>#N/A</c:v>
                </c:pt>
                <c:pt idx="6454">
                  <c:v>#N/A</c:v>
                </c:pt>
                <c:pt idx="6455">
                  <c:v>#N/A</c:v>
                </c:pt>
                <c:pt idx="6456">
                  <c:v>#N/A</c:v>
                </c:pt>
                <c:pt idx="6457">
                  <c:v>#N/A</c:v>
                </c:pt>
                <c:pt idx="6458">
                  <c:v>#N/A</c:v>
                </c:pt>
                <c:pt idx="6459">
                  <c:v>#N/A</c:v>
                </c:pt>
                <c:pt idx="6460">
                  <c:v>#N/A</c:v>
                </c:pt>
                <c:pt idx="6461">
                  <c:v>#N/A</c:v>
                </c:pt>
                <c:pt idx="6462">
                  <c:v>#N/A</c:v>
                </c:pt>
                <c:pt idx="6463">
                  <c:v>#N/A</c:v>
                </c:pt>
                <c:pt idx="6464">
                  <c:v>#N/A</c:v>
                </c:pt>
                <c:pt idx="6465">
                  <c:v>#N/A</c:v>
                </c:pt>
                <c:pt idx="6466">
                  <c:v>#N/A</c:v>
                </c:pt>
                <c:pt idx="6467">
                  <c:v>#N/A</c:v>
                </c:pt>
                <c:pt idx="6468">
                  <c:v>#N/A</c:v>
                </c:pt>
                <c:pt idx="6469">
                  <c:v>#N/A</c:v>
                </c:pt>
                <c:pt idx="6470">
                  <c:v>#N/A</c:v>
                </c:pt>
                <c:pt idx="6471">
                  <c:v>#N/A</c:v>
                </c:pt>
                <c:pt idx="6472">
                  <c:v>#N/A</c:v>
                </c:pt>
                <c:pt idx="6473">
                  <c:v>#N/A</c:v>
                </c:pt>
                <c:pt idx="6474">
                  <c:v>#N/A</c:v>
                </c:pt>
                <c:pt idx="6475">
                  <c:v>#N/A</c:v>
                </c:pt>
                <c:pt idx="6476">
                  <c:v>#N/A</c:v>
                </c:pt>
                <c:pt idx="6477">
                  <c:v>#N/A</c:v>
                </c:pt>
                <c:pt idx="6478">
                  <c:v>#N/A</c:v>
                </c:pt>
                <c:pt idx="6479">
                  <c:v>#N/A</c:v>
                </c:pt>
                <c:pt idx="6480">
                  <c:v>#N/A</c:v>
                </c:pt>
                <c:pt idx="6481">
                  <c:v>#N/A</c:v>
                </c:pt>
                <c:pt idx="6482">
                  <c:v>#N/A</c:v>
                </c:pt>
                <c:pt idx="6483">
                  <c:v>#N/A</c:v>
                </c:pt>
                <c:pt idx="6484">
                  <c:v>#N/A</c:v>
                </c:pt>
                <c:pt idx="6485">
                  <c:v>#N/A</c:v>
                </c:pt>
                <c:pt idx="6486">
                  <c:v>#N/A</c:v>
                </c:pt>
                <c:pt idx="6487">
                  <c:v>#N/A</c:v>
                </c:pt>
                <c:pt idx="6488">
                  <c:v>#N/A</c:v>
                </c:pt>
                <c:pt idx="6489">
                  <c:v>#N/A</c:v>
                </c:pt>
                <c:pt idx="6490">
                  <c:v>#N/A</c:v>
                </c:pt>
                <c:pt idx="6491">
                  <c:v>#N/A</c:v>
                </c:pt>
                <c:pt idx="6492">
                  <c:v>#N/A</c:v>
                </c:pt>
                <c:pt idx="6493">
                  <c:v>#N/A</c:v>
                </c:pt>
                <c:pt idx="6494">
                  <c:v>#N/A</c:v>
                </c:pt>
                <c:pt idx="6495">
                  <c:v>#N/A</c:v>
                </c:pt>
                <c:pt idx="6496">
                  <c:v>#N/A</c:v>
                </c:pt>
                <c:pt idx="6497">
                  <c:v>#N/A</c:v>
                </c:pt>
                <c:pt idx="6498">
                  <c:v>#N/A</c:v>
                </c:pt>
                <c:pt idx="6499">
                  <c:v>#N/A</c:v>
                </c:pt>
                <c:pt idx="6500">
                  <c:v>#N/A</c:v>
                </c:pt>
                <c:pt idx="6501">
                  <c:v>#N/A</c:v>
                </c:pt>
                <c:pt idx="6502">
                  <c:v>#N/A</c:v>
                </c:pt>
                <c:pt idx="6503">
                  <c:v>#N/A</c:v>
                </c:pt>
                <c:pt idx="6504">
                  <c:v>#N/A</c:v>
                </c:pt>
                <c:pt idx="6505">
                  <c:v>#N/A</c:v>
                </c:pt>
                <c:pt idx="6506">
                  <c:v>#N/A</c:v>
                </c:pt>
                <c:pt idx="6507">
                  <c:v>#N/A</c:v>
                </c:pt>
                <c:pt idx="6508">
                  <c:v>#N/A</c:v>
                </c:pt>
                <c:pt idx="6509">
                  <c:v>#N/A</c:v>
                </c:pt>
                <c:pt idx="6510">
                  <c:v>#N/A</c:v>
                </c:pt>
                <c:pt idx="6511">
                  <c:v>#N/A</c:v>
                </c:pt>
                <c:pt idx="6512">
                  <c:v>#N/A</c:v>
                </c:pt>
                <c:pt idx="6513">
                  <c:v>#N/A</c:v>
                </c:pt>
                <c:pt idx="6514">
                  <c:v>#N/A</c:v>
                </c:pt>
                <c:pt idx="6515">
                  <c:v>#N/A</c:v>
                </c:pt>
                <c:pt idx="6516">
                  <c:v>#N/A</c:v>
                </c:pt>
                <c:pt idx="6517">
                  <c:v>#N/A</c:v>
                </c:pt>
                <c:pt idx="6518">
                  <c:v>#N/A</c:v>
                </c:pt>
                <c:pt idx="6519">
                  <c:v>#N/A</c:v>
                </c:pt>
                <c:pt idx="6520">
                  <c:v>#N/A</c:v>
                </c:pt>
                <c:pt idx="6521">
                  <c:v>#N/A</c:v>
                </c:pt>
                <c:pt idx="6522">
                  <c:v>#N/A</c:v>
                </c:pt>
                <c:pt idx="6523">
                  <c:v>#N/A</c:v>
                </c:pt>
                <c:pt idx="6524">
                  <c:v>#N/A</c:v>
                </c:pt>
                <c:pt idx="6525">
                  <c:v>#N/A</c:v>
                </c:pt>
                <c:pt idx="6526">
                  <c:v>#N/A</c:v>
                </c:pt>
                <c:pt idx="6527">
                  <c:v>#N/A</c:v>
                </c:pt>
                <c:pt idx="6528">
                  <c:v>#N/A</c:v>
                </c:pt>
                <c:pt idx="6529">
                  <c:v>#N/A</c:v>
                </c:pt>
                <c:pt idx="6530">
                  <c:v>#N/A</c:v>
                </c:pt>
                <c:pt idx="6531">
                  <c:v>#N/A</c:v>
                </c:pt>
                <c:pt idx="6532">
                  <c:v>#N/A</c:v>
                </c:pt>
                <c:pt idx="6533">
                  <c:v>#N/A</c:v>
                </c:pt>
                <c:pt idx="6534">
                  <c:v>#N/A</c:v>
                </c:pt>
                <c:pt idx="6535">
                  <c:v>#N/A</c:v>
                </c:pt>
                <c:pt idx="6536">
                  <c:v>#N/A</c:v>
                </c:pt>
                <c:pt idx="6537">
                  <c:v>#N/A</c:v>
                </c:pt>
                <c:pt idx="6538">
                  <c:v>#N/A</c:v>
                </c:pt>
                <c:pt idx="6539">
                  <c:v>#N/A</c:v>
                </c:pt>
                <c:pt idx="6540">
                  <c:v>#N/A</c:v>
                </c:pt>
                <c:pt idx="6541">
                  <c:v>#N/A</c:v>
                </c:pt>
                <c:pt idx="6542">
                  <c:v>#N/A</c:v>
                </c:pt>
                <c:pt idx="6543">
                  <c:v>#N/A</c:v>
                </c:pt>
                <c:pt idx="6544">
                  <c:v>#N/A</c:v>
                </c:pt>
                <c:pt idx="6545">
                  <c:v>#N/A</c:v>
                </c:pt>
                <c:pt idx="6546">
                  <c:v>#N/A</c:v>
                </c:pt>
                <c:pt idx="6547">
                  <c:v>#N/A</c:v>
                </c:pt>
                <c:pt idx="6548">
                  <c:v>#N/A</c:v>
                </c:pt>
                <c:pt idx="6549">
                  <c:v>#N/A</c:v>
                </c:pt>
                <c:pt idx="6550">
                  <c:v>#N/A</c:v>
                </c:pt>
                <c:pt idx="6551">
                  <c:v>#N/A</c:v>
                </c:pt>
                <c:pt idx="6552">
                  <c:v>#N/A</c:v>
                </c:pt>
                <c:pt idx="6553">
                  <c:v>#N/A</c:v>
                </c:pt>
                <c:pt idx="6554">
                  <c:v>#N/A</c:v>
                </c:pt>
                <c:pt idx="6555">
                  <c:v>#N/A</c:v>
                </c:pt>
                <c:pt idx="6556">
                  <c:v>#N/A</c:v>
                </c:pt>
                <c:pt idx="6557">
                  <c:v>#N/A</c:v>
                </c:pt>
                <c:pt idx="6558">
                  <c:v>#N/A</c:v>
                </c:pt>
                <c:pt idx="6559">
                  <c:v>#N/A</c:v>
                </c:pt>
                <c:pt idx="6560">
                  <c:v>#N/A</c:v>
                </c:pt>
                <c:pt idx="6561">
                  <c:v>#N/A</c:v>
                </c:pt>
                <c:pt idx="6562">
                  <c:v>#N/A</c:v>
                </c:pt>
                <c:pt idx="6563">
                  <c:v>#N/A</c:v>
                </c:pt>
                <c:pt idx="6564">
                  <c:v>#N/A</c:v>
                </c:pt>
                <c:pt idx="6565">
                  <c:v>#N/A</c:v>
                </c:pt>
                <c:pt idx="6566">
                  <c:v>#N/A</c:v>
                </c:pt>
                <c:pt idx="6567">
                  <c:v>#N/A</c:v>
                </c:pt>
                <c:pt idx="6568">
                  <c:v>#N/A</c:v>
                </c:pt>
                <c:pt idx="6569">
                  <c:v>#N/A</c:v>
                </c:pt>
                <c:pt idx="6570">
                  <c:v>#N/A</c:v>
                </c:pt>
                <c:pt idx="6571">
                  <c:v>#N/A</c:v>
                </c:pt>
                <c:pt idx="6572">
                  <c:v>#N/A</c:v>
                </c:pt>
                <c:pt idx="6573">
                  <c:v>#N/A</c:v>
                </c:pt>
                <c:pt idx="6574">
                  <c:v>#N/A</c:v>
                </c:pt>
                <c:pt idx="6575">
                  <c:v>#N/A</c:v>
                </c:pt>
                <c:pt idx="6576">
                  <c:v>#N/A</c:v>
                </c:pt>
                <c:pt idx="6577">
                  <c:v>#N/A</c:v>
                </c:pt>
                <c:pt idx="6578">
                  <c:v>#N/A</c:v>
                </c:pt>
                <c:pt idx="6579">
                  <c:v>#N/A</c:v>
                </c:pt>
                <c:pt idx="6580">
                  <c:v>#N/A</c:v>
                </c:pt>
                <c:pt idx="6581">
                  <c:v>#N/A</c:v>
                </c:pt>
                <c:pt idx="6582">
                  <c:v>#N/A</c:v>
                </c:pt>
                <c:pt idx="6583">
                  <c:v>#N/A</c:v>
                </c:pt>
                <c:pt idx="6584">
                  <c:v>#N/A</c:v>
                </c:pt>
                <c:pt idx="6585">
                  <c:v>#N/A</c:v>
                </c:pt>
                <c:pt idx="6586">
                  <c:v>#N/A</c:v>
                </c:pt>
                <c:pt idx="6587">
                  <c:v>#N/A</c:v>
                </c:pt>
                <c:pt idx="6588">
                  <c:v>#N/A</c:v>
                </c:pt>
                <c:pt idx="6589">
                  <c:v>#N/A</c:v>
                </c:pt>
                <c:pt idx="6590">
                  <c:v>#N/A</c:v>
                </c:pt>
                <c:pt idx="6591">
                  <c:v>#N/A</c:v>
                </c:pt>
                <c:pt idx="6592">
                  <c:v>#N/A</c:v>
                </c:pt>
                <c:pt idx="6593">
                  <c:v>#N/A</c:v>
                </c:pt>
                <c:pt idx="6594">
                  <c:v>#N/A</c:v>
                </c:pt>
                <c:pt idx="6595">
                  <c:v>#N/A</c:v>
                </c:pt>
                <c:pt idx="6596">
                  <c:v>#N/A</c:v>
                </c:pt>
                <c:pt idx="6597">
                  <c:v>#N/A</c:v>
                </c:pt>
                <c:pt idx="6598">
                  <c:v>#N/A</c:v>
                </c:pt>
                <c:pt idx="6599">
                  <c:v>#N/A</c:v>
                </c:pt>
                <c:pt idx="6600">
                  <c:v>#N/A</c:v>
                </c:pt>
                <c:pt idx="6601">
                  <c:v>#N/A</c:v>
                </c:pt>
                <c:pt idx="6602">
                  <c:v>#N/A</c:v>
                </c:pt>
                <c:pt idx="6603">
                  <c:v>#N/A</c:v>
                </c:pt>
                <c:pt idx="6604">
                  <c:v>#N/A</c:v>
                </c:pt>
                <c:pt idx="6605">
                  <c:v>#N/A</c:v>
                </c:pt>
                <c:pt idx="6606">
                  <c:v>#N/A</c:v>
                </c:pt>
                <c:pt idx="6607">
                  <c:v>#N/A</c:v>
                </c:pt>
                <c:pt idx="6608">
                  <c:v>#N/A</c:v>
                </c:pt>
                <c:pt idx="6609">
                  <c:v>#N/A</c:v>
                </c:pt>
                <c:pt idx="6610">
                  <c:v>#N/A</c:v>
                </c:pt>
                <c:pt idx="6611">
                  <c:v>#N/A</c:v>
                </c:pt>
                <c:pt idx="6612">
                  <c:v>#N/A</c:v>
                </c:pt>
                <c:pt idx="6613">
                  <c:v>#N/A</c:v>
                </c:pt>
                <c:pt idx="6614">
                  <c:v>#N/A</c:v>
                </c:pt>
                <c:pt idx="6615">
                  <c:v>#N/A</c:v>
                </c:pt>
                <c:pt idx="6616">
                  <c:v>#N/A</c:v>
                </c:pt>
                <c:pt idx="6617">
                  <c:v>#N/A</c:v>
                </c:pt>
                <c:pt idx="6618">
                  <c:v>#N/A</c:v>
                </c:pt>
                <c:pt idx="6619">
                  <c:v>#N/A</c:v>
                </c:pt>
                <c:pt idx="6620">
                  <c:v>#N/A</c:v>
                </c:pt>
                <c:pt idx="6621">
                  <c:v>#N/A</c:v>
                </c:pt>
                <c:pt idx="6622">
                  <c:v>#N/A</c:v>
                </c:pt>
                <c:pt idx="6623">
                  <c:v>#N/A</c:v>
                </c:pt>
                <c:pt idx="6624">
                  <c:v>#N/A</c:v>
                </c:pt>
                <c:pt idx="6625">
                  <c:v>#N/A</c:v>
                </c:pt>
                <c:pt idx="6626">
                  <c:v>#N/A</c:v>
                </c:pt>
                <c:pt idx="6627">
                  <c:v>#N/A</c:v>
                </c:pt>
                <c:pt idx="6628">
                  <c:v>#N/A</c:v>
                </c:pt>
                <c:pt idx="6629">
                  <c:v>#N/A</c:v>
                </c:pt>
                <c:pt idx="6630">
                  <c:v>#N/A</c:v>
                </c:pt>
                <c:pt idx="6631">
                  <c:v>#N/A</c:v>
                </c:pt>
                <c:pt idx="6632">
                  <c:v>#N/A</c:v>
                </c:pt>
                <c:pt idx="6633">
                  <c:v>#N/A</c:v>
                </c:pt>
                <c:pt idx="6634">
                  <c:v>#N/A</c:v>
                </c:pt>
                <c:pt idx="6635">
                  <c:v>#N/A</c:v>
                </c:pt>
                <c:pt idx="6636">
                  <c:v>#N/A</c:v>
                </c:pt>
                <c:pt idx="6637">
                  <c:v>#N/A</c:v>
                </c:pt>
                <c:pt idx="6638">
                  <c:v>#N/A</c:v>
                </c:pt>
                <c:pt idx="6639">
                  <c:v>#N/A</c:v>
                </c:pt>
                <c:pt idx="6640">
                  <c:v>#N/A</c:v>
                </c:pt>
                <c:pt idx="6641">
                  <c:v>#N/A</c:v>
                </c:pt>
                <c:pt idx="6642">
                  <c:v>#N/A</c:v>
                </c:pt>
                <c:pt idx="6643">
                  <c:v>#N/A</c:v>
                </c:pt>
                <c:pt idx="6644">
                  <c:v>#N/A</c:v>
                </c:pt>
                <c:pt idx="6645">
                  <c:v>#N/A</c:v>
                </c:pt>
                <c:pt idx="6646">
                  <c:v>#N/A</c:v>
                </c:pt>
                <c:pt idx="6647">
                  <c:v>#N/A</c:v>
                </c:pt>
                <c:pt idx="6648">
                  <c:v>#N/A</c:v>
                </c:pt>
                <c:pt idx="6649">
                  <c:v>#N/A</c:v>
                </c:pt>
                <c:pt idx="6650">
                  <c:v>#N/A</c:v>
                </c:pt>
                <c:pt idx="6651">
                  <c:v>#N/A</c:v>
                </c:pt>
                <c:pt idx="6652">
                  <c:v>#N/A</c:v>
                </c:pt>
                <c:pt idx="6653">
                  <c:v>#N/A</c:v>
                </c:pt>
                <c:pt idx="6654">
                  <c:v>#N/A</c:v>
                </c:pt>
                <c:pt idx="6655">
                  <c:v>#N/A</c:v>
                </c:pt>
                <c:pt idx="6656">
                  <c:v>#N/A</c:v>
                </c:pt>
                <c:pt idx="6657">
                  <c:v>#N/A</c:v>
                </c:pt>
                <c:pt idx="6658">
                  <c:v>#N/A</c:v>
                </c:pt>
                <c:pt idx="6659">
                  <c:v>#N/A</c:v>
                </c:pt>
                <c:pt idx="6660">
                  <c:v>#N/A</c:v>
                </c:pt>
                <c:pt idx="6661">
                  <c:v>#N/A</c:v>
                </c:pt>
                <c:pt idx="6662">
                  <c:v>#N/A</c:v>
                </c:pt>
                <c:pt idx="6663">
                  <c:v>#N/A</c:v>
                </c:pt>
                <c:pt idx="6664">
                  <c:v>#N/A</c:v>
                </c:pt>
                <c:pt idx="6665">
                  <c:v>#N/A</c:v>
                </c:pt>
                <c:pt idx="6666">
                  <c:v>#N/A</c:v>
                </c:pt>
                <c:pt idx="6667">
                  <c:v>#N/A</c:v>
                </c:pt>
                <c:pt idx="6668">
                  <c:v>#N/A</c:v>
                </c:pt>
                <c:pt idx="6669">
                  <c:v>#N/A</c:v>
                </c:pt>
                <c:pt idx="6670">
                  <c:v>#N/A</c:v>
                </c:pt>
                <c:pt idx="6671">
                  <c:v>#N/A</c:v>
                </c:pt>
                <c:pt idx="6672">
                  <c:v>#N/A</c:v>
                </c:pt>
                <c:pt idx="6673">
                  <c:v>#N/A</c:v>
                </c:pt>
                <c:pt idx="6674">
                  <c:v>#N/A</c:v>
                </c:pt>
                <c:pt idx="6675">
                  <c:v>#N/A</c:v>
                </c:pt>
                <c:pt idx="6676">
                  <c:v>#N/A</c:v>
                </c:pt>
                <c:pt idx="6677">
                  <c:v>#N/A</c:v>
                </c:pt>
                <c:pt idx="6678">
                  <c:v>#N/A</c:v>
                </c:pt>
                <c:pt idx="6679">
                  <c:v>#N/A</c:v>
                </c:pt>
                <c:pt idx="6680">
                  <c:v>#N/A</c:v>
                </c:pt>
                <c:pt idx="6681">
                  <c:v>#N/A</c:v>
                </c:pt>
                <c:pt idx="6682">
                  <c:v>#N/A</c:v>
                </c:pt>
                <c:pt idx="6683">
                  <c:v>#N/A</c:v>
                </c:pt>
                <c:pt idx="6684">
                  <c:v>#N/A</c:v>
                </c:pt>
                <c:pt idx="6685">
                  <c:v>#N/A</c:v>
                </c:pt>
                <c:pt idx="6686">
                  <c:v>#N/A</c:v>
                </c:pt>
                <c:pt idx="6687">
                  <c:v>#N/A</c:v>
                </c:pt>
                <c:pt idx="6688">
                  <c:v>#N/A</c:v>
                </c:pt>
                <c:pt idx="6689">
                  <c:v>#N/A</c:v>
                </c:pt>
                <c:pt idx="6690">
                  <c:v>#N/A</c:v>
                </c:pt>
                <c:pt idx="6691">
                  <c:v>#N/A</c:v>
                </c:pt>
                <c:pt idx="6692">
                  <c:v>#N/A</c:v>
                </c:pt>
                <c:pt idx="6693">
                  <c:v>#N/A</c:v>
                </c:pt>
                <c:pt idx="6694">
                  <c:v>#N/A</c:v>
                </c:pt>
                <c:pt idx="6695">
                  <c:v>#N/A</c:v>
                </c:pt>
                <c:pt idx="6696">
                  <c:v>#N/A</c:v>
                </c:pt>
                <c:pt idx="6697">
                  <c:v>#N/A</c:v>
                </c:pt>
                <c:pt idx="6698">
                  <c:v>#N/A</c:v>
                </c:pt>
                <c:pt idx="6699">
                  <c:v>#N/A</c:v>
                </c:pt>
                <c:pt idx="6700">
                  <c:v>#N/A</c:v>
                </c:pt>
                <c:pt idx="6701">
                  <c:v>#N/A</c:v>
                </c:pt>
                <c:pt idx="6702">
                  <c:v>#N/A</c:v>
                </c:pt>
                <c:pt idx="6703">
                  <c:v>#N/A</c:v>
                </c:pt>
                <c:pt idx="6704">
                  <c:v>#N/A</c:v>
                </c:pt>
                <c:pt idx="6705">
                  <c:v>#N/A</c:v>
                </c:pt>
                <c:pt idx="6706">
                  <c:v>#N/A</c:v>
                </c:pt>
                <c:pt idx="6707">
                  <c:v>#N/A</c:v>
                </c:pt>
                <c:pt idx="6708">
                  <c:v>#N/A</c:v>
                </c:pt>
                <c:pt idx="6709">
                  <c:v>#N/A</c:v>
                </c:pt>
                <c:pt idx="6710">
                  <c:v>#N/A</c:v>
                </c:pt>
                <c:pt idx="6711">
                  <c:v>#N/A</c:v>
                </c:pt>
                <c:pt idx="6712">
                  <c:v>#N/A</c:v>
                </c:pt>
                <c:pt idx="6713">
                  <c:v>#N/A</c:v>
                </c:pt>
                <c:pt idx="6714">
                  <c:v>#N/A</c:v>
                </c:pt>
                <c:pt idx="6715">
                  <c:v>#N/A</c:v>
                </c:pt>
                <c:pt idx="6716">
                  <c:v>#N/A</c:v>
                </c:pt>
                <c:pt idx="6717">
                  <c:v>#N/A</c:v>
                </c:pt>
                <c:pt idx="6718">
                  <c:v>#N/A</c:v>
                </c:pt>
                <c:pt idx="6719">
                  <c:v>#N/A</c:v>
                </c:pt>
                <c:pt idx="6720">
                  <c:v>#N/A</c:v>
                </c:pt>
                <c:pt idx="6721">
                  <c:v>#N/A</c:v>
                </c:pt>
                <c:pt idx="6722">
                  <c:v>#N/A</c:v>
                </c:pt>
                <c:pt idx="6723">
                  <c:v>#N/A</c:v>
                </c:pt>
                <c:pt idx="6724">
                  <c:v>#N/A</c:v>
                </c:pt>
                <c:pt idx="6725">
                  <c:v>#N/A</c:v>
                </c:pt>
                <c:pt idx="6726">
                  <c:v>#N/A</c:v>
                </c:pt>
                <c:pt idx="6727">
                  <c:v>#N/A</c:v>
                </c:pt>
                <c:pt idx="6728">
                  <c:v>#N/A</c:v>
                </c:pt>
                <c:pt idx="6729">
                  <c:v>#N/A</c:v>
                </c:pt>
                <c:pt idx="6730">
                  <c:v>#N/A</c:v>
                </c:pt>
                <c:pt idx="6731">
                  <c:v>#N/A</c:v>
                </c:pt>
                <c:pt idx="6732">
                  <c:v>#N/A</c:v>
                </c:pt>
                <c:pt idx="6733">
                  <c:v>#N/A</c:v>
                </c:pt>
                <c:pt idx="6734">
                  <c:v>#N/A</c:v>
                </c:pt>
                <c:pt idx="6735">
                  <c:v>#N/A</c:v>
                </c:pt>
                <c:pt idx="6736">
                  <c:v>#N/A</c:v>
                </c:pt>
                <c:pt idx="6737">
                  <c:v>#N/A</c:v>
                </c:pt>
                <c:pt idx="6738">
                  <c:v>#N/A</c:v>
                </c:pt>
                <c:pt idx="6739">
                  <c:v>#N/A</c:v>
                </c:pt>
                <c:pt idx="6740">
                  <c:v>#N/A</c:v>
                </c:pt>
                <c:pt idx="6741">
                  <c:v>#N/A</c:v>
                </c:pt>
                <c:pt idx="6742">
                  <c:v>#N/A</c:v>
                </c:pt>
                <c:pt idx="6743">
                  <c:v>#N/A</c:v>
                </c:pt>
                <c:pt idx="6744">
                  <c:v>#N/A</c:v>
                </c:pt>
                <c:pt idx="6745">
                  <c:v>#N/A</c:v>
                </c:pt>
                <c:pt idx="6746">
                  <c:v>#N/A</c:v>
                </c:pt>
                <c:pt idx="6747">
                  <c:v>#N/A</c:v>
                </c:pt>
                <c:pt idx="6748">
                  <c:v>#N/A</c:v>
                </c:pt>
                <c:pt idx="6749">
                  <c:v>#N/A</c:v>
                </c:pt>
                <c:pt idx="6750">
                  <c:v>#N/A</c:v>
                </c:pt>
                <c:pt idx="6751">
                  <c:v>#N/A</c:v>
                </c:pt>
                <c:pt idx="6752">
                  <c:v>#N/A</c:v>
                </c:pt>
                <c:pt idx="6753">
                  <c:v>#N/A</c:v>
                </c:pt>
                <c:pt idx="6754">
                  <c:v>#N/A</c:v>
                </c:pt>
                <c:pt idx="6755">
                  <c:v>#N/A</c:v>
                </c:pt>
                <c:pt idx="6756">
                  <c:v>#N/A</c:v>
                </c:pt>
                <c:pt idx="6757">
                  <c:v>#N/A</c:v>
                </c:pt>
                <c:pt idx="6758">
                  <c:v>#N/A</c:v>
                </c:pt>
                <c:pt idx="6759">
                  <c:v>#N/A</c:v>
                </c:pt>
                <c:pt idx="6760">
                  <c:v>#N/A</c:v>
                </c:pt>
                <c:pt idx="6761">
                  <c:v>#N/A</c:v>
                </c:pt>
                <c:pt idx="6762">
                  <c:v>#N/A</c:v>
                </c:pt>
                <c:pt idx="6763">
                  <c:v>#N/A</c:v>
                </c:pt>
                <c:pt idx="6764">
                  <c:v>#N/A</c:v>
                </c:pt>
                <c:pt idx="6765">
                  <c:v>#N/A</c:v>
                </c:pt>
                <c:pt idx="6766">
                  <c:v>#N/A</c:v>
                </c:pt>
                <c:pt idx="6767">
                  <c:v>#N/A</c:v>
                </c:pt>
                <c:pt idx="6768">
                  <c:v>#N/A</c:v>
                </c:pt>
                <c:pt idx="6769">
                  <c:v>#N/A</c:v>
                </c:pt>
                <c:pt idx="6770">
                  <c:v>#N/A</c:v>
                </c:pt>
                <c:pt idx="6771">
                  <c:v>#N/A</c:v>
                </c:pt>
                <c:pt idx="6772">
                  <c:v>#N/A</c:v>
                </c:pt>
                <c:pt idx="6773">
                  <c:v>#N/A</c:v>
                </c:pt>
                <c:pt idx="6774">
                  <c:v>#N/A</c:v>
                </c:pt>
                <c:pt idx="6775">
                  <c:v>#N/A</c:v>
                </c:pt>
                <c:pt idx="6776">
                  <c:v>#N/A</c:v>
                </c:pt>
                <c:pt idx="6777">
                  <c:v>#N/A</c:v>
                </c:pt>
                <c:pt idx="6778">
                  <c:v>#N/A</c:v>
                </c:pt>
                <c:pt idx="6779">
                  <c:v>#N/A</c:v>
                </c:pt>
                <c:pt idx="6780">
                  <c:v>#N/A</c:v>
                </c:pt>
                <c:pt idx="6781">
                  <c:v>#N/A</c:v>
                </c:pt>
                <c:pt idx="6782">
                  <c:v>#N/A</c:v>
                </c:pt>
                <c:pt idx="6783">
                  <c:v>#N/A</c:v>
                </c:pt>
                <c:pt idx="6784">
                  <c:v>#N/A</c:v>
                </c:pt>
                <c:pt idx="6785">
                  <c:v>#N/A</c:v>
                </c:pt>
                <c:pt idx="6786">
                  <c:v>#N/A</c:v>
                </c:pt>
                <c:pt idx="6787">
                  <c:v>#N/A</c:v>
                </c:pt>
                <c:pt idx="6788">
                  <c:v>#N/A</c:v>
                </c:pt>
                <c:pt idx="6789">
                  <c:v>#N/A</c:v>
                </c:pt>
                <c:pt idx="6790">
                  <c:v>#N/A</c:v>
                </c:pt>
                <c:pt idx="6791">
                  <c:v>#N/A</c:v>
                </c:pt>
                <c:pt idx="6792">
                  <c:v>#N/A</c:v>
                </c:pt>
                <c:pt idx="6793">
                  <c:v>#N/A</c:v>
                </c:pt>
                <c:pt idx="6794">
                  <c:v>#N/A</c:v>
                </c:pt>
                <c:pt idx="6795">
                  <c:v>#N/A</c:v>
                </c:pt>
                <c:pt idx="6796">
                  <c:v>#N/A</c:v>
                </c:pt>
                <c:pt idx="6797">
                  <c:v>#N/A</c:v>
                </c:pt>
                <c:pt idx="6798">
                  <c:v>#N/A</c:v>
                </c:pt>
                <c:pt idx="6799">
                  <c:v>#N/A</c:v>
                </c:pt>
                <c:pt idx="6800">
                  <c:v>#N/A</c:v>
                </c:pt>
                <c:pt idx="6801">
                  <c:v>#N/A</c:v>
                </c:pt>
                <c:pt idx="6802">
                  <c:v>#N/A</c:v>
                </c:pt>
                <c:pt idx="6803">
                  <c:v>#N/A</c:v>
                </c:pt>
                <c:pt idx="6804">
                  <c:v>#N/A</c:v>
                </c:pt>
                <c:pt idx="6805">
                  <c:v>#N/A</c:v>
                </c:pt>
                <c:pt idx="6806">
                  <c:v>#N/A</c:v>
                </c:pt>
                <c:pt idx="6807">
                  <c:v>#N/A</c:v>
                </c:pt>
                <c:pt idx="6808">
                  <c:v>#N/A</c:v>
                </c:pt>
                <c:pt idx="6809">
                  <c:v>#N/A</c:v>
                </c:pt>
                <c:pt idx="6810">
                  <c:v>#N/A</c:v>
                </c:pt>
                <c:pt idx="6811">
                  <c:v>#N/A</c:v>
                </c:pt>
                <c:pt idx="6812">
                  <c:v>#N/A</c:v>
                </c:pt>
                <c:pt idx="6813">
                  <c:v>#N/A</c:v>
                </c:pt>
                <c:pt idx="6814">
                  <c:v>#N/A</c:v>
                </c:pt>
                <c:pt idx="6815">
                  <c:v>#N/A</c:v>
                </c:pt>
                <c:pt idx="6816">
                  <c:v>#N/A</c:v>
                </c:pt>
                <c:pt idx="6817">
                  <c:v>#N/A</c:v>
                </c:pt>
                <c:pt idx="6818">
                  <c:v>#N/A</c:v>
                </c:pt>
                <c:pt idx="6819">
                  <c:v>#N/A</c:v>
                </c:pt>
                <c:pt idx="6820">
                  <c:v>#N/A</c:v>
                </c:pt>
                <c:pt idx="6821">
                  <c:v>#N/A</c:v>
                </c:pt>
                <c:pt idx="6822">
                  <c:v>#N/A</c:v>
                </c:pt>
                <c:pt idx="6823">
                  <c:v>#N/A</c:v>
                </c:pt>
                <c:pt idx="6824">
                  <c:v>#N/A</c:v>
                </c:pt>
                <c:pt idx="6825">
                  <c:v>#N/A</c:v>
                </c:pt>
                <c:pt idx="6826">
                  <c:v>#N/A</c:v>
                </c:pt>
                <c:pt idx="6827">
                  <c:v>#N/A</c:v>
                </c:pt>
                <c:pt idx="6828">
                  <c:v>#N/A</c:v>
                </c:pt>
                <c:pt idx="6829">
                  <c:v>#N/A</c:v>
                </c:pt>
                <c:pt idx="6830">
                  <c:v>#N/A</c:v>
                </c:pt>
                <c:pt idx="6831">
                  <c:v>#N/A</c:v>
                </c:pt>
                <c:pt idx="6832">
                  <c:v>#N/A</c:v>
                </c:pt>
                <c:pt idx="6833">
                  <c:v>#N/A</c:v>
                </c:pt>
                <c:pt idx="6834">
                  <c:v>#N/A</c:v>
                </c:pt>
                <c:pt idx="6835">
                  <c:v>#N/A</c:v>
                </c:pt>
                <c:pt idx="6836">
                  <c:v>#N/A</c:v>
                </c:pt>
                <c:pt idx="6837">
                  <c:v>#N/A</c:v>
                </c:pt>
                <c:pt idx="6838">
                  <c:v>#N/A</c:v>
                </c:pt>
                <c:pt idx="6839">
                  <c:v>#N/A</c:v>
                </c:pt>
                <c:pt idx="6840">
                  <c:v>#N/A</c:v>
                </c:pt>
                <c:pt idx="6841">
                  <c:v>#N/A</c:v>
                </c:pt>
                <c:pt idx="6842">
                  <c:v>#N/A</c:v>
                </c:pt>
                <c:pt idx="6843">
                  <c:v>#N/A</c:v>
                </c:pt>
                <c:pt idx="6844">
                  <c:v>#N/A</c:v>
                </c:pt>
                <c:pt idx="6845">
                  <c:v>#N/A</c:v>
                </c:pt>
                <c:pt idx="6846">
                  <c:v>#N/A</c:v>
                </c:pt>
                <c:pt idx="6847">
                  <c:v>#N/A</c:v>
                </c:pt>
                <c:pt idx="6848">
                  <c:v>#N/A</c:v>
                </c:pt>
                <c:pt idx="6849">
                  <c:v>#N/A</c:v>
                </c:pt>
                <c:pt idx="6850">
                  <c:v>#N/A</c:v>
                </c:pt>
                <c:pt idx="6851">
                  <c:v>#N/A</c:v>
                </c:pt>
                <c:pt idx="6852">
                  <c:v>#N/A</c:v>
                </c:pt>
                <c:pt idx="6853">
                  <c:v>#N/A</c:v>
                </c:pt>
                <c:pt idx="6854">
                  <c:v>#N/A</c:v>
                </c:pt>
                <c:pt idx="6855">
                  <c:v>#N/A</c:v>
                </c:pt>
                <c:pt idx="6856">
                  <c:v>#N/A</c:v>
                </c:pt>
                <c:pt idx="6857">
                  <c:v>#N/A</c:v>
                </c:pt>
                <c:pt idx="6858">
                  <c:v>#N/A</c:v>
                </c:pt>
                <c:pt idx="6859">
                  <c:v>#N/A</c:v>
                </c:pt>
                <c:pt idx="6860">
                  <c:v>#N/A</c:v>
                </c:pt>
                <c:pt idx="6861">
                  <c:v>#N/A</c:v>
                </c:pt>
                <c:pt idx="6862">
                  <c:v>#N/A</c:v>
                </c:pt>
                <c:pt idx="6863">
                  <c:v>#N/A</c:v>
                </c:pt>
                <c:pt idx="6864">
                  <c:v>#N/A</c:v>
                </c:pt>
                <c:pt idx="6865">
                  <c:v>#N/A</c:v>
                </c:pt>
                <c:pt idx="6866">
                  <c:v>#N/A</c:v>
                </c:pt>
                <c:pt idx="6867">
                  <c:v>#N/A</c:v>
                </c:pt>
                <c:pt idx="6868">
                  <c:v>#N/A</c:v>
                </c:pt>
                <c:pt idx="6869">
                  <c:v>#N/A</c:v>
                </c:pt>
                <c:pt idx="6870">
                  <c:v>#N/A</c:v>
                </c:pt>
                <c:pt idx="6871">
                  <c:v>#N/A</c:v>
                </c:pt>
                <c:pt idx="6872">
                  <c:v>#N/A</c:v>
                </c:pt>
                <c:pt idx="6873">
                  <c:v>#N/A</c:v>
                </c:pt>
                <c:pt idx="6874">
                  <c:v>#N/A</c:v>
                </c:pt>
                <c:pt idx="6875">
                  <c:v>#N/A</c:v>
                </c:pt>
                <c:pt idx="6876">
                  <c:v>#N/A</c:v>
                </c:pt>
                <c:pt idx="6877">
                  <c:v>#N/A</c:v>
                </c:pt>
                <c:pt idx="6878">
                  <c:v>#N/A</c:v>
                </c:pt>
                <c:pt idx="6879">
                  <c:v>#N/A</c:v>
                </c:pt>
                <c:pt idx="6880">
                  <c:v>#N/A</c:v>
                </c:pt>
                <c:pt idx="6881">
                  <c:v>#N/A</c:v>
                </c:pt>
                <c:pt idx="6882">
                  <c:v>#N/A</c:v>
                </c:pt>
                <c:pt idx="6883">
                  <c:v>#N/A</c:v>
                </c:pt>
                <c:pt idx="6884">
                  <c:v>#N/A</c:v>
                </c:pt>
                <c:pt idx="6885">
                  <c:v>#N/A</c:v>
                </c:pt>
                <c:pt idx="6886">
                  <c:v>#N/A</c:v>
                </c:pt>
                <c:pt idx="6887">
                  <c:v>#N/A</c:v>
                </c:pt>
                <c:pt idx="6888">
                  <c:v>#N/A</c:v>
                </c:pt>
                <c:pt idx="6889">
                  <c:v>#N/A</c:v>
                </c:pt>
                <c:pt idx="6890">
                  <c:v>#N/A</c:v>
                </c:pt>
                <c:pt idx="6891">
                  <c:v>#N/A</c:v>
                </c:pt>
                <c:pt idx="6892">
                  <c:v>#N/A</c:v>
                </c:pt>
                <c:pt idx="6893">
                  <c:v>#N/A</c:v>
                </c:pt>
                <c:pt idx="6894">
                  <c:v>#N/A</c:v>
                </c:pt>
                <c:pt idx="6895">
                  <c:v>#N/A</c:v>
                </c:pt>
                <c:pt idx="6896">
                  <c:v>#N/A</c:v>
                </c:pt>
                <c:pt idx="6897">
                  <c:v>#N/A</c:v>
                </c:pt>
                <c:pt idx="6898">
                  <c:v>#N/A</c:v>
                </c:pt>
                <c:pt idx="6899">
                  <c:v>#N/A</c:v>
                </c:pt>
                <c:pt idx="6900">
                  <c:v>#N/A</c:v>
                </c:pt>
                <c:pt idx="6901">
                  <c:v>#N/A</c:v>
                </c:pt>
                <c:pt idx="6902">
                  <c:v>#N/A</c:v>
                </c:pt>
                <c:pt idx="6903">
                  <c:v>#N/A</c:v>
                </c:pt>
                <c:pt idx="6904">
                  <c:v>#N/A</c:v>
                </c:pt>
                <c:pt idx="6905">
                  <c:v>#N/A</c:v>
                </c:pt>
                <c:pt idx="6906">
                  <c:v>#N/A</c:v>
                </c:pt>
                <c:pt idx="6907">
                  <c:v>#N/A</c:v>
                </c:pt>
                <c:pt idx="6908">
                  <c:v>#N/A</c:v>
                </c:pt>
                <c:pt idx="6909">
                  <c:v>#N/A</c:v>
                </c:pt>
                <c:pt idx="6910">
                  <c:v>#N/A</c:v>
                </c:pt>
                <c:pt idx="6911">
                  <c:v>#N/A</c:v>
                </c:pt>
                <c:pt idx="6912">
                  <c:v>#N/A</c:v>
                </c:pt>
                <c:pt idx="6913">
                  <c:v>#N/A</c:v>
                </c:pt>
                <c:pt idx="6914">
                  <c:v>#N/A</c:v>
                </c:pt>
                <c:pt idx="6915">
                  <c:v>#N/A</c:v>
                </c:pt>
                <c:pt idx="6916">
                  <c:v>#N/A</c:v>
                </c:pt>
                <c:pt idx="6917">
                  <c:v>#N/A</c:v>
                </c:pt>
                <c:pt idx="6918">
                  <c:v>#N/A</c:v>
                </c:pt>
                <c:pt idx="6919">
                  <c:v>#N/A</c:v>
                </c:pt>
                <c:pt idx="6920">
                  <c:v>#N/A</c:v>
                </c:pt>
                <c:pt idx="6921">
                  <c:v>#N/A</c:v>
                </c:pt>
                <c:pt idx="6922">
                  <c:v>#N/A</c:v>
                </c:pt>
                <c:pt idx="6923">
                  <c:v>#N/A</c:v>
                </c:pt>
                <c:pt idx="6924">
                  <c:v>#N/A</c:v>
                </c:pt>
                <c:pt idx="6925">
                  <c:v>#N/A</c:v>
                </c:pt>
                <c:pt idx="6926">
                  <c:v>#N/A</c:v>
                </c:pt>
                <c:pt idx="6927">
                  <c:v>#N/A</c:v>
                </c:pt>
                <c:pt idx="6928">
                  <c:v>#N/A</c:v>
                </c:pt>
                <c:pt idx="6929">
                  <c:v>#N/A</c:v>
                </c:pt>
                <c:pt idx="6930">
                  <c:v>#N/A</c:v>
                </c:pt>
                <c:pt idx="6931">
                  <c:v>#N/A</c:v>
                </c:pt>
                <c:pt idx="6932">
                  <c:v>#N/A</c:v>
                </c:pt>
                <c:pt idx="6933">
                  <c:v>#N/A</c:v>
                </c:pt>
                <c:pt idx="6934">
                  <c:v>#N/A</c:v>
                </c:pt>
                <c:pt idx="6935">
                  <c:v>#N/A</c:v>
                </c:pt>
                <c:pt idx="6936">
                  <c:v>#N/A</c:v>
                </c:pt>
                <c:pt idx="6937">
                  <c:v>#N/A</c:v>
                </c:pt>
                <c:pt idx="6938">
                  <c:v>#N/A</c:v>
                </c:pt>
                <c:pt idx="6939">
                  <c:v>#N/A</c:v>
                </c:pt>
                <c:pt idx="6940">
                  <c:v>#N/A</c:v>
                </c:pt>
                <c:pt idx="6941">
                  <c:v>#N/A</c:v>
                </c:pt>
                <c:pt idx="6942">
                  <c:v>#N/A</c:v>
                </c:pt>
                <c:pt idx="6943">
                  <c:v>#N/A</c:v>
                </c:pt>
                <c:pt idx="6944">
                  <c:v>#N/A</c:v>
                </c:pt>
                <c:pt idx="6945">
                  <c:v>#N/A</c:v>
                </c:pt>
                <c:pt idx="6946">
                  <c:v>#N/A</c:v>
                </c:pt>
                <c:pt idx="6947">
                  <c:v>#N/A</c:v>
                </c:pt>
                <c:pt idx="6948">
                  <c:v>#N/A</c:v>
                </c:pt>
                <c:pt idx="6949">
                  <c:v>#N/A</c:v>
                </c:pt>
                <c:pt idx="6950">
                  <c:v>#N/A</c:v>
                </c:pt>
                <c:pt idx="6951">
                  <c:v>#N/A</c:v>
                </c:pt>
                <c:pt idx="6952">
                  <c:v>#N/A</c:v>
                </c:pt>
                <c:pt idx="6953">
                  <c:v>#N/A</c:v>
                </c:pt>
                <c:pt idx="6954">
                  <c:v>#N/A</c:v>
                </c:pt>
                <c:pt idx="6955">
                  <c:v>#N/A</c:v>
                </c:pt>
                <c:pt idx="6956">
                  <c:v>#N/A</c:v>
                </c:pt>
                <c:pt idx="6957">
                  <c:v>#N/A</c:v>
                </c:pt>
                <c:pt idx="6958">
                  <c:v>#N/A</c:v>
                </c:pt>
                <c:pt idx="6959">
                  <c:v>#N/A</c:v>
                </c:pt>
                <c:pt idx="6960">
                  <c:v>#N/A</c:v>
                </c:pt>
                <c:pt idx="6961">
                  <c:v>#N/A</c:v>
                </c:pt>
                <c:pt idx="6962">
                  <c:v>#N/A</c:v>
                </c:pt>
                <c:pt idx="6963">
                  <c:v>#N/A</c:v>
                </c:pt>
                <c:pt idx="6964">
                  <c:v>#N/A</c:v>
                </c:pt>
                <c:pt idx="6965">
                  <c:v>#N/A</c:v>
                </c:pt>
                <c:pt idx="6966">
                  <c:v>#N/A</c:v>
                </c:pt>
                <c:pt idx="6967">
                  <c:v>#N/A</c:v>
                </c:pt>
                <c:pt idx="6968">
                  <c:v>#N/A</c:v>
                </c:pt>
                <c:pt idx="6969">
                  <c:v>#N/A</c:v>
                </c:pt>
                <c:pt idx="6970">
                  <c:v>#N/A</c:v>
                </c:pt>
                <c:pt idx="6971">
                  <c:v>#N/A</c:v>
                </c:pt>
                <c:pt idx="6972">
                  <c:v>#N/A</c:v>
                </c:pt>
                <c:pt idx="6973">
                  <c:v>#N/A</c:v>
                </c:pt>
                <c:pt idx="6974">
                  <c:v>#N/A</c:v>
                </c:pt>
                <c:pt idx="6975">
                  <c:v>#N/A</c:v>
                </c:pt>
                <c:pt idx="6976">
                  <c:v>#N/A</c:v>
                </c:pt>
                <c:pt idx="6977">
                  <c:v>#N/A</c:v>
                </c:pt>
                <c:pt idx="6978">
                  <c:v>#N/A</c:v>
                </c:pt>
                <c:pt idx="6979">
                  <c:v>#N/A</c:v>
                </c:pt>
                <c:pt idx="6980">
                  <c:v>#N/A</c:v>
                </c:pt>
                <c:pt idx="6981">
                  <c:v>#N/A</c:v>
                </c:pt>
                <c:pt idx="6982">
                  <c:v>#N/A</c:v>
                </c:pt>
                <c:pt idx="6983">
                  <c:v>#N/A</c:v>
                </c:pt>
                <c:pt idx="6984">
                  <c:v>#N/A</c:v>
                </c:pt>
                <c:pt idx="6985">
                  <c:v>#N/A</c:v>
                </c:pt>
                <c:pt idx="6986">
                  <c:v>#N/A</c:v>
                </c:pt>
                <c:pt idx="6987">
                  <c:v>#N/A</c:v>
                </c:pt>
                <c:pt idx="6988">
                  <c:v>#N/A</c:v>
                </c:pt>
                <c:pt idx="6989">
                  <c:v>#N/A</c:v>
                </c:pt>
                <c:pt idx="6990">
                  <c:v>#N/A</c:v>
                </c:pt>
                <c:pt idx="6991">
                  <c:v>#N/A</c:v>
                </c:pt>
                <c:pt idx="6992">
                  <c:v>#N/A</c:v>
                </c:pt>
                <c:pt idx="6993">
                  <c:v>#N/A</c:v>
                </c:pt>
                <c:pt idx="6994">
                  <c:v>#N/A</c:v>
                </c:pt>
                <c:pt idx="6995">
                  <c:v>#N/A</c:v>
                </c:pt>
                <c:pt idx="6996">
                  <c:v>#N/A</c:v>
                </c:pt>
                <c:pt idx="6997">
                  <c:v>#N/A</c:v>
                </c:pt>
                <c:pt idx="6998">
                  <c:v>#N/A</c:v>
                </c:pt>
                <c:pt idx="6999">
                  <c:v>#N/A</c:v>
                </c:pt>
                <c:pt idx="7000">
                  <c:v>#N/A</c:v>
                </c:pt>
                <c:pt idx="7001">
                  <c:v>#N/A</c:v>
                </c:pt>
                <c:pt idx="7002">
                  <c:v>#N/A</c:v>
                </c:pt>
                <c:pt idx="7003">
                  <c:v>#N/A</c:v>
                </c:pt>
                <c:pt idx="7004">
                  <c:v>#N/A</c:v>
                </c:pt>
                <c:pt idx="7005">
                  <c:v>#N/A</c:v>
                </c:pt>
                <c:pt idx="7006">
                  <c:v>#N/A</c:v>
                </c:pt>
                <c:pt idx="7007">
                  <c:v>#N/A</c:v>
                </c:pt>
                <c:pt idx="7008">
                  <c:v>#N/A</c:v>
                </c:pt>
                <c:pt idx="7009">
                  <c:v>#N/A</c:v>
                </c:pt>
                <c:pt idx="7010">
                  <c:v>#N/A</c:v>
                </c:pt>
                <c:pt idx="7011">
                  <c:v>#N/A</c:v>
                </c:pt>
                <c:pt idx="7012">
                  <c:v>#N/A</c:v>
                </c:pt>
                <c:pt idx="7013">
                  <c:v>#N/A</c:v>
                </c:pt>
                <c:pt idx="7014">
                  <c:v>#N/A</c:v>
                </c:pt>
                <c:pt idx="7015">
                  <c:v>#N/A</c:v>
                </c:pt>
                <c:pt idx="7016">
                  <c:v>#N/A</c:v>
                </c:pt>
                <c:pt idx="7017">
                  <c:v>#N/A</c:v>
                </c:pt>
                <c:pt idx="7018">
                  <c:v>#N/A</c:v>
                </c:pt>
                <c:pt idx="7019">
                  <c:v>#N/A</c:v>
                </c:pt>
                <c:pt idx="7020">
                  <c:v>#N/A</c:v>
                </c:pt>
                <c:pt idx="7021">
                  <c:v>#N/A</c:v>
                </c:pt>
                <c:pt idx="7022">
                  <c:v>#N/A</c:v>
                </c:pt>
                <c:pt idx="7023">
                  <c:v>#N/A</c:v>
                </c:pt>
                <c:pt idx="7024">
                  <c:v>#N/A</c:v>
                </c:pt>
                <c:pt idx="7025">
                  <c:v>#N/A</c:v>
                </c:pt>
                <c:pt idx="7026">
                  <c:v>#N/A</c:v>
                </c:pt>
                <c:pt idx="7027">
                  <c:v>#N/A</c:v>
                </c:pt>
                <c:pt idx="7028">
                  <c:v>#N/A</c:v>
                </c:pt>
                <c:pt idx="7029">
                  <c:v>#N/A</c:v>
                </c:pt>
                <c:pt idx="7030">
                  <c:v>#N/A</c:v>
                </c:pt>
                <c:pt idx="7031">
                  <c:v>#N/A</c:v>
                </c:pt>
                <c:pt idx="7032">
                  <c:v>#N/A</c:v>
                </c:pt>
                <c:pt idx="7033">
                  <c:v>#N/A</c:v>
                </c:pt>
                <c:pt idx="7034">
                  <c:v>#N/A</c:v>
                </c:pt>
                <c:pt idx="7035">
                  <c:v>#N/A</c:v>
                </c:pt>
                <c:pt idx="7036">
                  <c:v>#N/A</c:v>
                </c:pt>
                <c:pt idx="7037">
                  <c:v>#N/A</c:v>
                </c:pt>
                <c:pt idx="7038">
                  <c:v>#N/A</c:v>
                </c:pt>
                <c:pt idx="7039">
                  <c:v>#N/A</c:v>
                </c:pt>
                <c:pt idx="7040">
                  <c:v>#N/A</c:v>
                </c:pt>
                <c:pt idx="7041">
                  <c:v>#N/A</c:v>
                </c:pt>
                <c:pt idx="7042">
                  <c:v>#N/A</c:v>
                </c:pt>
                <c:pt idx="7043">
                  <c:v>#N/A</c:v>
                </c:pt>
                <c:pt idx="7044">
                  <c:v>#N/A</c:v>
                </c:pt>
                <c:pt idx="7045">
                  <c:v>#N/A</c:v>
                </c:pt>
                <c:pt idx="7046">
                  <c:v>#N/A</c:v>
                </c:pt>
                <c:pt idx="7047">
                  <c:v>#N/A</c:v>
                </c:pt>
                <c:pt idx="7048">
                  <c:v>#N/A</c:v>
                </c:pt>
                <c:pt idx="7049">
                  <c:v>#N/A</c:v>
                </c:pt>
                <c:pt idx="7050">
                  <c:v>#N/A</c:v>
                </c:pt>
                <c:pt idx="7051">
                  <c:v>#N/A</c:v>
                </c:pt>
                <c:pt idx="7052">
                  <c:v>#N/A</c:v>
                </c:pt>
                <c:pt idx="7053">
                  <c:v>#N/A</c:v>
                </c:pt>
                <c:pt idx="7054">
                  <c:v>#N/A</c:v>
                </c:pt>
                <c:pt idx="7055">
                  <c:v>#N/A</c:v>
                </c:pt>
                <c:pt idx="7056">
                  <c:v>#N/A</c:v>
                </c:pt>
                <c:pt idx="7057">
                  <c:v>#N/A</c:v>
                </c:pt>
                <c:pt idx="7058">
                  <c:v>#N/A</c:v>
                </c:pt>
                <c:pt idx="7059">
                  <c:v>#N/A</c:v>
                </c:pt>
                <c:pt idx="7060">
                  <c:v>#N/A</c:v>
                </c:pt>
                <c:pt idx="7061">
                  <c:v>#N/A</c:v>
                </c:pt>
                <c:pt idx="7062">
                  <c:v>#N/A</c:v>
                </c:pt>
                <c:pt idx="7063">
                  <c:v>#N/A</c:v>
                </c:pt>
                <c:pt idx="7064">
                  <c:v>#N/A</c:v>
                </c:pt>
                <c:pt idx="7065">
                  <c:v>#N/A</c:v>
                </c:pt>
                <c:pt idx="7066">
                  <c:v>#N/A</c:v>
                </c:pt>
                <c:pt idx="7067">
                  <c:v>#N/A</c:v>
                </c:pt>
                <c:pt idx="7068">
                  <c:v>#N/A</c:v>
                </c:pt>
                <c:pt idx="7069">
                  <c:v>#N/A</c:v>
                </c:pt>
                <c:pt idx="7070">
                  <c:v>#N/A</c:v>
                </c:pt>
                <c:pt idx="7071">
                  <c:v>#N/A</c:v>
                </c:pt>
                <c:pt idx="7072">
                  <c:v>#N/A</c:v>
                </c:pt>
                <c:pt idx="7073">
                  <c:v>#N/A</c:v>
                </c:pt>
                <c:pt idx="7074">
                  <c:v>#N/A</c:v>
                </c:pt>
                <c:pt idx="7075">
                  <c:v>#N/A</c:v>
                </c:pt>
                <c:pt idx="7076">
                  <c:v>#N/A</c:v>
                </c:pt>
                <c:pt idx="7077">
                  <c:v>#N/A</c:v>
                </c:pt>
                <c:pt idx="7078">
                  <c:v>#N/A</c:v>
                </c:pt>
                <c:pt idx="7079">
                  <c:v>#N/A</c:v>
                </c:pt>
                <c:pt idx="7080">
                  <c:v>#N/A</c:v>
                </c:pt>
                <c:pt idx="7081">
                  <c:v>#N/A</c:v>
                </c:pt>
                <c:pt idx="7082">
                  <c:v>#N/A</c:v>
                </c:pt>
                <c:pt idx="7083">
                  <c:v>#N/A</c:v>
                </c:pt>
                <c:pt idx="7084">
                  <c:v>#N/A</c:v>
                </c:pt>
                <c:pt idx="7085">
                  <c:v>#N/A</c:v>
                </c:pt>
                <c:pt idx="7086">
                  <c:v>#N/A</c:v>
                </c:pt>
                <c:pt idx="7087">
                  <c:v>#N/A</c:v>
                </c:pt>
                <c:pt idx="7088">
                  <c:v>#N/A</c:v>
                </c:pt>
                <c:pt idx="7089">
                  <c:v>#N/A</c:v>
                </c:pt>
                <c:pt idx="7090">
                  <c:v>#N/A</c:v>
                </c:pt>
                <c:pt idx="7091">
                  <c:v>#N/A</c:v>
                </c:pt>
                <c:pt idx="7092">
                  <c:v>#N/A</c:v>
                </c:pt>
                <c:pt idx="7093">
                  <c:v>#N/A</c:v>
                </c:pt>
                <c:pt idx="7094">
                  <c:v>#N/A</c:v>
                </c:pt>
                <c:pt idx="7095">
                  <c:v>#N/A</c:v>
                </c:pt>
                <c:pt idx="7096">
                  <c:v>#N/A</c:v>
                </c:pt>
                <c:pt idx="7097">
                  <c:v>#N/A</c:v>
                </c:pt>
                <c:pt idx="7098">
                  <c:v>#N/A</c:v>
                </c:pt>
                <c:pt idx="7099">
                  <c:v>#N/A</c:v>
                </c:pt>
                <c:pt idx="7100">
                  <c:v>#N/A</c:v>
                </c:pt>
                <c:pt idx="7101">
                  <c:v>#N/A</c:v>
                </c:pt>
                <c:pt idx="7102">
                  <c:v>#N/A</c:v>
                </c:pt>
                <c:pt idx="7103">
                  <c:v>#N/A</c:v>
                </c:pt>
                <c:pt idx="7104">
                  <c:v>#N/A</c:v>
                </c:pt>
                <c:pt idx="7105">
                  <c:v>#N/A</c:v>
                </c:pt>
                <c:pt idx="7106">
                  <c:v>#N/A</c:v>
                </c:pt>
                <c:pt idx="7107">
                  <c:v>#N/A</c:v>
                </c:pt>
                <c:pt idx="7108">
                  <c:v>#N/A</c:v>
                </c:pt>
                <c:pt idx="7109">
                  <c:v>#N/A</c:v>
                </c:pt>
                <c:pt idx="7110">
                  <c:v>#N/A</c:v>
                </c:pt>
                <c:pt idx="7111">
                  <c:v>#N/A</c:v>
                </c:pt>
                <c:pt idx="7112">
                  <c:v>#N/A</c:v>
                </c:pt>
                <c:pt idx="7113">
                  <c:v>#N/A</c:v>
                </c:pt>
                <c:pt idx="7114">
                  <c:v>#N/A</c:v>
                </c:pt>
                <c:pt idx="7115">
                  <c:v>#N/A</c:v>
                </c:pt>
                <c:pt idx="7116">
                  <c:v>#N/A</c:v>
                </c:pt>
                <c:pt idx="7117">
                  <c:v>#N/A</c:v>
                </c:pt>
                <c:pt idx="7118">
                  <c:v>#N/A</c:v>
                </c:pt>
                <c:pt idx="7119">
                  <c:v>#N/A</c:v>
                </c:pt>
                <c:pt idx="7120">
                  <c:v>#N/A</c:v>
                </c:pt>
                <c:pt idx="7121">
                  <c:v>#N/A</c:v>
                </c:pt>
                <c:pt idx="7122">
                  <c:v>#N/A</c:v>
                </c:pt>
                <c:pt idx="7123">
                  <c:v>#N/A</c:v>
                </c:pt>
                <c:pt idx="7124">
                  <c:v>#N/A</c:v>
                </c:pt>
                <c:pt idx="7125">
                  <c:v>#N/A</c:v>
                </c:pt>
                <c:pt idx="7126">
                  <c:v>#N/A</c:v>
                </c:pt>
                <c:pt idx="7127">
                  <c:v>#N/A</c:v>
                </c:pt>
                <c:pt idx="7128">
                  <c:v>#N/A</c:v>
                </c:pt>
                <c:pt idx="7129">
                  <c:v>#N/A</c:v>
                </c:pt>
                <c:pt idx="7130">
                  <c:v>#N/A</c:v>
                </c:pt>
                <c:pt idx="7131">
                  <c:v>#N/A</c:v>
                </c:pt>
                <c:pt idx="7132">
                  <c:v>#N/A</c:v>
                </c:pt>
                <c:pt idx="7133">
                  <c:v>#N/A</c:v>
                </c:pt>
                <c:pt idx="7134">
                  <c:v>#N/A</c:v>
                </c:pt>
                <c:pt idx="7135">
                  <c:v>#N/A</c:v>
                </c:pt>
                <c:pt idx="7136">
                  <c:v>#N/A</c:v>
                </c:pt>
                <c:pt idx="7137">
                  <c:v>#N/A</c:v>
                </c:pt>
                <c:pt idx="7138">
                  <c:v>#N/A</c:v>
                </c:pt>
                <c:pt idx="7139">
                  <c:v>#N/A</c:v>
                </c:pt>
                <c:pt idx="7140">
                  <c:v>#N/A</c:v>
                </c:pt>
                <c:pt idx="7141">
                  <c:v>#N/A</c:v>
                </c:pt>
                <c:pt idx="7142">
                  <c:v>#N/A</c:v>
                </c:pt>
                <c:pt idx="7143">
                  <c:v>#N/A</c:v>
                </c:pt>
                <c:pt idx="7144">
                  <c:v>#N/A</c:v>
                </c:pt>
                <c:pt idx="7145">
                  <c:v>#N/A</c:v>
                </c:pt>
                <c:pt idx="7146">
                  <c:v>#N/A</c:v>
                </c:pt>
                <c:pt idx="7147">
                  <c:v>#N/A</c:v>
                </c:pt>
                <c:pt idx="7148">
                  <c:v>#N/A</c:v>
                </c:pt>
                <c:pt idx="7149">
                  <c:v>#N/A</c:v>
                </c:pt>
                <c:pt idx="7150">
                  <c:v>#N/A</c:v>
                </c:pt>
                <c:pt idx="7151">
                  <c:v>#N/A</c:v>
                </c:pt>
                <c:pt idx="7152">
                  <c:v>#N/A</c:v>
                </c:pt>
                <c:pt idx="7153">
                  <c:v>#N/A</c:v>
                </c:pt>
                <c:pt idx="7154">
                  <c:v>#N/A</c:v>
                </c:pt>
                <c:pt idx="7155">
                  <c:v>#N/A</c:v>
                </c:pt>
                <c:pt idx="7156">
                  <c:v>#N/A</c:v>
                </c:pt>
                <c:pt idx="7157">
                  <c:v>#N/A</c:v>
                </c:pt>
                <c:pt idx="7158">
                  <c:v>#N/A</c:v>
                </c:pt>
                <c:pt idx="7159">
                  <c:v>#N/A</c:v>
                </c:pt>
                <c:pt idx="7160">
                  <c:v>#N/A</c:v>
                </c:pt>
                <c:pt idx="7161">
                  <c:v>#N/A</c:v>
                </c:pt>
                <c:pt idx="7162">
                  <c:v>#N/A</c:v>
                </c:pt>
                <c:pt idx="7163">
                  <c:v>#N/A</c:v>
                </c:pt>
                <c:pt idx="7164">
                  <c:v>#N/A</c:v>
                </c:pt>
                <c:pt idx="7165">
                  <c:v>#N/A</c:v>
                </c:pt>
                <c:pt idx="7166">
                  <c:v>#N/A</c:v>
                </c:pt>
                <c:pt idx="7167">
                  <c:v>#N/A</c:v>
                </c:pt>
                <c:pt idx="7168">
                  <c:v>#N/A</c:v>
                </c:pt>
                <c:pt idx="7169">
                  <c:v>#N/A</c:v>
                </c:pt>
                <c:pt idx="7170">
                  <c:v>#N/A</c:v>
                </c:pt>
                <c:pt idx="7171">
                  <c:v>#N/A</c:v>
                </c:pt>
                <c:pt idx="7172">
                  <c:v>#N/A</c:v>
                </c:pt>
                <c:pt idx="7173">
                  <c:v>#N/A</c:v>
                </c:pt>
                <c:pt idx="7174">
                  <c:v>#N/A</c:v>
                </c:pt>
                <c:pt idx="7175">
                  <c:v>#N/A</c:v>
                </c:pt>
                <c:pt idx="7176">
                  <c:v>#N/A</c:v>
                </c:pt>
                <c:pt idx="7177">
                  <c:v>#N/A</c:v>
                </c:pt>
                <c:pt idx="7178">
                  <c:v>#N/A</c:v>
                </c:pt>
                <c:pt idx="7179">
                  <c:v>#N/A</c:v>
                </c:pt>
                <c:pt idx="7180">
                  <c:v>#N/A</c:v>
                </c:pt>
                <c:pt idx="7181">
                  <c:v>#N/A</c:v>
                </c:pt>
                <c:pt idx="7182">
                  <c:v>#N/A</c:v>
                </c:pt>
                <c:pt idx="7183">
                  <c:v>#N/A</c:v>
                </c:pt>
                <c:pt idx="7184">
                  <c:v>#N/A</c:v>
                </c:pt>
                <c:pt idx="7185">
                  <c:v>#N/A</c:v>
                </c:pt>
                <c:pt idx="7186">
                  <c:v>#N/A</c:v>
                </c:pt>
                <c:pt idx="7187">
                  <c:v>#N/A</c:v>
                </c:pt>
                <c:pt idx="7188">
                  <c:v>#N/A</c:v>
                </c:pt>
                <c:pt idx="7189">
                  <c:v>#N/A</c:v>
                </c:pt>
                <c:pt idx="7190">
                  <c:v>#N/A</c:v>
                </c:pt>
                <c:pt idx="7191">
                  <c:v>#N/A</c:v>
                </c:pt>
                <c:pt idx="7192">
                  <c:v>#N/A</c:v>
                </c:pt>
                <c:pt idx="7193">
                  <c:v>#N/A</c:v>
                </c:pt>
                <c:pt idx="7194">
                  <c:v>#N/A</c:v>
                </c:pt>
                <c:pt idx="7195">
                  <c:v>#N/A</c:v>
                </c:pt>
                <c:pt idx="7196">
                  <c:v>#N/A</c:v>
                </c:pt>
                <c:pt idx="7197">
                  <c:v>#N/A</c:v>
                </c:pt>
                <c:pt idx="7198">
                  <c:v>#N/A</c:v>
                </c:pt>
                <c:pt idx="7199">
                  <c:v>#N/A</c:v>
                </c:pt>
                <c:pt idx="7200">
                  <c:v>#N/A</c:v>
                </c:pt>
                <c:pt idx="7201">
                  <c:v>#N/A</c:v>
                </c:pt>
                <c:pt idx="7202">
                  <c:v>#N/A</c:v>
                </c:pt>
                <c:pt idx="7203">
                  <c:v>#N/A</c:v>
                </c:pt>
                <c:pt idx="7204">
                  <c:v>#N/A</c:v>
                </c:pt>
                <c:pt idx="7205">
                  <c:v>#N/A</c:v>
                </c:pt>
                <c:pt idx="7206">
                  <c:v>#N/A</c:v>
                </c:pt>
                <c:pt idx="7207">
                  <c:v>#N/A</c:v>
                </c:pt>
                <c:pt idx="7208">
                  <c:v>#N/A</c:v>
                </c:pt>
                <c:pt idx="7209">
                  <c:v>#N/A</c:v>
                </c:pt>
                <c:pt idx="7210">
                  <c:v>#N/A</c:v>
                </c:pt>
                <c:pt idx="7211">
                  <c:v>#N/A</c:v>
                </c:pt>
                <c:pt idx="7212">
                  <c:v>#N/A</c:v>
                </c:pt>
                <c:pt idx="7213">
                  <c:v>#N/A</c:v>
                </c:pt>
                <c:pt idx="7214">
                  <c:v>#N/A</c:v>
                </c:pt>
                <c:pt idx="7215">
                  <c:v>#N/A</c:v>
                </c:pt>
                <c:pt idx="7216">
                  <c:v>#N/A</c:v>
                </c:pt>
                <c:pt idx="7217">
                  <c:v>#N/A</c:v>
                </c:pt>
                <c:pt idx="7218">
                  <c:v>#N/A</c:v>
                </c:pt>
                <c:pt idx="7219">
                  <c:v>#N/A</c:v>
                </c:pt>
                <c:pt idx="7220">
                  <c:v>#N/A</c:v>
                </c:pt>
                <c:pt idx="7221">
                  <c:v>#N/A</c:v>
                </c:pt>
                <c:pt idx="7222">
                  <c:v>#N/A</c:v>
                </c:pt>
                <c:pt idx="7223">
                  <c:v>#N/A</c:v>
                </c:pt>
                <c:pt idx="7224">
                  <c:v>#N/A</c:v>
                </c:pt>
                <c:pt idx="7225">
                  <c:v>#N/A</c:v>
                </c:pt>
                <c:pt idx="7226">
                  <c:v>#N/A</c:v>
                </c:pt>
                <c:pt idx="7227">
                  <c:v>#N/A</c:v>
                </c:pt>
                <c:pt idx="7228">
                  <c:v>#N/A</c:v>
                </c:pt>
                <c:pt idx="7229">
                  <c:v>#N/A</c:v>
                </c:pt>
                <c:pt idx="7230">
                  <c:v>#N/A</c:v>
                </c:pt>
                <c:pt idx="7231">
                  <c:v>#N/A</c:v>
                </c:pt>
                <c:pt idx="7232">
                  <c:v>#N/A</c:v>
                </c:pt>
                <c:pt idx="7233">
                  <c:v>#N/A</c:v>
                </c:pt>
                <c:pt idx="7234">
                  <c:v>#N/A</c:v>
                </c:pt>
                <c:pt idx="7235">
                  <c:v>#N/A</c:v>
                </c:pt>
                <c:pt idx="7236">
                  <c:v>#N/A</c:v>
                </c:pt>
                <c:pt idx="7237">
                  <c:v>#N/A</c:v>
                </c:pt>
                <c:pt idx="7238">
                  <c:v>#N/A</c:v>
                </c:pt>
                <c:pt idx="7239">
                  <c:v>#N/A</c:v>
                </c:pt>
                <c:pt idx="7240">
                  <c:v>#N/A</c:v>
                </c:pt>
                <c:pt idx="7241">
                  <c:v>#N/A</c:v>
                </c:pt>
                <c:pt idx="7242">
                  <c:v>#N/A</c:v>
                </c:pt>
                <c:pt idx="7243">
                  <c:v>#N/A</c:v>
                </c:pt>
                <c:pt idx="7244">
                  <c:v>#N/A</c:v>
                </c:pt>
                <c:pt idx="7245">
                  <c:v>#N/A</c:v>
                </c:pt>
                <c:pt idx="7246">
                  <c:v>#N/A</c:v>
                </c:pt>
                <c:pt idx="7247">
                  <c:v>#N/A</c:v>
                </c:pt>
                <c:pt idx="7248">
                  <c:v>#N/A</c:v>
                </c:pt>
                <c:pt idx="7249">
                  <c:v>#N/A</c:v>
                </c:pt>
                <c:pt idx="7250">
                  <c:v>#N/A</c:v>
                </c:pt>
                <c:pt idx="7251">
                  <c:v>#N/A</c:v>
                </c:pt>
                <c:pt idx="7252">
                  <c:v>#N/A</c:v>
                </c:pt>
                <c:pt idx="7253">
                  <c:v>#N/A</c:v>
                </c:pt>
                <c:pt idx="7254">
                  <c:v>#N/A</c:v>
                </c:pt>
                <c:pt idx="7255">
                  <c:v>#N/A</c:v>
                </c:pt>
                <c:pt idx="7256">
                  <c:v>#N/A</c:v>
                </c:pt>
                <c:pt idx="7257">
                  <c:v>#N/A</c:v>
                </c:pt>
                <c:pt idx="7258">
                  <c:v>#N/A</c:v>
                </c:pt>
                <c:pt idx="7259">
                  <c:v>#N/A</c:v>
                </c:pt>
                <c:pt idx="7260">
                  <c:v>#N/A</c:v>
                </c:pt>
                <c:pt idx="7261">
                  <c:v>#N/A</c:v>
                </c:pt>
                <c:pt idx="7262">
                  <c:v>#N/A</c:v>
                </c:pt>
                <c:pt idx="7263">
                  <c:v>#N/A</c:v>
                </c:pt>
                <c:pt idx="7264">
                  <c:v>#N/A</c:v>
                </c:pt>
                <c:pt idx="7265">
                  <c:v>#N/A</c:v>
                </c:pt>
                <c:pt idx="7266">
                  <c:v>#N/A</c:v>
                </c:pt>
                <c:pt idx="7267">
                  <c:v>#N/A</c:v>
                </c:pt>
                <c:pt idx="7268">
                  <c:v>#N/A</c:v>
                </c:pt>
                <c:pt idx="7269">
                  <c:v>#N/A</c:v>
                </c:pt>
                <c:pt idx="7270">
                  <c:v>#N/A</c:v>
                </c:pt>
                <c:pt idx="7271">
                  <c:v>#N/A</c:v>
                </c:pt>
                <c:pt idx="7272">
                  <c:v>#N/A</c:v>
                </c:pt>
                <c:pt idx="7273">
                  <c:v>#N/A</c:v>
                </c:pt>
                <c:pt idx="7274">
                  <c:v>#N/A</c:v>
                </c:pt>
                <c:pt idx="7275">
                  <c:v>#N/A</c:v>
                </c:pt>
                <c:pt idx="7276">
                  <c:v>#N/A</c:v>
                </c:pt>
                <c:pt idx="7277">
                  <c:v>#N/A</c:v>
                </c:pt>
                <c:pt idx="7278">
                  <c:v>#N/A</c:v>
                </c:pt>
                <c:pt idx="7279">
                  <c:v>#N/A</c:v>
                </c:pt>
                <c:pt idx="7280">
                  <c:v>#N/A</c:v>
                </c:pt>
                <c:pt idx="7281">
                  <c:v>#N/A</c:v>
                </c:pt>
                <c:pt idx="7282">
                  <c:v>#N/A</c:v>
                </c:pt>
                <c:pt idx="7283">
                  <c:v>#N/A</c:v>
                </c:pt>
                <c:pt idx="7284">
                  <c:v>#N/A</c:v>
                </c:pt>
                <c:pt idx="7285">
                  <c:v>#N/A</c:v>
                </c:pt>
                <c:pt idx="7286">
                  <c:v>#N/A</c:v>
                </c:pt>
                <c:pt idx="7287">
                  <c:v>#N/A</c:v>
                </c:pt>
                <c:pt idx="7288">
                  <c:v>#N/A</c:v>
                </c:pt>
                <c:pt idx="7289">
                  <c:v>#N/A</c:v>
                </c:pt>
                <c:pt idx="7290">
                  <c:v>#N/A</c:v>
                </c:pt>
                <c:pt idx="7291">
                  <c:v>#N/A</c:v>
                </c:pt>
                <c:pt idx="7292">
                  <c:v>#N/A</c:v>
                </c:pt>
                <c:pt idx="7293">
                  <c:v>#N/A</c:v>
                </c:pt>
                <c:pt idx="7294">
                  <c:v>#N/A</c:v>
                </c:pt>
                <c:pt idx="7295">
                  <c:v>#N/A</c:v>
                </c:pt>
                <c:pt idx="7296">
                  <c:v>#N/A</c:v>
                </c:pt>
                <c:pt idx="7297">
                  <c:v>#N/A</c:v>
                </c:pt>
                <c:pt idx="7298">
                  <c:v>#N/A</c:v>
                </c:pt>
                <c:pt idx="7299">
                  <c:v>#N/A</c:v>
                </c:pt>
                <c:pt idx="7300">
                  <c:v>#N/A</c:v>
                </c:pt>
                <c:pt idx="7301">
                  <c:v>#N/A</c:v>
                </c:pt>
                <c:pt idx="7302">
                  <c:v>#N/A</c:v>
                </c:pt>
                <c:pt idx="7303">
                  <c:v>#N/A</c:v>
                </c:pt>
                <c:pt idx="7304">
                  <c:v>#N/A</c:v>
                </c:pt>
                <c:pt idx="7305">
                  <c:v>#N/A</c:v>
                </c:pt>
                <c:pt idx="7306">
                  <c:v>#N/A</c:v>
                </c:pt>
                <c:pt idx="7307">
                  <c:v>#N/A</c:v>
                </c:pt>
                <c:pt idx="7308">
                  <c:v>#N/A</c:v>
                </c:pt>
                <c:pt idx="7309">
                  <c:v>#N/A</c:v>
                </c:pt>
                <c:pt idx="7310">
                  <c:v>#N/A</c:v>
                </c:pt>
                <c:pt idx="7311">
                  <c:v>#N/A</c:v>
                </c:pt>
                <c:pt idx="7312">
                  <c:v>#N/A</c:v>
                </c:pt>
                <c:pt idx="7313">
                  <c:v>#N/A</c:v>
                </c:pt>
                <c:pt idx="7314">
                  <c:v>#N/A</c:v>
                </c:pt>
                <c:pt idx="7315">
                  <c:v>#N/A</c:v>
                </c:pt>
                <c:pt idx="7316">
                  <c:v>#N/A</c:v>
                </c:pt>
                <c:pt idx="7317">
                  <c:v>#N/A</c:v>
                </c:pt>
                <c:pt idx="7318">
                  <c:v>#N/A</c:v>
                </c:pt>
                <c:pt idx="7319">
                  <c:v>#N/A</c:v>
                </c:pt>
                <c:pt idx="7320">
                  <c:v>#N/A</c:v>
                </c:pt>
                <c:pt idx="7321">
                  <c:v>#N/A</c:v>
                </c:pt>
                <c:pt idx="7322">
                  <c:v>#N/A</c:v>
                </c:pt>
                <c:pt idx="7323">
                  <c:v>#N/A</c:v>
                </c:pt>
                <c:pt idx="7324">
                  <c:v>#N/A</c:v>
                </c:pt>
                <c:pt idx="7325">
                  <c:v>#N/A</c:v>
                </c:pt>
                <c:pt idx="7326">
                  <c:v>#N/A</c:v>
                </c:pt>
                <c:pt idx="7327">
                  <c:v>#N/A</c:v>
                </c:pt>
                <c:pt idx="7328">
                  <c:v>#N/A</c:v>
                </c:pt>
                <c:pt idx="7329">
                  <c:v>#N/A</c:v>
                </c:pt>
                <c:pt idx="7330">
                  <c:v>#N/A</c:v>
                </c:pt>
                <c:pt idx="7331">
                  <c:v>#N/A</c:v>
                </c:pt>
                <c:pt idx="7332">
                  <c:v>#N/A</c:v>
                </c:pt>
                <c:pt idx="7333">
                  <c:v>#N/A</c:v>
                </c:pt>
                <c:pt idx="7334">
                  <c:v>#N/A</c:v>
                </c:pt>
                <c:pt idx="7335">
                  <c:v>#N/A</c:v>
                </c:pt>
                <c:pt idx="7336">
                  <c:v>#N/A</c:v>
                </c:pt>
                <c:pt idx="7337">
                  <c:v>#N/A</c:v>
                </c:pt>
                <c:pt idx="7338">
                  <c:v>#N/A</c:v>
                </c:pt>
                <c:pt idx="7339">
                  <c:v>#N/A</c:v>
                </c:pt>
                <c:pt idx="7340">
                  <c:v>#N/A</c:v>
                </c:pt>
                <c:pt idx="7341">
                  <c:v>#N/A</c:v>
                </c:pt>
                <c:pt idx="7342">
                  <c:v>#N/A</c:v>
                </c:pt>
                <c:pt idx="7343">
                  <c:v>#N/A</c:v>
                </c:pt>
                <c:pt idx="7344">
                  <c:v>#N/A</c:v>
                </c:pt>
                <c:pt idx="7345">
                  <c:v>#N/A</c:v>
                </c:pt>
                <c:pt idx="7346">
                  <c:v>#N/A</c:v>
                </c:pt>
                <c:pt idx="7347">
                  <c:v>#N/A</c:v>
                </c:pt>
                <c:pt idx="7348">
                  <c:v>#N/A</c:v>
                </c:pt>
                <c:pt idx="7349">
                  <c:v>#N/A</c:v>
                </c:pt>
                <c:pt idx="7350">
                  <c:v>#N/A</c:v>
                </c:pt>
                <c:pt idx="7351">
                  <c:v>#N/A</c:v>
                </c:pt>
                <c:pt idx="7352">
                  <c:v>#N/A</c:v>
                </c:pt>
                <c:pt idx="7353">
                  <c:v>#N/A</c:v>
                </c:pt>
                <c:pt idx="7354">
                  <c:v>#N/A</c:v>
                </c:pt>
                <c:pt idx="7355">
                  <c:v>#N/A</c:v>
                </c:pt>
                <c:pt idx="7356">
                  <c:v>#N/A</c:v>
                </c:pt>
                <c:pt idx="7357">
                  <c:v>#N/A</c:v>
                </c:pt>
                <c:pt idx="7358">
                  <c:v>#N/A</c:v>
                </c:pt>
                <c:pt idx="7359">
                  <c:v>#N/A</c:v>
                </c:pt>
                <c:pt idx="7360">
                  <c:v>#N/A</c:v>
                </c:pt>
                <c:pt idx="7361">
                  <c:v>#N/A</c:v>
                </c:pt>
                <c:pt idx="7362">
                  <c:v>#N/A</c:v>
                </c:pt>
                <c:pt idx="7363">
                  <c:v>#N/A</c:v>
                </c:pt>
                <c:pt idx="7364">
                  <c:v>#N/A</c:v>
                </c:pt>
                <c:pt idx="7365">
                  <c:v>#N/A</c:v>
                </c:pt>
                <c:pt idx="7366">
                  <c:v>#N/A</c:v>
                </c:pt>
                <c:pt idx="7367">
                  <c:v>#N/A</c:v>
                </c:pt>
                <c:pt idx="7368">
                  <c:v>#N/A</c:v>
                </c:pt>
                <c:pt idx="7369">
                  <c:v>#N/A</c:v>
                </c:pt>
                <c:pt idx="7370">
                  <c:v>#N/A</c:v>
                </c:pt>
                <c:pt idx="7371">
                  <c:v>#N/A</c:v>
                </c:pt>
                <c:pt idx="7372">
                  <c:v>#N/A</c:v>
                </c:pt>
                <c:pt idx="7373">
                  <c:v>#N/A</c:v>
                </c:pt>
                <c:pt idx="7374">
                  <c:v>#N/A</c:v>
                </c:pt>
                <c:pt idx="7375">
                  <c:v>#N/A</c:v>
                </c:pt>
                <c:pt idx="7376">
                  <c:v>#N/A</c:v>
                </c:pt>
                <c:pt idx="7377">
                  <c:v>#N/A</c:v>
                </c:pt>
                <c:pt idx="7378">
                  <c:v>#N/A</c:v>
                </c:pt>
                <c:pt idx="7379">
                  <c:v>#N/A</c:v>
                </c:pt>
                <c:pt idx="7380">
                  <c:v>#N/A</c:v>
                </c:pt>
                <c:pt idx="7381">
                  <c:v>#N/A</c:v>
                </c:pt>
                <c:pt idx="7382">
                  <c:v>#N/A</c:v>
                </c:pt>
                <c:pt idx="7383">
                  <c:v>#N/A</c:v>
                </c:pt>
                <c:pt idx="7384">
                  <c:v>#N/A</c:v>
                </c:pt>
                <c:pt idx="7385">
                  <c:v>#N/A</c:v>
                </c:pt>
                <c:pt idx="7386">
                  <c:v>#N/A</c:v>
                </c:pt>
                <c:pt idx="7387">
                  <c:v>#N/A</c:v>
                </c:pt>
                <c:pt idx="7388">
                  <c:v>#N/A</c:v>
                </c:pt>
                <c:pt idx="7389">
                  <c:v>#N/A</c:v>
                </c:pt>
                <c:pt idx="7390">
                  <c:v>#N/A</c:v>
                </c:pt>
                <c:pt idx="7391">
                  <c:v>#N/A</c:v>
                </c:pt>
                <c:pt idx="7392">
                  <c:v>#N/A</c:v>
                </c:pt>
                <c:pt idx="7393">
                  <c:v>#N/A</c:v>
                </c:pt>
                <c:pt idx="7394">
                  <c:v>#N/A</c:v>
                </c:pt>
                <c:pt idx="7395">
                  <c:v>#N/A</c:v>
                </c:pt>
                <c:pt idx="7396">
                  <c:v>#N/A</c:v>
                </c:pt>
                <c:pt idx="7397">
                  <c:v>#N/A</c:v>
                </c:pt>
                <c:pt idx="7398">
                  <c:v>#N/A</c:v>
                </c:pt>
                <c:pt idx="7399">
                  <c:v>#N/A</c:v>
                </c:pt>
                <c:pt idx="7400">
                  <c:v>#N/A</c:v>
                </c:pt>
                <c:pt idx="7401">
                  <c:v>#N/A</c:v>
                </c:pt>
                <c:pt idx="7402">
                  <c:v>#N/A</c:v>
                </c:pt>
                <c:pt idx="7403">
                  <c:v>#N/A</c:v>
                </c:pt>
                <c:pt idx="7404">
                  <c:v>#N/A</c:v>
                </c:pt>
                <c:pt idx="7405">
                  <c:v>#N/A</c:v>
                </c:pt>
                <c:pt idx="7406">
                  <c:v>#N/A</c:v>
                </c:pt>
                <c:pt idx="7407">
                  <c:v>#N/A</c:v>
                </c:pt>
                <c:pt idx="7408">
                  <c:v>#N/A</c:v>
                </c:pt>
                <c:pt idx="7409">
                  <c:v>#N/A</c:v>
                </c:pt>
                <c:pt idx="7410">
                  <c:v>#N/A</c:v>
                </c:pt>
                <c:pt idx="7411">
                  <c:v>#N/A</c:v>
                </c:pt>
                <c:pt idx="7412">
                  <c:v>#N/A</c:v>
                </c:pt>
                <c:pt idx="7413">
                  <c:v>#N/A</c:v>
                </c:pt>
                <c:pt idx="7414">
                  <c:v>#N/A</c:v>
                </c:pt>
                <c:pt idx="7415">
                  <c:v>#N/A</c:v>
                </c:pt>
                <c:pt idx="7416">
                  <c:v>#N/A</c:v>
                </c:pt>
                <c:pt idx="7417">
                  <c:v>#N/A</c:v>
                </c:pt>
                <c:pt idx="7418">
                  <c:v>#N/A</c:v>
                </c:pt>
                <c:pt idx="7419">
                  <c:v>#N/A</c:v>
                </c:pt>
                <c:pt idx="7420">
                  <c:v>#N/A</c:v>
                </c:pt>
                <c:pt idx="7421">
                  <c:v>#N/A</c:v>
                </c:pt>
                <c:pt idx="7422">
                  <c:v>#N/A</c:v>
                </c:pt>
                <c:pt idx="7423">
                  <c:v>#N/A</c:v>
                </c:pt>
                <c:pt idx="7424">
                  <c:v>#N/A</c:v>
                </c:pt>
                <c:pt idx="7425">
                  <c:v>#N/A</c:v>
                </c:pt>
                <c:pt idx="7426">
                  <c:v>#N/A</c:v>
                </c:pt>
                <c:pt idx="7427">
                  <c:v>#N/A</c:v>
                </c:pt>
                <c:pt idx="7428">
                  <c:v>#N/A</c:v>
                </c:pt>
                <c:pt idx="7429">
                  <c:v>#N/A</c:v>
                </c:pt>
                <c:pt idx="7430">
                  <c:v>#N/A</c:v>
                </c:pt>
                <c:pt idx="7431">
                  <c:v>#N/A</c:v>
                </c:pt>
                <c:pt idx="7432">
                  <c:v>#N/A</c:v>
                </c:pt>
                <c:pt idx="7433">
                  <c:v>#N/A</c:v>
                </c:pt>
                <c:pt idx="7434">
                  <c:v>#N/A</c:v>
                </c:pt>
                <c:pt idx="7435">
                  <c:v>#N/A</c:v>
                </c:pt>
                <c:pt idx="7436">
                  <c:v>#N/A</c:v>
                </c:pt>
                <c:pt idx="7437">
                  <c:v>#N/A</c:v>
                </c:pt>
                <c:pt idx="7438">
                  <c:v>#N/A</c:v>
                </c:pt>
                <c:pt idx="7439">
                  <c:v>#N/A</c:v>
                </c:pt>
                <c:pt idx="7440">
                  <c:v>#N/A</c:v>
                </c:pt>
                <c:pt idx="7441">
                  <c:v>#N/A</c:v>
                </c:pt>
                <c:pt idx="7442">
                  <c:v>#N/A</c:v>
                </c:pt>
                <c:pt idx="7443">
                  <c:v>#N/A</c:v>
                </c:pt>
                <c:pt idx="7444">
                  <c:v>#N/A</c:v>
                </c:pt>
                <c:pt idx="7445">
                  <c:v>#N/A</c:v>
                </c:pt>
                <c:pt idx="7446">
                  <c:v>#N/A</c:v>
                </c:pt>
                <c:pt idx="7447">
                  <c:v>#N/A</c:v>
                </c:pt>
                <c:pt idx="7448">
                  <c:v>#N/A</c:v>
                </c:pt>
                <c:pt idx="7449">
                  <c:v>#N/A</c:v>
                </c:pt>
                <c:pt idx="7450">
                  <c:v>#N/A</c:v>
                </c:pt>
                <c:pt idx="7451">
                  <c:v>#N/A</c:v>
                </c:pt>
                <c:pt idx="7452">
                  <c:v>#N/A</c:v>
                </c:pt>
                <c:pt idx="7453">
                  <c:v>#N/A</c:v>
                </c:pt>
                <c:pt idx="7454">
                  <c:v>#N/A</c:v>
                </c:pt>
                <c:pt idx="7455">
                  <c:v>#N/A</c:v>
                </c:pt>
                <c:pt idx="7456">
                  <c:v>#N/A</c:v>
                </c:pt>
                <c:pt idx="7457">
                  <c:v>#N/A</c:v>
                </c:pt>
                <c:pt idx="7458">
                  <c:v>#N/A</c:v>
                </c:pt>
                <c:pt idx="7459">
                  <c:v>#N/A</c:v>
                </c:pt>
                <c:pt idx="7460">
                  <c:v>#N/A</c:v>
                </c:pt>
                <c:pt idx="7461">
                  <c:v>#N/A</c:v>
                </c:pt>
                <c:pt idx="7462">
                  <c:v>#N/A</c:v>
                </c:pt>
                <c:pt idx="7463">
                  <c:v>#N/A</c:v>
                </c:pt>
                <c:pt idx="7464">
                  <c:v>#N/A</c:v>
                </c:pt>
                <c:pt idx="7465">
                  <c:v>#N/A</c:v>
                </c:pt>
                <c:pt idx="7466">
                  <c:v>#N/A</c:v>
                </c:pt>
                <c:pt idx="7467">
                  <c:v>#N/A</c:v>
                </c:pt>
                <c:pt idx="7468">
                  <c:v>#N/A</c:v>
                </c:pt>
                <c:pt idx="7469">
                  <c:v>#N/A</c:v>
                </c:pt>
                <c:pt idx="7470">
                  <c:v>#N/A</c:v>
                </c:pt>
                <c:pt idx="7471">
                  <c:v>#N/A</c:v>
                </c:pt>
                <c:pt idx="7472">
                  <c:v>#N/A</c:v>
                </c:pt>
                <c:pt idx="7473">
                  <c:v>#N/A</c:v>
                </c:pt>
                <c:pt idx="7474">
                  <c:v>#N/A</c:v>
                </c:pt>
                <c:pt idx="7475">
                  <c:v>#N/A</c:v>
                </c:pt>
                <c:pt idx="7476">
                  <c:v>#N/A</c:v>
                </c:pt>
                <c:pt idx="7477">
                  <c:v>#N/A</c:v>
                </c:pt>
                <c:pt idx="7478">
                  <c:v>#N/A</c:v>
                </c:pt>
                <c:pt idx="7479">
                  <c:v>#N/A</c:v>
                </c:pt>
                <c:pt idx="7480">
                  <c:v>#N/A</c:v>
                </c:pt>
                <c:pt idx="7481">
                  <c:v>#N/A</c:v>
                </c:pt>
                <c:pt idx="7482">
                  <c:v>#N/A</c:v>
                </c:pt>
                <c:pt idx="7483">
                  <c:v>#N/A</c:v>
                </c:pt>
                <c:pt idx="7484">
                  <c:v>#N/A</c:v>
                </c:pt>
                <c:pt idx="7485">
                  <c:v>#N/A</c:v>
                </c:pt>
                <c:pt idx="7486">
                  <c:v>#N/A</c:v>
                </c:pt>
                <c:pt idx="7487">
                  <c:v>#N/A</c:v>
                </c:pt>
                <c:pt idx="7488">
                  <c:v>#N/A</c:v>
                </c:pt>
                <c:pt idx="7489">
                  <c:v>#N/A</c:v>
                </c:pt>
                <c:pt idx="7490">
                  <c:v>#N/A</c:v>
                </c:pt>
                <c:pt idx="7491">
                  <c:v>#N/A</c:v>
                </c:pt>
                <c:pt idx="7492">
                  <c:v>#N/A</c:v>
                </c:pt>
                <c:pt idx="7493">
                  <c:v>#N/A</c:v>
                </c:pt>
                <c:pt idx="7494">
                  <c:v>#N/A</c:v>
                </c:pt>
                <c:pt idx="7495">
                  <c:v>#N/A</c:v>
                </c:pt>
                <c:pt idx="7496">
                  <c:v>#N/A</c:v>
                </c:pt>
                <c:pt idx="7497">
                  <c:v>#N/A</c:v>
                </c:pt>
                <c:pt idx="7498">
                  <c:v>#N/A</c:v>
                </c:pt>
                <c:pt idx="7499">
                  <c:v>#N/A</c:v>
                </c:pt>
                <c:pt idx="7500">
                  <c:v>#N/A</c:v>
                </c:pt>
                <c:pt idx="7501">
                  <c:v>#N/A</c:v>
                </c:pt>
                <c:pt idx="7502">
                  <c:v>#N/A</c:v>
                </c:pt>
                <c:pt idx="7503">
                  <c:v>#N/A</c:v>
                </c:pt>
                <c:pt idx="7504">
                  <c:v>#N/A</c:v>
                </c:pt>
                <c:pt idx="7505">
                  <c:v>#N/A</c:v>
                </c:pt>
                <c:pt idx="7506">
                  <c:v>#N/A</c:v>
                </c:pt>
                <c:pt idx="7507">
                  <c:v>#N/A</c:v>
                </c:pt>
                <c:pt idx="7508">
                  <c:v>#N/A</c:v>
                </c:pt>
                <c:pt idx="7509">
                  <c:v>#N/A</c:v>
                </c:pt>
                <c:pt idx="7510">
                  <c:v>#N/A</c:v>
                </c:pt>
                <c:pt idx="7511">
                  <c:v>#N/A</c:v>
                </c:pt>
                <c:pt idx="7512">
                  <c:v>#N/A</c:v>
                </c:pt>
                <c:pt idx="7513">
                  <c:v>#N/A</c:v>
                </c:pt>
                <c:pt idx="7514">
                  <c:v>#N/A</c:v>
                </c:pt>
                <c:pt idx="7515">
                  <c:v>#N/A</c:v>
                </c:pt>
                <c:pt idx="7516">
                  <c:v>#N/A</c:v>
                </c:pt>
                <c:pt idx="7517">
                  <c:v>#N/A</c:v>
                </c:pt>
                <c:pt idx="7518">
                  <c:v>#N/A</c:v>
                </c:pt>
                <c:pt idx="7519">
                  <c:v>#N/A</c:v>
                </c:pt>
                <c:pt idx="7520">
                  <c:v>#N/A</c:v>
                </c:pt>
                <c:pt idx="7521">
                  <c:v>#N/A</c:v>
                </c:pt>
                <c:pt idx="7522">
                  <c:v>#N/A</c:v>
                </c:pt>
                <c:pt idx="7523">
                  <c:v>#N/A</c:v>
                </c:pt>
                <c:pt idx="7524">
                  <c:v>#N/A</c:v>
                </c:pt>
                <c:pt idx="7525">
                  <c:v>#N/A</c:v>
                </c:pt>
                <c:pt idx="7526">
                  <c:v>#N/A</c:v>
                </c:pt>
                <c:pt idx="7527">
                  <c:v>#N/A</c:v>
                </c:pt>
                <c:pt idx="7528">
                  <c:v>#N/A</c:v>
                </c:pt>
                <c:pt idx="7529">
                  <c:v>#N/A</c:v>
                </c:pt>
                <c:pt idx="7530">
                  <c:v>#N/A</c:v>
                </c:pt>
                <c:pt idx="7531">
                  <c:v>#N/A</c:v>
                </c:pt>
                <c:pt idx="7532">
                  <c:v>#N/A</c:v>
                </c:pt>
                <c:pt idx="7533">
                  <c:v>#N/A</c:v>
                </c:pt>
                <c:pt idx="7534">
                  <c:v>#N/A</c:v>
                </c:pt>
                <c:pt idx="7535">
                  <c:v>#N/A</c:v>
                </c:pt>
                <c:pt idx="7536">
                  <c:v>#N/A</c:v>
                </c:pt>
                <c:pt idx="7537">
                  <c:v>#N/A</c:v>
                </c:pt>
                <c:pt idx="7538">
                  <c:v>#N/A</c:v>
                </c:pt>
                <c:pt idx="7539">
                  <c:v>#N/A</c:v>
                </c:pt>
                <c:pt idx="7540">
                  <c:v>#N/A</c:v>
                </c:pt>
                <c:pt idx="7541">
                  <c:v>#N/A</c:v>
                </c:pt>
                <c:pt idx="7542">
                  <c:v>#N/A</c:v>
                </c:pt>
                <c:pt idx="7543">
                  <c:v>#N/A</c:v>
                </c:pt>
                <c:pt idx="7544">
                  <c:v>#N/A</c:v>
                </c:pt>
                <c:pt idx="7545">
                  <c:v>#N/A</c:v>
                </c:pt>
                <c:pt idx="7546">
                  <c:v>#N/A</c:v>
                </c:pt>
                <c:pt idx="7547">
                  <c:v>#N/A</c:v>
                </c:pt>
                <c:pt idx="7548">
                  <c:v>#N/A</c:v>
                </c:pt>
                <c:pt idx="7549">
                  <c:v>#N/A</c:v>
                </c:pt>
                <c:pt idx="7550">
                  <c:v>#N/A</c:v>
                </c:pt>
                <c:pt idx="7551">
                  <c:v>#N/A</c:v>
                </c:pt>
                <c:pt idx="7552">
                  <c:v>#N/A</c:v>
                </c:pt>
                <c:pt idx="7553">
                  <c:v>#N/A</c:v>
                </c:pt>
                <c:pt idx="7554">
                  <c:v>#N/A</c:v>
                </c:pt>
                <c:pt idx="7555">
                  <c:v>#N/A</c:v>
                </c:pt>
                <c:pt idx="7556">
                  <c:v>#N/A</c:v>
                </c:pt>
                <c:pt idx="7557">
                  <c:v>#N/A</c:v>
                </c:pt>
                <c:pt idx="7558">
                  <c:v>#N/A</c:v>
                </c:pt>
                <c:pt idx="7559">
                  <c:v>#N/A</c:v>
                </c:pt>
                <c:pt idx="7560">
                  <c:v>#N/A</c:v>
                </c:pt>
                <c:pt idx="7561">
                  <c:v>#N/A</c:v>
                </c:pt>
                <c:pt idx="7562">
                  <c:v>#N/A</c:v>
                </c:pt>
                <c:pt idx="7563">
                  <c:v>#N/A</c:v>
                </c:pt>
                <c:pt idx="7564">
                  <c:v>#N/A</c:v>
                </c:pt>
                <c:pt idx="7565">
                  <c:v>#N/A</c:v>
                </c:pt>
                <c:pt idx="7566">
                  <c:v>#N/A</c:v>
                </c:pt>
                <c:pt idx="7567">
                  <c:v>#N/A</c:v>
                </c:pt>
                <c:pt idx="7568">
                  <c:v>#N/A</c:v>
                </c:pt>
                <c:pt idx="7569">
                  <c:v>#N/A</c:v>
                </c:pt>
                <c:pt idx="7570">
                  <c:v>#N/A</c:v>
                </c:pt>
                <c:pt idx="7571">
                  <c:v>#N/A</c:v>
                </c:pt>
                <c:pt idx="7572">
                  <c:v>#N/A</c:v>
                </c:pt>
                <c:pt idx="7573">
                  <c:v>#N/A</c:v>
                </c:pt>
                <c:pt idx="7574">
                  <c:v>#N/A</c:v>
                </c:pt>
                <c:pt idx="7575">
                  <c:v>#N/A</c:v>
                </c:pt>
                <c:pt idx="7576">
                  <c:v>#N/A</c:v>
                </c:pt>
                <c:pt idx="7577">
                  <c:v>#N/A</c:v>
                </c:pt>
                <c:pt idx="7578">
                  <c:v>#N/A</c:v>
                </c:pt>
                <c:pt idx="7579">
                  <c:v>#N/A</c:v>
                </c:pt>
                <c:pt idx="7580">
                  <c:v>#N/A</c:v>
                </c:pt>
                <c:pt idx="7581">
                  <c:v>#N/A</c:v>
                </c:pt>
                <c:pt idx="7582">
                  <c:v>#N/A</c:v>
                </c:pt>
                <c:pt idx="7583">
                  <c:v>#N/A</c:v>
                </c:pt>
                <c:pt idx="7584">
                  <c:v>#N/A</c:v>
                </c:pt>
                <c:pt idx="7585">
                  <c:v>#N/A</c:v>
                </c:pt>
                <c:pt idx="7586">
                  <c:v>#N/A</c:v>
                </c:pt>
                <c:pt idx="7587">
                  <c:v>#N/A</c:v>
                </c:pt>
                <c:pt idx="7588">
                  <c:v>#N/A</c:v>
                </c:pt>
                <c:pt idx="7589">
                  <c:v>#N/A</c:v>
                </c:pt>
                <c:pt idx="7590">
                  <c:v>#N/A</c:v>
                </c:pt>
                <c:pt idx="7591">
                  <c:v>#N/A</c:v>
                </c:pt>
                <c:pt idx="7592">
                  <c:v>#N/A</c:v>
                </c:pt>
                <c:pt idx="7593">
                  <c:v>#N/A</c:v>
                </c:pt>
                <c:pt idx="7594">
                  <c:v>#N/A</c:v>
                </c:pt>
                <c:pt idx="7595">
                  <c:v>#N/A</c:v>
                </c:pt>
                <c:pt idx="7596">
                  <c:v>#N/A</c:v>
                </c:pt>
                <c:pt idx="7597">
                  <c:v>#N/A</c:v>
                </c:pt>
                <c:pt idx="7598">
                  <c:v>#N/A</c:v>
                </c:pt>
                <c:pt idx="7599">
                  <c:v>#N/A</c:v>
                </c:pt>
                <c:pt idx="7600">
                  <c:v>#N/A</c:v>
                </c:pt>
                <c:pt idx="7601">
                  <c:v>#N/A</c:v>
                </c:pt>
                <c:pt idx="7602">
                  <c:v>#N/A</c:v>
                </c:pt>
                <c:pt idx="7603">
                  <c:v>#N/A</c:v>
                </c:pt>
                <c:pt idx="7604">
                  <c:v>#N/A</c:v>
                </c:pt>
                <c:pt idx="7605">
                  <c:v>#N/A</c:v>
                </c:pt>
                <c:pt idx="7606">
                  <c:v>#N/A</c:v>
                </c:pt>
                <c:pt idx="7607">
                  <c:v>#N/A</c:v>
                </c:pt>
                <c:pt idx="7608">
                  <c:v>#N/A</c:v>
                </c:pt>
                <c:pt idx="7609">
                  <c:v>#N/A</c:v>
                </c:pt>
                <c:pt idx="7610">
                  <c:v>#N/A</c:v>
                </c:pt>
                <c:pt idx="7611">
                  <c:v>#N/A</c:v>
                </c:pt>
                <c:pt idx="7612">
                  <c:v>#N/A</c:v>
                </c:pt>
                <c:pt idx="7613">
                  <c:v>#N/A</c:v>
                </c:pt>
                <c:pt idx="7614">
                  <c:v>#N/A</c:v>
                </c:pt>
                <c:pt idx="7615">
                  <c:v>#N/A</c:v>
                </c:pt>
                <c:pt idx="7616">
                  <c:v>#N/A</c:v>
                </c:pt>
                <c:pt idx="7617">
                  <c:v>#N/A</c:v>
                </c:pt>
                <c:pt idx="7618">
                  <c:v>#N/A</c:v>
                </c:pt>
                <c:pt idx="7619">
                  <c:v>#N/A</c:v>
                </c:pt>
                <c:pt idx="7620">
                  <c:v>#N/A</c:v>
                </c:pt>
                <c:pt idx="7621">
                  <c:v>#N/A</c:v>
                </c:pt>
                <c:pt idx="7622">
                  <c:v>#N/A</c:v>
                </c:pt>
                <c:pt idx="7623">
                  <c:v>#N/A</c:v>
                </c:pt>
                <c:pt idx="7624">
                  <c:v>#N/A</c:v>
                </c:pt>
                <c:pt idx="7625">
                  <c:v>#N/A</c:v>
                </c:pt>
                <c:pt idx="7626">
                  <c:v>#N/A</c:v>
                </c:pt>
                <c:pt idx="7627">
                  <c:v>#N/A</c:v>
                </c:pt>
                <c:pt idx="7628">
                  <c:v>#N/A</c:v>
                </c:pt>
                <c:pt idx="7629">
                  <c:v>#N/A</c:v>
                </c:pt>
                <c:pt idx="7630">
                  <c:v>#N/A</c:v>
                </c:pt>
                <c:pt idx="7631">
                  <c:v>#N/A</c:v>
                </c:pt>
                <c:pt idx="7632">
                  <c:v>#N/A</c:v>
                </c:pt>
                <c:pt idx="7633">
                  <c:v>#N/A</c:v>
                </c:pt>
                <c:pt idx="7634">
                  <c:v>#N/A</c:v>
                </c:pt>
                <c:pt idx="7635">
                  <c:v>#N/A</c:v>
                </c:pt>
                <c:pt idx="7636">
                  <c:v>#N/A</c:v>
                </c:pt>
                <c:pt idx="7637">
                  <c:v>#N/A</c:v>
                </c:pt>
                <c:pt idx="7638">
                  <c:v>#N/A</c:v>
                </c:pt>
                <c:pt idx="7639">
                  <c:v>#N/A</c:v>
                </c:pt>
                <c:pt idx="7640">
                  <c:v>#N/A</c:v>
                </c:pt>
                <c:pt idx="7641">
                  <c:v>#N/A</c:v>
                </c:pt>
                <c:pt idx="7642">
                  <c:v>#N/A</c:v>
                </c:pt>
                <c:pt idx="7643">
                  <c:v>#N/A</c:v>
                </c:pt>
                <c:pt idx="7644">
                  <c:v>#N/A</c:v>
                </c:pt>
                <c:pt idx="7645">
                  <c:v>#N/A</c:v>
                </c:pt>
                <c:pt idx="7646">
                  <c:v>#N/A</c:v>
                </c:pt>
                <c:pt idx="7647">
                  <c:v>#N/A</c:v>
                </c:pt>
                <c:pt idx="7648">
                  <c:v>#N/A</c:v>
                </c:pt>
                <c:pt idx="7649">
                  <c:v>#N/A</c:v>
                </c:pt>
                <c:pt idx="7650">
                  <c:v>#N/A</c:v>
                </c:pt>
                <c:pt idx="7651">
                  <c:v>#N/A</c:v>
                </c:pt>
                <c:pt idx="7652">
                  <c:v>#N/A</c:v>
                </c:pt>
                <c:pt idx="7653">
                  <c:v>#N/A</c:v>
                </c:pt>
                <c:pt idx="7654">
                  <c:v>#N/A</c:v>
                </c:pt>
                <c:pt idx="7655">
                  <c:v>#N/A</c:v>
                </c:pt>
                <c:pt idx="7656">
                  <c:v>#N/A</c:v>
                </c:pt>
                <c:pt idx="7657">
                  <c:v>#N/A</c:v>
                </c:pt>
                <c:pt idx="7658">
                  <c:v>#N/A</c:v>
                </c:pt>
                <c:pt idx="7659">
                  <c:v>#N/A</c:v>
                </c:pt>
                <c:pt idx="7660">
                  <c:v>#N/A</c:v>
                </c:pt>
                <c:pt idx="7661">
                  <c:v>#N/A</c:v>
                </c:pt>
                <c:pt idx="7662">
                  <c:v>#N/A</c:v>
                </c:pt>
                <c:pt idx="7663">
                  <c:v>#N/A</c:v>
                </c:pt>
                <c:pt idx="7664">
                  <c:v>#N/A</c:v>
                </c:pt>
                <c:pt idx="7665">
                  <c:v>#N/A</c:v>
                </c:pt>
                <c:pt idx="7666">
                  <c:v>#N/A</c:v>
                </c:pt>
                <c:pt idx="7667">
                  <c:v>#N/A</c:v>
                </c:pt>
                <c:pt idx="7668">
                  <c:v>#N/A</c:v>
                </c:pt>
                <c:pt idx="7669">
                  <c:v>#N/A</c:v>
                </c:pt>
                <c:pt idx="7670">
                  <c:v>#N/A</c:v>
                </c:pt>
                <c:pt idx="7671">
                  <c:v>#N/A</c:v>
                </c:pt>
                <c:pt idx="7672">
                  <c:v>#N/A</c:v>
                </c:pt>
                <c:pt idx="7673">
                  <c:v>#N/A</c:v>
                </c:pt>
                <c:pt idx="7674">
                  <c:v>#N/A</c:v>
                </c:pt>
                <c:pt idx="7675">
                  <c:v>#N/A</c:v>
                </c:pt>
                <c:pt idx="7676">
                  <c:v>#N/A</c:v>
                </c:pt>
                <c:pt idx="7677">
                  <c:v>#N/A</c:v>
                </c:pt>
                <c:pt idx="7678">
                  <c:v>#N/A</c:v>
                </c:pt>
                <c:pt idx="7679">
                  <c:v>#N/A</c:v>
                </c:pt>
                <c:pt idx="7680">
                  <c:v>#N/A</c:v>
                </c:pt>
                <c:pt idx="7681">
                  <c:v>#N/A</c:v>
                </c:pt>
                <c:pt idx="7682">
                  <c:v>#N/A</c:v>
                </c:pt>
                <c:pt idx="7683">
                  <c:v>#N/A</c:v>
                </c:pt>
                <c:pt idx="7684">
                  <c:v>#N/A</c:v>
                </c:pt>
                <c:pt idx="7685">
                  <c:v>#N/A</c:v>
                </c:pt>
                <c:pt idx="7686">
                  <c:v>#N/A</c:v>
                </c:pt>
                <c:pt idx="7687">
                  <c:v>#N/A</c:v>
                </c:pt>
                <c:pt idx="7688">
                  <c:v>#N/A</c:v>
                </c:pt>
                <c:pt idx="7689">
                  <c:v>#N/A</c:v>
                </c:pt>
                <c:pt idx="7690">
                  <c:v>#N/A</c:v>
                </c:pt>
                <c:pt idx="7691">
                  <c:v>#N/A</c:v>
                </c:pt>
                <c:pt idx="7692">
                  <c:v>#N/A</c:v>
                </c:pt>
                <c:pt idx="7693">
                  <c:v>#N/A</c:v>
                </c:pt>
                <c:pt idx="7694">
                  <c:v>#N/A</c:v>
                </c:pt>
                <c:pt idx="7695">
                  <c:v>#N/A</c:v>
                </c:pt>
                <c:pt idx="7696">
                  <c:v>#N/A</c:v>
                </c:pt>
                <c:pt idx="7697">
                  <c:v>#N/A</c:v>
                </c:pt>
                <c:pt idx="7698">
                  <c:v>#N/A</c:v>
                </c:pt>
                <c:pt idx="7699">
                  <c:v>#N/A</c:v>
                </c:pt>
                <c:pt idx="7700">
                  <c:v>#N/A</c:v>
                </c:pt>
                <c:pt idx="7701">
                  <c:v>#N/A</c:v>
                </c:pt>
                <c:pt idx="7702">
                  <c:v>#N/A</c:v>
                </c:pt>
                <c:pt idx="7703">
                  <c:v>#N/A</c:v>
                </c:pt>
                <c:pt idx="7704">
                  <c:v>#N/A</c:v>
                </c:pt>
                <c:pt idx="7705">
                  <c:v>#N/A</c:v>
                </c:pt>
                <c:pt idx="7706">
                  <c:v>#N/A</c:v>
                </c:pt>
                <c:pt idx="7707">
                  <c:v>#N/A</c:v>
                </c:pt>
                <c:pt idx="7708">
                  <c:v>#N/A</c:v>
                </c:pt>
                <c:pt idx="7709">
                  <c:v>#N/A</c:v>
                </c:pt>
                <c:pt idx="7710">
                  <c:v>#N/A</c:v>
                </c:pt>
                <c:pt idx="7711">
                  <c:v>#N/A</c:v>
                </c:pt>
                <c:pt idx="7712">
                  <c:v>#N/A</c:v>
                </c:pt>
                <c:pt idx="7713">
                  <c:v>#N/A</c:v>
                </c:pt>
                <c:pt idx="7714">
                  <c:v>#N/A</c:v>
                </c:pt>
                <c:pt idx="7715">
                  <c:v>#N/A</c:v>
                </c:pt>
                <c:pt idx="7716">
                  <c:v>#N/A</c:v>
                </c:pt>
                <c:pt idx="7717">
                  <c:v>#N/A</c:v>
                </c:pt>
                <c:pt idx="7718">
                  <c:v>#N/A</c:v>
                </c:pt>
                <c:pt idx="7719">
                  <c:v>#N/A</c:v>
                </c:pt>
                <c:pt idx="7720">
                  <c:v>#N/A</c:v>
                </c:pt>
                <c:pt idx="7721">
                  <c:v>#N/A</c:v>
                </c:pt>
                <c:pt idx="7722">
                  <c:v>#N/A</c:v>
                </c:pt>
                <c:pt idx="7723">
                  <c:v>#N/A</c:v>
                </c:pt>
                <c:pt idx="7724">
                  <c:v>#N/A</c:v>
                </c:pt>
                <c:pt idx="7725">
                  <c:v>#N/A</c:v>
                </c:pt>
                <c:pt idx="7726">
                  <c:v>#N/A</c:v>
                </c:pt>
                <c:pt idx="7727">
                  <c:v>#N/A</c:v>
                </c:pt>
                <c:pt idx="7728">
                  <c:v>#N/A</c:v>
                </c:pt>
                <c:pt idx="7729">
                  <c:v>#N/A</c:v>
                </c:pt>
                <c:pt idx="7730">
                  <c:v>#N/A</c:v>
                </c:pt>
                <c:pt idx="7731">
                  <c:v>#N/A</c:v>
                </c:pt>
                <c:pt idx="7732">
                  <c:v>#N/A</c:v>
                </c:pt>
                <c:pt idx="7733">
                  <c:v>#N/A</c:v>
                </c:pt>
                <c:pt idx="7734">
                  <c:v>#N/A</c:v>
                </c:pt>
                <c:pt idx="7735">
                  <c:v>#N/A</c:v>
                </c:pt>
                <c:pt idx="7736">
                  <c:v>#N/A</c:v>
                </c:pt>
                <c:pt idx="7737">
                  <c:v>#N/A</c:v>
                </c:pt>
                <c:pt idx="7738">
                  <c:v>#N/A</c:v>
                </c:pt>
                <c:pt idx="7739">
                  <c:v>#N/A</c:v>
                </c:pt>
                <c:pt idx="7740">
                  <c:v>#N/A</c:v>
                </c:pt>
                <c:pt idx="7741">
                  <c:v>#N/A</c:v>
                </c:pt>
                <c:pt idx="7742">
                  <c:v>#N/A</c:v>
                </c:pt>
                <c:pt idx="7743">
                  <c:v>#N/A</c:v>
                </c:pt>
                <c:pt idx="7744">
                  <c:v>#N/A</c:v>
                </c:pt>
                <c:pt idx="7745">
                  <c:v>#N/A</c:v>
                </c:pt>
                <c:pt idx="7746">
                  <c:v>#N/A</c:v>
                </c:pt>
                <c:pt idx="7747">
                  <c:v>#N/A</c:v>
                </c:pt>
                <c:pt idx="7748">
                  <c:v>#N/A</c:v>
                </c:pt>
                <c:pt idx="7749">
                  <c:v>#N/A</c:v>
                </c:pt>
                <c:pt idx="7750">
                  <c:v>#N/A</c:v>
                </c:pt>
                <c:pt idx="7751">
                  <c:v>#N/A</c:v>
                </c:pt>
                <c:pt idx="7752">
                  <c:v>#N/A</c:v>
                </c:pt>
                <c:pt idx="7753">
                  <c:v>#N/A</c:v>
                </c:pt>
                <c:pt idx="7754">
                  <c:v>#N/A</c:v>
                </c:pt>
                <c:pt idx="7755">
                  <c:v>#N/A</c:v>
                </c:pt>
                <c:pt idx="7756">
                  <c:v>#N/A</c:v>
                </c:pt>
                <c:pt idx="7757">
                  <c:v>#N/A</c:v>
                </c:pt>
                <c:pt idx="7758">
                  <c:v>#N/A</c:v>
                </c:pt>
                <c:pt idx="7759">
                  <c:v>#N/A</c:v>
                </c:pt>
                <c:pt idx="7760">
                  <c:v>#N/A</c:v>
                </c:pt>
                <c:pt idx="7761">
                  <c:v>#N/A</c:v>
                </c:pt>
                <c:pt idx="7762">
                  <c:v>#N/A</c:v>
                </c:pt>
                <c:pt idx="7763">
                  <c:v>#N/A</c:v>
                </c:pt>
                <c:pt idx="7764">
                  <c:v>#N/A</c:v>
                </c:pt>
                <c:pt idx="7765">
                  <c:v>#N/A</c:v>
                </c:pt>
                <c:pt idx="7766">
                  <c:v>#N/A</c:v>
                </c:pt>
                <c:pt idx="7767">
                  <c:v>#N/A</c:v>
                </c:pt>
                <c:pt idx="7768">
                  <c:v>#N/A</c:v>
                </c:pt>
                <c:pt idx="7769">
                  <c:v>#N/A</c:v>
                </c:pt>
                <c:pt idx="7770">
                  <c:v>#N/A</c:v>
                </c:pt>
                <c:pt idx="7771">
                  <c:v>#N/A</c:v>
                </c:pt>
                <c:pt idx="7772">
                  <c:v>#N/A</c:v>
                </c:pt>
                <c:pt idx="7773">
                  <c:v>#N/A</c:v>
                </c:pt>
                <c:pt idx="7774">
                  <c:v>#N/A</c:v>
                </c:pt>
                <c:pt idx="7775">
                  <c:v>#N/A</c:v>
                </c:pt>
                <c:pt idx="7776">
                  <c:v>#N/A</c:v>
                </c:pt>
                <c:pt idx="7777">
                  <c:v>#N/A</c:v>
                </c:pt>
                <c:pt idx="7778">
                  <c:v>#N/A</c:v>
                </c:pt>
                <c:pt idx="7779">
                  <c:v>#N/A</c:v>
                </c:pt>
                <c:pt idx="7780">
                  <c:v>#N/A</c:v>
                </c:pt>
                <c:pt idx="7781">
                  <c:v>#N/A</c:v>
                </c:pt>
                <c:pt idx="7782">
                  <c:v>#N/A</c:v>
                </c:pt>
                <c:pt idx="7783">
                  <c:v>#N/A</c:v>
                </c:pt>
                <c:pt idx="7784">
                  <c:v>#N/A</c:v>
                </c:pt>
                <c:pt idx="7785">
                  <c:v>#N/A</c:v>
                </c:pt>
                <c:pt idx="7786">
                  <c:v>#N/A</c:v>
                </c:pt>
                <c:pt idx="7787">
                  <c:v>#N/A</c:v>
                </c:pt>
                <c:pt idx="7788">
                  <c:v>#N/A</c:v>
                </c:pt>
                <c:pt idx="7789">
                  <c:v>#N/A</c:v>
                </c:pt>
                <c:pt idx="7790">
                  <c:v>#N/A</c:v>
                </c:pt>
                <c:pt idx="7791">
                  <c:v>#N/A</c:v>
                </c:pt>
                <c:pt idx="7792">
                  <c:v>#N/A</c:v>
                </c:pt>
                <c:pt idx="7793">
                  <c:v>#N/A</c:v>
                </c:pt>
                <c:pt idx="7794">
                  <c:v>#N/A</c:v>
                </c:pt>
                <c:pt idx="7795">
                  <c:v>#N/A</c:v>
                </c:pt>
                <c:pt idx="7796">
                  <c:v>#N/A</c:v>
                </c:pt>
                <c:pt idx="7797">
                  <c:v>#N/A</c:v>
                </c:pt>
                <c:pt idx="7798">
                  <c:v>#N/A</c:v>
                </c:pt>
                <c:pt idx="7799">
                  <c:v>#N/A</c:v>
                </c:pt>
                <c:pt idx="7800">
                  <c:v>#N/A</c:v>
                </c:pt>
                <c:pt idx="7801">
                  <c:v>#N/A</c:v>
                </c:pt>
                <c:pt idx="7802">
                  <c:v>#N/A</c:v>
                </c:pt>
                <c:pt idx="7803">
                  <c:v>#N/A</c:v>
                </c:pt>
                <c:pt idx="7804">
                  <c:v>#N/A</c:v>
                </c:pt>
                <c:pt idx="7805">
                  <c:v>#N/A</c:v>
                </c:pt>
                <c:pt idx="7806">
                  <c:v>#N/A</c:v>
                </c:pt>
              </c:numCache>
            </c:numRef>
          </c:val>
          <c:extLst>
            <c:ext xmlns:c16="http://schemas.microsoft.com/office/drawing/2014/chart" uri="{C3380CC4-5D6E-409C-BE32-E72D297353CC}">
              <c16:uniqueId val="{00000002-A532-4454-A4D7-247BBE0C245B}"/>
            </c:ext>
          </c:extLst>
        </c:ser>
        <c:dLbls>
          <c:showLegendKey val="0"/>
          <c:showVal val="0"/>
          <c:showCatName val="0"/>
          <c:showSerName val="0"/>
          <c:showPercent val="0"/>
          <c:showBubbleSize val="0"/>
        </c:dLbls>
        <c:gapWidth val="150"/>
        <c:overlap val="100"/>
        <c:axId val="861049440"/>
        <c:axId val="861067936"/>
      </c:barChart>
      <c:lineChart>
        <c:grouping val="standard"/>
        <c:varyColors val="0"/>
        <c:ser>
          <c:idx val="0"/>
          <c:order val="0"/>
          <c:tx>
            <c:strRef>
              <c:f>'Page 6 Data'!$B$5</c:f>
              <c:strCache>
                <c:ptCount val="1"/>
                <c:pt idx="0">
                  <c:v>Savings Rate</c:v>
                </c:pt>
              </c:strCache>
            </c:strRef>
          </c:tx>
          <c:spPr>
            <a:ln>
              <a:solidFill>
                <a:srgbClr val="FFB343"/>
              </a:solidFill>
            </a:ln>
          </c:spPr>
          <c:marker>
            <c:symbol val="none"/>
          </c:marker>
          <c:cat>
            <c:numRef>
              <c:f>'Page 6 Data'!$A$7:$A$552</c:f>
              <c:numCache>
                <c:formatCode>m/d/yyyy</c:formatCode>
                <c:ptCount val="546"/>
                <c:pt idx="0">
                  <c:v>28521</c:v>
                </c:pt>
                <c:pt idx="1">
                  <c:v>28549</c:v>
                </c:pt>
                <c:pt idx="2">
                  <c:v>28580</c:v>
                </c:pt>
                <c:pt idx="3">
                  <c:v>28610</c:v>
                </c:pt>
                <c:pt idx="4">
                  <c:v>28641</c:v>
                </c:pt>
                <c:pt idx="5">
                  <c:v>28671</c:v>
                </c:pt>
                <c:pt idx="6">
                  <c:v>28702</c:v>
                </c:pt>
                <c:pt idx="7">
                  <c:v>28733</c:v>
                </c:pt>
                <c:pt idx="8">
                  <c:v>28763</c:v>
                </c:pt>
                <c:pt idx="9">
                  <c:v>28794</c:v>
                </c:pt>
                <c:pt idx="10">
                  <c:v>28824</c:v>
                </c:pt>
                <c:pt idx="11">
                  <c:v>28855</c:v>
                </c:pt>
                <c:pt idx="12">
                  <c:v>28886</c:v>
                </c:pt>
                <c:pt idx="13">
                  <c:v>28914</c:v>
                </c:pt>
                <c:pt idx="14">
                  <c:v>28945</c:v>
                </c:pt>
                <c:pt idx="15">
                  <c:v>28975</c:v>
                </c:pt>
                <c:pt idx="16">
                  <c:v>29006</c:v>
                </c:pt>
                <c:pt idx="17">
                  <c:v>29036</c:v>
                </c:pt>
                <c:pt idx="18">
                  <c:v>29067</c:v>
                </c:pt>
                <c:pt idx="19">
                  <c:v>29098</c:v>
                </c:pt>
                <c:pt idx="20">
                  <c:v>29128</c:v>
                </c:pt>
                <c:pt idx="21">
                  <c:v>29159</c:v>
                </c:pt>
                <c:pt idx="22">
                  <c:v>29189</c:v>
                </c:pt>
                <c:pt idx="23">
                  <c:v>29220</c:v>
                </c:pt>
                <c:pt idx="24">
                  <c:v>29251</c:v>
                </c:pt>
                <c:pt idx="25">
                  <c:v>29280</c:v>
                </c:pt>
                <c:pt idx="26">
                  <c:v>29311</c:v>
                </c:pt>
                <c:pt idx="27">
                  <c:v>29341</c:v>
                </c:pt>
                <c:pt idx="28">
                  <c:v>29372</c:v>
                </c:pt>
                <c:pt idx="29">
                  <c:v>29402</c:v>
                </c:pt>
                <c:pt idx="30">
                  <c:v>29433</c:v>
                </c:pt>
                <c:pt idx="31">
                  <c:v>29464</c:v>
                </c:pt>
                <c:pt idx="32">
                  <c:v>29494</c:v>
                </c:pt>
                <c:pt idx="33">
                  <c:v>29525</c:v>
                </c:pt>
                <c:pt idx="34">
                  <c:v>29555</c:v>
                </c:pt>
                <c:pt idx="35">
                  <c:v>29586</c:v>
                </c:pt>
                <c:pt idx="36">
                  <c:v>29617</c:v>
                </c:pt>
                <c:pt idx="37">
                  <c:v>29645</c:v>
                </c:pt>
                <c:pt idx="38">
                  <c:v>29676</c:v>
                </c:pt>
                <c:pt idx="39">
                  <c:v>29706</c:v>
                </c:pt>
                <c:pt idx="40">
                  <c:v>29737</c:v>
                </c:pt>
                <c:pt idx="41">
                  <c:v>29767</c:v>
                </c:pt>
                <c:pt idx="42">
                  <c:v>29798</c:v>
                </c:pt>
                <c:pt idx="43">
                  <c:v>29829</c:v>
                </c:pt>
                <c:pt idx="44">
                  <c:v>29859</c:v>
                </c:pt>
                <c:pt idx="45">
                  <c:v>29890</c:v>
                </c:pt>
                <c:pt idx="46">
                  <c:v>29920</c:v>
                </c:pt>
                <c:pt idx="47">
                  <c:v>29951</c:v>
                </c:pt>
                <c:pt idx="48">
                  <c:v>29982</c:v>
                </c:pt>
                <c:pt idx="49">
                  <c:v>30010</c:v>
                </c:pt>
                <c:pt idx="50">
                  <c:v>30041</c:v>
                </c:pt>
                <c:pt idx="51">
                  <c:v>30071</c:v>
                </c:pt>
                <c:pt idx="52">
                  <c:v>30102</c:v>
                </c:pt>
                <c:pt idx="53">
                  <c:v>30132</c:v>
                </c:pt>
                <c:pt idx="54">
                  <c:v>30163</c:v>
                </c:pt>
                <c:pt idx="55">
                  <c:v>30194</c:v>
                </c:pt>
                <c:pt idx="56">
                  <c:v>30224</c:v>
                </c:pt>
                <c:pt idx="57">
                  <c:v>30255</c:v>
                </c:pt>
                <c:pt idx="58">
                  <c:v>30285</c:v>
                </c:pt>
                <c:pt idx="59">
                  <c:v>30316</c:v>
                </c:pt>
                <c:pt idx="60">
                  <c:v>30347</c:v>
                </c:pt>
                <c:pt idx="61">
                  <c:v>30375</c:v>
                </c:pt>
                <c:pt idx="62">
                  <c:v>30406</c:v>
                </c:pt>
                <c:pt idx="63">
                  <c:v>30436</c:v>
                </c:pt>
                <c:pt idx="64">
                  <c:v>30467</c:v>
                </c:pt>
                <c:pt idx="65">
                  <c:v>30497</c:v>
                </c:pt>
                <c:pt idx="66">
                  <c:v>30528</c:v>
                </c:pt>
                <c:pt idx="67">
                  <c:v>30559</c:v>
                </c:pt>
                <c:pt idx="68">
                  <c:v>30589</c:v>
                </c:pt>
                <c:pt idx="69">
                  <c:v>30620</c:v>
                </c:pt>
                <c:pt idx="70">
                  <c:v>30650</c:v>
                </c:pt>
                <c:pt idx="71">
                  <c:v>30681</c:v>
                </c:pt>
                <c:pt idx="72">
                  <c:v>30712</c:v>
                </c:pt>
                <c:pt idx="73">
                  <c:v>30741</c:v>
                </c:pt>
                <c:pt idx="74">
                  <c:v>30772</c:v>
                </c:pt>
                <c:pt idx="75">
                  <c:v>30802</c:v>
                </c:pt>
                <c:pt idx="76">
                  <c:v>30833</c:v>
                </c:pt>
                <c:pt idx="77">
                  <c:v>30863</c:v>
                </c:pt>
                <c:pt idx="78">
                  <c:v>30894</c:v>
                </c:pt>
                <c:pt idx="79">
                  <c:v>30925</c:v>
                </c:pt>
                <c:pt idx="80">
                  <c:v>30955</c:v>
                </c:pt>
                <c:pt idx="81">
                  <c:v>30986</c:v>
                </c:pt>
                <c:pt idx="82">
                  <c:v>31016</c:v>
                </c:pt>
                <c:pt idx="83">
                  <c:v>31047</c:v>
                </c:pt>
                <c:pt idx="84">
                  <c:v>31078</c:v>
                </c:pt>
                <c:pt idx="85">
                  <c:v>31106</c:v>
                </c:pt>
                <c:pt idx="86">
                  <c:v>31137</c:v>
                </c:pt>
                <c:pt idx="87">
                  <c:v>31167</c:v>
                </c:pt>
                <c:pt idx="88">
                  <c:v>31198</c:v>
                </c:pt>
                <c:pt idx="89">
                  <c:v>31228</c:v>
                </c:pt>
                <c:pt idx="90">
                  <c:v>31259</c:v>
                </c:pt>
                <c:pt idx="91">
                  <c:v>31290</c:v>
                </c:pt>
                <c:pt idx="92">
                  <c:v>31320</c:v>
                </c:pt>
                <c:pt idx="93">
                  <c:v>31351</c:v>
                </c:pt>
                <c:pt idx="94">
                  <c:v>31381</c:v>
                </c:pt>
                <c:pt idx="95">
                  <c:v>31412</c:v>
                </c:pt>
                <c:pt idx="96">
                  <c:v>31443</c:v>
                </c:pt>
                <c:pt idx="97">
                  <c:v>31471</c:v>
                </c:pt>
                <c:pt idx="98">
                  <c:v>31502</c:v>
                </c:pt>
                <c:pt idx="99">
                  <c:v>31532</c:v>
                </c:pt>
                <c:pt idx="100">
                  <c:v>31563</c:v>
                </c:pt>
                <c:pt idx="101">
                  <c:v>31593</c:v>
                </c:pt>
                <c:pt idx="102">
                  <c:v>31624</c:v>
                </c:pt>
                <c:pt idx="103">
                  <c:v>31655</c:v>
                </c:pt>
                <c:pt idx="104">
                  <c:v>31685</c:v>
                </c:pt>
                <c:pt idx="105">
                  <c:v>31716</c:v>
                </c:pt>
                <c:pt idx="106">
                  <c:v>31746</c:v>
                </c:pt>
                <c:pt idx="107">
                  <c:v>31777</c:v>
                </c:pt>
                <c:pt idx="108">
                  <c:v>31808</c:v>
                </c:pt>
                <c:pt idx="109">
                  <c:v>31836</c:v>
                </c:pt>
                <c:pt idx="110">
                  <c:v>31867</c:v>
                </c:pt>
                <c:pt idx="111">
                  <c:v>31897</c:v>
                </c:pt>
                <c:pt idx="112">
                  <c:v>31928</c:v>
                </c:pt>
                <c:pt idx="113">
                  <c:v>31958</c:v>
                </c:pt>
                <c:pt idx="114">
                  <c:v>31989</c:v>
                </c:pt>
                <c:pt idx="115">
                  <c:v>32020</c:v>
                </c:pt>
                <c:pt idx="116">
                  <c:v>32050</c:v>
                </c:pt>
                <c:pt idx="117">
                  <c:v>32081</c:v>
                </c:pt>
                <c:pt idx="118">
                  <c:v>32111</c:v>
                </c:pt>
                <c:pt idx="119">
                  <c:v>32142</c:v>
                </c:pt>
                <c:pt idx="120">
                  <c:v>32173</c:v>
                </c:pt>
                <c:pt idx="121">
                  <c:v>32202</c:v>
                </c:pt>
                <c:pt idx="122">
                  <c:v>32233</c:v>
                </c:pt>
                <c:pt idx="123">
                  <c:v>32263</c:v>
                </c:pt>
                <c:pt idx="124">
                  <c:v>32294</c:v>
                </c:pt>
                <c:pt idx="125">
                  <c:v>32324</c:v>
                </c:pt>
                <c:pt idx="126">
                  <c:v>32355</c:v>
                </c:pt>
                <c:pt idx="127">
                  <c:v>32386</c:v>
                </c:pt>
                <c:pt idx="128">
                  <c:v>32416</c:v>
                </c:pt>
                <c:pt idx="129">
                  <c:v>32447</c:v>
                </c:pt>
                <c:pt idx="130">
                  <c:v>32477</c:v>
                </c:pt>
                <c:pt idx="131">
                  <c:v>32508</c:v>
                </c:pt>
                <c:pt idx="132">
                  <c:v>32539</c:v>
                </c:pt>
                <c:pt idx="133">
                  <c:v>32567</c:v>
                </c:pt>
                <c:pt idx="134">
                  <c:v>32598</c:v>
                </c:pt>
                <c:pt idx="135">
                  <c:v>32628</c:v>
                </c:pt>
                <c:pt idx="136">
                  <c:v>32659</c:v>
                </c:pt>
                <c:pt idx="137">
                  <c:v>32689</c:v>
                </c:pt>
                <c:pt idx="138">
                  <c:v>32720</c:v>
                </c:pt>
                <c:pt idx="139">
                  <c:v>32751</c:v>
                </c:pt>
                <c:pt idx="140">
                  <c:v>32781</c:v>
                </c:pt>
                <c:pt idx="141">
                  <c:v>32812</c:v>
                </c:pt>
                <c:pt idx="142">
                  <c:v>32842</c:v>
                </c:pt>
                <c:pt idx="143">
                  <c:v>32873</c:v>
                </c:pt>
                <c:pt idx="144">
                  <c:v>32904</c:v>
                </c:pt>
                <c:pt idx="145">
                  <c:v>32932</c:v>
                </c:pt>
                <c:pt idx="146">
                  <c:v>32963</c:v>
                </c:pt>
                <c:pt idx="147">
                  <c:v>32993</c:v>
                </c:pt>
                <c:pt idx="148">
                  <c:v>33024</c:v>
                </c:pt>
                <c:pt idx="149">
                  <c:v>33054</c:v>
                </c:pt>
                <c:pt idx="150">
                  <c:v>33085</c:v>
                </c:pt>
                <c:pt idx="151">
                  <c:v>33116</c:v>
                </c:pt>
                <c:pt idx="152">
                  <c:v>33146</c:v>
                </c:pt>
                <c:pt idx="153">
                  <c:v>33177</c:v>
                </c:pt>
                <c:pt idx="154">
                  <c:v>33207</c:v>
                </c:pt>
                <c:pt idx="155">
                  <c:v>33238</c:v>
                </c:pt>
                <c:pt idx="156">
                  <c:v>33269</c:v>
                </c:pt>
                <c:pt idx="157">
                  <c:v>33297</c:v>
                </c:pt>
                <c:pt idx="158">
                  <c:v>33328</c:v>
                </c:pt>
                <c:pt idx="159">
                  <c:v>33358</c:v>
                </c:pt>
                <c:pt idx="160">
                  <c:v>33389</c:v>
                </c:pt>
                <c:pt idx="161">
                  <c:v>33419</c:v>
                </c:pt>
                <c:pt idx="162">
                  <c:v>33450</c:v>
                </c:pt>
                <c:pt idx="163">
                  <c:v>33481</c:v>
                </c:pt>
                <c:pt idx="164">
                  <c:v>33511</c:v>
                </c:pt>
                <c:pt idx="165">
                  <c:v>33542</c:v>
                </c:pt>
                <c:pt idx="166">
                  <c:v>33572</c:v>
                </c:pt>
                <c:pt idx="167">
                  <c:v>33603</c:v>
                </c:pt>
                <c:pt idx="168">
                  <c:v>33634</c:v>
                </c:pt>
                <c:pt idx="169">
                  <c:v>33663</c:v>
                </c:pt>
                <c:pt idx="170">
                  <c:v>33694</c:v>
                </c:pt>
                <c:pt idx="171">
                  <c:v>33724</c:v>
                </c:pt>
                <c:pt idx="172">
                  <c:v>33755</c:v>
                </c:pt>
                <c:pt idx="173">
                  <c:v>33785</c:v>
                </c:pt>
                <c:pt idx="174">
                  <c:v>33816</c:v>
                </c:pt>
                <c:pt idx="175">
                  <c:v>33847</c:v>
                </c:pt>
                <c:pt idx="176">
                  <c:v>33877</c:v>
                </c:pt>
                <c:pt idx="177">
                  <c:v>33908</c:v>
                </c:pt>
                <c:pt idx="178">
                  <c:v>33938</c:v>
                </c:pt>
                <c:pt idx="179">
                  <c:v>33969</c:v>
                </c:pt>
                <c:pt idx="180">
                  <c:v>34000</c:v>
                </c:pt>
                <c:pt idx="181">
                  <c:v>34028</c:v>
                </c:pt>
                <c:pt idx="182">
                  <c:v>34059</c:v>
                </c:pt>
                <c:pt idx="183">
                  <c:v>34089</c:v>
                </c:pt>
                <c:pt idx="184">
                  <c:v>34120</c:v>
                </c:pt>
                <c:pt idx="185">
                  <c:v>34150</c:v>
                </c:pt>
                <c:pt idx="186">
                  <c:v>34181</c:v>
                </c:pt>
                <c:pt idx="187">
                  <c:v>34212</c:v>
                </c:pt>
                <c:pt idx="188">
                  <c:v>34242</c:v>
                </c:pt>
                <c:pt idx="189">
                  <c:v>34273</c:v>
                </c:pt>
                <c:pt idx="190">
                  <c:v>34303</c:v>
                </c:pt>
                <c:pt idx="191">
                  <c:v>34334</c:v>
                </c:pt>
                <c:pt idx="192">
                  <c:v>34365</c:v>
                </c:pt>
                <c:pt idx="193">
                  <c:v>34393</c:v>
                </c:pt>
                <c:pt idx="194">
                  <c:v>34424</c:v>
                </c:pt>
                <c:pt idx="195">
                  <c:v>34454</c:v>
                </c:pt>
                <c:pt idx="196">
                  <c:v>34485</c:v>
                </c:pt>
                <c:pt idx="197">
                  <c:v>34515</c:v>
                </c:pt>
                <c:pt idx="198">
                  <c:v>34546</c:v>
                </c:pt>
                <c:pt idx="199">
                  <c:v>34577</c:v>
                </c:pt>
                <c:pt idx="200">
                  <c:v>34607</c:v>
                </c:pt>
                <c:pt idx="201">
                  <c:v>34638</c:v>
                </c:pt>
                <c:pt idx="202">
                  <c:v>34668</c:v>
                </c:pt>
                <c:pt idx="203">
                  <c:v>34699</c:v>
                </c:pt>
                <c:pt idx="204">
                  <c:v>34730</c:v>
                </c:pt>
                <c:pt idx="205">
                  <c:v>34758</c:v>
                </c:pt>
                <c:pt idx="206">
                  <c:v>34789</c:v>
                </c:pt>
                <c:pt idx="207">
                  <c:v>34819</c:v>
                </c:pt>
                <c:pt idx="208">
                  <c:v>34850</c:v>
                </c:pt>
                <c:pt idx="209">
                  <c:v>34880</c:v>
                </c:pt>
                <c:pt idx="210">
                  <c:v>34911</c:v>
                </c:pt>
                <c:pt idx="211">
                  <c:v>34942</c:v>
                </c:pt>
                <c:pt idx="212">
                  <c:v>34972</c:v>
                </c:pt>
                <c:pt idx="213">
                  <c:v>35003</c:v>
                </c:pt>
                <c:pt idx="214">
                  <c:v>35033</c:v>
                </c:pt>
                <c:pt idx="215">
                  <c:v>35064</c:v>
                </c:pt>
                <c:pt idx="216">
                  <c:v>35095</c:v>
                </c:pt>
                <c:pt idx="217">
                  <c:v>35124</c:v>
                </c:pt>
                <c:pt idx="218">
                  <c:v>35155</c:v>
                </c:pt>
                <c:pt idx="219">
                  <c:v>35185</c:v>
                </c:pt>
                <c:pt idx="220">
                  <c:v>35216</c:v>
                </c:pt>
                <c:pt idx="221">
                  <c:v>35246</c:v>
                </c:pt>
                <c:pt idx="222">
                  <c:v>35277</c:v>
                </c:pt>
                <c:pt idx="223">
                  <c:v>35308</c:v>
                </c:pt>
                <c:pt idx="224">
                  <c:v>35338</c:v>
                </c:pt>
                <c:pt idx="225">
                  <c:v>35369</c:v>
                </c:pt>
                <c:pt idx="226">
                  <c:v>35399</c:v>
                </c:pt>
                <c:pt idx="227">
                  <c:v>35430</c:v>
                </c:pt>
                <c:pt idx="228">
                  <c:v>35461</c:v>
                </c:pt>
                <c:pt idx="229">
                  <c:v>35489</c:v>
                </c:pt>
                <c:pt idx="230">
                  <c:v>35520</c:v>
                </c:pt>
                <c:pt idx="231">
                  <c:v>35550</c:v>
                </c:pt>
                <c:pt idx="232">
                  <c:v>35581</c:v>
                </c:pt>
                <c:pt idx="233">
                  <c:v>35611</c:v>
                </c:pt>
                <c:pt idx="234">
                  <c:v>35642</c:v>
                </c:pt>
                <c:pt idx="235">
                  <c:v>35673</c:v>
                </c:pt>
                <c:pt idx="236">
                  <c:v>35703</c:v>
                </c:pt>
                <c:pt idx="237">
                  <c:v>35734</c:v>
                </c:pt>
                <c:pt idx="238">
                  <c:v>35764</c:v>
                </c:pt>
                <c:pt idx="239">
                  <c:v>35795</c:v>
                </c:pt>
                <c:pt idx="240">
                  <c:v>35826</c:v>
                </c:pt>
                <c:pt idx="241">
                  <c:v>35854</c:v>
                </c:pt>
                <c:pt idx="242">
                  <c:v>35885</c:v>
                </c:pt>
                <c:pt idx="243">
                  <c:v>35915</c:v>
                </c:pt>
                <c:pt idx="244">
                  <c:v>35946</c:v>
                </c:pt>
                <c:pt idx="245">
                  <c:v>35976</c:v>
                </c:pt>
                <c:pt idx="246">
                  <c:v>36007</c:v>
                </c:pt>
                <c:pt idx="247">
                  <c:v>36038</c:v>
                </c:pt>
                <c:pt idx="248">
                  <c:v>36068</c:v>
                </c:pt>
                <c:pt idx="249">
                  <c:v>36099</c:v>
                </c:pt>
                <c:pt idx="250">
                  <c:v>36129</c:v>
                </c:pt>
                <c:pt idx="251">
                  <c:v>36160</c:v>
                </c:pt>
                <c:pt idx="252">
                  <c:v>36191</c:v>
                </c:pt>
                <c:pt idx="253">
                  <c:v>36219</c:v>
                </c:pt>
                <c:pt idx="254">
                  <c:v>36250</c:v>
                </c:pt>
                <c:pt idx="255">
                  <c:v>36280</c:v>
                </c:pt>
                <c:pt idx="256">
                  <c:v>36311</c:v>
                </c:pt>
                <c:pt idx="257">
                  <c:v>36341</c:v>
                </c:pt>
                <c:pt idx="258">
                  <c:v>36372</c:v>
                </c:pt>
                <c:pt idx="259">
                  <c:v>36403</c:v>
                </c:pt>
                <c:pt idx="260">
                  <c:v>36433</c:v>
                </c:pt>
                <c:pt idx="261">
                  <c:v>36464</c:v>
                </c:pt>
                <c:pt idx="262">
                  <c:v>36494</c:v>
                </c:pt>
                <c:pt idx="263">
                  <c:v>36525</c:v>
                </c:pt>
                <c:pt idx="264">
                  <c:v>36556</c:v>
                </c:pt>
                <c:pt idx="265">
                  <c:v>36585</c:v>
                </c:pt>
                <c:pt idx="266">
                  <c:v>36616</c:v>
                </c:pt>
                <c:pt idx="267">
                  <c:v>36646</c:v>
                </c:pt>
                <c:pt idx="268">
                  <c:v>36677</c:v>
                </c:pt>
                <c:pt idx="269">
                  <c:v>36707</c:v>
                </c:pt>
                <c:pt idx="270">
                  <c:v>36738</c:v>
                </c:pt>
                <c:pt idx="271">
                  <c:v>36769</c:v>
                </c:pt>
                <c:pt idx="272">
                  <c:v>36799</c:v>
                </c:pt>
                <c:pt idx="273">
                  <c:v>36830</c:v>
                </c:pt>
                <c:pt idx="274">
                  <c:v>36860</c:v>
                </c:pt>
                <c:pt idx="275">
                  <c:v>36891</c:v>
                </c:pt>
                <c:pt idx="276">
                  <c:v>36922</c:v>
                </c:pt>
                <c:pt idx="277">
                  <c:v>36950</c:v>
                </c:pt>
                <c:pt idx="278">
                  <c:v>36981</c:v>
                </c:pt>
                <c:pt idx="279">
                  <c:v>37011</c:v>
                </c:pt>
                <c:pt idx="280">
                  <c:v>37042</c:v>
                </c:pt>
                <c:pt idx="281">
                  <c:v>37072</c:v>
                </c:pt>
                <c:pt idx="282">
                  <c:v>37103</c:v>
                </c:pt>
                <c:pt idx="283">
                  <c:v>37134</c:v>
                </c:pt>
                <c:pt idx="284">
                  <c:v>37164</c:v>
                </c:pt>
                <c:pt idx="285">
                  <c:v>37195</c:v>
                </c:pt>
                <c:pt idx="286">
                  <c:v>37225</c:v>
                </c:pt>
                <c:pt idx="287">
                  <c:v>37256</c:v>
                </c:pt>
                <c:pt idx="288">
                  <c:v>37287</c:v>
                </c:pt>
                <c:pt idx="289">
                  <c:v>37315</c:v>
                </c:pt>
                <c:pt idx="290">
                  <c:v>37346</c:v>
                </c:pt>
                <c:pt idx="291">
                  <c:v>37376</c:v>
                </c:pt>
                <c:pt idx="292">
                  <c:v>37407</c:v>
                </c:pt>
                <c:pt idx="293">
                  <c:v>37437</c:v>
                </c:pt>
                <c:pt idx="294">
                  <c:v>37468</c:v>
                </c:pt>
                <c:pt idx="295">
                  <c:v>37499</c:v>
                </c:pt>
                <c:pt idx="296">
                  <c:v>37529</c:v>
                </c:pt>
                <c:pt idx="297">
                  <c:v>37560</c:v>
                </c:pt>
                <c:pt idx="298">
                  <c:v>37590</c:v>
                </c:pt>
                <c:pt idx="299">
                  <c:v>37621</c:v>
                </c:pt>
                <c:pt idx="300">
                  <c:v>37652</c:v>
                </c:pt>
                <c:pt idx="301">
                  <c:v>37680</c:v>
                </c:pt>
                <c:pt idx="302">
                  <c:v>37711</c:v>
                </c:pt>
                <c:pt idx="303">
                  <c:v>37741</c:v>
                </c:pt>
                <c:pt idx="304">
                  <c:v>37772</c:v>
                </c:pt>
                <c:pt idx="305">
                  <c:v>37802</c:v>
                </c:pt>
                <c:pt idx="306">
                  <c:v>37833</c:v>
                </c:pt>
                <c:pt idx="307">
                  <c:v>37864</c:v>
                </c:pt>
                <c:pt idx="308">
                  <c:v>37894</c:v>
                </c:pt>
                <c:pt idx="309">
                  <c:v>37925</c:v>
                </c:pt>
                <c:pt idx="310">
                  <c:v>37955</c:v>
                </c:pt>
                <c:pt idx="311">
                  <c:v>37986</c:v>
                </c:pt>
                <c:pt idx="312">
                  <c:v>38017</c:v>
                </c:pt>
                <c:pt idx="313">
                  <c:v>38046</c:v>
                </c:pt>
                <c:pt idx="314">
                  <c:v>38077</c:v>
                </c:pt>
                <c:pt idx="315">
                  <c:v>38107</c:v>
                </c:pt>
                <c:pt idx="316">
                  <c:v>38138</c:v>
                </c:pt>
                <c:pt idx="317">
                  <c:v>38168</c:v>
                </c:pt>
                <c:pt idx="318">
                  <c:v>38199</c:v>
                </c:pt>
                <c:pt idx="319">
                  <c:v>38230</c:v>
                </c:pt>
                <c:pt idx="320">
                  <c:v>38260</c:v>
                </c:pt>
                <c:pt idx="321">
                  <c:v>38291</c:v>
                </c:pt>
                <c:pt idx="322">
                  <c:v>38321</c:v>
                </c:pt>
                <c:pt idx="323">
                  <c:v>38352</c:v>
                </c:pt>
                <c:pt idx="324">
                  <c:v>38383</c:v>
                </c:pt>
                <c:pt idx="325">
                  <c:v>38411</c:v>
                </c:pt>
                <c:pt idx="326">
                  <c:v>38442</c:v>
                </c:pt>
                <c:pt idx="327">
                  <c:v>38472</c:v>
                </c:pt>
                <c:pt idx="328">
                  <c:v>38503</c:v>
                </c:pt>
                <c:pt idx="329">
                  <c:v>38533</c:v>
                </c:pt>
                <c:pt idx="330">
                  <c:v>38564</c:v>
                </c:pt>
                <c:pt idx="331">
                  <c:v>38595</c:v>
                </c:pt>
                <c:pt idx="332">
                  <c:v>38625</c:v>
                </c:pt>
                <c:pt idx="333">
                  <c:v>38656</c:v>
                </c:pt>
                <c:pt idx="334">
                  <c:v>38686</c:v>
                </c:pt>
                <c:pt idx="335">
                  <c:v>38717</c:v>
                </c:pt>
                <c:pt idx="336">
                  <c:v>38748</c:v>
                </c:pt>
                <c:pt idx="337">
                  <c:v>38776</c:v>
                </c:pt>
                <c:pt idx="338">
                  <c:v>38807</c:v>
                </c:pt>
                <c:pt idx="339">
                  <c:v>38837</c:v>
                </c:pt>
                <c:pt idx="340">
                  <c:v>38868</c:v>
                </c:pt>
                <c:pt idx="341">
                  <c:v>38898</c:v>
                </c:pt>
                <c:pt idx="342">
                  <c:v>38929</c:v>
                </c:pt>
                <c:pt idx="343">
                  <c:v>38960</c:v>
                </c:pt>
                <c:pt idx="344">
                  <c:v>38990</c:v>
                </c:pt>
                <c:pt idx="345">
                  <c:v>39021</c:v>
                </c:pt>
                <c:pt idx="346">
                  <c:v>39051</c:v>
                </c:pt>
                <c:pt idx="347">
                  <c:v>39082</c:v>
                </c:pt>
                <c:pt idx="348">
                  <c:v>39113</c:v>
                </c:pt>
                <c:pt idx="349">
                  <c:v>39141</c:v>
                </c:pt>
                <c:pt idx="350">
                  <c:v>39172</c:v>
                </c:pt>
                <c:pt idx="351">
                  <c:v>39202</c:v>
                </c:pt>
                <c:pt idx="352">
                  <c:v>39233</c:v>
                </c:pt>
                <c:pt idx="353">
                  <c:v>39263</c:v>
                </c:pt>
                <c:pt idx="354">
                  <c:v>39294</c:v>
                </c:pt>
                <c:pt idx="355">
                  <c:v>39325</c:v>
                </c:pt>
                <c:pt idx="356">
                  <c:v>39355</c:v>
                </c:pt>
                <c:pt idx="357">
                  <c:v>39386</c:v>
                </c:pt>
                <c:pt idx="358">
                  <c:v>39416</c:v>
                </c:pt>
                <c:pt idx="359">
                  <c:v>39447</c:v>
                </c:pt>
                <c:pt idx="360">
                  <c:v>39478</c:v>
                </c:pt>
                <c:pt idx="361">
                  <c:v>39507</c:v>
                </c:pt>
                <c:pt idx="362">
                  <c:v>39538</c:v>
                </c:pt>
                <c:pt idx="363">
                  <c:v>39568</c:v>
                </c:pt>
                <c:pt idx="364">
                  <c:v>39599</c:v>
                </c:pt>
                <c:pt idx="365">
                  <c:v>39629</c:v>
                </c:pt>
                <c:pt idx="366">
                  <c:v>39660</c:v>
                </c:pt>
                <c:pt idx="367">
                  <c:v>39691</c:v>
                </c:pt>
                <c:pt idx="368">
                  <c:v>39721</c:v>
                </c:pt>
                <c:pt idx="369">
                  <c:v>39752</c:v>
                </c:pt>
                <c:pt idx="370">
                  <c:v>39782</c:v>
                </c:pt>
                <c:pt idx="371">
                  <c:v>39813</c:v>
                </c:pt>
                <c:pt idx="372">
                  <c:v>39844</c:v>
                </c:pt>
                <c:pt idx="373">
                  <c:v>39872</c:v>
                </c:pt>
                <c:pt idx="374">
                  <c:v>39903</c:v>
                </c:pt>
                <c:pt idx="375">
                  <c:v>39933</c:v>
                </c:pt>
                <c:pt idx="376">
                  <c:v>39964</c:v>
                </c:pt>
                <c:pt idx="377">
                  <c:v>39994</c:v>
                </c:pt>
                <c:pt idx="378">
                  <c:v>40025</c:v>
                </c:pt>
                <c:pt idx="379">
                  <c:v>40056</c:v>
                </c:pt>
                <c:pt idx="380">
                  <c:v>40086</c:v>
                </c:pt>
                <c:pt idx="381">
                  <c:v>40117</c:v>
                </c:pt>
                <c:pt idx="382">
                  <c:v>40147</c:v>
                </c:pt>
                <c:pt idx="383">
                  <c:v>40178</c:v>
                </c:pt>
                <c:pt idx="384">
                  <c:v>40209</c:v>
                </c:pt>
                <c:pt idx="385">
                  <c:v>40237</c:v>
                </c:pt>
                <c:pt idx="386">
                  <c:v>40268</c:v>
                </c:pt>
                <c:pt idx="387">
                  <c:v>40298</c:v>
                </c:pt>
                <c:pt idx="388">
                  <c:v>40329</c:v>
                </c:pt>
                <c:pt idx="389">
                  <c:v>40359</c:v>
                </c:pt>
                <c:pt idx="390">
                  <c:v>40390</c:v>
                </c:pt>
                <c:pt idx="391">
                  <c:v>40421</c:v>
                </c:pt>
                <c:pt idx="392">
                  <c:v>40451</c:v>
                </c:pt>
                <c:pt idx="393">
                  <c:v>40482</c:v>
                </c:pt>
                <c:pt idx="394">
                  <c:v>40512</c:v>
                </c:pt>
                <c:pt idx="395">
                  <c:v>40543</c:v>
                </c:pt>
                <c:pt idx="396">
                  <c:v>40574</c:v>
                </c:pt>
                <c:pt idx="397">
                  <c:v>40602</c:v>
                </c:pt>
                <c:pt idx="398">
                  <c:v>40633</c:v>
                </c:pt>
                <c:pt idx="399">
                  <c:v>40663</c:v>
                </c:pt>
                <c:pt idx="400">
                  <c:v>40694</c:v>
                </c:pt>
                <c:pt idx="401">
                  <c:v>40724</c:v>
                </c:pt>
                <c:pt idx="402">
                  <c:v>40755</c:v>
                </c:pt>
                <c:pt idx="403">
                  <c:v>40786</c:v>
                </c:pt>
                <c:pt idx="404">
                  <c:v>40816</c:v>
                </c:pt>
                <c:pt idx="405">
                  <c:v>40847</c:v>
                </c:pt>
                <c:pt idx="406">
                  <c:v>40877</c:v>
                </c:pt>
                <c:pt idx="407">
                  <c:v>40908</c:v>
                </c:pt>
                <c:pt idx="408">
                  <c:v>40939</c:v>
                </c:pt>
                <c:pt idx="409">
                  <c:v>40968</c:v>
                </c:pt>
                <c:pt idx="410">
                  <c:v>40999</c:v>
                </c:pt>
                <c:pt idx="411">
                  <c:v>41029</c:v>
                </c:pt>
                <c:pt idx="412">
                  <c:v>41060</c:v>
                </c:pt>
                <c:pt idx="413">
                  <c:v>41090</c:v>
                </c:pt>
                <c:pt idx="414">
                  <c:v>41121</c:v>
                </c:pt>
                <c:pt idx="415">
                  <c:v>41152</c:v>
                </c:pt>
                <c:pt idx="416">
                  <c:v>41182</c:v>
                </c:pt>
                <c:pt idx="417">
                  <c:v>41213</c:v>
                </c:pt>
                <c:pt idx="418">
                  <c:v>41243</c:v>
                </c:pt>
                <c:pt idx="419">
                  <c:v>41274</c:v>
                </c:pt>
                <c:pt idx="420">
                  <c:v>41305</c:v>
                </c:pt>
                <c:pt idx="421">
                  <c:v>41333</c:v>
                </c:pt>
                <c:pt idx="422">
                  <c:v>41364</c:v>
                </c:pt>
                <c:pt idx="423">
                  <c:v>41394</c:v>
                </c:pt>
                <c:pt idx="424">
                  <c:v>41425</c:v>
                </c:pt>
                <c:pt idx="425">
                  <c:v>41455</c:v>
                </c:pt>
                <c:pt idx="426">
                  <c:v>41486</c:v>
                </c:pt>
                <c:pt idx="427">
                  <c:v>41517</c:v>
                </c:pt>
                <c:pt idx="428">
                  <c:v>41547</c:v>
                </c:pt>
                <c:pt idx="429">
                  <c:v>41578</c:v>
                </c:pt>
                <c:pt idx="430">
                  <c:v>41608</c:v>
                </c:pt>
                <c:pt idx="431">
                  <c:v>41639</c:v>
                </c:pt>
                <c:pt idx="432">
                  <c:v>41670</c:v>
                </c:pt>
                <c:pt idx="433">
                  <c:v>41698</c:v>
                </c:pt>
                <c:pt idx="434">
                  <c:v>41729</c:v>
                </c:pt>
                <c:pt idx="435">
                  <c:v>41759</c:v>
                </c:pt>
                <c:pt idx="436">
                  <c:v>41790</c:v>
                </c:pt>
                <c:pt idx="437">
                  <c:v>41820</c:v>
                </c:pt>
                <c:pt idx="438">
                  <c:v>41851</c:v>
                </c:pt>
                <c:pt idx="439">
                  <c:v>41882</c:v>
                </c:pt>
                <c:pt idx="440">
                  <c:v>41912</c:v>
                </c:pt>
                <c:pt idx="441">
                  <c:v>41943</c:v>
                </c:pt>
                <c:pt idx="442">
                  <c:v>41973</c:v>
                </c:pt>
                <c:pt idx="443">
                  <c:v>42004</c:v>
                </c:pt>
                <c:pt idx="444">
                  <c:v>42035</c:v>
                </c:pt>
                <c:pt idx="445">
                  <c:v>42063</c:v>
                </c:pt>
                <c:pt idx="446">
                  <c:v>42094</c:v>
                </c:pt>
                <c:pt idx="447">
                  <c:v>42124</c:v>
                </c:pt>
                <c:pt idx="448">
                  <c:v>42155</c:v>
                </c:pt>
                <c:pt idx="449">
                  <c:v>42185</c:v>
                </c:pt>
                <c:pt idx="450">
                  <c:v>42216</c:v>
                </c:pt>
                <c:pt idx="451">
                  <c:v>42247</c:v>
                </c:pt>
                <c:pt idx="452">
                  <c:v>42277</c:v>
                </c:pt>
                <c:pt idx="453">
                  <c:v>42308</c:v>
                </c:pt>
                <c:pt idx="454">
                  <c:v>42338</c:v>
                </c:pt>
                <c:pt idx="455">
                  <c:v>42369</c:v>
                </c:pt>
                <c:pt idx="456">
                  <c:v>42400</c:v>
                </c:pt>
                <c:pt idx="457">
                  <c:v>42429</c:v>
                </c:pt>
                <c:pt idx="458">
                  <c:v>42460</c:v>
                </c:pt>
                <c:pt idx="459">
                  <c:v>42490</c:v>
                </c:pt>
                <c:pt idx="460">
                  <c:v>42521</c:v>
                </c:pt>
                <c:pt idx="461">
                  <c:v>42551</c:v>
                </c:pt>
                <c:pt idx="462">
                  <c:v>42582</c:v>
                </c:pt>
                <c:pt idx="463">
                  <c:v>42613</c:v>
                </c:pt>
                <c:pt idx="464">
                  <c:v>42643</c:v>
                </c:pt>
                <c:pt idx="465">
                  <c:v>42674</c:v>
                </c:pt>
                <c:pt idx="466">
                  <c:v>42704</c:v>
                </c:pt>
                <c:pt idx="467">
                  <c:v>42735</c:v>
                </c:pt>
                <c:pt idx="468">
                  <c:v>42766</c:v>
                </c:pt>
                <c:pt idx="469">
                  <c:v>42794</c:v>
                </c:pt>
                <c:pt idx="470">
                  <c:v>42825</c:v>
                </c:pt>
                <c:pt idx="471">
                  <c:v>42855</c:v>
                </c:pt>
                <c:pt idx="472">
                  <c:v>42886</c:v>
                </c:pt>
                <c:pt idx="473">
                  <c:v>42916</c:v>
                </c:pt>
                <c:pt idx="474">
                  <c:v>42947</c:v>
                </c:pt>
                <c:pt idx="475">
                  <c:v>42978</c:v>
                </c:pt>
                <c:pt idx="476">
                  <c:v>43008</c:v>
                </c:pt>
                <c:pt idx="477">
                  <c:v>43039</c:v>
                </c:pt>
                <c:pt idx="478">
                  <c:v>43069</c:v>
                </c:pt>
                <c:pt idx="479">
                  <c:v>43100</c:v>
                </c:pt>
                <c:pt idx="480">
                  <c:v>43131</c:v>
                </c:pt>
                <c:pt idx="481">
                  <c:v>43159</c:v>
                </c:pt>
                <c:pt idx="482">
                  <c:v>43190</c:v>
                </c:pt>
                <c:pt idx="483">
                  <c:v>43220</c:v>
                </c:pt>
                <c:pt idx="484">
                  <c:v>43251</c:v>
                </c:pt>
                <c:pt idx="485">
                  <c:v>43281</c:v>
                </c:pt>
                <c:pt idx="486">
                  <c:v>43312</c:v>
                </c:pt>
                <c:pt idx="487">
                  <c:v>43343</c:v>
                </c:pt>
                <c:pt idx="488">
                  <c:v>43373</c:v>
                </c:pt>
                <c:pt idx="489">
                  <c:v>43404</c:v>
                </c:pt>
                <c:pt idx="490">
                  <c:v>43434</c:v>
                </c:pt>
                <c:pt idx="491">
                  <c:v>43465</c:v>
                </c:pt>
                <c:pt idx="492">
                  <c:v>43496</c:v>
                </c:pt>
                <c:pt idx="493">
                  <c:v>43524</c:v>
                </c:pt>
                <c:pt idx="494">
                  <c:v>43555</c:v>
                </c:pt>
                <c:pt idx="495">
                  <c:v>43585</c:v>
                </c:pt>
                <c:pt idx="496">
                  <c:v>43616</c:v>
                </c:pt>
                <c:pt idx="497">
                  <c:v>43646</c:v>
                </c:pt>
                <c:pt idx="498">
                  <c:v>43677</c:v>
                </c:pt>
                <c:pt idx="499">
                  <c:v>43708</c:v>
                </c:pt>
                <c:pt idx="500">
                  <c:v>43738</c:v>
                </c:pt>
                <c:pt idx="501">
                  <c:v>43769</c:v>
                </c:pt>
                <c:pt idx="502">
                  <c:v>43799</c:v>
                </c:pt>
                <c:pt idx="503">
                  <c:v>43830</c:v>
                </c:pt>
                <c:pt idx="504">
                  <c:v>43861</c:v>
                </c:pt>
                <c:pt idx="505">
                  <c:v>43890</c:v>
                </c:pt>
                <c:pt idx="506">
                  <c:v>43921</c:v>
                </c:pt>
                <c:pt idx="507">
                  <c:v>43951</c:v>
                </c:pt>
                <c:pt idx="508">
                  <c:v>43982</c:v>
                </c:pt>
                <c:pt idx="509">
                  <c:v>44012</c:v>
                </c:pt>
                <c:pt idx="510">
                  <c:v>44043</c:v>
                </c:pt>
                <c:pt idx="511">
                  <c:v>44074</c:v>
                </c:pt>
                <c:pt idx="512">
                  <c:v>44104</c:v>
                </c:pt>
                <c:pt idx="513">
                  <c:v>44135</c:v>
                </c:pt>
                <c:pt idx="514">
                  <c:v>44165</c:v>
                </c:pt>
                <c:pt idx="515">
                  <c:v>44196</c:v>
                </c:pt>
                <c:pt idx="516">
                  <c:v>44227</c:v>
                </c:pt>
                <c:pt idx="517">
                  <c:v>44255</c:v>
                </c:pt>
                <c:pt idx="518">
                  <c:v>44286</c:v>
                </c:pt>
                <c:pt idx="519">
                  <c:v>44316</c:v>
                </c:pt>
                <c:pt idx="520">
                  <c:v>44347</c:v>
                </c:pt>
                <c:pt idx="521">
                  <c:v>44377</c:v>
                </c:pt>
                <c:pt idx="522">
                  <c:v>44408</c:v>
                </c:pt>
                <c:pt idx="523">
                  <c:v>44439</c:v>
                </c:pt>
                <c:pt idx="524">
                  <c:v>44469</c:v>
                </c:pt>
                <c:pt idx="525">
                  <c:v>44500</c:v>
                </c:pt>
                <c:pt idx="526">
                  <c:v>44530</c:v>
                </c:pt>
                <c:pt idx="527">
                  <c:v>44561</c:v>
                </c:pt>
                <c:pt idx="528">
                  <c:v>44592</c:v>
                </c:pt>
                <c:pt idx="529">
                  <c:v>44620</c:v>
                </c:pt>
                <c:pt idx="530">
                  <c:v>44651</c:v>
                </c:pt>
                <c:pt idx="531">
                  <c:v>44681</c:v>
                </c:pt>
                <c:pt idx="532">
                  <c:v>44712</c:v>
                </c:pt>
                <c:pt idx="533">
                  <c:v>44742</c:v>
                </c:pt>
                <c:pt idx="534">
                  <c:v>44773</c:v>
                </c:pt>
                <c:pt idx="535">
                  <c:v>44804</c:v>
                </c:pt>
                <c:pt idx="536">
                  <c:v>44834</c:v>
                </c:pt>
                <c:pt idx="537">
                  <c:v>44865</c:v>
                </c:pt>
                <c:pt idx="538">
                  <c:v>44895</c:v>
                </c:pt>
                <c:pt idx="539">
                  <c:v>44926</c:v>
                </c:pt>
                <c:pt idx="540">
                  <c:v>44957</c:v>
                </c:pt>
                <c:pt idx="541">
                  <c:v>44985</c:v>
                </c:pt>
                <c:pt idx="542">
                  <c:v>45016</c:v>
                </c:pt>
                <c:pt idx="543">
                  <c:v>45046</c:v>
                </c:pt>
                <c:pt idx="544">
                  <c:v>45077</c:v>
                </c:pt>
                <c:pt idx="545">
                  <c:v>45107</c:v>
                </c:pt>
              </c:numCache>
            </c:numRef>
          </c:cat>
          <c:val>
            <c:numRef>
              <c:f>'Page 6 Data'!$B$7:$B$10007</c:f>
              <c:numCache>
                <c:formatCode>General</c:formatCode>
                <c:ptCount val="10001"/>
                <c:pt idx="0">
                  <c:v>0.11900000000000001</c:v>
                </c:pt>
                <c:pt idx="1">
                  <c:v>0.111</c:v>
                </c:pt>
                <c:pt idx="2">
                  <c:v>0.11</c:v>
                </c:pt>
                <c:pt idx="3">
                  <c:v>0.10800000000000001</c:v>
                </c:pt>
                <c:pt idx="4">
                  <c:v>0.10300000000000001</c:v>
                </c:pt>
                <c:pt idx="5">
                  <c:v>0.1</c:v>
                </c:pt>
                <c:pt idx="6">
                  <c:v>0.109</c:v>
                </c:pt>
                <c:pt idx="7">
                  <c:v>0.105</c:v>
                </c:pt>
                <c:pt idx="8">
                  <c:v>0.106</c:v>
                </c:pt>
                <c:pt idx="9">
                  <c:v>0.107</c:v>
                </c:pt>
                <c:pt idx="10">
                  <c:v>0.105</c:v>
                </c:pt>
                <c:pt idx="11">
                  <c:v>0.10400000000000001</c:v>
                </c:pt>
                <c:pt idx="12">
                  <c:v>0.111</c:v>
                </c:pt>
                <c:pt idx="13">
                  <c:v>0.111</c:v>
                </c:pt>
                <c:pt idx="14">
                  <c:v>0.11199999999999999</c:v>
                </c:pt>
                <c:pt idx="15">
                  <c:v>0.11</c:v>
                </c:pt>
                <c:pt idx="16">
                  <c:v>0.10300000000000001</c:v>
                </c:pt>
                <c:pt idx="17">
                  <c:v>9.9000000000000005E-2</c:v>
                </c:pt>
                <c:pt idx="18">
                  <c:v>0.106</c:v>
                </c:pt>
                <c:pt idx="19">
                  <c:v>9.6999999999999989E-2</c:v>
                </c:pt>
                <c:pt idx="20">
                  <c:v>9.4E-2</c:v>
                </c:pt>
                <c:pt idx="21">
                  <c:v>9.6999999999999989E-2</c:v>
                </c:pt>
                <c:pt idx="22">
                  <c:v>9.6999999999999989E-2</c:v>
                </c:pt>
                <c:pt idx="23">
                  <c:v>0.10099999999999999</c:v>
                </c:pt>
                <c:pt idx="24">
                  <c:v>9.9000000000000005E-2</c:v>
                </c:pt>
                <c:pt idx="25">
                  <c:v>0.10099999999999999</c:v>
                </c:pt>
                <c:pt idx="26">
                  <c:v>0.10199999999999999</c:v>
                </c:pt>
                <c:pt idx="27">
                  <c:v>0.113</c:v>
                </c:pt>
                <c:pt idx="28">
                  <c:v>0.114</c:v>
                </c:pt>
                <c:pt idx="29">
                  <c:v>0.11199999999999999</c:v>
                </c:pt>
                <c:pt idx="30">
                  <c:v>0.113</c:v>
                </c:pt>
                <c:pt idx="31">
                  <c:v>0.113</c:v>
                </c:pt>
                <c:pt idx="32">
                  <c:v>0.11699999999999999</c:v>
                </c:pt>
                <c:pt idx="33">
                  <c:v>0.113</c:v>
                </c:pt>
                <c:pt idx="34">
                  <c:v>0.11599999999999999</c:v>
                </c:pt>
                <c:pt idx="35">
                  <c:v>0.114</c:v>
                </c:pt>
                <c:pt idx="36">
                  <c:v>0.109</c:v>
                </c:pt>
                <c:pt idx="37">
                  <c:v>0.10800000000000001</c:v>
                </c:pt>
                <c:pt idx="38">
                  <c:v>0.10800000000000001</c:v>
                </c:pt>
                <c:pt idx="39">
                  <c:v>0.109</c:v>
                </c:pt>
                <c:pt idx="40">
                  <c:v>0.11</c:v>
                </c:pt>
                <c:pt idx="41">
                  <c:v>0.10800000000000001</c:v>
                </c:pt>
                <c:pt idx="42">
                  <c:v>0.12300000000000001</c:v>
                </c:pt>
                <c:pt idx="43">
                  <c:v>0.12</c:v>
                </c:pt>
                <c:pt idx="44">
                  <c:v>0.124</c:v>
                </c:pt>
                <c:pt idx="45">
                  <c:v>0.13</c:v>
                </c:pt>
                <c:pt idx="46">
                  <c:v>0.13200000000000001</c:v>
                </c:pt>
                <c:pt idx="47">
                  <c:v>0.125</c:v>
                </c:pt>
                <c:pt idx="48">
                  <c:v>0.127</c:v>
                </c:pt>
                <c:pt idx="49">
                  <c:v>0.121</c:v>
                </c:pt>
                <c:pt idx="50">
                  <c:v>0.122</c:v>
                </c:pt>
                <c:pt idx="51">
                  <c:v>0.129</c:v>
                </c:pt>
                <c:pt idx="52">
                  <c:v>0.12300000000000001</c:v>
                </c:pt>
                <c:pt idx="53">
                  <c:v>0.12300000000000001</c:v>
                </c:pt>
                <c:pt idx="54">
                  <c:v>0.125</c:v>
                </c:pt>
                <c:pt idx="55">
                  <c:v>0.126</c:v>
                </c:pt>
                <c:pt idx="56">
                  <c:v>0.11800000000000001</c:v>
                </c:pt>
                <c:pt idx="57">
                  <c:v>0.113</c:v>
                </c:pt>
                <c:pt idx="58">
                  <c:v>0.109</c:v>
                </c:pt>
                <c:pt idx="59">
                  <c:v>0.109</c:v>
                </c:pt>
                <c:pt idx="60">
                  <c:v>0.111</c:v>
                </c:pt>
                <c:pt idx="61">
                  <c:v>0.111</c:v>
                </c:pt>
                <c:pt idx="62">
                  <c:v>0.106</c:v>
                </c:pt>
                <c:pt idx="63">
                  <c:v>0.10300000000000001</c:v>
                </c:pt>
                <c:pt idx="64">
                  <c:v>9.9000000000000005E-2</c:v>
                </c:pt>
                <c:pt idx="65">
                  <c:v>9.0999999999999998E-2</c:v>
                </c:pt>
                <c:pt idx="66">
                  <c:v>9.6000000000000002E-2</c:v>
                </c:pt>
                <c:pt idx="67">
                  <c:v>9.1999999999999998E-2</c:v>
                </c:pt>
                <c:pt idx="68">
                  <c:v>9.6000000000000002E-2</c:v>
                </c:pt>
                <c:pt idx="69">
                  <c:v>9.6999999999999989E-2</c:v>
                </c:pt>
                <c:pt idx="70">
                  <c:v>0.10300000000000001</c:v>
                </c:pt>
                <c:pt idx="71">
                  <c:v>0.10099999999999999</c:v>
                </c:pt>
                <c:pt idx="72">
                  <c:v>0.1</c:v>
                </c:pt>
                <c:pt idx="73">
                  <c:v>0.11699999999999999</c:v>
                </c:pt>
                <c:pt idx="74">
                  <c:v>0.115</c:v>
                </c:pt>
                <c:pt idx="75">
                  <c:v>0.115</c:v>
                </c:pt>
                <c:pt idx="76">
                  <c:v>0.111</c:v>
                </c:pt>
                <c:pt idx="77">
                  <c:v>0.111</c:v>
                </c:pt>
                <c:pt idx="78">
                  <c:v>0.11599999999999999</c:v>
                </c:pt>
                <c:pt idx="79">
                  <c:v>0.11800000000000001</c:v>
                </c:pt>
                <c:pt idx="80">
                  <c:v>0.11800000000000001</c:v>
                </c:pt>
                <c:pt idx="81">
                  <c:v>0.11699999999999999</c:v>
                </c:pt>
                <c:pt idx="82">
                  <c:v>0.109</c:v>
                </c:pt>
                <c:pt idx="83">
                  <c:v>0.11199999999999999</c:v>
                </c:pt>
                <c:pt idx="84">
                  <c:v>0.10300000000000001</c:v>
                </c:pt>
                <c:pt idx="85">
                  <c:v>9.0999999999999998E-2</c:v>
                </c:pt>
                <c:pt idx="86">
                  <c:v>8.6999999999999994E-2</c:v>
                </c:pt>
                <c:pt idx="87">
                  <c:v>9.9000000000000005E-2</c:v>
                </c:pt>
                <c:pt idx="88">
                  <c:v>0.111</c:v>
                </c:pt>
                <c:pt idx="89">
                  <c:v>9.6000000000000002E-2</c:v>
                </c:pt>
                <c:pt idx="90">
                  <c:v>9.0999999999999998E-2</c:v>
                </c:pt>
                <c:pt idx="91">
                  <c:v>8.199999999999999E-2</c:v>
                </c:pt>
                <c:pt idx="92">
                  <c:v>7.2999999999999995E-2</c:v>
                </c:pt>
                <c:pt idx="93">
                  <c:v>9.0999999999999998E-2</c:v>
                </c:pt>
                <c:pt idx="94">
                  <c:v>0.09</c:v>
                </c:pt>
                <c:pt idx="95">
                  <c:v>8.5999999999999993E-2</c:v>
                </c:pt>
                <c:pt idx="96">
                  <c:v>8.5999999999999993E-2</c:v>
                </c:pt>
                <c:pt idx="97">
                  <c:v>9.3000000000000013E-2</c:v>
                </c:pt>
                <c:pt idx="98">
                  <c:v>9.9000000000000005E-2</c:v>
                </c:pt>
                <c:pt idx="99">
                  <c:v>9.6999999999999989E-2</c:v>
                </c:pt>
                <c:pt idx="100">
                  <c:v>9.3000000000000013E-2</c:v>
                </c:pt>
                <c:pt idx="101">
                  <c:v>9.4E-2</c:v>
                </c:pt>
                <c:pt idx="102">
                  <c:v>9.3000000000000013E-2</c:v>
                </c:pt>
                <c:pt idx="103">
                  <c:v>0.09</c:v>
                </c:pt>
                <c:pt idx="104">
                  <c:v>7.2000000000000008E-2</c:v>
                </c:pt>
                <c:pt idx="105">
                  <c:v>8.4000000000000005E-2</c:v>
                </c:pt>
                <c:pt idx="106">
                  <c:v>8.8000000000000009E-2</c:v>
                </c:pt>
                <c:pt idx="107">
                  <c:v>7.0000000000000007E-2</c:v>
                </c:pt>
                <c:pt idx="108">
                  <c:v>9.6999999999999989E-2</c:v>
                </c:pt>
                <c:pt idx="109">
                  <c:v>8.5000000000000006E-2</c:v>
                </c:pt>
                <c:pt idx="110">
                  <c:v>8.5000000000000006E-2</c:v>
                </c:pt>
                <c:pt idx="111">
                  <c:v>4.4999999999999998E-2</c:v>
                </c:pt>
                <c:pt idx="112">
                  <c:v>8.199999999999999E-2</c:v>
                </c:pt>
                <c:pt idx="113">
                  <c:v>7.6999999999999999E-2</c:v>
                </c:pt>
                <c:pt idx="114">
                  <c:v>7.4999999999999997E-2</c:v>
                </c:pt>
                <c:pt idx="115">
                  <c:v>7.2000000000000008E-2</c:v>
                </c:pt>
                <c:pt idx="116">
                  <c:v>7.5999999999999998E-2</c:v>
                </c:pt>
                <c:pt idx="117">
                  <c:v>8.3000000000000004E-2</c:v>
                </c:pt>
                <c:pt idx="118">
                  <c:v>8.5000000000000006E-2</c:v>
                </c:pt>
                <c:pt idx="119">
                  <c:v>8.6999999999999994E-2</c:v>
                </c:pt>
                <c:pt idx="120">
                  <c:v>8.1000000000000003E-2</c:v>
                </c:pt>
                <c:pt idx="121">
                  <c:v>8.5999999999999993E-2</c:v>
                </c:pt>
                <c:pt idx="122">
                  <c:v>8.199999999999999E-2</c:v>
                </c:pt>
                <c:pt idx="123">
                  <c:v>8.8000000000000009E-2</c:v>
                </c:pt>
                <c:pt idx="124">
                  <c:v>8.4000000000000005E-2</c:v>
                </c:pt>
                <c:pt idx="125">
                  <c:v>8.4000000000000005E-2</c:v>
                </c:pt>
                <c:pt idx="126">
                  <c:v>8.5999999999999993E-2</c:v>
                </c:pt>
                <c:pt idx="127">
                  <c:v>8.4000000000000005E-2</c:v>
                </c:pt>
                <c:pt idx="128">
                  <c:v>8.900000000000001E-2</c:v>
                </c:pt>
                <c:pt idx="129">
                  <c:v>8.5999999999999993E-2</c:v>
                </c:pt>
                <c:pt idx="130">
                  <c:v>8.4000000000000005E-2</c:v>
                </c:pt>
                <c:pt idx="131">
                  <c:v>8.3000000000000004E-2</c:v>
                </c:pt>
                <c:pt idx="132">
                  <c:v>8.5000000000000006E-2</c:v>
                </c:pt>
                <c:pt idx="133">
                  <c:v>0.09</c:v>
                </c:pt>
                <c:pt idx="134">
                  <c:v>9.5000000000000001E-2</c:v>
                </c:pt>
                <c:pt idx="135">
                  <c:v>8.4000000000000005E-2</c:v>
                </c:pt>
                <c:pt idx="136">
                  <c:v>8.1000000000000003E-2</c:v>
                </c:pt>
                <c:pt idx="137">
                  <c:v>8.199999999999999E-2</c:v>
                </c:pt>
                <c:pt idx="138">
                  <c:v>8.199999999999999E-2</c:v>
                </c:pt>
                <c:pt idx="139">
                  <c:v>7.5999999999999998E-2</c:v>
                </c:pt>
                <c:pt idx="140">
                  <c:v>8.1000000000000003E-2</c:v>
                </c:pt>
                <c:pt idx="141">
                  <c:v>8.5000000000000006E-2</c:v>
                </c:pt>
                <c:pt idx="142">
                  <c:v>8.5999999999999993E-2</c:v>
                </c:pt>
                <c:pt idx="143">
                  <c:v>7.8E-2</c:v>
                </c:pt>
                <c:pt idx="144">
                  <c:v>0.08</c:v>
                </c:pt>
                <c:pt idx="145">
                  <c:v>8.5999999999999993E-2</c:v>
                </c:pt>
                <c:pt idx="146">
                  <c:v>8.3000000000000004E-2</c:v>
                </c:pt>
                <c:pt idx="147">
                  <c:v>8.8000000000000009E-2</c:v>
                </c:pt>
                <c:pt idx="148">
                  <c:v>8.6999999999999994E-2</c:v>
                </c:pt>
                <c:pt idx="149">
                  <c:v>8.5999999999999993E-2</c:v>
                </c:pt>
                <c:pt idx="150">
                  <c:v>8.6999999999999994E-2</c:v>
                </c:pt>
                <c:pt idx="151">
                  <c:v>8.1000000000000003E-2</c:v>
                </c:pt>
                <c:pt idx="152">
                  <c:v>8.1000000000000003E-2</c:v>
                </c:pt>
                <c:pt idx="153">
                  <c:v>7.8E-2</c:v>
                </c:pt>
                <c:pt idx="154">
                  <c:v>7.9000000000000001E-2</c:v>
                </c:pt>
                <c:pt idx="155">
                  <c:v>8.8000000000000009E-2</c:v>
                </c:pt>
                <c:pt idx="156">
                  <c:v>9.3000000000000013E-2</c:v>
                </c:pt>
                <c:pt idx="157">
                  <c:v>8.8000000000000009E-2</c:v>
                </c:pt>
                <c:pt idx="158">
                  <c:v>0.08</c:v>
                </c:pt>
                <c:pt idx="159">
                  <c:v>8.5999999999999993E-2</c:v>
                </c:pt>
                <c:pt idx="160">
                  <c:v>8.4000000000000005E-2</c:v>
                </c:pt>
                <c:pt idx="161">
                  <c:v>8.900000000000001E-2</c:v>
                </c:pt>
                <c:pt idx="162">
                  <c:v>8.199999999999999E-2</c:v>
                </c:pt>
                <c:pt idx="163">
                  <c:v>8.5999999999999993E-2</c:v>
                </c:pt>
                <c:pt idx="164">
                  <c:v>8.8000000000000009E-2</c:v>
                </c:pt>
                <c:pt idx="165">
                  <c:v>9.3000000000000013E-2</c:v>
                </c:pt>
                <c:pt idx="166">
                  <c:v>0.09</c:v>
                </c:pt>
                <c:pt idx="167">
                  <c:v>9.6999999999999989E-2</c:v>
                </c:pt>
                <c:pt idx="168">
                  <c:v>9.4E-2</c:v>
                </c:pt>
                <c:pt idx="169">
                  <c:v>9.8000000000000004E-2</c:v>
                </c:pt>
                <c:pt idx="170">
                  <c:v>9.6999999999999989E-2</c:v>
                </c:pt>
                <c:pt idx="171">
                  <c:v>9.9000000000000005E-2</c:v>
                </c:pt>
                <c:pt idx="172">
                  <c:v>9.9000000000000005E-2</c:v>
                </c:pt>
                <c:pt idx="173">
                  <c:v>0.10099999999999999</c:v>
                </c:pt>
                <c:pt idx="174">
                  <c:v>9.6000000000000002E-2</c:v>
                </c:pt>
                <c:pt idx="175">
                  <c:v>9.6999999999999989E-2</c:v>
                </c:pt>
                <c:pt idx="176">
                  <c:v>8.6999999999999994E-2</c:v>
                </c:pt>
                <c:pt idx="177">
                  <c:v>0.08</c:v>
                </c:pt>
                <c:pt idx="178">
                  <c:v>0.08</c:v>
                </c:pt>
                <c:pt idx="179">
                  <c:v>0.106</c:v>
                </c:pt>
                <c:pt idx="180">
                  <c:v>8.5999999999999993E-2</c:v>
                </c:pt>
                <c:pt idx="181">
                  <c:v>8.900000000000001E-2</c:v>
                </c:pt>
                <c:pt idx="182">
                  <c:v>8.900000000000001E-2</c:v>
                </c:pt>
                <c:pt idx="183">
                  <c:v>8.6999999999999994E-2</c:v>
                </c:pt>
                <c:pt idx="184">
                  <c:v>8.3000000000000004E-2</c:v>
                </c:pt>
                <c:pt idx="185">
                  <c:v>7.8E-2</c:v>
                </c:pt>
                <c:pt idx="186">
                  <c:v>7.5999999999999998E-2</c:v>
                </c:pt>
                <c:pt idx="187">
                  <c:v>7.6999999999999999E-2</c:v>
                </c:pt>
                <c:pt idx="188">
                  <c:v>6.9000000000000006E-2</c:v>
                </c:pt>
                <c:pt idx="189">
                  <c:v>6.3E-2</c:v>
                </c:pt>
                <c:pt idx="190">
                  <c:v>6.3E-2</c:v>
                </c:pt>
                <c:pt idx="191">
                  <c:v>9.0999999999999998E-2</c:v>
                </c:pt>
                <c:pt idx="192">
                  <c:v>7.0999999999999994E-2</c:v>
                </c:pt>
                <c:pt idx="193">
                  <c:v>6.5000000000000002E-2</c:v>
                </c:pt>
                <c:pt idx="194">
                  <c:v>6.8000000000000005E-2</c:v>
                </c:pt>
                <c:pt idx="195">
                  <c:v>6.4000000000000001E-2</c:v>
                </c:pt>
                <c:pt idx="196">
                  <c:v>7.5999999999999998E-2</c:v>
                </c:pt>
                <c:pt idx="197">
                  <c:v>6.9000000000000006E-2</c:v>
                </c:pt>
                <c:pt idx="198">
                  <c:v>7.0000000000000007E-2</c:v>
                </c:pt>
                <c:pt idx="199">
                  <c:v>6.5000000000000002E-2</c:v>
                </c:pt>
                <c:pt idx="200">
                  <c:v>6.8000000000000005E-2</c:v>
                </c:pt>
                <c:pt idx="201">
                  <c:v>7.0999999999999994E-2</c:v>
                </c:pt>
                <c:pt idx="202">
                  <c:v>7.0000000000000007E-2</c:v>
                </c:pt>
                <c:pt idx="203">
                  <c:v>7.2000000000000008E-2</c:v>
                </c:pt>
                <c:pt idx="204">
                  <c:v>7.4999999999999997E-2</c:v>
                </c:pt>
                <c:pt idx="205">
                  <c:v>7.8E-2</c:v>
                </c:pt>
                <c:pt idx="206">
                  <c:v>7.4999999999999997E-2</c:v>
                </c:pt>
                <c:pt idx="207">
                  <c:v>6.9000000000000006E-2</c:v>
                </c:pt>
                <c:pt idx="208">
                  <c:v>7.0999999999999994E-2</c:v>
                </c:pt>
                <c:pt idx="209">
                  <c:v>6.7000000000000004E-2</c:v>
                </c:pt>
                <c:pt idx="210">
                  <c:v>7.0999999999999994E-2</c:v>
                </c:pt>
                <c:pt idx="211">
                  <c:v>6.7000000000000004E-2</c:v>
                </c:pt>
                <c:pt idx="212">
                  <c:v>6.8000000000000005E-2</c:v>
                </c:pt>
                <c:pt idx="213">
                  <c:v>7.0999999999999994E-2</c:v>
                </c:pt>
                <c:pt idx="214">
                  <c:v>6.6000000000000003E-2</c:v>
                </c:pt>
                <c:pt idx="215">
                  <c:v>6.0999999999999999E-2</c:v>
                </c:pt>
                <c:pt idx="216">
                  <c:v>6.7000000000000004E-2</c:v>
                </c:pt>
                <c:pt idx="217">
                  <c:v>6.7000000000000004E-2</c:v>
                </c:pt>
                <c:pt idx="218">
                  <c:v>6.6000000000000003E-2</c:v>
                </c:pt>
                <c:pt idx="219">
                  <c:v>5.7000000000000002E-2</c:v>
                </c:pt>
                <c:pt idx="220">
                  <c:v>6.7000000000000004E-2</c:v>
                </c:pt>
                <c:pt idx="221">
                  <c:v>7.0999999999999994E-2</c:v>
                </c:pt>
                <c:pt idx="222">
                  <c:v>6.7000000000000004E-2</c:v>
                </c:pt>
                <c:pt idx="223">
                  <c:v>6.6000000000000003E-2</c:v>
                </c:pt>
                <c:pt idx="224">
                  <c:v>6.7000000000000004E-2</c:v>
                </c:pt>
                <c:pt idx="225">
                  <c:v>6.4000000000000001E-2</c:v>
                </c:pt>
                <c:pt idx="226">
                  <c:v>6.4000000000000001E-2</c:v>
                </c:pt>
                <c:pt idx="227">
                  <c:v>6.4000000000000001E-2</c:v>
                </c:pt>
                <c:pt idx="228">
                  <c:v>6.2E-2</c:v>
                </c:pt>
                <c:pt idx="229">
                  <c:v>6.2E-2</c:v>
                </c:pt>
                <c:pt idx="230">
                  <c:v>6.4000000000000001E-2</c:v>
                </c:pt>
                <c:pt idx="231">
                  <c:v>6.5000000000000002E-2</c:v>
                </c:pt>
                <c:pt idx="232">
                  <c:v>6.8000000000000005E-2</c:v>
                </c:pt>
                <c:pt idx="233">
                  <c:v>6.6000000000000003E-2</c:v>
                </c:pt>
                <c:pt idx="234">
                  <c:v>6.0999999999999999E-2</c:v>
                </c:pt>
                <c:pt idx="235">
                  <c:v>0.06</c:v>
                </c:pt>
                <c:pt idx="236">
                  <c:v>6.2E-2</c:v>
                </c:pt>
                <c:pt idx="237">
                  <c:v>6.2E-2</c:v>
                </c:pt>
                <c:pt idx="238">
                  <c:v>6.4000000000000001E-2</c:v>
                </c:pt>
                <c:pt idx="239">
                  <c:v>6.4000000000000001E-2</c:v>
                </c:pt>
                <c:pt idx="240">
                  <c:v>7.400000000000001E-2</c:v>
                </c:pt>
                <c:pt idx="241">
                  <c:v>7.400000000000001E-2</c:v>
                </c:pt>
                <c:pt idx="242">
                  <c:v>7.4999999999999997E-2</c:v>
                </c:pt>
                <c:pt idx="243">
                  <c:v>7.2000000000000008E-2</c:v>
                </c:pt>
                <c:pt idx="244">
                  <c:v>6.9000000000000006E-2</c:v>
                </c:pt>
                <c:pt idx="245">
                  <c:v>6.8000000000000005E-2</c:v>
                </c:pt>
                <c:pt idx="246">
                  <c:v>6.9000000000000006E-2</c:v>
                </c:pt>
                <c:pt idx="247">
                  <c:v>6.8000000000000005E-2</c:v>
                </c:pt>
                <c:pt idx="248">
                  <c:v>6.4000000000000001E-2</c:v>
                </c:pt>
                <c:pt idx="249">
                  <c:v>6.2E-2</c:v>
                </c:pt>
                <c:pt idx="250">
                  <c:v>6.3E-2</c:v>
                </c:pt>
                <c:pt idx="251">
                  <c:v>5.7999999999999996E-2</c:v>
                </c:pt>
                <c:pt idx="252">
                  <c:v>6.4000000000000001E-2</c:v>
                </c:pt>
                <c:pt idx="253">
                  <c:v>6.3E-2</c:v>
                </c:pt>
                <c:pt idx="254">
                  <c:v>0.06</c:v>
                </c:pt>
                <c:pt idx="255">
                  <c:v>0.05</c:v>
                </c:pt>
                <c:pt idx="256">
                  <c:v>4.8000000000000001E-2</c:v>
                </c:pt>
                <c:pt idx="257">
                  <c:v>4.7E-2</c:v>
                </c:pt>
                <c:pt idx="258">
                  <c:v>4.8000000000000001E-2</c:v>
                </c:pt>
                <c:pt idx="259">
                  <c:v>4.7E-2</c:v>
                </c:pt>
                <c:pt idx="260">
                  <c:v>4.0999999999999995E-2</c:v>
                </c:pt>
                <c:pt idx="261">
                  <c:v>4.4000000000000004E-2</c:v>
                </c:pt>
                <c:pt idx="262">
                  <c:v>4.5999999999999999E-2</c:v>
                </c:pt>
                <c:pt idx="263">
                  <c:v>4.2000000000000003E-2</c:v>
                </c:pt>
                <c:pt idx="264">
                  <c:v>0.05</c:v>
                </c:pt>
                <c:pt idx="265">
                  <c:v>4.4999999999999998E-2</c:v>
                </c:pt>
                <c:pt idx="266">
                  <c:v>4.2999999999999997E-2</c:v>
                </c:pt>
                <c:pt idx="267">
                  <c:v>4.8000000000000001E-2</c:v>
                </c:pt>
                <c:pt idx="268">
                  <c:v>4.8000000000000001E-2</c:v>
                </c:pt>
                <c:pt idx="269">
                  <c:v>4.8000000000000001E-2</c:v>
                </c:pt>
                <c:pt idx="270">
                  <c:v>5.0999999999999997E-2</c:v>
                </c:pt>
                <c:pt idx="271">
                  <c:v>5.2000000000000005E-2</c:v>
                </c:pt>
                <c:pt idx="272">
                  <c:v>4.4999999999999998E-2</c:v>
                </c:pt>
                <c:pt idx="273">
                  <c:v>4.8000000000000001E-2</c:v>
                </c:pt>
                <c:pt idx="274">
                  <c:v>4.7E-2</c:v>
                </c:pt>
                <c:pt idx="275">
                  <c:v>4.4000000000000004E-2</c:v>
                </c:pt>
                <c:pt idx="276">
                  <c:v>4.9000000000000002E-2</c:v>
                </c:pt>
                <c:pt idx="277">
                  <c:v>0.05</c:v>
                </c:pt>
                <c:pt idx="278">
                  <c:v>5.2999999999999999E-2</c:v>
                </c:pt>
                <c:pt idx="279">
                  <c:v>5.0999999999999997E-2</c:v>
                </c:pt>
                <c:pt idx="280">
                  <c:v>4.4999999999999998E-2</c:v>
                </c:pt>
                <c:pt idx="281">
                  <c:v>4.4000000000000004E-2</c:v>
                </c:pt>
                <c:pt idx="282">
                  <c:v>5.5999999999999994E-2</c:v>
                </c:pt>
                <c:pt idx="283">
                  <c:v>6.6000000000000003E-2</c:v>
                </c:pt>
                <c:pt idx="284">
                  <c:v>7.0000000000000007E-2</c:v>
                </c:pt>
                <c:pt idx="285">
                  <c:v>3.1E-2</c:v>
                </c:pt>
                <c:pt idx="286">
                  <c:v>3.5000000000000003E-2</c:v>
                </c:pt>
                <c:pt idx="287">
                  <c:v>3.7999999999999999E-2</c:v>
                </c:pt>
                <c:pt idx="288">
                  <c:v>5.7000000000000002E-2</c:v>
                </c:pt>
                <c:pt idx="289">
                  <c:v>5.5E-2</c:v>
                </c:pt>
                <c:pt idx="290">
                  <c:v>5.5999999999999994E-2</c:v>
                </c:pt>
                <c:pt idx="291">
                  <c:v>5.5E-2</c:v>
                </c:pt>
                <c:pt idx="292">
                  <c:v>6.2E-2</c:v>
                </c:pt>
                <c:pt idx="293">
                  <c:v>6.2E-2</c:v>
                </c:pt>
                <c:pt idx="294">
                  <c:v>5.4000000000000006E-2</c:v>
                </c:pt>
                <c:pt idx="295">
                  <c:v>5.4000000000000006E-2</c:v>
                </c:pt>
                <c:pt idx="296">
                  <c:v>5.9000000000000004E-2</c:v>
                </c:pt>
                <c:pt idx="297">
                  <c:v>5.7999999999999996E-2</c:v>
                </c:pt>
                <c:pt idx="298">
                  <c:v>5.7999999999999996E-2</c:v>
                </c:pt>
                <c:pt idx="299">
                  <c:v>5.4000000000000006E-2</c:v>
                </c:pt>
                <c:pt idx="300">
                  <c:v>5.4000000000000006E-2</c:v>
                </c:pt>
                <c:pt idx="301">
                  <c:v>5.2999999999999999E-2</c:v>
                </c:pt>
                <c:pt idx="302">
                  <c:v>0.05</c:v>
                </c:pt>
                <c:pt idx="303">
                  <c:v>5.0999999999999997E-2</c:v>
                </c:pt>
                <c:pt idx="304">
                  <c:v>5.5E-2</c:v>
                </c:pt>
                <c:pt idx="305">
                  <c:v>5.2999999999999999E-2</c:v>
                </c:pt>
                <c:pt idx="306">
                  <c:v>6.0999999999999999E-2</c:v>
                </c:pt>
                <c:pt idx="307">
                  <c:v>5.9000000000000004E-2</c:v>
                </c:pt>
                <c:pt idx="308">
                  <c:v>5.0999999999999997E-2</c:v>
                </c:pt>
                <c:pt idx="309">
                  <c:v>5.2999999999999999E-2</c:v>
                </c:pt>
                <c:pt idx="310">
                  <c:v>5.2999999999999999E-2</c:v>
                </c:pt>
                <c:pt idx="311">
                  <c:v>5.2000000000000005E-2</c:v>
                </c:pt>
                <c:pt idx="312">
                  <c:v>4.9000000000000002E-2</c:v>
                </c:pt>
                <c:pt idx="313">
                  <c:v>4.9000000000000002E-2</c:v>
                </c:pt>
                <c:pt idx="314">
                  <c:v>4.7E-2</c:v>
                </c:pt>
                <c:pt idx="315">
                  <c:v>5.0999999999999997E-2</c:v>
                </c:pt>
                <c:pt idx="316">
                  <c:v>5.0999999999999997E-2</c:v>
                </c:pt>
                <c:pt idx="317">
                  <c:v>5.5999999999999994E-2</c:v>
                </c:pt>
                <c:pt idx="318">
                  <c:v>0.05</c:v>
                </c:pt>
                <c:pt idx="319">
                  <c:v>0.05</c:v>
                </c:pt>
                <c:pt idx="320">
                  <c:v>4.4000000000000004E-2</c:v>
                </c:pt>
                <c:pt idx="321">
                  <c:v>4.2999999999999997E-2</c:v>
                </c:pt>
                <c:pt idx="322">
                  <c:v>3.7999999999999999E-2</c:v>
                </c:pt>
                <c:pt idx="323">
                  <c:v>6.6000000000000003E-2</c:v>
                </c:pt>
                <c:pt idx="324">
                  <c:v>3.2000000000000001E-2</c:v>
                </c:pt>
                <c:pt idx="325">
                  <c:v>2.8999999999999998E-2</c:v>
                </c:pt>
                <c:pt idx="326">
                  <c:v>3.1E-2</c:v>
                </c:pt>
                <c:pt idx="327">
                  <c:v>2.7000000000000003E-2</c:v>
                </c:pt>
                <c:pt idx="328">
                  <c:v>3.2000000000000001E-2</c:v>
                </c:pt>
                <c:pt idx="329">
                  <c:v>2.6000000000000002E-2</c:v>
                </c:pt>
                <c:pt idx="330">
                  <c:v>2.1000000000000001E-2</c:v>
                </c:pt>
                <c:pt idx="331">
                  <c:v>2.6000000000000002E-2</c:v>
                </c:pt>
                <c:pt idx="332">
                  <c:v>2.7000000000000003E-2</c:v>
                </c:pt>
                <c:pt idx="333">
                  <c:v>2.8999999999999998E-2</c:v>
                </c:pt>
                <c:pt idx="334">
                  <c:v>3.2000000000000001E-2</c:v>
                </c:pt>
                <c:pt idx="335">
                  <c:v>3.1E-2</c:v>
                </c:pt>
                <c:pt idx="336">
                  <c:v>3.7000000000000005E-2</c:v>
                </c:pt>
                <c:pt idx="337">
                  <c:v>3.9E-2</c:v>
                </c:pt>
                <c:pt idx="338">
                  <c:v>4.0999999999999995E-2</c:v>
                </c:pt>
                <c:pt idx="339">
                  <c:v>3.7999999999999999E-2</c:v>
                </c:pt>
                <c:pt idx="340">
                  <c:v>3.6000000000000004E-2</c:v>
                </c:pt>
                <c:pt idx="341">
                  <c:v>3.7000000000000005E-2</c:v>
                </c:pt>
                <c:pt idx="342">
                  <c:v>3.1E-2</c:v>
                </c:pt>
                <c:pt idx="343">
                  <c:v>3.3000000000000002E-2</c:v>
                </c:pt>
                <c:pt idx="344">
                  <c:v>3.2000000000000001E-2</c:v>
                </c:pt>
                <c:pt idx="345">
                  <c:v>3.2000000000000001E-2</c:v>
                </c:pt>
                <c:pt idx="346">
                  <c:v>3.6000000000000004E-2</c:v>
                </c:pt>
                <c:pt idx="347">
                  <c:v>3.5000000000000003E-2</c:v>
                </c:pt>
                <c:pt idx="348">
                  <c:v>3.2000000000000001E-2</c:v>
                </c:pt>
                <c:pt idx="349">
                  <c:v>3.6000000000000004E-2</c:v>
                </c:pt>
                <c:pt idx="350">
                  <c:v>3.9E-2</c:v>
                </c:pt>
                <c:pt idx="351">
                  <c:v>3.7999999999999999E-2</c:v>
                </c:pt>
                <c:pt idx="352">
                  <c:v>3.6000000000000004E-2</c:v>
                </c:pt>
                <c:pt idx="353">
                  <c:v>3.5000000000000003E-2</c:v>
                </c:pt>
                <c:pt idx="354">
                  <c:v>3.4000000000000002E-2</c:v>
                </c:pt>
                <c:pt idx="355">
                  <c:v>3.1E-2</c:v>
                </c:pt>
                <c:pt idx="356">
                  <c:v>3.1E-2</c:v>
                </c:pt>
                <c:pt idx="357">
                  <c:v>0.03</c:v>
                </c:pt>
                <c:pt idx="358">
                  <c:v>2.7999999999999997E-2</c:v>
                </c:pt>
                <c:pt idx="359">
                  <c:v>3.2000000000000001E-2</c:v>
                </c:pt>
                <c:pt idx="360">
                  <c:v>3.2000000000000001E-2</c:v>
                </c:pt>
                <c:pt idx="361">
                  <c:v>3.6000000000000004E-2</c:v>
                </c:pt>
                <c:pt idx="362">
                  <c:v>3.4000000000000002E-2</c:v>
                </c:pt>
                <c:pt idx="363">
                  <c:v>2.8999999999999998E-2</c:v>
                </c:pt>
                <c:pt idx="364">
                  <c:v>7.2999999999999995E-2</c:v>
                </c:pt>
                <c:pt idx="365">
                  <c:v>5.0999999999999997E-2</c:v>
                </c:pt>
                <c:pt idx="366">
                  <c:v>0.04</c:v>
                </c:pt>
                <c:pt idx="367">
                  <c:v>3.5000000000000003E-2</c:v>
                </c:pt>
                <c:pt idx="368">
                  <c:v>4.2999999999999997E-2</c:v>
                </c:pt>
                <c:pt idx="369">
                  <c:v>5.2000000000000005E-2</c:v>
                </c:pt>
                <c:pt idx="370">
                  <c:v>6.3E-2</c:v>
                </c:pt>
                <c:pt idx="371">
                  <c:v>6.2E-2</c:v>
                </c:pt>
                <c:pt idx="372">
                  <c:v>6.2E-2</c:v>
                </c:pt>
                <c:pt idx="373">
                  <c:v>5.5999999999999994E-2</c:v>
                </c:pt>
                <c:pt idx="374">
                  <c:v>5.9000000000000004E-2</c:v>
                </c:pt>
                <c:pt idx="375">
                  <c:v>6.6000000000000003E-2</c:v>
                </c:pt>
                <c:pt idx="376">
                  <c:v>7.9000000000000001E-2</c:v>
                </c:pt>
                <c:pt idx="377">
                  <c:v>6.2E-2</c:v>
                </c:pt>
                <c:pt idx="378">
                  <c:v>5.5E-2</c:v>
                </c:pt>
                <c:pt idx="379">
                  <c:v>4.4999999999999998E-2</c:v>
                </c:pt>
                <c:pt idx="380">
                  <c:v>5.5999999999999994E-2</c:v>
                </c:pt>
                <c:pt idx="381">
                  <c:v>5.2000000000000005E-2</c:v>
                </c:pt>
                <c:pt idx="382">
                  <c:v>5.5999999999999994E-2</c:v>
                </c:pt>
                <c:pt idx="383">
                  <c:v>5.5999999999999994E-2</c:v>
                </c:pt>
                <c:pt idx="384">
                  <c:v>5.9000000000000004E-2</c:v>
                </c:pt>
                <c:pt idx="385">
                  <c:v>5.5999999999999994E-2</c:v>
                </c:pt>
                <c:pt idx="386">
                  <c:v>5.5999999999999994E-2</c:v>
                </c:pt>
                <c:pt idx="387">
                  <c:v>6.2E-2</c:v>
                </c:pt>
                <c:pt idx="388">
                  <c:v>6.7000000000000004E-2</c:v>
                </c:pt>
                <c:pt idx="389">
                  <c:v>6.5000000000000002E-2</c:v>
                </c:pt>
                <c:pt idx="390">
                  <c:v>6.4000000000000001E-2</c:v>
                </c:pt>
                <c:pt idx="391">
                  <c:v>6.5000000000000002E-2</c:v>
                </c:pt>
                <c:pt idx="392">
                  <c:v>6.5000000000000002E-2</c:v>
                </c:pt>
                <c:pt idx="393">
                  <c:v>6.3E-2</c:v>
                </c:pt>
                <c:pt idx="394">
                  <c:v>6.0999999999999999E-2</c:v>
                </c:pt>
                <c:pt idx="395">
                  <c:v>6.5000000000000002E-2</c:v>
                </c:pt>
                <c:pt idx="396">
                  <c:v>6.9000000000000006E-2</c:v>
                </c:pt>
                <c:pt idx="397">
                  <c:v>7.2000000000000008E-2</c:v>
                </c:pt>
                <c:pt idx="398">
                  <c:v>6.6000000000000003E-2</c:v>
                </c:pt>
                <c:pt idx="399">
                  <c:v>6.6000000000000003E-2</c:v>
                </c:pt>
                <c:pt idx="400">
                  <c:v>6.5000000000000002E-2</c:v>
                </c:pt>
                <c:pt idx="401">
                  <c:v>6.7000000000000004E-2</c:v>
                </c:pt>
                <c:pt idx="402">
                  <c:v>6.9000000000000006E-2</c:v>
                </c:pt>
                <c:pt idx="403">
                  <c:v>6.9000000000000006E-2</c:v>
                </c:pt>
                <c:pt idx="404">
                  <c:v>6.5000000000000002E-2</c:v>
                </c:pt>
                <c:pt idx="405">
                  <c:v>6.5000000000000002E-2</c:v>
                </c:pt>
                <c:pt idx="406">
                  <c:v>6.6000000000000003E-2</c:v>
                </c:pt>
                <c:pt idx="407">
                  <c:v>7.4999999999999997E-2</c:v>
                </c:pt>
                <c:pt idx="408">
                  <c:v>7.8E-2</c:v>
                </c:pt>
                <c:pt idx="409">
                  <c:v>7.8E-2</c:v>
                </c:pt>
                <c:pt idx="410">
                  <c:v>8.199999999999999E-2</c:v>
                </c:pt>
                <c:pt idx="411">
                  <c:v>8.5000000000000006E-2</c:v>
                </c:pt>
                <c:pt idx="412">
                  <c:v>8.5999999999999993E-2</c:v>
                </c:pt>
                <c:pt idx="413">
                  <c:v>8.5999999999999993E-2</c:v>
                </c:pt>
                <c:pt idx="414">
                  <c:v>7.8E-2</c:v>
                </c:pt>
                <c:pt idx="415">
                  <c:v>7.5999999999999998E-2</c:v>
                </c:pt>
                <c:pt idx="416">
                  <c:v>8.1000000000000003E-2</c:v>
                </c:pt>
                <c:pt idx="417">
                  <c:v>8.6999999999999994E-2</c:v>
                </c:pt>
                <c:pt idx="418">
                  <c:v>9.5000000000000001E-2</c:v>
                </c:pt>
                <c:pt idx="419">
                  <c:v>0.11599999999999999</c:v>
                </c:pt>
                <c:pt idx="420">
                  <c:v>5.9000000000000004E-2</c:v>
                </c:pt>
                <c:pt idx="421">
                  <c:v>5.5999999999999994E-2</c:v>
                </c:pt>
                <c:pt idx="422">
                  <c:v>5.9000000000000004E-2</c:v>
                </c:pt>
                <c:pt idx="423">
                  <c:v>6.2E-2</c:v>
                </c:pt>
                <c:pt idx="424">
                  <c:v>6.4000000000000001E-2</c:v>
                </c:pt>
                <c:pt idx="425">
                  <c:v>6.5000000000000002E-2</c:v>
                </c:pt>
                <c:pt idx="426">
                  <c:v>6.3E-2</c:v>
                </c:pt>
                <c:pt idx="427">
                  <c:v>6.4000000000000001E-2</c:v>
                </c:pt>
                <c:pt idx="428">
                  <c:v>6.5000000000000002E-2</c:v>
                </c:pt>
                <c:pt idx="429">
                  <c:v>0.06</c:v>
                </c:pt>
                <c:pt idx="430">
                  <c:v>5.7999999999999996E-2</c:v>
                </c:pt>
                <c:pt idx="431">
                  <c:v>0.06</c:v>
                </c:pt>
                <c:pt idx="432">
                  <c:v>6.7000000000000004E-2</c:v>
                </c:pt>
                <c:pt idx="433">
                  <c:v>6.6000000000000003E-2</c:v>
                </c:pt>
                <c:pt idx="434">
                  <c:v>6.7000000000000004E-2</c:v>
                </c:pt>
                <c:pt idx="435">
                  <c:v>6.9000000000000006E-2</c:v>
                </c:pt>
                <c:pt idx="436">
                  <c:v>7.0999999999999994E-2</c:v>
                </c:pt>
                <c:pt idx="437">
                  <c:v>7.0999999999999994E-2</c:v>
                </c:pt>
                <c:pt idx="438">
                  <c:v>7.2000000000000008E-2</c:v>
                </c:pt>
                <c:pt idx="439">
                  <c:v>7.0000000000000007E-2</c:v>
                </c:pt>
                <c:pt idx="440">
                  <c:v>7.2000000000000008E-2</c:v>
                </c:pt>
                <c:pt idx="441">
                  <c:v>7.0999999999999994E-2</c:v>
                </c:pt>
                <c:pt idx="442">
                  <c:v>7.2999999999999995E-2</c:v>
                </c:pt>
                <c:pt idx="443">
                  <c:v>7.6999999999999999E-2</c:v>
                </c:pt>
                <c:pt idx="444">
                  <c:v>0.08</c:v>
                </c:pt>
                <c:pt idx="445">
                  <c:v>8.1000000000000003E-2</c:v>
                </c:pt>
                <c:pt idx="446">
                  <c:v>7.6999999999999999E-2</c:v>
                </c:pt>
                <c:pt idx="447">
                  <c:v>7.5999999999999998E-2</c:v>
                </c:pt>
                <c:pt idx="448">
                  <c:v>7.4999999999999997E-2</c:v>
                </c:pt>
                <c:pt idx="449">
                  <c:v>7.400000000000001E-2</c:v>
                </c:pt>
                <c:pt idx="450">
                  <c:v>7.2999999999999995E-2</c:v>
                </c:pt>
                <c:pt idx="451">
                  <c:v>7.2999999999999995E-2</c:v>
                </c:pt>
                <c:pt idx="452">
                  <c:v>7.400000000000001E-2</c:v>
                </c:pt>
                <c:pt idx="453">
                  <c:v>7.4999999999999997E-2</c:v>
                </c:pt>
                <c:pt idx="454">
                  <c:v>7.2999999999999995E-2</c:v>
                </c:pt>
                <c:pt idx="455">
                  <c:v>7.400000000000001E-2</c:v>
                </c:pt>
                <c:pt idx="456">
                  <c:v>7.6999999999999999E-2</c:v>
                </c:pt>
                <c:pt idx="457">
                  <c:v>7.2000000000000008E-2</c:v>
                </c:pt>
                <c:pt idx="458">
                  <c:v>7.5999999999999998E-2</c:v>
                </c:pt>
                <c:pt idx="459">
                  <c:v>7.2000000000000008E-2</c:v>
                </c:pt>
                <c:pt idx="460">
                  <c:v>6.9000000000000006E-2</c:v>
                </c:pt>
                <c:pt idx="461">
                  <c:v>6.6000000000000003E-2</c:v>
                </c:pt>
                <c:pt idx="462">
                  <c:v>6.8000000000000005E-2</c:v>
                </c:pt>
                <c:pt idx="463">
                  <c:v>6.8000000000000005E-2</c:v>
                </c:pt>
                <c:pt idx="464">
                  <c:v>6.8000000000000005E-2</c:v>
                </c:pt>
                <c:pt idx="465">
                  <c:v>6.9000000000000006E-2</c:v>
                </c:pt>
                <c:pt idx="466">
                  <c:v>7.0000000000000007E-2</c:v>
                </c:pt>
                <c:pt idx="467">
                  <c:v>6.5000000000000002E-2</c:v>
                </c:pt>
                <c:pt idx="468">
                  <c:v>6.9000000000000006E-2</c:v>
                </c:pt>
                <c:pt idx="469">
                  <c:v>7.2000000000000008E-2</c:v>
                </c:pt>
                <c:pt idx="470">
                  <c:v>7.2000000000000008E-2</c:v>
                </c:pt>
                <c:pt idx="471">
                  <c:v>7.2999999999999995E-2</c:v>
                </c:pt>
                <c:pt idx="472">
                  <c:v>7.8E-2</c:v>
                </c:pt>
                <c:pt idx="473">
                  <c:v>7.4999999999999997E-2</c:v>
                </c:pt>
                <c:pt idx="474">
                  <c:v>7.5999999999999998E-2</c:v>
                </c:pt>
                <c:pt idx="475">
                  <c:v>7.5999999999999998E-2</c:v>
                </c:pt>
                <c:pt idx="476">
                  <c:v>7.2999999999999995E-2</c:v>
                </c:pt>
                <c:pt idx="477">
                  <c:v>7.400000000000001E-2</c:v>
                </c:pt>
                <c:pt idx="478">
                  <c:v>6.9000000000000006E-2</c:v>
                </c:pt>
                <c:pt idx="479">
                  <c:v>6.3E-2</c:v>
                </c:pt>
                <c:pt idx="480">
                  <c:v>7.0999999999999994E-2</c:v>
                </c:pt>
                <c:pt idx="481">
                  <c:v>7.2000000000000008E-2</c:v>
                </c:pt>
                <c:pt idx="482">
                  <c:v>7.2000000000000008E-2</c:v>
                </c:pt>
                <c:pt idx="483">
                  <c:v>7.2000000000000008E-2</c:v>
                </c:pt>
                <c:pt idx="484">
                  <c:v>7.2000000000000008E-2</c:v>
                </c:pt>
                <c:pt idx="485">
                  <c:v>7.400000000000001E-2</c:v>
                </c:pt>
                <c:pt idx="486">
                  <c:v>7.4999999999999997E-2</c:v>
                </c:pt>
                <c:pt idx="487">
                  <c:v>7.5999999999999998E-2</c:v>
                </c:pt>
                <c:pt idx="488">
                  <c:v>7.6999999999999999E-2</c:v>
                </c:pt>
                <c:pt idx="489">
                  <c:v>7.5999999999999998E-2</c:v>
                </c:pt>
                <c:pt idx="490">
                  <c:v>7.4999999999999997E-2</c:v>
                </c:pt>
                <c:pt idx="491">
                  <c:v>9.4E-2</c:v>
                </c:pt>
                <c:pt idx="492">
                  <c:v>9.3000000000000013E-2</c:v>
                </c:pt>
                <c:pt idx="493">
                  <c:v>9.5000000000000001E-2</c:v>
                </c:pt>
                <c:pt idx="494">
                  <c:v>9.0999999999999998E-2</c:v>
                </c:pt>
                <c:pt idx="495">
                  <c:v>8.900000000000001E-2</c:v>
                </c:pt>
                <c:pt idx="496">
                  <c:v>8.5999999999999993E-2</c:v>
                </c:pt>
                <c:pt idx="497">
                  <c:v>8.5000000000000006E-2</c:v>
                </c:pt>
                <c:pt idx="498">
                  <c:v>8.4000000000000005E-2</c:v>
                </c:pt>
                <c:pt idx="499">
                  <c:v>8.6999999999999994E-2</c:v>
                </c:pt>
                <c:pt idx="500">
                  <c:v>8.900000000000001E-2</c:v>
                </c:pt>
                <c:pt idx="501">
                  <c:v>8.900000000000001E-2</c:v>
                </c:pt>
                <c:pt idx="502">
                  <c:v>8.900000000000001E-2</c:v>
                </c:pt>
                <c:pt idx="503">
                  <c:v>8.3000000000000004E-2</c:v>
                </c:pt>
                <c:pt idx="504">
                  <c:v>9.0999999999999998E-2</c:v>
                </c:pt>
                <c:pt idx="505">
                  <c:v>9.3000000000000013E-2</c:v>
                </c:pt>
                <c:pt idx="506">
                  <c:v>0.13800000000000001</c:v>
                </c:pt>
                <c:pt idx="507">
                  <c:v>0.33799999999999997</c:v>
                </c:pt>
                <c:pt idx="508">
                  <c:v>0.249</c:v>
                </c:pt>
                <c:pt idx="509">
                  <c:v>0.20100000000000001</c:v>
                </c:pt>
                <c:pt idx="510">
                  <c:v>0.192</c:v>
                </c:pt>
                <c:pt idx="511">
                  <c:v>0.155</c:v>
                </c:pt>
                <c:pt idx="512">
                  <c:v>0.14599999999999999</c:v>
                </c:pt>
                <c:pt idx="513">
                  <c:v>0.14000000000000001</c:v>
                </c:pt>
                <c:pt idx="514">
                  <c:v>0.13300000000000001</c:v>
                </c:pt>
                <c:pt idx="515">
                  <c:v>0.13800000000000001</c:v>
                </c:pt>
                <c:pt idx="516">
                  <c:v>0.2</c:v>
                </c:pt>
                <c:pt idx="517">
                  <c:v>0.13400000000000001</c:v>
                </c:pt>
                <c:pt idx="518">
                  <c:v>0.26300000000000001</c:v>
                </c:pt>
                <c:pt idx="519">
                  <c:v>0.128</c:v>
                </c:pt>
                <c:pt idx="520">
                  <c:v>0.10300000000000001</c:v>
                </c:pt>
                <c:pt idx="521">
                  <c:v>9.3000000000000013E-2</c:v>
                </c:pt>
                <c:pt idx="522">
                  <c:v>9.9000000000000005E-2</c:v>
                </c:pt>
                <c:pt idx="523">
                  <c:v>9.5000000000000001E-2</c:v>
                </c:pt>
                <c:pt idx="524">
                  <c:v>7.9000000000000001E-2</c:v>
                </c:pt>
                <c:pt idx="525">
                  <c:v>7.2999999999999995E-2</c:v>
                </c:pt>
                <c:pt idx="526">
                  <c:v>7.0999999999999994E-2</c:v>
                </c:pt>
                <c:pt idx="527">
                  <c:v>7.4999999999999997E-2</c:v>
                </c:pt>
                <c:pt idx="528">
                  <c:v>4.7E-2</c:v>
                </c:pt>
                <c:pt idx="529">
                  <c:v>4.4999999999999998E-2</c:v>
                </c:pt>
                <c:pt idx="530">
                  <c:v>3.7999999999999999E-2</c:v>
                </c:pt>
                <c:pt idx="531">
                  <c:v>3.6000000000000004E-2</c:v>
                </c:pt>
                <c:pt idx="532">
                  <c:v>3.4000000000000002E-2</c:v>
                </c:pt>
                <c:pt idx="533">
                  <c:v>2.7000000000000003E-2</c:v>
                </c:pt>
                <c:pt idx="534">
                  <c:v>3.1E-2</c:v>
                </c:pt>
                <c:pt idx="535">
                  <c:v>2.7000000000000003E-2</c:v>
                </c:pt>
                <c:pt idx="536">
                  <c:v>2.4E-2</c:v>
                </c:pt>
                <c:pt idx="537">
                  <c:v>3.4000000000000002E-2</c:v>
                </c:pt>
                <c:pt idx="538">
                  <c:v>4.0999999999999995E-2</c:v>
                </c:pt>
                <c:pt idx="539">
                  <c:v>4.4000000000000004E-2</c:v>
                </c:pt>
                <c:pt idx="540">
                  <c:v>4.4000000000000004E-2</c:v>
                </c:pt>
                <c:pt idx="541">
                  <c:v>4.7E-2</c:v>
                </c:pt>
                <c:pt idx="542">
                  <c:v>5.2000000000000005E-2</c:v>
                </c:pt>
                <c:pt idx="543">
                  <c:v>5.2000000000000005E-2</c:v>
                </c:pt>
                <c:pt idx="544">
                  <c:v>5.2999999999999999E-2</c:v>
                </c:pt>
                <c:pt idx="545">
                  <c:v>4.9000000000000002E-2</c:v>
                </c:pt>
                <c:pt idx="546">
                  <c:v>4.4000000000000004E-2</c:v>
                </c:pt>
                <c:pt idx="547">
                  <c:v>4.4000000000000004E-2</c:v>
                </c:pt>
                <c:pt idx="548">
                  <c:v>3.7999999999999999E-2</c:v>
                </c:pt>
                <c:pt idx="549">
                  <c:v>0.04</c:v>
                </c:pt>
                <c:pt idx="550">
                  <c:v>0.04</c:v>
                </c:pt>
                <c:pt idx="551">
                  <c:v>3.9E-2</c:v>
                </c:pt>
                <c:pt idx="552">
                  <c:v>0.04</c:v>
                </c:pt>
                <c:pt idx="553">
                  <c:v>3.7000000000000005E-2</c:v>
                </c:pt>
                <c:pt idx="554">
                  <c:v>3.5000000000000003E-2</c:v>
                </c:pt>
                <c:pt idx="555">
                  <c:v>5.2999999999999999E-2</c:v>
                </c:pt>
                <c:pt idx="556">
                  <c:v>5.2000000000000005E-2</c:v>
                </c:pt>
                <c:pt idx="557">
                  <c:v>5.2000000000000005E-2</c:v>
                </c:pt>
                <c:pt idx="558">
                  <c:v>4.4000000000000004E-2</c:v>
                </c:pt>
                <c:pt idx="559">
                  <c:v>4.4000000000000004E-2</c:v>
                </c:pt>
                <c:pt idx="560">
                  <c:v>4.0999999999999995E-2</c:v>
                </c:pt>
                <c:pt idx="561">
                  <c:v>4.4999999999999998E-2</c:v>
                </c:pt>
                <c:pt idx="562">
                  <c:v>4.4000000000000004E-2</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pt idx="4980">
                  <c:v>#N/A</c:v>
                </c:pt>
                <c:pt idx="4981">
                  <c:v>#N/A</c:v>
                </c:pt>
                <c:pt idx="4982">
                  <c:v>#N/A</c:v>
                </c:pt>
                <c:pt idx="4983">
                  <c:v>#N/A</c:v>
                </c:pt>
                <c:pt idx="4984">
                  <c:v>#N/A</c:v>
                </c:pt>
                <c:pt idx="4985">
                  <c:v>#N/A</c:v>
                </c:pt>
                <c:pt idx="4986">
                  <c:v>#N/A</c:v>
                </c:pt>
                <c:pt idx="4987">
                  <c:v>#N/A</c:v>
                </c:pt>
                <c:pt idx="4988">
                  <c:v>#N/A</c:v>
                </c:pt>
                <c:pt idx="4989">
                  <c:v>#N/A</c:v>
                </c:pt>
                <c:pt idx="4990">
                  <c:v>#N/A</c:v>
                </c:pt>
                <c:pt idx="4991">
                  <c:v>#N/A</c:v>
                </c:pt>
                <c:pt idx="4992">
                  <c:v>#N/A</c:v>
                </c:pt>
                <c:pt idx="4993">
                  <c:v>#N/A</c:v>
                </c:pt>
                <c:pt idx="4994">
                  <c:v>#N/A</c:v>
                </c:pt>
                <c:pt idx="4995">
                  <c:v>#N/A</c:v>
                </c:pt>
                <c:pt idx="4996">
                  <c:v>#N/A</c:v>
                </c:pt>
                <c:pt idx="4997">
                  <c:v>#N/A</c:v>
                </c:pt>
                <c:pt idx="4998">
                  <c:v>#N/A</c:v>
                </c:pt>
                <c:pt idx="4999">
                  <c:v>#N/A</c:v>
                </c:pt>
                <c:pt idx="5000">
                  <c:v>#N/A</c:v>
                </c:pt>
                <c:pt idx="5001">
                  <c:v>#N/A</c:v>
                </c:pt>
                <c:pt idx="5002">
                  <c:v>#N/A</c:v>
                </c:pt>
                <c:pt idx="5003">
                  <c:v>#N/A</c:v>
                </c:pt>
                <c:pt idx="5004">
                  <c:v>#N/A</c:v>
                </c:pt>
                <c:pt idx="5005">
                  <c:v>#N/A</c:v>
                </c:pt>
                <c:pt idx="5006">
                  <c:v>#N/A</c:v>
                </c:pt>
                <c:pt idx="5007">
                  <c:v>#N/A</c:v>
                </c:pt>
                <c:pt idx="5008">
                  <c:v>#N/A</c:v>
                </c:pt>
                <c:pt idx="5009">
                  <c:v>#N/A</c:v>
                </c:pt>
                <c:pt idx="5010">
                  <c:v>#N/A</c:v>
                </c:pt>
                <c:pt idx="5011">
                  <c:v>#N/A</c:v>
                </c:pt>
                <c:pt idx="5012">
                  <c:v>#N/A</c:v>
                </c:pt>
                <c:pt idx="5013">
                  <c:v>#N/A</c:v>
                </c:pt>
                <c:pt idx="5014">
                  <c:v>#N/A</c:v>
                </c:pt>
                <c:pt idx="5015">
                  <c:v>#N/A</c:v>
                </c:pt>
                <c:pt idx="5016">
                  <c:v>#N/A</c:v>
                </c:pt>
                <c:pt idx="5017">
                  <c:v>#N/A</c:v>
                </c:pt>
                <c:pt idx="5018">
                  <c:v>#N/A</c:v>
                </c:pt>
                <c:pt idx="5019">
                  <c:v>#N/A</c:v>
                </c:pt>
                <c:pt idx="5020">
                  <c:v>#N/A</c:v>
                </c:pt>
                <c:pt idx="5021">
                  <c:v>#N/A</c:v>
                </c:pt>
                <c:pt idx="5022">
                  <c:v>#N/A</c:v>
                </c:pt>
                <c:pt idx="5023">
                  <c:v>#N/A</c:v>
                </c:pt>
                <c:pt idx="5024">
                  <c:v>#N/A</c:v>
                </c:pt>
                <c:pt idx="5025">
                  <c:v>#N/A</c:v>
                </c:pt>
                <c:pt idx="5026">
                  <c:v>#N/A</c:v>
                </c:pt>
                <c:pt idx="5027">
                  <c:v>#N/A</c:v>
                </c:pt>
                <c:pt idx="5028">
                  <c:v>#N/A</c:v>
                </c:pt>
                <c:pt idx="5029">
                  <c:v>#N/A</c:v>
                </c:pt>
                <c:pt idx="5030">
                  <c:v>#N/A</c:v>
                </c:pt>
                <c:pt idx="5031">
                  <c:v>#N/A</c:v>
                </c:pt>
                <c:pt idx="5032">
                  <c:v>#N/A</c:v>
                </c:pt>
                <c:pt idx="5033">
                  <c:v>#N/A</c:v>
                </c:pt>
                <c:pt idx="5034">
                  <c:v>#N/A</c:v>
                </c:pt>
                <c:pt idx="5035">
                  <c:v>#N/A</c:v>
                </c:pt>
                <c:pt idx="5036">
                  <c:v>#N/A</c:v>
                </c:pt>
                <c:pt idx="5037">
                  <c:v>#N/A</c:v>
                </c:pt>
                <c:pt idx="5038">
                  <c:v>#N/A</c:v>
                </c:pt>
                <c:pt idx="5039">
                  <c:v>#N/A</c:v>
                </c:pt>
                <c:pt idx="5040">
                  <c:v>#N/A</c:v>
                </c:pt>
                <c:pt idx="5041">
                  <c:v>#N/A</c:v>
                </c:pt>
                <c:pt idx="5042">
                  <c:v>#N/A</c:v>
                </c:pt>
                <c:pt idx="5043">
                  <c:v>#N/A</c:v>
                </c:pt>
                <c:pt idx="5044">
                  <c:v>#N/A</c:v>
                </c:pt>
                <c:pt idx="5045">
                  <c:v>#N/A</c:v>
                </c:pt>
                <c:pt idx="5046">
                  <c:v>#N/A</c:v>
                </c:pt>
                <c:pt idx="5047">
                  <c:v>#N/A</c:v>
                </c:pt>
                <c:pt idx="5048">
                  <c:v>#N/A</c:v>
                </c:pt>
                <c:pt idx="5049">
                  <c:v>#N/A</c:v>
                </c:pt>
                <c:pt idx="5050">
                  <c:v>#N/A</c:v>
                </c:pt>
                <c:pt idx="5051">
                  <c:v>#N/A</c:v>
                </c:pt>
                <c:pt idx="5052">
                  <c:v>#N/A</c:v>
                </c:pt>
                <c:pt idx="5053">
                  <c:v>#N/A</c:v>
                </c:pt>
                <c:pt idx="5054">
                  <c:v>#N/A</c:v>
                </c:pt>
                <c:pt idx="5055">
                  <c:v>#N/A</c:v>
                </c:pt>
                <c:pt idx="5056">
                  <c:v>#N/A</c:v>
                </c:pt>
                <c:pt idx="5057">
                  <c:v>#N/A</c:v>
                </c:pt>
                <c:pt idx="5058">
                  <c:v>#N/A</c:v>
                </c:pt>
                <c:pt idx="5059">
                  <c:v>#N/A</c:v>
                </c:pt>
                <c:pt idx="5060">
                  <c:v>#N/A</c:v>
                </c:pt>
                <c:pt idx="5061">
                  <c:v>#N/A</c:v>
                </c:pt>
                <c:pt idx="5062">
                  <c:v>#N/A</c:v>
                </c:pt>
                <c:pt idx="5063">
                  <c:v>#N/A</c:v>
                </c:pt>
                <c:pt idx="5064">
                  <c:v>#N/A</c:v>
                </c:pt>
                <c:pt idx="5065">
                  <c:v>#N/A</c:v>
                </c:pt>
                <c:pt idx="5066">
                  <c:v>#N/A</c:v>
                </c:pt>
                <c:pt idx="5067">
                  <c:v>#N/A</c:v>
                </c:pt>
                <c:pt idx="5068">
                  <c:v>#N/A</c:v>
                </c:pt>
                <c:pt idx="5069">
                  <c:v>#N/A</c:v>
                </c:pt>
                <c:pt idx="5070">
                  <c:v>#N/A</c:v>
                </c:pt>
                <c:pt idx="5071">
                  <c:v>#N/A</c:v>
                </c:pt>
                <c:pt idx="5072">
                  <c:v>#N/A</c:v>
                </c:pt>
                <c:pt idx="5073">
                  <c:v>#N/A</c:v>
                </c:pt>
                <c:pt idx="5074">
                  <c:v>#N/A</c:v>
                </c:pt>
                <c:pt idx="5075">
                  <c:v>#N/A</c:v>
                </c:pt>
                <c:pt idx="5076">
                  <c:v>#N/A</c:v>
                </c:pt>
                <c:pt idx="5077">
                  <c:v>#N/A</c:v>
                </c:pt>
                <c:pt idx="5078">
                  <c:v>#N/A</c:v>
                </c:pt>
                <c:pt idx="5079">
                  <c:v>#N/A</c:v>
                </c:pt>
                <c:pt idx="5080">
                  <c:v>#N/A</c:v>
                </c:pt>
                <c:pt idx="5081">
                  <c:v>#N/A</c:v>
                </c:pt>
                <c:pt idx="5082">
                  <c:v>#N/A</c:v>
                </c:pt>
                <c:pt idx="5083">
                  <c:v>#N/A</c:v>
                </c:pt>
                <c:pt idx="5084">
                  <c:v>#N/A</c:v>
                </c:pt>
                <c:pt idx="5085">
                  <c:v>#N/A</c:v>
                </c:pt>
                <c:pt idx="5086">
                  <c:v>#N/A</c:v>
                </c:pt>
                <c:pt idx="5087">
                  <c:v>#N/A</c:v>
                </c:pt>
                <c:pt idx="5088">
                  <c:v>#N/A</c:v>
                </c:pt>
                <c:pt idx="5089">
                  <c:v>#N/A</c:v>
                </c:pt>
                <c:pt idx="5090">
                  <c:v>#N/A</c:v>
                </c:pt>
                <c:pt idx="5091">
                  <c:v>#N/A</c:v>
                </c:pt>
                <c:pt idx="5092">
                  <c:v>#N/A</c:v>
                </c:pt>
                <c:pt idx="5093">
                  <c:v>#N/A</c:v>
                </c:pt>
                <c:pt idx="5094">
                  <c:v>#N/A</c:v>
                </c:pt>
                <c:pt idx="5095">
                  <c:v>#N/A</c:v>
                </c:pt>
                <c:pt idx="5096">
                  <c:v>#N/A</c:v>
                </c:pt>
                <c:pt idx="5097">
                  <c:v>#N/A</c:v>
                </c:pt>
                <c:pt idx="5098">
                  <c:v>#N/A</c:v>
                </c:pt>
                <c:pt idx="5099">
                  <c:v>#N/A</c:v>
                </c:pt>
                <c:pt idx="5100">
                  <c:v>#N/A</c:v>
                </c:pt>
                <c:pt idx="5101">
                  <c:v>#N/A</c:v>
                </c:pt>
                <c:pt idx="5102">
                  <c:v>#N/A</c:v>
                </c:pt>
                <c:pt idx="5103">
                  <c:v>#N/A</c:v>
                </c:pt>
                <c:pt idx="5104">
                  <c:v>#N/A</c:v>
                </c:pt>
                <c:pt idx="5105">
                  <c:v>#N/A</c:v>
                </c:pt>
                <c:pt idx="5106">
                  <c:v>#N/A</c:v>
                </c:pt>
                <c:pt idx="5107">
                  <c:v>#N/A</c:v>
                </c:pt>
                <c:pt idx="5108">
                  <c:v>#N/A</c:v>
                </c:pt>
                <c:pt idx="5109">
                  <c:v>#N/A</c:v>
                </c:pt>
                <c:pt idx="5110">
                  <c:v>#N/A</c:v>
                </c:pt>
                <c:pt idx="5111">
                  <c:v>#N/A</c:v>
                </c:pt>
                <c:pt idx="5112">
                  <c:v>#N/A</c:v>
                </c:pt>
                <c:pt idx="5113">
                  <c:v>#N/A</c:v>
                </c:pt>
                <c:pt idx="5114">
                  <c:v>#N/A</c:v>
                </c:pt>
                <c:pt idx="5115">
                  <c:v>#N/A</c:v>
                </c:pt>
                <c:pt idx="5116">
                  <c:v>#N/A</c:v>
                </c:pt>
                <c:pt idx="5117">
                  <c:v>#N/A</c:v>
                </c:pt>
                <c:pt idx="5118">
                  <c:v>#N/A</c:v>
                </c:pt>
                <c:pt idx="5119">
                  <c:v>#N/A</c:v>
                </c:pt>
                <c:pt idx="5120">
                  <c:v>#N/A</c:v>
                </c:pt>
                <c:pt idx="5121">
                  <c:v>#N/A</c:v>
                </c:pt>
                <c:pt idx="5122">
                  <c:v>#N/A</c:v>
                </c:pt>
                <c:pt idx="5123">
                  <c:v>#N/A</c:v>
                </c:pt>
                <c:pt idx="5124">
                  <c:v>#N/A</c:v>
                </c:pt>
                <c:pt idx="5125">
                  <c:v>#N/A</c:v>
                </c:pt>
                <c:pt idx="5126">
                  <c:v>#N/A</c:v>
                </c:pt>
                <c:pt idx="5127">
                  <c:v>#N/A</c:v>
                </c:pt>
                <c:pt idx="5128">
                  <c:v>#N/A</c:v>
                </c:pt>
                <c:pt idx="5129">
                  <c:v>#N/A</c:v>
                </c:pt>
                <c:pt idx="5130">
                  <c:v>#N/A</c:v>
                </c:pt>
                <c:pt idx="5131">
                  <c:v>#N/A</c:v>
                </c:pt>
                <c:pt idx="5132">
                  <c:v>#N/A</c:v>
                </c:pt>
                <c:pt idx="5133">
                  <c:v>#N/A</c:v>
                </c:pt>
                <c:pt idx="5134">
                  <c:v>#N/A</c:v>
                </c:pt>
                <c:pt idx="5135">
                  <c:v>#N/A</c:v>
                </c:pt>
                <c:pt idx="5136">
                  <c:v>#N/A</c:v>
                </c:pt>
                <c:pt idx="5137">
                  <c:v>#N/A</c:v>
                </c:pt>
                <c:pt idx="5138">
                  <c:v>#N/A</c:v>
                </c:pt>
                <c:pt idx="5139">
                  <c:v>#N/A</c:v>
                </c:pt>
                <c:pt idx="5140">
                  <c:v>#N/A</c:v>
                </c:pt>
                <c:pt idx="5141">
                  <c:v>#N/A</c:v>
                </c:pt>
                <c:pt idx="5142">
                  <c:v>#N/A</c:v>
                </c:pt>
                <c:pt idx="5143">
                  <c:v>#N/A</c:v>
                </c:pt>
                <c:pt idx="5144">
                  <c:v>#N/A</c:v>
                </c:pt>
                <c:pt idx="5145">
                  <c:v>#N/A</c:v>
                </c:pt>
                <c:pt idx="5146">
                  <c:v>#N/A</c:v>
                </c:pt>
                <c:pt idx="5147">
                  <c:v>#N/A</c:v>
                </c:pt>
                <c:pt idx="5148">
                  <c:v>#N/A</c:v>
                </c:pt>
                <c:pt idx="5149">
                  <c:v>#N/A</c:v>
                </c:pt>
                <c:pt idx="5150">
                  <c:v>#N/A</c:v>
                </c:pt>
                <c:pt idx="5151">
                  <c:v>#N/A</c:v>
                </c:pt>
                <c:pt idx="5152">
                  <c:v>#N/A</c:v>
                </c:pt>
                <c:pt idx="5153">
                  <c:v>#N/A</c:v>
                </c:pt>
                <c:pt idx="5154">
                  <c:v>#N/A</c:v>
                </c:pt>
                <c:pt idx="5155">
                  <c:v>#N/A</c:v>
                </c:pt>
                <c:pt idx="5156">
                  <c:v>#N/A</c:v>
                </c:pt>
                <c:pt idx="5157">
                  <c:v>#N/A</c:v>
                </c:pt>
                <c:pt idx="5158">
                  <c:v>#N/A</c:v>
                </c:pt>
                <c:pt idx="5159">
                  <c:v>#N/A</c:v>
                </c:pt>
                <c:pt idx="5160">
                  <c:v>#N/A</c:v>
                </c:pt>
                <c:pt idx="5161">
                  <c:v>#N/A</c:v>
                </c:pt>
                <c:pt idx="5162">
                  <c:v>#N/A</c:v>
                </c:pt>
                <c:pt idx="5163">
                  <c:v>#N/A</c:v>
                </c:pt>
                <c:pt idx="5164">
                  <c:v>#N/A</c:v>
                </c:pt>
                <c:pt idx="5165">
                  <c:v>#N/A</c:v>
                </c:pt>
                <c:pt idx="5166">
                  <c:v>#N/A</c:v>
                </c:pt>
                <c:pt idx="5167">
                  <c:v>#N/A</c:v>
                </c:pt>
                <c:pt idx="5168">
                  <c:v>#N/A</c:v>
                </c:pt>
                <c:pt idx="5169">
                  <c:v>#N/A</c:v>
                </c:pt>
                <c:pt idx="5170">
                  <c:v>#N/A</c:v>
                </c:pt>
                <c:pt idx="5171">
                  <c:v>#N/A</c:v>
                </c:pt>
                <c:pt idx="5172">
                  <c:v>#N/A</c:v>
                </c:pt>
                <c:pt idx="5173">
                  <c:v>#N/A</c:v>
                </c:pt>
                <c:pt idx="5174">
                  <c:v>#N/A</c:v>
                </c:pt>
                <c:pt idx="5175">
                  <c:v>#N/A</c:v>
                </c:pt>
                <c:pt idx="5176">
                  <c:v>#N/A</c:v>
                </c:pt>
                <c:pt idx="5177">
                  <c:v>#N/A</c:v>
                </c:pt>
                <c:pt idx="5178">
                  <c:v>#N/A</c:v>
                </c:pt>
                <c:pt idx="5179">
                  <c:v>#N/A</c:v>
                </c:pt>
                <c:pt idx="5180">
                  <c:v>#N/A</c:v>
                </c:pt>
                <c:pt idx="5181">
                  <c:v>#N/A</c:v>
                </c:pt>
                <c:pt idx="5182">
                  <c:v>#N/A</c:v>
                </c:pt>
                <c:pt idx="5183">
                  <c:v>#N/A</c:v>
                </c:pt>
                <c:pt idx="5184">
                  <c:v>#N/A</c:v>
                </c:pt>
                <c:pt idx="5185">
                  <c:v>#N/A</c:v>
                </c:pt>
                <c:pt idx="5186">
                  <c:v>#N/A</c:v>
                </c:pt>
                <c:pt idx="5187">
                  <c:v>#N/A</c:v>
                </c:pt>
                <c:pt idx="5188">
                  <c:v>#N/A</c:v>
                </c:pt>
                <c:pt idx="5189">
                  <c:v>#N/A</c:v>
                </c:pt>
                <c:pt idx="5190">
                  <c:v>#N/A</c:v>
                </c:pt>
                <c:pt idx="5191">
                  <c:v>#N/A</c:v>
                </c:pt>
                <c:pt idx="5192">
                  <c:v>#N/A</c:v>
                </c:pt>
                <c:pt idx="5193">
                  <c:v>#N/A</c:v>
                </c:pt>
                <c:pt idx="5194">
                  <c:v>#N/A</c:v>
                </c:pt>
                <c:pt idx="5195">
                  <c:v>#N/A</c:v>
                </c:pt>
                <c:pt idx="5196">
                  <c:v>#N/A</c:v>
                </c:pt>
                <c:pt idx="5197">
                  <c:v>#N/A</c:v>
                </c:pt>
                <c:pt idx="5198">
                  <c:v>#N/A</c:v>
                </c:pt>
                <c:pt idx="5199">
                  <c:v>#N/A</c:v>
                </c:pt>
                <c:pt idx="5200">
                  <c:v>#N/A</c:v>
                </c:pt>
                <c:pt idx="5201">
                  <c:v>#N/A</c:v>
                </c:pt>
                <c:pt idx="5202">
                  <c:v>#N/A</c:v>
                </c:pt>
                <c:pt idx="5203">
                  <c:v>#N/A</c:v>
                </c:pt>
                <c:pt idx="5204">
                  <c:v>#N/A</c:v>
                </c:pt>
                <c:pt idx="5205">
                  <c:v>#N/A</c:v>
                </c:pt>
                <c:pt idx="5206">
                  <c:v>#N/A</c:v>
                </c:pt>
                <c:pt idx="5207">
                  <c:v>#N/A</c:v>
                </c:pt>
                <c:pt idx="5208">
                  <c:v>#N/A</c:v>
                </c:pt>
                <c:pt idx="5209">
                  <c:v>#N/A</c:v>
                </c:pt>
                <c:pt idx="5210">
                  <c:v>#N/A</c:v>
                </c:pt>
                <c:pt idx="5211">
                  <c:v>#N/A</c:v>
                </c:pt>
                <c:pt idx="5212">
                  <c:v>#N/A</c:v>
                </c:pt>
                <c:pt idx="5213">
                  <c:v>#N/A</c:v>
                </c:pt>
                <c:pt idx="5214">
                  <c:v>#N/A</c:v>
                </c:pt>
                <c:pt idx="5215">
                  <c:v>#N/A</c:v>
                </c:pt>
                <c:pt idx="5216">
                  <c:v>#N/A</c:v>
                </c:pt>
                <c:pt idx="5217">
                  <c:v>#N/A</c:v>
                </c:pt>
                <c:pt idx="5218">
                  <c:v>#N/A</c:v>
                </c:pt>
                <c:pt idx="5219">
                  <c:v>#N/A</c:v>
                </c:pt>
                <c:pt idx="5220">
                  <c:v>#N/A</c:v>
                </c:pt>
                <c:pt idx="5221">
                  <c:v>#N/A</c:v>
                </c:pt>
                <c:pt idx="5222">
                  <c:v>#N/A</c:v>
                </c:pt>
                <c:pt idx="5223">
                  <c:v>#N/A</c:v>
                </c:pt>
                <c:pt idx="5224">
                  <c:v>#N/A</c:v>
                </c:pt>
                <c:pt idx="5225">
                  <c:v>#N/A</c:v>
                </c:pt>
                <c:pt idx="5226">
                  <c:v>#N/A</c:v>
                </c:pt>
                <c:pt idx="5227">
                  <c:v>#N/A</c:v>
                </c:pt>
                <c:pt idx="5228">
                  <c:v>#N/A</c:v>
                </c:pt>
                <c:pt idx="5229">
                  <c:v>#N/A</c:v>
                </c:pt>
                <c:pt idx="5230">
                  <c:v>#N/A</c:v>
                </c:pt>
                <c:pt idx="5231">
                  <c:v>#N/A</c:v>
                </c:pt>
                <c:pt idx="5232">
                  <c:v>#N/A</c:v>
                </c:pt>
                <c:pt idx="5233">
                  <c:v>#N/A</c:v>
                </c:pt>
                <c:pt idx="5234">
                  <c:v>#N/A</c:v>
                </c:pt>
                <c:pt idx="5235">
                  <c:v>#N/A</c:v>
                </c:pt>
                <c:pt idx="5236">
                  <c:v>#N/A</c:v>
                </c:pt>
                <c:pt idx="5237">
                  <c:v>#N/A</c:v>
                </c:pt>
                <c:pt idx="5238">
                  <c:v>#N/A</c:v>
                </c:pt>
                <c:pt idx="5239">
                  <c:v>#N/A</c:v>
                </c:pt>
                <c:pt idx="5240">
                  <c:v>#N/A</c:v>
                </c:pt>
                <c:pt idx="5241">
                  <c:v>#N/A</c:v>
                </c:pt>
                <c:pt idx="5242">
                  <c:v>#N/A</c:v>
                </c:pt>
                <c:pt idx="5243">
                  <c:v>#N/A</c:v>
                </c:pt>
                <c:pt idx="5244">
                  <c:v>#N/A</c:v>
                </c:pt>
                <c:pt idx="5245">
                  <c:v>#N/A</c:v>
                </c:pt>
                <c:pt idx="5246">
                  <c:v>#N/A</c:v>
                </c:pt>
                <c:pt idx="5247">
                  <c:v>#N/A</c:v>
                </c:pt>
                <c:pt idx="5248">
                  <c:v>#N/A</c:v>
                </c:pt>
                <c:pt idx="5249">
                  <c:v>#N/A</c:v>
                </c:pt>
                <c:pt idx="5250">
                  <c:v>#N/A</c:v>
                </c:pt>
                <c:pt idx="5251">
                  <c:v>#N/A</c:v>
                </c:pt>
                <c:pt idx="5252">
                  <c:v>#N/A</c:v>
                </c:pt>
                <c:pt idx="5253">
                  <c:v>#N/A</c:v>
                </c:pt>
                <c:pt idx="5254">
                  <c:v>#N/A</c:v>
                </c:pt>
                <c:pt idx="5255">
                  <c:v>#N/A</c:v>
                </c:pt>
                <c:pt idx="5256">
                  <c:v>#N/A</c:v>
                </c:pt>
                <c:pt idx="5257">
                  <c:v>#N/A</c:v>
                </c:pt>
                <c:pt idx="5258">
                  <c:v>#N/A</c:v>
                </c:pt>
                <c:pt idx="5259">
                  <c:v>#N/A</c:v>
                </c:pt>
                <c:pt idx="5260">
                  <c:v>#N/A</c:v>
                </c:pt>
                <c:pt idx="5261">
                  <c:v>#N/A</c:v>
                </c:pt>
                <c:pt idx="5262">
                  <c:v>#N/A</c:v>
                </c:pt>
                <c:pt idx="5263">
                  <c:v>#N/A</c:v>
                </c:pt>
                <c:pt idx="5264">
                  <c:v>#N/A</c:v>
                </c:pt>
                <c:pt idx="5265">
                  <c:v>#N/A</c:v>
                </c:pt>
                <c:pt idx="5266">
                  <c:v>#N/A</c:v>
                </c:pt>
                <c:pt idx="5267">
                  <c:v>#N/A</c:v>
                </c:pt>
                <c:pt idx="5268">
                  <c:v>#N/A</c:v>
                </c:pt>
                <c:pt idx="5269">
                  <c:v>#N/A</c:v>
                </c:pt>
                <c:pt idx="5270">
                  <c:v>#N/A</c:v>
                </c:pt>
                <c:pt idx="5271">
                  <c:v>#N/A</c:v>
                </c:pt>
                <c:pt idx="5272">
                  <c:v>#N/A</c:v>
                </c:pt>
                <c:pt idx="5273">
                  <c:v>#N/A</c:v>
                </c:pt>
                <c:pt idx="5274">
                  <c:v>#N/A</c:v>
                </c:pt>
                <c:pt idx="5275">
                  <c:v>#N/A</c:v>
                </c:pt>
                <c:pt idx="5276">
                  <c:v>#N/A</c:v>
                </c:pt>
                <c:pt idx="5277">
                  <c:v>#N/A</c:v>
                </c:pt>
                <c:pt idx="5278">
                  <c:v>#N/A</c:v>
                </c:pt>
                <c:pt idx="5279">
                  <c:v>#N/A</c:v>
                </c:pt>
                <c:pt idx="5280">
                  <c:v>#N/A</c:v>
                </c:pt>
                <c:pt idx="5281">
                  <c:v>#N/A</c:v>
                </c:pt>
                <c:pt idx="5282">
                  <c:v>#N/A</c:v>
                </c:pt>
                <c:pt idx="5283">
                  <c:v>#N/A</c:v>
                </c:pt>
                <c:pt idx="5284">
                  <c:v>#N/A</c:v>
                </c:pt>
                <c:pt idx="5285">
                  <c:v>#N/A</c:v>
                </c:pt>
                <c:pt idx="5286">
                  <c:v>#N/A</c:v>
                </c:pt>
                <c:pt idx="5287">
                  <c:v>#N/A</c:v>
                </c:pt>
                <c:pt idx="5288">
                  <c:v>#N/A</c:v>
                </c:pt>
                <c:pt idx="5289">
                  <c:v>#N/A</c:v>
                </c:pt>
                <c:pt idx="5290">
                  <c:v>#N/A</c:v>
                </c:pt>
                <c:pt idx="5291">
                  <c:v>#N/A</c:v>
                </c:pt>
                <c:pt idx="5292">
                  <c:v>#N/A</c:v>
                </c:pt>
                <c:pt idx="5293">
                  <c:v>#N/A</c:v>
                </c:pt>
                <c:pt idx="5294">
                  <c:v>#N/A</c:v>
                </c:pt>
                <c:pt idx="5295">
                  <c:v>#N/A</c:v>
                </c:pt>
                <c:pt idx="5296">
                  <c:v>#N/A</c:v>
                </c:pt>
                <c:pt idx="5297">
                  <c:v>#N/A</c:v>
                </c:pt>
                <c:pt idx="5298">
                  <c:v>#N/A</c:v>
                </c:pt>
                <c:pt idx="5299">
                  <c:v>#N/A</c:v>
                </c:pt>
                <c:pt idx="5300">
                  <c:v>#N/A</c:v>
                </c:pt>
                <c:pt idx="5301">
                  <c:v>#N/A</c:v>
                </c:pt>
                <c:pt idx="5302">
                  <c:v>#N/A</c:v>
                </c:pt>
                <c:pt idx="5303">
                  <c:v>#N/A</c:v>
                </c:pt>
                <c:pt idx="5304">
                  <c:v>#N/A</c:v>
                </c:pt>
                <c:pt idx="5305">
                  <c:v>#N/A</c:v>
                </c:pt>
                <c:pt idx="5306">
                  <c:v>#N/A</c:v>
                </c:pt>
                <c:pt idx="5307">
                  <c:v>#N/A</c:v>
                </c:pt>
                <c:pt idx="5308">
                  <c:v>#N/A</c:v>
                </c:pt>
                <c:pt idx="5309">
                  <c:v>#N/A</c:v>
                </c:pt>
                <c:pt idx="5310">
                  <c:v>#N/A</c:v>
                </c:pt>
                <c:pt idx="5311">
                  <c:v>#N/A</c:v>
                </c:pt>
                <c:pt idx="5312">
                  <c:v>#N/A</c:v>
                </c:pt>
                <c:pt idx="5313">
                  <c:v>#N/A</c:v>
                </c:pt>
                <c:pt idx="5314">
                  <c:v>#N/A</c:v>
                </c:pt>
                <c:pt idx="5315">
                  <c:v>#N/A</c:v>
                </c:pt>
                <c:pt idx="5316">
                  <c:v>#N/A</c:v>
                </c:pt>
                <c:pt idx="5317">
                  <c:v>#N/A</c:v>
                </c:pt>
                <c:pt idx="5318">
                  <c:v>#N/A</c:v>
                </c:pt>
                <c:pt idx="5319">
                  <c:v>#N/A</c:v>
                </c:pt>
                <c:pt idx="5320">
                  <c:v>#N/A</c:v>
                </c:pt>
                <c:pt idx="5321">
                  <c:v>#N/A</c:v>
                </c:pt>
                <c:pt idx="5322">
                  <c:v>#N/A</c:v>
                </c:pt>
                <c:pt idx="5323">
                  <c:v>#N/A</c:v>
                </c:pt>
                <c:pt idx="5324">
                  <c:v>#N/A</c:v>
                </c:pt>
                <c:pt idx="5325">
                  <c:v>#N/A</c:v>
                </c:pt>
                <c:pt idx="5326">
                  <c:v>#N/A</c:v>
                </c:pt>
                <c:pt idx="5327">
                  <c:v>#N/A</c:v>
                </c:pt>
                <c:pt idx="5328">
                  <c:v>#N/A</c:v>
                </c:pt>
                <c:pt idx="5329">
                  <c:v>#N/A</c:v>
                </c:pt>
                <c:pt idx="5330">
                  <c:v>#N/A</c:v>
                </c:pt>
                <c:pt idx="5331">
                  <c:v>#N/A</c:v>
                </c:pt>
                <c:pt idx="5332">
                  <c:v>#N/A</c:v>
                </c:pt>
                <c:pt idx="5333">
                  <c:v>#N/A</c:v>
                </c:pt>
                <c:pt idx="5334">
                  <c:v>#N/A</c:v>
                </c:pt>
                <c:pt idx="5335">
                  <c:v>#N/A</c:v>
                </c:pt>
                <c:pt idx="5336">
                  <c:v>#N/A</c:v>
                </c:pt>
                <c:pt idx="5337">
                  <c:v>#N/A</c:v>
                </c:pt>
                <c:pt idx="5338">
                  <c:v>#N/A</c:v>
                </c:pt>
                <c:pt idx="5339">
                  <c:v>#N/A</c:v>
                </c:pt>
                <c:pt idx="5340">
                  <c:v>#N/A</c:v>
                </c:pt>
                <c:pt idx="5341">
                  <c:v>#N/A</c:v>
                </c:pt>
                <c:pt idx="5342">
                  <c:v>#N/A</c:v>
                </c:pt>
                <c:pt idx="5343">
                  <c:v>#N/A</c:v>
                </c:pt>
                <c:pt idx="5344">
                  <c:v>#N/A</c:v>
                </c:pt>
                <c:pt idx="5345">
                  <c:v>#N/A</c:v>
                </c:pt>
                <c:pt idx="5346">
                  <c:v>#N/A</c:v>
                </c:pt>
                <c:pt idx="5347">
                  <c:v>#N/A</c:v>
                </c:pt>
                <c:pt idx="5348">
                  <c:v>#N/A</c:v>
                </c:pt>
                <c:pt idx="5349">
                  <c:v>#N/A</c:v>
                </c:pt>
                <c:pt idx="5350">
                  <c:v>#N/A</c:v>
                </c:pt>
                <c:pt idx="5351">
                  <c:v>#N/A</c:v>
                </c:pt>
                <c:pt idx="5352">
                  <c:v>#N/A</c:v>
                </c:pt>
                <c:pt idx="5353">
                  <c:v>#N/A</c:v>
                </c:pt>
                <c:pt idx="5354">
                  <c:v>#N/A</c:v>
                </c:pt>
                <c:pt idx="5355">
                  <c:v>#N/A</c:v>
                </c:pt>
                <c:pt idx="5356">
                  <c:v>#N/A</c:v>
                </c:pt>
                <c:pt idx="5357">
                  <c:v>#N/A</c:v>
                </c:pt>
                <c:pt idx="5358">
                  <c:v>#N/A</c:v>
                </c:pt>
                <c:pt idx="5359">
                  <c:v>#N/A</c:v>
                </c:pt>
                <c:pt idx="5360">
                  <c:v>#N/A</c:v>
                </c:pt>
                <c:pt idx="5361">
                  <c:v>#N/A</c:v>
                </c:pt>
                <c:pt idx="5362">
                  <c:v>#N/A</c:v>
                </c:pt>
                <c:pt idx="5363">
                  <c:v>#N/A</c:v>
                </c:pt>
                <c:pt idx="5364">
                  <c:v>#N/A</c:v>
                </c:pt>
                <c:pt idx="5365">
                  <c:v>#N/A</c:v>
                </c:pt>
                <c:pt idx="5366">
                  <c:v>#N/A</c:v>
                </c:pt>
                <c:pt idx="5367">
                  <c:v>#N/A</c:v>
                </c:pt>
                <c:pt idx="5368">
                  <c:v>#N/A</c:v>
                </c:pt>
                <c:pt idx="5369">
                  <c:v>#N/A</c:v>
                </c:pt>
                <c:pt idx="5370">
                  <c:v>#N/A</c:v>
                </c:pt>
                <c:pt idx="5371">
                  <c:v>#N/A</c:v>
                </c:pt>
                <c:pt idx="5372">
                  <c:v>#N/A</c:v>
                </c:pt>
                <c:pt idx="5373">
                  <c:v>#N/A</c:v>
                </c:pt>
                <c:pt idx="5374">
                  <c:v>#N/A</c:v>
                </c:pt>
                <c:pt idx="5375">
                  <c:v>#N/A</c:v>
                </c:pt>
                <c:pt idx="5376">
                  <c:v>#N/A</c:v>
                </c:pt>
                <c:pt idx="5377">
                  <c:v>#N/A</c:v>
                </c:pt>
                <c:pt idx="5378">
                  <c:v>#N/A</c:v>
                </c:pt>
                <c:pt idx="5379">
                  <c:v>#N/A</c:v>
                </c:pt>
                <c:pt idx="5380">
                  <c:v>#N/A</c:v>
                </c:pt>
                <c:pt idx="5381">
                  <c:v>#N/A</c:v>
                </c:pt>
                <c:pt idx="5382">
                  <c:v>#N/A</c:v>
                </c:pt>
                <c:pt idx="5383">
                  <c:v>#N/A</c:v>
                </c:pt>
                <c:pt idx="5384">
                  <c:v>#N/A</c:v>
                </c:pt>
                <c:pt idx="5385">
                  <c:v>#N/A</c:v>
                </c:pt>
                <c:pt idx="5386">
                  <c:v>#N/A</c:v>
                </c:pt>
                <c:pt idx="5387">
                  <c:v>#N/A</c:v>
                </c:pt>
                <c:pt idx="5388">
                  <c:v>#N/A</c:v>
                </c:pt>
                <c:pt idx="5389">
                  <c:v>#N/A</c:v>
                </c:pt>
                <c:pt idx="5390">
                  <c:v>#N/A</c:v>
                </c:pt>
                <c:pt idx="5391">
                  <c:v>#N/A</c:v>
                </c:pt>
                <c:pt idx="5392">
                  <c:v>#N/A</c:v>
                </c:pt>
                <c:pt idx="5393">
                  <c:v>#N/A</c:v>
                </c:pt>
                <c:pt idx="5394">
                  <c:v>#N/A</c:v>
                </c:pt>
                <c:pt idx="5395">
                  <c:v>#N/A</c:v>
                </c:pt>
                <c:pt idx="5396">
                  <c:v>#N/A</c:v>
                </c:pt>
                <c:pt idx="5397">
                  <c:v>#N/A</c:v>
                </c:pt>
                <c:pt idx="5398">
                  <c:v>#N/A</c:v>
                </c:pt>
                <c:pt idx="5399">
                  <c:v>#N/A</c:v>
                </c:pt>
                <c:pt idx="5400">
                  <c:v>#N/A</c:v>
                </c:pt>
                <c:pt idx="5401">
                  <c:v>#N/A</c:v>
                </c:pt>
                <c:pt idx="5402">
                  <c:v>#N/A</c:v>
                </c:pt>
                <c:pt idx="5403">
                  <c:v>#N/A</c:v>
                </c:pt>
                <c:pt idx="5404">
                  <c:v>#N/A</c:v>
                </c:pt>
                <c:pt idx="5405">
                  <c:v>#N/A</c:v>
                </c:pt>
                <c:pt idx="5406">
                  <c:v>#N/A</c:v>
                </c:pt>
                <c:pt idx="5407">
                  <c:v>#N/A</c:v>
                </c:pt>
                <c:pt idx="5408">
                  <c:v>#N/A</c:v>
                </c:pt>
                <c:pt idx="5409">
                  <c:v>#N/A</c:v>
                </c:pt>
                <c:pt idx="5410">
                  <c:v>#N/A</c:v>
                </c:pt>
                <c:pt idx="5411">
                  <c:v>#N/A</c:v>
                </c:pt>
                <c:pt idx="5412">
                  <c:v>#N/A</c:v>
                </c:pt>
                <c:pt idx="5413">
                  <c:v>#N/A</c:v>
                </c:pt>
                <c:pt idx="5414">
                  <c:v>#N/A</c:v>
                </c:pt>
                <c:pt idx="5415">
                  <c:v>#N/A</c:v>
                </c:pt>
                <c:pt idx="5416">
                  <c:v>#N/A</c:v>
                </c:pt>
                <c:pt idx="5417">
                  <c:v>#N/A</c:v>
                </c:pt>
                <c:pt idx="5418">
                  <c:v>#N/A</c:v>
                </c:pt>
                <c:pt idx="5419">
                  <c:v>#N/A</c:v>
                </c:pt>
                <c:pt idx="5420">
                  <c:v>#N/A</c:v>
                </c:pt>
                <c:pt idx="5421">
                  <c:v>#N/A</c:v>
                </c:pt>
                <c:pt idx="5422">
                  <c:v>#N/A</c:v>
                </c:pt>
                <c:pt idx="5423">
                  <c:v>#N/A</c:v>
                </c:pt>
                <c:pt idx="5424">
                  <c:v>#N/A</c:v>
                </c:pt>
                <c:pt idx="5425">
                  <c:v>#N/A</c:v>
                </c:pt>
                <c:pt idx="5426">
                  <c:v>#N/A</c:v>
                </c:pt>
                <c:pt idx="5427">
                  <c:v>#N/A</c:v>
                </c:pt>
                <c:pt idx="5428">
                  <c:v>#N/A</c:v>
                </c:pt>
                <c:pt idx="5429">
                  <c:v>#N/A</c:v>
                </c:pt>
                <c:pt idx="5430">
                  <c:v>#N/A</c:v>
                </c:pt>
                <c:pt idx="5431">
                  <c:v>#N/A</c:v>
                </c:pt>
                <c:pt idx="5432">
                  <c:v>#N/A</c:v>
                </c:pt>
                <c:pt idx="5433">
                  <c:v>#N/A</c:v>
                </c:pt>
                <c:pt idx="5434">
                  <c:v>#N/A</c:v>
                </c:pt>
                <c:pt idx="5435">
                  <c:v>#N/A</c:v>
                </c:pt>
                <c:pt idx="5436">
                  <c:v>#N/A</c:v>
                </c:pt>
                <c:pt idx="5437">
                  <c:v>#N/A</c:v>
                </c:pt>
                <c:pt idx="5438">
                  <c:v>#N/A</c:v>
                </c:pt>
                <c:pt idx="5439">
                  <c:v>#N/A</c:v>
                </c:pt>
                <c:pt idx="5440">
                  <c:v>#N/A</c:v>
                </c:pt>
                <c:pt idx="5441">
                  <c:v>#N/A</c:v>
                </c:pt>
                <c:pt idx="5442">
                  <c:v>#N/A</c:v>
                </c:pt>
                <c:pt idx="5443">
                  <c:v>#N/A</c:v>
                </c:pt>
                <c:pt idx="5444">
                  <c:v>#N/A</c:v>
                </c:pt>
                <c:pt idx="5445">
                  <c:v>#N/A</c:v>
                </c:pt>
                <c:pt idx="5446">
                  <c:v>#N/A</c:v>
                </c:pt>
                <c:pt idx="5447">
                  <c:v>#N/A</c:v>
                </c:pt>
                <c:pt idx="5448">
                  <c:v>#N/A</c:v>
                </c:pt>
                <c:pt idx="5449">
                  <c:v>#N/A</c:v>
                </c:pt>
                <c:pt idx="5450">
                  <c:v>#N/A</c:v>
                </c:pt>
                <c:pt idx="5451">
                  <c:v>#N/A</c:v>
                </c:pt>
                <c:pt idx="5452">
                  <c:v>#N/A</c:v>
                </c:pt>
                <c:pt idx="5453">
                  <c:v>#N/A</c:v>
                </c:pt>
                <c:pt idx="5454">
                  <c:v>#N/A</c:v>
                </c:pt>
                <c:pt idx="5455">
                  <c:v>#N/A</c:v>
                </c:pt>
                <c:pt idx="5456">
                  <c:v>#N/A</c:v>
                </c:pt>
                <c:pt idx="5457">
                  <c:v>#N/A</c:v>
                </c:pt>
                <c:pt idx="5458">
                  <c:v>#N/A</c:v>
                </c:pt>
                <c:pt idx="5459">
                  <c:v>#N/A</c:v>
                </c:pt>
                <c:pt idx="5460">
                  <c:v>#N/A</c:v>
                </c:pt>
                <c:pt idx="5461">
                  <c:v>#N/A</c:v>
                </c:pt>
                <c:pt idx="5462">
                  <c:v>#N/A</c:v>
                </c:pt>
                <c:pt idx="5463">
                  <c:v>#N/A</c:v>
                </c:pt>
                <c:pt idx="5464">
                  <c:v>#N/A</c:v>
                </c:pt>
                <c:pt idx="5465">
                  <c:v>#N/A</c:v>
                </c:pt>
                <c:pt idx="5466">
                  <c:v>#N/A</c:v>
                </c:pt>
                <c:pt idx="5467">
                  <c:v>#N/A</c:v>
                </c:pt>
                <c:pt idx="5468">
                  <c:v>#N/A</c:v>
                </c:pt>
                <c:pt idx="5469">
                  <c:v>#N/A</c:v>
                </c:pt>
                <c:pt idx="5470">
                  <c:v>#N/A</c:v>
                </c:pt>
                <c:pt idx="5471">
                  <c:v>#N/A</c:v>
                </c:pt>
                <c:pt idx="5472">
                  <c:v>#N/A</c:v>
                </c:pt>
                <c:pt idx="5473">
                  <c:v>#N/A</c:v>
                </c:pt>
                <c:pt idx="5474">
                  <c:v>#N/A</c:v>
                </c:pt>
                <c:pt idx="5475">
                  <c:v>#N/A</c:v>
                </c:pt>
                <c:pt idx="5476">
                  <c:v>#N/A</c:v>
                </c:pt>
                <c:pt idx="5477">
                  <c:v>#N/A</c:v>
                </c:pt>
                <c:pt idx="5478">
                  <c:v>#N/A</c:v>
                </c:pt>
                <c:pt idx="5479">
                  <c:v>#N/A</c:v>
                </c:pt>
                <c:pt idx="5480">
                  <c:v>#N/A</c:v>
                </c:pt>
                <c:pt idx="5481">
                  <c:v>#N/A</c:v>
                </c:pt>
                <c:pt idx="5482">
                  <c:v>#N/A</c:v>
                </c:pt>
                <c:pt idx="5483">
                  <c:v>#N/A</c:v>
                </c:pt>
                <c:pt idx="5484">
                  <c:v>#N/A</c:v>
                </c:pt>
                <c:pt idx="5485">
                  <c:v>#N/A</c:v>
                </c:pt>
                <c:pt idx="5486">
                  <c:v>#N/A</c:v>
                </c:pt>
                <c:pt idx="5487">
                  <c:v>#N/A</c:v>
                </c:pt>
                <c:pt idx="5488">
                  <c:v>#N/A</c:v>
                </c:pt>
                <c:pt idx="5489">
                  <c:v>#N/A</c:v>
                </c:pt>
                <c:pt idx="5490">
                  <c:v>#N/A</c:v>
                </c:pt>
                <c:pt idx="5491">
                  <c:v>#N/A</c:v>
                </c:pt>
                <c:pt idx="5492">
                  <c:v>#N/A</c:v>
                </c:pt>
                <c:pt idx="5493">
                  <c:v>#N/A</c:v>
                </c:pt>
                <c:pt idx="5494">
                  <c:v>#N/A</c:v>
                </c:pt>
                <c:pt idx="5495">
                  <c:v>#N/A</c:v>
                </c:pt>
                <c:pt idx="5496">
                  <c:v>#N/A</c:v>
                </c:pt>
                <c:pt idx="5497">
                  <c:v>#N/A</c:v>
                </c:pt>
                <c:pt idx="5498">
                  <c:v>#N/A</c:v>
                </c:pt>
                <c:pt idx="5499">
                  <c:v>#N/A</c:v>
                </c:pt>
                <c:pt idx="5500">
                  <c:v>#N/A</c:v>
                </c:pt>
                <c:pt idx="5501">
                  <c:v>#N/A</c:v>
                </c:pt>
                <c:pt idx="5502">
                  <c:v>#N/A</c:v>
                </c:pt>
                <c:pt idx="5503">
                  <c:v>#N/A</c:v>
                </c:pt>
                <c:pt idx="5504">
                  <c:v>#N/A</c:v>
                </c:pt>
                <c:pt idx="5505">
                  <c:v>#N/A</c:v>
                </c:pt>
                <c:pt idx="5506">
                  <c:v>#N/A</c:v>
                </c:pt>
                <c:pt idx="5507">
                  <c:v>#N/A</c:v>
                </c:pt>
                <c:pt idx="5508">
                  <c:v>#N/A</c:v>
                </c:pt>
                <c:pt idx="5509">
                  <c:v>#N/A</c:v>
                </c:pt>
                <c:pt idx="5510">
                  <c:v>#N/A</c:v>
                </c:pt>
                <c:pt idx="5511">
                  <c:v>#N/A</c:v>
                </c:pt>
                <c:pt idx="5512">
                  <c:v>#N/A</c:v>
                </c:pt>
                <c:pt idx="5513">
                  <c:v>#N/A</c:v>
                </c:pt>
                <c:pt idx="5514">
                  <c:v>#N/A</c:v>
                </c:pt>
                <c:pt idx="5515">
                  <c:v>#N/A</c:v>
                </c:pt>
                <c:pt idx="5516">
                  <c:v>#N/A</c:v>
                </c:pt>
                <c:pt idx="5517">
                  <c:v>#N/A</c:v>
                </c:pt>
                <c:pt idx="5518">
                  <c:v>#N/A</c:v>
                </c:pt>
                <c:pt idx="5519">
                  <c:v>#N/A</c:v>
                </c:pt>
                <c:pt idx="5520">
                  <c:v>#N/A</c:v>
                </c:pt>
                <c:pt idx="5521">
                  <c:v>#N/A</c:v>
                </c:pt>
                <c:pt idx="5522">
                  <c:v>#N/A</c:v>
                </c:pt>
                <c:pt idx="5523">
                  <c:v>#N/A</c:v>
                </c:pt>
                <c:pt idx="5524">
                  <c:v>#N/A</c:v>
                </c:pt>
                <c:pt idx="5525">
                  <c:v>#N/A</c:v>
                </c:pt>
                <c:pt idx="5526">
                  <c:v>#N/A</c:v>
                </c:pt>
                <c:pt idx="5527">
                  <c:v>#N/A</c:v>
                </c:pt>
                <c:pt idx="5528">
                  <c:v>#N/A</c:v>
                </c:pt>
                <c:pt idx="5529">
                  <c:v>#N/A</c:v>
                </c:pt>
                <c:pt idx="5530">
                  <c:v>#N/A</c:v>
                </c:pt>
                <c:pt idx="5531">
                  <c:v>#N/A</c:v>
                </c:pt>
                <c:pt idx="5532">
                  <c:v>#N/A</c:v>
                </c:pt>
                <c:pt idx="5533">
                  <c:v>#N/A</c:v>
                </c:pt>
                <c:pt idx="5534">
                  <c:v>#N/A</c:v>
                </c:pt>
                <c:pt idx="5535">
                  <c:v>#N/A</c:v>
                </c:pt>
                <c:pt idx="5536">
                  <c:v>#N/A</c:v>
                </c:pt>
                <c:pt idx="5537">
                  <c:v>#N/A</c:v>
                </c:pt>
                <c:pt idx="5538">
                  <c:v>#N/A</c:v>
                </c:pt>
                <c:pt idx="5539">
                  <c:v>#N/A</c:v>
                </c:pt>
                <c:pt idx="5540">
                  <c:v>#N/A</c:v>
                </c:pt>
                <c:pt idx="5541">
                  <c:v>#N/A</c:v>
                </c:pt>
                <c:pt idx="5542">
                  <c:v>#N/A</c:v>
                </c:pt>
                <c:pt idx="5543">
                  <c:v>#N/A</c:v>
                </c:pt>
                <c:pt idx="5544">
                  <c:v>#N/A</c:v>
                </c:pt>
                <c:pt idx="5545">
                  <c:v>#N/A</c:v>
                </c:pt>
                <c:pt idx="5546">
                  <c:v>#N/A</c:v>
                </c:pt>
                <c:pt idx="5547">
                  <c:v>#N/A</c:v>
                </c:pt>
                <c:pt idx="5548">
                  <c:v>#N/A</c:v>
                </c:pt>
                <c:pt idx="5549">
                  <c:v>#N/A</c:v>
                </c:pt>
                <c:pt idx="5550">
                  <c:v>#N/A</c:v>
                </c:pt>
                <c:pt idx="5551">
                  <c:v>#N/A</c:v>
                </c:pt>
                <c:pt idx="5552">
                  <c:v>#N/A</c:v>
                </c:pt>
                <c:pt idx="5553">
                  <c:v>#N/A</c:v>
                </c:pt>
                <c:pt idx="5554">
                  <c:v>#N/A</c:v>
                </c:pt>
                <c:pt idx="5555">
                  <c:v>#N/A</c:v>
                </c:pt>
                <c:pt idx="5556">
                  <c:v>#N/A</c:v>
                </c:pt>
                <c:pt idx="5557">
                  <c:v>#N/A</c:v>
                </c:pt>
                <c:pt idx="5558">
                  <c:v>#N/A</c:v>
                </c:pt>
                <c:pt idx="5559">
                  <c:v>#N/A</c:v>
                </c:pt>
                <c:pt idx="5560">
                  <c:v>#N/A</c:v>
                </c:pt>
                <c:pt idx="5561">
                  <c:v>#N/A</c:v>
                </c:pt>
                <c:pt idx="5562">
                  <c:v>#N/A</c:v>
                </c:pt>
                <c:pt idx="5563">
                  <c:v>#N/A</c:v>
                </c:pt>
                <c:pt idx="5564">
                  <c:v>#N/A</c:v>
                </c:pt>
                <c:pt idx="5565">
                  <c:v>#N/A</c:v>
                </c:pt>
                <c:pt idx="5566">
                  <c:v>#N/A</c:v>
                </c:pt>
                <c:pt idx="5567">
                  <c:v>#N/A</c:v>
                </c:pt>
                <c:pt idx="5568">
                  <c:v>#N/A</c:v>
                </c:pt>
                <c:pt idx="5569">
                  <c:v>#N/A</c:v>
                </c:pt>
                <c:pt idx="5570">
                  <c:v>#N/A</c:v>
                </c:pt>
                <c:pt idx="5571">
                  <c:v>#N/A</c:v>
                </c:pt>
                <c:pt idx="5572">
                  <c:v>#N/A</c:v>
                </c:pt>
                <c:pt idx="5573">
                  <c:v>#N/A</c:v>
                </c:pt>
                <c:pt idx="5574">
                  <c:v>#N/A</c:v>
                </c:pt>
                <c:pt idx="5575">
                  <c:v>#N/A</c:v>
                </c:pt>
                <c:pt idx="5576">
                  <c:v>#N/A</c:v>
                </c:pt>
                <c:pt idx="5577">
                  <c:v>#N/A</c:v>
                </c:pt>
                <c:pt idx="5578">
                  <c:v>#N/A</c:v>
                </c:pt>
                <c:pt idx="5579">
                  <c:v>#N/A</c:v>
                </c:pt>
                <c:pt idx="5580">
                  <c:v>#N/A</c:v>
                </c:pt>
                <c:pt idx="5581">
                  <c:v>#N/A</c:v>
                </c:pt>
                <c:pt idx="5582">
                  <c:v>#N/A</c:v>
                </c:pt>
                <c:pt idx="5583">
                  <c:v>#N/A</c:v>
                </c:pt>
                <c:pt idx="5584">
                  <c:v>#N/A</c:v>
                </c:pt>
                <c:pt idx="5585">
                  <c:v>#N/A</c:v>
                </c:pt>
                <c:pt idx="5586">
                  <c:v>#N/A</c:v>
                </c:pt>
                <c:pt idx="5587">
                  <c:v>#N/A</c:v>
                </c:pt>
                <c:pt idx="5588">
                  <c:v>#N/A</c:v>
                </c:pt>
                <c:pt idx="5589">
                  <c:v>#N/A</c:v>
                </c:pt>
                <c:pt idx="5590">
                  <c:v>#N/A</c:v>
                </c:pt>
                <c:pt idx="5591">
                  <c:v>#N/A</c:v>
                </c:pt>
                <c:pt idx="5592">
                  <c:v>#N/A</c:v>
                </c:pt>
                <c:pt idx="5593">
                  <c:v>#N/A</c:v>
                </c:pt>
                <c:pt idx="5594">
                  <c:v>#N/A</c:v>
                </c:pt>
                <c:pt idx="5595">
                  <c:v>#N/A</c:v>
                </c:pt>
                <c:pt idx="5596">
                  <c:v>#N/A</c:v>
                </c:pt>
                <c:pt idx="5597">
                  <c:v>#N/A</c:v>
                </c:pt>
                <c:pt idx="5598">
                  <c:v>#N/A</c:v>
                </c:pt>
                <c:pt idx="5599">
                  <c:v>#N/A</c:v>
                </c:pt>
                <c:pt idx="5600">
                  <c:v>#N/A</c:v>
                </c:pt>
                <c:pt idx="5601">
                  <c:v>#N/A</c:v>
                </c:pt>
                <c:pt idx="5602">
                  <c:v>#N/A</c:v>
                </c:pt>
                <c:pt idx="5603">
                  <c:v>#N/A</c:v>
                </c:pt>
                <c:pt idx="5604">
                  <c:v>#N/A</c:v>
                </c:pt>
                <c:pt idx="5605">
                  <c:v>#N/A</c:v>
                </c:pt>
                <c:pt idx="5606">
                  <c:v>#N/A</c:v>
                </c:pt>
                <c:pt idx="5607">
                  <c:v>#N/A</c:v>
                </c:pt>
                <c:pt idx="5608">
                  <c:v>#N/A</c:v>
                </c:pt>
                <c:pt idx="5609">
                  <c:v>#N/A</c:v>
                </c:pt>
                <c:pt idx="5610">
                  <c:v>#N/A</c:v>
                </c:pt>
                <c:pt idx="5611">
                  <c:v>#N/A</c:v>
                </c:pt>
                <c:pt idx="5612">
                  <c:v>#N/A</c:v>
                </c:pt>
                <c:pt idx="5613">
                  <c:v>#N/A</c:v>
                </c:pt>
                <c:pt idx="5614">
                  <c:v>#N/A</c:v>
                </c:pt>
                <c:pt idx="5615">
                  <c:v>#N/A</c:v>
                </c:pt>
                <c:pt idx="5616">
                  <c:v>#N/A</c:v>
                </c:pt>
                <c:pt idx="5617">
                  <c:v>#N/A</c:v>
                </c:pt>
                <c:pt idx="5618">
                  <c:v>#N/A</c:v>
                </c:pt>
                <c:pt idx="5619">
                  <c:v>#N/A</c:v>
                </c:pt>
                <c:pt idx="5620">
                  <c:v>#N/A</c:v>
                </c:pt>
                <c:pt idx="5621">
                  <c:v>#N/A</c:v>
                </c:pt>
                <c:pt idx="5622">
                  <c:v>#N/A</c:v>
                </c:pt>
                <c:pt idx="5623">
                  <c:v>#N/A</c:v>
                </c:pt>
                <c:pt idx="5624">
                  <c:v>#N/A</c:v>
                </c:pt>
                <c:pt idx="5625">
                  <c:v>#N/A</c:v>
                </c:pt>
                <c:pt idx="5626">
                  <c:v>#N/A</c:v>
                </c:pt>
                <c:pt idx="5627">
                  <c:v>#N/A</c:v>
                </c:pt>
                <c:pt idx="5628">
                  <c:v>#N/A</c:v>
                </c:pt>
                <c:pt idx="5629">
                  <c:v>#N/A</c:v>
                </c:pt>
                <c:pt idx="5630">
                  <c:v>#N/A</c:v>
                </c:pt>
                <c:pt idx="5631">
                  <c:v>#N/A</c:v>
                </c:pt>
                <c:pt idx="5632">
                  <c:v>#N/A</c:v>
                </c:pt>
                <c:pt idx="5633">
                  <c:v>#N/A</c:v>
                </c:pt>
                <c:pt idx="5634">
                  <c:v>#N/A</c:v>
                </c:pt>
                <c:pt idx="5635">
                  <c:v>#N/A</c:v>
                </c:pt>
                <c:pt idx="5636">
                  <c:v>#N/A</c:v>
                </c:pt>
                <c:pt idx="5637">
                  <c:v>#N/A</c:v>
                </c:pt>
                <c:pt idx="5638">
                  <c:v>#N/A</c:v>
                </c:pt>
                <c:pt idx="5639">
                  <c:v>#N/A</c:v>
                </c:pt>
                <c:pt idx="5640">
                  <c:v>#N/A</c:v>
                </c:pt>
                <c:pt idx="5641">
                  <c:v>#N/A</c:v>
                </c:pt>
                <c:pt idx="5642">
                  <c:v>#N/A</c:v>
                </c:pt>
                <c:pt idx="5643">
                  <c:v>#N/A</c:v>
                </c:pt>
                <c:pt idx="5644">
                  <c:v>#N/A</c:v>
                </c:pt>
                <c:pt idx="5645">
                  <c:v>#N/A</c:v>
                </c:pt>
                <c:pt idx="5646">
                  <c:v>#N/A</c:v>
                </c:pt>
                <c:pt idx="5647">
                  <c:v>#N/A</c:v>
                </c:pt>
                <c:pt idx="5648">
                  <c:v>#N/A</c:v>
                </c:pt>
                <c:pt idx="5649">
                  <c:v>#N/A</c:v>
                </c:pt>
                <c:pt idx="5650">
                  <c:v>#N/A</c:v>
                </c:pt>
                <c:pt idx="5651">
                  <c:v>#N/A</c:v>
                </c:pt>
                <c:pt idx="5652">
                  <c:v>#N/A</c:v>
                </c:pt>
                <c:pt idx="5653">
                  <c:v>#N/A</c:v>
                </c:pt>
                <c:pt idx="5654">
                  <c:v>#N/A</c:v>
                </c:pt>
                <c:pt idx="5655">
                  <c:v>#N/A</c:v>
                </c:pt>
                <c:pt idx="5656">
                  <c:v>#N/A</c:v>
                </c:pt>
                <c:pt idx="5657">
                  <c:v>#N/A</c:v>
                </c:pt>
                <c:pt idx="5658">
                  <c:v>#N/A</c:v>
                </c:pt>
                <c:pt idx="5659">
                  <c:v>#N/A</c:v>
                </c:pt>
                <c:pt idx="5660">
                  <c:v>#N/A</c:v>
                </c:pt>
                <c:pt idx="5661">
                  <c:v>#N/A</c:v>
                </c:pt>
                <c:pt idx="5662">
                  <c:v>#N/A</c:v>
                </c:pt>
                <c:pt idx="5663">
                  <c:v>#N/A</c:v>
                </c:pt>
                <c:pt idx="5664">
                  <c:v>#N/A</c:v>
                </c:pt>
                <c:pt idx="5665">
                  <c:v>#N/A</c:v>
                </c:pt>
                <c:pt idx="5666">
                  <c:v>#N/A</c:v>
                </c:pt>
                <c:pt idx="5667">
                  <c:v>#N/A</c:v>
                </c:pt>
                <c:pt idx="5668">
                  <c:v>#N/A</c:v>
                </c:pt>
                <c:pt idx="5669">
                  <c:v>#N/A</c:v>
                </c:pt>
                <c:pt idx="5670">
                  <c:v>#N/A</c:v>
                </c:pt>
                <c:pt idx="5671">
                  <c:v>#N/A</c:v>
                </c:pt>
                <c:pt idx="5672">
                  <c:v>#N/A</c:v>
                </c:pt>
                <c:pt idx="5673">
                  <c:v>#N/A</c:v>
                </c:pt>
                <c:pt idx="5674">
                  <c:v>#N/A</c:v>
                </c:pt>
                <c:pt idx="5675">
                  <c:v>#N/A</c:v>
                </c:pt>
                <c:pt idx="5676">
                  <c:v>#N/A</c:v>
                </c:pt>
                <c:pt idx="5677">
                  <c:v>#N/A</c:v>
                </c:pt>
                <c:pt idx="5678">
                  <c:v>#N/A</c:v>
                </c:pt>
                <c:pt idx="5679">
                  <c:v>#N/A</c:v>
                </c:pt>
                <c:pt idx="5680">
                  <c:v>#N/A</c:v>
                </c:pt>
                <c:pt idx="5681">
                  <c:v>#N/A</c:v>
                </c:pt>
                <c:pt idx="5682">
                  <c:v>#N/A</c:v>
                </c:pt>
                <c:pt idx="5683">
                  <c:v>#N/A</c:v>
                </c:pt>
                <c:pt idx="5684">
                  <c:v>#N/A</c:v>
                </c:pt>
                <c:pt idx="5685">
                  <c:v>#N/A</c:v>
                </c:pt>
                <c:pt idx="5686">
                  <c:v>#N/A</c:v>
                </c:pt>
                <c:pt idx="5687">
                  <c:v>#N/A</c:v>
                </c:pt>
                <c:pt idx="5688">
                  <c:v>#N/A</c:v>
                </c:pt>
                <c:pt idx="5689">
                  <c:v>#N/A</c:v>
                </c:pt>
                <c:pt idx="5690">
                  <c:v>#N/A</c:v>
                </c:pt>
                <c:pt idx="5691">
                  <c:v>#N/A</c:v>
                </c:pt>
                <c:pt idx="5692">
                  <c:v>#N/A</c:v>
                </c:pt>
                <c:pt idx="5693">
                  <c:v>#N/A</c:v>
                </c:pt>
                <c:pt idx="5694">
                  <c:v>#N/A</c:v>
                </c:pt>
                <c:pt idx="5695">
                  <c:v>#N/A</c:v>
                </c:pt>
                <c:pt idx="5696">
                  <c:v>#N/A</c:v>
                </c:pt>
                <c:pt idx="5697">
                  <c:v>#N/A</c:v>
                </c:pt>
                <c:pt idx="5698">
                  <c:v>#N/A</c:v>
                </c:pt>
                <c:pt idx="5699">
                  <c:v>#N/A</c:v>
                </c:pt>
                <c:pt idx="5700">
                  <c:v>#N/A</c:v>
                </c:pt>
                <c:pt idx="5701">
                  <c:v>#N/A</c:v>
                </c:pt>
                <c:pt idx="5702">
                  <c:v>#N/A</c:v>
                </c:pt>
                <c:pt idx="5703">
                  <c:v>#N/A</c:v>
                </c:pt>
                <c:pt idx="5704">
                  <c:v>#N/A</c:v>
                </c:pt>
                <c:pt idx="5705">
                  <c:v>#N/A</c:v>
                </c:pt>
                <c:pt idx="5706">
                  <c:v>#N/A</c:v>
                </c:pt>
                <c:pt idx="5707">
                  <c:v>#N/A</c:v>
                </c:pt>
                <c:pt idx="5708">
                  <c:v>#N/A</c:v>
                </c:pt>
                <c:pt idx="5709">
                  <c:v>#N/A</c:v>
                </c:pt>
                <c:pt idx="5710">
                  <c:v>#N/A</c:v>
                </c:pt>
                <c:pt idx="5711">
                  <c:v>#N/A</c:v>
                </c:pt>
                <c:pt idx="5712">
                  <c:v>#N/A</c:v>
                </c:pt>
                <c:pt idx="5713">
                  <c:v>#N/A</c:v>
                </c:pt>
                <c:pt idx="5714">
                  <c:v>#N/A</c:v>
                </c:pt>
                <c:pt idx="5715">
                  <c:v>#N/A</c:v>
                </c:pt>
                <c:pt idx="5716">
                  <c:v>#N/A</c:v>
                </c:pt>
                <c:pt idx="5717">
                  <c:v>#N/A</c:v>
                </c:pt>
                <c:pt idx="5718">
                  <c:v>#N/A</c:v>
                </c:pt>
                <c:pt idx="5719">
                  <c:v>#N/A</c:v>
                </c:pt>
                <c:pt idx="5720">
                  <c:v>#N/A</c:v>
                </c:pt>
                <c:pt idx="5721">
                  <c:v>#N/A</c:v>
                </c:pt>
                <c:pt idx="5722">
                  <c:v>#N/A</c:v>
                </c:pt>
                <c:pt idx="5723">
                  <c:v>#N/A</c:v>
                </c:pt>
                <c:pt idx="5724">
                  <c:v>#N/A</c:v>
                </c:pt>
                <c:pt idx="5725">
                  <c:v>#N/A</c:v>
                </c:pt>
                <c:pt idx="5726">
                  <c:v>#N/A</c:v>
                </c:pt>
                <c:pt idx="5727">
                  <c:v>#N/A</c:v>
                </c:pt>
                <c:pt idx="5728">
                  <c:v>#N/A</c:v>
                </c:pt>
                <c:pt idx="5729">
                  <c:v>#N/A</c:v>
                </c:pt>
                <c:pt idx="5730">
                  <c:v>#N/A</c:v>
                </c:pt>
                <c:pt idx="5731">
                  <c:v>#N/A</c:v>
                </c:pt>
                <c:pt idx="5732">
                  <c:v>#N/A</c:v>
                </c:pt>
                <c:pt idx="5733">
                  <c:v>#N/A</c:v>
                </c:pt>
                <c:pt idx="5734">
                  <c:v>#N/A</c:v>
                </c:pt>
                <c:pt idx="5735">
                  <c:v>#N/A</c:v>
                </c:pt>
                <c:pt idx="5736">
                  <c:v>#N/A</c:v>
                </c:pt>
                <c:pt idx="5737">
                  <c:v>#N/A</c:v>
                </c:pt>
                <c:pt idx="5738">
                  <c:v>#N/A</c:v>
                </c:pt>
                <c:pt idx="5739">
                  <c:v>#N/A</c:v>
                </c:pt>
                <c:pt idx="5740">
                  <c:v>#N/A</c:v>
                </c:pt>
                <c:pt idx="5741">
                  <c:v>#N/A</c:v>
                </c:pt>
                <c:pt idx="5742">
                  <c:v>#N/A</c:v>
                </c:pt>
                <c:pt idx="5743">
                  <c:v>#N/A</c:v>
                </c:pt>
                <c:pt idx="5744">
                  <c:v>#N/A</c:v>
                </c:pt>
                <c:pt idx="5745">
                  <c:v>#N/A</c:v>
                </c:pt>
                <c:pt idx="5746">
                  <c:v>#N/A</c:v>
                </c:pt>
                <c:pt idx="5747">
                  <c:v>#N/A</c:v>
                </c:pt>
                <c:pt idx="5748">
                  <c:v>#N/A</c:v>
                </c:pt>
                <c:pt idx="5749">
                  <c:v>#N/A</c:v>
                </c:pt>
                <c:pt idx="5750">
                  <c:v>#N/A</c:v>
                </c:pt>
                <c:pt idx="5751">
                  <c:v>#N/A</c:v>
                </c:pt>
                <c:pt idx="5752">
                  <c:v>#N/A</c:v>
                </c:pt>
                <c:pt idx="5753">
                  <c:v>#N/A</c:v>
                </c:pt>
                <c:pt idx="5754">
                  <c:v>#N/A</c:v>
                </c:pt>
                <c:pt idx="5755">
                  <c:v>#N/A</c:v>
                </c:pt>
                <c:pt idx="5756">
                  <c:v>#N/A</c:v>
                </c:pt>
                <c:pt idx="5757">
                  <c:v>#N/A</c:v>
                </c:pt>
                <c:pt idx="5758">
                  <c:v>#N/A</c:v>
                </c:pt>
                <c:pt idx="5759">
                  <c:v>#N/A</c:v>
                </c:pt>
                <c:pt idx="5760">
                  <c:v>#N/A</c:v>
                </c:pt>
                <c:pt idx="5761">
                  <c:v>#N/A</c:v>
                </c:pt>
                <c:pt idx="5762">
                  <c:v>#N/A</c:v>
                </c:pt>
                <c:pt idx="5763">
                  <c:v>#N/A</c:v>
                </c:pt>
                <c:pt idx="5764">
                  <c:v>#N/A</c:v>
                </c:pt>
                <c:pt idx="5765">
                  <c:v>#N/A</c:v>
                </c:pt>
                <c:pt idx="5766">
                  <c:v>#N/A</c:v>
                </c:pt>
                <c:pt idx="5767">
                  <c:v>#N/A</c:v>
                </c:pt>
                <c:pt idx="5768">
                  <c:v>#N/A</c:v>
                </c:pt>
                <c:pt idx="5769">
                  <c:v>#N/A</c:v>
                </c:pt>
                <c:pt idx="5770">
                  <c:v>#N/A</c:v>
                </c:pt>
                <c:pt idx="5771">
                  <c:v>#N/A</c:v>
                </c:pt>
                <c:pt idx="5772">
                  <c:v>#N/A</c:v>
                </c:pt>
                <c:pt idx="5773">
                  <c:v>#N/A</c:v>
                </c:pt>
                <c:pt idx="5774">
                  <c:v>#N/A</c:v>
                </c:pt>
                <c:pt idx="5775">
                  <c:v>#N/A</c:v>
                </c:pt>
                <c:pt idx="5776">
                  <c:v>#N/A</c:v>
                </c:pt>
                <c:pt idx="5777">
                  <c:v>#N/A</c:v>
                </c:pt>
                <c:pt idx="5778">
                  <c:v>#N/A</c:v>
                </c:pt>
                <c:pt idx="5779">
                  <c:v>#N/A</c:v>
                </c:pt>
                <c:pt idx="5780">
                  <c:v>#N/A</c:v>
                </c:pt>
                <c:pt idx="5781">
                  <c:v>#N/A</c:v>
                </c:pt>
                <c:pt idx="5782">
                  <c:v>#N/A</c:v>
                </c:pt>
                <c:pt idx="5783">
                  <c:v>#N/A</c:v>
                </c:pt>
                <c:pt idx="5784">
                  <c:v>#N/A</c:v>
                </c:pt>
                <c:pt idx="5785">
                  <c:v>#N/A</c:v>
                </c:pt>
                <c:pt idx="5786">
                  <c:v>#N/A</c:v>
                </c:pt>
                <c:pt idx="5787">
                  <c:v>#N/A</c:v>
                </c:pt>
                <c:pt idx="5788">
                  <c:v>#N/A</c:v>
                </c:pt>
                <c:pt idx="5789">
                  <c:v>#N/A</c:v>
                </c:pt>
                <c:pt idx="5790">
                  <c:v>#N/A</c:v>
                </c:pt>
                <c:pt idx="5791">
                  <c:v>#N/A</c:v>
                </c:pt>
                <c:pt idx="5792">
                  <c:v>#N/A</c:v>
                </c:pt>
                <c:pt idx="5793">
                  <c:v>#N/A</c:v>
                </c:pt>
                <c:pt idx="5794">
                  <c:v>#N/A</c:v>
                </c:pt>
                <c:pt idx="5795">
                  <c:v>#N/A</c:v>
                </c:pt>
                <c:pt idx="5796">
                  <c:v>#N/A</c:v>
                </c:pt>
                <c:pt idx="5797">
                  <c:v>#N/A</c:v>
                </c:pt>
                <c:pt idx="5798">
                  <c:v>#N/A</c:v>
                </c:pt>
                <c:pt idx="5799">
                  <c:v>#N/A</c:v>
                </c:pt>
                <c:pt idx="5800">
                  <c:v>#N/A</c:v>
                </c:pt>
                <c:pt idx="5801">
                  <c:v>#N/A</c:v>
                </c:pt>
                <c:pt idx="5802">
                  <c:v>#N/A</c:v>
                </c:pt>
                <c:pt idx="5803">
                  <c:v>#N/A</c:v>
                </c:pt>
                <c:pt idx="5804">
                  <c:v>#N/A</c:v>
                </c:pt>
                <c:pt idx="5805">
                  <c:v>#N/A</c:v>
                </c:pt>
                <c:pt idx="5806">
                  <c:v>#N/A</c:v>
                </c:pt>
                <c:pt idx="5807">
                  <c:v>#N/A</c:v>
                </c:pt>
                <c:pt idx="5808">
                  <c:v>#N/A</c:v>
                </c:pt>
                <c:pt idx="5809">
                  <c:v>#N/A</c:v>
                </c:pt>
                <c:pt idx="5810">
                  <c:v>#N/A</c:v>
                </c:pt>
                <c:pt idx="5811">
                  <c:v>#N/A</c:v>
                </c:pt>
                <c:pt idx="5812">
                  <c:v>#N/A</c:v>
                </c:pt>
                <c:pt idx="5813">
                  <c:v>#N/A</c:v>
                </c:pt>
                <c:pt idx="5814">
                  <c:v>#N/A</c:v>
                </c:pt>
                <c:pt idx="5815">
                  <c:v>#N/A</c:v>
                </c:pt>
                <c:pt idx="5816">
                  <c:v>#N/A</c:v>
                </c:pt>
                <c:pt idx="5817">
                  <c:v>#N/A</c:v>
                </c:pt>
                <c:pt idx="5818">
                  <c:v>#N/A</c:v>
                </c:pt>
                <c:pt idx="5819">
                  <c:v>#N/A</c:v>
                </c:pt>
                <c:pt idx="5820">
                  <c:v>#N/A</c:v>
                </c:pt>
                <c:pt idx="5821">
                  <c:v>#N/A</c:v>
                </c:pt>
                <c:pt idx="5822">
                  <c:v>#N/A</c:v>
                </c:pt>
                <c:pt idx="5823">
                  <c:v>#N/A</c:v>
                </c:pt>
                <c:pt idx="5824">
                  <c:v>#N/A</c:v>
                </c:pt>
                <c:pt idx="5825">
                  <c:v>#N/A</c:v>
                </c:pt>
                <c:pt idx="5826">
                  <c:v>#N/A</c:v>
                </c:pt>
                <c:pt idx="5827">
                  <c:v>#N/A</c:v>
                </c:pt>
                <c:pt idx="5828">
                  <c:v>#N/A</c:v>
                </c:pt>
                <c:pt idx="5829">
                  <c:v>#N/A</c:v>
                </c:pt>
                <c:pt idx="5830">
                  <c:v>#N/A</c:v>
                </c:pt>
                <c:pt idx="5831">
                  <c:v>#N/A</c:v>
                </c:pt>
                <c:pt idx="5832">
                  <c:v>#N/A</c:v>
                </c:pt>
                <c:pt idx="5833">
                  <c:v>#N/A</c:v>
                </c:pt>
                <c:pt idx="5834">
                  <c:v>#N/A</c:v>
                </c:pt>
                <c:pt idx="5835">
                  <c:v>#N/A</c:v>
                </c:pt>
                <c:pt idx="5836">
                  <c:v>#N/A</c:v>
                </c:pt>
                <c:pt idx="5837">
                  <c:v>#N/A</c:v>
                </c:pt>
                <c:pt idx="5838">
                  <c:v>#N/A</c:v>
                </c:pt>
                <c:pt idx="5839">
                  <c:v>#N/A</c:v>
                </c:pt>
                <c:pt idx="5840">
                  <c:v>#N/A</c:v>
                </c:pt>
                <c:pt idx="5841">
                  <c:v>#N/A</c:v>
                </c:pt>
                <c:pt idx="5842">
                  <c:v>#N/A</c:v>
                </c:pt>
                <c:pt idx="5843">
                  <c:v>#N/A</c:v>
                </c:pt>
                <c:pt idx="5844">
                  <c:v>#N/A</c:v>
                </c:pt>
                <c:pt idx="5845">
                  <c:v>#N/A</c:v>
                </c:pt>
                <c:pt idx="5846">
                  <c:v>#N/A</c:v>
                </c:pt>
                <c:pt idx="5847">
                  <c:v>#N/A</c:v>
                </c:pt>
                <c:pt idx="5848">
                  <c:v>#N/A</c:v>
                </c:pt>
                <c:pt idx="5849">
                  <c:v>#N/A</c:v>
                </c:pt>
                <c:pt idx="5850">
                  <c:v>#N/A</c:v>
                </c:pt>
                <c:pt idx="5851">
                  <c:v>#N/A</c:v>
                </c:pt>
                <c:pt idx="5852">
                  <c:v>#N/A</c:v>
                </c:pt>
                <c:pt idx="5853">
                  <c:v>#N/A</c:v>
                </c:pt>
                <c:pt idx="5854">
                  <c:v>#N/A</c:v>
                </c:pt>
                <c:pt idx="5855">
                  <c:v>#N/A</c:v>
                </c:pt>
                <c:pt idx="5856">
                  <c:v>#N/A</c:v>
                </c:pt>
                <c:pt idx="5857">
                  <c:v>#N/A</c:v>
                </c:pt>
                <c:pt idx="5858">
                  <c:v>#N/A</c:v>
                </c:pt>
                <c:pt idx="5859">
                  <c:v>#N/A</c:v>
                </c:pt>
                <c:pt idx="5860">
                  <c:v>#N/A</c:v>
                </c:pt>
                <c:pt idx="5861">
                  <c:v>#N/A</c:v>
                </c:pt>
                <c:pt idx="5862">
                  <c:v>#N/A</c:v>
                </c:pt>
                <c:pt idx="5863">
                  <c:v>#N/A</c:v>
                </c:pt>
                <c:pt idx="5864">
                  <c:v>#N/A</c:v>
                </c:pt>
                <c:pt idx="5865">
                  <c:v>#N/A</c:v>
                </c:pt>
                <c:pt idx="5866">
                  <c:v>#N/A</c:v>
                </c:pt>
                <c:pt idx="5867">
                  <c:v>#N/A</c:v>
                </c:pt>
                <c:pt idx="5868">
                  <c:v>#N/A</c:v>
                </c:pt>
                <c:pt idx="5869">
                  <c:v>#N/A</c:v>
                </c:pt>
                <c:pt idx="5870">
                  <c:v>#N/A</c:v>
                </c:pt>
                <c:pt idx="5871">
                  <c:v>#N/A</c:v>
                </c:pt>
                <c:pt idx="5872">
                  <c:v>#N/A</c:v>
                </c:pt>
                <c:pt idx="5873">
                  <c:v>#N/A</c:v>
                </c:pt>
                <c:pt idx="5874">
                  <c:v>#N/A</c:v>
                </c:pt>
                <c:pt idx="5875">
                  <c:v>#N/A</c:v>
                </c:pt>
                <c:pt idx="5876">
                  <c:v>#N/A</c:v>
                </c:pt>
                <c:pt idx="5877">
                  <c:v>#N/A</c:v>
                </c:pt>
                <c:pt idx="5878">
                  <c:v>#N/A</c:v>
                </c:pt>
                <c:pt idx="5879">
                  <c:v>#N/A</c:v>
                </c:pt>
                <c:pt idx="5880">
                  <c:v>#N/A</c:v>
                </c:pt>
                <c:pt idx="5881">
                  <c:v>#N/A</c:v>
                </c:pt>
                <c:pt idx="5882">
                  <c:v>#N/A</c:v>
                </c:pt>
                <c:pt idx="5883">
                  <c:v>#N/A</c:v>
                </c:pt>
                <c:pt idx="5884">
                  <c:v>#N/A</c:v>
                </c:pt>
                <c:pt idx="5885">
                  <c:v>#N/A</c:v>
                </c:pt>
                <c:pt idx="5886">
                  <c:v>#N/A</c:v>
                </c:pt>
                <c:pt idx="5887">
                  <c:v>#N/A</c:v>
                </c:pt>
                <c:pt idx="5888">
                  <c:v>#N/A</c:v>
                </c:pt>
                <c:pt idx="5889">
                  <c:v>#N/A</c:v>
                </c:pt>
                <c:pt idx="5890">
                  <c:v>#N/A</c:v>
                </c:pt>
                <c:pt idx="5891">
                  <c:v>#N/A</c:v>
                </c:pt>
                <c:pt idx="5892">
                  <c:v>#N/A</c:v>
                </c:pt>
                <c:pt idx="5893">
                  <c:v>#N/A</c:v>
                </c:pt>
                <c:pt idx="5894">
                  <c:v>#N/A</c:v>
                </c:pt>
                <c:pt idx="5895">
                  <c:v>#N/A</c:v>
                </c:pt>
                <c:pt idx="5896">
                  <c:v>#N/A</c:v>
                </c:pt>
                <c:pt idx="5897">
                  <c:v>#N/A</c:v>
                </c:pt>
                <c:pt idx="5898">
                  <c:v>#N/A</c:v>
                </c:pt>
                <c:pt idx="5899">
                  <c:v>#N/A</c:v>
                </c:pt>
                <c:pt idx="5900">
                  <c:v>#N/A</c:v>
                </c:pt>
                <c:pt idx="5901">
                  <c:v>#N/A</c:v>
                </c:pt>
                <c:pt idx="5902">
                  <c:v>#N/A</c:v>
                </c:pt>
                <c:pt idx="5903">
                  <c:v>#N/A</c:v>
                </c:pt>
                <c:pt idx="5904">
                  <c:v>#N/A</c:v>
                </c:pt>
                <c:pt idx="5905">
                  <c:v>#N/A</c:v>
                </c:pt>
                <c:pt idx="5906">
                  <c:v>#N/A</c:v>
                </c:pt>
                <c:pt idx="5907">
                  <c:v>#N/A</c:v>
                </c:pt>
                <c:pt idx="5908">
                  <c:v>#N/A</c:v>
                </c:pt>
                <c:pt idx="5909">
                  <c:v>#N/A</c:v>
                </c:pt>
                <c:pt idx="5910">
                  <c:v>#N/A</c:v>
                </c:pt>
                <c:pt idx="5911">
                  <c:v>#N/A</c:v>
                </c:pt>
                <c:pt idx="5912">
                  <c:v>#N/A</c:v>
                </c:pt>
                <c:pt idx="5913">
                  <c:v>#N/A</c:v>
                </c:pt>
                <c:pt idx="5914">
                  <c:v>#N/A</c:v>
                </c:pt>
                <c:pt idx="5915">
                  <c:v>#N/A</c:v>
                </c:pt>
                <c:pt idx="5916">
                  <c:v>#N/A</c:v>
                </c:pt>
                <c:pt idx="5917">
                  <c:v>#N/A</c:v>
                </c:pt>
                <c:pt idx="5918">
                  <c:v>#N/A</c:v>
                </c:pt>
                <c:pt idx="5919">
                  <c:v>#N/A</c:v>
                </c:pt>
                <c:pt idx="5920">
                  <c:v>#N/A</c:v>
                </c:pt>
                <c:pt idx="5921">
                  <c:v>#N/A</c:v>
                </c:pt>
                <c:pt idx="5922">
                  <c:v>#N/A</c:v>
                </c:pt>
                <c:pt idx="5923">
                  <c:v>#N/A</c:v>
                </c:pt>
                <c:pt idx="5924">
                  <c:v>#N/A</c:v>
                </c:pt>
                <c:pt idx="5925">
                  <c:v>#N/A</c:v>
                </c:pt>
                <c:pt idx="5926">
                  <c:v>#N/A</c:v>
                </c:pt>
                <c:pt idx="5927">
                  <c:v>#N/A</c:v>
                </c:pt>
                <c:pt idx="5928">
                  <c:v>#N/A</c:v>
                </c:pt>
                <c:pt idx="5929">
                  <c:v>#N/A</c:v>
                </c:pt>
                <c:pt idx="5930">
                  <c:v>#N/A</c:v>
                </c:pt>
                <c:pt idx="5931">
                  <c:v>#N/A</c:v>
                </c:pt>
                <c:pt idx="5932">
                  <c:v>#N/A</c:v>
                </c:pt>
                <c:pt idx="5933">
                  <c:v>#N/A</c:v>
                </c:pt>
                <c:pt idx="5934">
                  <c:v>#N/A</c:v>
                </c:pt>
                <c:pt idx="5935">
                  <c:v>#N/A</c:v>
                </c:pt>
                <c:pt idx="5936">
                  <c:v>#N/A</c:v>
                </c:pt>
                <c:pt idx="5937">
                  <c:v>#N/A</c:v>
                </c:pt>
                <c:pt idx="5938">
                  <c:v>#N/A</c:v>
                </c:pt>
                <c:pt idx="5939">
                  <c:v>#N/A</c:v>
                </c:pt>
                <c:pt idx="5940">
                  <c:v>#N/A</c:v>
                </c:pt>
                <c:pt idx="5941">
                  <c:v>#N/A</c:v>
                </c:pt>
                <c:pt idx="5942">
                  <c:v>#N/A</c:v>
                </c:pt>
                <c:pt idx="5943">
                  <c:v>#N/A</c:v>
                </c:pt>
                <c:pt idx="5944">
                  <c:v>#N/A</c:v>
                </c:pt>
                <c:pt idx="5945">
                  <c:v>#N/A</c:v>
                </c:pt>
                <c:pt idx="5946">
                  <c:v>#N/A</c:v>
                </c:pt>
                <c:pt idx="5947">
                  <c:v>#N/A</c:v>
                </c:pt>
                <c:pt idx="5948">
                  <c:v>#N/A</c:v>
                </c:pt>
                <c:pt idx="5949">
                  <c:v>#N/A</c:v>
                </c:pt>
                <c:pt idx="5950">
                  <c:v>#N/A</c:v>
                </c:pt>
                <c:pt idx="5951">
                  <c:v>#N/A</c:v>
                </c:pt>
                <c:pt idx="5952">
                  <c:v>#N/A</c:v>
                </c:pt>
                <c:pt idx="5953">
                  <c:v>#N/A</c:v>
                </c:pt>
                <c:pt idx="5954">
                  <c:v>#N/A</c:v>
                </c:pt>
                <c:pt idx="5955">
                  <c:v>#N/A</c:v>
                </c:pt>
                <c:pt idx="5956">
                  <c:v>#N/A</c:v>
                </c:pt>
                <c:pt idx="5957">
                  <c:v>#N/A</c:v>
                </c:pt>
                <c:pt idx="5958">
                  <c:v>#N/A</c:v>
                </c:pt>
                <c:pt idx="5959">
                  <c:v>#N/A</c:v>
                </c:pt>
                <c:pt idx="5960">
                  <c:v>#N/A</c:v>
                </c:pt>
                <c:pt idx="5961">
                  <c:v>#N/A</c:v>
                </c:pt>
                <c:pt idx="5962">
                  <c:v>#N/A</c:v>
                </c:pt>
                <c:pt idx="5963">
                  <c:v>#N/A</c:v>
                </c:pt>
                <c:pt idx="5964">
                  <c:v>#N/A</c:v>
                </c:pt>
                <c:pt idx="5965">
                  <c:v>#N/A</c:v>
                </c:pt>
                <c:pt idx="5966">
                  <c:v>#N/A</c:v>
                </c:pt>
                <c:pt idx="5967">
                  <c:v>#N/A</c:v>
                </c:pt>
                <c:pt idx="5968">
                  <c:v>#N/A</c:v>
                </c:pt>
                <c:pt idx="5969">
                  <c:v>#N/A</c:v>
                </c:pt>
                <c:pt idx="5970">
                  <c:v>#N/A</c:v>
                </c:pt>
                <c:pt idx="5971">
                  <c:v>#N/A</c:v>
                </c:pt>
                <c:pt idx="5972">
                  <c:v>#N/A</c:v>
                </c:pt>
                <c:pt idx="5973">
                  <c:v>#N/A</c:v>
                </c:pt>
                <c:pt idx="5974">
                  <c:v>#N/A</c:v>
                </c:pt>
                <c:pt idx="5975">
                  <c:v>#N/A</c:v>
                </c:pt>
                <c:pt idx="5976">
                  <c:v>#N/A</c:v>
                </c:pt>
                <c:pt idx="5977">
                  <c:v>#N/A</c:v>
                </c:pt>
                <c:pt idx="5978">
                  <c:v>#N/A</c:v>
                </c:pt>
                <c:pt idx="5979">
                  <c:v>#N/A</c:v>
                </c:pt>
                <c:pt idx="5980">
                  <c:v>#N/A</c:v>
                </c:pt>
                <c:pt idx="5981">
                  <c:v>#N/A</c:v>
                </c:pt>
                <c:pt idx="5982">
                  <c:v>#N/A</c:v>
                </c:pt>
                <c:pt idx="5983">
                  <c:v>#N/A</c:v>
                </c:pt>
                <c:pt idx="5984">
                  <c:v>#N/A</c:v>
                </c:pt>
                <c:pt idx="5985">
                  <c:v>#N/A</c:v>
                </c:pt>
                <c:pt idx="5986">
                  <c:v>#N/A</c:v>
                </c:pt>
                <c:pt idx="5987">
                  <c:v>#N/A</c:v>
                </c:pt>
                <c:pt idx="5988">
                  <c:v>#N/A</c:v>
                </c:pt>
                <c:pt idx="5989">
                  <c:v>#N/A</c:v>
                </c:pt>
                <c:pt idx="5990">
                  <c:v>#N/A</c:v>
                </c:pt>
                <c:pt idx="5991">
                  <c:v>#N/A</c:v>
                </c:pt>
                <c:pt idx="5992">
                  <c:v>#N/A</c:v>
                </c:pt>
                <c:pt idx="5993">
                  <c:v>#N/A</c:v>
                </c:pt>
                <c:pt idx="5994">
                  <c:v>#N/A</c:v>
                </c:pt>
                <c:pt idx="5995">
                  <c:v>#N/A</c:v>
                </c:pt>
                <c:pt idx="5996">
                  <c:v>#N/A</c:v>
                </c:pt>
                <c:pt idx="5997">
                  <c:v>#N/A</c:v>
                </c:pt>
                <c:pt idx="5998">
                  <c:v>#N/A</c:v>
                </c:pt>
                <c:pt idx="5999">
                  <c:v>#N/A</c:v>
                </c:pt>
                <c:pt idx="6000">
                  <c:v>#N/A</c:v>
                </c:pt>
                <c:pt idx="6001">
                  <c:v>#N/A</c:v>
                </c:pt>
                <c:pt idx="6002">
                  <c:v>#N/A</c:v>
                </c:pt>
                <c:pt idx="6003">
                  <c:v>#N/A</c:v>
                </c:pt>
                <c:pt idx="6004">
                  <c:v>#N/A</c:v>
                </c:pt>
                <c:pt idx="6005">
                  <c:v>#N/A</c:v>
                </c:pt>
                <c:pt idx="6006">
                  <c:v>#N/A</c:v>
                </c:pt>
                <c:pt idx="6007">
                  <c:v>#N/A</c:v>
                </c:pt>
                <c:pt idx="6008">
                  <c:v>#N/A</c:v>
                </c:pt>
                <c:pt idx="6009">
                  <c:v>#N/A</c:v>
                </c:pt>
                <c:pt idx="6010">
                  <c:v>#N/A</c:v>
                </c:pt>
                <c:pt idx="6011">
                  <c:v>#N/A</c:v>
                </c:pt>
                <c:pt idx="6012">
                  <c:v>#N/A</c:v>
                </c:pt>
                <c:pt idx="6013">
                  <c:v>#N/A</c:v>
                </c:pt>
                <c:pt idx="6014">
                  <c:v>#N/A</c:v>
                </c:pt>
                <c:pt idx="6015">
                  <c:v>#N/A</c:v>
                </c:pt>
                <c:pt idx="6016">
                  <c:v>#N/A</c:v>
                </c:pt>
                <c:pt idx="6017">
                  <c:v>#N/A</c:v>
                </c:pt>
                <c:pt idx="6018">
                  <c:v>#N/A</c:v>
                </c:pt>
                <c:pt idx="6019">
                  <c:v>#N/A</c:v>
                </c:pt>
                <c:pt idx="6020">
                  <c:v>#N/A</c:v>
                </c:pt>
                <c:pt idx="6021">
                  <c:v>#N/A</c:v>
                </c:pt>
                <c:pt idx="6022">
                  <c:v>#N/A</c:v>
                </c:pt>
                <c:pt idx="6023">
                  <c:v>#N/A</c:v>
                </c:pt>
                <c:pt idx="6024">
                  <c:v>#N/A</c:v>
                </c:pt>
                <c:pt idx="6025">
                  <c:v>#N/A</c:v>
                </c:pt>
                <c:pt idx="6026">
                  <c:v>#N/A</c:v>
                </c:pt>
                <c:pt idx="6027">
                  <c:v>#N/A</c:v>
                </c:pt>
                <c:pt idx="6028">
                  <c:v>#N/A</c:v>
                </c:pt>
                <c:pt idx="6029">
                  <c:v>#N/A</c:v>
                </c:pt>
                <c:pt idx="6030">
                  <c:v>#N/A</c:v>
                </c:pt>
                <c:pt idx="6031">
                  <c:v>#N/A</c:v>
                </c:pt>
                <c:pt idx="6032">
                  <c:v>#N/A</c:v>
                </c:pt>
                <c:pt idx="6033">
                  <c:v>#N/A</c:v>
                </c:pt>
                <c:pt idx="6034">
                  <c:v>#N/A</c:v>
                </c:pt>
                <c:pt idx="6035">
                  <c:v>#N/A</c:v>
                </c:pt>
                <c:pt idx="6036">
                  <c:v>#N/A</c:v>
                </c:pt>
                <c:pt idx="6037">
                  <c:v>#N/A</c:v>
                </c:pt>
                <c:pt idx="6038">
                  <c:v>#N/A</c:v>
                </c:pt>
                <c:pt idx="6039">
                  <c:v>#N/A</c:v>
                </c:pt>
                <c:pt idx="6040">
                  <c:v>#N/A</c:v>
                </c:pt>
                <c:pt idx="6041">
                  <c:v>#N/A</c:v>
                </c:pt>
                <c:pt idx="6042">
                  <c:v>#N/A</c:v>
                </c:pt>
                <c:pt idx="6043">
                  <c:v>#N/A</c:v>
                </c:pt>
                <c:pt idx="6044">
                  <c:v>#N/A</c:v>
                </c:pt>
                <c:pt idx="6045">
                  <c:v>#N/A</c:v>
                </c:pt>
                <c:pt idx="6046">
                  <c:v>#N/A</c:v>
                </c:pt>
                <c:pt idx="6047">
                  <c:v>#N/A</c:v>
                </c:pt>
                <c:pt idx="6048">
                  <c:v>#N/A</c:v>
                </c:pt>
                <c:pt idx="6049">
                  <c:v>#N/A</c:v>
                </c:pt>
                <c:pt idx="6050">
                  <c:v>#N/A</c:v>
                </c:pt>
                <c:pt idx="6051">
                  <c:v>#N/A</c:v>
                </c:pt>
                <c:pt idx="6052">
                  <c:v>#N/A</c:v>
                </c:pt>
                <c:pt idx="6053">
                  <c:v>#N/A</c:v>
                </c:pt>
                <c:pt idx="6054">
                  <c:v>#N/A</c:v>
                </c:pt>
                <c:pt idx="6055">
                  <c:v>#N/A</c:v>
                </c:pt>
                <c:pt idx="6056">
                  <c:v>#N/A</c:v>
                </c:pt>
                <c:pt idx="6057">
                  <c:v>#N/A</c:v>
                </c:pt>
                <c:pt idx="6058">
                  <c:v>#N/A</c:v>
                </c:pt>
                <c:pt idx="6059">
                  <c:v>#N/A</c:v>
                </c:pt>
                <c:pt idx="6060">
                  <c:v>#N/A</c:v>
                </c:pt>
                <c:pt idx="6061">
                  <c:v>#N/A</c:v>
                </c:pt>
                <c:pt idx="6062">
                  <c:v>#N/A</c:v>
                </c:pt>
                <c:pt idx="6063">
                  <c:v>#N/A</c:v>
                </c:pt>
                <c:pt idx="6064">
                  <c:v>#N/A</c:v>
                </c:pt>
                <c:pt idx="6065">
                  <c:v>#N/A</c:v>
                </c:pt>
                <c:pt idx="6066">
                  <c:v>#N/A</c:v>
                </c:pt>
                <c:pt idx="6067">
                  <c:v>#N/A</c:v>
                </c:pt>
                <c:pt idx="6068">
                  <c:v>#N/A</c:v>
                </c:pt>
                <c:pt idx="6069">
                  <c:v>#N/A</c:v>
                </c:pt>
                <c:pt idx="6070">
                  <c:v>#N/A</c:v>
                </c:pt>
                <c:pt idx="6071">
                  <c:v>#N/A</c:v>
                </c:pt>
                <c:pt idx="6072">
                  <c:v>#N/A</c:v>
                </c:pt>
                <c:pt idx="6073">
                  <c:v>#N/A</c:v>
                </c:pt>
                <c:pt idx="6074">
                  <c:v>#N/A</c:v>
                </c:pt>
                <c:pt idx="6075">
                  <c:v>#N/A</c:v>
                </c:pt>
                <c:pt idx="6076">
                  <c:v>#N/A</c:v>
                </c:pt>
                <c:pt idx="6077">
                  <c:v>#N/A</c:v>
                </c:pt>
                <c:pt idx="6078">
                  <c:v>#N/A</c:v>
                </c:pt>
                <c:pt idx="6079">
                  <c:v>#N/A</c:v>
                </c:pt>
                <c:pt idx="6080">
                  <c:v>#N/A</c:v>
                </c:pt>
                <c:pt idx="6081">
                  <c:v>#N/A</c:v>
                </c:pt>
                <c:pt idx="6082">
                  <c:v>#N/A</c:v>
                </c:pt>
                <c:pt idx="6083">
                  <c:v>#N/A</c:v>
                </c:pt>
                <c:pt idx="6084">
                  <c:v>#N/A</c:v>
                </c:pt>
                <c:pt idx="6085">
                  <c:v>#N/A</c:v>
                </c:pt>
                <c:pt idx="6086">
                  <c:v>#N/A</c:v>
                </c:pt>
                <c:pt idx="6087">
                  <c:v>#N/A</c:v>
                </c:pt>
                <c:pt idx="6088">
                  <c:v>#N/A</c:v>
                </c:pt>
                <c:pt idx="6089">
                  <c:v>#N/A</c:v>
                </c:pt>
                <c:pt idx="6090">
                  <c:v>#N/A</c:v>
                </c:pt>
                <c:pt idx="6091">
                  <c:v>#N/A</c:v>
                </c:pt>
                <c:pt idx="6092">
                  <c:v>#N/A</c:v>
                </c:pt>
                <c:pt idx="6093">
                  <c:v>#N/A</c:v>
                </c:pt>
                <c:pt idx="6094">
                  <c:v>#N/A</c:v>
                </c:pt>
                <c:pt idx="6095">
                  <c:v>#N/A</c:v>
                </c:pt>
                <c:pt idx="6096">
                  <c:v>#N/A</c:v>
                </c:pt>
                <c:pt idx="6097">
                  <c:v>#N/A</c:v>
                </c:pt>
                <c:pt idx="6098">
                  <c:v>#N/A</c:v>
                </c:pt>
                <c:pt idx="6099">
                  <c:v>#N/A</c:v>
                </c:pt>
                <c:pt idx="6100">
                  <c:v>#N/A</c:v>
                </c:pt>
                <c:pt idx="6101">
                  <c:v>#N/A</c:v>
                </c:pt>
                <c:pt idx="6102">
                  <c:v>#N/A</c:v>
                </c:pt>
                <c:pt idx="6103">
                  <c:v>#N/A</c:v>
                </c:pt>
                <c:pt idx="6104">
                  <c:v>#N/A</c:v>
                </c:pt>
                <c:pt idx="6105">
                  <c:v>#N/A</c:v>
                </c:pt>
                <c:pt idx="6106">
                  <c:v>#N/A</c:v>
                </c:pt>
                <c:pt idx="6107">
                  <c:v>#N/A</c:v>
                </c:pt>
                <c:pt idx="6108">
                  <c:v>#N/A</c:v>
                </c:pt>
                <c:pt idx="6109">
                  <c:v>#N/A</c:v>
                </c:pt>
                <c:pt idx="6110">
                  <c:v>#N/A</c:v>
                </c:pt>
                <c:pt idx="6111">
                  <c:v>#N/A</c:v>
                </c:pt>
                <c:pt idx="6112">
                  <c:v>#N/A</c:v>
                </c:pt>
                <c:pt idx="6113">
                  <c:v>#N/A</c:v>
                </c:pt>
                <c:pt idx="6114">
                  <c:v>#N/A</c:v>
                </c:pt>
                <c:pt idx="6115">
                  <c:v>#N/A</c:v>
                </c:pt>
                <c:pt idx="6116">
                  <c:v>#N/A</c:v>
                </c:pt>
                <c:pt idx="6117">
                  <c:v>#N/A</c:v>
                </c:pt>
                <c:pt idx="6118">
                  <c:v>#N/A</c:v>
                </c:pt>
                <c:pt idx="6119">
                  <c:v>#N/A</c:v>
                </c:pt>
                <c:pt idx="6120">
                  <c:v>#N/A</c:v>
                </c:pt>
                <c:pt idx="6121">
                  <c:v>#N/A</c:v>
                </c:pt>
                <c:pt idx="6122">
                  <c:v>#N/A</c:v>
                </c:pt>
                <c:pt idx="6123">
                  <c:v>#N/A</c:v>
                </c:pt>
                <c:pt idx="6124">
                  <c:v>#N/A</c:v>
                </c:pt>
                <c:pt idx="6125">
                  <c:v>#N/A</c:v>
                </c:pt>
                <c:pt idx="6126">
                  <c:v>#N/A</c:v>
                </c:pt>
                <c:pt idx="6127">
                  <c:v>#N/A</c:v>
                </c:pt>
                <c:pt idx="6128">
                  <c:v>#N/A</c:v>
                </c:pt>
                <c:pt idx="6129">
                  <c:v>#N/A</c:v>
                </c:pt>
                <c:pt idx="6130">
                  <c:v>#N/A</c:v>
                </c:pt>
                <c:pt idx="6131">
                  <c:v>#N/A</c:v>
                </c:pt>
                <c:pt idx="6132">
                  <c:v>#N/A</c:v>
                </c:pt>
                <c:pt idx="6133">
                  <c:v>#N/A</c:v>
                </c:pt>
                <c:pt idx="6134">
                  <c:v>#N/A</c:v>
                </c:pt>
                <c:pt idx="6135">
                  <c:v>#N/A</c:v>
                </c:pt>
                <c:pt idx="6136">
                  <c:v>#N/A</c:v>
                </c:pt>
                <c:pt idx="6137">
                  <c:v>#N/A</c:v>
                </c:pt>
                <c:pt idx="6138">
                  <c:v>#N/A</c:v>
                </c:pt>
                <c:pt idx="6139">
                  <c:v>#N/A</c:v>
                </c:pt>
                <c:pt idx="6140">
                  <c:v>#N/A</c:v>
                </c:pt>
                <c:pt idx="6141">
                  <c:v>#N/A</c:v>
                </c:pt>
                <c:pt idx="6142">
                  <c:v>#N/A</c:v>
                </c:pt>
                <c:pt idx="6143">
                  <c:v>#N/A</c:v>
                </c:pt>
                <c:pt idx="6144">
                  <c:v>#N/A</c:v>
                </c:pt>
                <c:pt idx="6145">
                  <c:v>#N/A</c:v>
                </c:pt>
                <c:pt idx="6146">
                  <c:v>#N/A</c:v>
                </c:pt>
                <c:pt idx="6147">
                  <c:v>#N/A</c:v>
                </c:pt>
                <c:pt idx="6148">
                  <c:v>#N/A</c:v>
                </c:pt>
                <c:pt idx="6149">
                  <c:v>#N/A</c:v>
                </c:pt>
                <c:pt idx="6150">
                  <c:v>#N/A</c:v>
                </c:pt>
                <c:pt idx="6151">
                  <c:v>#N/A</c:v>
                </c:pt>
                <c:pt idx="6152">
                  <c:v>#N/A</c:v>
                </c:pt>
                <c:pt idx="6153">
                  <c:v>#N/A</c:v>
                </c:pt>
                <c:pt idx="6154">
                  <c:v>#N/A</c:v>
                </c:pt>
                <c:pt idx="6155">
                  <c:v>#N/A</c:v>
                </c:pt>
                <c:pt idx="6156">
                  <c:v>#N/A</c:v>
                </c:pt>
                <c:pt idx="6157">
                  <c:v>#N/A</c:v>
                </c:pt>
                <c:pt idx="6158">
                  <c:v>#N/A</c:v>
                </c:pt>
                <c:pt idx="6159">
                  <c:v>#N/A</c:v>
                </c:pt>
                <c:pt idx="6160">
                  <c:v>#N/A</c:v>
                </c:pt>
                <c:pt idx="6161">
                  <c:v>#N/A</c:v>
                </c:pt>
                <c:pt idx="6162">
                  <c:v>#N/A</c:v>
                </c:pt>
                <c:pt idx="6163">
                  <c:v>#N/A</c:v>
                </c:pt>
                <c:pt idx="6164">
                  <c:v>#N/A</c:v>
                </c:pt>
                <c:pt idx="6165">
                  <c:v>#N/A</c:v>
                </c:pt>
                <c:pt idx="6166">
                  <c:v>#N/A</c:v>
                </c:pt>
                <c:pt idx="6167">
                  <c:v>#N/A</c:v>
                </c:pt>
                <c:pt idx="6168">
                  <c:v>#N/A</c:v>
                </c:pt>
                <c:pt idx="6169">
                  <c:v>#N/A</c:v>
                </c:pt>
                <c:pt idx="6170">
                  <c:v>#N/A</c:v>
                </c:pt>
                <c:pt idx="6171">
                  <c:v>#N/A</c:v>
                </c:pt>
                <c:pt idx="6172">
                  <c:v>#N/A</c:v>
                </c:pt>
                <c:pt idx="6173">
                  <c:v>#N/A</c:v>
                </c:pt>
                <c:pt idx="6174">
                  <c:v>#N/A</c:v>
                </c:pt>
                <c:pt idx="6175">
                  <c:v>#N/A</c:v>
                </c:pt>
                <c:pt idx="6176">
                  <c:v>#N/A</c:v>
                </c:pt>
                <c:pt idx="6177">
                  <c:v>#N/A</c:v>
                </c:pt>
                <c:pt idx="6178">
                  <c:v>#N/A</c:v>
                </c:pt>
                <c:pt idx="6179">
                  <c:v>#N/A</c:v>
                </c:pt>
                <c:pt idx="6180">
                  <c:v>#N/A</c:v>
                </c:pt>
                <c:pt idx="6181">
                  <c:v>#N/A</c:v>
                </c:pt>
                <c:pt idx="6182">
                  <c:v>#N/A</c:v>
                </c:pt>
                <c:pt idx="6183">
                  <c:v>#N/A</c:v>
                </c:pt>
                <c:pt idx="6184">
                  <c:v>#N/A</c:v>
                </c:pt>
                <c:pt idx="6185">
                  <c:v>#N/A</c:v>
                </c:pt>
                <c:pt idx="6186">
                  <c:v>#N/A</c:v>
                </c:pt>
                <c:pt idx="6187">
                  <c:v>#N/A</c:v>
                </c:pt>
                <c:pt idx="6188">
                  <c:v>#N/A</c:v>
                </c:pt>
                <c:pt idx="6189">
                  <c:v>#N/A</c:v>
                </c:pt>
                <c:pt idx="6190">
                  <c:v>#N/A</c:v>
                </c:pt>
                <c:pt idx="6191">
                  <c:v>#N/A</c:v>
                </c:pt>
                <c:pt idx="6192">
                  <c:v>#N/A</c:v>
                </c:pt>
                <c:pt idx="6193">
                  <c:v>#N/A</c:v>
                </c:pt>
                <c:pt idx="6194">
                  <c:v>#N/A</c:v>
                </c:pt>
                <c:pt idx="6195">
                  <c:v>#N/A</c:v>
                </c:pt>
                <c:pt idx="6196">
                  <c:v>#N/A</c:v>
                </c:pt>
                <c:pt idx="6197">
                  <c:v>#N/A</c:v>
                </c:pt>
                <c:pt idx="6198">
                  <c:v>#N/A</c:v>
                </c:pt>
                <c:pt idx="6199">
                  <c:v>#N/A</c:v>
                </c:pt>
                <c:pt idx="6200">
                  <c:v>#N/A</c:v>
                </c:pt>
                <c:pt idx="6201">
                  <c:v>#N/A</c:v>
                </c:pt>
                <c:pt idx="6202">
                  <c:v>#N/A</c:v>
                </c:pt>
                <c:pt idx="6203">
                  <c:v>#N/A</c:v>
                </c:pt>
                <c:pt idx="6204">
                  <c:v>#N/A</c:v>
                </c:pt>
                <c:pt idx="6205">
                  <c:v>#N/A</c:v>
                </c:pt>
                <c:pt idx="6206">
                  <c:v>#N/A</c:v>
                </c:pt>
                <c:pt idx="6207">
                  <c:v>#N/A</c:v>
                </c:pt>
                <c:pt idx="6208">
                  <c:v>#N/A</c:v>
                </c:pt>
                <c:pt idx="6209">
                  <c:v>#N/A</c:v>
                </c:pt>
                <c:pt idx="6210">
                  <c:v>#N/A</c:v>
                </c:pt>
                <c:pt idx="6211">
                  <c:v>#N/A</c:v>
                </c:pt>
                <c:pt idx="6212">
                  <c:v>#N/A</c:v>
                </c:pt>
                <c:pt idx="6213">
                  <c:v>#N/A</c:v>
                </c:pt>
                <c:pt idx="6214">
                  <c:v>#N/A</c:v>
                </c:pt>
                <c:pt idx="6215">
                  <c:v>#N/A</c:v>
                </c:pt>
                <c:pt idx="6216">
                  <c:v>#N/A</c:v>
                </c:pt>
                <c:pt idx="6217">
                  <c:v>#N/A</c:v>
                </c:pt>
                <c:pt idx="6218">
                  <c:v>#N/A</c:v>
                </c:pt>
                <c:pt idx="6219">
                  <c:v>#N/A</c:v>
                </c:pt>
                <c:pt idx="6220">
                  <c:v>#N/A</c:v>
                </c:pt>
                <c:pt idx="6221">
                  <c:v>#N/A</c:v>
                </c:pt>
                <c:pt idx="6222">
                  <c:v>#N/A</c:v>
                </c:pt>
                <c:pt idx="6223">
                  <c:v>#N/A</c:v>
                </c:pt>
                <c:pt idx="6224">
                  <c:v>#N/A</c:v>
                </c:pt>
                <c:pt idx="6225">
                  <c:v>#N/A</c:v>
                </c:pt>
                <c:pt idx="6226">
                  <c:v>#N/A</c:v>
                </c:pt>
                <c:pt idx="6227">
                  <c:v>#N/A</c:v>
                </c:pt>
                <c:pt idx="6228">
                  <c:v>#N/A</c:v>
                </c:pt>
                <c:pt idx="6229">
                  <c:v>#N/A</c:v>
                </c:pt>
                <c:pt idx="6230">
                  <c:v>#N/A</c:v>
                </c:pt>
                <c:pt idx="6231">
                  <c:v>#N/A</c:v>
                </c:pt>
                <c:pt idx="6232">
                  <c:v>#N/A</c:v>
                </c:pt>
                <c:pt idx="6233">
                  <c:v>#N/A</c:v>
                </c:pt>
                <c:pt idx="6234">
                  <c:v>#N/A</c:v>
                </c:pt>
                <c:pt idx="6235">
                  <c:v>#N/A</c:v>
                </c:pt>
                <c:pt idx="6236">
                  <c:v>#N/A</c:v>
                </c:pt>
                <c:pt idx="6237">
                  <c:v>#N/A</c:v>
                </c:pt>
                <c:pt idx="6238">
                  <c:v>#N/A</c:v>
                </c:pt>
                <c:pt idx="6239">
                  <c:v>#N/A</c:v>
                </c:pt>
                <c:pt idx="6240">
                  <c:v>#N/A</c:v>
                </c:pt>
                <c:pt idx="6241">
                  <c:v>#N/A</c:v>
                </c:pt>
                <c:pt idx="6242">
                  <c:v>#N/A</c:v>
                </c:pt>
                <c:pt idx="6243">
                  <c:v>#N/A</c:v>
                </c:pt>
                <c:pt idx="6244">
                  <c:v>#N/A</c:v>
                </c:pt>
                <c:pt idx="6245">
                  <c:v>#N/A</c:v>
                </c:pt>
                <c:pt idx="6246">
                  <c:v>#N/A</c:v>
                </c:pt>
                <c:pt idx="6247">
                  <c:v>#N/A</c:v>
                </c:pt>
                <c:pt idx="6248">
                  <c:v>#N/A</c:v>
                </c:pt>
                <c:pt idx="6249">
                  <c:v>#N/A</c:v>
                </c:pt>
                <c:pt idx="6250">
                  <c:v>#N/A</c:v>
                </c:pt>
                <c:pt idx="6251">
                  <c:v>#N/A</c:v>
                </c:pt>
                <c:pt idx="6252">
                  <c:v>#N/A</c:v>
                </c:pt>
                <c:pt idx="6253">
                  <c:v>#N/A</c:v>
                </c:pt>
                <c:pt idx="6254">
                  <c:v>#N/A</c:v>
                </c:pt>
                <c:pt idx="6255">
                  <c:v>#N/A</c:v>
                </c:pt>
                <c:pt idx="6256">
                  <c:v>#N/A</c:v>
                </c:pt>
                <c:pt idx="6257">
                  <c:v>#N/A</c:v>
                </c:pt>
                <c:pt idx="6258">
                  <c:v>#N/A</c:v>
                </c:pt>
                <c:pt idx="6259">
                  <c:v>#N/A</c:v>
                </c:pt>
                <c:pt idx="6260">
                  <c:v>#N/A</c:v>
                </c:pt>
                <c:pt idx="6261">
                  <c:v>#N/A</c:v>
                </c:pt>
                <c:pt idx="6262">
                  <c:v>#N/A</c:v>
                </c:pt>
                <c:pt idx="6263">
                  <c:v>#N/A</c:v>
                </c:pt>
                <c:pt idx="6264">
                  <c:v>#N/A</c:v>
                </c:pt>
                <c:pt idx="6265">
                  <c:v>#N/A</c:v>
                </c:pt>
                <c:pt idx="6266">
                  <c:v>#N/A</c:v>
                </c:pt>
                <c:pt idx="6267">
                  <c:v>#N/A</c:v>
                </c:pt>
                <c:pt idx="6268">
                  <c:v>#N/A</c:v>
                </c:pt>
                <c:pt idx="6269">
                  <c:v>#N/A</c:v>
                </c:pt>
                <c:pt idx="6270">
                  <c:v>#N/A</c:v>
                </c:pt>
                <c:pt idx="6271">
                  <c:v>#N/A</c:v>
                </c:pt>
                <c:pt idx="6272">
                  <c:v>#N/A</c:v>
                </c:pt>
                <c:pt idx="6273">
                  <c:v>#N/A</c:v>
                </c:pt>
                <c:pt idx="6274">
                  <c:v>#N/A</c:v>
                </c:pt>
                <c:pt idx="6275">
                  <c:v>#N/A</c:v>
                </c:pt>
                <c:pt idx="6276">
                  <c:v>#N/A</c:v>
                </c:pt>
                <c:pt idx="6277">
                  <c:v>#N/A</c:v>
                </c:pt>
                <c:pt idx="6278">
                  <c:v>#N/A</c:v>
                </c:pt>
                <c:pt idx="6279">
                  <c:v>#N/A</c:v>
                </c:pt>
                <c:pt idx="6280">
                  <c:v>#N/A</c:v>
                </c:pt>
                <c:pt idx="6281">
                  <c:v>#N/A</c:v>
                </c:pt>
                <c:pt idx="6282">
                  <c:v>#N/A</c:v>
                </c:pt>
                <c:pt idx="6283">
                  <c:v>#N/A</c:v>
                </c:pt>
                <c:pt idx="6284">
                  <c:v>#N/A</c:v>
                </c:pt>
                <c:pt idx="6285">
                  <c:v>#N/A</c:v>
                </c:pt>
                <c:pt idx="6286">
                  <c:v>#N/A</c:v>
                </c:pt>
                <c:pt idx="6287">
                  <c:v>#N/A</c:v>
                </c:pt>
                <c:pt idx="6288">
                  <c:v>#N/A</c:v>
                </c:pt>
                <c:pt idx="6289">
                  <c:v>#N/A</c:v>
                </c:pt>
                <c:pt idx="6290">
                  <c:v>#N/A</c:v>
                </c:pt>
                <c:pt idx="6291">
                  <c:v>#N/A</c:v>
                </c:pt>
                <c:pt idx="6292">
                  <c:v>#N/A</c:v>
                </c:pt>
                <c:pt idx="6293">
                  <c:v>#N/A</c:v>
                </c:pt>
                <c:pt idx="6294">
                  <c:v>#N/A</c:v>
                </c:pt>
                <c:pt idx="6295">
                  <c:v>#N/A</c:v>
                </c:pt>
                <c:pt idx="6296">
                  <c:v>#N/A</c:v>
                </c:pt>
                <c:pt idx="6297">
                  <c:v>#N/A</c:v>
                </c:pt>
                <c:pt idx="6298">
                  <c:v>#N/A</c:v>
                </c:pt>
                <c:pt idx="6299">
                  <c:v>#N/A</c:v>
                </c:pt>
                <c:pt idx="6300">
                  <c:v>#N/A</c:v>
                </c:pt>
                <c:pt idx="6301">
                  <c:v>#N/A</c:v>
                </c:pt>
                <c:pt idx="6302">
                  <c:v>#N/A</c:v>
                </c:pt>
                <c:pt idx="6303">
                  <c:v>#N/A</c:v>
                </c:pt>
                <c:pt idx="6304">
                  <c:v>#N/A</c:v>
                </c:pt>
                <c:pt idx="6305">
                  <c:v>#N/A</c:v>
                </c:pt>
                <c:pt idx="6306">
                  <c:v>#N/A</c:v>
                </c:pt>
                <c:pt idx="6307">
                  <c:v>#N/A</c:v>
                </c:pt>
                <c:pt idx="6308">
                  <c:v>#N/A</c:v>
                </c:pt>
                <c:pt idx="6309">
                  <c:v>#N/A</c:v>
                </c:pt>
                <c:pt idx="6310">
                  <c:v>#N/A</c:v>
                </c:pt>
                <c:pt idx="6311">
                  <c:v>#N/A</c:v>
                </c:pt>
                <c:pt idx="6312">
                  <c:v>#N/A</c:v>
                </c:pt>
                <c:pt idx="6313">
                  <c:v>#N/A</c:v>
                </c:pt>
                <c:pt idx="6314">
                  <c:v>#N/A</c:v>
                </c:pt>
                <c:pt idx="6315">
                  <c:v>#N/A</c:v>
                </c:pt>
                <c:pt idx="6316">
                  <c:v>#N/A</c:v>
                </c:pt>
                <c:pt idx="6317">
                  <c:v>#N/A</c:v>
                </c:pt>
                <c:pt idx="6318">
                  <c:v>#N/A</c:v>
                </c:pt>
                <c:pt idx="6319">
                  <c:v>#N/A</c:v>
                </c:pt>
                <c:pt idx="6320">
                  <c:v>#N/A</c:v>
                </c:pt>
                <c:pt idx="6321">
                  <c:v>#N/A</c:v>
                </c:pt>
                <c:pt idx="6322">
                  <c:v>#N/A</c:v>
                </c:pt>
                <c:pt idx="6323">
                  <c:v>#N/A</c:v>
                </c:pt>
                <c:pt idx="6324">
                  <c:v>#N/A</c:v>
                </c:pt>
                <c:pt idx="6325">
                  <c:v>#N/A</c:v>
                </c:pt>
                <c:pt idx="6326">
                  <c:v>#N/A</c:v>
                </c:pt>
                <c:pt idx="6327">
                  <c:v>#N/A</c:v>
                </c:pt>
                <c:pt idx="6328">
                  <c:v>#N/A</c:v>
                </c:pt>
                <c:pt idx="6329">
                  <c:v>#N/A</c:v>
                </c:pt>
                <c:pt idx="6330">
                  <c:v>#N/A</c:v>
                </c:pt>
                <c:pt idx="6331">
                  <c:v>#N/A</c:v>
                </c:pt>
                <c:pt idx="6332">
                  <c:v>#N/A</c:v>
                </c:pt>
                <c:pt idx="6333">
                  <c:v>#N/A</c:v>
                </c:pt>
                <c:pt idx="6334">
                  <c:v>#N/A</c:v>
                </c:pt>
                <c:pt idx="6335">
                  <c:v>#N/A</c:v>
                </c:pt>
                <c:pt idx="6336">
                  <c:v>#N/A</c:v>
                </c:pt>
                <c:pt idx="6337">
                  <c:v>#N/A</c:v>
                </c:pt>
                <c:pt idx="6338">
                  <c:v>#N/A</c:v>
                </c:pt>
                <c:pt idx="6339">
                  <c:v>#N/A</c:v>
                </c:pt>
                <c:pt idx="6340">
                  <c:v>#N/A</c:v>
                </c:pt>
                <c:pt idx="6341">
                  <c:v>#N/A</c:v>
                </c:pt>
                <c:pt idx="6342">
                  <c:v>#N/A</c:v>
                </c:pt>
                <c:pt idx="6343">
                  <c:v>#N/A</c:v>
                </c:pt>
                <c:pt idx="6344">
                  <c:v>#N/A</c:v>
                </c:pt>
                <c:pt idx="6345">
                  <c:v>#N/A</c:v>
                </c:pt>
                <c:pt idx="6346">
                  <c:v>#N/A</c:v>
                </c:pt>
                <c:pt idx="6347">
                  <c:v>#N/A</c:v>
                </c:pt>
                <c:pt idx="6348">
                  <c:v>#N/A</c:v>
                </c:pt>
                <c:pt idx="6349">
                  <c:v>#N/A</c:v>
                </c:pt>
                <c:pt idx="6350">
                  <c:v>#N/A</c:v>
                </c:pt>
                <c:pt idx="6351">
                  <c:v>#N/A</c:v>
                </c:pt>
                <c:pt idx="6352">
                  <c:v>#N/A</c:v>
                </c:pt>
                <c:pt idx="6353">
                  <c:v>#N/A</c:v>
                </c:pt>
                <c:pt idx="6354">
                  <c:v>#N/A</c:v>
                </c:pt>
                <c:pt idx="6355">
                  <c:v>#N/A</c:v>
                </c:pt>
                <c:pt idx="6356">
                  <c:v>#N/A</c:v>
                </c:pt>
                <c:pt idx="6357">
                  <c:v>#N/A</c:v>
                </c:pt>
                <c:pt idx="6358">
                  <c:v>#N/A</c:v>
                </c:pt>
                <c:pt idx="6359">
                  <c:v>#N/A</c:v>
                </c:pt>
                <c:pt idx="6360">
                  <c:v>#N/A</c:v>
                </c:pt>
                <c:pt idx="6361">
                  <c:v>#N/A</c:v>
                </c:pt>
                <c:pt idx="6362">
                  <c:v>#N/A</c:v>
                </c:pt>
                <c:pt idx="6363">
                  <c:v>#N/A</c:v>
                </c:pt>
                <c:pt idx="6364">
                  <c:v>#N/A</c:v>
                </c:pt>
                <c:pt idx="6365">
                  <c:v>#N/A</c:v>
                </c:pt>
                <c:pt idx="6366">
                  <c:v>#N/A</c:v>
                </c:pt>
                <c:pt idx="6367">
                  <c:v>#N/A</c:v>
                </c:pt>
                <c:pt idx="6368">
                  <c:v>#N/A</c:v>
                </c:pt>
                <c:pt idx="6369">
                  <c:v>#N/A</c:v>
                </c:pt>
                <c:pt idx="6370">
                  <c:v>#N/A</c:v>
                </c:pt>
                <c:pt idx="6371">
                  <c:v>#N/A</c:v>
                </c:pt>
                <c:pt idx="6372">
                  <c:v>#N/A</c:v>
                </c:pt>
                <c:pt idx="6373">
                  <c:v>#N/A</c:v>
                </c:pt>
                <c:pt idx="6374">
                  <c:v>#N/A</c:v>
                </c:pt>
                <c:pt idx="6375">
                  <c:v>#N/A</c:v>
                </c:pt>
                <c:pt idx="6376">
                  <c:v>#N/A</c:v>
                </c:pt>
                <c:pt idx="6377">
                  <c:v>#N/A</c:v>
                </c:pt>
                <c:pt idx="6378">
                  <c:v>#N/A</c:v>
                </c:pt>
                <c:pt idx="6379">
                  <c:v>#N/A</c:v>
                </c:pt>
                <c:pt idx="6380">
                  <c:v>#N/A</c:v>
                </c:pt>
                <c:pt idx="6381">
                  <c:v>#N/A</c:v>
                </c:pt>
                <c:pt idx="6382">
                  <c:v>#N/A</c:v>
                </c:pt>
                <c:pt idx="6383">
                  <c:v>#N/A</c:v>
                </c:pt>
                <c:pt idx="6384">
                  <c:v>#N/A</c:v>
                </c:pt>
                <c:pt idx="6385">
                  <c:v>#N/A</c:v>
                </c:pt>
                <c:pt idx="6386">
                  <c:v>#N/A</c:v>
                </c:pt>
                <c:pt idx="6387">
                  <c:v>#N/A</c:v>
                </c:pt>
                <c:pt idx="6388">
                  <c:v>#N/A</c:v>
                </c:pt>
                <c:pt idx="6389">
                  <c:v>#N/A</c:v>
                </c:pt>
                <c:pt idx="6390">
                  <c:v>#N/A</c:v>
                </c:pt>
                <c:pt idx="6391">
                  <c:v>#N/A</c:v>
                </c:pt>
                <c:pt idx="6392">
                  <c:v>#N/A</c:v>
                </c:pt>
                <c:pt idx="6393">
                  <c:v>#N/A</c:v>
                </c:pt>
                <c:pt idx="6394">
                  <c:v>#N/A</c:v>
                </c:pt>
                <c:pt idx="6395">
                  <c:v>#N/A</c:v>
                </c:pt>
                <c:pt idx="6396">
                  <c:v>#N/A</c:v>
                </c:pt>
                <c:pt idx="6397">
                  <c:v>#N/A</c:v>
                </c:pt>
                <c:pt idx="6398">
                  <c:v>#N/A</c:v>
                </c:pt>
                <c:pt idx="6399">
                  <c:v>#N/A</c:v>
                </c:pt>
                <c:pt idx="6400">
                  <c:v>#N/A</c:v>
                </c:pt>
                <c:pt idx="6401">
                  <c:v>#N/A</c:v>
                </c:pt>
                <c:pt idx="6402">
                  <c:v>#N/A</c:v>
                </c:pt>
                <c:pt idx="6403">
                  <c:v>#N/A</c:v>
                </c:pt>
                <c:pt idx="6404">
                  <c:v>#N/A</c:v>
                </c:pt>
                <c:pt idx="6405">
                  <c:v>#N/A</c:v>
                </c:pt>
                <c:pt idx="6406">
                  <c:v>#N/A</c:v>
                </c:pt>
                <c:pt idx="6407">
                  <c:v>#N/A</c:v>
                </c:pt>
                <c:pt idx="6408">
                  <c:v>#N/A</c:v>
                </c:pt>
                <c:pt idx="6409">
                  <c:v>#N/A</c:v>
                </c:pt>
                <c:pt idx="6410">
                  <c:v>#N/A</c:v>
                </c:pt>
                <c:pt idx="6411">
                  <c:v>#N/A</c:v>
                </c:pt>
                <c:pt idx="6412">
                  <c:v>#N/A</c:v>
                </c:pt>
                <c:pt idx="6413">
                  <c:v>#N/A</c:v>
                </c:pt>
                <c:pt idx="6414">
                  <c:v>#N/A</c:v>
                </c:pt>
                <c:pt idx="6415">
                  <c:v>#N/A</c:v>
                </c:pt>
                <c:pt idx="6416">
                  <c:v>#N/A</c:v>
                </c:pt>
                <c:pt idx="6417">
                  <c:v>#N/A</c:v>
                </c:pt>
                <c:pt idx="6418">
                  <c:v>#N/A</c:v>
                </c:pt>
                <c:pt idx="6419">
                  <c:v>#N/A</c:v>
                </c:pt>
                <c:pt idx="6420">
                  <c:v>#N/A</c:v>
                </c:pt>
                <c:pt idx="6421">
                  <c:v>#N/A</c:v>
                </c:pt>
                <c:pt idx="6422">
                  <c:v>#N/A</c:v>
                </c:pt>
                <c:pt idx="6423">
                  <c:v>#N/A</c:v>
                </c:pt>
                <c:pt idx="6424">
                  <c:v>#N/A</c:v>
                </c:pt>
                <c:pt idx="6425">
                  <c:v>#N/A</c:v>
                </c:pt>
                <c:pt idx="6426">
                  <c:v>#N/A</c:v>
                </c:pt>
                <c:pt idx="6427">
                  <c:v>#N/A</c:v>
                </c:pt>
                <c:pt idx="6428">
                  <c:v>#N/A</c:v>
                </c:pt>
                <c:pt idx="6429">
                  <c:v>#N/A</c:v>
                </c:pt>
                <c:pt idx="6430">
                  <c:v>#N/A</c:v>
                </c:pt>
                <c:pt idx="6431">
                  <c:v>#N/A</c:v>
                </c:pt>
                <c:pt idx="6432">
                  <c:v>#N/A</c:v>
                </c:pt>
                <c:pt idx="6433">
                  <c:v>#N/A</c:v>
                </c:pt>
                <c:pt idx="6434">
                  <c:v>#N/A</c:v>
                </c:pt>
                <c:pt idx="6435">
                  <c:v>#N/A</c:v>
                </c:pt>
                <c:pt idx="6436">
                  <c:v>#N/A</c:v>
                </c:pt>
                <c:pt idx="6437">
                  <c:v>#N/A</c:v>
                </c:pt>
                <c:pt idx="6438">
                  <c:v>#N/A</c:v>
                </c:pt>
                <c:pt idx="6439">
                  <c:v>#N/A</c:v>
                </c:pt>
                <c:pt idx="6440">
                  <c:v>#N/A</c:v>
                </c:pt>
                <c:pt idx="6441">
                  <c:v>#N/A</c:v>
                </c:pt>
                <c:pt idx="6442">
                  <c:v>#N/A</c:v>
                </c:pt>
                <c:pt idx="6443">
                  <c:v>#N/A</c:v>
                </c:pt>
                <c:pt idx="6444">
                  <c:v>#N/A</c:v>
                </c:pt>
                <c:pt idx="6445">
                  <c:v>#N/A</c:v>
                </c:pt>
                <c:pt idx="6446">
                  <c:v>#N/A</c:v>
                </c:pt>
                <c:pt idx="6447">
                  <c:v>#N/A</c:v>
                </c:pt>
                <c:pt idx="6448">
                  <c:v>#N/A</c:v>
                </c:pt>
                <c:pt idx="6449">
                  <c:v>#N/A</c:v>
                </c:pt>
                <c:pt idx="6450">
                  <c:v>#N/A</c:v>
                </c:pt>
                <c:pt idx="6451">
                  <c:v>#N/A</c:v>
                </c:pt>
                <c:pt idx="6452">
                  <c:v>#N/A</c:v>
                </c:pt>
                <c:pt idx="6453">
                  <c:v>#N/A</c:v>
                </c:pt>
                <c:pt idx="6454">
                  <c:v>#N/A</c:v>
                </c:pt>
                <c:pt idx="6455">
                  <c:v>#N/A</c:v>
                </c:pt>
                <c:pt idx="6456">
                  <c:v>#N/A</c:v>
                </c:pt>
                <c:pt idx="6457">
                  <c:v>#N/A</c:v>
                </c:pt>
                <c:pt idx="6458">
                  <c:v>#N/A</c:v>
                </c:pt>
                <c:pt idx="6459">
                  <c:v>#N/A</c:v>
                </c:pt>
                <c:pt idx="6460">
                  <c:v>#N/A</c:v>
                </c:pt>
                <c:pt idx="6461">
                  <c:v>#N/A</c:v>
                </c:pt>
                <c:pt idx="6462">
                  <c:v>#N/A</c:v>
                </c:pt>
                <c:pt idx="6463">
                  <c:v>#N/A</c:v>
                </c:pt>
                <c:pt idx="6464">
                  <c:v>#N/A</c:v>
                </c:pt>
                <c:pt idx="6465">
                  <c:v>#N/A</c:v>
                </c:pt>
                <c:pt idx="6466">
                  <c:v>#N/A</c:v>
                </c:pt>
                <c:pt idx="6467">
                  <c:v>#N/A</c:v>
                </c:pt>
                <c:pt idx="6468">
                  <c:v>#N/A</c:v>
                </c:pt>
                <c:pt idx="6469">
                  <c:v>#N/A</c:v>
                </c:pt>
                <c:pt idx="6470">
                  <c:v>#N/A</c:v>
                </c:pt>
                <c:pt idx="6471">
                  <c:v>#N/A</c:v>
                </c:pt>
                <c:pt idx="6472">
                  <c:v>#N/A</c:v>
                </c:pt>
                <c:pt idx="6473">
                  <c:v>#N/A</c:v>
                </c:pt>
                <c:pt idx="6474">
                  <c:v>#N/A</c:v>
                </c:pt>
                <c:pt idx="6475">
                  <c:v>#N/A</c:v>
                </c:pt>
                <c:pt idx="6476">
                  <c:v>#N/A</c:v>
                </c:pt>
                <c:pt idx="6477">
                  <c:v>#N/A</c:v>
                </c:pt>
                <c:pt idx="6478">
                  <c:v>#N/A</c:v>
                </c:pt>
                <c:pt idx="6479">
                  <c:v>#N/A</c:v>
                </c:pt>
                <c:pt idx="6480">
                  <c:v>#N/A</c:v>
                </c:pt>
                <c:pt idx="6481">
                  <c:v>#N/A</c:v>
                </c:pt>
                <c:pt idx="6482">
                  <c:v>#N/A</c:v>
                </c:pt>
                <c:pt idx="6483">
                  <c:v>#N/A</c:v>
                </c:pt>
                <c:pt idx="6484">
                  <c:v>#N/A</c:v>
                </c:pt>
                <c:pt idx="6485">
                  <c:v>#N/A</c:v>
                </c:pt>
                <c:pt idx="6486">
                  <c:v>#N/A</c:v>
                </c:pt>
                <c:pt idx="6487">
                  <c:v>#N/A</c:v>
                </c:pt>
                <c:pt idx="6488">
                  <c:v>#N/A</c:v>
                </c:pt>
                <c:pt idx="6489">
                  <c:v>#N/A</c:v>
                </c:pt>
                <c:pt idx="6490">
                  <c:v>#N/A</c:v>
                </c:pt>
                <c:pt idx="6491">
                  <c:v>#N/A</c:v>
                </c:pt>
                <c:pt idx="6492">
                  <c:v>#N/A</c:v>
                </c:pt>
                <c:pt idx="6493">
                  <c:v>#N/A</c:v>
                </c:pt>
                <c:pt idx="6494">
                  <c:v>#N/A</c:v>
                </c:pt>
                <c:pt idx="6495">
                  <c:v>#N/A</c:v>
                </c:pt>
                <c:pt idx="6496">
                  <c:v>#N/A</c:v>
                </c:pt>
                <c:pt idx="6497">
                  <c:v>#N/A</c:v>
                </c:pt>
                <c:pt idx="6498">
                  <c:v>#N/A</c:v>
                </c:pt>
                <c:pt idx="6499">
                  <c:v>#N/A</c:v>
                </c:pt>
                <c:pt idx="6500">
                  <c:v>#N/A</c:v>
                </c:pt>
                <c:pt idx="6501">
                  <c:v>#N/A</c:v>
                </c:pt>
                <c:pt idx="6502">
                  <c:v>#N/A</c:v>
                </c:pt>
                <c:pt idx="6503">
                  <c:v>#N/A</c:v>
                </c:pt>
                <c:pt idx="6504">
                  <c:v>#N/A</c:v>
                </c:pt>
                <c:pt idx="6505">
                  <c:v>#N/A</c:v>
                </c:pt>
                <c:pt idx="6506">
                  <c:v>#N/A</c:v>
                </c:pt>
                <c:pt idx="6507">
                  <c:v>#N/A</c:v>
                </c:pt>
                <c:pt idx="6508">
                  <c:v>#N/A</c:v>
                </c:pt>
                <c:pt idx="6509">
                  <c:v>#N/A</c:v>
                </c:pt>
                <c:pt idx="6510">
                  <c:v>#N/A</c:v>
                </c:pt>
                <c:pt idx="6511">
                  <c:v>#N/A</c:v>
                </c:pt>
                <c:pt idx="6512">
                  <c:v>#N/A</c:v>
                </c:pt>
                <c:pt idx="6513">
                  <c:v>#N/A</c:v>
                </c:pt>
                <c:pt idx="6514">
                  <c:v>#N/A</c:v>
                </c:pt>
                <c:pt idx="6515">
                  <c:v>#N/A</c:v>
                </c:pt>
                <c:pt idx="6516">
                  <c:v>#N/A</c:v>
                </c:pt>
                <c:pt idx="6517">
                  <c:v>#N/A</c:v>
                </c:pt>
                <c:pt idx="6518">
                  <c:v>#N/A</c:v>
                </c:pt>
                <c:pt idx="6519">
                  <c:v>#N/A</c:v>
                </c:pt>
                <c:pt idx="6520">
                  <c:v>#N/A</c:v>
                </c:pt>
                <c:pt idx="6521">
                  <c:v>#N/A</c:v>
                </c:pt>
                <c:pt idx="6522">
                  <c:v>#N/A</c:v>
                </c:pt>
                <c:pt idx="6523">
                  <c:v>#N/A</c:v>
                </c:pt>
                <c:pt idx="6524">
                  <c:v>#N/A</c:v>
                </c:pt>
                <c:pt idx="6525">
                  <c:v>#N/A</c:v>
                </c:pt>
                <c:pt idx="6526">
                  <c:v>#N/A</c:v>
                </c:pt>
                <c:pt idx="6527">
                  <c:v>#N/A</c:v>
                </c:pt>
                <c:pt idx="6528">
                  <c:v>#N/A</c:v>
                </c:pt>
                <c:pt idx="6529">
                  <c:v>#N/A</c:v>
                </c:pt>
                <c:pt idx="6530">
                  <c:v>#N/A</c:v>
                </c:pt>
                <c:pt idx="6531">
                  <c:v>#N/A</c:v>
                </c:pt>
                <c:pt idx="6532">
                  <c:v>#N/A</c:v>
                </c:pt>
                <c:pt idx="6533">
                  <c:v>#N/A</c:v>
                </c:pt>
                <c:pt idx="6534">
                  <c:v>#N/A</c:v>
                </c:pt>
                <c:pt idx="6535">
                  <c:v>#N/A</c:v>
                </c:pt>
                <c:pt idx="6536">
                  <c:v>#N/A</c:v>
                </c:pt>
                <c:pt idx="6537">
                  <c:v>#N/A</c:v>
                </c:pt>
                <c:pt idx="6538">
                  <c:v>#N/A</c:v>
                </c:pt>
                <c:pt idx="6539">
                  <c:v>#N/A</c:v>
                </c:pt>
                <c:pt idx="6540">
                  <c:v>#N/A</c:v>
                </c:pt>
                <c:pt idx="6541">
                  <c:v>#N/A</c:v>
                </c:pt>
                <c:pt idx="6542">
                  <c:v>#N/A</c:v>
                </c:pt>
                <c:pt idx="6543">
                  <c:v>#N/A</c:v>
                </c:pt>
                <c:pt idx="6544">
                  <c:v>#N/A</c:v>
                </c:pt>
                <c:pt idx="6545">
                  <c:v>#N/A</c:v>
                </c:pt>
                <c:pt idx="6546">
                  <c:v>#N/A</c:v>
                </c:pt>
                <c:pt idx="6547">
                  <c:v>#N/A</c:v>
                </c:pt>
                <c:pt idx="6548">
                  <c:v>#N/A</c:v>
                </c:pt>
                <c:pt idx="6549">
                  <c:v>#N/A</c:v>
                </c:pt>
                <c:pt idx="6550">
                  <c:v>#N/A</c:v>
                </c:pt>
                <c:pt idx="6551">
                  <c:v>#N/A</c:v>
                </c:pt>
                <c:pt idx="6552">
                  <c:v>#N/A</c:v>
                </c:pt>
                <c:pt idx="6553">
                  <c:v>#N/A</c:v>
                </c:pt>
                <c:pt idx="6554">
                  <c:v>#N/A</c:v>
                </c:pt>
                <c:pt idx="6555">
                  <c:v>#N/A</c:v>
                </c:pt>
                <c:pt idx="6556">
                  <c:v>#N/A</c:v>
                </c:pt>
                <c:pt idx="6557">
                  <c:v>#N/A</c:v>
                </c:pt>
                <c:pt idx="6558">
                  <c:v>#N/A</c:v>
                </c:pt>
                <c:pt idx="6559">
                  <c:v>#N/A</c:v>
                </c:pt>
                <c:pt idx="6560">
                  <c:v>#N/A</c:v>
                </c:pt>
                <c:pt idx="6561">
                  <c:v>#N/A</c:v>
                </c:pt>
                <c:pt idx="6562">
                  <c:v>#N/A</c:v>
                </c:pt>
                <c:pt idx="6563">
                  <c:v>#N/A</c:v>
                </c:pt>
                <c:pt idx="6564">
                  <c:v>#N/A</c:v>
                </c:pt>
                <c:pt idx="6565">
                  <c:v>#N/A</c:v>
                </c:pt>
                <c:pt idx="6566">
                  <c:v>#N/A</c:v>
                </c:pt>
                <c:pt idx="6567">
                  <c:v>#N/A</c:v>
                </c:pt>
                <c:pt idx="6568">
                  <c:v>#N/A</c:v>
                </c:pt>
                <c:pt idx="6569">
                  <c:v>#N/A</c:v>
                </c:pt>
                <c:pt idx="6570">
                  <c:v>#N/A</c:v>
                </c:pt>
                <c:pt idx="6571">
                  <c:v>#N/A</c:v>
                </c:pt>
                <c:pt idx="6572">
                  <c:v>#N/A</c:v>
                </c:pt>
                <c:pt idx="6573">
                  <c:v>#N/A</c:v>
                </c:pt>
                <c:pt idx="6574">
                  <c:v>#N/A</c:v>
                </c:pt>
                <c:pt idx="6575">
                  <c:v>#N/A</c:v>
                </c:pt>
                <c:pt idx="6576">
                  <c:v>#N/A</c:v>
                </c:pt>
                <c:pt idx="6577">
                  <c:v>#N/A</c:v>
                </c:pt>
                <c:pt idx="6578">
                  <c:v>#N/A</c:v>
                </c:pt>
                <c:pt idx="6579">
                  <c:v>#N/A</c:v>
                </c:pt>
                <c:pt idx="6580">
                  <c:v>#N/A</c:v>
                </c:pt>
                <c:pt idx="6581">
                  <c:v>#N/A</c:v>
                </c:pt>
                <c:pt idx="6582">
                  <c:v>#N/A</c:v>
                </c:pt>
                <c:pt idx="6583">
                  <c:v>#N/A</c:v>
                </c:pt>
                <c:pt idx="6584">
                  <c:v>#N/A</c:v>
                </c:pt>
                <c:pt idx="6585">
                  <c:v>#N/A</c:v>
                </c:pt>
                <c:pt idx="6586">
                  <c:v>#N/A</c:v>
                </c:pt>
                <c:pt idx="6587">
                  <c:v>#N/A</c:v>
                </c:pt>
                <c:pt idx="6588">
                  <c:v>#N/A</c:v>
                </c:pt>
                <c:pt idx="6589">
                  <c:v>#N/A</c:v>
                </c:pt>
                <c:pt idx="6590">
                  <c:v>#N/A</c:v>
                </c:pt>
                <c:pt idx="6591">
                  <c:v>#N/A</c:v>
                </c:pt>
                <c:pt idx="6592">
                  <c:v>#N/A</c:v>
                </c:pt>
                <c:pt idx="6593">
                  <c:v>#N/A</c:v>
                </c:pt>
                <c:pt idx="6594">
                  <c:v>#N/A</c:v>
                </c:pt>
                <c:pt idx="6595">
                  <c:v>#N/A</c:v>
                </c:pt>
                <c:pt idx="6596">
                  <c:v>#N/A</c:v>
                </c:pt>
                <c:pt idx="6597">
                  <c:v>#N/A</c:v>
                </c:pt>
                <c:pt idx="6598">
                  <c:v>#N/A</c:v>
                </c:pt>
                <c:pt idx="6599">
                  <c:v>#N/A</c:v>
                </c:pt>
                <c:pt idx="6600">
                  <c:v>#N/A</c:v>
                </c:pt>
                <c:pt idx="6601">
                  <c:v>#N/A</c:v>
                </c:pt>
                <c:pt idx="6602">
                  <c:v>#N/A</c:v>
                </c:pt>
                <c:pt idx="6603">
                  <c:v>#N/A</c:v>
                </c:pt>
                <c:pt idx="6604">
                  <c:v>#N/A</c:v>
                </c:pt>
                <c:pt idx="6605">
                  <c:v>#N/A</c:v>
                </c:pt>
                <c:pt idx="6606">
                  <c:v>#N/A</c:v>
                </c:pt>
                <c:pt idx="6607">
                  <c:v>#N/A</c:v>
                </c:pt>
                <c:pt idx="6608">
                  <c:v>#N/A</c:v>
                </c:pt>
                <c:pt idx="6609">
                  <c:v>#N/A</c:v>
                </c:pt>
                <c:pt idx="6610">
                  <c:v>#N/A</c:v>
                </c:pt>
                <c:pt idx="6611">
                  <c:v>#N/A</c:v>
                </c:pt>
                <c:pt idx="6612">
                  <c:v>#N/A</c:v>
                </c:pt>
                <c:pt idx="6613">
                  <c:v>#N/A</c:v>
                </c:pt>
                <c:pt idx="6614">
                  <c:v>#N/A</c:v>
                </c:pt>
                <c:pt idx="6615">
                  <c:v>#N/A</c:v>
                </c:pt>
                <c:pt idx="6616">
                  <c:v>#N/A</c:v>
                </c:pt>
                <c:pt idx="6617">
                  <c:v>#N/A</c:v>
                </c:pt>
                <c:pt idx="6618">
                  <c:v>#N/A</c:v>
                </c:pt>
                <c:pt idx="6619">
                  <c:v>#N/A</c:v>
                </c:pt>
                <c:pt idx="6620">
                  <c:v>#N/A</c:v>
                </c:pt>
                <c:pt idx="6621">
                  <c:v>#N/A</c:v>
                </c:pt>
                <c:pt idx="6622">
                  <c:v>#N/A</c:v>
                </c:pt>
                <c:pt idx="6623">
                  <c:v>#N/A</c:v>
                </c:pt>
                <c:pt idx="6624">
                  <c:v>#N/A</c:v>
                </c:pt>
                <c:pt idx="6625">
                  <c:v>#N/A</c:v>
                </c:pt>
                <c:pt idx="6626">
                  <c:v>#N/A</c:v>
                </c:pt>
                <c:pt idx="6627">
                  <c:v>#N/A</c:v>
                </c:pt>
                <c:pt idx="6628">
                  <c:v>#N/A</c:v>
                </c:pt>
                <c:pt idx="6629">
                  <c:v>#N/A</c:v>
                </c:pt>
                <c:pt idx="6630">
                  <c:v>#N/A</c:v>
                </c:pt>
                <c:pt idx="6631">
                  <c:v>#N/A</c:v>
                </c:pt>
                <c:pt idx="6632">
                  <c:v>#N/A</c:v>
                </c:pt>
                <c:pt idx="6633">
                  <c:v>#N/A</c:v>
                </c:pt>
                <c:pt idx="6634">
                  <c:v>#N/A</c:v>
                </c:pt>
                <c:pt idx="6635">
                  <c:v>#N/A</c:v>
                </c:pt>
                <c:pt idx="6636">
                  <c:v>#N/A</c:v>
                </c:pt>
                <c:pt idx="6637">
                  <c:v>#N/A</c:v>
                </c:pt>
                <c:pt idx="6638">
                  <c:v>#N/A</c:v>
                </c:pt>
                <c:pt idx="6639">
                  <c:v>#N/A</c:v>
                </c:pt>
                <c:pt idx="6640">
                  <c:v>#N/A</c:v>
                </c:pt>
                <c:pt idx="6641">
                  <c:v>#N/A</c:v>
                </c:pt>
                <c:pt idx="6642">
                  <c:v>#N/A</c:v>
                </c:pt>
                <c:pt idx="6643">
                  <c:v>#N/A</c:v>
                </c:pt>
                <c:pt idx="6644">
                  <c:v>#N/A</c:v>
                </c:pt>
                <c:pt idx="6645">
                  <c:v>#N/A</c:v>
                </c:pt>
                <c:pt idx="6646">
                  <c:v>#N/A</c:v>
                </c:pt>
                <c:pt idx="6647">
                  <c:v>#N/A</c:v>
                </c:pt>
                <c:pt idx="6648">
                  <c:v>#N/A</c:v>
                </c:pt>
                <c:pt idx="6649">
                  <c:v>#N/A</c:v>
                </c:pt>
                <c:pt idx="6650">
                  <c:v>#N/A</c:v>
                </c:pt>
                <c:pt idx="6651">
                  <c:v>#N/A</c:v>
                </c:pt>
                <c:pt idx="6652">
                  <c:v>#N/A</c:v>
                </c:pt>
                <c:pt idx="6653">
                  <c:v>#N/A</c:v>
                </c:pt>
                <c:pt idx="6654">
                  <c:v>#N/A</c:v>
                </c:pt>
                <c:pt idx="6655">
                  <c:v>#N/A</c:v>
                </c:pt>
                <c:pt idx="6656">
                  <c:v>#N/A</c:v>
                </c:pt>
                <c:pt idx="6657">
                  <c:v>#N/A</c:v>
                </c:pt>
                <c:pt idx="6658">
                  <c:v>#N/A</c:v>
                </c:pt>
                <c:pt idx="6659">
                  <c:v>#N/A</c:v>
                </c:pt>
                <c:pt idx="6660">
                  <c:v>#N/A</c:v>
                </c:pt>
                <c:pt idx="6661">
                  <c:v>#N/A</c:v>
                </c:pt>
                <c:pt idx="6662">
                  <c:v>#N/A</c:v>
                </c:pt>
                <c:pt idx="6663">
                  <c:v>#N/A</c:v>
                </c:pt>
                <c:pt idx="6664">
                  <c:v>#N/A</c:v>
                </c:pt>
                <c:pt idx="6665">
                  <c:v>#N/A</c:v>
                </c:pt>
                <c:pt idx="6666">
                  <c:v>#N/A</c:v>
                </c:pt>
                <c:pt idx="6667">
                  <c:v>#N/A</c:v>
                </c:pt>
                <c:pt idx="6668">
                  <c:v>#N/A</c:v>
                </c:pt>
                <c:pt idx="6669">
                  <c:v>#N/A</c:v>
                </c:pt>
                <c:pt idx="6670">
                  <c:v>#N/A</c:v>
                </c:pt>
                <c:pt idx="6671">
                  <c:v>#N/A</c:v>
                </c:pt>
                <c:pt idx="6672">
                  <c:v>#N/A</c:v>
                </c:pt>
                <c:pt idx="6673">
                  <c:v>#N/A</c:v>
                </c:pt>
                <c:pt idx="6674">
                  <c:v>#N/A</c:v>
                </c:pt>
                <c:pt idx="6675">
                  <c:v>#N/A</c:v>
                </c:pt>
                <c:pt idx="6676">
                  <c:v>#N/A</c:v>
                </c:pt>
                <c:pt idx="6677">
                  <c:v>#N/A</c:v>
                </c:pt>
                <c:pt idx="6678">
                  <c:v>#N/A</c:v>
                </c:pt>
                <c:pt idx="6679">
                  <c:v>#N/A</c:v>
                </c:pt>
                <c:pt idx="6680">
                  <c:v>#N/A</c:v>
                </c:pt>
                <c:pt idx="6681">
                  <c:v>#N/A</c:v>
                </c:pt>
                <c:pt idx="6682">
                  <c:v>#N/A</c:v>
                </c:pt>
                <c:pt idx="6683">
                  <c:v>#N/A</c:v>
                </c:pt>
                <c:pt idx="6684">
                  <c:v>#N/A</c:v>
                </c:pt>
                <c:pt idx="6685">
                  <c:v>#N/A</c:v>
                </c:pt>
                <c:pt idx="6686">
                  <c:v>#N/A</c:v>
                </c:pt>
                <c:pt idx="6687">
                  <c:v>#N/A</c:v>
                </c:pt>
                <c:pt idx="6688">
                  <c:v>#N/A</c:v>
                </c:pt>
                <c:pt idx="6689">
                  <c:v>#N/A</c:v>
                </c:pt>
                <c:pt idx="6690">
                  <c:v>#N/A</c:v>
                </c:pt>
                <c:pt idx="6691">
                  <c:v>#N/A</c:v>
                </c:pt>
                <c:pt idx="6692">
                  <c:v>#N/A</c:v>
                </c:pt>
                <c:pt idx="6693">
                  <c:v>#N/A</c:v>
                </c:pt>
                <c:pt idx="6694">
                  <c:v>#N/A</c:v>
                </c:pt>
                <c:pt idx="6695">
                  <c:v>#N/A</c:v>
                </c:pt>
                <c:pt idx="6696">
                  <c:v>#N/A</c:v>
                </c:pt>
                <c:pt idx="6697">
                  <c:v>#N/A</c:v>
                </c:pt>
                <c:pt idx="6698">
                  <c:v>#N/A</c:v>
                </c:pt>
                <c:pt idx="6699">
                  <c:v>#N/A</c:v>
                </c:pt>
                <c:pt idx="6700">
                  <c:v>#N/A</c:v>
                </c:pt>
                <c:pt idx="6701">
                  <c:v>#N/A</c:v>
                </c:pt>
                <c:pt idx="6702">
                  <c:v>#N/A</c:v>
                </c:pt>
                <c:pt idx="6703">
                  <c:v>#N/A</c:v>
                </c:pt>
                <c:pt idx="6704">
                  <c:v>#N/A</c:v>
                </c:pt>
                <c:pt idx="6705">
                  <c:v>#N/A</c:v>
                </c:pt>
                <c:pt idx="6706">
                  <c:v>#N/A</c:v>
                </c:pt>
                <c:pt idx="6707">
                  <c:v>#N/A</c:v>
                </c:pt>
                <c:pt idx="6708">
                  <c:v>#N/A</c:v>
                </c:pt>
                <c:pt idx="6709">
                  <c:v>#N/A</c:v>
                </c:pt>
                <c:pt idx="6710">
                  <c:v>#N/A</c:v>
                </c:pt>
                <c:pt idx="6711">
                  <c:v>#N/A</c:v>
                </c:pt>
                <c:pt idx="6712">
                  <c:v>#N/A</c:v>
                </c:pt>
                <c:pt idx="6713">
                  <c:v>#N/A</c:v>
                </c:pt>
                <c:pt idx="6714">
                  <c:v>#N/A</c:v>
                </c:pt>
                <c:pt idx="6715">
                  <c:v>#N/A</c:v>
                </c:pt>
                <c:pt idx="6716">
                  <c:v>#N/A</c:v>
                </c:pt>
                <c:pt idx="6717">
                  <c:v>#N/A</c:v>
                </c:pt>
                <c:pt idx="6718">
                  <c:v>#N/A</c:v>
                </c:pt>
                <c:pt idx="6719">
                  <c:v>#N/A</c:v>
                </c:pt>
                <c:pt idx="6720">
                  <c:v>#N/A</c:v>
                </c:pt>
                <c:pt idx="6721">
                  <c:v>#N/A</c:v>
                </c:pt>
                <c:pt idx="6722">
                  <c:v>#N/A</c:v>
                </c:pt>
                <c:pt idx="6723">
                  <c:v>#N/A</c:v>
                </c:pt>
                <c:pt idx="6724">
                  <c:v>#N/A</c:v>
                </c:pt>
                <c:pt idx="6725">
                  <c:v>#N/A</c:v>
                </c:pt>
                <c:pt idx="6726">
                  <c:v>#N/A</c:v>
                </c:pt>
                <c:pt idx="6727">
                  <c:v>#N/A</c:v>
                </c:pt>
                <c:pt idx="6728">
                  <c:v>#N/A</c:v>
                </c:pt>
                <c:pt idx="6729">
                  <c:v>#N/A</c:v>
                </c:pt>
                <c:pt idx="6730">
                  <c:v>#N/A</c:v>
                </c:pt>
                <c:pt idx="6731">
                  <c:v>#N/A</c:v>
                </c:pt>
                <c:pt idx="6732">
                  <c:v>#N/A</c:v>
                </c:pt>
                <c:pt idx="6733">
                  <c:v>#N/A</c:v>
                </c:pt>
                <c:pt idx="6734">
                  <c:v>#N/A</c:v>
                </c:pt>
                <c:pt idx="6735">
                  <c:v>#N/A</c:v>
                </c:pt>
                <c:pt idx="6736">
                  <c:v>#N/A</c:v>
                </c:pt>
                <c:pt idx="6737">
                  <c:v>#N/A</c:v>
                </c:pt>
                <c:pt idx="6738">
                  <c:v>#N/A</c:v>
                </c:pt>
                <c:pt idx="6739">
                  <c:v>#N/A</c:v>
                </c:pt>
                <c:pt idx="6740">
                  <c:v>#N/A</c:v>
                </c:pt>
                <c:pt idx="6741">
                  <c:v>#N/A</c:v>
                </c:pt>
                <c:pt idx="6742">
                  <c:v>#N/A</c:v>
                </c:pt>
                <c:pt idx="6743">
                  <c:v>#N/A</c:v>
                </c:pt>
                <c:pt idx="6744">
                  <c:v>#N/A</c:v>
                </c:pt>
                <c:pt idx="6745">
                  <c:v>#N/A</c:v>
                </c:pt>
                <c:pt idx="6746">
                  <c:v>#N/A</c:v>
                </c:pt>
                <c:pt idx="6747">
                  <c:v>#N/A</c:v>
                </c:pt>
                <c:pt idx="6748">
                  <c:v>#N/A</c:v>
                </c:pt>
                <c:pt idx="6749">
                  <c:v>#N/A</c:v>
                </c:pt>
                <c:pt idx="6750">
                  <c:v>#N/A</c:v>
                </c:pt>
                <c:pt idx="6751">
                  <c:v>#N/A</c:v>
                </c:pt>
                <c:pt idx="6752">
                  <c:v>#N/A</c:v>
                </c:pt>
                <c:pt idx="6753">
                  <c:v>#N/A</c:v>
                </c:pt>
                <c:pt idx="6754">
                  <c:v>#N/A</c:v>
                </c:pt>
                <c:pt idx="6755">
                  <c:v>#N/A</c:v>
                </c:pt>
                <c:pt idx="6756">
                  <c:v>#N/A</c:v>
                </c:pt>
                <c:pt idx="6757">
                  <c:v>#N/A</c:v>
                </c:pt>
                <c:pt idx="6758">
                  <c:v>#N/A</c:v>
                </c:pt>
                <c:pt idx="6759">
                  <c:v>#N/A</c:v>
                </c:pt>
                <c:pt idx="6760">
                  <c:v>#N/A</c:v>
                </c:pt>
                <c:pt idx="6761">
                  <c:v>#N/A</c:v>
                </c:pt>
                <c:pt idx="6762">
                  <c:v>#N/A</c:v>
                </c:pt>
                <c:pt idx="6763">
                  <c:v>#N/A</c:v>
                </c:pt>
                <c:pt idx="6764">
                  <c:v>#N/A</c:v>
                </c:pt>
                <c:pt idx="6765">
                  <c:v>#N/A</c:v>
                </c:pt>
                <c:pt idx="6766">
                  <c:v>#N/A</c:v>
                </c:pt>
                <c:pt idx="6767">
                  <c:v>#N/A</c:v>
                </c:pt>
                <c:pt idx="6768">
                  <c:v>#N/A</c:v>
                </c:pt>
                <c:pt idx="6769">
                  <c:v>#N/A</c:v>
                </c:pt>
                <c:pt idx="6770">
                  <c:v>#N/A</c:v>
                </c:pt>
                <c:pt idx="6771">
                  <c:v>#N/A</c:v>
                </c:pt>
                <c:pt idx="6772">
                  <c:v>#N/A</c:v>
                </c:pt>
                <c:pt idx="6773">
                  <c:v>#N/A</c:v>
                </c:pt>
                <c:pt idx="6774">
                  <c:v>#N/A</c:v>
                </c:pt>
                <c:pt idx="6775">
                  <c:v>#N/A</c:v>
                </c:pt>
                <c:pt idx="6776">
                  <c:v>#N/A</c:v>
                </c:pt>
                <c:pt idx="6777">
                  <c:v>#N/A</c:v>
                </c:pt>
                <c:pt idx="6778">
                  <c:v>#N/A</c:v>
                </c:pt>
                <c:pt idx="6779">
                  <c:v>#N/A</c:v>
                </c:pt>
                <c:pt idx="6780">
                  <c:v>#N/A</c:v>
                </c:pt>
                <c:pt idx="6781">
                  <c:v>#N/A</c:v>
                </c:pt>
                <c:pt idx="6782">
                  <c:v>#N/A</c:v>
                </c:pt>
                <c:pt idx="6783">
                  <c:v>#N/A</c:v>
                </c:pt>
                <c:pt idx="6784">
                  <c:v>#N/A</c:v>
                </c:pt>
                <c:pt idx="6785">
                  <c:v>#N/A</c:v>
                </c:pt>
                <c:pt idx="6786">
                  <c:v>#N/A</c:v>
                </c:pt>
                <c:pt idx="6787">
                  <c:v>#N/A</c:v>
                </c:pt>
                <c:pt idx="6788">
                  <c:v>#N/A</c:v>
                </c:pt>
                <c:pt idx="6789">
                  <c:v>#N/A</c:v>
                </c:pt>
                <c:pt idx="6790">
                  <c:v>#N/A</c:v>
                </c:pt>
                <c:pt idx="6791">
                  <c:v>#N/A</c:v>
                </c:pt>
                <c:pt idx="6792">
                  <c:v>#N/A</c:v>
                </c:pt>
                <c:pt idx="6793">
                  <c:v>#N/A</c:v>
                </c:pt>
                <c:pt idx="6794">
                  <c:v>#N/A</c:v>
                </c:pt>
                <c:pt idx="6795">
                  <c:v>#N/A</c:v>
                </c:pt>
                <c:pt idx="6796">
                  <c:v>#N/A</c:v>
                </c:pt>
                <c:pt idx="6797">
                  <c:v>#N/A</c:v>
                </c:pt>
                <c:pt idx="6798">
                  <c:v>#N/A</c:v>
                </c:pt>
                <c:pt idx="6799">
                  <c:v>#N/A</c:v>
                </c:pt>
                <c:pt idx="6800">
                  <c:v>#N/A</c:v>
                </c:pt>
                <c:pt idx="6801">
                  <c:v>#N/A</c:v>
                </c:pt>
                <c:pt idx="6802">
                  <c:v>#N/A</c:v>
                </c:pt>
                <c:pt idx="6803">
                  <c:v>#N/A</c:v>
                </c:pt>
                <c:pt idx="6804">
                  <c:v>#N/A</c:v>
                </c:pt>
                <c:pt idx="6805">
                  <c:v>#N/A</c:v>
                </c:pt>
                <c:pt idx="6806">
                  <c:v>#N/A</c:v>
                </c:pt>
                <c:pt idx="6807">
                  <c:v>#N/A</c:v>
                </c:pt>
                <c:pt idx="6808">
                  <c:v>#N/A</c:v>
                </c:pt>
                <c:pt idx="6809">
                  <c:v>#N/A</c:v>
                </c:pt>
                <c:pt idx="6810">
                  <c:v>#N/A</c:v>
                </c:pt>
                <c:pt idx="6811">
                  <c:v>#N/A</c:v>
                </c:pt>
                <c:pt idx="6812">
                  <c:v>#N/A</c:v>
                </c:pt>
                <c:pt idx="6813">
                  <c:v>#N/A</c:v>
                </c:pt>
                <c:pt idx="6814">
                  <c:v>#N/A</c:v>
                </c:pt>
                <c:pt idx="6815">
                  <c:v>#N/A</c:v>
                </c:pt>
                <c:pt idx="6816">
                  <c:v>#N/A</c:v>
                </c:pt>
                <c:pt idx="6817">
                  <c:v>#N/A</c:v>
                </c:pt>
                <c:pt idx="6818">
                  <c:v>#N/A</c:v>
                </c:pt>
                <c:pt idx="6819">
                  <c:v>#N/A</c:v>
                </c:pt>
                <c:pt idx="6820">
                  <c:v>#N/A</c:v>
                </c:pt>
                <c:pt idx="6821">
                  <c:v>#N/A</c:v>
                </c:pt>
                <c:pt idx="6822">
                  <c:v>#N/A</c:v>
                </c:pt>
                <c:pt idx="6823">
                  <c:v>#N/A</c:v>
                </c:pt>
                <c:pt idx="6824">
                  <c:v>#N/A</c:v>
                </c:pt>
                <c:pt idx="6825">
                  <c:v>#N/A</c:v>
                </c:pt>
                <c:pt idx="6826">
                  <c:v>#N/A</c:v>
                </c:pt>
                <c:pt idx="6827">
                  <c:v>#N/A</c:v>
                </c:pt>
                <c:pt idx="6828">
                  <c:v>#N/A</c:v>
                </c:pt>
                <c:pt idx="6829">
                  <c:v>#N/A</c:v>
                </c:pt>
                <c:pt idx="6830">
                  <c:v>#N/A</c:v>
                </c:pt>
                <c:pt idx="6831">
                  <c:v>#N/A</c:v>
                </c:pt>
                <c:pt idx="6832">
                  <c:v>#N/A</c:v>
                </c:pt>
                <c:pt idx="6833">
                  <c:v>#N/A</c:v>
                </c:pt>
                <c:pt idx="6834">
                  <c:v>#N/A</c:v>
                </c:pt>
                <c:pt idx="6835">
                  <c:v>#N/A</c:v>
                </c:pt>
                <c:pt idx="6836">
                  <c:v>#N/A</c:v>
                </c:pt>
                <c:pt idx="6837">
                  <c:v>#N/A</c:v>
                </c:pt>
                <c:pt idx="6838">
                  <c:v>#N/A</c:v>
                </c:pt>
                <c:pt idx="6839">
                  <c:v>#N/A</c:v>
                </c:pt>
                <c:pt idx="6840">
                  <c:v>#N/A</c:v>
                </c:pt>
                <c:pt idx="6841">
                  <c:v>#N/A</c:v>
                </c:pt>
                <c:pt idx="6842">
                  <c:v>#N/A</c:v>
                </c:pt>
                <c:pt idx="6843">
                  <c:v>#N/A</c:v>
                </c:pt>
                <c:pt idx="6844">
                  <c:v>#N/A</c:v>
                </c:pt>
                <c:pt idx="6845">
                  <c:v>#N/A</c:v>
                </c:pt>
                <c:pt idx="6846">
                  <c:v>#N/A</c:v>
                </c:pt>
                <c:pt idx="6847">
                  <c:v>#N/A</c:v>
                </c:pt>
                <c:pt idx="6848">
                  <c:v>#N/A</c:v>
                </c:pt>
                <c:pt idx="6849">
                  <c:v>#N/A</c:v>
                </c:pt>
                <c:pt idx="6850">
                  <c:v>#N/A</c:v>
                </c:pt>
                <c:pt idx="6851">
                  <c:v>#N/A</c:v>
                </c:pt>
                <c:pt idx="6852">
                  <c:v>#N/A</c:v>
                </c:pt>
                <c:pt idx="6853">
                  <c:v>#N/A</c:v>
                </c:pt>
                <c:pt idx="6854">
                  <c:v>#N/A</c:v>
                </c:pt>
                <c:pt idx="6855">
                  <c:v>#N/A</c:v>
                </c:pt>
                <c:pt idx="6856">
                  <c:v>#N/A</c:v>
                </c:pt>
                <c:pt idx="6857">
                  <c:v>#N/A</c:v>
                </c:pt>
                <c:pt idx="6858">
                  <c:v>#N/A</c:v>
                </c:pt>
                <c:pt idx="6859">
                  <c:v>#N/A</c:v>
                </c:pt>
                <c:pt idx="6860">
                  <c:v>#N/A</c:v>
                </c:pt>
                <c:pt idx="6861">
                  <c:v>#N/A</c:v>
                </c:pt>
                <c:pt idx="6862">
                  <c:v>#N/A</c:v>
                </c:pt>
                <c:pt idx="6863">
                  <c:v>#N/A</c:v>
                </c:pt>
                <c:pt idx="6864">
                  <c:v>#N/A</c:v>
                </c:pt>
                <c:pt idx="6865">
                  <c:v>#N/A</c:v>
                </c:pt>
                <c:pt idx="6866">
                  <c:v>#N/A</c:v>
                </c:pt>
                <c:pt idx="6867">
                  <c:v>#N/A</c:v>
                </c:pt>
                <c:pt idx="6868">
                  <c:v>#N/A</c:v>
                </c:pt>
                <c:pt idx="6869">
                  <c:v>#N/A</c:v>
                </c:pt>
                <c:pt idx="6870">
                  <c:v>#N/A</c:v>
                </c:pt>
                <c:pt idx="6871">
                  <c:v>#N/A</c:v>
                </c:pt>
                <c:pt idx="6872">
                  <c:v>#N/A</c:v>
                </c:pt>
                <c:pt idx="6873">
                  <c:v>#N/A</c:v>
                </c:pt>
                <c:pt idx="6874">
                  <c:v>#N/A</c:v>
                </c:pt>
                <c:pt idx="6875">
                  <c:v>#N/A</c:v>
                </c:pt>
                <c:pt idx="6876">
                  <c:v>#N/A</c:v>
                </c:pt>
                <c:pt idx="6877">
                  <c:v>#N/A</c:v>
                </c:pt>
                <c:pt idx="6878">
                  <c:v>#N/A</c:v>
                </c:pt>
                <c:pt idx="6879">
                  <c:v>#N/A</c:v>
                </c:pt>
                <c:pt idx="6880">
                  <c:v>#N/A</c:v>
                </c:pt>
                <c:pt idx="6881">
                  <c:v>#N/A</c:v>
                </c:pt>
                <c:pt idx="6882">
                  <c:v>#N/A</c:v>
                </c:pt>
                <c:pt idx="6883">
                  <c:v>#N/A</c:v>
                </c:pt>
                <c:pt idx="6884">
                  <c:v>#N/A</c:v>
                </c:pt>
                <c:pt idx="6885">
                  <c:v>#N/A</c:v>
                </c:pt>
                <c:pt idx="6886">
                  <c:v>#N/A</c:v>
                </c:pt>
                <c:pt idx="6887">
                  <c:v>#N/A</c:v>
                </c:pt>
                <c:pt idx="6888">
                  <c:v>#N/A</c:v>
                </c:pt>
                <c:pt idx="6889">
                  <c:v>#N/A</c:v>
                </c:pt>
                <c:pt idx="6890">
                  <c:v>#N/A</c:v>
                </c:pt>
                <c:pt idx="6891">
                  <c:v>#N/A</c:v>
                </c:pt>
                <c:pt idx="6892">
                  <c:v>#N/A</c:v>
                </c:pt>
                <c:pt idx="6893">
                  <c:v>#N/A</c:v>
                </c:pt>
                <c:pt idx="6894">
                  <c:v>#N/A</c:v>
                </c:pt>
                <c:pt idx="6895">
                  <c:v>#N/A</c:v>
                </c:pt>
                <c:pt idx="6896">
                  <c:v>#N/A</c:v>
                </c:pt>
                <c:pt idx="6897">
                  <c:v>#N/A</c:v>
                </c:pt>
                <c:pt idx="6898">
                  <c:v>#N/A</c:v>
                </c:pt>
                <c:pt idx="6899">
                  <c:v>#N/A</c:v>
                </c:pt>
                <c:pt idx="6900">
                  <c:v>#N/A</c:v>
                </c:pt>
                <c:pt idx="6901">
                  <c:v>#N/A</c:v>
                </c:pt>
                <c:pt idx="6902">
                  <c:v>#N/A</c:v>
                </c:pt>
                <c:pt idx="6903">
                  <c:v>#N/A</c:v>
                </c:pt>
                <c:pt idx="6904">
                  <c:v>#N/A</c:v>
                </c:pt>
                <c:pt idx="6905">
                  <c:v>#N/A</c:v>
                </c:pt>
                <c:pt idx="6906">
                  <c:v>#N/A</c:v>
                </c:pt>
                <c:pt idx="6907">
                  <c:v>#N/A</c:v>
                </c:pt>
                <c:pt idx="6908">
                  <c:v>#N/A</c:v>
                </c:pt>
                <c:pt idx="6909">
                  <c:v>#N/A</c:v>
                </c:pt>
                <c:pt idx="6910">
                  <c:v>#N/A</c:v>
                </c:pt>
                <c:pt idx="6911">
                  <c:v>#N/A</c:v>
                </c:pt>
                <c:pt idx="6912">
                  <c:v>#N/A</c:v>
                </c:pt>
                <c:pt idx="6913">
                  <c:v>#N/A</c:v>
                </c:pt>
                <c:pt idx="6914">
                  <c:v>#N/A</c:v>
                </c:pt>
                <c:pt idx="6915">
                  <c:v>#N/A</c:v>
                </c:pt>
                <c:pt idx="6916">
                  <c:v>#N/A</c:v>
                </c:pt>
                <c:pt idx="6917">
                  <c:v>#N/A</c:v>
                </c:pt>
                <c:pt idx="6918">
                  <c:v>#N/A</c:v>
                </c:pt>
                <c:pt idx="6919">
                  <c:v>#N/A</c:v>
                </c:pt>
                <c:pt idx="6920">
                  <c:v>#N/A</c:v>
                </c:pt>
                <c:pt idx="6921">
                  <c:v>#N/A</c:v>
                </c:pt>
                <c:pt idx="6922">
                  <c:v>#N/A</c:v>
                </c:pt>
                <c:pt idx="6923">
                  <c:v>#N/A</c:v>
                </c:pt>
                <c:pt idx="6924">
                  <c:v>#N/A</c:v>
                </c:pt>
                <c:pt idx="6925">
                  <c:v>#N/A</c:v>
                </c:pt>
                <c:pt idx="6926">
                  <c:v>#N/A</c:v>
                </c:pt>
                <c:pt idx="6927">
                  <c:v>#N/A</c:v>
                </c:pt>
                <c:pt idx="6928">
                  <c:v>#N/A</c:v>
                </c:pt>
                <c:pt idx="6929">
                  <c:v>#N/A</c:v>
                </c:pt>
                <c:pt idx="6930">
                  <c:v>#N/A</c:v>
                </c:pt>
                <c:pt idx="6931">
                  <c:v>#N/A</c:v>
                </c:pt>
                <c:pt idx="6932">
                  <c:v>#N/A</c:v>
                </c:pt>
                <c:pt idx="6933">
                  <c:v>#N/A</c:v>
                </c:pt>
                <c:pt idx="6934">
                  <c:v>#N/A</c:v>
                </c:pt>
                <c:pt idx="6935">
                  <c:v>#N/A</c:v>
                </c:pt>
                <c:pt idx="6936">
                  <c:v>#N/A</c:v>
                </c:pt>
                <c:pt idx="6937">
                  <c:v>#N/A</c:v>
                </c:pt>
                <c:pt idx="6938">
                  <c:v>#N/A</c:v>
                </c:pt>
                <c:pt idx="6939">
                  <c:v>#N/A</c:v>
                </c:pt>
                <c:pt idx="6940">
                  <c:v>#N/A</c:v>
                </c:pt>
                <c:pt idx="6941">
                  <c:v>#N/A</c:v>
                </c:pt>
                <c:pt idx="6942">
                  <c:v>#N/A</c:v>
                </c:pt>
                <c:pt idx="6943">
                  <c:v>#N/A</c:v>
                </c:pt>
                <c:pt idx="6944">
                  <c:v>#N/A</c:v>
                </c:pt>
                <c:pt idx="6945">
                  <c:v>#N/A</c:v>
                </c:pt>
                <c:pt idx="6946">
                  <c:v>#N/A</c:v>
                </c:pt>
                <c:pt idx="6947">
                  <c:v>#N/A</c:v>
                </c:pt>
                <c:pt idx="6948">
                  <c:v>#N/A</c:v>
                </c:pt>
                <c:pt idx="6949">
                  <c:v>#N/A</c:v>
                </c:pt>
                <c:pt idx="6950">
                  <c:v>#N/A</c:v>
                </c:pt>
                <c:pt idx="6951">
                  <c:v>#N/A</c:v>
                </c:pt>
                <c:pt idx="6952">
                  <c:v>#N/A</c:v>
                </c:pt>
                <c:pt idx="6953">
                  <c:v>#N/A</c:v>
                </c:pt>
                <c:pt idx="6954">
                  <c:v>#N/A</c:v>
                </c:pt>
                <c:pt idx="6955">
                  <c:v>#N/A</c:v>
                </c:pt>
                <c:pt idx="6956">
                  <c:v>#N/A</c:v>
                </c:pt>
                <c:pt idx="6957">
                  <c:v>#N/A</c:v>
                </c:pt>
                <c:pt idx="6958">
                  <c:v>#N/A</c:v>
                </c:pt>
                <c:pt idx="6959">
                  <c:v>#N/A</c:v>
                </c:pt>
                <c:pt idx="6960">
                  <c:v>#N/A</c:v>
                </c:pt>
                <c:pt idx="6961">
                  <c:v>#N/A</c:v>
                </c:pt>
                <c:pt idx="6962">
                  <c:v>#N/A</c:v>
                </c:pt>
                <c:pt idx="6963">
                  <c:v>#N/A</c:v>
                </c:pt>
                <c:pt idx="6964">
                  <c:v>#N/A</c:v>
                </c:pt>
                <c:pt idx="6965">
                  <c:v>#N/A</c:v>
                </c:pt>
                <c:pt idx="6966">
                  <c:v>#N/A</c:v>
                </c:pt>
                <c:pt idx="6967">
                  <c:v>#N/A</c:v>
                </c:pt>
                <c:pt idx="6968">
                  <c:v>#N/A</c:v>
                </c:pt>
                <c:pt idx="6969">
                  <c:v>#N/A</c:v>
                </c:pt>
                <c:pt idx="6970">
                  <c:v>#N/A</c:v>
                </c:pt>
                <c:pt idx="6971">
                  <c:v>#N/A</c:v>
                </c:pt>
                <c:pt idx="6972">
                  <c:v>#N/A</c:v>
                </c:pt>
                <c:pt idx="6973">
                  <c:v>#N/A</c:v>
                </c:pt>
                <c:pt idx="6974">
                  <c:v>#N/A</c:v>
                </c:pt>
                <c:pt idx="6975">
                  <c:v>#N/A</c:v>
                </c:pt>
                <c:pt idx="6976">
                  <c:v>#N/A</c:v>
                </c:pt>
                <c:pt idx="6977">
                  <c:v>#N/A</c:v>
                </c:pt>
                <c:pt idx="6978">
                  <c:v>#N/A</c:v>
                </c:pt>
                <c:pt idx="6979">
                  <c:v>#N/A</c:v>
                </c:pt>
                <c:pt idx="6980">
                  <c:v>#N/A</c:v>
                </c:pt>
                <c:pt idx="6981">
                  <c:v>#N/A</c:v>
                </c:pt>
                <c:pt idx="6982">
                  <c:v>#N/A</c:v>
                </c:pt>
                <c:pt idx="6983">
                  <c:v>#N/A</c:v>
                </c:pt>
                <c:pt idx="6984">
                  <c:v>#N/A</c:v>
                </c:pt>
                <c:pt idx="6985">
                  <c:v>#N/A</c:v>
                </c:pt>
                <c:pt idx="6986">
                  <c:v>#N/A</c:v>
                </c:pt>
                <c:pt idx="6987">
                  <c:v>#N/A</c:v>
                </c:pt>
                <c:pt idx="6988">
                  <c:v>#N/A</c:v>
                </c:pt>
                <c:pt idx="6989">
                  <c:v>#N/A</c:v>
                </c:pt>
                <c:pt idx="6990">
                  <c:v>#N/A</c:v>
                </c:pt>
                <c:pt idx="6991">
                  <c:v>#N/A</c:v>
                </c:pt>
                <c:pt idx="6992">
                  <c:v>#N/A</c:v>
                </c:pt>
                <c:pt idx="6993">
                  <c:v>#N/A</c:v>
                </c:pt>
                <c:pt idx="6994">
                  <c:v>#N/A</c:v>
                </c:pt>
                <c:pt idx="6995">
                  <c:v>#N/A</c:v>
                </c:pt>
                <c:pt idx="6996">
                  <c:v>#N/A</c:v>
                </c:pt>
                <c:pt idx="6997">
                  <c:v>#N/A</c:v>
                </c:pt>
                <c:pt idx="6998">
                  <c:v>#N/A</c:v>
                </c:pt>
                <c:pt idx="6999">
                  <c:v>#N/A</c:v>
                </c:pt>
                <c:pt idx="7000">
                  <c:v>#N/A</c:v>
                </c:pt>
                <c:pt idx="7001">
                  <c:v>#N/A</c:v>
                </c:pt>
                <c:pt idx="7002">
                  <c:v>#N/A</c:v>
                </c:pt>
                <c:pt idx="7003">
                  <c:v>#N/A</c:v>
                </c:pt>
                <c:pt idx="7004">
                  <c:v>#N/A</c:v>
                </c:pt>
                <c:pt idx="7005">
                  <c:v>#N/A</c:v>
                </c:pt>
                <c:pt idx="7006">
                  <c:v>#N/A</c:v>
                </c:pt>
                <c:pt idx="7007">
                  <c:v>#N/A</c:v>
                </c:pt>
                <c:pt idx="7008">
                  <c:v>#N/A</c:v>
                </c:pt>
                <c:pt idx="7009">
                  <c:v>#N/A</c:v>
                </c:pt>
                <c:pt idx="7010">
                  <c:v>#N/A</c:v>
                </c:pt>
                <c:pt idx="7011">
                  <c:v>#N/A</c:v>
                </c:pt>
                <c:pt idx="7012">
                  <c:v>#N/A</c:v>
                </c:pt>
                <c:pt idx="7013">
                  <c:v>#N/A</c:v>
                </c:pt>
                <c:pt idx="7014">
                  <c:v>#N/A</c:v>
                </c:pt>
                <c:pt idx="7015">
                  <c:v>#N/A</c:v>
                </c:pt>
                <c:pt idx="7016">
                  <c:v>#N/A</c:v>
                </c:pt>
                <c:pt idx="7017">
                  <c:v>#N/A</c:v>
                </c:pt>
                <c:pt idx="7018">
                  <c:v>#N/A</c:v>
                </c:pt>
                <c:pt idx="7019">
                  <c:v>#N/A</c:v>
                </c:pt>
                <c:pt idx="7020">
                  <c:v>#N/A</c:v>
                </c:pt>
                <c:pt idx="7021">
                  <c:v>#N/A</c:v>
                </c:pt>
                <c:pt idx="7022">
                  <c:v>#N/A</c:v>
                </c:pt>
                <c:pt idx="7023">
                  <c:v>#N/A</c:v>
                </c:pt>
                <c:pt idx="7024">
                  <c:v>#N/A</c:v>
                </c:pt>
                <c:pt idx="7025">
                  <c:v>#N/A</c:v>
                </c:pt>
                <c:pt idx="7026">
                  <c:v>#N/A</c:v>
                </c:pt>
                <c:pt idx="7027">
                  <c:v>#N/A</c:v>
                </c:pt>
                <c:pt idx="7028">
                  <c:v>#N/A</c:v>
                </c:pt>
                <c:pt idx="7029">
                  <c:v>#N/A</c:v>
                </c:pt>
                <c:pt idx="7030">
                  <c:v>#N/A</c:v>
                </c:pt>
                <c:pt idx="7031">
                  <c:v>#N/A</c:v>
                </c:pt>
                <c:pt idx="7032">
                  <c:v>#N/A</c:v>
                </c:pt>
                <c:pt idx="7033">
                  <c:v>#N/A</c:v>
                </c:pt>
                <c:pt idx="7034">
                  <c:v>#N/A</c:v>
                </c:pt>
                <c:pt idx="7035">
                  <c:v>#N/A</c:v>
                </c:pt>
                <c:pt idx="7036">
                  <c:v>#N/A</c:v>
                </c:pt>
                <c:pt idx="7037">
                  <c:v>#N/A</c:v>
                </c:pt>
                <c:pt idx="7038">
                  <c:v>#N/A</c:v>
                </c:pt>
                <c:pt idx="7039">
                  <c:v>#N/A</c:v>
                </c:pt>
                <c:pt idx="7040">
                  <c:v>#N/A</c:v>
                </c:pt>
                <c:pt idx="7041">
                  <c:v>#N/A</c:v>
                </c:pt>
                <c:pt idx="7042">
                  <c:v>#N/A</c:v>
                </c:pt>
                <c:pt idx="7043">
                  <c:v>#N/A</c:v>
                </c:pt>
                <c:pt idx="7044">
                  <c:v>#N/A</c:v>
                </c:pt>
                <c:pt idx="7045">
                  <c:v>#N/A</c:v>
                </c:pt>
                <c:pt idx="7046">
                  <c:v>#N/A</c:v>
                </c:pt>
                <c:pt idx="7047">
                  <c:v>#N/A</c:v>
                </c:pt>
                <c:pt idx="7048">
                  <c:v>#N/A</c:v>
                </c:pt>
                <c:pt idx="7049">
                  <c:v>#N/A</c:v>
                </c:pt>
                <c:pt idx="7050">
                  <c:v>#N/A</c:v>
                </c:pt>
                <c:pt idx="7051">
                  <c:v>#N/A</c:v>
                </c:pt>
                <c:pt idx="7052">
                  <c:v>#N/A</c:v>
                </c:pt>
                <c:pt idx="7053">
                  <c:v>#N/A</c:v>
                </c:pt>
                <c:pt idx="7054">
                  <c:v>#N/A</c:v>
                </c:pt>
                <c:pt idx="7055">
                  <c:v>#N/A</c:v>
                </c:pt>
                <c:pt idx="7056">
                  <c:v>#N/A</c:v>
                </c:pt>
                <c:pt idx="7057">
                  <c:v>#N/A</c:v>
                </c:pt>
                <c:pt idx="7058">
                  <c:v>#N/A</c:v>
                </c:pt>
                <c:pt idx="7059">
                  <c:v>#N/A</c:v>
                </c:pt>
                <c:pt idx="7060">
                  <c:v>#N/A</c:v>
                </c:pt>
                <c:pt idx="7061">
                  <c:v>#N/A</c:v>
                </c:pt>
                <c:pt idx="7062">
                  <c:v>#N/A</c:v>
                </c:pt>
                <c:pt idx="7063">
                  <c:v>#N/A</c:v>
                </c:pt>
                <c:pt idx="7064">
                  <c:v>#N/A</c:v>
                </c:pt>
                <c:pt idx="7065">
                  <c:v>#N/A</c:v>
                </c:pt>
                <c:pt idx="7066">
                  <c:v>#N/A</c:v>
                </c:pt>
                <c:pt idx="7067">
                  <c:v>#N/A</c:v>
                </c:pt>
                <c:pt idx="7068">
                  <c:v>#N/A</c:v>
                </c:pt>
                <c:pt idx="7069">
                  <c:v>#N/A</c:v>
                </c:pt>
                <c:pt idx="7070">
                  <c:v>#N/A</c:v>
                </c:pt>
                <c:pt idx="7071">
                  <c:v>#N/A</c:v>
                </c:pt>
                <c:pt idx="7072">
                  <c:v>#N/A</c:v>
                </c:pt>
                <c:pt idx="7073">
                  <c:v>#N/A</c:v>
                </c:pt>
                <c:pt idx="7074">
                  <c:v>#N/A</c:v>
                </c:pt>
                <c:pt idx="7075">
                  <c:v>#N/A</c:v>
                </c:pt>
                <c:pt idx="7076">
                  <c:v>#N/A</c:v>
                </c:pt>
                <c:pt idx="7077">
                  <c:v>#N/A</c:v>
                </c:pt>
                <c:pt idx="7078">
                  <c:v>#N/A</c:v>
                </c:pt>
                <c:pt idx="7079">
                  <c:v>#N/A</c:v>
                </c:pt>
                <c:pt idx="7080">
                  <c:v>#N/A</c:v>
                </c:pt>
                <c:pt idx="7081">
                  <c:v>#N/A</c:v>
                </c:pt>
                <c:pt idx="7082">
                  <c:v>#N/A</c:v>
                </c:pt>
                <c:pt idx="7083">
                  <c:v>#N/A</c:v>
                </c:pt>
                <c:pt idx="7084">
                  <c:v>#N/A</c:v>
                </c:pt>
                <c:pt idx="7085">
                  <c:v>#N/A</c:v>
                </c:pt>
                <c:pt idx="7086">
                  <c:v>#N/A</c:v>
                </c:pt>
                <c:pt idx="7087">
                  <c:v>#N/A</c:v>
                </c:pt>
                <c:pt idx="7088">
                  <c:v>#N/A</c:v>
                </c:pt>
                <c:pt idx="7089">
                  <c:v>#N/A</c:v>
                </c:pt>
                <c:pt idx="7090">
                  <c:v>#N/A</c:v>
                </c:pt>
                <c:pt idx="7091">
                  <c:v>#N/A</c:v>
                </c:pt>
                <c:pt idx="7092">
                  <c:v>#N/A</c:v>
                </c:pt>
                <c:pt idx="7093">
                  <c:v>#N/A</c:v>
                </c:pt>
                <c:pt idx="7094">
                  <c:v>#N/A</c:v>
                </c:pt>
                <c:pt idx="7095">
                  <c:v>#N/A</c:v>
                </c:pt>
                <c:pt idx="7096">
                  <c:v>#N/A</c:v>
                </c:pt>
                <c:pt idx="7097">
                  <c:v>#N/A</c:v>
                </c:pt>
                <c:pt idx="7098">
                  <c:v>#N/A</c:v>
                </c:pt>
                <c:pt idx="7099">
                  <c:v>#N/A</c:v>
                </c:pt>
                <c:pt idx="7100">
                  <c:v>#N/A</c:v>
                </c:pt>
                <c:pt idx="7101">
                  <c:v>#N/A</c:v>
                </c:pt>
                <c:pt idx="7102">
                  <c:v>#N/A</c:v>
                </c:pt>
                <c:pt idx="7103">
                  <c:v>#N/A</c:v>
                </c:pt>
                <c:pt idx="7104">
                  <c:v>#N/A</c:v>
                </c:pt>
                <c:pt idx="7105">
                  <c:v>#N/A</c:v>
                </c:pt>
                <c:pt idx="7106">
                  <c:v>#N/A</c:v>
                </c:pt>
                <c:pt idx="7107">
                  <c:v>#N/A</c:v>
                </c:pt>
                <c:pt idx="7108">
                  <c:v>#N/A</c:v>
                </c:pt>
                <c:pt idx="7109">
                  <c:v>#N/A</c:v>
                </c:pt>
                <c:pt idx="7110">
                  <c:v>#N/A</c:v>
                </c:pt>
                <c:pt idx="7111">
                  <c:v>#N/A</c:v>
                </c:pt>
                <c:pt idx="7112">
                  <c:v>#N/A</c:v>
                </c:pt>
                <c:pt idx="7113">
                  <c:v>#N/A</c:v>
                </c:pt>
                <c:pt idx="7114">
                  <c:v>#N/A</c:v>
                </c:pt>
                <c:pt idx="7115">
                  <c:v>#N/A</c:v>
                </c:pt>
                <c:pt idx="7116">
                  <c:v>#N/A</c:v>
                </c:pt>
                <c:pt idx="7117">
                  <c:v>#N/A</c:v>
                </c:pt>
                <c:pt idx="7118">
                  <c:v>#N/A</c:v>
                </c:pt>
                <c:pt idx="7119">
                  <c:v>#N/A</c:v>
                </c:pt>
                <c:pt idx="7120">
                  <c:v>#N/A</c:v>
                </c:pt>
                <c:pt idx="7121">
                  <c:v>#N/A</c:v>
                </c:pt>
                <c:pt idx="7122">
                  <c:v>#N/A</c:v>
                </c:pt>
                <c:pt idx="7123">
                  <c:v>#N/A</c:v>
                </c:pt>
                <c:pt idx="7124">
                  <c:v>#N/A</c:v>
                </c:pt>
                <c:pt idx="7125">
                  <c:v>#N/A</c:v>
                </c:pt>
                <c:pt idx="7126">
                  <c:v>#N/A</c:v>
                </c:pt>
                <c:pt idx="7127">
                  <c:v>#N/A</c:v>
                </c:pt>
                <c:pt idx="7128">
                  <c:v>#N/A</c:v>
                </c:pt>
                <c:pt idx="7129">
                  <c:v>#N/A</c:v>
                </c:pt>
                <c:pt idx="7130">
                  <c:v>#N/A</c:v>
                </c:pt>
                <c:pt idx="7131">
                  <c:v>#N/A</c:v>
                </c:pt>
                <c:pt idx="7132">
                  <c:v>#N/A</c:v>
                </c:pt>
                <c:pt idx="7133">
                  <c:v>#N/A</c:v>
                </c:pt>
                <c:pt idx="7134">
                  <c:v>#N/A</c:v>
                </c:pt>
                <c:pt idx="7135">
                  <c:v>#N/A</c:v>
                </c:pt>
                <c:pt idx="7136">
                  <c:v>#N/A</c:v>
                </c:pt>
                <c:pt idx="7137">
                  <c:v>#N/A</c:v>
                </c:pt>
                <c:pt idx="7138">
                  <c:v>#N/A</c:v>
                </c:pt>
                <c:pt idx="7139">
                  <c:v>#N/A</c:v>
                </c:pt>
                <c:pt idx="7140">
                  <c:v>#N/A</c:v>
                </c:pt>
                <c:pt idx="7141">
                  <c:v>#N/A</c:v>
                </c:pt>
                <c:pt idx="7142">
                  <c:v>#N/A</c:v>
                </c:pt>
                <c:pt idx="7143">
                  <c:v>#N/A</c:v>
                </c:pt>
                <c:pt idx="7144">
                  <c:v>#N/A</c:v>
                </c:pt>
                <c:pt idx="7145">
                  <c:v>#N/A</c:v>
                </c:pt>
                <c:pt idx="7146">
                  <c:v>#N/A</c:v>
                </c:pt>
                <c:pt idx="7147">
                  <c:v>#N/A</c:v>
                </c:pt>
                <c:pt idx="7148">
                  <c:v>#N/A</c:v>
                </c:pt>
                <c:pt idx="7149">
                  <c:v>#N/A</c:v>
                </c:pt>
                <c:pt idx="7150">
                  <c:v>#N/A</c:v>
                </c:pt>
                <c:pt idx="7151">
                  <c:v>#N/A</c:v>
                </c:pt>
                <c:pt idx="7152">
                  <c:v>#N/A</c:v>
                </c:pt>
                <c:pt idx="7153">
                  <c:v>#N/A</c:v>
                </c:pt>
                <c:pt idx="7154">
                  <c:v>#N/A</c:v>
                </c:pt>
                <c:pt idx="7155">
                  <c:v>#N/A</c:v>
                </c:pt>
                <c:pt idx="7156">
                  <c:v>#N/A</c:v>
                </c:pt>
                <c:pt idx="7157">
                  <c:v>#N/A</c:v>
                </c:pt>
                <c:pt idx="7158">
                  <c:v>#N/A</c:v>
                </c:pt>
                <c:pt idx="7159">
                  <c:v>#N/A</c:v>
                </c:pt>
                <c:pt idx="7160">
                  <c:v>#N/A</c:v>
                </c:pt>
                <c:pt idx="7161">
                  <c:v>#N/A</c:v>
                </c:pt>
                <c:pt idx="7162">
                  <c:v>#N/A</c:v>
                </c:pt>
                <c:pt idx="7163">
                  <c:v>#N/A</c:v>
                </c:pt>
                <c:pt idx="7164">
                  <c:v>#N/A</c:v>
                </c:pt>
                <c:pt idx="7165">
                  <c:v>#N/A</c:v>
                </c:pt>
                <c:pt idx="7166">
                  <c:v>#N/A</c:v>
                </c:pt>
                <c:pt idx="7167">
                  <c:v>#N/A</c:v>
                </c:pt>
                <c:pt idx="7168">
                  <c:v>#N/A</c:v>
                </c:pt>
                <c:pt idx="7169">
                  <c:v>#N/A</c:v>
                </c:pt>
                <c:pt idx="7170">
                  <c:v>#N/A</c:v>
                </c:pt>
                <c:pt idx="7171">
                  <c:v>#N/A</c:v>
                </c:pt>
                <c:pt idx="7172">
                  <c:v>#N/A</c:v>
                </c:pt>
                <c:pt idx="7173">
                  <c:v>#N/A</c:v>
                </c:pt>
                <c:pt idx="7174">
                  <c:v>#N/A</c:v>
                </c:pt>
                <c:pt idx="7175">
                  <c:v>#N/A</c:v>
                </c:pt>
                <c:pt idx="7176">
                  <c:v>#N/A</c:v>
                </c:pt>
                <c:pt idx="7177">
                  <c:v>#N/A</c:v>
                </c:pt>
                <c:pt idx="7178">
                  <c:v>#N/A</c:v>
                </c:pt>
                <c:pt idx="7179">
                  <c:v>#N/A</c:v>
                </c:pt>
                <c:pt idx="7180">
                  <c:v>#N/A</c:v>
                </c:pt>
                <c:pt idx="7181">
                  <c:v>#N/A</c:v>
                </c:pt>
                <c:pt idx="7182">
                  <c:v>#N/A</c:v>
                </c:pt>
                <c:pt idx="7183">
                  <c:v>#N/A</c:v>
                </c:pt>
                <c:pt idx="7184">
                  <c:v>#N/A</c:v>
                </c:pt>
                <c:pt idx="7185">
                  <c:v>#N/A</c:v>
                </c:pt>
                <c:pt idx="7186">
                  <c:v>#N/A</c:v>
                </c:pt>
                <c:pt idx="7187">
                  <c:v>#N/A</c:v>
                </c:pt>
                <c:pt idx="7188">
                  <c:v>#N/A</c:v>
                </c:pt>
                <c:pt idx="7189">
                  <c:v>#N/A</c:v>
                </c:pt>
                <c:pt idx="7190">
                  <c:v>#N/A</c:v>
                </c:pt>
                <c:pt idx="7191">
                  <c:v>#N/A</c:v>
                </c:pt>
                <c:pt idx="7192">
                  <c:v>#N/A</c:v>
                </c:pt>
                <c:pt idx="7193">
                  <c:v>#N/A</c:v>
                </c:pt>
                <c:pt idx="7194">
                  <c:v>#N/A</c:v>
                </c:pt>
                <c:pt idx="7195">
                  <c:v>#N/A</c:v>
                </c:pt>
                <c:pt idx="7196">
                  <c:v>#N/A</c:v>
                </c:pt>
                <c:pt idx="7197">
                  <c:v>#N/A</c:v>
                </c:pt>
                <c:pt idx="7198">
                  <c:v>#N/A</c:v>
                </c:pt>
                <c:pt idx="7199">
                  <c:v>#N/A</c:v>
                </c:pt>
                <c:pt idx="7200">
                  <c:v>#N/A</c:v>
                </c:pt>
                <c:pt idx="7201">
                  <c:v>#N/A</c:v>
                </c:pt>
                <c:pt idx="7202">
                  <c:v>#N/A</c:v>
                </c:pt>
                <c:pt idx="7203">
                  <c:v>#N/A</c:v>
                </c:pt>
                <c:pt idx="7204">
                  <c:v>#N/A</c:v>
                </c:pt>
                <c:pt idx="7205">
                  <c:v>#N/A</c:v>
                </c:pt>
                <c:pt idx="7206">
                  <c:v>#N/A</c:v>
                </c:pt>
                <c:pt idx="7207">
                  <c:v>#N/A</c:v>
                </c:pt>
                <c:pt idx="7208">
                  <c:v>#N/A</c:v>
                </c:pt>
                <c:pt idx="7209">
                  <c:v>#N/A</c:v>
                </c:pt>
                <c:pt idx="7210">
                  <c:v>#N/A</c:v>
                </c:pt>
                <c:pt idx="7211">
                  <c:v>#N/A</c:v>
                </c:pt>
                <c:pt idx="7212">
                  <c:v>#N/A</c:v>
                </c:pt>
                <c:pt idx="7213">
                  <c:v>#N/A</c:v>
                </c:pt>
                <c:pt idx="7214">
                  <c:v>#N/A</c:v>
                </c:pt>
                <c:pt idx="7215">
                  <c:v>#N/A</c:v>
                </c:pt>
                <c:pt idx="7216">
                  <c:v>#N/A</c:v>
                </c:pt>
                <c:pt idx="7217">
                  <c:v>#N/A</c:v>
                </c:pt>
                <c:pt idx="7218">
                  <c:v>#N/A</c:v>
                </c:pt>
                <c:pt idx="7219">
                  <c:v>#N/A</c:v>
                </c:pt>
                <c:pt idx="7220">
                  <c:v>#N/A</c:v>
                </c:pt>
                <c:pt idx="7221">
                  <c:v>#N/A</c:v>
                </c:pt>
                <c:pt idx="7222">
                  <c:v>#N/A</c:v>
                </c:pt>
                <c:pt idx="7223">
                  <c:v>#N/A</c:v>
                </c:pt>
                <c:pt idx="7224">
                  <c:v>#N/A</c:v>
                </c:pt>
                <c:pt idx="7225">
                  <c:v>#N/A</c:v>
                </c:pt>
                <c:pt idx="7226">
                  <c:v>#N/A</c:v>
                </c:pt>
                <c:pt idx="7227">
                  <c:v>#N/A</c:v>
                </c:pt>
                <c:pt idx="7228">
                  <c:v>#N/A</c:v>
                </c:pt>
                <c:pt idx="7229">
                  <c:v>#N/A</c:v>
                </c:pt>
                <c:pt idx="7230">
                  <c:v>#N/A</c:v>
                </c:pt>
                <c:pt idx="7231">
                  <c:v>#N/A</c:v>
                </c:pt>
                <c:pt idx="7232">
                  <c:v>#N/A</c:v>
                </c:pt>
                <c:pt idx="7233">
                  <c:v>#N/A</c:v>
                </c:pt>
                <c:pt idx="7234">
                  <c:v>#N/A</c:v>
                </c:pt>
                <c:pt idx="7235">
                  <c:v>#N/A</c:v>
                </c:pt>
                <c:pt idx="7236">
                  <c:v>#N/A</c:v>
                </c:pt>
                <c:pt idx="7237">
                  <c:v>#N/A</c:v>
                </c:pt>
                <c:pt idx="7238">
                  <c:v>#N/A</c:v>
                </c:pt>
                <c:pt idx="7239">
                  <c:v>#N/A</c:v>
                </c:pt>
                <c:pt idx="7240">
                  <c:v>#N/A</c:v>
                </c:pt>
                <c:pt idx="7241">
                  <c:v>#N/A</c:v>
                </c:pt>
                <c:pt idx="7242">
                  <c:v>#N/A</c:v>
                </c:pt>
                <c:pt idx="7243">
                  <c:v>#N/A</c:v>
                </c:pt>
                <c:pt idx="7244">
                  <c:v>#N/A</c:v>
                </c:pt>
                <c:pt idx="7245">
                  <c:v>#N/A</c:v>
                </c:pt>
                <c:pt idx="7246">
                  <c:v>#N/A</c:v>
                </c:pt>
                <c:pt idx="7247">
                  <c:v>#N/A</c:v>
                </c:pt>
                <c:pt idx="7248">
                  <c:v>#N/A</c:v>
                </c:pt>
                <c:pt idx="7249">
                  <c:v>#N/A</c:v>
                </c:pt>
                <c:pt idx="7250">
                  <c:v>#N/A</c:v>
                </c:pt>
                <c:pt idx="7251">
                  <c:v>#N/A</c:v>
                </c:pt>
                <c:pt idx="7252">
                  <c:v>#N/A</c:v>
                </c:pt>
                <c:pt idx="7253">
                  <c:v>#N/A</c:v>
                </c:pt>
                <c:pt idx="7254">
                  <c:v>#N/A</c:v>
                </c:pt>
                <c:pt idx="7255">
                  <c:v>#N/A</c:v>
                </c:pt>
                <c:pt idx="7256">
                  <c:v>#N/A</c:v>
                </c:pt>
                <c:pt idx="7257">
                  <c:v>#N/A</c:v>
                </c:pt>
                <c:pt idx="7258">
                  <c:v>#N/A</c:v>
                </c:pt>
                <c:pt idx="7259">
                  <c:v>#N/A</c:v>
                </c:pt>
                <c:pt idx="7260">
                  <c:v>#N/A</c:v>
                </c:pt>
                <c:pt idx="7261">
                  <c:v>#N/A</c:v>
                </c:pt>
                <c:pt idx="7262">
                  <c:v>#N/A</c:v>
                </c:pt>
                <c:pt idx="7263">
                  <c:v>#N/A</c:v>
                </c:pt>
                <c:pt idx="7264">
                  <c:v>#N/A</c:v>
                </c:pt>
                <c:pt idx="7265">
                  <c:v>#N/A</c:v>
                </c:pt>
                <c:pt idx="7266">
                  <c:v>#N/A</c:v>
                </c:pt>
                <c:pt idx="7267">
                  <c:v>#N/A</c:v>
                </c:pt>
                <c:pt idx="7268">
                  <c:v>#N/A</c:v>
                </c:pt>
                <c:pt idx="7269">
                  <c:v>#N/A</c:v>
                </c:pt>
                <c:pt idx="7270">
                  <c:v>#N/A</c:v>
                </c:pt>
                <c:pt idx="7271">
                  <c:v>#N/A</c:v>
                </c:pt>
                <c:pt idx="7272">
                  <c:v>#N/A</c:v>
                </c:pt>
                <c:pt idx="7273">
                  <c:v>#N/A</c:v>
                </c:pt>
                <c:pt idx="7274">
                  <c:v>#N/A</c:v>
                </c:pt>
                <c:pt idx="7275">
                  <c:v>#N/A</c:v>
                </c:pt>
                <c:pt idx="7276">
                  <c:v>#N/A</c:v>
                </c:pt>
                <c:pt idx="7277">
                  <c:v>#N/A</c:v>
                </c:pt>
                <c:pt idx="7278">
                  <c:v>#N/A</c:v>
                </c:pt>
                <c:pt idx="7279">
                  <c:v>#N/A</c:v>
                </c:pt>
                <c:pt idx="7280">
                  <c:v>#N/A</c:v>
                </c:pt>
                <c:pt idx="7281">
                  <c:v>#N/A</c:v>
                </c:pt>
                <c:pt idx="7282">
                  <c:v>#N/A</c:v>
                </c:pt>
                <c:pt idx="7283">
                  <c:v>#N/A</c:v>
                </c:pt>
                <c:pt idx="7284">
                  <c:v>#N/A</c:v>
                </c:pt>
                <c:pt idx="7285">
                  <c:v>#N/A</c:v>
                </c:pt>
                <c:pt idx="7286">
                  <c:v>#N/A</c:v>
                </c:pt>
                <c:pt idx="7287">
                  <c:v>#N/A</c:v>
                </c:pt>
                <c:pt idx="7288">
                  <c:v>#N/A</c:v>
                </c:pt>
                <c:pt idx="7289">
                  <c:v>#N/A</c:v>
                </c:pt>
                <c:pt idx="7290">
                  <c:v>#N/A</c:v>
                </c:pt>
                <c:pt idx="7291">
                  <c:v>#N/A</c:v>
                </c:pt>
                <c:pt idx="7292">
                  <c:v>#N/A</c:v>
                </c:pt>
                <c:pt idx="7293">
                  <c:v>#N/A</c:v>
                </c:pt>
                <c:pt idx="7294">
                  <c:v>#N/A</c:v>
                </c:pt>
                <c:pt idx="7295">
                  <c:v>#N/A</c:v>
                </c:pt>
                <c:pt idx="7296">
                  <c:v>#N/A</c:v>
                </c:pt>
                <c:pt idx="7297">
                  <c:v>#N/A</c:v>
                </c:pt>
                <c:pt idx="7298">
                  <c:v>#N/A</c:v>
                </c:pt>
                <c:pt idx="7299">
                  <c:v>#N/A</c:v>
                </c:pt>
                <c:pt idx="7300">
                  <c:v>#N/A</c:v>
                </c:pt>
                <c:pt idx="7301">
                  <c:v>#N/A</c:v>
                </c:pt>
                <c:pt idx="7302">
                  <c:v>#N/A</c:v>
                </c:pt>
                <c:pt idx="7303">
                  <c:v>#N/A</c:v>
                </c:pt>
                <c:pt idx="7304">
                  <c:v>#N/A</c:v>
                </c:pt>
                <c:pt idx="7305">
                  <c:v>#N/A</c:v>
                </c:pt>
                <c:pt idx="7306">
                  <c:v>#N/A</c:v>
                </c:pt>
                <c:pt idx="7307">
                  <c:v>#N/A</c:v>
                </c:pt>
                <c:pt idx="7308">
                  <c:v>#N/A</c:v>
                </c:pt>
                <c:pt idx="7309">
                  <c:v>#N/A</c:v>
                </c:pt>
                <c:pt idx="7310">
                  <c:v>#N/A</c:v>
                </c:pt>
                <c:pt idx="7311">
                  <c:v>#N/A</c:v>
                </c:pt>
                <c:pt idx="7312">
                  <c:v>#N/A</c:v>
                </c:pt>
                <c:pt idx="7313">
                  <c:v>#N/A</c:v>
                </c:pt>
                <c:pt idx="7314">
                  <c:v>#N/A</c:v>
                </c:pt>
                <c:pt idx="7315">
                  <c:v>#N/A</c:v>
                </c:pt>
                <c:pt idx="7316">
                  <c:v>#N/A</c:v>
                </c:pt>
                <c:pt idx="7317">
                  <c:v>#N/A</c:v>
                </c:pt>
                <c:pt idx="7318">
                  <c:v>#N/A</c:v>
                </c:pt>
                <c:pt idx="7319">
                  <c:v>#N/A</c:v>
                </c:pt>
                <c:pt idx="7320">
                  <c:v>#N/A</c:v>
                </c:pt>
                <c:pt idx="7321">
                  <c:v>#N/A</c:v>
                </c:pt>
                <c:pt idx="7322">
                  <c:v>#N/A</c:v>
                </c:pt>
                <c:pt idx="7323">
                  <c:v>#N/A</c:v>
                </c:pt>
                <c:pt idx="7324">
                  <c:v>#N/A</c:v>
                </c:pt>
                <c:pt idx="7325">
                  <c:v>#N/A</c:v>
                </c:pt>
                <c:pt idx="7326">
                  <c:v>#N/A</c:v>
                </c:pt>
                <c:pt idx="7327">
                  <c:v>#N/A</c:v>
                </c:pt>
                <c:pt idx="7328">
                  <c:v>#N/A</c:v>
                </c:pt>
                <c:pt idx="7329">
                  <c:v>#N/A</c:v>
                </c:pt>
                <c:pt idx="7330">
                  <c:v>#N/A</c:v>
                </c:pt>
                <c:pt idx="7331">
                  <c:v>#N/A</c:v>
                </c:pt>
                <c:pt idx="7332">
                  <c:v>#N/A</c:v>
                </c:pt>
                <c:pt idx="7333">
                  <c:v>#N/A</c:v>
                </c:pt>
                <c:pt idx="7334">
                  <c:v>#N/A</c:v>
                </c:pt>
                <c:pt idx="7335">
                  <c:v>#N/A</c:v>
                </c:pt>
                <c:pt idx="7336">
                  <c:v>#N/A</c:v>
                </c:pt>
                <c:pt idx="7337">
                  <c:v>#N/A</c:v>
                </c:pt>
                <c:pt idx="7338">
                  <c:v>#N/A</c:v>
                </c:pt>
                <c:pt idx="7339">
                  <c:v>#N/A</c:v>
                </c:pt>
                <c:pt idx="7340">
                  <c:v>#N/A</c:v>
                </c:pt>
                <c:pt idx="7341">
                  <c:v>#N/A</c:v>
                </c:pt>
                <c:pt idx="7342">
                  <c:v>#N/A</c:v>
                </c:pt>
                <c:pt idx="7343">
                  <c:v>#N/A</c:v>
                </c:pt>
                <c:pt idx="7344">
                  <c:v>#N/A</c:v>
                </c:pt>
                <c:pt idx="7345">
                  <c:v>#N/A</c:v>
                </c:pt>
                <c:pt idx="7346">
                  <c:v>#N/A</c:v>
                </c:pt>
                <c:pt idx="7347">
                  <c:v>#N/A</c:v>
                </c:pt>
                <c:pt idx="7348">
                  <c:v>#N/A</c:v>
                </c:pt>
                <c:pt idx="7349">
                  <c:v>#N/A</c:v>
                </c:pt>
                <c:pt idx="7350">
                  <c:v>#N/A</c:v>
                </c:pt>
                <c:pt idx="7351">
                  <c:v>#N/A</c:v>
                </c:pt>
                <c:pt idx="7352">
                  <c:v>#N/A</c:v>
                </c:pt>
                <c:pt idx="7353">
                  <c:v>#N/A</c:v>
                </c:pt>
                <c:pt idx="7354">
                  <c:v>#N/A</c:v>
                </c:pt>
                <c:pt idx="7355">
                  <c:v>#N/A</c:v>
                </c:pt>
                <c:pt idx="7356">
                  <c:v>#N/A</c:v>
                </c:pt>
                <c:pt idx="7357">
                  <c:v>#N/A</c:v>
                </c:pt>
                <c:pt idx="7358">
                  <c:v>#N/A</c:v>
                </c:pt>
                <c:pt idx="7359">
                  <c:v>#N/A</c:v>
                </c:pt>
                <c:pt idx="7360">
                  <c:v>#N/A</c:v>
                </c:pt>
                <c:pt idx="7361">
                  <c:v>#N/A</c:v>
                </c:pt>
                <c:pt idx="7362">
                  <c:v>#N/A</c:v>
                </c:pt>
                <c:pt idx="7363">
                  <c:v>#N/A</c:v>
                </c:pt>
                <c:pt idx="7364">
                  <c:v>#N/A</c:v>
                </c:pt>
                <c:pt idx="7365">
                  <c:v>#N/A</c:v>
                </c:pt>
                <c:pt idx="7366">
                  <c:v>#N/A</c:v>
                </c:pt>
                <c:pt idx="7367">
                  <c:v>#N/A</c:v>
                </c:pt>
                <c:pt idx="7368">
                  <c:v>#N/A</c:v>
                </c:pt>
                <c:pt idx="7369">
                  <c:v>#N/A</c:v>
                </c:pt>
                <c:pt idx="7370">
                  <c:v>#N/A</c:v>
                </c:pt>
                <c:pt idx="7371">
                  <c:v>#N/A</c:v>
                </c:pt>
                <c:pt idx="7372">
                  <c:v>#N/A</c:v>
                </c:pt>
                <c:pt idx="7373">
                  <c:v>#N/A</c:v>
                </c:pt>
                <c:pt idx="7374">
                  <c:v>#N/A</c:v>
                </c:pt>
                <c:pt idx="7375">
                  <c:v>#N/A</c:v>
                </c:pt>
                <c:pt idx="7376">
                  <c:v>#N/A</c:v>
                </c:pt>
                <c:pt idx="7377">
                  <c:v>#N/A</c:v>
                </c:pt>
                <c:pt idx="7378">
                  <c:v>#N/A</c:v>
                </c:pt>
                <c:pt idx="7379">
                  <c:v>#N/A</c:v>
                </c:pt>
                <c:pt idx="7380">
                  <c:v>#N/A</c:v>
                </c:pt>
                <c:pt idx="7381">
                  <c:v>#N/A</c:v>
                </c:pt>
                <c:pt idx="7382">
                  <c:v>#N/A</c:v>
                </c:pt>
                <c:pt idx="7383">
                  <c:v>#N/A</c:v>
                </c:pt>
                <c:pt idx="7384">
                  <c:v>#N/A</c:v>
                </c:pt>
                <c:pt idx="7385">
                  <c:v>#N/A</c:v>
                </c:pt>
                <c:pt idx="7386">
                  <c:v>#N/A</c:v>
                </c:pt>
                <c:pt idx="7387">
                  <c:v>#N/A</c:v>
                </c:pt>
                <c:pt idx="7388">
                  <c:v>#N/A</c:v>
                </c:pt>
                <c:pt idx="7389">
                  <c:v>#N/A</c:v>
                </c:pt>
                <c:pt idx="7390">
                  <c:v>#N/A</c:v>
                </c:pt>
                <c:pt idx="7391">
                  <c:v>#N/A</c:v>
                </c:pt>
                <c:pt idx="7392">
                  <c:v>#N/A</c:v>
                </c:pt>
                <c:pt idx="7393">
                  <c:v>#N/A</c:v>
                </c:pt>
                <c:pt idx="7394">
                  <c:v>#N/A</c:v>
                </c:pt>
                <c:pt idx="7395">
                  <c:v>#N/A</c:v>
                </c:pt>
                <c:pt idx="7396">
                  <c:v>#N/A</c:v>
                </c:pt>
                <c:pt idx="7397">
                  <c:v>#N/A</c:v>
                </c:pt>
                <c:pt idx="7398">
                  <c:v>#N/A</c:v>
                </c:pt>
                <c:pt idx="7399">
                  <c:v>#N/A</c:v>
                </c:pt>
                <c:pt idx="7400">
                  <c:v>#N/A</c:v>
                </c:pt>
                <c:pt idx="7401">
                  <c:v>#N/A</c:v>
                </c:pt>
                <c:pt idx="7402">
                  <c:v>#N/A</c:v>
                </c:pt>
                <c:pt idx="7403">
                  <c:v>#N/A</c:v>
                </c:pt>
                <c:pt idx="7404">
                  <c:v>#N/A</c:v>
                </c:pt>
                <c:pt idx="7405">
                  <c:v>#N/A</c:v>
                </c:pt>
                <c:pt idx="7406">
                  <c:v>#N/A</c:v>
                </c:pt>
                <c:pt idx="7407">
                  <c:v>#N/A</c:v>
                </c:pt>
                <c:pt idx="7408">
                  <c:v>#N/A</c:v>
                </c:pt>
                <c:pt idx="7409">
                  <c:v>#N/A</c:v>
                </c:pt>
                <c:pt idx="7410">
                  <c:v>#N/A</c:v>
                </c:pt>
                <c:pt idx="7411">
                  <c:v>#N/A</c:v>
                </c:pt>
                <c:pt idx="7412">
                  <c:v>#N/A</c:v>
                </c:pt>
                <c:pt idx="7413">
                  <c:v>#N/A</c:v>
                </c:pt>
                <c:pt idx="7414">
                  <c:v>#N/A</c:v>
                </c:pt>
                <c:pt idx="7415">
                  <c:v>#N/A</c:v>
                </c:pt>
                <c:pt idx="7416">
                  <c:v>#N/A</c:v>
                </c:pt>
                <c:pt idx="7417">
                  <c:v>#N/A</c:v>
                </c:pt>
                <c:pt idx="7418">
                  <c:v>#N/A</c:v>
                </c:pt>
                <c:pt idx="7419">
                  <c:v>#N/A</c:v>
                </c:pt>
                <c:pt idx="7420">
                  <c:v>#N/A</c:v>
                </c:pt>
                <c:pt idx="7421">
                  <c:v>#N/A</c:v>
                </c:pt>
                <c:pt idx="7422">
                  <c:v>#N/A</c:v>
                </c:pt>
                <c:pt idx="7423">
                  <c:v>#N/A</c:v>
                </c:pt>
                <c:pt idx="7424">
                  <c:v>#N/A</c:v>
                </c:pt>
                <c:pt idx="7425">
                  <c:v>#N/A</c:v>
                </c:pt>
                <c:pt idx="7426">
                  <c:v>#N/A</c:v>
                </c:pt>
                <c:pt idx="7427">
                  <c:v>#N/A</c:v>
                </c:pt>
                <c:pt idx="7428">
                  <c:v>#N/A</c:v>
                </c:pt>
                <c:pt idx="7429">
                  <c:v>#N/A</c:v>
                </c:pt>
                <c:pt idx="7430">
                  <c:v>#N/A</c:v>
                </c:pt>
                <c:pt idx="7431">
                  <c:v>#N/A</c:v>
                </c:pt>
                <c:pt idx="7432">
                  <c:v>#N/A</c:v>
                </c:pt>
                <c:pt idx="7433">
                  <c:v>#N/A</c:v>
                </c:pt>
                <c:pt idx="7434">
                  <c:v>#N/A</c:v>
                </c:pt>
                <c:pt idx="7435">
                  <c:v>#N/A</c:v>
                </c:pt>
                <c:pt idx="7436">
                  <c:v>#N/A</c:v>
                </c:pt>
                <c:pt idx="7437">
                  <c:v>#N/A</c:v>
                </c:pt>
                <c:pt idx="7438">
                  <c:v>#N/A</c:v>
                </c:pt>
                <c:pt idx="7439">
                  <c:v>#N/A</c:v>
                </c:pt>
                <c:pt idx="7440">
                  <c:v>#N/A</c:v>
                </c:pt>
                <c:pt idx="7441">
                  <c:v>#N/A</c:v>
                </c:pt>
                <c:pt idx="7442">
                  <c:v>#N/A</c:v>
                </c:pt>
                <c:pt idx="7443">
                  <c:v>#N/A</c:v>
                </c:pt>
                <c:pt idx="7444">
                  <c:v>#N/A</c:v>
                </c:pt>
                <c:pt idx="7445">
                  <c:v>#N/A</c:v>
                </c:pt>
                <c:pt idx="7446">
                  <c:v>#N/A</c:v>
                </c:pt>
                <c:pt idx="7447">
                  <c:v>#N/A</c:v>
                </c:pt>
                <c:pt idx="7448">
                  <c:v>#N/A</c:v>
                </c:pt>
                <c:pt idx="7449">
                  <c:v>#N/A</c:v>
                </c:pt>
                <c:pt idx="7450">
                  <c:v>#N/A</c:v>
                </c:pt>
                <c:pt idx="7451">
                  <c:v>#N/A</c:v>
                </c:pt>
                <c:pt idx="7452">
                  <c:v>#N/A</c:v>
                </c:pt>
                <c:pt idx="7453">
                  <c:v>#N/A</c:v>
                </c:pt>
                <c:pt idx="7454">
                  <c:v>#N/A</c:v>
                </c:pt>
                <c:pt idx="7455">
                  <c:v>#N/A</c:v>
                </c:pt>
                <c:pt idx="7456">
                  <c:v>#N/A</c:v>
                </c:pt>
                <c:pt idx="7457">
                  <c:v>#N/A</c:v>
                </c:pt>
                <c:pt idx="7458">
                  <c:v>#N/A</c:v>
                </c:pt>
                <c:pt idx="7459">
                  <c:v>#N/A</c:v>
                </c:pt>
                <c:pt idx="7460">
                  <c:v>#N/A</c:v>
                </c:pt>
                <c:pt idx="7461">
                  <c:v>#N/A</c:v>
                </c:pt>
                <c:pt idx="7462">
                  <c:v>#N/A</c:v>
                </c:pt>
                <c:pt idx="7463">
                  <c:v>#N/A</c:v>
                </c:pt>
                <c:pt idx="7464">
                  <c:v>#N/A</c:v>
                </c:pt>
                <c:pt idx="7465">
                  <c:v>#N/A</c:v>
                </c:pt>
                <c:pt idx="7466">
                  <c:v>#N/A</c:v>
                </c:pt>
                <c:pt idx="7467">
                  <c:v>#N/A</c:v>
                </c:pt>
                <c:pt idx="7468">
                  <c:v>#N/A</c:v>
                </c:pt>
                <c:pt idx="7469">
                  <c:v>#N/A</c:v>
                </c:pt>
                <c:pt idx="7470">
                  <c:v>#N/A</c:v>
                </c:pt>
                <c:pt idx="7471">
                  <c:v>#N/A</c:v>
                </c:pt>
                <c:pt idx="7472">
                  <c:v>#N/A</c:v>
                </c:pt>
                <c:pt idx="7473">
                  <c:v>#N/A</c:v>
                </c:pt>
                <c:pt idx="7474">
                  <c:v>#N/A</c:v>
                </c:pt>
                <c:pt idx="7475">
                  <c:v>#N/A</c:v>
                </c:pt>
                <c:pt idx="7476">
                  <c:v>#N/A</c:v>
                </c:pt>
                <c:pt idx="7477">
                  <c:v>#N/A</c:v>
                </c:pt>
                <c:pt idx="7478">
                  <c:v>#N/A</c:v>
                </c:pt>
                <c:pt idx="7479">
                  <c:v>#N/A</c:v>
                </c:pt>
                <c:pt idx="7480">
                  <c:v>#N/A</c:v>
                </c:pt>
                <c:pt idx="7481">
                  <c:v>#N/A</c:v>
                </c:pt>
                <c:pt idx="7482">
                  <c:v>#N/A</c:v>
                </c:pt>
                <c:pt idx="7483">
                  <c:v>#N/A</c:v>
                </c:pt>
                <c:pt idx="7484">
                  <c:v>#N/A</c:v>
                </c:pt>
                <c:pt idx="7485">
                  <c:v>#N/A</c:v>
                </c:pt>
                <c:pt idx="7486">
                  <c:v>#N/A</c:v>
                </c:pt>
                <c:pt idx="7487">
                  <c:v>#N/A</c:v>
                </c:pt>
                <c:pt idx="7488">
                  <c:v>#N/A</c:v>
                </c:pt>
                <c:pt idx="7489">
                  <c:v>#N/A</c:v>
                </c:pt>
                <c:pt idx="7490">
                  <c:v>#N/A</c:v>
                </c:pt>
                <c:pt idx="7491">
                  <c:v>#N/A</c:v>
                </c:pt>
                <c:pt idx="7492">
                  <c:v>#N/A</c:v>
                </c:pt>
                <c:pt idx="7493">
                  <c:v>#N/A</c:v>
                </c:pt>
                <c:pt idx="7494">
                  <c:v>#N/A</c:v>
                </c:pt>
                <c:pt idx="7495">
                  <c:v>#N/A</c:v>
                </c:pt>
                <c:pt idx="7496">
                  <c:v>#N/A</c:v>
                </c:pt>
                <c:pt idx="7497">
                  <c:v>#N/A</c:v>
                </c:pt>
                <c:pt idx="7498">
                  <c:v>#N/A</c:v>
                </c:pt>
                <c:pt idx="7499">
                  <c:v>#N/A</c:v>
                </c:pt>
                <c:pt idx="7500">
                  <c:v>#N/A</c:v>
                </c:pt>
                <c:pt idx="7501">
                  <c:v>#N/A</c:v>
                </c:pt>
                <c:pt idx="7502">
                  <c:v>#N/A</c:v>
                </c:pt>
                <c:pt idx="7503">
                  <c:v>#N/A</c:v>
                </c:pt>
                <c:pt idx="7504">
                  <c:v>#N/A</c:v>
                </c:pt>
                <c:pt idx="7505">
                  <c:v>#N/A</c:v>
                </c:pt>
                <c:pt idx="7506">
                  <c:v>#N/A</c:v>
                </c:pt>
                <c:pt idx="7507">
                  <c:v>#N/A</c:v>
                </c:pt>
                <c:pt idx="7508">
                  <c:v>#N/A</c:v>
                </c:pt>
                <c:pt idx="7509">
                  <c:v>#N/A</c:v>
                </c:pt>
                <c:pt idx="7510">
                  <c:v>#N/A</c:v>
                </c:pt>
                <c:pt idx="7511">
                  <c:v>#N/A</c:v>
                </c:pt>
                <c:pt idx="7512">
                  <c:v>#N/A</c:v>
                </c:pt>
                <c:pt idx="7513">
                  <c:v>#N/A</c:v>
                </c:pt>
                <c:pt idx="7514">
                  <c:v>#N/A</c:v>
                </c:pt>
                <c:pt idx="7515">
                  <c:v>#N/A</c:v>
                </c:pt>
                <c:pt idx="7516">
                  <c:v>#N/A</c:v>
                </c:pt>
                <c:pt idx="7517">
                  <c:v>#N/A</c:v>
                </c:pt>
                <c:pt idx="7518">
                  <c:v>#N/A</c:v>
                </c:pt>
                <c:pt idx="7519">
                  <c:v>#N/A</c:v>
                </c:pt>
                <c:pt idx="7520">
                  <c:v>#N/A</c:v>
                </c:pt>
                <c:pt idx="7521">
                  <c:v>#N/A</c:v>
                </c:pt>
                <c:pt idx="7522">
                  <c:v>#N/A</c:v>
                </c:pt>
                <c:pt idx="7523">
                  <c:v>#N/A</c:v>
                </c:pt>
                <c:pt idx="7524">
                  <c:v>#N/A</c:v>
                </c:pt>
                <c:pt idx="7525">
                  <c:v>#N/A</c:v>
                </c:pt>
                <c:pt idx="7526">
                  <c:v>#N/A</c:v>
                </c:pt>
                <c:pt idx="7527">
                  <c:v>#N/A</c:v>
                </c:pt>
                <c:pt idx="7528">
                  <c:v>#N/A</c:v>
                </c:pt>
                <c:pt idx="7529">
                  <c:v>#N/A</c:v>
                </c:pt>
                <c:pt idx="7530">
                  <c:v>#N/A</c:v>
                </c:pt>
                <c:pt idx="7531">
                  <c:v>#N/A</c:v>
                </c:pt>
                <c:pt idx="7532">
                  <c:v>#N/A</c:v>
                </c:pt>
                <c:pt idx="7533">
                  <c:v>#N/A</c:v>
                </c:pt>
                <c:pt idx="7534">
                  <c:v>#N/A</c:v>
                </c:pt>
                <c:pt idx="7535">
                  <c:v>#N/A</c:v>
                </c:pt>
                <c:pt idx="7536">
                  <c:v>#N/A</c:v>
                </c:pt>
                <c:pt idx="7537">
                  <c:v>#N/A</c:v>
                </c:pt>
                <c:pt idx="7538">
                  <c:v>#N/A</c:v>
                </c:pt>
                <c:pt idx="7539">
                  <c:v>#N/A</c:v>
                </c:pt>
                <c:pt idx="7540">
                  <c:v>#N/A</c:v>
                </c:pt>
                <c:pt idx="7541">
                  <c:v>#N/A</c:v>
                </c:pt>
                <c:pt idx="7542">
                  <c:v>#N/A</c:v>
                </c:pt>
                <c:pt idx="7543">
                  <c:v>#N/A</c:v>
                </c:pt>
                <c:pt idx="7544">
                  <c:v>#N/A</c:v>
                </c:pt>
                <c:pt idx="7545">
                  <c:v>#N/A</c:v>
                </c:pt>
                <c:pt idx="7546">
                  <c:v>#N/A</c:v>
                </c:pt>
                <c:pt idx="7547">
                  <c:v>#N/A</c:v>
                </c:pt>
                <c:pt idx="7548">
                  <c:v>#N/A</c:v>
                </c:pt>
                <c:pt idx="7549">
                  <c:v>#N/A</c:v>
                </c:pt>
                <c:pt idx="7550">
                  <c:v>#N/A</c:v>
                </c:pt>
                <c:pt idx="7551">
                  <c:v>#N/A</c:v>
                </c:pt>
                <c:pt idx="7552">
                  <c:v>#N/A</c:v>
                </c:pt>
                <c:pt idx="7553">
                  <c:v>#N/A</c:v>
                </c:pt>
                <c:pt idx="7554">
                  <c:v>#N/A</c:v>
                </c:pt>
                <c:pt idx="7555">
                  <c:v>#N/A</c:v>
                </c:pt>
                <c:pt idx="7556">
                  <c:v>#N/A</c:v>
                </c:pt>
                <c:pt idx="7557">
                  <c:v>#N/A</c:v>
                </c:pt>
                <c:pt idx="7558">
                  <c:v>#N/A</c:v>
                </c:pt>
                <c:pt idx="7559">
                  <c:v>#N/A</c:v>
                </c:pt>
                <c:pt idx="7560">
                  <c:v>#N/A</c:v>
                </c:pt>
                <c:pt idx="7561">
                  <c:v>#N/A</c:v>
                </c:pt>
                <c:pt idx="7562">
                  <c:v>#N/A</c:v>
                </c:pt>
                <c:pt idx="7563">
                  <c:v>#N/A</c:v>
                </c:pt>
                <c:pt idx="7564">
                  <c:v>#N/A</c:v>
                </c:pt>
                <c:pt idx="7565">
                  <c:v>#N/A</c:v>
                </c:pt>
                <c:pt idx="7566">
                  <c:v>#N/A</c:v>
                </c:pt>
                <c:pt idx="7567">
                  <c:v>#N/A</c:v>
                </c:pt>
                <c:pt idx="7568">
                  <c:v>#N/A</c:v>
                </c:pt>
                <c:pt idx="7569">
                  <c:v>#N/A</c:v>
                </c:pt>
                <c:pt idx="7570">
                  <c:v>#N/A</c:v>
                </c:pt>
                <c:pt idx="7571">
                  <c:v>#N/A</c:v>
                </c:pt>
                <c:pt idx="7572">
                  <c:v>#N/A</c:v>
                </c:pt>
                <c:pt idx="7573">
                  <c:v>#N/A</c:v>
                </c:pt>
                <c:pt idx="7574">
                  <c:v>#N/A</c:v>
                </c:pt>
                <c:pt idx="7575">
                  <c:v>#N/A</c:v>
                </c:pt>
                <c:pt idx="7576">
                  <c:v>#N/A</c:v>
                </c:pt>
                <c:pt idx="7577">
                  <c:v>#N/A</c:v>
                </c:pt>
                <c:pt idx="7578">
                  <c:v>#N/A</c:v>
                </c:pt>
                <c:pt idx="7579">
                  <c:v>#N/A</c:v>
                </c:pt>
                <c:pt idx="7580">
                  <c:v>#N/A</c:v>
                </c:pt>
                <c:pt idx="7581">
                  <c:v>#N/A</c:v>
                </c:pt>
                <c:pt idx="7582">
                  <c:v>#N/A</c:v>
                </c:pt>
                <c:pt idx="7583">
                  <c:v>#N/A</c:v>
                </c:pt>
                <c:pt idx="7584">
                  <c:v>#N/A</c:v>
                </c:pt>
                <c:pt idx="7585">
                  <c:v>#N/A</c:v>
                </c:pt>
                <c:pt idx="7586">
                  <c:v>#N/A</c:v>
                </c:pt>
                <c:pt idx="7587">
                  <c:v>#N/A</c:v>
                </c:pt>
                <c:pt idx="7588">
                  <c:v>#N/A</c:v>
                </c:pt>
                <c:pt idx="7589">
                  <c:v>#N/A</c:v>
                </c:pt>
                <c:pt idx="7590">
                  <c:v>#N/A</c:v>
                </c:pt>
                <c:pt idx="7591">
                  <c:v>#N/A</c:v>
                </c:pt>
                <c:pt idx="7592">
                  <c:v>#N/A</c:v>
                </c:pt>
                <c:pt idx="7593">
                  <c:v>#N/A</c:v>
                </c:pt>
                <c:pt idx="7594">
                  <c:v>#N/A</c:v>
                </c:pt>
                <c:pt idx="7595">
                  <c:v>#N/A</c:v>
                </c:pt>
                <c:pt idx="7596">
                  <c:v>#N/A</c:v>
                </c:pt>
                <c:pt idx="7597">
                  <c:v>#N/A</c:v>
                </c:pt>
                <c:pt idx="7598">
                  <c:v>#N/A</c:v>
                </c:pt>
                <c:pt idx="7599">
                  <c:v>#N/A</c:v>
                </c:pt>
                <c:pt idx="7600">
                  <c:v>#N/A</c:v>
                </c:pt>
                <c:pt idx="7601">
                  <c:v>#N/A</c:v>
                </c:pt>
                <c:pt idx="7602">
                  <c:v>#N/A</c:v>
                </c:pt>
                <c:pt idx="7603">
                  <c:v>#N/A</c:v>
                </c:pt>
                <c:pt idx="7604">
                  <c:v>#N/A</c:v>
                </c:pt>
                <c:pt idx="7605">
                  <c:v>#N/A</c:v>
                </c:pt>
                <c:pt idx="7606">
                  <c:v>#N/A</c:v>
                </c:pt>
                <c:pt idx="7607">
                  <c:v>#N/A</c:v>
                </c:pt>
                <c:pt idx="7608">
                  <c:v>#N/A</c:v>
                </c:pt>
                <c:pt idx="7609">
                  <c:v>#N/A</c:v>
                </c:pt>
                <c:pt idx="7610">
                  <c:v>#N/A</c:v>
                </c:pt>
                <c:pt idx="7611">
                  <c:v>#N/A</c:v>
                </c:pt>
                <c:pt idx="7612">
                  <c:v>#N/A</c:v>
                </c:pt>
                <c:pt idx="7613">
                  <c:v>#N/A</c:v>
                </c:pt>
                <c:pt idx="7614">
                  <c:v>#N/A</c:v>
                </c:pt>
                <c:pt idx="7615">
                  <c:v>#N/A</c:v>
                </c:pt>
                <c:pt idx="7616">
                  <c:v>#N/A</c:v>
                </c:pt>
                <c:pt idx="7617">
                  <c:v>#N/A</c:v>
                </c:pt>
                <c:pt idx="7618">
                  <c:v>#N/A</c:v>
                </c:pt>
                <c:pt idx="7619">
                  <c:v>#N/A</c:v>
                </c:pt>
                <c:pt idx="7620">
                  <c:v>#N/A</c:v>
                </c:pt>
                <c:pt idx="7621">
                  <c:v>#N/A</c:v>
                </c:pt>
                <c:pt idx="7622">
                  <c:v>#N/A</c:v>
                </c:pt>
                <c:pt idx="7623">
                  <c:v>#N/A</c:v>
                </c:pt>
                <c:pt idx="7624">
                  <c:v>#N/A</c:v>
                </c:pt>
                <c:pt idx="7625">
                  <c:v>#N/A</c:v>
                </c:pt>
                <c:pt idx="7626">
                  <c:v>#N/A</c:v>
                </c:pt>
                <c:pt idx="7627">
                  <c:v>#N/A</c:v>
                </c:pt>
                <c:pt idx="7628">
                  <c:v>#N/A</c:v>
                </c:pt>
                <c:pt idx="7629">
                  <c:v>#N/A</c:v>
                </c:pt>
                <c:pt idx="7630">
                  <c:v>#N/A</c:v>
                </c:pt>
                <c:pt idx="7631">
                  <c:v>#N/A</c:v>
                </c:pt>
                <c:pt idx="7632">
                  <c:v>#N/A</c:v>
                </c:pt>
                <c:pt idx="7633">
                  <c:v>#N/A</c:v>
                </c:pt>
                <c:pt idx="7634">
                  <c:v>#N/A</c:v>
                </c:pt>
                <c:pt idx="7635">
                  <c:v>#N/A</c:v>
                </c:pt>
                <c:pt idx="7636">
                  <c:v>#N/A</c:v>
                </c:pt>
                <c:pt idx="7637">
                  <c:v>#N/A</c:v>
                </c:pt>
                <c:pt idx="7638">
                  <c:v>#N/A</c:v>
                </c:pt>
                <c:pt idx="7639">
                  <c:v>#N/A</c:v>
                </c:pt>
                <c:pt idx="7640">
                  <c:v>#N/A</c:v>
                </c:pt>
                <c:pt idx="7641">
                  <c:v>#N/A</c:v>
                </c:pt>
                <c:pt idx="7642">
                  <c:v>#N/A</c:v>
                </c:pt>
                <c:pt idx="7643">
                  <c:v>#N/A</c:v>
                </c:pt>
                <c:pt idx="7644">
                  <c:v>#N/A</c:v>
                </c:pt>
                <c:pt idx="7645">
                  <c:v>#N/A</c:v>
                </c:pt>
                <c:pt idx="7646">
                  <c:v>#N/A</c:v>
                </c:pt>
                <c:pt idx="7647">
                  <c:v>#N/A</c:v>
                </c:pt>
                <c:pt idx="7648">
                  <c:v>#N/A</c:v>
                </c:pt>
                <c:pt idx="7649">
                  <c:v>#N/A</c:v>
                </c:pt>
                <c:pt idx="7650">
                  <c:v>#N/A</c:v>
                </c:pt>
                <c:pt idx="7651">
                  <c:v>#N/A</c:v>
                </c:pt>
                <c:pt idx="7652">
                  <c:v>#N/A</c:v>
                </c:pt>
                <c:pt idx="7653">
                  <c:v>#N/A</c:v>
                </c:pt>
                <c:pt idx="7654">
                  <c:v>#N/A</c:v>
                </c:pt>
                <c:pt idx="7655">
                  <c:v>#N/A</c:v>
                </c:pt>
                <c:pt idx="7656">
                  <c:v>#N/A</c:v>
                </c:pt>
                <c:pt idx="7657">
                  <c:v>#N/A</c:v>
                </c:pt>
                <c:pt idx="7658">
                  <c:v>#N/A</c:v>
                </c:pt>
                <c:pt idx="7659">
                  <c:v>#N/A</c:v>
                </c:pt>
                <c:pt idx="7660">
                  <c:v>#N/A</c:v>
                </c:pt>
                <c:pt idx="7661">
                  <c:v>#N/A</c:v>
                </c:pt>
                <c:pt idx="7662">
                  <c:v>#N/A</c:v>
                </c:pt>
                <c:pt idx="7663">
                  <c:v>#N/A</c:v>
                </c:pt>
                <c:pt idx="7664">
                  <c:v>#N/A</c:v>
                </c:pt>
                <c:pt idx="7665">
                  <c:v>#N/A</c:v>
                </c:pt>
                <c:pt idx="7666">
                  <c:v>#N/A</c:v>
                </c:pt>
                <c:pt idx="7667">
                  <c:v>#N/A</c:v>
                </c:pt>
                <c:pt idx="7668">
                  <c:v>#N/A</c:v>
                </c:pt>
                <c:pt idx="7669">
                  <c:v>#N/A</c:v>
                </c:pt>
                <c:pt idx="7670">
                  <c:v>#N/A</c:v>
                </c:pt>
                <c:pt idx="7671">
                  <c:v>#N/A</c:v>
                </c:pt>
                <c:pt idx="7672">
                  <c:v>#N/A</c:v>
                </c:pt>
                <c:pt idx="7673">
                  <c:v>#N/A</c:v>
                </c:pt>
                <c:pt idx="7674">
                  <c:v>#N/A</c:v>
                </c:pt>
                <c:pt idx="7675">
                  <c:v>#N/A</c:v>
                </c:pt>
                <c:pt idx="7676">
                  <c:v>#N/A</c:v>
                </c:pt>
                <c:pt idx="7677">
                  <c:v>#N/A</c:v>
                </c:pt>
                <c:pt idx="7678">
                  <c:v>#N/A</c:v>
                </c:pt>
                <c:pt idx="7679">
                  <c:v>#N/A</c:v>
                </c:pt>
                <c:pt idx="7680">
                  <c:v>#N/A</c:v>
                </c:pt>
                <c:pt idx="7681">
                  <c:v>#N/A</c:v>
                </c:pt>
                <c:pt idx="7682">
                  <c:v>#N/A</c:v>
                </c:pt>
                <c:pt idx="7683">
                  <c:v>#N/A</c:v>
                </c:pt>
                <c:pt idx="7684">
                  <c:v>#N/A</c:v>
                </c:pt>
                <c:pt idx="7685">
                  <c:v>#N/A</c:v>
                </c:pt>
                <c:pt idx="7686">
                  <c:v>#N/A</c:v>
                </c:pt>
                <c:pt idx="7687">
                  <c:v>#N/A</c:v>
                </c:pt>
                <c:pt idx="7688">
                  <c:v>#N/A</c:v>
                </c:pt>
                <c:pt idx="7689">
                  <c:v>#N/A</c:v>
                </c:pt>
                <c:pt idx="7690">
                  <c:v>#N/A</c:v>
                </c:pt>
                <c:pt idx="7691">
                  <c:v>#N/A</c:v>
                </c:pt>
                <c:pt idx="7692">
                  <c:v>#N/A</c:v>
                </c:pt>
                <c:pt idx="7693">
                  <c:v>#N/A</c:v>
                </c:pt>
                <c:pt idx="7694">
                  <c:v>#N/A</c:v>
                </c:pt>
                <c:pt idx="7695">
                  <c:v>#N/A</c:v>
                </c:pt>
                <c:pt idx="7696">
                  <c:v>#N/A</c:v>
                </c:pt>
                <c:pt idx="7697">
                  <c:v>#N/A</c:v>
                </c:pt>
                <c:pt idx="7698">
                  <c:v>#N/A</c:v>
                </c:pt>
                <c:pt idx="7699">
                  <c:v>#N/A</c:v>
                </c:pt>
                <c:pt idx="7700">
                  <c:v>#N/A</c:v>
                </c:pt>
                <c:pt idx="7701">
                  <c:v>#N/A</c:v>
                </c:pt>
                <c:pt idx="7702">
                  <c:v>#N/A</c:v>
                </c:pt>
                <c:pt idx="7703">
                  <c:v>#N/A</c:v>
                </c:pt>
                <c:pt idx="7704">
                  <c:v>#N/A</c:v>
                </c:pt>
                <c:pt idx="7705">
                  <c:v>#N/A</c:v>
                </c:pt>
                <c:pt idx="7706">
                  <c:v>#N/A</c:v>
                </c:pt>
                <c:pt idx="7707">
                  <c:v>#N/A</c:v>
                </c:pt>
                <c:pt idx="7708">
                  <c:v>#N/A</c:v>
                </c:pt>
                <c:pt idx="7709">
                  <c:v>#N/A</c:v>
                </c:pt>
                <c:pt idx="7710">
                  <c:v>#N/A</c:v>
                </c:pt>
                <c:pt idx="7711">
                  <c:v>#N/A</c:v>
                </c:pt>
                <c:pt idx="7712">
                  <c:v>#N/A</c:v>
                </c:pt>
                <c:pt idx="7713">
                  <c:v>#N/A</c:v>
                </c:pt>
                <c:pt idx="7714">
                  <c:v>#N/A</c:v>
                </c:pt>
                <c:pt idx="7715">
                  <c:v>#N/A</c:v>
                </c:pt>
                <c:pt idx="7716">
                  <c:v>#N/A</c:v>
                </c:pt>
                <c:pt idx="7717">
                  <c:v>#N/A</c:v>
                </c:pt>
                <c:pt idx="7718">
                  <c:v>#N/A</c:v>
                </c:pt>
                <c:pt idx="7719">
                  <c:v>#N/A</c:v>
                </c:pt>
                <c:pt idx="7720">
                  <c:v>#N/A</c:v>
                </c:pt>
                <c:pt idx="7721">
                  <c:v>#N/A</c:v>
                </c:pt>
                <c:pt idx="7722">
                  <c:v>#N/A</c:v>
                </c:pt>
                <c:pt idx="7723">
                  <c:v>#N/A</c:v>
                </c:pt>
                <c:pt idx="7724">
                  <c:v>#N/A</c:v>
                </c:pt>
                <c:pt idx="7725">
                  <c:v>#N/A</c:v>
                </c:pt>
                <c:pt idx="7726">
                  <c:v>#N/A</c:v>
                </c:pt>
                <c:pt idx="7727">
                  <c:v>#N/A</c:v>
                </c:pt>
                <c:pt idx="7728">
                  <c:v>#N/A</c:v>
                </c:pt>
                <c:pt idx="7729">
                  <c:v>#N/A</c:v>
                </c:pt>
                <c:pt idx="7730">
                  <c:v>#N/A</c:v>
                </c:pt>
                <c:pt idx="7731">
                  <c:v>#N/A</c:v>
                </c:pt>
                <c:pt idx="7732">
                  <c:v>#N/A</c:v>
                </c:pt>
                <c:pt idx="7733">
                  <c:v>#N/A</c:v>
                </c:pt>
                <c:pt idx="7734">
                  <c:v>#N/A</c:v>
                </c:pt>
                <c:pt idx="7735">
                  <c:v>#N/A</c:v>
                </c:pt>
                <c:pt idx="7736">
                  <c:v>#N/A</c:v>
                </c:pt>
                <c:pt idx="7737">
                  <c:v>#N/A</c:v>
                </c:pt>
                <c:pt idx="7738">
                  <c:v>#N/A</c:v>
                </c:pt>
                <c:pt idx="7739">
                  <c:v>#N/A</c:v>
                </c:pt>
                <c:pt idx="7740">
                  <c:v>#N/A</c:v>
                </c:pt>
                <c:pt idx="7741">
                  <c:v>#N/A</c:v>
                </c:pt>
                <c:pt idx="7742">
                  <c:v>#N/A</c:v>
                </c:pt>
                <c:pt idx="7743">
                  <c:v>#N/A</c:v>
                </c:pt>
                <c:pt idx="7744">
                  <c:v>#N/A</c:v>
                </c:pt>
                <c:pt idx="7745">
                  <c:v>#N/A</c:v>
                </c:pt>
                <c:pt idx="7746">
                  <c:v>#N/A</c:v>
                </c:pt>
                <c:pt idx="7747">
                  <c:v>#N/A</c:v>
                </c:pt>
                <c:pt idx="7748">
                  <c:v>#N/A</c:v>
                </c:pt>
                <c:pt idx="7749">
                  <c:v>#N/A</c:v>
                </c:pt>
                <c:pt idx="7750">
                  <c:v>#N/A</c:v>
                </c:pt>
                <c:pt idx="7751">
                  <c:v>#N/A</c:v>
                </c:pt>
                <c:pt idx="7752">
                  <c:v>#N/A</c:v>
                </c:pt>
                <c:pt idx="7753">
                  <c:v>#N/A</c:v>
                </c:pt>
                <c:pt idx="7754">
                  <c:v>#N/A</c:v>
                </c:pt>
                <c:pt idx="7755">
                  <c:v>#N/A</c:v>
                </c:pt>
                <c:pt idx="7756">
                  <c:v>#N/A</c:v>
                </c:pt>
                <c:pt idx="7757">
                  <c:v>#N/A</c:v>
                </c:pt>
                <c:pt idx="7758">
                  <c:v>#N/A</c:v>
                </c:pt>
                <c:pt idx="7759">
                  <c:v>#N/A</c:v>
                </c:pt>
                <c:pt idx="7760">
                  <c:v>#N/A</c:v>
                </c:pt>
                <c:pt idx="7761">
                  <c:v>#N/A</c:v>
                </c:pt>
                <c:pt idx="7762">
                  <c:v>#N/A</c:v>
                </c:pt>
                <c:pt idx="7763">
                  <c:v>#N/A</c:v>
                </c:pt>
                <c:pt idx="7764">
                  <c:v>#N/A</c:v>
                </c:pt>
                <c:pt idx="7765">
                  <c:v>#N/A</c:v>
                </c:pt>
                <c:pt idx="7766">
                  <c:v>#N/A</c:v>
                </c:pt>
                <c:pt idx="7767">
                  <c:v>#N/A</c:v>
                </c:pt>
                <c:pt idx="7768">
                  <c:v>#N/A</c:v>
                </c:pt>
                <c:pt idx="7769">
                  <c:v>#N/A</c:v>
                </c:pt>
                <c:pt idx="7770">
                  <c:v>#N/A</c:v>
                </c:pt>
                <c:pt idx="7771">
                  <c:v>#N/A</c:v>
                </c:pt>
                <c:pt idx="7772">
                  <c:v>#N/A</c:v>
                </c:pt>
                <c:pt idx="7773">
                  <c:v>#N/A</c:v>
                </c:pt>
                <c:pt idx="7774">
                  <c:v>#N/A</c:v>
                </c:pt>
                <c:pt idx="7775">
                  <c:v>#N/A</c:v>
                </c:pt>
                <c:pt idx="7776">
                  <c:v>#N/A</c:v>
                </c:pt>
                <c:pt idx="7777">
                  <c:v>#N/A</c:v>
                </c:pt>
                <c:pt idx="7778">
                  <c:v>#N/A</c:v>
                </c:pt>
                <c:pt idx="7779">
                  <c:v>#N/A</c:v>
                </c:pt>
                <c:pt idx="7780">
                  <c:v>#N/A</c:v>
                </c:pt>
                <c:pt idx="7781">
                  <c:v>#N/A</c:v>
                </c:pt>
                <c:pt idx="7782">
                  <c:v>#N/A</c:v>
                </c:pt>
                <c:pt idx="7783">
                  <c:v>#N/A</c:v>
                </c:pt>
                <c:pt idx="7784">
                  <c:v>#N/A</c:v>
                </c:pt>
                <c:pt idx="7785">
                  <c:v>#N/A</c:v>
                </c:pt>
                <c:pt idx="7786">
                  <c:v>#N/A</c:v>
                </c:pt>
                <c:pt idx="7787">
                  <c:v>#N/A</c:v>
                </c:pt>
                <c:pt idx="7788">
                  <c:v>#N/A</c:v>
                </c:pt>
                <c:pt idx="7789">
                  <c:v>#N/A</c:v>
                </c:pt>
                <c:pt idx="7790">
                  <c:v>#N/A</c:v>
                </c:pt>
                <c:pt idx="7791">
                  <c:v>#N/A</c:v>
                </c:pt>
                <c:pt idx="7792">
                  <c:v>#N/A</c:v>
                </c:pt>
                <c:pt idx="7793">
                  <c:v>#N/A</c:v>
                </c:pt>
                <c:pt idx="7794">
                  <c:v>#N/A</c:v>
                </c:pt>
                <c:pt idx="7795">
                  <c:v>#N/A</c:v>
                </c:pt>
                <c:pt idx="7796">
                  <c:v>#N/A</c:v>
                </c:pt>
                <c:pt idx="7797">
                  <c:v>#N/A</c:v>
                </c:pt>
                <c:pt idx="7798">
                  <c:v>#N/A</c:v>
                </c:pt>
                <c:pt idx="7799">
                  <c:v>#N/A</c:v>
                </c:pt>
                <c:pt idx="7800">
                  <c:v>#N/A</c:v>
                </c:pt>
                <c:pt idx="7801">
                  <c:v>#N/A</c:v>
                </c:pt>
                <c:pt idx="7802">
                  <c:v>#N/A</c:v>
                </c:pt>
                <c:pt idx="7803">
                  <c:v>#N/A</c:v>
                </c:pt>
                <c:pt idx="7804">
                  <c:v>#N/A</c:v>
                </c:pt>
                <c:pt idx="7805">
                  <c:v>#N/A</c:v>
                </c:pt>
                <c:pt idx="7806">
                  <c:v>#N/A</c:v>
                </c:pt>
                <c:pt idx="7807">
                  <c:v>#N/A</c:v>
                </c:pt>
                <c:pt idx="7808">
                  <c:v>#N/A</c:v>
                </c:pt>
                <c:pt idx="7809">
                  <c:v>#N/A</c:v>
                </c:pt>
                <c:pt idx="7810">
                  <c:v>#N/A</c:v>
                </c:pt>
                <c:pt idx="7811">
                  <c:v>#N/A</c:v>
                </c:pt>
                <c:pt idx="7812">
                  <c:v>#N/A</c:v>
                </c:pt>
                <c:pt idx="7813">
                  <c:v>#N/A</c:v>
                </c:pt>
                <c:pt idx="7814">
                  <c:v>#N/A</c:v>
                </c:pt>
                <c:pt idx="7815">
                  <c:v>#N/A</c:v>
                </c:pt>
                <c:pt idx="7816">
                  <c:v>#N/A</c:v>
                </c:pt>
                <c:pt idx="7817">
                  <c:v>#N/A</c:v>
                </c:pt>
                <c:pt idx="7818">
                  <c:v>#N/A</c:v>
                </c:pt>
                <c:pt idx="7819">
                  <c:v>#N/A</c:v>
                </c:pt>
                <c:pt idx="7820">
                  <c:v>#N/A</c:v>
                </c:pt>
                <c:pt idx="7821">
                  <c:v>#N/A</c:v>
                </c:pt>
                <c:pt idx="7822">
                  <c:v>#N/A</c:v>
                </c:pt>
                <c:pt idx="7823">
                  <c:v>#N/A</c:v>
                </c:pt>
                <c:pt idx="7824">
                  <c:v>#N/A</c:v>
                </c:pt>
                <c:pt idx="7825">
                  <c:v>#N/A</c:v>
                </c:pt>
                <c:pt idx="7826">
                  <c:v>#N/A</c:v>
                </c:pt>
                <c:pt idx="7827">
                  <c:v>#N/A</c:v>
                </c:pt>
                <c:pt idx="7828">
                  <c:v>#N/A</c:v>
                </c:pt>
                <c:pt idx="7829">
                  <c:v>#N/A</c:v>
                </c:pt>
                <c:pt idx="7830">
                  <c:v>#N/A</c:v>
                </c:pt>
                <c:pt idx="7831">
                  <c:v>#N/A</c:v>
                </c:pt>
                <c:pt idx="7832">
                  <c:v>#N/A</c:v>
                </c:pt>
                <c:pt idx="7833">
                  <c:v>#N/A</c:v>
                </c:pt>
                <c:pt idx="7834">
                  <c:v>#N/A</c:v>
                </c:pt>
                <c:pt idx="7835">
                  <c:v>#N/A</c:v>
                </c:pt>
                <c:pt idx="7836">
                  <c:v>#N/A</c:v>
                </c:pt>
                <c:pt idx="7837">
                  <c:v>#N/A</c:v>
                </c:pt>
                <c:pt idx="7838">
                  <c:v>#N/A</c:v>
                </c:pt>
                <c:pt idx="7839">
                  <c:v>#N/A</c:v>
                </c:pt>
                <c:pt idx="7840">
                  <c:v>#N/A</c:v>
                </c:pt>
                <c:pt idx="7841">
                  <c:v>#N/A</c:v>
                </c:pt>
                <c:pt idx="7842">
                  <c:v>#N/A</c:v>
                </c:pt>
                <c:pt idx="7843">
                  <c:v>#N/A</c:v>
                </c:pt>
                <c:pt idx="7844">
                  <c:v>#N/A</c:v>
                </c:pt>
                <c:pt idx="7845">
                  <c:v>#N/A</c:v>
                </c:pt>
                <c:pt idx="7846">
                  <c:v>#N/A</c:v>
                </c:pt>
                <c:pt idx="7847">
                  <c:v>#N/A</c:v>
                </c:pt>
                <c:pt idx="7848">
                  <c:v>#N/A</c:v>
                </c:pt>
                <c:pt idx="7849">
                  <c:v>#N/A</c:v>
                </c:pt>
                <c:pt idx="7850">
                  <c:v>#N/A</c:v>
                </c:pt>
                <c:pt idx="7851">
                  <c:v>#N/A</c:v>
                </c:pt>
                <c:pt idx="7852">
                  <c:v>#N/A</c:v>
                </c:pt>
                <c:pt idx="7853">
                  <c:v>#N/A</c:v>
                </c:pt>
                <c:pt idx="7854">
                  <c:v>#N/A</c:v>
                </c:pt>
                <c:pt idx="7855">
                  <c:v>#N/A</c:v>
                </c:pt>
                <c:pt idx="7856">
                  <c:v>#N/A</c:v>
                </c:pt>
                <c:pt idx="7857">
                  <c:v>#N/A</c:v>
                </c:pt>
                <c:pt idx="7858">
                  <c:v>#N/A</c:v>
                </c:pt>
                <c:pt idx="7859">
                  <c:v>#N/A</c:v>
                </c:pt>
                <c:pt idx="7860">
                  <c:v>#N/A</c:v>
                </c:pt>
                <c:pt idx="7861">
                  <c:v>#N/A</c:v>
                </c:pt>
                <c:pt idx="7862">
                  <c:v>#N/A</c:v>
                </c:pt>
                <c:pt idx="7863">
                  <c:v>#N/A</c:v>
                </c:pt>
                <c:pt idx="7864">
                  <c:v>#N/A</c:v>
                </c:pt>
                <c:pt idx="7865">
                  <c:v>#N/A</c:v>
                </c:pt>
                <c:pt idx="7866">
                  <c:v>#N/A</c:v>
                </c:pt>
                <c:pt idx="7867">
                  <c:v>#N/A</c:v>
                </c:pt>
                <c:pt idx="7868">
                  <c:v>#N/A</c:v>
                </c:pt>
                <c:pt idx="7869">
                  <c:v>#N/A</c:v>
                </c:pt>
                <c:pt idx="7870">
                  <c:v>#N/A</c:v>
                </c:pt>
                <c:pt idx="7871">
                  <c:v>#N/A</c:v>
                </c:pt>
                <c:pt idx="7872">
                  <c:v>#N/A</c:v>
                </c:pt>
                <c:pt idx="7873">
                  <c:v>#N/A</c:v>
                </c:pt>
                <c:pt idx="7874">
                  <c:v>#N/A</c:v>
                </c:pt>
                <c:pt idx="7875">
                  <c:v>#N/A</c:v>
                </c:pt>
                <c:pt idx="7876">
                  <c:v>#N/A</c:v>
                </c:pt>
                <c:pt idx="7877">
                  <c:v>#N/A</c:v>
                </c:pt>
                <c:pt idx="7878">
                  <c:v>#N/A</c:v>
                </c:pt>
                <c:pt idx="7879">
                  <c:v>#N/A</c:v>
                </c:pt>
                <c:pt idx="7880">
                  <c:v>#N/A</c:v>
                </c:pt>
                <c:pt idx="7881">
                  <c:v>#N/A</c:v>
                </c:pt>
                <c:pt idx="7882">
                  <c:v>#N/A</c:v>
                </c:pt>
                <c:pt idx="7883">
                  <c:v>#N/A</c:v>
                </c:pt>
                <c:pt idx="7884">
                  <c:v>#N/A</c:v>
                </c:pt>
                <c:pt idx="7885">
                  <c:v>#N/A</c:v>
                </c:pt>
                <c:pt idx="7886">
                  <c:v>#N/A</c:v>
                </c:pt>
                <c:pt idx="7887">
                  <c:v>#N/A</c:v>
                </c:pt>
                <c:pt idx="7888">
                  <c:v>#N/A</c:v>
                </c:pt>
                <c:pt idx="7889">
                  <c:v>#N/A</c:v>
                </c:pt>
                <c:pt idx="7890">
                  <c:v>#N/A</c:v>
                </c:pt>
                <c:pt idx="7891">
                  <c:v>#N/A</c:v>
                </c:pt>
                <c:pt idx="7892">
                  <c:v>#N/A</c:v>
                </c:pt>
                <c:pt idx="7893">
                  <c:v>#N/A</c:v>
                </c:pt>
                <c:pt idx="7894">
                  <c:v>#N/A</c:v>
                </c:pt>
                <c:pt idx="7895">
                  <c:v>#N/A</c:v>
                </c:pt>
                <c:pt idx="7896">
                  <c:v>#N/A</c:v>
                </c:pt>
                <c:pt idx="7897">
                  <c:v>#N/A</c:v>
                </c:pt>
                <c:pt idx="7898">
                  <c:v>#N/A</c:v>
                </c:pt>
                <c:pt idx="7899">
                  <c:v>#N/A</c:v>
                </c:pt>
                <c:pt idx="7900">
                  <c:v>#N/A</c:v>
                </c:pt>
                <c:pt idx="7901">
                  <c:v>#N/A</c:v>
                </c:pt>
                <c:pt idx="7902">
                  <c:v>#N/A</c:v>
                </c:pt>
                <c:pt idx="7903">
                  <c:v>#N/A</c:v>
                </c:pt>
                <c:pt idx="7904">
                  <c:v>#N/A</c:v>
                </c:pt>
                <c:pt idx="7905">
                  <c:v>#N/A</c:v>
                </c:pt>
                <c:pt idx="7906">
                  <c:v>#N/A</c:v>
                </c:pt>
                <c:pt idx="7907">
                  <c:v>#N/A</c:v>
                </c:pt>
                <c:pt idx="7908">
                  <c:v>#N/A</c:v>
                </c:pt>
                <c:pt idx="7909">
                  <c:v>#N/A</c:v>
                </c:pt>
                <c:pt idx="7910">
                  <c:v>#N/A</c:v>
                </c:pt>
                <c:pt idx="7911">
                  <c:v>#N/A</c:v>
                </c:pt>
                <c:pt idx="7912">
                  <c:v>#N/A</c:v>
                </c:pt>
                <c:pt idx="7913">
                  <c:v>#N/A</c:v>
                </c:pt>
                <c:pt idx="7914">
                  <c:v>#N/A</c:v>
                </c:pt>
                <c:pt idx="7915">
                  <c:v>#N/A</c:v>
                </c:pt>
                <c:pt idx="7916">
                  <c:v>#N/A</c:v>
                </c:pt>
                <c:pt idx="7917">
                  <c:v>#N/A</c:v>
                </c:pt>
                <c:pt idx="7918">
                  <c:v>#N/A</c:v>
                </c:pt>
                <c:pt idx="7919">
                  <c:v>#N/A</c:v>
                </c:pt>
                <c:pt idx="7920">
                  <c:v>#N/A</c:v>
                </c:pt>
                <c:pt idx="7921">
                  <c:v>#N/A</c:v>
                </c:pt>
                <c:pt idx="7922">
                  <c:v>#N/A</c:v>
                </c:pt>
                <c:pt idx="7923">
                  <c:v>#N/A</c:v>
                </c:pt>
                <c:pt idx="7924">
                  <c:v>#N/A</c:v>
                </c:pt>
                <c:pt idx="7925">
                  <c:v>#N/A</c:v>
                </c:pt>
                <c:pt idx="7926">
                  <c:v>#N/A</c:v>
                </c:pt>
                <c:pt idx="7927">
                  <c:v>#N/A</c:v>
                </c:pt>
                <c:pt idx="7928">
                  <c:v>#N/A</c:v>
                </c:pt>
                <c:pt idx="7929">
                  <c:v>#N/A</c:v>
                </c:pt>
                <c:pt idx="7930">
                  <c:v>#N/A</c:v>
                </c:pt>
                <c:pt idx="7931">
                  <c:v>#N/A</c:v>
                </c:pt>
                <c:pt idx="7932">
                  <c:v>#N/A</c:v>
                </c:pt>
                <c:pt idx="7933">
                  <c:v>#N/A</c:v>
                </c:pt>
                <c:pt idx="7934">
                  <c:v>#N/A</c:v>
                </c:pt>
                <c:pt idx="7935">
                  <c:v>#N/A</c:v>
                </c:pt>
                <c:pt idx="7936">
                  <c:v>#N/A</c:v>
                </c:pt>
                <c:pt idx="7937">
                  <c:v>#N/A</c:v>
                </c:pt>
                <c:pt idx="7938">
                  <c:v>#N/A</c:v>
                </c:pt>
                <c:pt idx="7939">
                  <c:v>#N/A</c:v>
                </c:pt>
                <c:pt idx="7940">
                  <c:v>#N/A</c:v>
                </c:pt>
                <c:pt idx="7941">
                  <c:v>#N/A</c:v>
                </c:pt>
                <c:pt idx="7942">
                  <c:v>#N/A</c:v>
                </c:pt>
                <c:pt idx="7943">
                  <c:v>#N/A</c:v>
                </c:pt>
                <c:pt idx="7944">
                  <c:v>#N/A</c:v>
                </c:pt>
                <c:pt idx="7945">
                  <c:v>#N/A</c:v>
                </c:pt>
                <c:pt idx="7946">
                  <c:v>#N/A</c:v>
                </c:pt>
                <c:pt idx="7947">
                  <c:v>#N/A</c:v>
                </c:pt>
                <c:pt idx="7948">
                  <c:v>#N/A</c:v>
                </c:pt>
                <c:pt idx="7949">
                  <c:v>#N/A</c:v>
                </c:pt>
                <c:pt idx="7950">
                  <c:v>#N/A</c:v>
                </c:pt>
                <c:pt idx="7951">
                  <c:v>#N/A</c:v>
                </c:pt>
                <c:pt idx="7952">
                  <c:v>#N/A</c:v>
                </c:pt>
                <c:pt idx="7953">
                  <c:v>#N/A</c:v>
                </c:pt>
                <c:pt idx="7954">
                  <c:v>#N/A</c:v>
                </c:pt>
                <c:pt idx="7955">
                  <c:v>#N/A</c:v>
                </c:pt>
                <c:pt idx="7956">
                  <c:v>#N/A</c:v>
                </c:pt>
                <c:pt idx="7957">
                  <c:v>#N/A</c:v>
                </c:pt>
                <c:pt idx="7958">
                  <c:v>#N/A</c:v>
                </c:pt>
                <c:pt idx="7959">
                  <c:v>#N/A</c:v>
                </c:pt>
                <c:pt idx="7960">
                  <c:v>#N/A</c:v>
                </c:pt>
                <c:pt idx="7961">
                  <c:v>#N/A</c:v>
                </c:pt>
                <c:pt idx="7962">
                  <c:v>#N/A</c:v>
                </c:pt>
                <c:pt idx="7963">
                  <c:v>#N/A</c:v>
                </c:pt>
                <c:pt idx="7964">
                  <c:v>#N/A</c:v>
                </c:pt>
                <c:pt idx="7965">
                  <c:v>#N/A</c:v>
                </c:pt>
                <c:pt idx="7966">
                  <c:v>#N/A</c:v>
                </c:pt>
                <c:pt idx="7967">
                  <c:v>#N/A</c:v>
                </c:pt>
                <c:pt idx="7968">
                  <c:v>#N/A</c:v>
                </c:pt>
                <c:pt idx="7969">
                  <c:v>#N/A</c:v>
                </c:pt>
                <c:pt idx="7970">
                  <c:v>#N/A</c:v>
                </c:pt>
                <c:pt idx="7971">
                  <c:v>#N/A</c:v>
                </c:pt>
                <c:pt idx="7972">
                  <c:v>#N/A</c:v>
                </c:pt>
                <c:pt idx="7973">
                  <c:v>#N/A</c:v>
                </c:pt>
                <c:pt idx="7974">
                  <c:v>#N/A</c:v>
                </c:pt>
                <c:pt idx="7975">
                  <c:v>#N/A</c:v>
                </c:pt>
                <c:pt idx="7976">
                  <c:v>#N/A</c:v>
                </c:pt>
                <c:pt idx="7977">
                  <c:v>#N/A</c:v>
                </c:pt>
                <c:pt idx="7978">
                  <c:v>#N/A</c:v>
                </c:pt>
                <c:pt idx="7979">
                  <c:v>#N/A</c:v>
                </c:pt>
                <c:pt idx="7980">
                  <c:v>#N/A</c:v>
                </c:pt>
                <c:pt idx="7981">
                  <c:v>#N/A</c:v>
                </c:pt>
                <c:pt idx="7982">
                  <c:v>#N/A</c:v>
                </c:pt>
                <c:pt idx="7983">
                  <c:v>#N/A</c:v>
                </c:pt>
                <c:pt idx="7984">
                  <c:v>#N/A</c:v>
                </c:pt>
                <c:pt idx="7985">
                  <c:v>#N/A</c:v>
                </c:pt>
                <c:pt idx="7986">
                  <c:v>#N/A</c:v>
                </c:pt>
                <c:pt idx="7987">
                  <c:v>#N/A</c:v>
                </c:pt>
                <c:pt idx="7988">
                  <c:v>#N/A</c:v>
                </c:pt>
                <c:pt idx="7989">
                  <c:v>#N/A</c:v>
                </c:pt>
                <c:pt idx="7990">
                  <c:v>#N/A</c:v>
                </c:pt>
                <c:pt idx="7991">
                  <c:v>#N/A</c:v>
                </c:pt>
                <c:pt idx="7992">
                  <c:v>#N/A</c:v>
                </c:pt>
                <c:pt idx="7993">
                  <c:v>#N/A</c:v>
                </c:pt>
                <c:pt idx="7994">
                  <c:v>#N/A</c:v>
                </c:pt>
                <c:pt idx="7995">
                  <c:v>#N/A</c:v>
                </c:pt>
                <c:pt idx="7996">
                  <c:v>#N/A</c:v>
                </c:pt>
                <c:pt idx="7997">
                  <c:v>#N/A</c:v>
                </c:pt>
                <c:pt idx="7998">
                  <c:v>#N/A</c:v>
                </c:pt>
                <c:pt idx="7999">
                  <c:v>#N/A</c:v>
                </c:pt>
                <c:pt idx="8000">
                  <c:v>#N/A</c:v>
                </c:pt>
                <c:pt idx="8001">
                  <c:v>#N/A</c:v>
                </c:pt>
                <c:pt idx="8002">
                  <c:v>#N/A</c:v>
                </c:pt>
                <c:pt idx="8003">
                  <c:v>#N/A</c:v>
                </c:pt>
                <c:pt idx="8004">
                  <c:v>#N/A</c:v>
                </c:pt>
                <c:pt idx="8005">
                  <c:v>#N/A</c:v>
                </c:pt>
                <c:pt idx="8006">
                  <c:v>#N/A</c:v>
                </c:pt>
                <c:pt idx="8007">
                  <c:v>#N/A</c:v>
                </c:pt>
                <c:pt idx="8008">
                  <c:v>#N/A</c:v>
                </c:pt>
                <c:pt idx="8009">
                  <c:v>#N/A</c:v>
                </c:pt>
                <c:pt idx="8010">
                  <c:v>#N/A</c:v>
                </c:pt>
                <c:pt idx="8011">
                  <c:v>#N/A</c:v>
                </c:pt>
                <c:pt idx="8012">
                  <c:v>#N/A</c:v>
                </c:pt>
                <c:pt idx="8013">
                  <c:v>#N/A</c:v>
                </c:pt>
                <c:pt idx="8014">
                  <c:v>#N/A</c:v>
                </c:pt>
                <c:pt idx="8015">
                  <c:v>#N/A</c:v>
                </c:pt>
                <c:pt idx="8016">
                  <c:v>#N/A</c:v>
                </c:pt>
                <c:pt idx="8017">
                  <c:v>#N/A</c:v>
                </c:pt>
                <c:pt idx="8018">
                  <c:v>#N/A</c:v>
                </c:pt>
                <c:pt idx="8019">
                  <c:v>#N/A</c:v>
                </c:pt>
                <c:pt idx="8020">
                  <c:v>#N/A</c:v>
                </c:pt>
                <c:pt idx="8021">
                  <c:v>#N/A</c:v>
                </c:pt>
                <c:pt idx="8022">
                  <c:v>#N/A</c:v>
                </c:pt>
                <c:pt idx="8023">
                  <c:v>#N/A</c:v>
                </c:pt>
                <c:pt idx="8024">
                  <c:v>#N/A</c:v>
                </c:pt>
                <c:pt idx="8025">
                  <c:v>#N/A</c:v>
                </c:pt>
                <c:pt idx="8026">
                  <c:v>#N/A</c:v>
                </c:pt>
                <c:pt idx="8027">
                  <c:v>#N/A</c:v>
                </c:pt>
                <c:pt idx="8028">
                  <c:v>#N/A</c:v>
                </c:pt>
                <c:pt idx="8029">
                  <c:v>#N/A</c:v>
                </c:pt>
                <c:pt idx="8030">
                  <c:v>#N/A</c:v>
                </c:pt>
                <c:pt idx="8031">
                  <c:v>#N/A</c:v>
                </c:pt>
                <c:pt idx="8032">
                  <c:v>#N/A</c:v>
                </c:pt>
                <c:pt idx="8033">
                  <c:v>#N/A</c:v>
                </c:pt>
                <c:pt idx="8034">
                  <c:v>#N/A</c:v>
                </c:pt>
                <c:pt idx="8035">
                  <c:v>#N/A</c:v>
                </c:pt>
                <c:pt idx="8036">
                  <c:v>#N/A</c:v>
                </c:pt>
                <c:pt idx="8037">
                  <c:v>#N/A</c:v>
                </c:pt>
                <c:pt idx="8038">
                  <c:v>#N/A</c:v>
                </c:pt>
                <c:pt idx="8039">
                  <c:v>#N/A</c:v>
                </c:pt>
                <c:pt idx="8040">
                  <c:v>#N/A</c:v>
                </c:pt>
                <c:pt idx="8041">
                  <c:v>#N/A</c:v>
                </c:pt>
                <c:pt idx="8042">
                  <c:v>#N/A</c:v>
                </c:pt>
                <c:pt idx="8043">
                  <c:v>#N/A</c:v>
                </c:pt>
                <c:pt idx="8044">
                  <c:v>#N/A</c:v>
                </c:pt>
                <c:pt idx="8045">
                  <c:v>#N/A</c:v>
                </c:pt>
                <c:pt idx="8046">
                  <c:v>#N/A</c:v>
                </c:pt>
                <c:pt idx="8047">
                  <c:v>#N/A</c:v>
                </c:pt>
                <c:pt idx="8048">
                  <c:v>#N/A</c:v>
                </c:pt>
                <c:pt idx="8049">
                  <c:v>#N/A</c:v>
                </c:pt>
                <c:pt idx="8050">
                  <c:v>#N/A</c:v>
                </c:pt>
                <c:pt idx="8051">
                  <c:v>#N/A</c:v>
                </c:pt>
                <c:pt idx="8052">
                  <c:v>#N/A</c:v>
                </c:pt>
                <c:pt idx="8053">
                  <c:v>#N/A</c:v>
                </c:pt>
                <c:pt idx="8054">
                  <c:v>#N/A</c:v>
                </c:pt>
                <c:pt idx="8055">
                  <c:v>#N/A</c:v>
                </c:pt>
                <c:pt idx="8056">
                  <c:v>#N/A</c:v>
                </c:pt>
                <c:pt idx="8057">
                  <c:v>#N/A</c:v>
                </c:pt>
                <c:pt idx="8058">
                  <c:v>#N/A</c:v>
                </c:pt>
                <c:pt idx="8059">
                  <c:v>#N/A</c:v>
                </c:pt>
                <c:pt idx="8060">
                  <c:v>#N/A</c:v>
                </c:pt>
                <c:pt idx="8061">
                  <c:v>#N/A</c:v>
                </c:pt>
                <c:pt idx="8062">
                  <c:v>#N/A</c:v>
                </c:pt>
                <c:pt idx="8063">
                  <c:v>#N/A</c:v>
                </c:pt>
                <c:pt idx="8064">
                  <c:v>#N/A</c:v>
                </c:pt>
                <c:pt idx="8065">
                  <c:v>#N/A</c:v>
                </c:pt>
                <c:pt idx="8066">
                  <c:v>#N/A</c:v>
                </c:pt>
                <c:pt idx="8067">
                  <c:v>#N/A</c:v>
                </c:pt>
                <c:pt idx="8068">
                  <c:v>#N/A</c:v>
                </c:pt>
                <c:pt idx="8069">
                  <c:v>#N/A</c:v>
                </c:pt>
                <c:pt idx="8070">
                  <c:v>#N/A</c:v>
                </c:pt>
                <c:pt idx="8071">
                  <c:v>#N/A</c:v>
                </c:pt>
                <c:pt idx="8072">
                  <c:v>#N/A</c:v>
                </c:pt>
                <c:pt idx="8073">
                  <c:v>#N/A</c:v>
                </c:pt>
                <c:pt idx="8074">
                  <c:v>#N/A</c:v>
                </c:pt>
                <c:pt idx="8075">
                  <c:v>#N/A</c:v>
                </c:pt>
                <c:pt idx="8076">
                  <c:v>#N/A</c:v>
                </c:pt>
                <c:pt idx="8077">
                  <c:v>#N/A</c:v>
                </c:pt>
                <c:pt idx="8078">
                  <c:v>#N/A</c:v>
                </c:pt>
                <c:pt idx="8079">
                  <c:v>#N/A</c:v>
                </c:pt>
                <c:pt idx="8080">
                  <c:v>#N/A</c:v>
                </c:pt>
                <c:pt idx="8081">
                  <c:v>#N/A</c:v>
                </c:pt>
                <c:pt idx="8082">
                  <c:v>#N/A</c:v>
                </c:pt>
                <c:pt idx="8083">
                  <c:v>#N/A</c:v>
                </c:pt>
                <c:pt idx="8084">
                  <c:v>#N/A</c:v>
                </c:pt>
                <c:pt idx="8085">
                  <c:v>#N/A</c:v>
                </c:pt>
                <c:pt idx="8086">
                  <c:v>#N/A</c:v>
                </c:pt>
                <c:pt idx="8087">
                  <c:v>#N/A</c:v>
                </c:pt>
                <c:pt idx="8088">
                  <c:v>#N/A</c:v>
                </c:pt>
                <c:pt idx="8089">
                  <c:v>#N/A</c:v>
                </c:pt>
                <c:pt idx="8090">
                  <c:v>#N/A</c:v>
                </c:pt>
                <c:pt idx="8091">
                  <c:v>#N/A</c:v>
                </c:pt>
                <c:pt idx="8092">
                  <c:v>#N/A</c:v>
                </c:pt>
                <c:pt idx="8093">
                  <c:v>#N/A</c:v>
                </c:pt>
                <c:pt idx="8094">
                  <c:v>#N/A</c:v>
                </c:pt>
                <c:pt idx="8095">
                  <c:v>#N/A</c:v>
                </c:pt>
                <c:pt idx="8096">
                  <c:v>#N/A</c:v>
                </c:pt>
                <c:pt idx="8097">
                  <c:v>#N/A</c:v>
                </c:pt>
                <c:pt idx="8098">
                  <c:v>#N/A</c:v>
                </c:pt>
                <c:pt idx="8099">
                  <c:v>#N/A</c:v>
                </c:pt>
                <c:pt idx="8100">
                  <c:v>#N/A</c:v>
                </c:pt>
                <c:pt idx="8101">
                  <c:v>#N/A</c:v>
                </c:pt>
                <c:pt idx="8102">
                  <c:v>#N/A</c:v>
                </c:pt>
                <c:pt idx="8103">
                  <c:v>#N/A</c:v>
                </c:pt>
                <c:pt idx="8104">
                  <c:v>#N/A</c:v>
                </c:pt>
                <c:pt idx="8105">
                  <c:v>#N/A</c:v>
                </c:pt>
                <c:pt idx="8106">
                  <c:v>#N/A</c:v>
                </c:pt>
                <c:pt idx="8107">
                  <c:v>#N/A</c:v>
                </c:pt>
                <c:pt idx="8108">
                  <c:v>#N/A</c:v>
                </c:pt>
                <c:pt idx="8109">
                  <c:v>#N/A</c:v>
                </c:pt>
                <c:pt idx="8110">
                  <c:v>#N/A</c:v>
                </c:pt>
                <c:pt idx="8111">
                  <c:v>#N/A</c:v>
                </c:pt>
                <c:pt idx="8112">
                  <c:v>#N/A</c:v>
                </c:pt>
                <c:pt idx="8113">
                  <c:v>#N/A</c:v>
                </c:pt>
                <c:pt idx="8114">
                  <c:v>#N/A</c:v>
                </c:pt>
                <c:pt idx="8115">
                  <c:v>#N/A</c:v>
                </c:pt>
                <c:pt idx="8116">
                  <c:v>#N/A</c:v>
                </c:pt>
                <c:pt idx="8117">
                  <c:v>#N/A</c:v>
                </c:pt>
                <c:pt idx="8118">
                  <c:v>#N/A</c:v>
                </c:pt>
                <c:pt idx="8119">
                  <c:v>#N/A</c:v>
                </c:pt>
                <c:pt idx="8120">
                  <c:v>#N/A</c:v>
                </c:pt>
                <c:pt idx="8121">
                  <c:v>#N/A</c:v>
                </c:pt>
                <c:pt idx="8122">
                  <c:v>#N/A</c:v>
                </c:pt>
                <c:pt idx="8123">
                  <c:v>#N/A</c:v>
                </c:pt>
                <c:pt idx="8124">
                  <c:v>#N/A</c:v>
                </c:pt>
                <c:pt idx="8125">
                  <c:v>#N/A</c:v>
                </c:pt>
                <c:pt idx="8126">
                  <c:v>#N/A</c:v>
                </c:pt>
                <c:pt idx="8127">
                  <c:v>#N/A</c:v>
                </c:pt>
                <c:pt idx="8128">
                  <c:v>#N/A</c:v>
                </c:pt>
                <c:pt idx="8129">
                  <c:v>#N/A</c:v>
                </c:pt>
                <c:pt idx="8130">
                  <c:v>#N/A</c:v>
                </c:pt>
                <c:pt idx="8131">
                  <c:v>#N/A</c:v>
                </c:pt>
                <c:pt idx="8132">
                  <c:v>#N/A</c:v>
                </c:pt>
                <c:pt idx="8133">
                  <c:v>#N/A</c:v>
                </c:pt>
                <c:pt idx="8134">
                  <c:v>#N/A</c:v>
                </c:pt>
                <c:pt idx="8135">
                  <c:v>#N/A</c:v>
                </c:pt>
                <c:pt idx="8136">
                  <c:v>#N/A</c:v>
                </c:pt>
                <c:pt idx="8137">
                  <c:v>#N/A</c:v>
                </c:pt>
                <c:pt idx="8138">
                  <c:v>#N/A</c:v>
                </c:pt>
                <c:pt idx="8139">
                  <c:v>#N/A</c:v>
                </c:pt>
                <c:pt idx="8140">
                  <c:v>#N/A</c:v>
                </c:pt>
                <c:pt idx="8141">
                  <c:v>#N/A</c:v>
                </c:pt>
                <c:pt idx="8142">
                  <c:v>#N/A</c:v>
                </c:pt>
                <c:pt idx="8143">
                  <c:v>#N/A</c:v>
                </c:pt>
                <c:pt idx="8144">
                  <c:v>#N/A</c:v>
                </c:pt>
                <c:pt idx="8145">
                  <c:v>#N/A</c:v>
                </c:pt>
                <c:pt idx="8146">
                  <c:v>#N/A</c:v>
                </c:pt>
                <c:pt idx="8147">
                  <c:v>#N/A</c:v>
                </c:pt>
                <c:pt idx="8148">
                  <c:v>#N/A</c:v>
                </c:pt>
                <c:pt idx="8149">
                  <c:v>#N/A</c:v>
                </c:pt>
                <c:pt idx="8150">
                  <c:v>#N/A</c:v>
                </c:pt>
                <c:pt idx="8151">
                  <c:v>#N/A</c:v>
                </c:pt>
                <c:pt idx="8152">
                  <c:v>#N/A</c:v>
                </c:pt>
                <c:pt idx="8153">
                  <c:v>#N/A</c:v>
                </c:pt>
                <c:pt idx="8154">
                  <c:v>#N/A</c:v>
                </c:pt>
                <c:pt idx="8155">
                  <c:v>#N/A</c:v>
                </c:pt>
                <c:pt idx="8156">
                  <c:v>#N/A</c:v>
                </c:pt>
                <c:pt idx="8157">
                  <c:v>#N/A</c:v>
                </c:pt>
                <c:pt idx="8158">
                  <c:v>#N/A</c:v>
                </c:pt>
                <c:pt idx="8159">
                  <c:v>#N/A</c:v>
                </c:pt>
                <c:pt idx="8160">
                  <c:v>#N/A</c:v>
                </c:pt>
                <c:pt idx="8161">
                  <c:v>#N/A</c:v>
                </c:pt>
                <c:pt idx="8162">
                  <c:v>#N/A</c:v>
                </c:pt>
                <c:pt idx="8163">
                  <c:v>#N/A</c:v>
                </c:pt>
                <c:pt idx="8164">
                  <c:v>#N/A</c:v>
                </c:pt>
                <c:pt idx="8165">
                  <c:v>#N/A</c:v>
                </c:pt>
                <c:pt idx="8166">
                  <c:v>#N/A</c:v>
                </c:pt>
                <c:pt idx="8167">
                  <c:v>#N/A</c:v>
                </c:pt>
                <c:pt idx="8168">
                  <c:v>#N/A</c:v>
                </c:pt>
                <c:pt idx="8169">
                  <c:v>#N/A</c:v>
                </c:pt>
                <c:pt idx="8170">
                  <c:v>#N/A</c:v>
                </c:pt>
                <c:pt idx="8171">
                  <c:v>#N/A</c:v>
                </c:pt>
                <c:pt idx="8172">
                  <c:v>#N/A</c:v>
                </c:pt>
                <c:pt idx="8173">
                  <c:v>#N/A</c:v>
                </c:pt>
                <c:pt idx="8174">
                  <c:v>#N/A</c:v>
                </c:pt>
                <c:pt idx="8175">
                  <c:v>#N/A</c:v>
                </c:pt>
                <c:pt idx="8176">
                  <c:v>#N/A</c:v>
                </c:pt>
                <c:pt idx="8177">
                  <c:v>#N/A</c:v>
                </c:pt>
                <c:pt idx="8178">
                  <c:v>#N/A</c:v>
                </c:pt>
                <c:pt idx="8179">
                  <c:v>#N/A</c:v>
                </c:pt>
                <c:pt idx="8180">
                  <c:v>#N/A</c:v>
                </c:pt>
                <c:pt idx="8181">
                  <c:v>#N/A</c:v>
                </c:pt>
                <c:pt idx="8182">
                  <c:v>#N/A</c:v>
                </c:pt>
                <c:pt idx="8183">
                  <c:v>#N/A</c:v>
                </c:pt>
                <c:pt idx="8184">
                  <c:v>#N/A</c:v>
                </c:pt>
                <c:pt idx="8185">
                  <c:v>#N/A</c:v>
                </c:pt>
                <c:pt idx="8186">
                  <c:v>#N/A</c:v>
                </c:pt>
                <c:pt idx="8187">
                  <c:v>#N/A</c:v>
                </c:pt>
                <c:pt idx="8188">
                  <c:v>#N/A</c:v>
                </c:pt>
                <c:pt idx="8189">
                  <c:v>#N/A</c:v>
                </c:pt>
                <c:pt idx="8190">
                  <c:v>#N/A</c:v>
                </c:pt>
                <c:pt idx="8191">
                  <c:v>#N/A</c:v>
                </c:pt>
                <c:pt idx="8192">
                  <c:v>#N/A</c:v>
                </c:pt>
                <c:pt idx="8193">
                  <c:v>#N/A</c:v>
                </c:pt>
                <c:pt idx="8194">
                  <c:v>#N/A</c:v>
                </c:pt>
                <c:pt idx="8195">
                  <c:v>#N/A</c:v>
                </c:pt>
                <c:pt idx="8196">
                  <c:v>#N/A</c:v>
                </c:pt>
                <c:pt idx="8197">
                  <c:v>#N/A</c:v>
                </c:pt>
                <c:pt idx="8198">
                  <c:v>#N/A</c:v>
                </c:pt>
                <c:pt idx="8199">
                  <c:v>#N/A</c:v>
                </c:pt>
                <c:pt idx="8200">
                  <c:v>#N/A</c:v>
                </c:pt>
                <c:pt idx="8201">
                  <c:v>#N/A</c:v>
                </c:pt>
                <c:pt idx="8202">
                  <c:v>#N/A</c:v>
                </c:pt>
                <c:pt idx="8203">
                  <c:v>#N/A</c:v>
                </c:pt>
                <c:pt idx="8204">
                  <c:v>#N/A</c:v>
                </c:pt>
                <c:pt idx="8205">
                  <c:v>#N/A</c:v>
                </c:pt>
                <c:pt idx="8206">
                  <c:v>#N/A</c:v>
                </c:pt>
                <c:pt idx="8207">
                  <c:v>#N/A</c:v>
                </c:pt>
                <c:pt idx="8208">
                  <c:v>#N/A</c:v>
                </c:pt>
                <c:pt idx="8209">
                  <c:v>#N/A</c:v>
                </c:pt>
                <c:pt idx="8210">
                  <c:v>#N/A</c:v>
                </c:pt>
                <c:pt idx="8211">
                  <c:v>#N/A</c:v>
                </c:pt>
                <c:pt idx="8212">
                  <c:v>#N/A</c:v>
                </c:pt>
                <c:pt idx="8213">
                  <c:v>#N/A</c:v>
                </c:pt>
                <c:pt idx="8214">
                  <c:v>#N/A</c:v>
                </c:pt>
                <c:pt idx="8215">
                  <c:v>#N/A</c:v>
                </c:pt>
                <c:pt idx="8216">
                  <c:v>#N/A</c:v>
                </c:pt>
                <c:pt idx="8217">
                  <c:v>#N/A</c:v>
                </c:pt>
                <c:pt idx="8218">
                  <c:v>#N/A</c:v>
                </c:pt>
                <c:pt idx="8219">
                  <c:v>#N/A</c:v>
                </c:pt>
                <c:pt idx="8220">
                  <c:v>#N/A</c:v>
                </c:pt>
                <c:pt idx="8221">
                  <c:v>#N/A</c:v>
                </c:pt>
                <c:pt idx="8222">
                  <c:v>#N/A</c:v>
                </c:pt>
                <c:pt idx="8223">
                  <c:v>#N/A</c:v>
                </c:pt>
                <c:pt idx="8224">
                  <c:v>#N/A</c:v>
                </c:pt>
                <c:pt idx="8225">
                  <c:v>#N/A</c:v>
                </c:pt>
                <c:pt idx="8226">
                  <c:v>#N/A</c:v>
                </c:pt>
                <c:pt idx="8227">
                  <c:v>#N/A</c:v>
                </c:pt>
                <c:pt idx="8228">
                  <c:v>#N/A</c:v>
                </c:pt>
                <c:pt idx="8229">
                  <c:v>#N/A</c:v>
                </c:pt>
                <c:pt idx="8230">
                  <c:v>#N/A</c:v>
                </c:pt>
                <c:pt idx="8231">
                  <c:v>#N/A</c:v>
                </c:pt>
                <c:pt idx="8232">
                  <c:v>#N/A</c:v>
                </c:pt>
                <c:pt idx="8233">
                  <c:v>#N/A</c:v>
                </c:pt>
                <c:pt idx="8234">
                  <c:v>#N/A</c:v>
                </c:pt>
                <c:pt idx="8235">
                  <c:v>#N/A</c:v>
                </c:pt>
                <c:pt idx="8236">
                  <c:v>#N/A</c:v>
                </c:pt>
                <c:pt idx="8237">
                  <c:v>#N/A</c:v>
                </c:pt>
                <c:pt idx="8238">
                  <c:v>#N/A</c:v>
                </c:pt>
                <c:pt idx="8239">
                  <c:v>#N/A</c:v>
                </c:pt>
                <c:pt idx="8240">
                  <c:v>#N/A</c:v>
                </c:pt>
                <c:pt idx="8241">
                  <c:v>#N/A</c:v>
                </c:pt>
                <c:pt idx="8242">
                  <c:v>#N/A</c:v>
                </c:pt>
                <c:pt idx="8243">
                  <c:v>#N/A</c:v>
                </c:pt>
                <c:pt idx="8244">
                  <c:v>#N/A</c:v>
                </c:pt>
                <c:pt idx="8245">
                  <c:v>#N/A</c:v>
                </c:pt>
                <c:pt idx="8246">
                  <c:v>#N/A</c:v>
                </c:pt>
                <c:pt idx="8247">
                  <c:v>#N/A</c:v>
                </c:pt>
                <c:pt idx="8248">
                  <c:v>#N/A</c:v>
                </c:pt>
                <c:pt idx="8249">
                  <c:v>#N/A</c:v>
                </c:pt>
                <c:pt idx="8250">
                  <c:v>#N/A</c:v>
                </c:pt>
                <c:pt idx="8251">
                  <c:v>#N/A</c:v>
                </c:pt>
                <c:pt idx="8252">
                  <c:v>#N/A</c:v>
                </c:pt>
                <c:pt idx="8253">
                  <c:v>#N/A</c:v>
                </c:pt>
                <c:pt idx="8254">
                  <c:v>#N/A</c:v>
                </c:pt>
                <c:pt idx="8255">
                  <c:v>#N/A</c:v>
                </c:pt>
                <c:pt idx="8256">
                  <c:v>#N/A</c:v>
                </c:pt>
                <c:pt idx="8257">
                  <c:v>#N/A</c:v>
                </c:pt>
                <c:pt idx="8258">
                  <c:v>#N/A</c:v>
                </c:pt>
                <c:pt idx="8259">
                  <c:v>#N/A</c:v>
                </c:pt>
                <c:pt idx="8260">
                  <c:v>#N/A</c:v>
                </c:pt>
                <c:pt idx="8261">
                  <c:v>#N/A</c:v>
                </c:pt>
                <c:pt idx="8262">
                  <c:v>#N/A</c:v>
                </c:pt>
                <c:pt idx="8263">
                  <c:v>#N/A</c:v>
                </c:pt>
                <c:pt idx="8264">
                  <c:v>#N/A</c:v>
                </c:pt>
                <c:pt idx="8265">
                  <c:v>#N/A</c:v>
                </c:pt>
                <c:pt idx="8266">
                  <c:v>#N/A</c:v>
                </c:pt>
                <c:pt idx="8267">
                  <c:v>#N/A</c:v>
                </c:pt>
                <c:pt idx="8268">
                  <c:v>#N/A</c:v>
                </c:pt>
                <c:pt idx="8269">
                  <c:v>#N/A</c:v>
                </c:pt>
                <c:pt idx="8270">
                  <c:v>#N/A</c:v>
                </c:pt>
                <c:pt idx="8271">
                  <c:v>#N/A</c:v>
                </c:pt>
                <c:pt idx="8272">
                  <c:v>#N/A</c:v>
                </c:pt>
                <c:pt idx="8273">
                  <c:v>#N/A</c:v>
                </c:pt>
                <c:pt idx="8274">
                  <c:v>#N/A</c:v>
                </c:pt>
                <c:pt idx="8275">
                  <c:v>#N/A</c:v>
                </c:pt>
                <c:pt idx="8276">
                  <c:v>#N/A</c:v>
                </c:pt>
                <c:pt idx="8277">
                  <c:v>#N/A</c:v>
                </c:pt>
                <c:pt idx="8278">
                  <c:v>#N/A</c:v>
                </c:pt>
                <c:pt idx="8279">
                  <c:v>#N/A</c:v>
                </c:pt>
                <c:pt idx="8280">
                  <c:v>#N/A</c:v>
                </c:pt>
                <c:pt idx="8281">
                  <c:v>#N/A</c:v>
                </c:pt>
                <c:pt idx="8282">
                  <c:v>#N/A</c:v>
                </c:pt>
                <c:pt idx="8283">
                  <c:v>#N/A</c:v>
                </c:pt>
                <c:pt idx="8284">
                  <c:v>#N/A</c:v>
                </c:pt>
                <c:pt idx="8285">
                  <c:v>#N/A</c:v>
                </c:pt>
                <c:pt idx="8286">
                  <c:v>#N/A</c:v>
                </c:pt>
                <c:pt idx="8287">
                  <c:v>#N/A</c:v>
                </c:pt>
                <c:pt idx="8288">
                  <c:v>#N/A</c:v>
                </c:pt>
                <c:pt idx="8289">
                  <c:v>#N/A</c:v>
                </c:pt>
                <c:pt idx="8290">
                  <c:v>#N/A</c:v>
                </c:pt>
                <c:pt idx="8291">
                  <c:v>#N/A</c:v>
                </c:pt>
                <c:pt idx="8292">
                  <c:v>#N/A</c:v>
                </c:pt>
                <c:pt idx="8293">
                  <c:v>#N/A</c:v>
                </c:pt>
                <c:pt idx="8294">
                  <c:v>#N/A</c:v>
                </c:pt>
                <c:pt idx="8295">
                  <c:v>#N/A</c:v>
                </c:pt>
                <c:pt idx="8296">
                  <c:v>#N/A</c:v>
                </c:pt>
                <c:pt idx="8297">
                  <c:v>#N/A</c:v>
                </c:pt>
                <c:pt idx="8298">
                  <c:v>#N/A</c:v>
                </c:pt>
                <c:pt idx="8299">
                  <c:v>#N/A</c:v>
                </c:pt>
                <c:pt idx="8300">
                  <c:v>#N/A</c:v>
                </c:pt>
                <c:pt idx="8301">
                  <c:v>#N/A</c:v>
                </c:pt>
                <c:pt idx="8302">
                  <c:v>#N/A</c:v>
                </c:pt>
                <c:pt idx="8303">
                  <c:v>#N/A</c:v>
                </c:pt>
                <c:pt idx="8304">
                  <c:v>#N/A</c:v>
                </c:pt>
                <c:pt idx="8305">
                  <c:v>#N/A</c:v>
                </c:pt>
                <c:pt idx="8306">
                  <c:v>#N/A</c:v>
                </c:pt>
                <c:pt idx="8307">
                  <c:v>#N/A</c:v>
                </c:pt>
                <c:pt idx="8308">
                  <c:v>#N/A</c:v>
                </c:pt>
                <c:pt idx="8309">
                  <c:v>#N/A</c:v>
                </c:pt>
                <c:pt idx="8310">
                  <c:v>#N/A</c:v>
                </c:pt>
                <c:pt idx="8311">
                  <c:v>#N/A</c:v>
                </c:pt>
                <c:pt idx="8312">
                  <c:v>#N/A</c:v>
                </c:pt>
                <c:pt idx="8313">
                  <c:v>#N/A</c:v>
                </c:pt>
                <c:pt idx="8314">
                  <c:v>#N/A</c:v>
                </c:pt>
                <c:pt idx="8315">
                  <c:v>#N/A</c:v>
                </c:pt>
                <c:pt idx="8316">
                  <c:v>#N/A</c:v>
                </c:pt>
                <c:pt idx="8317">
                  <c:v>#N/A</c:v>
                </c:pt>
                <c:pt idx="8318">
                  <c:v>#N/A</c:v>
                </c:pt>
                <c:pt idx="8319">
                  <c:v>#N/A</c:v>
                </c:pt>
                <c:pt idx="8320">
                  <c:v>#N/A</c:v>
                </c:pt>
                <c:pt idx="8321">
                  <c:v>#N/A</c:v>
                </c:pt>
                <c:pt idx="8322">
                  <c:v>#N/A</c:v>
                </c:pt>
                <c:pt idx="8323">
                  <c:v>#N/A</c:v>
                </c:pt>
                <c:pt idx="8324">
                  <c:v>#N/A</c:v>
                </c:pt>
                <c:pt idx="8325">
                  <c:v>#N/A</c:v>
                </c:pt>
                <c:pt idx="8326">
                  <c:v>#N/A</c:v>
                </c:pt>
                <c:pt idx="8327">
                  <c:v>#N/A</c:v>
                </c:pt>
                <c:pt idx="8328">
                  <c:v>#N/A</c:v>
                </c:pt>
                <c:pt idx="8329">
                  <c:v>#N/A</c:v>
                </c:pt>
                <c:pt idx="8330">
                  <c:v>#N/A</c:v>
                </c:pt>
                <c:pt idx="8331">
                  <c:v>#N/A</c:v>
                </c:pt>
                <c:pt idx="8332">
                  <c:v>#N/A</c:v>
                </c:pt>
                <c:pt idx="8333">
                  <c:v>#N/A</c:v>
                </c:pt>
                <c:pt idx="8334">
                  <c:v>#N/A</c:v>
                </c:pt>
                <c:pt idx="8335">
                  <c:v>#N/A</c:v>
                </c:pt>
                <c:pt idx="8336">
                  <c:v>#N/A</c:v>
                </c:pt>
                <c:pt idx="8337">
                  <c:v>#N/A</c:v>
                </c:pt>
                <c:pt idx="8338">
                  <c:v>#N/A</c:v>
                </c:pt>
                <c:pt idx="8339">
                  <c:v>#N/A</c:v>
                </c:pt>
                <c:pt idx="8340">
                  <c:v>#N/A</c:v>
                </c:pt>
                <c:pt idx="8341">
                  <c:v>#N/A</c:v>
                </c:pt>
                <c:pt idx="8342">
                  <c:v>#N/A</c:v>
                </c:pt>
                <c:pt idx="8343">
                  <c:v>#N/A</c:v>
                </c:pt>
                <c:pt idx="8344">
                  <c:v>#N/A</c:v>
                </c:pt>
                <c:pt idx="8345">
                  <c:v>#N/A</c:v>
                </c:pt>
                <c:pt idx="8346">
                  <c:v>#N/A</c:v>
                </c:pt>
                <c:pt idx="8347">
                  <c:v>#N/A</c:v>
                </c:pt>
                <c:pt idx="8348">
                  <c:v>#N/A</c:v>
                </c:pt>
                <c:pt idx="8349">
                  <c:v>#N/A</c:v>
                </c:pt>
                <c:pt idx="8350">
                  <c:v>#N/A</c:v>
                </c:pt>
                <c:pt idx="8351">
                  <c:v>#N/A</c:v>
                </c:pt>
                <c:pt idx="8352">
                  <c:v>#N/A</c:v>
                </c:pt>
                <c:pt idx="8353">
                  <c:v>#N/A</c:v>
                </c:pt>
                <c:pt idx="8354">
                  <c:v>#N/A</c:v>
                </c:pt>
                <c:pt idx="8355">
                  <c:v>#N/A</c:v>
                </c:pt>
                <c:pt idx="8356">
                  <c:v>#N/A</c:v>
                </c:pt>
                <c:pt idx="8357">
                  <c:v>#N/A</c:v>
                </c:pt>
                <c:pt idx="8358">
                  <c:v>#N/A</c:v>
                </c:pt>
                <c:pt idx="8359">
                  <c:v>#N/A</c:v>
                </c:pt>
                <c:pt idx="8360">
                  <c:v>#N/A</c:v>
                </c:pt>
                <c:pt idx="8361">
                  <c:v>#N/A</c:v>
                </c:pt>
                <c:pt idx="8362">
                  <c:v>#N/A</c:v>
                </c:pt>
                <c:pt idx="8363">
                  <c:v>#N/A</c:v>
                </c:pt>
                <c:pt idx="8364">
                  <c:v>#N/A</c:v>
                </c:pt>
                <c:pt idx="8365">
                  <c:v>#N/A</c:v>
                </c:pt>
                <c:pt idx="8366">
                  <c:v>#N/A</c:v>
                </c:pt>
                <c:pt idx="8367">
                  <c:v>#N/A</c:v>
                </c:pt>
                <c:pt idx="8368">
                  <c:v>#N/A</c:v>
                </c:pt>
                <c:pt idx="8369">
                  <c:v>#N/A</c:v>
                </c:pt>
                <c:pt idx="8370">
                  <c:v>#N/A</c:v>
                </c:pt>
                <c:pt idx="8371">
                  <c:v>#N/A</c:v>
                </c:pt>
                <c:pt idx="8372">
                  <c:v>#N/A</c:v>
                </c:pt>
                <c:pt idx="8373">
                  <c:v>#N/A</c:v>
                </c:pt>
                <c:pt idx="8374">
                  <c:v>#N/A</c:v>
                </c:pt>
                <c:pt idx="8375">
                  <c:v>#N/A</c:v>
                </c:pt>
                <c:pt idx="8376">
                  <c:v>#N/A</c:v>
                </c:pt>
                <c:pt idx="8377">
                  <c:v>#N/A</c:v>
                </c:pt>
                <c:pt idx="8378">
                  <c:v>#N/A</c:v>
                </c:pt>
                <c:pt idx="8379">
                  <c:v>#N/A</c:v>
                </c:pt>
                <c:pt idx="8380">
                  <c:v>#N/A</c:v>
                </c:pt>
                <c:pt idx="8381">
                  <c:v>#N/A</c:v>
                </c:pt>
                <c:pt idx="8382">
                  <c:v>#N/A</c:v>
                </c:pt>
                <c:pt idx="8383">
                  <c:v>#N/A</c:v>
                </c:pt>
                <c:pt idx="8384">
                  <c:v>#N/A</c:v>
                </c:pt>
                <c:pt idx="8385">
                  <c:v>#N/A</c:v>
                </c:pt>
                <c:pt idx="8386">
                  <c:v>#N/A</c:v>
                </c:pt>
                <c:pt idx="8387">
                  <c:v>#N/A</c:v>
                </c:pt>
                <c:pt idx="8388">
                  <c:v>#N/A</c:v>
                </c:pt>
                <c:pt idx="8389">
                  <c:v>#N/A</c:v>
                </c:pt>
                <c:pt idx="8390">
                  <c:v>#N/A</c:v>
                </c:pt>
                <c:pt idx="8391">
                  <c:v>#N/A</c:v>
                </c:pt>
                <c:pt idx="8392">
                  <c:v>#N/A</c:v>
                </c:pt>
                <c:pt idx="8393">
                  <c:v>#N/A</c:v>
                </c:pt>
                <c:pt idx="8394">
                  <c:v>#N/A</c:v>
                </c:pt>
                <c:pt idx="8395">
                  <c:v>#N/A</c:v>
                </c:pt>
                <c:pt idx="8396">
                  <c:v>#N/A</c:v>
                </c:pt>
                <c:pt idx="8397">
                  <c:v>#N/A</c:v>
                </c:pt>
                <c:pt idx="8398">
                  <c:v>#N/A</c:v>
                </c:pt>
                <c:pt idx="8399">
                  <c:v>#N/A</c:v>
                </c:pt>
                <c:pt idx="8400">
                  <c:v>#N/A</c:v>
                </c:pt>
                <c:pt idx="8401">
                  <c:v>#N/A</c:v>
                </c:pt>
                <c:pt idx="8402">
                  <c:v>#N/A</c:v>
                </c:pt>
                <c:pt idx="8403">
                  <c:v>#N/A</c:v>
                </c:pt>
                <c:pt idx="8404">
                  <c:v>#N/A</c:v>
                </c:pt>
                <c:pt idx="8405">
                  <c:v>#N/A</c:v>
                </c:pt>
                <c:pt idx="8406">
                  <c:v>#N/A</c:v>
                </c:pt>
                <c:pt idx="8407">
                  <c:v>#N/A</c:v>
                </c:pt>
                <c:pt idx="8408">
                  <c:v>#N/A</c:v>
                </c:pt>
                <c:pt idx="8409">
                  <c:v>#N/A</c:v>
                </c:pt>
                <c:pt idx="8410">
                  <c:v>#N/A</c:v>
                </c:pt>
                <c:pt idx="8411">
                  <c:v>#N/A</c:v>
                </c:pt>
                <c:pt idx="8412">
                  <c:v>#N/A</c:v>
                </c:pt>
                <c:pt idx="8413">
                  <c:v>#N/A</c:v>
                </c:pt>
                <c:pt idx="8414">
                  <c:v>#N/A</c:v>
                </c:pt>
                <c:pt idx="8415">
                  <c:v>#N/A</c:v>
                </c:pt>
                <c:pt idx="8416">
                  <c:v>#N/A</c:v>
                </c:pt>
                <c:pt idx="8417">
                  <c:v>#N/A</c:v>
                </c:pt>
                <c:pt idx="8418">
                  <c:v>#N/A</c:v>
                </c:pt>
                <c:pt idx="8419">
                  <c:v>#N/A</c:v>
                </c:pt>
                <c:pt idx="8420">
                  <c:v>#N/A</c:v>
                </c:pt>
                <c:pt idx="8421">
                  <c:v>#N/A</c:v>
                </c:pt>
                <c:pt idx="8422">
                  <c:v>#N/A</c:v>
                </c:pt>
                <c:pt idx="8423">
                  <c:v>#N/A</c:v>
                </c:pt>
                <c:pt idx="8424">
                  <c:v>#N/A</c:v>
                </c:pt>
                <c:pt idx="8425">
                  <c:v>#N/A</c:v>
                </c:pt>
                <c:pt idx="8426">
                  <c:v>#N/A</c:v>
                </c:pt>
                <c:pt idx="8427">
                  <c:v>#N/A</c:v>
                </c:pt>
                <c:pt idx="8428">
                  <c:v>#N/A</c:v>
                </c:pt>
                <c:pt idx="8429">
                  <c:v>#N/A</c:v>
                </c:pt>
                <c:pt idx="8430">
                  <c:v>#N/A</c:v>
                </c:pt>
                <c:pt idx="8431">
                  <c:v>#N/A</c:v>
                </c:pt>
                <c:pt idx="8432">
                  <c:v>#N/A</c:v>
                </c:pt>
                <c:pt idx="8433">
                  <c:v>#N/A</c:v>
                </c:pt>
                <c:pt idx="8434">
                  <c:v>#N/A</c:v>
                </c:pt>
                <c:pt idx="8435">
                  <c:v>#N/A</c:v>
                </c:pt>
                <c:pt idx="8436">
                  <c:v>#N/A</c:v>
                </c:pt>
                <c:pt idx="8437">
                  <c:v>#N/A</c:v>
                </c:pt>
                <c:pt idx="8438">
                  <c:v>#N/A</c:v>
                </c:pt>
                <c:pt idx="8439">
                  <c:v>#N/A</c:v>
                </c:pt>
                <c:pt idx="8440">
                  <c:v>#N/A</c:v>
                </c:pt>
                <c:pt idx="8441">
                  <c:v>#N/A</c:v>
                </c:pt>
                <c:pt idx="8442">
                  <c:v>#N/A</c:v>
                </c:pt>
                <c:pt idx="8443">
                  <c:v>#N/A</c:v>
                </c:pt>
                <c:pt idx="8444">
                  <c:v>#N/A</c:v>
                </c:pt>
                <c:pt idx="8445">
                  <c:v>#N/A</c:v>
                </c:pt>
                <c:pt idx="8446">
                  <c:v>#N/A</c:v>
                </c:pt>
                <c:pt idx="8447">
                  <c:v>#N/A</c:v>
                </c:pt>
                <c:pt idx="8448">
                  <c:v>#N/A</c:v>
                </c:pt>
                <c:pt idx="8449">
                  <c:v>#N/A</c:v>
                </c:pt>
                <c:pt idx="8450">
                  <c:v>#N/A</c:v>
                </c:pt>
                <c:pt idx="8451">
                  <c:v>#N/A</c:v>
                </c:pt>
                <c:pt idx="8452">
                  <c:v>#N/A</c:v>
                </c:pt>
                <c:pt idx="8453">
                  <c:v>#N/A</c:v>
                </c:pt>
                <c:pt idx="8454">
                  <c:v>#N/A</c:v>
                </c:pt>
                <c:pt idx="8455">
                  <c:v>#N/A</c:v>
                </c:pt>
                <c:pt idx="8456">
                  <c:v>#N/A</c:v>
                </c:pt>
                <c:pt idx="8457">
                  <c:v>#N/A</c:v>
                </c:pt>
                <c:pt idx="8458">
                  <c:v>#N/A</c:v>
                </c:pt>
                <c:pt idx="8459">
                  <c:v>#N/A</c:v>
                </c:pt>
                <c:pt idx="8460">
                  <c:v>#N/A</c:v>
                </c:pt>
                <c:pt idx="8461">
                  <c:v>#N/A</c:v>
                </c:pt>
                <c:pt idx="8462">
                  <c:v>#N/A</c:v>
                </c:pt>
                <c:pt idx="8463">
                  <c:v>#N/A</c:v>
                </c:pt>
                <c:pt idx="8464">
                  <c:v>#N/A</c:v>
                </c:pt>
                <c:pt idx="8465">
                  <c:v>#N/A</c:v>
                </c:pt>
                <c:pt idx="8466">
                  <c:v>#N/A</c:v>
                </c:pt>
                <c:pt idx="8467">
                  <c:v>#N/A</c:v>
                </c:pt>
                <c:pt idx="8468">
                  <c:v>#N/A</c:v>
                </c:pt>
                <c:pt idx="8469">
                  <c:v>#N/A</c:v>
                </c:pt>
                <c:pt idx="8470">
                  <c:v>#N/A</c:v>
                </c:pt>
                <c:pt idx="8471">
                  <c:v>#N/A</c:v>
                </c:pt>
                <c:pt idx="8472">
                  <c:v>#N/A</c:v>
                </c:pt>
                <c:pt idx="8473">
                  <c:v>#N/A</c:v>
                </c:pt>
                <c:pt idx="8474">
                  <c:v>#N/A</c:v>
                </c:pt>
                <c:pt idx="8475">
                  <c:v>#N/A</c:v>
                </c:pt>
                <c:pt idx="8476">
                  <c:v>#N/A</c:v>
                </c:pt>
                <c:pt idx="8477">
                  <c:v>#N/A</c:v>
                </c:pt>
                <c:pt idx="8478">
                  <c:v>#N/A</c:v>
                </c:pt>
                <c:pt idx="8479">
                  <c:v>#N/A</c:v>
                </c:pt>
                <c:pt idx="8480">
                  <c:v>#N/A</c:v>
                </c:pt>
                <c:pt idx="8481">
                  <c:v>#N/A</c:v>
                </c:pt>
                <c:pt idx="8482">
                  <c:v>#N/A</c:v>
                </c:pt>
                <c:pt idx="8483">
                  <c:v>#N/A</c:v>
                </c:pt>
                <c:pt idx="8484">
                  <c:v>#N/A</c:v>
                </c:pt>
                <c:pt idx="8485">
                  <c:v>#N/A</c:v>
                </c:pt>
                <c:pt idx="8486">
                  <c:v>#N/A</c:v>
                </c:pt>
                <c:pt idx="8487">
                  <c:v>#N/A</c:v>
                </c:pt>
                <c:pt idx="8488">
                  <c:v>#N/A</c:v>
                </c:pt>
                <c:pt idx="8489">
                  <c:v>#N/A</c:v>
                </c:pt>
                <c:pt idx="8490">
                  <c:v>#N/A</c:v>
                </c:pt>
                <c:pt idx="8491">
                  <c:v>#N/A</c:v>
                </c:pt>
                <c:pt idx="8492">
                  <c:v>#N/A</c:v>
                </c:pt>
                <c:pt idx="8493">
                  <c:v>#N/A</c:v>
                </c:pt>
                <c:pt idx="8494">
                  <c:v>#N/A</c:v>
                </c:pt>
                <c:pt idx="8495">
                  <c:v>#N/A</c:v>
                </c:pt>
                <c:pt idx="8496">
                  <c:v>#N/A</c:v>
                </c:pt>
                <c:pt idx="8497">
                  <c:v>#N/A</c:v>
                </c:pt>
                <c:pt idx="8498">
                  <c:v>#N/A</c:v>
                </c:pt>
                <c:pt idx="8499">
                  <c:v>#N/A</c:v>
                </c:pt>
                <c:pt idx="8500">
                  <c:v>#N/A</c:v>
                </c:pt>
                <c:pt idx="8501">
                  <c:v>#N/A</c:v>
                </c:pt>
                <c:pt idx="8502">
                  <c:v>#N/A</c:v>
                </c:pt>
                <c:pt idx="8503">
                  <c:v>#N/A</c:v>
                </c:pt>
                <c:pt idx="8504">
                  <c:v>#N/A</c:v>
                </c:pt>
                <c:pt idx="8505">
                  <c:v>#N/A</c:v>
                </c:pt>
                <c:pt idx="8506">
                  <c:v>#N/A</c:v>
                </c:pt>
                <c:pt idx="8507">
                  <c:v>#N/A</c:v>
                </c:pt>
                <c:pt idx="8508">
                  <c:v>#N/A</c:v>
                </c:pt>
                <c:pt idx="8509">
                  <c:v>#N/A</c:v>
                </c:pt>
                <c:pt idx="8510">
                  <c:v>#N/A</c:v>
                </c:pt>
                <c:pt idx="8511">
                  <c:v>#N/A</c:v>
                </c:pt>
                <c:pt idx="8512">
                  <c:v>#N/A</c:v>
                </c:pt>
                <c:pt idx="8513">
                  <c:v>#N/A</c:v>
                </c:pt>
                <c:pt idx="8514">
                  <c:v>#N/A</c:v>
                </c:pt>
                <c:pt idx="8515">
                  <c:v>#N/A</c:v>
                </c:pt>
                <c:pt idx="8516">
                  <c:v>#N/A</c:v>
                </c:pt>
                <c:pt idx="8517">
                  <c:v>#N/A</c:v>
                </c:pt>
                <c:pt idx="8518">
                  <c:v>#N/A</c:v>
                </c:pt>
                <c:pt idx="8519">
                  <c:v>#N/A</c:v>
                </c:pt>
                <c:pt idx="8520">
                  <c:v>#N/A</c:v>
                </c:pt>
                <c:pt idx="8521">
                  <c:v>#N/A</c:v>
                </c:pt>
                <c:pt idx="8522">
                  <c:v>#N/A</c:v>
                </c:pt>
                <c:pt idx="8523">
                  <c:v>#N/A</c:v>
                </c:pt>
                <c:pt idx="8524">
                  <c:v>#N/A</c:v>
                </c:pt>
                <c:pt idx="8525">
                  <c:v>#N/A</c:v>
                </c:pt>
                <c:pt idx="8526">
                  <c:v>#N/A</c:v>
                </c:pt>
                <c:pt idx="8527">
                  <c:v>#N/A</c:v>
                </c:pt>
                <c:pt idx="8528">
                  <c:v>#N/A</c:v>
                </c:pt>
                <c:pt idx="8529">
                  <c:v>#N/A</c:v>
                </c:pt>
                <c:pt idx="8530">
                  <c:v>#N/A</c:v>
                </c:pt>
                <c:pt idx="8531">
                  <c:v>#N/A</c:v>
                </c:pt>
                <c:pt idx="8532">
                  <c:v>#N/A</c:v>
                </c:pt>
                <c:pt idx="8533">
                  <c:v>#N/A</c:v>
                </c:pt>
                <c:pt idx="8534">
                  <c:v>#N/A</c:v>
                </c:pt>
                <c:pt idx="8535">
                  <c:v>#N/A</c:v>
                </c:pt>
                <c:pt idx="8536">
                  <c:v>#N/A</c:v>
                </c:pt>
                <c:pt idx="8537">
                  <c:v>#N/A</c:v>
                </c:pt>
                <c:pt idx="8538">
                  <c:v>#N/A</c:v>
                </c:pt>
                <c:pt idx="8539">
                  <c:v>#N/A</c:v>
                </c:pt>
                <c:pt idx="8540">
                  <c:v>#N/A</c:v>
                </c:pt>
                <c:pt idx="8541">
                  <c:v>#N/A</c:v>
                </c:pt>
                <c:pt idx="8542">
                  <c:v>#N/A</c:v>
                </c:pt>
                <c:pt idx="8543">
                  <c:v>#N/A</c:v>
                </c:pt>
                <c:pt idx="8544">
                  <c:v>#N/A</c:v>
                </c:pt>
                <c:pt idx="8545">
                  <c:v>#N/A</c:v>
                </c:pt>
                <c:pt idx="8546">
                  <c:v>#N/A</c:v>
                </c:pt>
                <c:pt idx="8547">
                  <c:v>#N/A</c:v>
                </c:pt>
                <c:pt idx="8548">
                  <c:v>#N/A</c:v>
                </c:pt>
                <c:pt idx="8549">
                  <c:v>#N/A</c:v>
                </c:pt>
                <c:pt idx="8550">
                  <c:v>#N/A</c:v>
                </c:pt>
                <c:pt idx="8551">
                  <c:v>#N/A</c:v>
                </c:pt>
                <c:pt idx="8552">
                  <c:v>#N/A</c:v>
                </c:pt>
                <c:pt idx="8553">
                  <c:v>#N/A</c:v>
                </c:pt>
                <c:pt idx="8554">
                  <c:v>#N/A</c:v>
                </c:pt>
                <c:pt idx="8555">
                  <c:v>#N/A</c:v>
                </c:pt>
                <c:pt idx="8556">
                  <c:v>#N/A</c:v>
                </c:pt>
                <c:pt idx="8557">
                  <c:v>#N/A</c:v>
                </c:pt>
                <c:pt idx="8558">
                  <c:v>#N/A</c:v>
                </c:pt>
                <c:pt idx="8559">
                  <c:v>#N/A</c:v>
                </c:pt>
                <c:pt idx="8560">
                  <c:v>#N/A</c:v>
                </c:pt>
                <c:pt idx="8561">
                  <c:v>#N/A</c:v>
                </c:pt>
                <c:pt idx="8562">
                  <c:v>#N/A</c:v>
                </c:pt>
                <c:pt idx="8563">
                  <c:v>#N/A</c:v>
                </c:pt>
                <c:pt idx="8564">
                  <c:v>#N/A</c:v>
                </c:pt>
                <c:pt idx="8565">
                  <c:v>#N/A</c:v>
                </c:pt>
                <c:pt idx="8566">
                  <c:v>#N/A</c:v>
                </c:pt>
                <c:pt idx="8567">
                  <c:v>#N/A</c:v>
                </c:pt>
                <c:pt idx="8568">
                  <c:v>#N/A</c:v>
                </c:pt>
                <c:pt idx="8569">
                  <c:v>#N/A</c:v>
                </c:pt>
                <c:pt idx="8570">
                  <c:v>#N/A</c:v>
                </c:pt>
                <c:pt idx="8571">
                  <c:v>#N/A</c:v>
                </c:pt>
                <c:pt idx="8572">
                  <c:v>#N/A</c:v>
                </c:pt>
                <c:pt idx="8573">
                  <c:v>#N/A</c:v>
                </c:pt>
                <c:pt idx="8574">
                  <c:v>#N/A</c:v>
                </c:pt>
                <c:pt idx="8575">
                  <c:v>#N/A</c:v>
                </c:pt>
                <c:pt idx="8576">
                  <c:v>#N/A</c:v>
                </c:pt>
                <c:pt idx="8577">
                  <c:v>#N/A</c:v>
                </c:pt>
                <c:pt idx="8578">
                  <c:v>#N/A</c:v>
                </c:pt>
                <c:pt idx="8579">
                  <c:v>#N/A</c:v>
                </c:pt>
                <c:pt idx="8580">
                  <c:v>#N/A</c:v>
                </c:pt>
                <c:pt idx="8581">
                  <c:v>#N/A</c:v>
                </c:pt>
                <c:pt idx="8582">
                  <c:v>#N/A</c:v>
                </c:pt>
                <c:pt idx="8583">
                  <c:v>#N/A</c:v>
                </c:pt>
                <c:pt idx="8584">
                  <c:v>#N/A</c:v>
                </c:pt>
                <c:pt idx="8585">
                  <c:v>#N/A</c:v>
                </c:pt>
                <c:pt idx="8586">
                  <c:v>#N/A</c:v>
                </c:pt>
                <c:pt idx="8587">
                  <c:v>#N/A</c:v>
                </c:pt>
                <c:pt idx="8588">
                  <c:v>#N/A</c:v>
                </c:pt>
                <c:pt idx="8589">
                  <c:v>#N/A</c:v>
                </c:pt>
                <c:pt idx="8590">
                  <c:v>#N/A</c:v>
                </c:pt>
                <c:pt idx="8591">
                  <c:v>#N/A</c:v>
                </c:pt>
                <c:pt idx="8592">
                  <c:v>#N/A</c:v>
                </c:pt>
                <c:pt idx="8593">
                  <c:v>#N/A</c:v>
                </c:pt>
                <c:pt idx="8594">
                  <c:v>#N/A</c:v>
                </c:pt>
                <c:pt idx="8595">
                  <c:v>#N/A</c:v>
                </c:pt>
                <c:pt idx="8596">
                  <c:v>#N/A</c:v>
                </c:pt>
                <c:pt idx="8597">
                  <c:v>#N/A</c:v>
                </c:pt>
                <c:pt idx="8598">
                  <c:v>#N/A</c:v>
                </c:pt>
                <c:pt idx="8599">
                  <c:v>#N/A</c:v>
                </c:pt>
                <c:pt idx="8600">
                  <c:v>#N/A</c:v>
                </c:pt>
                <c:pt idx="8601">
                  <c:v>#N/A</c:v>
                </c:pt>
                <c:pt idx="8602">
                  <c:v>#N/A</c:v>
                </c:pt>
                <c:pt idx="8603">
                  <c:v>#N/A</c:v>
                </c:pt>
                <c:pt idx="8604">
                  <c:v>#N/A</c:v>
                </c:pt>
                <c:pt idx="8605">
                  <c:v>#N/A</c:v>
                </c:pt>
                <c:pt idx="8606">
                  <c:v>#N/A</c:v>
                </c:pt>
                <c:pt idx="8607">
                  <c:v>#N/A</c:v>
                </c:pt>
                <c:pt idx="8608">
                  <c:v>#N/A</c:v>
                </c:pt>
                <c:pt idx="8609">
                  <c:v>#N/A</c:v>
                </c:pt>
                <c:pt idx="8610">
                  <c:v>#N/A</c:v>
                </c:pt>
                <c:pt idx="8611">
                  <c:v>#N/A</c:v>
                </c:pt>
                <c:pt idx="8612">
                  <c:v>#N/A</c:v>
                </c:pt>
                <c:pt idx="8613">
                  <c:v>#N/A</c:v>
                </c:pt>
                <c:pt idx="8614">
                  <c:v>#N/A</c:v>
                </c:pt>
                <c:pt idx="8615">
                  <c:v>#N/A</c:v>
                </c:pt>
                <c:pt idx="8616">
                  <c:v>#N/A</c:v>
                </c:pt>
                <c:pt idx="8617">
                  <c:v>#N/A</c:v>
                </c:pt>
                <c:pt idx="8618">
                  <c:v>#N/A</c:v>
                </c:pt>
                <c:pt idx="8619">
                  <c:v>#N/A</c:v>
                </c:pt>
                <c:pt idx="8620">
                  <c:v>#N/A</c:v>
                </c:pt>
                <c:pt idx="8621">
                  <c:v>#N/A</c:v>
                </c:pt>
                <c:pt idx="8622">
                  <c:v>#N/A</c:v>
                </c:pt>
                <c:pt idx="8623">
                  <c:v>#N/A</c:v>
                </c:pt>
                <c:pt idx="8624">
                  <c:v>#N/A</c:v>
                </c:pt>
                <c:pt idx="8625">
                  <c:v>#N/A</c:v>
                </c:pt>
                <c:pt idx="8626">
                  <c:v>#N/A</c:v>
                </c:pt>
                <c:pt idx="8627">
                  <c:v>#N/A</c:v>
                </c:pt>
                <c:pt idx="8628">
                  <c:v>#N/A</c:v>
                </c:pt>
                <c:pt idx="8629">
                  <c:v>#N/A</c:v>
                </c:pt>
                <c:pt idx="8630">
                  <c:v>#N/A</c:v>
                </c:pt>
                <c:pt idx="8631">
                  <c:v>#N/A</c:v>
                </c:pt>
                <c:pt idx="8632">
                  <c:v>#N/A</c:v>
                </c:pt>
                <c:pt idx="8633">
                  <c:v>#N/A</c:v>
                </c:pt>
                <c:pt idx="8634">
                  <c:v>#N/A</c:v>
                </c:pt>
                <c:pt idx="8635">
                  <c:v>#N/A</c:v>
                </c:pt>
                <c:pt idx="8636">
                  <c:v>#N/A</c:v>
                </c:pt>
                <c:pt idx="8637">
                  <c:v>#N/A</c:v>
                </c:pt>
                <c:pt idx="8638">
                  <c:v>#N/A</c:v>
                </c:pt>
                <c:pt idx="8639">
                  <c:v>#N/A</c:v>
                </c:pt>
                <c:pt idx="8640">
                  <c:v>#N/A</c:v>
                </c:pt>
                <c:pt idx="8641">
                  <c:v>#N/A</c:v>
                </c:pt>
                <c:pt idx="8642">
                  <c:v>#N/A</c:v>
                </c:pt>
                <c:pt idx="8643">
                  <c:v>#N/A</c:v>
                </c:pt>
                <c:pt idx="8644">
                  <c:v>#N/A</c:v>
                </c:pt>
                <c:pt idx="8645">
                  <c:v>#N/A</c:v>
                </c:pt>
                <c:pt idx="8646">
                  <c:v>#N/A</c:v>
                </c:pt>
                <c:pt idx="8647">
                  <c:v>#N/A</c:v>
                </c:pt>
                <c:pt idx="8648">
                  <c:v>#N/A</c:v>
                </c:pt>
                <c:pt idx="8649">
                  <c:v>#N/A</c:v>
                </c:pt>
                <c:pt idx="8650">
                  <c:v>#N/A</c:v>
                </c:pt>
                <c:pt idx="8651">
                  <c:v>#N/A</c:v>
                </c:pt>
                <c:pt idx="8652">
                  <c:v>#N/A</c:v>
                </c:pt>
                <c:pt idx="8653">
                  <c:v>#N/A</c:v>
                </c:pt>
                <c:pt idx="8654">
                  <c:v>#N/A</c:v>
                </c:pt>
                <c:pt idx="8655">
                  <c:v>#N/A</c:v>
                </c:pt>
                <c:pt idx="8656">
                  <c:v>#N/A</c:v>
                </c:pt>
                <c:pt idx="8657">
                  <c:v>#N/A</c:v>
                </c:pt>
                <c:pt idx="8658">
                  <c:v>#N/A</c:v>
                </c:pt>
                <c:pt idx="8659">
                  <c:v>#N/A</c:v>
                </c:pt>
                <c:pt idx="8660">
                  <c:v>#N/A</c:v>
                </c:pt>
                <c:pt idx="8661">
                  <c:v>#N/A</c:v>
                </c:pt>
                <c:pt idx="8662">
                  <c:v>#N/A</c:v>
                </c:pt>
                <c:pt idx="8663">
                  <c:v>#N/A</c:v>
                </c:pt>
                <c:pt idx="8664">
                  <c:v>#N/A</c:v>
                </c:pt>
                <c:pt idx="8665">
                  <c:v>#N/A</c:v>
                </c:pt>
                <c:pt idx="8666">
                  <c:v>#N/A</c:v>
                </c:pt>
                <c:pt idx="8667">
                  <c:v>#N/A</c:v>
                </c:pt>
                <c:pt idx="8668">
                  <c:v>#N/A</c:v>
                </c:pt>
                <c:pt idx="8669">
                  <c:v>#N/A</c:v>
                </c:pt>
                <c:pt idx="8670">
                  <c:v>#N/A</c:v>
                </c:pt>
                <c:pt idx="8671">
                  <c:v>#N/A</c:v>
                </c:pt>
                <c:pt idx="8672">
                  <c:v>#N/A</c:v>
                </c:pt>
                <c:pt idx="8673">
                  <c:v>#N/A</c:v>
                </c:pt>
                <c:pt idx="8674">
                  <c:v>#N/A</c:v>
                </c:pt>
                <c:pt idx="8675">
                  <c:v>#N/A</c:v>
                </c:pt>
                <c:pt idx="8676">
                  <c:v>#N/A</c:v>
                </c:pt>
                <c:pt idx="8677">
                  <c:v>#N/A</c:v>
                </c:pt>
                <c:pt idx="8678">
                  <c:v>#N/A</c:v>
                </c:pt>
                <c:pt idx="8679">
                  <c:v>#N/A</c:v>
                </c:pt>
                <c:pt idx="8680">
                  <c:v>#N/A</c:v>
                </c:pt>
                <c:pt idx="8681">
                  <c:v>#N/A</c:v>
                </c:pt>
                <c:pt idx="8682">
                  <c:v>#N/A</c:v>
                </c:pt>
                <c:pt idx="8683">
                  <c:v>#N/A</c:v>
                </c:pt>
                <c:pt idx="8684">
                  <c:v>#N/A</c:v>
                </c:pt>
                <c:pt idx="8685">
                  <c:v>#N/A</c:v>
                </c:pt>
                <c:pt idx="8686">
                  <c:v>#N/A</c:v>
                </c:pt>
                <c:pt idx="8687">
                  <c:v>#N/A</c:v>
                </c:pt>
                <c:pt idx="8688">
                  <c:v>#N/A</c:v>
                </c:pt>
                <c:pt idx="8689">
                  <c:v>#N/A</c:v>
                </c:pt>
                <c:pt idx="8690">
                  <c:v>#N/A</c:v>
                </c:pt>
                <c:pt idx="8691">
                  <c:v>#N/A</c:v>
                </c:pt>
                <c:pt idx="8692">
                  <c:v>#N/A</c:v>
                </c:pt>
                <c:pt idx="8693">
                  <c:v>#N/A</c:v>
                </c:pt>
                <c:pt idx="8694">
                  <c:v>#N/A</c:v>
                </c:pt>
                <c:pt idx="8695">
                  <c:v>#N/A</c:v>
                </c:pt>
                <c:pt idx="8696">
                  <c:v>#N/A</c:v>
                </c:pt>
                <c:pt idx="8697">
                  <c:v>#N/A</c:v>
                </c:pt>
                <c:pt idx="8698">
                  <c:v>#N/A</c:v>
                </c:pt>
                <c:pt idx="8699">
                  <c:v>#N/A</c:v>
                </c:pt>
                <c:pt idx="8700">
                  <c:v>#N/A</c:v>
                </c:pt>
                <c:pt idx="8701">
                  <c:v>#N/A</c:v>
                </c:pt>
                <c:pt idx="8702">
                  <c:v>#N/A</c:v>
                </c:pt>
                <c:pt idx="8703">
                  <c:v>#N/A</c:v>
                </c:pt>
                <c:pt idx="8704">
                  <c:v>#N/A</c:v>
                </c:pt>
                <c:pt idx="8705">
                  <c:v>#N/A</c:v>
                </c:pt>
                <c:pt idx="8706">
                  <c:v>#N/A</c:v>
                </c:pt>
                <c:pt idx="8707">
                  <c:v>#N/A</c:v>
                </c:pt>
                <c:pt idx="8708">
                  <c:v>#N/A</c:v>
                </c:pt>
                <c:pt idx="8709">
                  <c:v>#N/A</c:v>
                </c:pt>
                <c:pt idx="8710">
                  <c:v>#N/A</c:v>
                </c:pt>
                <c:pt idx="8711">
                  <c:v>#N/A</c:v>
                </c:pt>
                <c:pt idx="8712">
                  <c:v>#N/A</c:v>
                </c:pt>
                <c:pt idx="8713">
                  <c:v>#N/A</c:v>
                </c:pt>
                <c:pt idx="8714">
                  <c:v>#N/A</c:v>
                </c:pt>
                <c:pt idx="8715">
                  <c:v>#N/A</c:v>
                </c:pt>
                <c:pt idx="8716">
                  <c:v>#N/A</c:v>
                </c:pt>
                <c:pt idx="8717">
                  <c:v>#N/A</c:v>
                </c:pt>
                <c:pt idx="8718">
                  <c:v>#N/A</c:v>
                </c:pt>
                <c:pt idx="8719">
                  <c:v>#N/A</c:v>
                </c:pt>
                <c:pt idx="8720">
                  <c:v>#N/A</c:v>
                </c:pt>
                <c:pt idx="8721">
                  <c:v>#N/A</c:v>
                </c:pt>
                <c:pt idx="8722">
                  <c:v>#N/A</c:v>
                </c:pt>
                <c:pt idx="8723">
                  <c:v>#N/A</c:v>
                </c:pt>
                <c:pt idx="8724">
                  <c:v>#N/A</c:v>
                </c:pt>
                <c:pt idx="8725">
                  <c:v>#N/A</c:v>
                </c:pt>
                <c:pt idx="8726">
                  <c:v>#N/A</c:v>
                </c:pt>
                <c:pt idx="8727">
                  <c:v>#N/A</c:v>
                </c:pt>
                <c:pt idx="8728">
                  <c:v>#N/A</c:v>
                </c:pt>
                <c:pt idx="8729">
                  <c:v>#N/A</c:v>
                </c:pt>
                <c:pt idx="8730">
                  <c:v>#N/A</c:v>
                </c:pt>
                <c:pt idx="8731">
                  <c:v>#N/A</c:v>
                </c:pt>
                <c:pt idx="8732">
                  <c:v>#N/A</c:v>
                </c:pt>
                <c:pt idx="8733">
                  <c:v>#N/A</c:v>
                </c:pt>
                <c:pt idx="8734">
                  <c:v>#N/A</c:v>
                </c:pt>
                <c:pt idx="8735">
                  <c:v>#N/A</c:v>
                </c:pt>
                <c:pt idx="8736">
                  <c:v>#N/A</c:v>
                </c:pt>
                <c:pt idx="8737">
                  <c:v>#N/A</c:v>
                </c:pt>
                <c:pt idx="8738">
                  <c:v>#N/A</c:v>
                </c:pt>
                <c:pt idx="8739">
                  <c:v>#N/A</c:v>
                </c:pt>
                <c:pt idx="8740">
                  <c:v>#N/A</c:v>
                </c:pt>
                <c:pt idx="8741">
                  <c:v>#N/A</c:v>
                </c:pt>
                <c:pt idx="8742">
                  <c:v>#N/A</c:v>
                </c:pt>
                <c:pt idx="8743">
                  <c:v>#N/A</c:v>
                </c:pt>
                <c:pt idx="8744">
                  <c:v>#N/A</c:v>
                </c:pt>
                <c:pt idx="8745">
                  <c:v>#N/A</c:v>
                </c:pt>
                <c:pt idx="8746">
                  <c:v>#N/A</c:v>
                </c:pt>
                <c:pt idx="8747">
                  <c:v>#N/A</c:v>
                </c:pt>
                <c:pt idx="8748">
                  <c:v>#N/A</c:v>
                </c:pt>
                <c:pt idx="8749">
                  <c:v>#N/A</c:v>
                </c:pt>
                <c:pt idx="8750">
                  <c:v>#N/A</c:v>
                </c:pt>
                <c:pt idx="8751">
                  <c:v>#N/A</c:v>
                </c:pt>
                <c:pt idx="8752">
                  <c:v>#N/A</c:v>
                </c:pt>
                <c:pt idx="8753">
                  <c:v>#N/A</c:v>
                </c:pt>
                <c:pt idx="8754">
                  <c:v>#N/A</c:v>
                </c:pt>
                <c:pt idx="8755">
                  <c:v>#N/A</c:v>
                </c:pt>
                <c:pt idx="8756">
                  <c:v>#N/A</c:v>
                </c:pt>
                <c:pt idx="8757">
                  <c:v>#N/A</c:v>
                </c:pt>
                <c:pt idx="8758">
                  <c:v>#N/A</c:v>
                </c:pt>
                <c:pt idx="8759">
                  <c:v>#N/A</c:v>
                </c:pt>
                <c:pt idx="8760">
                  <c:v>#N/A</c:v>
                </c:pt>
                <c:pt idx="8761">
                  <c:v>#N/A</c:v>
                </c:pt>
                <c:pt idx="8762">
                  <c:v>#N/A</c:v>
                </c:pt>
                <c:pt idx="8763">
                  <c:v>#N/A</c:v>
                </c:pt>
                <c:pt idx="8764">
                  <c:v>#N/A</c:v>
                </c:pt>
                <c:pt idx="8765">
                  <c:v>#N/A</c:v>
                </c:pt>
                <c:pt idx="8766">
                  <c:v>#N/A</c:v>
                </c:pt>
                <c:pt idx="8767">
                  <c:v>#N/A</c:v>
                </c:pt>
                <c:pt idx="8768">
                  <c:v>#N/A</c:v>
                </c:pt>
                <c:pt idx="8769">
                  <c:v>#N/A</c:v>
                </c:pt>
                <c:pt idx="8770">
                  <c:v>#N/A</c:v>
                </c:pt>
                <c:pt idx="8771">
                  <c:v>#N/A</c:v>
                </c:pt>
                <c:pt idx="8772">
                  <c:v>#N/A</c:v>
                </c:pt>
                <c:pt idx="8773">
                  <c:v>#N/A</c:v>
                </c:pt>
                <c:pt idx="8774">
                  <c:v>#N/A</c:v>
                </c:pt>
                <c:pt idx="8775">
                  <c:v>#N/A</c:v>
                </c:pt>
                <c:pt idx="8776">
                  <c:v>#N/A</c:v>
                </c:pt>
                <c:pt idx="8777">
                  <c:v>#N/A</c:v>
                </c:pt>
                <c:pt idx="8778">
                  <c:v>#N/A</c:v>
                </c:pt>
                <c:pt idx="8779">
                  <c:v>#N/A</c:v>
                </c:pt>
                <c:pt idx="8780">
                  <c:v>#N/A</c:v>
                </c:pt>
                <c:pt idx="8781">
                  <c:v>#N/A</c:v>
                </c:pt>
                <c:pt idx="8782">
                  <c:v>#N/A</c:v>
                </c:pt>
                <c:pt idx="8783">
                  <c:v>#N/A</c:v>
                </c:pt>
                <c:pt idx="8784">
                  <c:v>#N/A</c:v>
                </c:pt>
                <c:pt idx="8785">
                  <c:v>#N/A</c:v>
                </c:pt>
                <c:pt idx="8786">
                  <c:v>#N/A</c:v>
                </c:pt>
                <c:pt idx="8787">
                  <c:v>#N/A</c:v>
                </c:pt>
                <c:pt idx="8788">
                  <c:v>#N/A</c:v>
                </c:pt>
                <c:pt idx="8789">
                  <c:v>#N/A</c:v>
                </c:pt>
                <c:pt idx="8790">
                  <c:v>#N/A</c:v>
                </c:pt>
                <c:pt idx="8791">
                  <c:v>#N/A</c:v>
                </c:pt>
                <c:pt idx="8792">
                  <c:v>#N/A</c:v>
                </c:pt>
                <c:pt idx="8793">
                  <c:v>#N/A</c:v>
                </c:pt>
                <c:pt idx="8794">
                  <c:v>#N/A</c:v>
                </c:pt>
                <c:pt idx="8795">
                  <c:v>#N/A</c:v>
                </c:pt>
                <c:pt idx="8796">
                  <c:v>#N/A</c:v>
                </c:pt>
                <c:pt idx="8797">
                  <c:v>#N/A</c:v>
                </c:pt>
                <c:pt idx="8798">
                  <c:v>#N/A</c:v>
                </c:pt>
                <c:pt idx="8799">
                  <c:v>#N/A</c:v>
                </c:pt>
                <c:pt idx="8800">
                  <c:v>#N/A</c:v>
                </c:pt>
                <c:pt idx="8801">
                  <c:v>#N/A</c:v>
                </c:pt>
                <c:pt idx="8802">
                  <c:v>#N/A</c:v>
                </c:pt>
                <c:pt idx="8803">
                  <c:v>#N/A</c:v>
                </c:pt>
                <c:pt idx="8804">
                  <c:v>#N/A</c:v>
                </c:pt>
                <c:pt idx="8805">
                  <c:v>#N/A</c:v>
                </c:pt>
                <c:pt idx="8806">
                  <c:v>#N/A</c:v>
                </c:pt>
                <c:pt idx="8807">
                  <c:v>#N/A</c:v>
                </c:pt>
                <c:pt idx="8808">
                  <c:v>#N/A</c:v>
                </c:pt>
                <c:pt idx="8809">
                  <c:v>#N/A</c:v>
                </c:pt>
                <c:pt idx="8810">
                  <c:v>#N/A</c:v>
                </c:pt>
                <c:pt idx="8811">
                  <c:v>#N/A</c:v>
                </c:pt>
                <c:pt idx="8812">
                  <c:v>#N/A</c:v>
                </c:pt>
                <c:pt idx="8813">
                  <c:v>#N/A</c:v>
                </c:pt>
                <c:pt idx="8814">
                  <c:v>#N/A</c:v>
                </c:pt>
                <c:pt idx="8815">
                  <c:v>#N/A</c:v>
                </c:pt>
                <c:pt idx="8816">
                  <c:v>#N/A</c:v>
                </c:pt>
                <c:pt idx="8817">
                  <c:v>#N/A</c:v>
                </c:pt>
                <c:pt idx="8818">
                  <c:v>#N/A</c:v>
                </c:pt>
                <c:pt idx="8819">
                  <c:v>#N/A</c:v>
                </c:pt>
                <c:pt idx="8820">
                  <c:v>#N/A</c:v>
                </c:pt>
                <c:pt idx="8821">
                  <c:v>#N/A</c:v>
                </c:pt>
                <c:pt idx="8822">
                  <c:v>#N/A</c:v>
                </c:pt>
                <c:pt idx="8823">
                  <c:v>#N/A</c:v>
                </c:pt>
                <c:pt idx="8824">
                  <c:v>#N/A</c:v>
                </c:pt>
                <c:pt idx="8825">
                  <c:v>#N/A</c:v>
                </c:pt>
                <c:pt idx="8826">
                  <c:v>#N/A</c:v>
                </c:pt>
                <c:pt idx="8827">
                  <c:v>#N/A</c:v>
                </c:pt>
                <c:pt idx="8828">
                  <c:v>#N/A</c:v>
                </c:pt>
                <c:pt idx="8829">
                  <c:v>#N/A</c:v>
                </c:pt>
                <c:pt idx="8830">
                  <c:v>#N/A</c:v>
                </c:pt>
                <c:pt idx="8831">
                  <c:v>#N/A</c:v>
                </c:pt>
                <c:pt idx="8832">
                  <c:v>#N/A</c:v>
                </c:pt>
                <c:pt idx="8833">
                  <c:v>#N/A</c:v>
                </c:pt>
                <c:pt idx="8834">
                  <c:v>#N/A</c:v>
                </c:pt>
                <c:pt idx="8835">
                  <c:v>#N/A</c:v>
                </c:pt>
                <c:pt idx="8836">
                  <c:v>#N/A</c:v>
                </c:pt>
                <c:pt idx="8837">
                  <c:v>#N/A</c:v>
                </c:pt>
                <c:pt idx="8838">
                  <c:v>#N/A</c:v>
                </c:pt>
                <c:pt idx="8839">
                  <c:v>#N/A</c:v>
                </c:pt>
                <c:pt idx="8840">
                  <c:v>#N/A</c:v>
                </c:pt>
                <c:pt idx="8841">
                  <c:v>#N/A</c:v>
                </c:pt>
                <c:pt idx="8842">
                  <c:v>#N/A</c:v>
                </c:pt>
                <c:pt idx="8843">
                  <c:v>#N/A</c:v>
                </c:pt>
                <c:pt idx="8844">
                  <c:v>#N/A</c:v>
                </c:pt>
                <c:pt idx="8845">
                  <c:v>#N/A</c:v>
                </c:pt>
                <c:pt idx="8846">
                  <c:v>#N/A</c:v>
                </c:pt>
                <c:pt idx="8847">
                  <c:v>#N/A</c:v>
                </c:pt>
                <c:pt idx="8848">
                  <c:v>#N/A</c:v>
                </c:pt>
                <c:pt idx="8849">
                  <c:v>#N/A</c:v>
                </c:pt>
                <c:pt idx="8850">
                  <c:v>#N/A</c:v>
                </c:pt>
                <c:pt idx="8851">
                  <c:v>#N/A</c:v>
                </c:pt>
                <c:pt idx="8852">
                  <c:v>#N/A</c:v>
                </c:pt>
                <c:pt idx="8853">
                  <c:v>#N/A</c:v>
                </c:pt>
                <c:pt idx="8854">
                  <c:v>#N/A</c:v>
                </c:pt>
                <c:pt idx="8855">
                  <c:v>#N/A</c:v>
                </c:pt>
                <c:pt idx="8856">
                  <c:v>#N/A</c:v>
                </c:pt>
                <c:pt idx="8857">
                  <c:v>#N/A</c:v>
                </c:pt>
                <c:pt idx="8858">
                  <c:v>#N/A</c:v>
                </c:pt>
                <c:pt idx="8859">
                  <c:v>#N/A</c:v>
                </c:pt>
                <c:pt idx="8860">
                  <c:v>#N/A</c:v>
                </c:pt>
                <c:pt idx="8861">
                  <c:v>#N/A</c:v>
                </c:pt>
                <c:pt idx="8862">
                  <c:v>#N/A</c:v>
                </c:pt>
                <c:pt idx="8863">
                  <c:v>#N/A</c:v>
                </c:pt>
                <c:pt idx="8864">
                  <c:v>#N/A</c:v>
                </c:pt>
                <c:pt idx="8865">
                  <c:v>#N/A</c:v>
                </c:pt>
                <c:pt idx="8866">
                  <c:v>#N/A</c:v>
                </c:pt>
                <c:pt idx="8867">
                  <c:v>#N/A</c:v>
                </c:pt>
                <c:pt idx="8868">
                  <c:v>#N/A</c:v>
                </c:pt>
                <c:pt idx="8869">
                  <c:v>#N/A</c:v>
                </c:pt>
                <c:pt idx="8870">
                  <c:v>#N/A</c:v>
                </c:pt>
                <c:pt idx="8871">
                  <c:v>#N/A</c:v>
                </c:pt>
                <c:pt idx="8872">
                  <c:v>#N/A</c:v>
                </c:pt>
                <c:pt idx="8873">
                  <c:v>#N/A</c:v>
                </c:pt>
                <c:pt idx="8874">
                  <c:v>#N/A</c:v>
                </c:pt>
                <c:pt idx="8875">
                  <c:v>#N/A</c:v>
                </c:pt>
                <c:pt idx="8876">
                  <c:v>#N/A</c:v>
                </c:pt>
                <c:pt idx="8877">
                  <c:v>#N/A</c:v>
                </c:pt>
                <c:pt idx="8878">
                  <c:v>#N/A</c:v>
                </c:pt>
                <c:pt idx="8879">
                  <c:v>#N/A</c:v>
                </c:pt>
                <c:pt idx="8880">
                  <c:v>#N/A</c:v>
                </c:pt>
                <c:pt idx="8881">
                  <c:v>#N/A</c:v>
                </c:pt>
                <c:pt idx="8882">
                  <c:v>#N/A</c:v>
                </c:pt>
                <c:pt idx="8883">
                  <c:v>#N/A</c:v>
                </c:pt>
                <c:pt idx="8884">
                  <c:v>#N/A</c:v>
                </c:pt>
                <c:pt idx="8885">
                  <c:v>#N/A</c:v>
                </c:pt>
                <c:pt idx="8886">
                  <c:v>#N/A</c:v>
                </c:pt>
                <c:pt idx="8887">
                  <c:v>#N/A</c:v>
                </c:pt>
                <c:pt idx="8888">
                  <c:v>#N/A</c:v>
                </c:pt>
                <c:pt idx="8889">
                  <c:v>#N/A</c:v>
                </c:pt>
                <c:pt idx="8890">
                  <c:v>#N/A</c:v>
                </c:pt>
                <c:pt idx="8891">
                  <c:v>#N/A</c:v>
                </c:pt>
                <c:pt idx="8892">
                  <c:v>#N/A</c:v>
                </c:pt>
                <c:pt idx="8893">
                  <c:v>#N/A</c:v>
                </c:pt>
                <c:pt idx="8894">
                  <c:v>#N/A</c:v>
                </c:pt>
                <c:pt idx="8895">
                  <c:v>#N/A</c:v>
                </c:pt>
                <c:pt idx="8896">
                  <c:v>#N/A</c:v>
                </c:pt>
                <c:pt idx="8897">
                  <c:v>#N/A</c:v>
                </c:pt>
                <c:pt idx="8898">
                  <c:v>#N/A</c:v>
                </c:pt>
                <c:pt idx="8899">
                  <c:v>#N/A</c:v>
                </c:pt>
                <c:pt idx="8900">
                  <c:v>#N/A</c:v>
                </c:pt>
                <c:pt idx="8901">
                  <c:v>#N/A</c:v>
                </c:pt>
                <c:pt idx="8902">
                  <c:v>#N/A</c:v>
                </c:pt>
                <c:pt idx="8903">
                  <c:v>#N/A</c:v>
                </c:pt>
                <c:pt idx="8904">
                  <c:v>#N/A</c:v>
                </c:pt>
                <c:pt idx="8905">
                  <c:v>#N/A</c:v>
                </c:pt>
                <c:pt idx="8906">
                  <c:v>#N/A</c:v>
                </c:pt>
                <c:pt idx="8907">
                  <c:v>#N/A</c:v>
                </c:pt>
                <c:pt idx="8908">
                  <c:v>#N/A</c:v>
                </c:pt>
                <c:pt idx="8909">
                  <c:v>#N/A</c:v>
                </c:pt>
                <c:pt idx="8910">
                  <c:v>#N/A</c:v>
                </c:pt>
                <c:pt idx="8911">
                  <c:v>#N/A</c:v>
                </c:pt>
                <c:pt idx="8912">
                  <c:v>#N/A</c:v>
                </c:pt>
                <c:pt idx="8913">
                  <c:v>#N/A</c:v>
                </c:pt>
                <c:pt idx="8914">
                  <c:v>#N/A</c:v>
                </c:pt>
                <c:pt idx="8915">
                  <c:v>#N/A</c:v>
                </c:pt>
                <c:pt idx="8916">
                  <c:v>#N/A</c:v>
                </c:pt>
                <c:pt idx="8917">
                  <c:v>#N/A</c:v>
                </c:pt>
                <c:pt idx="8918">
                  <c:v>#N/A</c:v>
                </c:pt>
                <c:pt idx="8919">
                  <c:v>#N/A</c:v>
                </c:pt>
                <c:pt idx="8920">
                  <c:v>#N/A</c:v>
                </c:pt>
                <c:pt idx="8921">
                  <c:v>#N/A</c:v>
                </c:pt>
                <c:pt idx="8922">
                  <c:v>#N/A</c:v>
                </c:pt>
                <c:pt idx="8923">
                  <c:v>#N/A</c:v>
                </c:pt>
                <c:pt idx="8924">
                  <c:v>#N/A</c:v>
                </c:pt>
                <c:pt idx="8925">
                  <c:v>#N/A</c:v>
                </c:pt>
                <c:pt idx="8926">
                  <c:v>#N/A</c:v>
                </c:pt>
                <c:pt idx="8927">
                  <c:v>#N/A</c:v>
                </c:pt>
                <c:pt idx="8928">
                  <c:v>#N/A</c:v>
                </c:pt>
                <c:pt idx="8929">
                  <c:v>#N/A</c:v>
                </c:pt>
                <c:pt idx="8930">
                  <c:v>#N/A</c:v>
                </c:pt>
                <c:pt idx="8931">
                  <c:v>#N/A</c:v>
                </c:pt>
                <c:pt idx="8932">
                  <c:v>#N/A</c:v>
                </c:pt>
                <c:pt idx="8933">
                  <c:v>#N/A</c:v>
                </c:pt>
                <c:pt idx="8934">
                  <c:v>#N/A</c:v>
                </c:pt>
                <c:pt idx="8935">
                  <c:v>#N/A</c:v>
                </c:pt>
                <c:pt idx="8936">
                  <c:v>#N/A</c:v>
                </c:pt>
                <c:pt idx="8937">
                  <c:v>#N/A</c:v>
                </c:pt>
                <c:pt idx="8938">
                  <c:v>#N/A</c:v>
                </c:pt>
                <c:pt idx="8939">
                  <c:v>#N/A</c:v>
                </c:pt>
                <c:pt idx="8940">
                  <c:v>#N/A</c:v>
                </c:pt>
                <c:pt idx="8941">
                  <c:v>#N/A</c:v>
                </c:pt>
                <c:pt idx="8942">
                  <c:v>#N/A</c:v>
                </c:pt>
                <c:pt idx="8943">
                  <c:v>#N/A</c:v>
                </c:pt>
                <c:pt idx="8944">
                  <c:v>#N/A</c:v>
                </c:pt>
                <c:pt idx="8945">
                  <c:v>#N/A</c:v>
                </c:pt>
                <c:pt idx="8946">
                  <c:v>#N/A</c:v>
                </c:pt>
                <c:pt idx="8947">
                  <c:v>#N/A</c:v>
                </c:pt>
                <c:pt idx="8948">
                  <c:v>#N/A</c:v>
                </c:pt>
                <c:pt idx="8949">
                  <c:v>#N/A</c:v>
                </c:pt>
                <c:pt idx="8950">
                  <c:v>#N/A</c:v>
                </c:pt>
                <c:pt idx="8951">
                  <c:v>#N/A</c:v>
                </c:pt>
                <c:pt idx="8952">
                  <c:v>#N/A</c:v>
                </c:pt>
                <c:pt idx="8953">
                  <c:v>#N/A</c:v>
                </c:pt>
                <c:pt idx="8954">
                  <c:v>#N/A</c:v>
                </c:pt>
                <c:pt idx="8955">
                  <c:v>#N/A</c:v>
                </c:pt>
                <c:pt idx="8956">
                  <c:v>#N/A</c:v>
                </c:pt>
                <c:pt idx="8957">
                  <c:v>#N/A</c:v>
                </c:pt>
                <c:pt idx="8958">
                  <c:v>#N/A</c:v>
                </c:pt>
                <c:pt idx="8959">
                  <c:v>#N/A</c:v>
                </c:pt>
                <c:pt idx="8960">
                  <c:v>#N/A</c:v>
                </c:pt>
                <c:pt idx="8961">
                  <c:v>#N/A</c:v>
                </c:pt>
                <c:pt idx="8962">
                  <c:v>#N/A</c:v>
                </c:pt>
                <c:pt idx="8963">
                  <c:v>#N/A</c:v>
                </c:pt>
                <c:pt idx="8964">
                  <c:v>#N/A</c:v>
                </c:pt>
                <c:pt idx="8965">
                  <c:v>#N/A</c:v>
                </c:pt>
                <c:pt idx="8966">
                  <c:v>#N/A</c:v>
                </c:pt>
                <c:pt idx="8967">
                  <c:v>#N/A</c:v>
                </c:pt>
                <c:pt idx="8968">
                  <c:v>#N/A</c:v>
                </c:pt>
                <c:pt idx="8969">
                  <c:v>#N/A</c:v>
                </c:pt>
                <c:pt idx="8970">
                  <c:v>#N/A</c:v>
                </c:pt>
                <c:pt idx="8971">
                  <c:v>#N/A</c:v>
                </c:pt>
                <c:pt idx="8972">
                  <c:v>#N/A</c:v>
                </c:pt>
                <c:pt idx="8973">
                  <c:v>#N/A</c:v>
                </c:pt>
                <c:pt idx="8974">
                  <c:v>#N/A</c:v>
                </c:pt>
                <c:pt idx="8975">
                  <c:v>#N/A</c:v>
                </c:pt>
                <c:pt idx="8976">
                  <c:v>#N/A</c:v>
                </c:pt>
                <c:pt idx="8977">
                  <c:v>#N/A</c:v>
                </c:pt>
                <c:pt idx="8978">
                  <c:v>#N/A</c:v>
                </c:pt>
                <c:pt idx="8979">
                  <c:v>#N/A</c:v>
                </c:pt>
                <c:pt idx="8980">
                  <c:v>#N/A</c:v>
                </c:pt>
                <c:pt idx="8981">
                  <c:v>#N/A</c:v>
                </c:pt>
                <c:pt idx="8982">
                  <c:v>#N/A</c:v>
                </c:pt>
                <c:pt idx="8983">
                  <c:v>#N/A</c:v>
                </c:pt>
                <c:pt idx="8984">
                  <c:v>#N/A</c:v>
                </c:pt>
                <c:pt idx="8985">
                  <c:v>#N/A</c:v>
                </c:pt>
                <c:pt idx="8986">
                  <c:v>#N/A</c:v>
                </c:pt>
                <c:pt idx="8987">
                  <c:v>#N/A</c:v>
                </c:pt>
                <c:pt idx="8988">
                  <c:v>#N/A</c:v>
                </c:pt>
                <c:pt idx="8989">
                  <c:v>#N/A</c:v>
                </c:pt>
                <c:pt idx="8990">
                  <c:v>#N/A</c:v>
                </c:pt>
                <c:pt idx="8991">
                  <c:v>#N/A</c:v>
                </c:pt>
                <c:pt idx="8992">
                  <c:v>#N/A</c:v>
                </c:pt>
                <c:pt idx="8993">
                  <c:v>#N/A</c:v>
                </c:pt>
                <c:pt idx="8994">
                  <c:v>#N/A</c:v>
                </c:pt>
                <c:pt idx="8995">
                  <c:v>#N/A</c:v>
                </c:pt>
                <c:pt idx="8996">
                  <c:v>#N/A</c:v>
                </c:pt>
                <c:pt idx="8997">
                  <c:v>#N/A</c:v>
                </c:pt>
                <c:pt idx="8998">
                  <c:v>#N/A</c:v>
                </c:pt>
                <c:pt idx="8999">
                  <c:v>#N/A</c:v>
                </c:pt>
                <c:pt idx="9000">
                  <c:v>#N/A</c:v>
                </c:pt>
                <c:pt idx="9001">
                  <c:v>#N/A</c:v>
                </c:pt>
                <c:pt idx="9002">
                  <c:v>#N/A</c:v>
                </c:pt>
              </c:numCache>
            </c:numRef>
          </c:val>
          <c:smooth val="0"/>
          <c:extLst>
            <c:ext xmlns:c16="http://schemas.microsoft.com/office/drawing/2014/chart" uri="{C3380CC4-5D6E-409C-BE32-E72D297353CC}">
              <c16:uniqueId val="{00000003-A532-4454-A4D7-247BBE0C245B}"/>
            </c:ext>
          </c:extLst>
        </c:ser>
        <c:dLbls>
          <c:showLegendKey val="0"/>
          <c:showVal val="0"/>
          <c:showCatName val="0"/>
          <c:showSerName val="0"/>
          <c:showPercent val="0"/>
          <c:showBubbleSize val="0"/>
        </c:dLbls>
        <c:marker val="1"/>
        <c:smooth val="0"/>
        <c:axId val="861049440"/>
        <c:axId val="861067936"/>
      </c:lineChart>
      <c:dateAx>
        <c:axId val="861049440"/>
        <c:scaling>
          <c:orientation val="minMax"/>
          <c:max val="45565"/>
          <c:min val="29128"/>
        </c:scaling>
        <c:delete val="0"/>
        <c:axPos val="b"/>
        <c:majorGridlines>
          <c:spPr>
            <a:ln>
              <a:noFill/>
            </a:ln>
          </c:spPr>
        </c:majorGridlines>
        <c:numFmt formatCode="[$-409]mmm\-yy;@" sourceLinked="0"/>
        <c:majorTickMark val="out"/>
        <c:minorTickMark val="none"/>
        <c:tickLblPos val="nextTo"/>
        <c:spPr>
          <a:ln>
            <a:solidFill>
              <a:sysClr val="window" lastClr="FFFFFF">
                <a:lumMod val="85000"/>
              </a:sysClr>
            </a:solidFill>
          </a:ln>
        </c:spPr>
        <c:txPr>
          <a:bodyPr rot="0" vert="horz"/>
          <a:lstStyle/>
          <a:p>
            <a:pPr algn="ctr">
              <a:defRPr lang="en-US" sz="900" b="0" i="0" u="none" strike="noStrike" kern="1200" cap="all" baseline="0">
                <a:solidFill>
                  <a:schemeClr val="bg1"/>
                </a:solidFill>
                <a:latin typeface="Poppins" panose="00000500000000000000" pitchFamily="2" charset="0"/>
                <a:ea typeface="+mn-ea"/>
                <a:cs typeface="Poppins" panose="00000500000000000000" pitchFamily="2" charset="0"/>
              </a:defRPr>
            </a:pPr>
            <a:endParaRPr lang="en-US"/>
          </a:p>
        </c:txPr>
        <c:crossAx val="861067936"/>
        <c:crosses val="autoZero"/>
        <c:auto val="1"/>
        <c:lblOffset val="100"/>
        <c:baseTimeUnit val="days"/>
        <c:majorUnit val="9"/>
        <c:majorTimeUnit val="years"/>
        <c:minorUnit val="1"/>
        <c:minorTimeUnit val="months"/>
      </c:dateAx>
      <c:valAx>
        <c:axId val="861067936"/>
        <c:scaling>
          <c:orientation val="minMax"/>
          <c:max val="0.35000000000000003"/>
          <c:min val="0"/>
        </c:scaling>
        <c:delete val="0"/>
        <c:axPos val="l"/>
        <c:majorGridlines>
          <c:spPr>
            <a:ln>
              <a:solidFill>
                <a:srgbClr val="D9D9D9">
                  <a:alpha val="72157"/>
                </a:srgbClr>
              </a:solidFill>
            </a:ln>
          </c:spPr>
        </c:majorGridlines>
        <c:numFmt formatCode="0%" sourceLinked="0"/>
        <c:majorTickMark val="out"/>
        <c:minorTickMark val="none"/>
        <c:tickLblPos val="nextTo"/>
        <c:spPr>
          <a:ln>
            <a:solidFill>
              <a:sysClr val="window" lastClr="FFFFFF">
                <a:lumMod val="85000"/>
              </a:sysClr>
            </a:solidFill>
          </a:ln>
        </c:spPr>
        <c:txPr>
          <a:bodyPr/>
          <a:lstStyle/>
          <a:p>
            <a:pPr algn="ct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861049440"/>
        <c:crosses val="autoZero"/>
        <c:crossBetween val="between"/>
        <c:majorUnit val="7.0000000000000007E-2"/>
      </c:valAx>
      <c:spPr>
        <a:noFill/>
        <a:ln w="25400">
          <a:noFill/>
        </a:ln>
      </c:spPr>
    </c:plotArea>
    <c:plotVisOnly val="1"/>
    <c:dispBlanksAs val="gap"/>
    <c:showDLblsOverMax val="0"/>
  </c:chart>
  <c:spPr>
    <a:solidFill>
      <a:srgbClr val="2B3E59"/>
    </a:solidFill>
    <a:ln>
      <a:noFill/>
    </a:ln>
  </c:spPr>
  <c:txPr>
    <a:bodyPr/>
    <a:lstStyle/>
    <a:p>
      <a:pPr>
        <a:defRPr>
          <a:latin typeface="Poppins" panose="00000500000000000000" pitchFamily="2" charset="0"/>
          <a:cs typeface="Poppins" panose="00000500000000000000" pitchFamily="2" charset="0"/>
        </a:defRPr>
      </a:pPr>
      <a:endParaRPr lang="en-US"/>
    </a:p>
  </c:txPr>
  <c:externalData r:id="rId2">
    <c:autoUpdate val="1"/>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68865991587191"/>
          <c:y val="0.19600726776372873"/>
          <c:w val="0.77705336940169645"/>
          <c:h val="0.65895691980411164"/>
        </c:manualLayout>
      </c:layout>
      <c:barChart>
        <c:barDir val="col"/>
        <c:grouping val="clustered"/>
        <c:varyColors val="0"/>
        <c:ser>
          <c:idx val="0"/>
          <c:order val="3"/>
          <c:tx>
            <c:strRef>
              <c:f>'Page 6 Data'!$V$5</c:f>
              <c:strCache>
                <c:ptCount val="1"/>
                <c:pt idx="0">
                  <c:v>US RECESSION</c:v>
                </c:pt>
              </c:strCache>
            </c:strRef>
          </c:tx>
          <c:spPr>
            <a:solidFill>
              <a:srgbClr val="5891A6">
                <a:alpha val="60000"/>
              </a:srgbClr>
            </a:solidFill>
            <a:ln>
              <a:solidFill>
                <a:srgbClr val="5891A6">
                  <a:alpha val="91000"/>
                </a:srgbClr>
              </a:solidFill>
            </a:ln>
          </c:spPr>
          <c:invertIfNegative val="0"/>
          <c:cat>
            <c:numRef>
              <c:f>'Page 6 Data'!$AB$7:$AB$549</c:f>
              <c:numCache>
                <c:formatCode>[$-409]mmm\-yy;@</c:formatCode>
                <c:ptCount val="543"/>
                <c:pt idx="0">
                  <c:v>28521</c:v>
                </c:pt>
                <c:pt idx="1">
                  <c:v>28549</c:v>
                </c:pt>
                <c:pt idx="2">
                  <c:v>28580</c:v>
                </c:pt>
                <c:pt idx="3">
                  <c:v>28610</c:v>
                </c:pt>
                <c:pt idx="4">
                  <c:v>28641</c:v>
                </c:pt>
                <c:pt idx="5">
                  <c:v>28671</c:v>
                </c:pt>
                <c:pt idx="6">
                  <c:v>28702</c:v>
                </c:pt>
                <c:pt idx="7">
                  <c:v>28733</c:v>
                </c:pt>
                <c:pt idx="8">
                  <c:v>28763</c:v>
                </c:pt>
                <c:pt idx="9">
                  <c:v>28794</c:v>
                </c:pt>
                <c:pt idx="10">
                  <c:v>28824</c:v>
                </c:pt>
                <c:pt idx="11">
                  <c:v>28855</c:v>
                </c:pt>
                <c:pt idx="12">
                  <c:v>28886</c:v>
                </c:pt>
                <c:pt idx="13">
                  <c:v>28914</c:v>
                </c:pt>
                <c:pt idx="14">
                  <c:v>28945</c:v>
                </c:pt>
                <c:pt idx="15">
                  <c:v>28975</c:v>
                </c:pt>
                <c:pt idx="16">
                  <c:v>29006</c:v>
                </c:pt>
                <c:pt idx="17">
                  <c:v>29036</c:v>
                </c:pt>
                <c:pt idx="18">
                  <c:v>29067</c:v>
                </c:pt>
                <c:pt idx="19">
                  <c:v>29098</c:v>
                </c:pt>
                <c:pt idx="20">
                  <c:v>29128</c:v>
                </c:pt>
                <c:pt idx="21">
                  <c:v>29159</c:v>
                </c:pt>
                <c:pt idx="22">
                  <c:v>29189</c:v>
                </c:pt>
                <c:pt idx="23">
                  <c:v>29220</c:v>
                </c:pt>
                <c:pt idx="24">
                  <c:v>29251</c:v>
                </c:pt>
                <c:pt idx="25">
                  <c:v>29280</c:v>
                </c:pt>
                <c:pt idx="26">
                  <c:v>29311</c:v>
                </c:pt>
                <c:pt idx="27">
                  <c:v>29341</c:v>
                </c:pt>
                <c:pt idx="28">
                  <c:v>29372</c:v>
                </c:pt>
                <c:pt idx="29">
                  <c:v>29402</c:v>
                </c:pt>
                <c:pt idx="30">
                  <c:v>29433</c:v>
                </c:pt>
                <c:pt idx="31">
                  <c:v>29464</c:v>
                </c:pt>
                <c:pt idx="32">
                  <c:v>29494</c:v>
                </c:pt>
                <c:pt idx="33">
                  <c:v>29525</c:v>
                </c:pt>
                <c:pt idx="34">
                  <c:v>29555</c:v>
                </c:pt>
                <c:pt idx="35">
                  <c:v>29586</c:v>
                </c:pt>
                <c:pt idx="36">
                  <c:v>29617</c:v>
                </c:pt>
                <c:pt idx="37">
                  <c:v>29645</c:v>
                </c:pt>
                <c:pt idx="38">
                  <c:v>29676</c:v>
                </c:pt>
                <c:pt idx="39">
                  <c:v>29706</c:v>
                </c:pt>
                <c:pt idx="40">
                  <c:v>29737</c:v>
                </c:pt>
                <c:pt idx="41">
                  <c:v>29767</c:v>
                </c:pt>
                <c:pt idx="42">
                  <c:v>29798</c:v>
                </c:pt>
                <c:pt idx="43">
                  <c:v>29829</c:v>
                </c:pt>
                <c:pt idx="44">
                  <c:v>29859</c:v>
                </c:pt>
                <c:pt idx="45">
                  <c:v>29890</c:v>
                </c:pt>
                <c:pt idx="46">
                  <c:v>29920</c:v>
                </c:pt>
                <c:pt idx="47">
                  <c:v>29951</c:v>
                </c:pt>
                <c:pt idx="48">
                  <c:v>29982</c:v>
                </c:pt>
                <c:pt idx="49">
                  <c:v>30010</c:v>
                </c:pt>
                <c:pt idx="50">
                  <c:v>30041</c:v>
                </c:pt>
                <c:pt idx="51">
                  <c:v>30071</c:v>
                </c:pt>
                <c:pt idx="52">
                  <c:v>30102</c:v>
                </c:pt>
                <c:pt idx="53">
                  <c:v>30132</c:v>
                </c:pt>
                <c:pt idx="54">
                  <c:v>30163</c:v>
                </c:pt>
                <c:pt idx="55">
                  <c:v>30194</c:v>
                </c:pt>
                <c:pt idx="56">
                  <c:v>30224</c:v>
                </c:pt>
                <c:pt idx="57">
                  <c:v>30255</c:v>
                </c:pt>
                <c:pt idx="58">
                  <c:v>30285</c:v>
                </c:pt>
                <c:pt idx="59">
                  <c:v>30316</c:v>
                </c:pt>
                <c:pt idx="60">
                  <c:v>30347</c:v>
                </c:pt>
                <c:pt idx="61">
                  <c:v>30375</c:v>
                </c:pt>
                <c:pt idx="62">
                  <c:v>30406</c:v>
                </c:pt>
                <c:pt idx="63">
                  <c:v>30436</c:v>
                </c:pt>
                <c:pt idx="64">
                  <c:v>30467</c:v>
                </c:pt>
                <c:pt idx="65">
                  <c:v>30497</c:v>
                </c:pt>
                <c:pt idx="66">
                  <c:v>30528</c:v>
                </c:pt>
                <c:pt idx="67">
                  <c:v>30559</c:v>
                </c:pt>
                <c:pt idx="68">
                  <c:v>30589</c:v>
                </c:pt>
                <c:pt idx="69">
                  <c:v>30620</c:v>
                </c:pt>
                <c:pt idx="70">
                  <c:v>30650</c:v>
                </c:pt>
                <c:pt idx="71">
                  <c:v>30681</c:v>
                </c:pt>
                <c:pt idx="72">
                  <c:v>30712</c:v>
                </c:pt>
                <c:pt idx="73">
                  <c:v>30741</c:v>
                </c:pt>
                <c:pt idx="74">
                  <c:v>30772</c:v>
                </c:pt>
                <c:pt idx="75">
                  <c:v>30802</c:v>
                </c:pt>
                <c:pt idx="76">
                  <c:v>30833</c:v>
                </c:pt>
                <c:pt idx="77">
                  <c:v>30863</c:v>
                </c:pt>
                <c:pt idx="78">
                  <c:v>30894</c:v>
                </c:pt>
                <c:pt idx="79">
                  <c:v>30925</c:v>
                </c:pt>
                <c:pt idx="80">
                  <c:v>30955</c:v>
                </c:pt>
                <c:pt idx="81">
                  <c:v>30986</c:v>
                </c:pt>
                <c:pt idx="82">
                  <c:v>31016</c:v>
                </c:pt>
                <c:pt idx="83">
                  <c:v>31047</c:v>
                </c:pt>
                <c:pt idx="84">
                  <c:v>31078</c:v>
                </c:pt>
                <c:pt idx="85">
                  <c:v>31106</c:v>
                </c:pt>
                <c:pt idx="86">
                  <c:v>31137</c:v>
                </c:pt>
                <c:pt idx="87">
                  <c:v>31167</c:v>
                </c:pt>
                <c:pt idx="88">
                  <c:v>31198</c:v>
                </c:pt>
                <c:pt idx="89">
                  <c:v>31228</c:v>
                </c:pt>
                <c:pt idx="90">
                  <c:v>31259</c:v>
                </c:pt>
                <c:pt idx="91">
                  <c:v>31290</c:v>
                </c:pt>
                <c:pt idx="92">
                  <c:v>31320</c:v>
                </c:pt>
                <c:pt idx="93">
                  <c:v>31351</c:v>
                </c:pt>
                <c:pt idx="94">
                  <c:v>31381</c:v>
                </c:pt>
                <c:pt idx="95">
                  <c:v>31412</c:v>
                </c:pt>
                <c:pt idx="96">
                  <c:v>31443</c:v>
                </c:pt>
                <c:pt idx="97">
                  <c:v>31471</c:v>
                </c:pt>
                <c:pt idx="98">
                  <c:v>31502</c:v>
                </c:pt>
                <c:pt idx="99">
                  <c:v>31532</c:v>
                </c:pt>
                <c:pt idx="100">
                  <c:v>31563</c:v>
                </c:pt>
                <c:pt idx="101">
                  <c:v>31593</c:v>
                </c:pt>
                <c:pt idx="102">
                  <c:v>31624</c:v>
                </c:pt>
                <c:pt idx="103">
                  <c:v>31655</c:v>
                </c:pt>
                <c:pt idx="104">
                  <c:v>31685</c:v>
                </c:pt>
                <c:pt idx="105">
                  <c:v>31716</c:v>
                </c:pt>
                <c:pt idx="106">
                  <c:v>31746</c:v>
                </c:pt>
                <c:pt idx="107">
                  <c:v>31777</c:v>
                </c:pt>
                <c:pt idx="108">
                  <c:v>31808</c:v>
                </c:pt>
                <c:pt idx="109">
                  <c:v>31836</c:v>
                </c:pt>
                <c:pt idx="110">
                  <c:v>31867</c:v>
                </c:pt>
                <c:pt idx="111">
                  <c:v>31897</c:v>
                </c:pt>
                <c:pt idx="112">
                  <c:v>31928</c:v>
                </c:pt>
                <c:pt idx="113">
                  <c:v>31958</c:v>
                </c:pt>
                <c:pt idx="114">
                  <c:v>31989</c:v>
                </c:pt>
                <c:pt idx="115">
                  <c:v>32020</c:v>
                </c:pt>
                <c:pt idx="116">
                  <c:v>32050</c:v>
                </c:pt>
                <c:pt idx="117">
                  <c:v>32081</c:v>
                </c:pt>
                <c:pt idx="118">
                  <c:v>32111</c:v>
                </c:pt>
                <c:pt idx="119">
                  <c:v>32142</c:v>
                </c:pt>
                <c:pt idx="120">
                  <c:v>32173</c:v>
                </c:pt>
                <c:pt idx="121">
                  <c:v>32202</c:v>
                </c:pt>
                <c:pt idx="122">
                  <c:v>32233</c:v>
                </c:pt>
                <c:pt idx="123">
                  <c:v>32263</c:v>
                </c:pt>
                <c:pt idx="124">
                  <c:v>32294</c:v>
                </c:pt>
                <c:pt idx="125">
                  <c:v>32324</c:v>
                </c:pt>
                <c:pt idx="126">
                  <c:v>32355</c:v>
                </c:pt>
                <c:pt idx="127">
                  <c:v>32386</c:v>
                </c:pt>
                <c:pt idx="128">
                  <c:v>32416</c:v>
                </c:pt>
                <c:pt idx="129">
                  <c:v>32447</c:v>
                </c:pt>
                <c:pt idx="130">
                  <c:v>32477</c:v>
                </c:pt>
                <c:pt idx="131">
                  <c:v>32508</c:v>
                </c:pt>
                <c:pt idx="132">
                  <c:v>32539</c:v>
                </c:pt>
                <c:pt idx="133">
                  <c:v>32567</c:v>
                </c:pt>
                <c:pt idx="134">
                  <c:v>32598</c:v>
                </c:pt>
                <c:pt idx="135">
                  <c:v>32628</c:v>
                </c:pt>
                <c:pt idx="136">
                  <c:v>32659</c:v>
                </c:pt>
                <c:pt idx="137">
                  <c:v>32689</c:v>
                </c:pt>
                <c:pt idx="138">
                  <c:v>32720</c:v>
                </c:pt>
                <c:pt idx="139">
                  <c:v>32751</c:v>
                </c:pt>
                <c:pt idx="140">
                  <c:v>32781</c:v>
                </c:pt>
                <c:pt idx="141">
                  <c:v>32812</c:v>
                </c:pt>
                <c:pt idx="142">
                  <c:v>32842</c:v>
                </c:pt>
                <c:pt idx="143">
                  <c:v>32873</c:v>
                </c:pt>
                <c:pt idx="144">
                  <c:v>32904</c:v>
                </c:pt>
                <c:pt idx="145">
                  <c:v>32932</c:v>
                </c:pt>
                <c:pt idx="146">
                  <c:v>32963</c:v>
                </c:pt>
                <c:pt idx="147">
                  <c:v>32993</c:v>
                </c:pt>
                <c:pt idx="148">
                  <c:v>33024</c:v>
                </c:pt>
                <c:pt idx="149">
                  <c:v>33054</c:v>
                </c:pt>
                <c:pt idx="150">
                  <c:v>33085</c:v>
                </c:pt>
                <c:pt idx="151">
                  <c:v>33116</c:v>
                </c:pt>
                <c:pt idx="152">
                  <c:v>33146</c:v>
                </c:pt>
                <c:pt idx="153">
                  <c:v>33177</c:v>
                </c:pt>
                <c:pt idx="154">
                  <c:v>33207</c:v>
                </c:pt>
                <c:pt idx="155">
                  <c:v>33238</c:v>
                </c:pt>
                <c:pt idx="156">
                  <c:v>33269</c:v>
                </c:pt>
                <c:pt idx="157">
                  <c:v>33297</c:v>
                </c:pt>
                <c:pt idx="158">
                  <c:v>33328</c:v>
                </c:pt>
                <c:pt idx="159">
                  <c:v>33358</c:v>
                </c:pt>
                <c:pt idx="160">
                  <c:v>33389</c:v>
                </c:pt>
                <c:pt idx="161">
                  <c:v>33419</c:v>
                </c:pt>
                <c:pt idx="162">
                  <c:v>33450</c:v>
                </c:pt>
                <c:pt idx="163">
                  <c:v>33481</c:v>
                </c:pt>
                <c:pt idx="164">
                  <c:v>33511</c:v>
                </c:pt>
                <c:pt idx="165">
                  <c:v>33542</c:v>
                </c:pt>
                <c:pt idx="166">
                  <c:v>33572</c:v>
                </c:pt>
                <c:pt idx="167">
                  <c:v>33603</c:v>
                </c:pt>
                <c:pt idx="168">
                  <c:v>33634</c:v>
                </c:pt>
                <c:pt idx="169">
                  <c:v>33663</c:v>
                </c:pt>
                <c:pt idx="170">
                  <c:v>33694</c:v>
                </c:pt>
                <c:pt idx="171">
                  <c:v>33724</c:v>
                </c:pt>
                <c:pt idx="172">
                  <c:v>33755</c:v>
                </c:pt>
                <c:pt idx="173">
                  <c:v>33785</c:v>
                </c:pt>
                <c:pt idx="174">
                  <c:v>33816</c:v>
                </c:pt>
                <c:pt idx="175">
                  <c:v>33847</c:v>
                </c:pt>
                <c:pt idx="176">
                  <c:v>33877</c:v>
                </c:pt>
                <c:pt idx="177">
                  <c:v>33908</c:v>
                </c:pt>
                <c:pt idx="178">
                  <c:v>33938</c:v>
                </c:pt>
                <c:pt idx="179">
                  <c:v>33969</c:v>
                </c:pt>
                <c:pt idx="180">
                  <c:v>34000</c:v>
                </c:pt>
                <c:pt idx="181">
                  <c:v>34028</c:v>
                </c:pt>
                <c:pt idx="182">
                  <c:v>34059</c:v>
                </c:pt>
                <c:pt idx="183">
                  <c:v>34089</c:v>
                </c:pt>
                <c:pt idx="184">
                  <c:v>34120</c:v>
                </c:pt>
                <c:pt idx="185">
                  <c:v>34150</c:v>
                </c:pt>
                <c:pt idx="186">
                  <c:v>34181</c:v>
                </c:pt>
                <c:pt idx="187">
                  <c:v>34212</c:v>
                </c:pt>
                <c:pt idx="188">
                  <c:v>34242</c:v>
                </c:pt>
                <c:pt idx="189">
                  <c:v>34273</c:v>
                </c:pt>
                <c:pt idx="190">
                  <c:v>34303</c:v>
                </c:pt>
                <c:pt idx="191">
                  <c:v>34334</c:v>
                </c:pt>
                <c:pt idx="192">
                  <c:v>34365</c:v>
                </c:pt>
                <c:pt idx="193">
                  <c:v>34393</c:v>
                </c:pt>
                <c:pt idx="194">
                  <c:v>34424</c:v>
                </c:pt>
                <c:pt idx="195">
                  <c:v>34454</c:v>
                </c:pt>
                <c:pt idx="196">
                  <c:v>34485</c:v>
                </c:pt>
                <c:pt idx="197">
                  <c:v>34515</c:v>
                </c:pt>
                <c:pt idx="198">
                  <c:v>34546</c:v>
                </c:pt>
                <c:pt idx="199">
                  <c:v>34577</c:v>
                </c:pt>
                <c:pt idx="200">
                  <c:v>34607</c:v>
                </c:pt>
                <c:pt idx="201">
                  <c:v>34638</c:v>
                </c:pt>
                <c:pt idx="202">
                  <c:v>34668</c:v>
                </c:pt>
                <c:pt idx="203">
                  <c:v>34699</c:v>
                </c:pt>
                <c:pt idx="204">
                  <c:v>34730</c:v>
                </c:pt>
                <c:pt idx="205">
                  <c:v>34758</c:v>
                </c:pt>
                <c:pt idx="206">
                  <c:v>34789</c:v>
                </c:pt>
                <c:pt idx="207">
                  <c:v>34819</c:v>
                </c:pt>
                <c:pt idx="208">
                  <c:v>34850</c:v>
                </c:pt>
                <c:pt idx="209">
                  <c:v>34880</c:v>
                </c:pt>
                <c:pt idx="210">
                  <c:v>34911</c:v>
                </c:pt>
                <c:pt idx="211">
                  <c:v>34942</c:v>
                </c:pt>
                <c:pt idx="212">
                  <c:v>34972</c:v>
                </c:pt>
                <c:pt idx="213">
                  <c:v>35003</c:v>
                </c:pt>
                <c:pt idx="214">
                  <c:v>35033</c:v>
                </c:pt>
                <c:pt idx="215">
                  <c:v>35064</c:v>
                </c:pt>
                <c:pt idx="216">
                  <c:v>35095</c:v>
                </c:pt>
                <c:pt idx="217">
                  <c:v>35124</c:v>
                </c:pt>
                <c:pt idx="218">
                  <c:v>35155</c:v>
                </c:pt>
                <c:pt idx="219">
                  <c:v>35185</c:v>
                </c:pt>
                <c:pt idx="220">
                  <c:v>35216</c:v>
                </c:pt>
                <c:pt idx="221">
                  <c:v>35246</c:v>
                </c:pt>
                <c:pt idx="222">
                  <c:v>35277</c:v>
                </c:pt>
                <c:pt idx="223">
                  <c:v>35308</c:v>
                </c:pt>
                <c:pt idx="224">
                  <c:v>35338</c:v>
                </c:pt>
                <c:pt idx="225">
                  <c:v>35369</c:v>
                </c:pt>
                <c:pt idx="226">
                  <c:v>35399</c:v>
                </c:pt>
                <c:pt idx="227">
                  <c:v>35430</c:v>
                </c:pt>
                <c:pt idx="228">
                  <c:v>35461</c:v>
                </c:pt>
                <c:pt idx="229">
                  <c:v>35489</c:v>
                </c:pt>
                <c:pt idx="230">
                  <c:v>35520</c:v>
                </c:pt>
                <c:pt idx="231">
                  <c:v>35550</c:v>
                </c:pt>
                <c:pt idx="232">
                  <c:v>35581</c:v>
                </c:pt>
                <c:pt idx="233">
                  <c:v>35611</c:v>
                </c:pt>
                <c:pt idx="234">
                  <c:v>35642</c:v>
                </c:pt>
                <c:pt idx="235">
                  <c:v>35673</c:v>
                </c:pt>
                <c:pt idx="236">
                  <c:v>35703</c:v>
                </c:pt>
                <c:pt idx="237">
                  <c:v>35734</c:v>
                </c:pt>
                <c:pt idx="238">
                  <c:v>35764</c:v>
                </c:pt>
                <c:pt idx="239">
                  <c:v>35795</c:v>
                </c:pt>
                <c:pt idx="240">
                  <c:v>35826</c:v>
                </c:pt>
                <c:pt idx="241">
                  <c:v>35854</c:v>
                </c:pt>
                <c:pt idx="242">
                  <c:v>35885</c:v>
                </c:pt>
                <c:pt idx="243">
                  <c:v>35915</c:v>
                </c:pt>
                <c:pt idx="244">
                  <c:v>35946</c:v>
                </c:pt>
                <c:pt idx="245">
                  <c:v>35976</c:v>
                </c:pt>
                <c:pt idx="246">
                  <c:v>36007</c:v>
                </c:pt>
                <c:pt idx="247">
                  <c:v>36038</c:v>
                </c:pt>
                <c:pt idx="248">
                  <c:v>36068</c:v>
                </c:pt>
                <c:pt idx="249">
                  <c:v>36099</c:v>
                </c:pt>
                <c:pt idx="250">
                  <c:v>36129</c:v>
                </c:pt>
                <c:pt idx="251">
                  <c:v>36160</c:v>
                </c:pt>
                <c:pt idx="252">
                  <c:v>36191</c:v>
                </c:pt>
                <c:pt idx="253">
                  <c:v>36219</c:v>
                </c:pt>
                <c:pt idx="254">
                  <c:v>36250</c:v>
                </c:pt>
                <c:pt idx="255">
                  <c:v>36280</c:v>
                </c:pt>
                <c:pt idx="256">
                  <c:v>36311</c:v>
                </c:pt>
                <c:pt idx="257">
                  <c:v>36341</c:v>
                </c:pt>
                <c:pt idx="258">
                  <c:v>36372</c:v>
                </c:pt>
                <c:pt idx="259">
                  <c:v>36403</c:v>
                </c:pt>
                <c:pt idx="260">
                  <c:v>36433</c:v>
                </c:pt>
                <c:pt idx="261">
                  <c:v>36464</c:v>
                </c:pt>
                <c:pt idx="262">
                  <c:v>36494</c:v>
                </c:pt>
                <c:pt idx="263">
                  <c:v>36525</c:v>
                </c:pt>
                <c:pt idx="264">
                  <c:v>36556</c:v>
                </c:pt>
                <c:pt idx="265">
                  <c:v>36585</c:v>
                </c:pt>
                <c:pt idx="266">
                  <c:v>36616</c:v>
                </c:pt>
                <c:pt idx="267">
                  <c:v>36646</c:v>
                </c:pt>
                <c:pt idx="268">
                  <c:v>36677</c:v>
                </c:pt>
                <c:pt idx="269">
                  <c:v>36707</c:v>
                </c:pt>
                <c:pt idx="270">
                  <c:v>36738</c:v>
                </c:pt>
                <c:pt idx="271">
                  <c:v>36769</c:v>
                </c:pt>
                <c:pt idx="272">
                  <c:v>36799</c:v>
                </c:pt>
                <c:pt idx="273">
                  <c:v>36830</c:v>
                </c:pt>
                <c:pt idx="274">
                  <c:v>36860</c:v>
                </c:pt>
                <c:pt idx="275">
                  <c:v>36891</c:v>
                </c:pt>
                <c:pt idx="276">
                  <c:v>36922</c:v>
                </c:pt>
                <c:pt idx="277">
                  <c:v>36950</c:v>
                </c:pt>
                <c:pt idx="278">
                  <c:v>36981</c:v>
                </c:pt>
                <c:pt idx="279">
                  <c:v>37011</c:v>
                </c:pt>
                <c:pt idx="280">
                  <c:v>37042</c:v>
                </c:pt>
                <c:pt idx="281">
                  <c:v>37072</c:v>
                </c:pt>
                <c:pt idx="282">
                  <c:v>37103</c:v>
                </c:pt>
                <c:pt idx="283">
                  <c:v>37134</c:v>
                </c:pt>
                <c:pt idx="284">
                  <c:v>37164</c:v>
                </c:pt>
                <c:pt idx="285">
                  <c:v>37195</c:v>
                </c:pt>
                <c:pt idx="286">
                  <c:v>37225</c:v>
                </c:pt>
                <c:pt idx="287">
                  <c:v>37256</c:v>
                </c:pt>
                <c:pt idx="288">
                  <c:v>37287</c:v>
                </c:pt>
                <c:pt idx="289">
                  <c:v>37315</c:v>
                </c:pt>
                <c:pt idx="290">
                  <c:v>37346</c:v>
                </c:pt>
                <c:pt idx="291">
                  <c:v>37376</c:v>
                </c:pt>
                <c:pt idx="292">
                  <c:v>37407</c:v>
                </c:pt>
                <c:pt idx="293">
                  <c:v>37437</c:v>
                </c:pt>
                <c:pt idx="294">
                  <c:v>37468</c:v>
                </c:pt>
                <c:pt idx="295">
                  <c:v>37499</c:v>
                </c:pt>
                <c:pt idx="296">
                  <c:v>37529</c:v>
                </c:pt>
                <c:pt idx="297">
                  <c:v>37560</c:v>
                </c:pt>
                <c:pt idx="298">
                  <c:v>37590</c:v>
                </c:pt>
                <c:pt idx="299">
                  <c:v>37621</c:v>
                </c:pt>
                <c:pt idx="300">
                  <c:v>37652</c:v>
                </c:pt>
                <c:pt idx="301">
                  <c:v>37680</c:v>
                </c:pt>
                <c:pt idx="302">
                  <c:v>37711</c:v>
                </c:pt>
                <c:pt idx="303">
                  <c:v>37741</c:v>
                </c:pt>
                <c:pt idx="304">
                  <c:v>37772</c:v>
                </c:pt>
                <c:pt idx="305">
                  <c:v>37802</c:v>
                </c:pt>
                <c:pt idx="306">
                  <c:v>37833</c:v>
                </c:pt>
                <c:pt idx="307">
                  <c:v>37864</c:v>
                </c:pt>
                <c:pt idx="308">
                  <c:v>37894</c:v>
                </c:pt>
                <c:pt idx="309">
                  <c:v>37925</c:v>
                </c:pt>
                <c:pt idx="310">
                  <c:v>37955</c:v>
                </c:pt>
                <c:pt idx="311">
                  <c:v>37986</c:v>
                </c:pt>
                <c:pt idx="312">
                  <c:v>38017</c:v>
                </c:pt>
                <c:pt idx="313">
                  <c:v>38046</c:v>
                </c:pt>
                <c:pt idx="314">
                  <c:v>38077</c:v>
                </c:pt>
                <c:pt idx="315">
                  <c:v>38107</c:v>
                </c:pt>
                <c:pt idx="316">
                  <c:v>38138</c:v>
                </c:pt>
                <c:pt idx="317">
                  <c:v>38168</c:v>
                </c:pt>
                <c:pt idx="318">
                  <c:v>38199</c:v>
                </c:pt>
                <c:pt idx="319">
                  <c:v>38230</c:v>
                </c:pt>
                <c:pt idx="320">
                  <c:v>38260</c:v>
                </c:pt>
                <c:pt idx="321">
                  <c:v>38291</c:v>
                </c:pt>
                <c:pt idx="322">
                  <c:v>38321</c:v>
                </c:pt>
                <c:pt idx="323">
                  <c:v>38352</c:v>
                </c:pt>
                <c:pt idx="324">
                  <c:v>38383</c:v>
                </c:pt>
                <c:pt idx="325">
                  <c:v>38411</c:v>
                </c:pt>
                <c:pt idx="326">
                  <c:v>38442</c:v>
                </c:pt>
                <c:pt idx="327">
                  <c:v>38472</c:v>
                </c:pt>
                <c:pt idx="328">
                  <c:v>38503</c:v>
                </c:pt>
                <c:pt idx="329">
                  <c:v>38533</c:v>
                </c:pt>
                <c:pt idx="330">
                  <c:v>38564</c:v>
                </c:pt>
                <c:pt idx="331">
                  <c:v>38595</c:v>
                </c:pt>
                <c:pt idx="332">
                  <c:v>38625</c:v>
                </c:pt>
                <c:pt idx="333">
                  <c:v>38656</c:v>
                </c:pt>
                <c:pt idx="334">
                  <c:v>38686</c:v>
                </c:pt>
                <c:pt idx="335">
                  <c:v>38717</c:v>
                </c:pt>
                <c:pt idx="336">
                  <c:v>38748</c:v>
                </c:pt>
                <c:pt idx="337">
                  <c:v>38776</c:v>
                </c:pt>
                <c:pt idx="338">
                  <c:v>38807</c:v>
                </c:pt>
                <c:pt idx="339">
                  <c:v>38837</c:v>
                </c:pt>
                <c:pt idx="340">
                  <c:v>38868</c:v>
                </c:pt>
                <c:pt idx="341">
                  <c:v>38898</c:v>
                </c:pt>
                <c:pt idx="342">
                  <c:v>38929</c:v>
                </c:pt>
                <c:pt idx="343">
                  <c:v>38960</c:v>
                </c:pt>
                <c:pt idx="344">
                  <c:v>38990</c:v>
                </c:pt>
                <c:pt idx="345">
                  <c:v>39021</c:v>
                </c:pt>
                <c:pt idx="346">
                  <c:v>39051</c:v>
                </c:pt>
                <c:pt idx="347">
                  <c:v>39082</c:v>
                </c:pt>
                <c:pt idx="348">
                  <c:v>39113</c:v>
                </c:pt>
                <c:pt idx="349">
                  <c:v>39141</c:v>
                </c:pt>
                <c:pt idx="350">
                  <c:v>39172</c:v>
                </c:pt>
                <c:pt idx="351">
                  <c:v>39202</c:v>
                </c:pt>
                <c:pt idx="352">
                  <c:v>39233</c:v>
                </c:pt>
                <c:pt idx="353">
                  <c:v>39263</c:v>
                </c:pt>
                <c:pt idx="354">
                  <c:v>39294</c:v>
                </c:pt>
                <c:pt idx="355">
                  <c:v>39325</c:v>
                </c:pt>
                <c:pt idx="356">
                  <c:v>39355</c:v>
                </c:pt>
                <c:pt idx="357">
                  <c:v>39386</c:v>
                </c:pt>
                <c:pt idx="358">
                  <c:v>39416</c:v>
                </c:pt>
                <c:pt idx="359">
                  <c:v>39447</c:v>
                </c:pt>
                <c:pt idx="360">
                  <c:v>39478</c:v>
                </c:pt>
                <c:pt idx="361">
                  <c:v>39507</c:v>
                </c:pt>
                <c:pt idx="362">
                  <c:v>39538</c:v>
                </c:pt>
                <c:pt idx="363">
                  <c:v>39568</c:v>
                </c:pt>
                <c:pt idx="364">
                  <c:v>39599</c:v>
                </c:pt>
                <c:pt idx="365">
                  <c:v>39629</c:v>
                </c:pt>
                <c:pt idx="366">
                  <c:v>39660</c:v>
                </c:pt>
                <c:pt idx="367">
                  <c:v>39691</c:v>
                </c:pt>
                <c:pt idx="368">
                  <c:v>39721</c:v>
                </c:pt>
                <c:pt idx="369">
                  <c:v>39752</c:v>
                </c:pt>
                <c:pt idx="370">
                  <c:v>39782</c:v>
                </c:pt>
                <c:pt idx="371">
                  <c:v>39813</c:v>
                </c:pt>
                <c:pt idx="372">
                  <c:v>39844</c:v>
                </c:pt>
                <c:pt idx="373">
                  <c:v>39872</c:v>
                </c:pt>
                <c:pt idx="374">
                  <c:v>39903</c:v>
                </c:pt>
                <c:pt idx="375">
                  <c:v>39933</c:v>
                </c:pt>
                <c:pt idx="376">
                  <c:v>39964</c:v>
                </c:pt>
                <c:pt idx="377">
                  <c:v>39994</c:v>
                </c:pt>
                <c:pt idx="378">
                  <c:v>40025</c:v>
                </c:pt>
                <c:pt idx="379">
                  <c:v>40056</c:v>
                </c:pt>
                <c:pt idx="380">
                  <c:v>40086</c:v>
                </c:pt>
                <c:pt idx="381">
                  <c:v>40117</c:v>
                </c:pt>
                <c:pt idx="382">
                  <c:v>40147</c:v>
                </c:pt>
                <c:pt idx="383">
                  <c:v>40178</c:v>
                </c:pt>
                <c:pt idx="384">
                  <c:v>40209</c:v>
                </c:pt>
                <c:pt idx="385">
                  <c:v>40237</c:v>
                </c:pt>
                <c:pt idx="386">
                  <c:v>40268</c:v>
                </c:pt>
                <c:pt idx="387">
                  <c:v>40298</c:v>
                </c:pt>
                <c:pt idx="388">
                  <c:v>40329</c:v>
                </c:pt>
                <c:pt idx="389">
                  <c:v>40359</c:v>
                </c:pt>
                <c:pt idx="390">
                  <c:v>40390</c:v>
                </c:pt>
                <c:pt idx="391">
                  <c:v>40421</c:v>
                </c:pt>
                <c:pt idx="392">
                  <c:v>40451</c:v>
                </c:pt>
                <c:pt idx="393">
                  <c:v>40482</c:v>
                </c:pt>
                <c:pt idx="394">
                  <c:v>40512</c:v>
                </c:pt>
                <c:pt idx="395">
                  <c:v>40543</c:v>
                </c:pt>
                <c:pt idx="396">
                  <c:v>40574</c:v>
                </c:pt>
                <c:pt idx="397">
                  <c:v>40602</c:v>
                </c:pt>
                <c:pt idx="398">
                  <c:v>40633</c:v>
                </c:pt>
                <c:pt idx="399">
                  <c:v>40663</c:v>
                </c:pt>
                <c:pt idx="400">
                  <c:v>40694</c:v>
                </c:pt>
                <c:pt idx="401">
                  <c:v>40724</c:v>
                </c:pt>
                <c:pt idx="402">
                  <c:v>40755</c:v>
                </c:pt>
                <c:pt idx="403">
                  <c:v>40786</c:v>
                </c:pt>
                <c:pt idx="404">
                  <c:v>40816</c:v>
                </c:pt>
                <c:pt idx="405">
                  <c:v>40847</c:v>
                </c:pt>
                <c:pt idx="406">
                  <c:v>40877</c:v>
                </c:pt>
                <c:pt idx="407">
                  <c:v>40908</c:v>
                </c:pt>
                <c:pt idx="408">
                  <c:v>40939</c:v>
                </c:pt>
                <c:pt idx="409">
                  <c:v>40968</c:v>
                </c:pt>
                <c:pt idx="410">
                  <c:v>40999</c:v>
                </c:pt>
                <c:pt idx="411">
                  <c:v>41029</c:v>
                </c:pt>
                <c:pt idx="412">
                  <c:v>41060</c:v>
                </c:pt>
                <c:pt idx="413">
                  <c:v>41090</c:v>
                </c:pt>
                <c:pt idx="414">
                  <c:v>41121</c:v>
                </c:pt>
                <c:pt idx="415">
                  <c:v>41152</c:v>
                </c:pt>
                <c:pt idx="416">
                  <c:v>41182</c:v>
                </c:pt>
                <c:pt idx="417">
                  <c:v>41213</c:v>
                </c:pt>
                <c:pt idx="418">
                  <c:v>41243</c:v>
                </c:pt>
                <c:pt idx="419">
                  <c:v>41274</c:v>
                </c:pt>
                <c:pt idx="420">
                  <c:v>41305</c:v>
                </c:pt>
                <c:pt idx="421">
                  <c:v>41333</c:v>
                </c:pt>
                <c:pt idx="422">
                  <c:v>41364</c:v>
                </c:pt>
                <c:pt idx="423">
                  <c:v>41394</c:v>
                </c:pt>
                <c:pt idx="424">
                  <c:v>41425</c:v>
                </c:pt>
                <c:pt idx="425">
                  <c:v>41455</c:v>
                </c:pt>
                <c:pt idx="426">
                  <c:v>41486</c:v>
                </c:pt>
                <c:pt idx="427">
                  <c:v>41517</c:v>
                </c:pt>
                <c:pt idx="428">
                  <c:v>41547</c:v>
                </c:pt>
                <c:pt idx="429">
                  <c:v>41578</c:v>
                </c:pt>
                <c:pt idx="430">
                  <c:v>41608</c:v>
                </c:pt>
                <c:pt idx="431">
                  <c:v>41639</c:v>
                </c:pt>
                <c:pt idx="432">
                  <c:v>41670</c:v>
                </c:pt>
                <c:pt idx="433">
                  <c:v>41698</c:v>
                </c:pt>
                <c:pt idx="434">
                  <c:v>41729</c:v>
                </c:pt>
                <c:pt idx="435">
                  <c:v>41759</c:v>
                </c:pt>
                <c:pt idx="436">
                  <c:v>41790</c:v>
                </c:pt>
                <c:pt idx="437">
                  <c:v>41820</c:v>
                </c:pt>
                <c:pt idx="438">
                  <c:v>41851</c:v>
                </c:pt>
                <c:pt idx="439">
                  <c:v>41882</c:v>
                </c:pt>
                <c:pt idx="440">
                  <c:v>41912</c:v>
                </c:pt>
                <c:pt idx="441">
                  <c:v>41943</c:v>
                </c:pt>
                <c:pt idx="442">
                  <c:v>41973</c:v>
                </c:pt>
                <c:pt idx="443">
                  <c:v>42004</c:v>
                </c:pt>
                <c:pt idx="444">
                  <c:v>42035</c:v>
                </c:pt>
                <c:pt idx="445">
                  <c:v>42063</c:v>
                </c:pt>
                <c:pt idx="446">
                  <c:v>42094</c:v>
                </c:pt>
                <c:pt idx="447">
                  <c:v>42124</c:v>
                </c:pt>
                <c:pt idx="448">
                  <c:v>42155</c:v>
                </c:pt>
                <c:pt idx="449">
                  <c:v>42185</c:v>
                </c:pt>
                <c:pt idx="450">
                  <c:v>42216</c:v>
                </c:pt>
                <c:pt idx="451">
                  <c:v>42247</c:v>
                </c:pt>
                <c:pt idx="452">
                  <c:v>42277</c:v>
                </c:pt>
                <c:pt idx="453">
                  <c:v>42308</c:v>
                </c:pt>
                <c:pt idx="454">
                  <c:v>42338</c:v>
                </c:pt>
                <c:pt idx="455">
                  <c:v>42369</c:v>
                </c:pt>
                <c:pt idx="456">
                  <c:v>42400</c:v>
                </c:pt>
                <c:pt idx="457">
                  <c:v>42429</c:v>
                </c:pt>
                <c:pt idx="458">
                  <c:v>42460</c:v>
                </c:pt>
                <c:pt idx="459">
                  <c:v>42490</c:v>
                </c:pt>
                <c:pt idx="460">
                  <c:v>42521</c:v>
                </c:pt>
                <c:pt idx="461">
                  <c:v>42551</c:v>
                </c:pt>
                <c:pt idx="462">
                  <c:v>42582</c:v>
                </c:pt>
                <c:pt idx="463">
                  <c:v>42613</c:v>
                </c:pt>
                <c:pt idx="464">
                  <c:v>42643</c:v>
                </c:pt>
                <c:pt idx="465">
                  <c:v>42674</c:v>
                </c:pt>
                <c:pt idx="466">
                  <c:v>42704</c:v>
                </c:pt>
                <c:pt idx="467">
                  <c:v>42735</c:v>
                </c:pt>
                <c:pt idx="468">
                  <c:v>42766</c:v>
                </c:pt>
                <c:pt idx="469">
                  <c:v>42794</c:v>
                </c:pt>
                <c:pt idx="470">
                  <c:v>42825</c:v>
                </c:pt>
                <c:pt idx="471">
                  <c:v>42855</c:v>
                </c:pt>
                <c:pt idx="472">
                  <c:v>42886</c:v>
                </c:pt>
                <c:pt idx="473">
                  <c:v>42916</c:v>
                </c:pt>
                <c:pt idx="474">
                  <c:v>42947</c:v>
                </c:pt>
                <c:pt idx="475">
                  <c:v>42978</c:v>
                </c:pt>
                <c:pt idx="476">
                  <c:v>43008</c:v>
                </c:pt>
                <c:pt idx="477">
                  <c:v>43039</c:v>
                </c:pt>
                <c:pt idx="478">
                  <c:v>43069</c:v>
                </c:pt>
                <c:pt idx="479">
                  <c:v>43100</c:v>
                </c:pt>
                <c:pt idx="480">
                  <c:v>43131</c:v>
                </c:pt>
                <c:pt idx="481">
                  <c:v>43159</c:v>
                </c:pt>
                <c:pt idx="482">
                  <c:v>43190</c:v>
                </c:pt>
                <c:pt idx="483">
                  <c:v>43220</c:v>
                </c:pt>
                <c:pt idx="484">
                  <c:v>43251</c:v>
                </c:pt>
                <c:pt idx="485">
                  <c:v>43281</c:v>
                </c:pt>
                <c:pt idx="486">
                  <c:v>43312</c:v>
                </c:pt>
                <c:pt idx="487">
                  <c:v>43343</c:v>
                </c:pt>
                <c:pt idx="488">
                  <c:v>43373</c:v>
                </c:pt>
                <c:pt idx="489">
                  <c:v>43404</c:v>
                </c:pt>
                <c:pt idx="490">
                  <c:v>43434</c:v>
                </c:pt>
                <c:pt idx="491">
                  <c:v>43465</c:v>
                </c:pt>
                <c:pt idx="492">
                  <c:v>43496</c:v>
                </c:pt>
                <c:pt idx="493">
                  <c:v>43524</c:v>
                </c:pt>
                <c:pt idx="494">
                  <c:v>43555</c:v>
                </c:pt>
                <c:pt idx="495">
                  <c:v>43585</c:v>
                </c:pt>
                <c:pt idx="496">
                  <c:v>43616</c:v>
                </c:pt>
                <c:pt idx="497">
                  <c:v>43646</c:v>
                </c:pt>
                <c:pt idx="498">
                  <c:v>43677</c:v>
                </c:pt>
                <c:pt idx="499">
                  <c:v>43708</c:v>
                </c:pt>
                <c:pt idx="500">
                  <c:v>43738</c:v>
                </c:pt>
                <c:pt idx="501">
                  <c:v>43769</c:v>
                </c:pt>
                <c:pt idx="502">
                  <c:v>43799</c:v>
                </c:pt>
                <c:pt idx="503">
                  <c:v>43830</c:v>
                </c:pt>
                <c:pt idx="504">
                  <c:v>43861</c:v>
                </c:pt>
                <c:pt idx="505">
                  <c:v>43890</c:v>
                </c:pt>
                <c:pt idx="506">
                  <c:v>43921</c:v>
                </c:pt>
                <c:pt idx="507">
                  <c:v>43951</c:v>
                </c:pt>
                <c:pt idx="508">
                  <c:v>43982</c:v>
                </c:pt>
                <c:pt idx="509">
                  <c:v>44012</c:v>
                </c:pt>
                <c:pt idx="510">
                  <c:v>44043</c:v>
                </c:pt>
                <c:pt idx="511">
                  <c:v>44074</c:v>
                </c:pt>
                <c:pt idx="512">
                  <c:v>44104</c:v>
                </c:pt>
                <c:pt idx="513">
                  <c:v>44135</c:v>
                </c:pt>
                <c:pt idx="514">
                  <c:v>44165</c:v>
                </c:pt>
                <c:pt idx="515">
                  <c:v>44196</c:v>
                </c:pt>
                <c:pt idx="516">
                  <c:v>44227</c:v>
                </c:pt>
                <c:pt idx="517">
                  <c:v>44255</c:v>
                </c:pt>
                <c:pt idx="518">
                  <c:v>44286</c:v>
                </c:pt>
                <c:pt idx="519">
                  <c:v>44316</c:v>
                </c:pt>
                <c:pt idx="520">
                  <c:v>44347</c:v>
                </c:pt>
                <c:pt idx="521">
                  <c:v>44377</c:v>
                </c:pt>
                <c:pt idx="522">
                  <c:v>44408</c:v>
                </c:pt>
                <c:pt idx="523">
                  <c:v>44439</c:v>
                </c:pt>
                <c:pt idx="524">
                  <c:v>44469</c:v>
                </c:pt>
                <c:pt idx="525">
                  <c:v>44500</c:v>
                </c:pt>
                <c:pt idx="526">
                  <c:v>44530</c:v>
                </c:pt>
                <c:pt idx="527">
                  <c:v>44561</c:v>
                </c:pt>
                <c:pt idx="528">
                  <c:v>44592</c:v>
                </c:pt>
                <c:pt idx="529">
                  <c:v>44620</c:v>
                </c:pt>
                <c:pt idx="530">
                  <c:v>44651</c:v>
                </c:pt>
                <c:pt idx="531">
                  <c:v>44681</c:v>
                </c:pt>
                <c:pt idx="532">
                  <c:v>44712</c:v>
                </c:pt>
                <c:pt idx="533">
                  <c:v>44742</c:v>
                </c:pt>
                <c:pt idx="534">
                  <c:v>44773</c:v>
                </c:pt>
                <c:pt idx="535">
                  <c:v>44804</c:v>
                </c:pt>
                <c:pt idx="536">
                  <c:v>44834</c:v>
                </c:pt>
                <c:pt idx="537">
                  <c:v>44865</c:v>
                </c:pt>
                <c:pt idx="538">
                  <c:v>44895</c:v>
                </c:pt>
                <c:pt idx="539">
                  <c:v>44926</c:v>
                </c:pt>
                <c:pt idx="540">
                  <c:v>44957</c:v>
                </c:pt>
                <c:pt idx="541">
                  <c:v>44985</c:v>
                </c:pt>
                <c:pt idx="542">
                  <c:v>45016</c:v>
                </c:pt>
              </c:numCache>
            </c:numRef>
          </c:cat>
          <c:val>
            <c:numRef>
              <c:f>'Page 6 Data'!$AC$7:$AC$549</c:f>
              <c:numCache>
                <c:formatCode>General</c:formatCode>
                <c:ptCount val="54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0</c:v>
                </c:pt>
                <c:pt idx="32">
                  <c:v>0</c:v>
                </c:pt>
                <c:pt idx="33">
                  <c:v>0</c:v>
                </c:pt>
                <c:pt idx="34">
                  <c:v>0</c:v>
                </c:pt>
                <c:pt idx="35">
                  <c:v>0</c:v>
                </c:pt>
                <c:pt idx="36">
                  <c:v>0</c:v>
                </c:pt>
                <c:pt idx="37">
                  <c:v>0</c:v>
                </c:pt>
                <c:pt idx="38">
                  <c:v>0</c:v>
                </c:pt>
                <c:pt idx="39">
                  <c:v>0</c:v>
                </c:pt>
                <c:pt idx="40">
                  <c:v>0</c:v>
                </c:pt>
                <c:pt idx="41">
                  <c:v>0</c:v>
                </c:pt>
                <c:pt idx="42">
                  <c:v>200</c:v>
                </c:pt>
                <c:pt idx="43">
                  <c:v>200</c:v>
                </c:pt>
                <c:pt idx="44">
                  <c:v>200</c:v>
                </c:pt>
                <c:pt idx="45">
                  <c:v>200</c:v>
                </c:pt>
                <c:pt idx="46">
                  <c:v>200</c:v>
                </c:pt>
                <c:pt idx="47">
                  <c:v>200</c:v>
                </c:pt>
                <c:pt idx="48">
                  <c:v>200</c:v>
                </c:pt>
                <c:pt idx="49">
                  <c:v>200</c:v>
                </c:pt>
                <c:pt idx="50">
                  <c:v>200</c:v>
                </c:pt>
                <c:pt idx="51">
                  <c:v>200</c:v>
                </c:pt>
                <c:pt idx="52">
                  <c:v>200</c:v>
                </c:pt>
                <c:pt idx="53">
                  <c:v>200</c:v>
                </c:pt>
                <c:pt idx="54">
                  <c:v>200</c:v>
                </c:pt>
                <c:pt idx="55">
                  <c:v>200</c:v>
                </c:pt>
                <c:pt idx="56">
                  <c:v>200</c:v>
                </c:pt>
                <c:pt idx="57">
                  <c:v>200</c:v>
                </c:pt>
                <c:pt idx="58">
                  <c:v>200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200</c:v>
                </c:pt>
                <c:pt idx="151">
                  <c:v>200</c:v>
                </c:pt>
                <c:pt idx="152">
                  <c:v>200</c:v>
                </c:pt>
                <c:pt idx="153">
                  <c:v>200</c:v>
                </c:pt>
                <c:pt idx="154">
                  <c:v>200</c:v>
                </c:pt>
                <c:pt idx="155">
                  <c:v>200</c:v>
                </c:pt>
                <c:pt idx="156">
                  <c:v>200</c:v>
                </c:pt>
                <c:pt idx="157">
                  <c:v>200</c:v>
                </c:pt>
                <c:pt idx="158">
                  <c:v>200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200</c:v>
                </c:pt>
                <c:pt idx="279">
                  <c:v>200</c:v>
                </c:pt>
                <c:pt idx="280">
                  <c:v>200</c:v>
                </c:pt>
                <c:pt idx="281">
                  <c:v>200</c:v>
                </c:pt>
                <c:pt idx="282">
                  <c:v>200</c:v>
                </c:pt>
                <c:pt idx="283">
                  <c:v>200</c:v>
                </c:pt>
                <c:pt idx="284">
                  <c:v>200</c:v>
                </c:pt>
                <c:pt idx="285">
                  <c:v>200</c:v>
                </c:pt>
                <c:pt idx="286">
                  <c:v>200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200</c:v>
                </c:pt>
                <c:pt idx="360">
                  <c:v>200</c:v>
                </c:pt>
                <c:pt idx="361">
                  <c:v>200</c:v>
                </c:pt>
                <c:pt idx="362">
                  <c:v>200</c:v>
                </c:pt>
                <c:pt idx="363">
                  <c:v>200</c:v>
                </c:pt>
                <c:pt idx="364">
                  <c:v>200</c:v>
                </c:pt>
                <c:pt idx="365">
                  <c:v>200</c:v>
                </c:pt>
                <c:pt idx="366">
                  <c:v>200</c:v>
                </c:pt>
                <c:pt idx="367">
                  <c:v>200</c:v>
                </c:pt>
                <c:pt idx="368">
                  <c:v>200</c:v>
                </c:pt>
                <c:pt idx="369">
                  <c:v>200</c:v>
                </c:pt>
                <c:pt idx="370">
                  <c:v>200</c:v>
                </c:pt>
                <c:pt idx="371">
                  <c:v>200</c:v>
                </c:pt>
                <c:pt idx="372">
                  <c:v>200</c:v>
                </c:pt>
                <c:pt idx="373">
                  <c:v>200</c:v>
                </c:pt>
                <c:pt idx="374">
                  <c:v>200</c:v>
                </c:pt>
                <c:pt idx="375">
                  <c:v>200</c:v>
                </c:pt>
                <c:pt idx="376">
                  <c:v>200</c:v>
                </c:pt>
                <c:pt idx="377">
                  <c:v>200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200</c:v>
                </c:pt>
                <c:pt idx="506">
                  <c:v>200</c:v>
                </c:pt>
                <c:pt idx="507">
                  <c:v>200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numCache>
            </c:numRef>
          </c:val>
          <c:extLst>
            <c:ext xmlns:c16="http://schemas.microsoft.com/office/drawing/2014/chart" uri="{C3380CC4-5D6E-409C-BE32-E72D297353CC}">
              <c16:uniqueId val="{00000000-9BB7-4438-81EC-DCA24795864D}"/>
            </c:ext>
          </c:extLst>
        </c:ser>
        <c:dLbls>
          <c:showLegendKey val="0"/>
          <c:showVal val="0"/>
          <c:showCatName val="0"/>
          <c:showSerName val="0"/>
          <c:showPercent val="0"/>
          <c:showBubbleSize val="0"/>
        </c:dLbls>
        <c:gapWidth val="150"/>
        <c:axId val="861062496"/>
        <c:axId val="861058144"/>
      </c:barChart>
      <c:lineChart>
        <c:grouping val="standard"/>
        <c:varyColors val="0"/>
        <c:ser>
          <c:idx val="2"/>
          <c:order val="0"/>
          <c:tx>
            <c:strRef>
              <c:f>'Page 6 Data'!$S$5</c:f>
              <c:strCache>
                <c:ptCount val="1"/>
                <c:pt idx="0">
                  <c:v>CONSHOMR Index</c:v>
                </c:pt>
              </c:strCache>
            </c:strRef>
          </c:tx>
          <c:spPr>
            <a:ln>
              <a:solidFill>
                <a:srgbClr val="74B7BA"/>
              </a:solidFill>
            </a:ln>
          </c:spPr>
          <c:marker>
            <c:symbol val="none"/>
          </c:marker>
          <c:cat>
            <c:numRef>
              <c:f>'Page 6 Data'!$AB$7:$AB$549</c:f>
              <c:numCache>
                <c:formatCode>[$-409]mmm\-yy;@</c:formatCode>
                <c:ptCount val="543"/>
                <c:pt idx="0">
                  <c:v>28521</c:v>
                </c:pt>
                <c:pt idx="1">
                  <c:v>28549</c:v>
                </c:pt>
                <c:pt idx="2">
                  <c:v>28580</c:v>
                </c:pt>
                <c:pt idx="3">
                  <c:v>28610</c:v>
                </c:pt>
                <c:pt idx="4">
                  <c:v>28641</c:v>
                </c:pt>
                <c:pt idx="5">
                  <c:v>28671</c:v>
                </c:pt>
                <c:pt idx="6">
                  <c:v>28702</c:v>
                </c:pt>
                <c:pt idx="7">
                  <c:v>28733</c:v>
                </c:pt>
                <c:pt idx="8">
                  <c:v>28763</c:v>
                </c:pt>
                <c:pt idx="9">
                  <c:v>28794</c:v>
                </c:pt>
                <c:pt idx="10">
                  <c:v>28824</c:v>
                </c:pt>
                <c:pt idx="11">
                  <c:v>28855</c:v>
                </c:pt>
                <c:pt idx="12">
                  <c:v>28886</c:v>
                </c:pt>
                <c:pt idx="13">
                  <c:v>28914</c:v>
                </c:pt>
                <c:pt idx="14">
                  <c:v>28945</c:v>
                </c:pt>
                <c:pt idx="15">
                  <c:v>28975</c:v>
                </c:pt>
                <c:pt idx="16">
                  <c:v>29006</c:v>
                </c:pt>
                <c:pt idx="17">
                  <c:v>29036</c:v>
                </c:pt>
                <c:pt idx="18">
                  <c:v>29067</c:v>
                </c:pt>
                <c:pt idx="19">
                  <c:v>29098</c:v>
                </c:pt>
                <c:pt idx="20">
                  <c:v>29128</c:v>
                </c:pt>
                <c:pt idx="21">
                  <c:v>29159</c:v>
                </c:pt>
                <c:pt idx="22">
                  <c:v>29189</c:v>
                </c:pt>
                <c:pt idx="23">
                  <c:v>29220</c:v>
                </c:pt>
                <c:pt idx="24">
                  <c:v>29251</c:v>
                </c:pt>
                <c:pt idx="25">
                  <c:v>29280</c:v>
                </c:pt>
                <c:pt idx="26">
                  <c:v>29311</c:v>
                </c:pt>
                <c:pt idx="27">
                  <c:v>29341</c:v>
                </c:pt>
                <c:pt idx="28">
                  <c:v>29372</c:v>
                </c:pt>
                <c:pt idx="29">
                  <c:v>29402</c:v>
                </c:pt>
                <c:pt idx="30">
                  <c:v>29433</c:v>
                </c:pt>
                <c:pt idx="31">
                  <c:v>29464</c:v>
                </c:pt>
                <c:pt idx="32">
                  <c:v>29494</c:v>
                </c:pt>
                <c:pt idx="33">
                  <c:v>29525</c:v>
                </c:pt>
                <c:pt idx="34">
                  <c:v>29555</c:v>
                </c:pt>
                <c:pt idx="35">
                  <c:v>29586</c:v>
                </c:pt>
                <c:pt idx="36">
                  <c:v>29617</c:v>
                </c:pt>
                <c:pt idx="37">
                  <c:v>29645</c:v>
                </c:pt>
                <c:pt idx="38">
                  <c:v>29676</c:v>
                </c:pt>
                <c:pt idx="39">
                  <c:v>29706</c:v>
                </c:pt>
                <c:pt idx="40">
                  <c:v>29737</c:v>
                </c:pt>
                <c:pt idx="41">
                  <c:v>29767</c:v>
                </c:pt>
                <c:pt idx="42">
                  <c:v>29798</c:v>
                </c:pt>
                <c:pt idx="43">
                  <c:v>29829</c:v>
                </c:pt>
                <c:pt idx="44">
                  <c:v>29859</c:v>
                </c:pt>
                <c:pt idx="45">
                  <c:v>29890</c:v>
                </c:pt>
                <c:pt idx="46">
                  <c:v>29920</c:v>
                </c:pt>
                <c:pt idx="47">
                  <c:v>29951</c:v>
                </c:pt>
                <c:pt idx="48">
                  <c:v>29982</c:v>
                </c:pt>
                <c:pt idx="49">
                  <c:v>30010</c:v>
                </c:pt>
                <c:pt idx="50">
                  <c:v>30041</c:v>
                </c:pt>
                <c:pt idx="51">
                  <c:v>30071</c:v>
                </c:pt>
                <c:pt idx="52">
                  <c:v>30102</c:v>
                </c:pt>
                <c:pt idx="53">
                  <c:v>30132</c:v>
                </c:pt>
                <c:pt idx="54">
                  <c:v>30163</c:v>
                </c:pt>
                <c:pt idx="55">
                  <c:v>30194</c:v>
                </c:pt>
                <c:pt idx="56">
                  <c:v>30224</c:v>
                </c:pt>
                <c:pt idx="57">
                  <c:v>30255</c:v>
                </c:pt>
                <c:pt idx="58">
                  <c:v>30285</c:v>
                </c:pt>
                <c:pt idx="59">
                  <c:v>30316</c:v>
                </c:pt>
                <c:pt idx="60">
                  <c:v>30347</c:v>
                </c:pt>
                <c:pt idx="61">
                  <c:v>30375</c:v>
                </c:pt>
                <c:pt idx="62">
                  <c:v>30406</c:v>
                </c:pt>
                <c:pt idx="63">
                  <c:v>30436</c:v>
                </c:pt>
                <c:pt idx="64">
                  <c:v>30467</c:v>
                </c:pt>
                <c:pt idx="65">
                  <c:v>30497</c:v>
                </c:pt>
                <c:pt idx="66">
                  <c:v>30528</c:v>
                </c:pt>
                <c:pt idx="67">
                  <c:v>30559</c:v>
                </c:pt>
                <c:pt idx="68">
                  <c:v>30589</c:v>
                </c:pt>
                <c:pt idx="69">
                  <c:v>30620</c:v>
                </c:pt>
                <c:pt idx="70">
                  <c:v>30650</c:v>
                </c:pt>
                <c:pt idx="71">
                  <c:v>30681</c:v>
                </c:pt>
                <c:pt idx="72">
                  <c:v>30712</c:v>
                </c:pt>
                <c:pt idx="73">
                  <c:v>30741</c:v>
                </c:pt>
                <c:pt idx="74">
                  <c:v>30772</c:v>
                </c:pt>
                <c:pt idx="75">
                  <c:v>30802</c:v>
                </c:pt>
                <c:pt idx="76">
                  <c:v>30833</c:v>
                </c:pt>
                <c:pt idx="77">
                  <c:v>30863</c:v>
                </c:pt>
                <c:pt idx="78">
                  <c:v>30894</c:v>
                </c:pt>
                <c:pt idx="79">
                  <c:v>30925</c:v>
                </c:pt>
                <c:pt idx="80">
                  <c:v>30955</c:v>
                </c:pt>
                <c:pt idx="81">
                  <c:v>30986</c:v>
                </c:pt>
                <c:pt idx="82">
                  <c:v>31016</c:v>
                </c:pt>
                <c:pt idx="83">
                  <c:v>31047</c:v>
                </c:pt>
                <c:pt idx="84">
                  <c:v>31078</c:v>
                </c:pt>
                <c:pt idx="85">
                  <c:v>31106</c:v>
                </c:pt>
                <c:pt idx="86">
                  <c:v>31137</c:v>
                </c:pt>
                <c:pt idx="87">
                  <c:v>31167</c:v>
                </c:pt>
                <c:pt idx="88">
                  <c:v>31198</c:v>
                </c:pt>
                <c:pt idx="89">
                  <c:v>31228</c:v>
                </c:pt>
                <c:pt idx="90">
                  <c:v>31259</c:v>
                </c:pt>
                <c:pt idx="91">
                  <c:v>31290</c:v>
                </c:pt>
                <c:pt idx="92">
                  <c:v>31320</c:v>
                </c:pt>
                <c:pt idx="93">
                  <c:v>31351</c:v>
                </c:pt>
                <c:pt idx="94">
                  <c:v>31381</c:v>
                </c:pt>
                <c:pt idx="95">
                  <c:v>31412</c:v>
                </c:pt>
                <c:pt idx="96">
                  <c:v>31443</c:v>
                </c:pt>
                <c:pt idx="97">
                  <c:v>31471</c:v>
                </c:pt>
                <c:pt idx="98">
                  <c:v>31502</c:v>
                </c:pt>
                <c:pt idx="99">
                  <c:v>31532</c:v>
                </c:pt>
                <c:pt idx="100">
                  <c:v>31563</c:v>
                </c:pt>
                <c:pt idx="101">
                  <c:v>31593</c:v>
                </c:pt>
                <c:pt idx="102">
                  <c:v>31624</c:v>
                </c:pt>
                <c:pt idx="103">
                  <c:v>31655</c:v>
                </c:pt>
                <c:pt idx="104">
                  <c:v>31685</c:v>
                </c:pt>
                <c:pt idx="105">
                  <c:v>31716</c:v>
                </c:pt>
                <c:pt idx="106">
                  <c:v>31746</c:v>
                </c:pt>
                <c:pt idx="107">
                  <c:v>31777</c:v>
                </c:pt>
                <c:pt idx="108">
                  <c:v>31808</c:v>
                </c:pt>
                <c:pt idx="109">
                  <c:v>31836</c:v>
                </c:pt>
                <c:pt idx="110">
                  <c:v>31867</c:v>
                </c:pt>
                <c:pt idx="111">
                  <c:v>31897</c:v>
                </c:pt>
                <c:pt idx="112">
                  <c:v>31928</c:v>
                </c:pt>
                <c:pt idx="113">
                  <c:v>31958</c:v>
                </c:pt>
                <c:pt idx="114">
                  <c:v>31989</c:v>
                </c:pt>
                <c:pt idx="115">
                  <c:v>32020</c:v>
                </c:pt>
                <c:pt idx="116">
                  <c:v>32050</c:v>
                </c:pt>
                <c:pt idx="117">
                  <c:v>32081</c:v>
                </c:pt>
                <c:pt idx="118">
                  <c:v>32111</c:v>
                </c:pt>
                <c:pt idx="119">
                  <c:v>32142</c:v>
                </c:pt>
                <c:pt idx="120">
                  <c:v>32173</c:v>
                </c:pt>
                <c:pt idx="121">
                  <c:v>32202</c:v>
                </c:pt>
                <c:pt idx="122">
                  <c:v>32233</c:v>
                </c:pt>
                <c:pt idx="123">
                  <c:v>32263</c:v>
                </c:pt>
                <c:pt idx="124">
                  <c:v>32294</c:v>
                </c:pt>
                <c:pt idx="125">
                  <c:v>32324</c:v>
                </c:pt>
                <c:pt idx="126">
                  <c:v>32355</c:v>
                </c:pt>
                <c:pt idx="127">
                  <c:v>32386</c:v>
                </c:pt>
                <c:pt idx="128">
                  <c:v>32416</c:v>
                </c:pt>
                <c:pt idx="129">
                  <c:v>32447</c:v>
                </c:pt>
                <c:pt idx="130">
                  <c:v>32477</c:v>
                </c:pt>
                <c:pt idx="131">
                  <c:v>32508</c:v>
                </c:pt>
                <c:pt idx="132">
                  <c:v>32539</c:v>
                </c:pt>
                <c:pt idx="133">
                  <c:v>32567</c:v>
                </c:pt>
                <c:pt idx="134">
                  <c:v>32598</c:v>
                </c:pt>
                <c:pt idx="135">
                  <c:v>32628</c:v>
                </c:pt>
                <c:pt idx="136">
                  <c:v>32659</c:v>
                </c:pt>
                <c:pt idx="137">
                  <c:v>32689</c:v>
                </c:pt>
                <c:pt idx="138">
                  <c:v>32720</c:v>
                </c:pt>
                <c:pt idx="139">
                  <c:v>32751</c:v>
                </c:pt>
                <c:pt idx="140">
                  <c:v>32781</c:v>
                </c:pt>
                <c:pt idx="141">
                  <c:v>32812</c:v>
                </c:pt>
                <c:pt idx="142">
                  <c:v>32842</c:v>
                </c:pt>
                <c:pt idx="143">
                  <c:v>32873</c:v>
                </c:pt>
                <c:pt idx="144">
                  <c:v>32904</c:v>
                </c:pt>
                <c:pt idx="145">
                  <c:v>32932</c:v>
                </c:pt>
                <c:pt idx="146">
                  <c:v>32963</c:v>
                </c:pt>
                <c:pt idx="147">
                  <c:v>32993</c:v>
                </c:pt>
                <c:pt idx="148">
                  <c:v>33024</c:v>
                </c:pt>
                <c:pt idx="149">
                  <c:v>33054</c:v>
                </c:pt>
                <c:pt idx="150">
                  <c:v>33085</c:v>
                </c:pt>
                <c:pt idx="151">
                  <c:v>33116</c:v>
                </c:pt>
                <c:pt idx="152">
                  <c:v>33146</c:v>
                </c:pt>
                <c:pt idx="153">
                  <c:v>33177</c:v>
                </c:pt>
                <c:pt idx="154">
                  <c:v>33207</c:v>
                </c:pt>
                <c:pt idx="155">
                  <c:v>33238</c:v>
                </c:pt>
                <c:pt idx="156">
                  <c:v>33269</c:v>
                </c:pt>
                <c:pt idx="157">
                  <c:v>33297</c:v>
                </c:pt>
                <c:pt idx="158">
                  <c:v>33328</c:v>
                </c:pt>
                <c:pt idx="159">
                  <c:v>33358</c:v>
                </c:pt>
                <c:pt idx="160">
                  <c:v>33389</c:v>
                </c:pt>
                <c:pt idx="161">
                  <c:v>33419</c:v>
                </c:pt>
                <c:pt idx="162">
                  <c:v>33450</c:v>
                </c:pt>
                <c:pt idx="163">
                  <c:v>33481</c:v>
                </c:pt>
                <c:pt idx="164">
                  <c:v>33511</c:v>
                </c:pt>
                <c:pt idx="165">
                  <c:v>33542</c:v>
                </c:pt>
                <c:pt idx="166">
                  <c:v>33572</c:v>
                </c:pt>
                <c:pt idx="167">
                  <c:v>33603</c:v>
                </c:pt>
                <c:pt idx="168">
                  <c:v>33634</c:v>
                </c:pt>
                <c:pt idx="169">
                  <c:v>33663</c:v>
                </c:pt>
                <c:pt idx="170">
                  <c:v>33694</c:v>
                </c:pt>
                <c:pt idx="171">
                  <c:v>33724</c:v>
                </c:pt>
                <c:pt idx="172">
                  <c:v>33755</c:v>
                </c:pt>
                <c:pt idx="173">
                  <c:v>33785</c:v>
                </c:pt>
                <c:pt idx="174">
                  <c:v>33816</c:v>
                </c:pt>
                <c:pt idx="175">
                  <c:v>33847</c:v>
                </c:pt>
                <c:pt idx="176">
                  <c:v>33877</c:v>
                </c:pt>
                <c:pt idx="177">
                  <c:v>33908</c:v>
                </c:pt>
                <c:pt idx="178">
                  <c:v>33938</c:v>
                </c:pt>
                <c:pt idx="179">
                  <c:v>33969</c:v>
                </c:pt>
                <c:pt idx="180">
                  <c:v>34000</c:v>
                </c:pt>
                <c:pt idx="181">
                  <c:v>34028</c:v>
                </c:pt>
                <c:pt idx="182">
                  <c:v>34059</c:v>
                </c:pt>
                <c:pt idx="183">
                  <c:v>34089</c:v>
                </c:pt>
                <c:pt idx="184">
                  <c:v>34120</c:v>
                </c:pt>
                <c:pt idx="185">
                  <c:v>34150</c:v>
                </c:pt>
                <c:pt idx="186">
                  <c:v>34181</c:v>
                </c:pt>
                <c:pt idx="187">
                  <c:v>34212</c:v>
                </c:pt>
                <c:pt idx="188">
                  <c:v>34242</c:v>
                </c:pt>
                <c:pt idx="189">
                  <c:v>34273</c:v>
                </c:pt>
                <c:pt idx="190">
                  <c:v>34303</c:v>
                </c:pt>
                <c:pt idx="191">
                  <c:v>34334</c:v>
                </c:pt>
                <c:pt idx="192">
                  <c:v>34365</c:v>
                </c:pt>
                <c:pt idx="193">
                  <c:v>34393</c:v>
                </c:pt>
                <c:pt idx="194">
                  <c:v>34424</c:v>
                </c:pt>
                <c:pt idx="195">
                  <c:v>34454</c:v>
                </c:pt>
                <c:pt idx="196">
                  <c:v>34485</c:v>
                </c:pt>
                <c:pt idx="197">
                  <c:v>34515</c:v>
                </c:pt>
                <c:pt idx="198">
                  <c:v>34546</c:v>
                </c:pt>
                <c:pt idx="199">
                  <c:v>34577</c:v>
                </c:pt>
                <c:pt idx="200">
                  <c:v>34607</c:v>
                </c:pt>
                <c:pt idx="201">
                  <c:v>34638</c:v>
                </c:pt>
                <c:pt idx="202">
                  <c:v>34668</c:v>
                </c:pt>
                <c:pt idx="203">
                  <c:v>34699</c:v>
                </c:pt>
                <c:pt idx="204">
                  <c:v>34730</c:v>
                </c:pt>
                <c:pt idx="205">
                  <c:v>34758</c:v>
                </c:pt>
                <c:pt idx="206">
                  <c:v>34789</c:v>
                </c:pt>
                <c:pt idx="207">
                  <c:v>34819</c:v>
                </c:pt>
                <c:pt idx="208">
                  <c:v>34850</c:v>
                </c:pt>
                <c:pt idx="209">
                  <c:v>34880</c:v>
                </c:pt>
                <c:pt idx="210">
                  <c:v>34911</c:v>
                </c:pt>
                <c:pt idx="211">
                  <c:v>34942</c:v>
                </c:pt>
                <c:pt idx="212">
                  <c:v>34972</c:v>
                </c:pt>
                <c:pt idx="213">
                  <c:v>35003</c:v>
                </c:pt>
                <c:pt idx="214">
                  <c:v>35033</c:v>
                </c:pt>
                <c:pt idx="215">
                  <c:v>35064</c:v>
                </c:pt>
                <c:pt idx="216">
                  <c:v>35095</c:v>
                </c:pt>
                <c:pt idx="217">
                  <c:v>35124</c:v>
                </c:pt>
                <c:pt idx="218">
                  <c:v>35155</c:v>
                </c:pt>
                <c:pt idx="219">
                  <c:v>35185</c:v>
                </c:pt>
                <c:pt idx="220">
                  <c:v>35216</c:v>
                </c:pt>
                <c:pt idx="221">
                  <c:v>35246</c:v>
                </c:pt>
                <c:pt idx="222">
                  <c:v>35277</c:v>
                </c:pt>
                <c:pt idx="223">
                  <c:v>35308</c:v>
                </c:pt>
                <c:pt idx="224">
                  <c:v>35338</c:v>
                </c:pt>
                <c:pt idx="225">
                  <c:v>35369</c:v>
                </c:pt>
                <c:pt idx="226">
                  <c:v>35399</c:v>
                </c:pt>
                <c:pt idx="227">
                  <c:v>35430</c:v>
                </c:pt>
                <c:pt idx="228">
                  <c:v>35461</c:v>
                </c:pt>
                <c:pt idx="229">
                  <c:v>35489</c:v>
                </c:pt>
                <c:pt idx="230">
                  <c:v>35520</c:v>
                </c:pt>
                <c:pt idx="231">
                  <c:v>35550</c:v>
                </c:pt>
                <c:pt idx="232">
                  <c:v>35581</c:v>
                </c:pt>
                <c:pt idx="233">
                  <c:v>35611</c:v>
                </c:pt>
                <c:pt idx="234">
                  <c:v>35642</c:v>
                </c:pt>
                <c:pt idx="235">
                  <c:v>35673</c:v>
                </c:pt>
                <c:pt idx="236">
                  <c:v>35703</c:v>
                </c:pt>
                <c:pt idx="237">
                  <c:v>35734</c:v>
                </c:pt>
                <c:pt idx="238">
                  <c:v>35764</c:v>
                </c:pt>
                <c:pt idx="239">
                  <c:v>35795</c:v>
                </c:pt>
                <c:pt idx="240">
                  <c:v>35826</c:v>
                </c:pt>
                <c:pt idx="241">
                  <c:v>35854</c:v>
                </c:pt>
                <c:pt idx="242">
                  <c:v>35885</c:v>
                </c:pt>
                <c:pt idx="243">
                  <c:v>35915</c:v>
                </c:pt>
                <c:pt idx="244">
                  <c:v>35946</c:v>
                </c:pt>
                <c:pt idx="245">
                  <c:v>35976</c:v>
                </c:pt>
                <c:pt idx="246">
                  <c:v>36007</c:v>
                </c:pt>
                <c:pt idx="247">
                  <c:v>36038</c:v>
                </c:pt>
                <c:pt idx="248">
                  <c:v>36068</c:v>
                </c:pt>
                <c:pt idx="249">
                  <c:v>36099</c:v>
                </c:pt>
                <c:pt idx="250">
                  <c:v>36129</c:v>
                </c:pt>
                <c:pt idx="251">
                  <c:v>36160</c:v>
                </c:pt>
                <c:pt idx="252">
                  <c:v>36191</c:v>
                </c:pt>
                <c:pt idx="253">
                  <c:v>36219</c:v>
                </c:pt>
                <c:pt idx="254">
                  <c:v>36250</c:v>
                </c:pt>
                <c:pt idx="255">
                  <c:v>36280</c:v>
                </c:pt>
                <c:pt idx="256">
                  <c:v>36311</c:v>
                </c:pt>
                <c:pt idx="257">
                  <c:v>36341</c:v>
                </c:pt>
                <c:pt idx="258">
                  <c:v>36372</c:v>
                </c:pt>
                <c:pt idx="259">
                  <c:v>36403</c:v>
                </c:pt>
                <c:pt idx="260">
                  <c:v>36433</c:v>
                </c:pt>
                <c:pt idx="261">
                  <c:v>36464</c:v>
                </c:pt>
                <c:pt idx="262">
                  <c:v>36494</c:v>
                </c:pt>
                <c:pt idx="263">
                  <c:v>36525</c:v>
                </c:pt>
                <c:pt idx="264">
                  <c:v>36556</c:v>
                </c:pt>
                <c:pt idx="265">
                  <c:v>36585</c:v>
                </c:pt>
                <c:pt idx="266">
                  <c:v>36616</c:v>
                </c:pt>
                <c:pt idx="267">
                  <c:v>36646</c:v>
                </c:pt>
                <c:pt idx="268">
                  <c:v>36677</c:v>
                </c:pt>
                <c:pt idx="269">
                  <c:v>36707</c:v>
                </c:pt>
                <c:pt idx="270">
                  <c:v>36738</c:v>
                </c:pt>
                <c:pt idx="271">
                  <c:v>36769</c:v>
                </c:pt>
                <c:pt idx="272">
                  <c:v>36799</c:v>
                </c:pt>
                <c:pt idx="273">
                  <c:v>36830</c:v>
                </c:pt>
                <c:pt idx="274">
                  <c:v>36860</c:v>
                </c:pt>
                <c:pt idx="275">
                  <c:v>36891</c:v>
                </c:pt>
                <c:pt idx="276">
                  <c:v>36922</c:v>
                </c:pt>
                <c:pt idx="277">
                  <c:v>36950</c:v>
                </c:pt>
                <c:pt idx="278">
                  <c:v>36981</c:v>
                </c:pt>
                <c:pt idx="279">
                  <c:v>37011</c:v>
                </c:pt>
                <c:pt idx="280">
                  <c:v>37042</c:v>
                </c:pt>
                <c:pt idx="281">
                  <c:v>37072</c:v>
                </c:pt>
                <c:pt idx="282">
                  <c:v>37103</c:v>
                </c:pt>
                <c:pt idx="283">
                  <c:v>37134</c:v>
                </c:pt>
                <c:pt idx="284">
                  <c:v>37164</c:v>
                </c:pt>
                <c:pt idx="285">
                  <c:v>37195</c:v>
                </c:pt>
                <c:pt idx="286">
                  <c:v>37225</c:v>
                </c:pt>
                <c:pt idx="287">
                  <c:v>37256</c:v>
                </c:pt>
                <c:pt idx="288">
                  <c:v>37287</c:v>
                </c:pt>
                <c:pt idx="289">
                  <c:v>37315</c:v>
                </c:pt>
                <c:pt idx="290">
                  <c:v>37346</c:v>
                </c:pt>
                <c:pt idx="291">
                  <c:v>37376</c:v>
                </c:pt>
                <c:pt idx="292">
                  <c:v>37407</c:v>
                </c:pt>
                <c:pt idx="293">
                  <c:v>37437</c:v>
                </c:pt>
                <c:pt idx="294">
                  <c:v>37468</c:v>
                </c:pt>
                <c:pt idx="295">
                  <c:v>37499</c:v>
                </c:pt>
                <c:pt idx="296">
                  <c:v>37529</c:v>
                </c:pt>
                <c:pt idx="297">
                  <c:v>37560</c:v>
                </c:pt>
                <c:pt idx="298">
                  <c:v>37590</c:v>
                </c:pt>
                <c:pt idx="299">
                  <c:v>37621</c:v>
                </c:pt>
                <c:pt idx="300">
                  <c:v>37652</c:v>
                </c:pt>
                <c:pt idx="301">
                  <c:v>37680</c:v>
                </c:pt>
                <c:pt idx="302">
                  <c:v>37711</c:v>
                </c:pt>
                <c:pt idx="303">
                  <c:v>37741</c:v>
                </c:pt>
                <c:pt idx="304">
                  <c:v>37772</c:v>
                </c:pt>
                <c:pt idx="305">
                  <c:v>37802</c:v>
                </c:pt>
                <c:pt idx="306">
                  <c:v>37833</c:v>
                </c:pt>
                <c:pt idx="307">
                  <c:v>37864</c:v>
                </c:pt>
                <c:pt idx="308">
                  <c:v>37894</c:v>
                </c:pt>
                <c:pt idx="309">
                  <c:v>37925</c:v>
                </c:pt>
                <c:pt idx="310">
                  <c:v>37955</c:v>
                </c:pt>
                <c:pt idx="311">
                  <c:v>37986</c:v>
                </c:pt>
                <c:pt idx="312">
                  <c:v>38017</c:v>
                </c:pt>
                <c:pt idx="313">
                  <c:v>38046</c:v>
                </c:pt>
                <c:pt idx="314">
                  <c:v>38077</c:v>
                </c:pt>
                <c:pt idx="315">
                  <c:v>38107</c:v>
                </c:pt>
                <c:pt idx="316">
                  <c:v>38138</c:v>
                </c:pt>
                <c:pt idx="317">
                  <c:v>38168</c:v>
                </c:pt>
                <c:pt idx="318">
                  <c:v>38199</c:v>
                </c:pt>
                <c:pt idx="319">
                  <c:v>38230</c:v>
                </c:pt>
                <c:pt idx="320">
                  <c:v>38260</c:v>
                </c:pt>
                <c:pt idx="321">
                  <c:v>38291</c:v>
                </c:pt>
                <c:pt idx="322">
                  <c:v>38321</c:v>
                </c:pt>
                <c:pt idx="323">
                  <c:v>38352</c:v>
                </c:pt>
                <c:pt idx="324">
                  <c:v>38383</c:v>
                </c:pt>
                <c:pt idx="325">
                  <c:v>38411</c:v>
                </c:pt>
                <c:pt idx="326">
                  <c:v>38442</c:v>
                </c:pt>
                <c:pt idx="327">
                  <c:v>38472</c:v>
                </c:pt>
                <c:pt idx="328">
                  <c:v>38503</c:v>
                </c:pt>
                <c:pt idx="329">
                  <c:v>38533</c:v>
                </c:pt>
                <c:pt idx="330">
                  <c:v>38564</c:v>
                </c:pt>
                <c:pt idx="331">
                  <c:v>38595</c:v>
                </c:pt>
                <c:pt idx="332">
                  <c:v>38625</c:v>
                </c:pt>
                <c:pt idx="333">
                  <c:v>38656</c:v>
                </c:pt>
                <c:pt idx="334">
                  <c:v>38686</c:v>
                </c:pt>
                <c:pt idx="335">
                  <c:v>38717</c:v>
                </c:pt>
                <c:pt idx="336">
                  <c:v>38748</c:v>
                </c:pt>
                <c:pt idx="337">
                  <c:v>38776</c:v>
                </c:pt>
                <c:pt idx="338">
                  <c:v>38807</c:v>
                </c:pt>
                <c:pt idx="339">
                  <c:v>38837</c:v>
                </c:pt>
                <c:pt idx="340">
                  <c:v>38868</c:v>
                </c:pt>
                <c:pt idx="341">
                  <c:v>38898</c:v>
                </c:pt>
                <c:pt idx="342">
                  <c:v>38929</c:v>
                </c:pt>
                <c:pt idx="343">
                  <c:v>38960</c:v>
                </c:pt>
                <c:pt idx="344">
                  <c:v>38990</c:v>
                </c:pt>
                <c:pt idx="345">
                  <c:v>39021</c:v>
                </c:pt>
                <c:pt idx="346">
                  <c:v>39051</c:v>
                </c:pt>
                <c:pt idx="347">
                  <c:v>39082</c:v>
                </c:pt>
                <c:pt idx="348">
                  <c:v>39113</c:v>
                </c:pt>
                <c:pt idx="349">
                  <c:v>39141</c:v>
                </c:pt>
                <c:pt idx="350">
                  <c:v>39172</c:v>
                </c:pt>
                <c:pt idx="351">
                  <c:v>39202</c:v>
                </c:pt>
                <c:pt idx="352">
                  <c:v>39233</c:v>
                </c:pt>
                <c:pt idx="353">
                  <c:v>39263</c:v>
                </c:pt>
                <c:pt idx="354">
                  <c:v>39294</c:v>
                </c:pt>
                <c:pt idx="355">
                  <c:v>39325</c:v>
                </c:pt>
                <c:pt idx="356">
                  <c:v>39355</c:v>
                </c:pt>
                <c:pt idx="357">
                  <c:v>39386</c:v>
                </c:pt>
                <c:pt idx="358">
                  <c:v>39416</c:v>
                </c:pt>
                <c:pt idx="359">
                  <c:v>39447</c:v>
                </c:pt>
                <c:pt idx="360">
                  <c:v>39478</c:v>
                </c:pt>
                <c:pt idx="361">
                  <c:v>39507</c:v>
                </c:pt>
                <c:pt idx="362">
                  <c:v>39538</c:v>
                </c:pt>
                <c:pt idx="363">
                  <c:v>39568</c:v>
                </c:pt>
                <c:pt idx="364">
                  <c:v>39599</c:v>
                </c:pt>
                <c:pt idx="365">
                  <c:v>39629</c:v>
                </c:pt>
                <c:pt idx="366">
                  <c:v>39660</c:v>
                </c:pt>
                <c:pt idx="367">
                  <c:v>39691</c:v>
                </c:pt>
                <c:pt idx="368">
                  <c:v>39721</c:v>
                </c:pt>
                <c:pt idx="369">
                  <c:v>39752</c:v>
                </c:pt>
                <c:pt idx="370">
                  <c:v>39782</c:v>
                </c:pt>
                <c:pt idx="371">
                  <c:v>39813</c:v>
                </c:pt>
                <c:pt idx="372">
                  <c:v>39844</c:v>
                </c:pt>
                <c:pt idx="373">
                  <c:v>39872</c:v>
                </c:pt>
                <c:pt idx="374">
                  <c:v>39903</c:v>
                </c:pt>
                <c:pt idx="375">
                  <c:v>39933</c:v>
                </c:pt>
                <c:pt idx="376">
                  <c:v>39964</c:v>
                </c:pt>
                <c:pt idx="377">
                  <c:v>39994</c:v>
                </c:pt>
                <c:pt idx="378">
                  <c:v>40025</c:v>
                </c:pt>
                <c:pt idx="379">
                  <c:v>40056</c:v>
                </c:pt>
                <c:pt idx="380">
                  <c:v>40086</c:v>
                </c:pt>
                <c:pt idx="381">
                  <c:v>40117</c:v>
                </c:pt>
                <c:pt idx="382">
                  <c:v>40147</c:v>
                </c:pt>
                <c:pt idx="383">
                  <c:v>40178</c:v>
                </c:pt>
                <c:pt idx="384">
                  <c:v>40209</c:v>
                </c:pt>
                <c:pt idx="385">
                  <c:v>40237</c:v>
                </c:pt>
                <c:pt idx="386">
                  <c:v>40268</c:v>
                </c:pt>
                <c:pt idx="387">
                  <c:v>40298</c:v>
                </c:pt>
                <c:pt idx="388">
                  <c:v>40329</c:v>
                </c:pt>
                <c:pt idx="389">
                  <c:v>40359</c:v>
                </c:pt>
                <c:pt idx="390">
                  <c:v>40390</c:v>
                </c:pt>
                <c:pt idx="391">
                  <c:v>40421</c:v>
                </c:pt>
                <c:pt idx="392">
                  <c:v>40451</c:v>
                </c:pt>
                <c:pt idx="393">
                  <c:v>40482</c:v>
                </c:pt>
                <c:pt idx="394">
                  <c:v>40512</c:v>
                </c:pt>
                <c:pt idx="395">
                  <c:v>40543</c:v>
                </c:pt>
                <c:pt idx="396">
                  <c:v>40574</c:v>
                </c:pt>
                <c:pt idx="397">
                  <c:v>40602</c:v>
                </c:pt>
                <c:pt idx="398">
                  <c:v>40633</c:v>
                </c:pt>
                <c:pt idx="399">
                  <c:v>40663</c:v>
                </c:pt>
                <c:pt idx="400">
                  <c:v>40694</c:v>
                </c:pt>
                <c:pt idx="401">
                  <c:v>40724</c:v>
                </c:pt>
                <c:pt idx="402">
                  <c:v>40755</c:v>
                </c:pt>
                <c:pt idx="403">
                  <c:v>40786</c:v>
                </c:pt>
                <c:pt idx="404">
                  <c:v>40816</c:v>
                </c:pt>
                <c:pt idx="405">
                  <c:v>40847</c:v>
                </c:pt>
                <c:pt idx="406">
                  <c:v>40877</c:v>
                </c:pt>
                <c:pt idx="407">
                  <c:v>40908</c:v>
                </c:pt>
                <c:pt idx="408">
                  <c:v>40939</c:v>
                </c:pt>
                <c:pt idx="409">
                  <c:v>40968</c:v>
                </c:pt>
                <c:pt idx="410">
                  <c:v>40999</c:v>
                </c:pt>
                <c:pt idx="411">
                  <c:v>41029</c:v>
                </c:pt>
                <c:pt idx="412">
                  <c:v>41060</c:v>
                </c:pt>
                <c:pt idx="413">
                  <c:v>41090</c:v>
                </c:pt>
                <c:pt idx="414">
                  <c:v>41121</c:v>
                </c:pt>
                <c:pt idx="415">
                  <c:v>41152</c:v>
                </c:pt>
                <c:pt idx="416">
                  <c:v>41182</c:v>
                </c:pt>
                <c:pt idx="417">
                  <c:v>41213</c:v>
                </c:pt>
                <c:pt idx="418">
                  <c:v>41243</c:v>
                </c:pt>
                <c:pt idx="419">
                  <c:v>41274</c:v>
                </c:pt>
                <c:pt idx="420">
                  <c:v>41305</c:v>
                </c:pt>
                <c:pt idx="421">
                  <c:v>41333</c:v>
                </c:pt>
                <c:pt idx="422">
                  <c:v>41364</c:v>
                </c:pt>
                <c:pt idx="423">
                  <c:v>41394</c:v>
                </c:pt>
                <c:pt idx="424">
                  <c:v>41425</c:v>
                </c:pt>
                <c:pt idx="425">
                  <c:v>41455</c:v>
                </c:pt>
                <c:pt idx="426">
                  <c:v>41486</c:v>
                </c:pt>
                <c:pt idx="427">
                  <c:v>41517</c:v>
                </c:pt>
                <c:pt idx="428">
                  <c:v>41547</c:v>
                </c:pt>
                <c:pt idx="429">
                  <c:v>41578</c:v>
                </c:pt>
                <c:pt idx="430">
                  <c:v>41608</c:v>
                </c:pt>
                <c:pt idx="431">
                  <c:v>41639</c:v>
                </c:pt>
                <c:pt idx="432">
                  <c:v>41670</c:v>
                </c:pt>
                <c:pt idx="433">
                  <c:v>41698</c:v>
                </c:pt>
                <c:pt idx="434">
                  <c:v>41729</c:v>
                </c:pt>
                <c:pt idx="435">
                  <c:v>41759</c:v>
                </c:pt>
                <c:pt idx="436">
                  <c:v>41790</c:v>
                </c:pt>
                <c:pt idx="437">
                  <c:v>41820</c:v>
                </c:pt>
                <c:pt idx="438">
                  <c:v>41851</c:v>
                </c:pt>
                <c:pt idx="439">
                  <c:v>41882</c:v>
                </c:pt>
                <c:pt idx="440">
                  <c:v>41912</c:v>
                </c:pt>
                <c:pt idx="441">
                  <c:v>41943</c:v>
                </c:pt>
                <c:pt idx="442">
                  <c:v>41973</c:v>
                </c:pt>
                <c:pt idx="443">
                  <c:v>42004</c:v>
                </c:pt>
                <c:pt idx="444">
                  <c:v>42035</c:v>
                </c:pt>
                <c:pt idx="445">
                  <c:v>42063</c:v>
                </c:pt>
                <c:pt idx="446">
                  <c:v>42094</c:v>
                </c:pt>
                <c:pt idx="447">
                  <c:v>42124</c:v>
                </c:pt>
                <c:pt idx="448">
                  <c:v>42155</c:v>
                </c:pt>
                <c:pt idx="449">
                  <c:v>42185</c:v>
                </c:pt>
                <c:pt idx="450">
                  <c:v>42216</c:v>
                </c:pt>
                <c:pt idx="451">
                  <c:v>42247</c:v>
                </c:pt>
                <c:pt idx="452">
                  <c:v>42277</c:v>
                </c:pt>
                <c:pt idx="453">
                  <c:v>42308</c:v>
                </c:pt>
                <c:pt idx="454">
                  <c:v>42338</c:v>
                </c:pt>
                <c:pt idx="455">
                  <c:v>42369</c:v>
                </c:pt>
                <c:pt idx="456">
                  <c:v>42400</c:v>
                </c:pt>
                <c:pt idx="457">
                  <c:v>42429</c:v>
                </c:pt>
                <c:pt idx="458">
                  <c:v>42460</c:v>
                </c:pt>
                <c:pt idx="459">
                  <c:v>42490</c:v>
                </c:pt>
                <c:pt idx="460">
                  <c:v>42521</c:v>
                </c:pt>
                <c:pt idx="461">
                  <c:v>42551</c:v>
                </c:pt>
                <c:pt idx="462">
                  <c:v>42582</c:v>
                </c:pt>
                <c:pt idx="463">
                  <c:v>42613</c:v>
                </c:pt>
                <c:pt idx="464">
                  <c:v>42643</c:v>
                </c:pt>
                <c:pt idx="465">
                  <c:v>42674</c:v>
                </c:pt>
                <c:pt idx="466">
                  <c:v>42704</c:v>
                </c:pt>
                <c:pt idx="467">
                  <c:v>42735</c:v>
                </c:pt>
                <c:pt idx="468">
                  <c:v>42766</c:v>
                </c:pt>
                <c:pt idx="469">
                  <c:v>42794</c:v>
                </c:pt>
                <c:pt idx="470">
                  <c:v>42825</c:v>
                </c:pt>
                <c:pt idx="471">
                  <c:v>42855</c:v>
                </c:pt>
                <c:pt idx="472">
                  <c:v>42886</c:v>
                </c:pt>
                <c:pt idx="473">
                  <c:v>42916</c:v>
                </c:pt>
                <c:pt idx="474">
                  <c:v>42947</c:v>
                </c:pt>
                <c:pt idx="475">
                  <c:v>42978</c:v>
                </c:pt>
                <c:pt idx="476">
                  <c:v>43008</c:v>
                </c:pt>
                <c:pt idx="477">
                  <c:v>43039</c:v>
                </c:pt>
                <c:pt idx="478">
                  <c:v>43069</c:v>
                </c:pt>
                <c:pt idx="479">
                  <c:v>43100</c:v>
                </c:pt>
                <c:pt idx="480">
                  <c:v>43131</c:v>
                </c:pt>
                <c:pt idx="481">
                  <c:v>43159</c:v>
                </c:pt>
                <c:pt idx="482">
                  <c:v>43190</c:v>
                </c:pt>
                <c:pt idx="483">
                  <c:v>43220</c:v>
                </c:pt>
                <c:pt idx="484">
                  <c:v>43251</c:v>
                </c:pt>
                <c:pt idx="485">
                  <c:v>43281</c:v>
                </c:pt>
                <c:pt idx="486">
                  <c:v>43312</c:v>
                </c:pt>
                <c:pt idx="487">
                  <c:v>43343</c:v>
                </c:pt>
                <c:pt idx="488">
                  <c:v>43373</c:v>
                </c:pt>
                <c:pt idx="489">
                  <c:v>43404</c:v>
                </c:pt>
                <c:pt idx="490">
                  <c:v>43434</c:v>
                </c:pt>
                <c:pt idx="491">
                  <c:v>43465</c:v>
                </c:pt>
                <c:pt idx="492">
                  <c:v>43496</c:v>
                </c:pt>
                <c:pt idx="493">
                  <c:v>43524</c:v>
                </c:pt>
                <c:pt idx="494">
                  <c:v>43555</c:v>
                </c:pt>
                <c:pt idx="495">
                  <c:v>43585</c:v>
                </c:pt>
                <c:pt idx="496">
                  <c:v>43616</c:v>
                </c:pt>
                <c:pt idx="497">
                  <c:v>43646</c:v>
                </c:pt>
                <c:pt idx="498">
                  <c:v>43677</c:v>
                </c:pt>
                <c:pt idx="499">
                  <c:v>43708</c:v>
                </c:pt>
                <c:pt idx="500">
                  <c:v>43738</c:v>
                </c:pt>
                <c:pt idx="501">
                  <c:v>43769</c:v>
                </c:pt>
                <c:pt idx="502">
                  <c:v>43799</c:v>
                </c:pt>
                <c:pt idx="503">
                  <c:v>43830</c:v>
                </c:pt>
                <c:pt idx="504">
                  <c:v>43861</c:v>
                </c:pt>
                <c:pt idx="505">
                  <c:v>43890</c:v>
                </c:pt>
                <c:pt idx="506">
                  <c:v>43921</c:v>
                </c:pt>
                <c:pt idx="507">
                  <c:v>43951</c:v>
                </c:pt>
                <c:pt idx="508">
                  <c:v>43982</c:v>
                </c:pt>
                <c:pt idx="509">
                  <c:v>44012</c:v>
                </c:pt>
                <c:pt idx="510">
                  <c:v>44043</c:v>
                </c:pt>
                <c:pt idx="511">
                  <c:v>44074</c:v>
                </c:pt>
                <c:pt idx="512">
                  <c:v>44104</c:v>
                </c:pt>
                <c:pt idx="513">
                  <c:v>44135</c:v>
                </c:pt>
                <c:pt idx="514">
                  <c:v>44165</c:v>
                </c:pt>
                <c:pt idx="515">
                  <c:v>44196</c:v>
                </c:pt>
                <c:pt idx="516">
                  <c:v>44227</c:v>
                </c:pt>
                <c:pt idx="517">
                  <c:v>44255</c:v>
                </c:pt>
                <c:pt idx="518">
                  <c:v>44286</c:v>
                </c:pt>
                <c:pt idx="519">
                  <c:v>44316</c:v>
                </c:pt>
                <c:pt idx="520">
                  <c:v>44347</c:v>
                </c:pt>
                <c:pt idx="521">
                  <c:v>44377</c:v>
                </c:pt>
                <c:pt idx="522">
                  <c:v>44408</c:v>
                </c:pt>
                <c:pt idx="523">
                  <c:v>44439</c:v>
                </c:pt>
                <c:pt idx="524">
                  <c:v>44469</c:v>
                </c:pt>
                <c:pt idx="525">
                  <c:v>44500</c:v>
                </c:pt>
                <c:pt idx="526">
                  <c:v>44530</c:v>
                </c:pt>
                <c:pt idx="527">
                  <c:v>44561</c:v>
                </c:pt>
                <c:pt idx="528">
                  <c:v>44592</c:v>
                </c:pt>
                <c:pt idx="529">
                  <c:v>44620</c:v>
                </c:pt>
                <c:pt idx="530">
                  <c:v>44651</c:v>
                </c:pt>
                <c:pt idx="531">
                  <c:v>44681</c:v>
                </c:pt>
                <c:pt idx="532">
                  <c:v>44712</c:v>
                </c:pt>
                <c:pt idx="533">
                  <c:v>44742</c:v>
                </c:pt>
                <c:pt idx="534">
                  <c:v>44773</c:v>
                </c:pt>
                <c:pt idx="535">
                  <c:v>44804</c:v>
                </c:pt>
                <c:pt idx="536">
                  <c:v>44834</c:v>
                </c:pt>
                <c:pt idx="537">
                  <c:v>44865</c:v>
                </c:pt>
                <c:pt idx="538">
                  <c:v>44895</c:v>
                </c:pt>
                <c:pt idx="539">
                  <c:v>44926</c:v>
                </c:pt>
                <c:pt idx="540">
                  <c:v>44957</c:v>
                </c:pt>
                <c:pt idx="541">
                  <c:v>44985</c:v>
                </c:pt>
                <c:pt idx="542">
                  <c:v>45016</c:v>
                </c:pt>
              </c:numCache>
            </c:numRef>
          </c:cat>
          <c:val>
            <c:numRef>
              <c:f>'Page 6 Data'!$T$7:$T$549</c:f>
              <c:numCache>
                <c:formatCode>General</c:formatCode>
                <c:ptCount val="543"/>
                <c:pt idx="0">
                  <c:v>117</c:v>
                </c:pt>
                <c:pt idx="1">
                  <c:v>122</c:v>
                </c:pt>
                <c:pt idx="2">
                  <c:v>128</c:v>
                </c:pt>
                <c:pt idx="3">
                  <c:v>129</c:v>
                </c:pt>
                <c:pt idx="4">
                  <c:v>121</c:v>
                </c:pt>
                <c:pt idx="5">
                  <c:v>122</c:v>
                </c:pt>
                <c:pt idx="6">
                  <c:v>118</c:v>
                </c:pt>
                <c:pt idx="7">
                  <c:v>111</c:v>
                </c:pt>
                <c:pt idx="8">
                  <c:v>120</c:v>
                </c:pt>
                <c:pt idx="9">
                  <c:v>117</c:v>
                </c:pt>
                <c:pt idx="10">
                  <c:v>101</c:v>
                </c:pt>
                <c:pt idx="11">
                  <c:v>104</c:v>
                </c:pt>
                <c:pt idx="12">
                  <c:v>109</c:v>
                </c:pt>
                <c:pt idx="13">
                  <c:v>106</c:v>
                </c:pt>
                <c:pt idx="14">
                  <c:v>111</c:v>
                </c:pt>
                <c:pt idx="15">
                  <c:v>116</c:v>
                </c:pt>
                <c:pt idx="16">
                  <c:v>109</c:v>
                </c:pt>
                <c:pt idx="17">
                  <c:v>107</c:v>
                </c:pt>
                <c:pt idx="18">
                  <c:v>101</c:v>
                </c:pt>
                <c:pt idx="19">
                  <c:v>98</c:v>
                </c:pt>
                <c:pt idx="20">
                  <c:v>97</c:v>
                </c:pt>
                <c:pt idx="21">
                  <c:v>100</c:v>
                </c:pt>
                <c:pt idx="22">
                  <c:v>62</c:v>
                </c:pt>
                <c:pt idx="23">
                  <c:v>62</c:v>
                </c:pt>
                <c:pt idx="24">
                  <c:v>76</c:v>
                </c:pt>
                <c:pt idx="25">
                  <c:v>77</c:v>
                </c:pt>
                <c:pt idx="26">
                  <c:v>70</c:v>
                </c:pt>
                <c:pt idx="27">
                  <c:v>45</c:v>
                </c:pt>
                <c:pt idx="28">
                  <c:v>44</c:v>
                </c:pt>
                <c:pt idx="29">
                  <c:v>63</c:v>
                </c:pt>
                <c:pt idx="30">
                  <c:v>76</c:v>
                </c:pt>
                <c:pt idx="31">
                  <c:v>94</c:v>
                </c:pt>
                <c:pt idx="32">
                  <c:v>81</c:v>
                </c:pt>
                <c:pt idx="33">
                  <c:v>77</c:v>
                </c:pt>
                <c:pt idx="34">
                  <c:v>61</c:v>
                </c:pt>
                <c:pt idx="35">
                  <c:v>44</c:v>
                </c:pt>
                <c:pt idx="36">
                  <c:v>41</c:v>
                </c:pt>
                <c:pt idx="37">
                  <c:v>47</c:v>
                </c:pt>
                <c:pt idx="38">
                  <c:v>43</c:v>
                </c:pt>
                <c:pt idx="39">
                  <c:v>57</c:v>
                </c:pt>
                <c:pt idx="40">
                  <c:v>52</c:v>
                </c:pt>
                <c:pt idx="41">
                  <c:v>48</c:v>
                </c:pt>
                <c:pt idx="42">
                  <c:v>45</c:v>
                </c:pt>
                <c:pt idx="43">
                  <c:v>49</c:v>
                </c:pt>
                <c:pt idx="44">
                  <c:v>39</c:v>
                </c:pt>
                <c:pt idx="45">
                  <c:v>44</c:v>
                </c:pt>
                <c:pt idx="46">
                  <c:v>37</c:v>
                </c:pt>
                <c:pt idx="47">
                  <c:v>43</c:v>
                </c:pt>
                <c:pt idx="48">
                  <c:v>48</c:v>
                </c:pt>
                <c:pt idx="49">
                  <c:v>48</c:v>
                </c:pt>
                <c:pt idx="50">
                  <c:v>40</c:v>
                </c:pt>
                <c:pt idx="51">
                  <c:v>46</c:v>
                </c:pt>
                <c:pt idx="52">
                  <c:v>46</c:v>
                </c:pt>
                <c:pt idx="53">
                  <c:v>49</c:v>
                </c:pt>
                <c:pt idx="54">
                  <c:v>39</c:v>
                </c:pt>
                <c:pt idx="55">
                  <c:v>48</c:v>
                </c:pt>
                <c:pt idx="56">
                  <c:v>62</c:v>
                </c:pt>
                <c:pt idx="57">
                  <c:v>70</c:v>
                </c:pt>
                <c:pt idx="58">
                  <c:v>82</c:v>
                </c:pt>
                <c:pt idx="59">
                  <c:v>91</c:v>
                </c:pt>
                <c:pt idx="60">
                  <c:v>91</c:v>
                </c:pt>
                <c:pt idx="61">
                  <c:v>100</c:v>
                </c:pt>
                <c:pt idx="62">
                  <c:v>104</c:v>
                </c:pt>
                <c:pt idx="63">
                  <c:v>127</c:v>
                </c:pt>
                <c:pt idx="64">
                  <c:v>131</c:v>
                </c:pt>
                <c:pt idx="65">
                  <c:v>137</c:v>
                </c:pt>
                <c:pt idx="66">
                  <c:v>122</c:v>
                </c:pt>
                <c:pt idx="67">
                  <c:v>118</c:v>
                </c:pt>
                <c:pt idx="68">
                  <c:v>122</c:v>
                </c:pt>
                <c:pt idx="69">
                  <c:v>116</c:v>
                </c:pt>
                <c:pt idx="70">
                  <c:v>112</c:v>
                </c:pt>
                <c:pt idx="71">
                  <c:v>120</c:v>
                </c:pt>
                <c:pt idx="72">
                  <c:v>121</c:v>
                </c:pt>
                <c:pt idx="73">
                  <c:v>132</c:v>
                </c:pt>
                <c:pt idx="74">
                  <c:v>130</c:v>
                </c:pt>
                <c:pt idx="75">
                  <c:v>134</c:v>
                </c:pt>
                <c:pt idx="76">
                  <c:v>121</c:v>
                </c:pt>
                <c:pt idx="77">
                  <c:v>115</c:v>
                </c:pt>
                <c:pt idx="78">
                  <c:v>109</c:v>
                </c:pt>
                <c:pt idx="79">
                  <c:v>106</c:v>
                </c:pt>
                <c:pt idx="80">
                  <c:v>102</c:v>
                </c:pt>
                <c:pt idx="81">
                  <c:v>109</c:v>
                </c:pt>
                <c:pt idx="82">
                  <c:v>112</c:v>
                </c:pt>
                <c:pt idx="83">
                  <c:v>113</c:v>
                </c:pt>
                <c:pt idx="84">
                  <c:v>125</c:v>
                </c:pt>
                <c:pt idx="85">
                  <c:v>126</c:v>
                </c:pt>
                <c:pt idx="86">
                  <c:v>133</c:v>
                </c:pt>
                <c:pt idx="87">
                  <c:v>131</c:v>
                </c:pt>
                <c:pt idx="88">
                  <c:v>126</c:v>
                </c:pt>
                <c:pt idx="89">
                  <c:v>140</c:v>
                </c:pt>
                <c:pt idx="90">
                  <c:v>149</c:v>
                </c:pt>
                <c:pt idx="91">
                  <c:v>144</c:v>
                </c:pt>
                <c:pt idx="92">
                  <c:v>148</c:v>
                </c:pt>
                <c:pt idx="93">
                  <c:v>140</c:v>
                </c:pt>
                <c:pt idx="94">
                  <c:v>139</c:v>
                </c:pt>
                <c:pt idx="95">
                  <c:v>142</c:v>
                </c:pt>
                <c:pt idx="96">
                  <c:v>147</c:v>
                </c:pt>
                <c:pt idx="97">
                  <c:v>154</c:v>
                </c:pt>
                <c:pt idx="98">
                  <c:v>167</c:v>
                </c:pt>
                <c:pt idx="99">
                  <c:v>175</c:v>
                </c:pt>
                <c:pt idx="100">
                  <c:v>170</c:v>
                </c:pt>
                <c:pt idx="101">
                  <c:v>173</c:v>
                </c:pt>
                <c:pt idx="102">
                  <c:v>165</c:v>
                </c:pt>
                <c:pt idx="103">
                  <c:v>165</c:v>
                </c:pt>
                <c:pt idx="104">
                  <c:v>168</c:v>
                </c:pt>
                <c:pt idx="105">
                  <c:v>164</c:v>
                </c:pt>
                <c:pt idx="106">
                  <c:v>168</c:v>
                </c:pt>
                <c:pt idx="107">
                  <c:v>164</c:v>
                </c:pt>
                <c:pt idx="108">
                  <c:v>156</c:v>
                </c:pt>
                <c:pt idx="109">
                  <c:v>164</c:v>
                </c:pt>
                <c:pt idx="110">
                  <c:v>164</c:v>
                </c:pt>
                <c:pt idx="111">
                  <c:v>165</c:v>
                </c:pt>
                <c:pt idx="112">
                  <c:v>158</c:v>
                </c:pt>
                <c:pt idx="113">
                  <c:v>150</c:v>
                </c:pt>
                <c:pt idx="114">
                  <c:v>149</c:v>
                </c:pt>
                <c:pt idx="115">
                  <c:v>149</c:v>
                </c:pt>
                <c:pt idx="116">
                  <c:v>146</c:v>
                </c:pt>
                <c:pt idx="117">
                  <c:v>144</c:v>
                </c:pt>
                <c:pt idx="118">
                  <c:v>120</c:v>
                </c:pt>
                <c:pt idx="119">
                  <c:v>139</c:v>
                </c:pt>
                <c:pt idx="120">
                  <c:v>137</c:v>
                </c:pt>
                <c:pt idx="121">
                  <c:v>137</c:v>
                </c:pt>
                <c:pt idx="122">
                  <c:v>148</c:v>
                </c:pt>
                <c:pt idx="123">
                  <c:v>149</c:v>
                </c:pt>
                <c:pt idx="124">
                  <c:v>147</c:v>
                </c:pt>
                <c:pt idx="125">
                  <c:v>151</c:v>
                </c:pt>
                <c:pt idx="126">
                  <c:v>148</c:v>
                </c:pt>
                <c:pt idx="127">
                  <c:v>140</c:v>
                </c:pt>
                <c:pt idx="128">
                  <c:v>145</c:v>
                </c:pt>
                <c:pt idx="129">
                  <c:v>133</c:v>
                </c:pt>
                <c:pt idx="130">
                  <c:v>138</c:v>
                </c:pt>
                <c:pt idx="131">
                  <c:v>133</c:v>
                </c:pt>
                <c:pt idx="132">
                  <c:v>134</c:v>
                </c:pt>
                <c:pt idx="133">
                  <c:v>136</c:v>
                </c:pt>
                <c:pt idx="134">
                  <c:v>125</c:v>
                </c:pt>
                <c:pt idx="135">
                  <c:v>120</c:v>
                </c:pt>
                <c:pt idx="136">
                  <c:v>128</c:v>
                </c:pt>
                <c:pt idx="137">
                  <c:v>127</c:v>
                </c:pt>
                <c:pt idx="138">
                  <c:v>134</c:v>
                </c:pt>
                <c:pt idx="139">
                  <c:v>132</c:v>
                </c:pt>
                <c:pt idx="140">
                  <c:v>144</c:v>
                </c:pt>
                <c:pt idx="141">
                  <c:v>137</c:v>
                </c:pt>
                <c:pt idx="142">
                  <c:v>133</c:v>
                </c:pt>
                <c:pt idx="143">
                  <c:v>134</c:v>
                </c:pt>
                <c:pt idx="144">
                  <c:v>135</c:v>
                </c:pt>
                <c:pt idx="145">
                  <c:v>128</c:v>
                </c:pt>
                <c:pt idx="146">
                  <c:v>136</c:v>
                </c:pt>
                <c:pt idx="147">
                  <c:v>140</c:v>
                </c:pt>
                <c:pt idx="148">
                  <c:v>136</c:v>
                </c:pt>
                <c:pt idx="149">
                  <c:v>134</c:v>
                </c:pt>
                <c:pt idx="150">
                  <c:v>136</c:v>
                </c:pt>
                <c:pt idx="151">
                  <c:v>122</c:v>
                </c:pt>
                <c:pt idx="152">
                  <c:v>120</c:v>
                </c:pt>
                <c:pt idx="153">
                  <c:v>106</c:v>
                </c:pt>
                <c:pt idx="154">
                  <c:v>111</c:v>
                </c:pt>
                <c:pt idx="155">
                  <c:v>114</c:v>
                </c:pt>
                <c:pt idx="156">
                  <c:v>126</c:v>
                </c:pt>
                <c:pt idx="157">
                  <c:v>126</c:v>
                </c:pt>
                <c:pt idx="158">
                  <c:v>148</c:v>
                </c:pt>
                <c:pt idx="159">
                  <c:v>140</c:v>
                </c:pt>
                <c:pt idx="160">
                  <c:v>149</c:v>
                </c:pt>
                <c:pt idx="161">
                  <c:v>148</c:v>
                </c:pt>
                <c:pt idx="162">
                  <c:v>148</c:v>
                </c:pt>
                <c:pt idx="163">
                  <c:v>146</c:v>
                </c:pt>
                <c:pt idx="164">
                  <c:v>152</c:v>
                </c:pt>
                <c:pt idx="165">
                  <c:v>146</c:v>
                </c:pt>
                <c:pt idx="166">
                  <c:v>143</c:v>
                </c:pt>
                <c:pt idx="167">
                  <c:v>141</c:v>
                </c:pt>
                <c:pt idx="168">
                  <c:v>155</c:v>
                </c:pt>
                <c:pt idx="169">
                  <c:v>163</c:v>
                </c:pt>
                <c:pt idx="170">
                  <c:v>153</c:v>
                </c:pt>
                <c:pt idx="171">
                  <c:v>162</c:v>
                </c:pt>
                <c:pt idx="172">
                  <c:v>159</c:v>
                </c:pt>
                <c:pt idx="173">
                  <c:v>163</c:v>
                </c:pt>
                <c:pt idx="174">
                  <c:v>153</c:v>
                </c:pt>
                <c:pt idx="175">
                  <c:v>159</c:v>
                </c:pt>
                <c:pt idx="176">
                  <c:v>162</c:v>
                </c:pt>
                <c:pt idx="177">
                  <c:v>148</c:v>
                </c:pt>
                <c:pt idx="178">
                  <c:v>160</c:v>
                </c:pt>
                <c:pt idx="179">
                  <c:v>162</c:v>
                </c:pt>
                <c:pt idx="180">
                  <c:v>166</c:v>
                </c:pt>
                <c:pt idx="181">
                  <c:v>158</c:v>
                </c:pt>
                <c:pt idx="182">
                  <c:v>173</c:v>
                </c:pt>
                <c:pt idx="183">
                  <c:v>167</c:v>
                </c:pt>
                <c:pt idx="184">
                  <c:v>163</c:v>
                </c:pt>
                <c:pt idx="185">
                  <c:v>166</c:v>
                </c:pt>
                <c:pt idx="186">
                  <c:v>171</c:v>
                </c:pt>
                <c:pt idx="187">
                  <c:v>166</c:v>
                </c:pt>
                <c:pt idx="188">
                  <c:v>170</c:v>
                </c:pt>
                <c:pt idx="189">
                  <c:v>170</c:v>
                </c:pt>
                <c:pt idx="190">
                  <c:v>172</c:v>
                </c:pt>
                <c:pt idx="191">
                  <c:v>174</c:v>
                </c:pt>
                <c:pt idx="192">
                  <c:v>174</c:v>
                </c:pt>
                <c:pt idx="193">
                  <c:v>176</c:v>
                </c:pt>
                <c:pt idx="194">
                  <c:v>176</c:v>
                </c:pt>
                <c:pt idx="195">
                  <c:v>170</c:v>
                </c:pt>
                <c:pt idx="196">
                  <c:v>167</c:v>
                </c:pt>
                <c:pt idx="197">
                  <c:v>161</c:v>
                </c:pt>
                <c:pt idx="198">
                  <c:v>159</c:v>
                </c:pt>
                <c:pt idx="199">
                  <c:v>160</c:v>
                </c:pt>
                <c:pt idx="200">
                  <c:v>162</c:v>
                </c:pt>
                <c:pt idx="201">
                  <c:v>163</c:v>
                </c:pt>
                <c:pt idx="202">
                  <c:v>144</c:v>
                </c:pt>
                <c:pt idx="203">
                  <c:v>144</c:v>
                </c:pt>
                <c:pt idx="204">
                  <c:v>136</c:v>
                </c:pt>
                <c:pt idx="205">
                  <c:v>134</c:v>
                </c:pt>
                <c:pt idx="206">
                  <c:v>141</c:v>
                </c:pt>
                <c:pt idx="207">
                  <c:v>140</c:v>
                </c:pt>
                <c:pt idx="208">
                  <c:v>147</c:v>
                </c:pt>
                <c:pt idx="209">
                  <c:v>139</c:v>
                </c:pt>
                <c:pt idx="210">
                  <c:v>166</c:v>
                </c:pt>
                <c:pt idx="211">
                  <c:v>160</c:v>
                </c:pt>
                <c:pt idx="212">
                  <c:v>166</c:v>
                </c:pt>
                <c:pt idx="213">
                  <c:v>151</c:v>
                </c:pt>
                <c:pt idx="214">
                  <c:v>148</c:v>
                </c:pt>
                <c:pt idx="215">
                  <c:v>157</c:v>
                </c:pt>
                <c:pt idx="216">
                  <c:v>152</c:v>
                </c:pt>
                <c:pt idx="217">
                  <c:v>163</c:v>
                </c:pt>
                <c:pt idx="218">
                  <c:v>168</c:v>
                </c:pt>
                <c:pt idx="219">
                  <c:v>157</c:v>
                </c:pt>
                <c:pt idx="220">
                  <c:v>159</c:v>
                </c:pt>
                <c:pt idx="221">
                  <c:v>153</c:v>
                </c:pt>
                <c:pt idx="222">
                  <c:v>161</c:v>
                </c:pt>
                <c:pt idx="223">
                  <c:v>158</c:v>
                </c:pt>
                <c:pt idx="224">
                  <c:v>149</c:v>
                </c:pt>
                <c:pt idx="225">
                  <c:v>159</c:v>
                </c:pt>
                <c:pt idx="226">
                  <c:v>157</c:v>
                </c:pt>
                <c:pt idx="227">
                  <c:v>156</c:v>
                </c:pt>
                <c:pt idx="228">
                  <c:v>162</c:v>
                </c:pt>
                <c:pt idx="229">
                  <c:v>166</c:v>
                </c:pt>
                <c:pt idx="230">
                  <c:v>155</c:v>
                </c:pt>
                <c:pt idx="231">
                  <c:v>153</c:v>
                </c:pt>
                <c:pt idx="232">
                  <c:v>160</c:v>
                </c:pt>
                <c:pt idx="233">
                  <c:v>160</c:v>
                </c:pt>
                <c:pt idx="234">
                  <c:v>165</c:v>
                </c:pt>
                <c:pt idx="235">
                  <c:v>166</c:v>
                </c:pt>
                <c:pt idx="236">
                  <c:v>172</c:v>
                </c:pt>
                <c:pt idx="237">
                  <c:v>164</c:v>
                </c:pt>
                <c:pt idx="238">
                  <c:v>163</c:v>
                </c:pt>
                <c:pt idx="239">
                  <c:v>161</c:v>
                </c:pt>
                <c:pt idx="240">
                  <c:v>172</c:v>
                </c:pt>
                <c:pt idx="241">
                  <c:v>170</c:v>
                </c:pt>
                <c:pt idx="242">
                  <c:v>176</c:v>
                </c:pt>
                <c:pt idx="243">
                  <c:v>178</c:v>
                </c:pt>
                <c:pt idx="244">
                  <c:v>172</c:v>
                </c:pt>
                <c:pt idx="245">
                  <c:v>171</c:v>
                </c:pt>
                <c:pt idx="246">
                  <c:v>169</c:v>
                </c:pt>
                <c:pt idx="247">
                  <c:v>170</c:v>
                </c:pt>
                <c:pt idx="248">
                  <c:v>166</c:v>
                </c:pt>
                <c:pt idx="249">
                  <c:v>178</c:v>
                </c:pt>
                <c:pt idx="250">
                  <c:v>173</c:v>
                </c:pt>
                <c:pt idx="251">
                  <c:v>182</c:v>
                </c:pt>
                <c:pt idx="252">
                  <c:v>176</c:v>
                </c:pt>
                <c:pt idx="253">
                  <c:v>178</c:v>
                </c:pt>
                <c:pt idx="254">
                  <c:v>167</c:v>
                </c:pt>
                <c:pt idx="255">
                  <c:v>168</c:v>
                </c:pt>
                <c:pt idx="256">
                  <c:v>171</c:v>
                </c:pt>
                <c:pt idx="257">
                  <c:v>168</c:v>
                </c:pt>
                <c:pt idx="258">
                  <c:v>167</c:v>
                </c:pt>
                <c:pt idx="259">
                  <c:v>153</c:v>
                </c:pt>
                <c:pt idx="260">
                  <c:v>149</c:v>
                </c:pt>
                <c:pt idx="261">
                  <c:v>149</c:v>
                </c:pt>
                <c:pt idx="262">
                  <c:v>156</c:v>
                </c:pt>
                <c:pt idx="263">
                  <c:v>154</c:v>
                </c:pt>
                <c:pt idx="264">
                  <c:v>152</c:v>
                </c:pt>
                <c:pt idx="265">
                  <c:v>153</c:v>
                </c:pt>
                <c:pt idx="266">
                  <c:v>150</c:v>
                </c:pt>
                <c:pt idx="267">
                  <c:v>151</c:v>
                </c:pt>
                <c:pt idx="268">
                  <c:v>136</c:v>
                </c:pt>
                <c:pt idx="269">
                  <c:v>128</c:v>
                </c:pt>
                <c:pt idx="270">
                  <c:v>136</c:v>
                </c:pt>
                <c:pt idx="271">
                  <c:v>138</c:v>
                </c:pt>
                <c:pt idx="272">
                  <c:v>144</c:v>
                </c:pt>
                <c:pt idx="273">
                  <c:v>134</c:v>
                </c:pt>
                <c:pt idx="274">
                  <c:v>152</c:v>
                </c:pt>
                <c:pt idx="275">
                  <c:v>139</c:v>
                </c:pt>
                <c:pt idx="276">
                  <c:v>149</c:v>
                </c:pt>
                <c:pt idx="277">
                  <c:v>149</c:v>
                </c:pt>
                <c:pt idx="278">
                  <c:v>148</c:v>
                </c:pt>
                <c:pt idx="279">
                  <c:v>144</c:v>
                </c:pt>
                <c:pt idx="280">
                  <c:v>154</c:v>
                </c:pt>
                <c:pt idx="281">
                  <c:v>162</c:v>
                </c:pt>
                <c:pt idx="282">
                  <c:v>149</c:v>
                </c:pt>
                <c:pt idx="283">
                  <c:v>154</c:v>
                </c:pt>
                <c:pt idx="284">
                  <c:v>149</c:v>
                </c:pt>
                <c:pt idx="285">
                  <c:v>159</c:v>
                </c:pt>
                <c:pt idx="286">
                  <c:v>161</c:v>
                </c:pt>
                <c:pt idx="287">
                  <c:v>167</c:v>
                </c:pt>
                <c:pt idx="288">
                  <c:v>161</c:v>
                </c:pt>
                <c:pt idx="289">
                  <c:v>164</c:v>
                </c:pt>
                <c:pt idx="290">
                  <c:v>162</c:v>
                </c:pt>
                <c:pt idx="291">
                  <c:v>163</c:v>
                </c:pt>
                <c:pt idx="292">
                  <c:v>167</c:v>
                </c:pt>
                <c:pt idx="293">
                  <c:v>149</c:v>
                </c:pt>
                <c:pt idx="294">
                  <c:v>154</c:v>
                </c:pt>
                <c:pt idx="295">
                  <c:v>163</c:v>
                </c:pt>
                <c:pt idx="296">
                  <c:v>161</c:v>
                </c:pt>
                <c:pt idx="297">
                  <c:v>157</c:v>
                </c:pt>
                <c:pt idx="298">
                  <c:v>165</c:v>
                </c:pt>
                <c:pt idx="299">
                  <c:v>165</c:v>
                </c:pt>
                <c:pt idx="300">
                  <c:v>164</c:v>
                </c:pt>
                <c:pt idx="301">
                  <c:v>165</c:v>
                </c:pt>
                <c:pt idx="302">
                  <c:v>153</c:v>
                </c:pt>
                <c:pt idx="303">
                  <c:v>157</c:v>
                </c:pt>
                <c:pt idx="304">
                  <c:v>175</c:v>
                </c:pt>
                <c:pt idx="305">
                  <c:v>166</c:v>
                </c:pt>
                <c:pt idx="306">
                  <c:v>169</c:v>
                </c:pt>
                <c:pt idx="307">
                  <c:v>165</c:v>
                </c:pt>
                <c:pt idx="308">
                  <c:v>158</c:v>
                </c:pt>
                <c:pt idx="309">
                  <c:v>165</c:v>
                </c:pt>
                <c:pt idx="310">
                  <c:v>170</c:v>
                </c:pt>
                <c:pt idx="311">
                  <c:v>163</c:v>
                </c:pt>
                <c:pt idx="312">
                  <c:v>164</c:v>
                </c:pt>
                <c:pt idx="313">
                  <c:v>158</c:v>
                </c:pt>
                <c:pt idx="314">
                  <c:v>163</c:v>
                </c:pt>
                <c:pt idx="315">
                  <c:v>167</c:v>
                </c:pt>
                <c:pt idx="316">
                  <c:v>160</c:v>
                </c:pt>
                <c:pt idx="317">
                  <c:v>162</c:v>
                </c:pt>
                <c:pt idx="318">
                  <c:v>160</c:v>
                </c:pt>
                <c:pt idx="319">
                  <c:v>156</c:v>
                </c:pt>
                <c:pt idx="320">
                  <c:v>162</c:v>
                </c:pt>
                <c:pt idx="321">
                  <c:v>155</c:v>
                </c:pt>
                <c:pt idx="322">
                  <c:v>155</c:v>
                </c:pt>
                <c:pt idx="323">
                  <c:v>160</c:v>
                </c:pt>
                <c:pt idx="324">
                  <c:v>158</c:v>
                </c:pt>
                <c:pt idx="325">
                  <c:v>151</c:v>
                </c:pt>
                <c:pt idx="326">
                  <c:v>150</c:v>
                </c:pt>
                <c:pt idx="327">
                  <c:v>149</c:v>
                </c:pt>
                <c:pt idx="328">
                  <c:v>156</c:v>
                </c:pt>
                <c:pt idx="329">
                  <c:v>146</c:v>
                </c:pt>
                <c:pt idx="330">
                  <c:v>145</c:v>
                </c:pt>
                <c:pt idx="331">
                  <c:v>140</c:v>
                </c:pt>
                <c:pt idx="332">
                  <c:v>130</c:v>
                </c:pt>
                <c:pt idx="333">
                  <c:v>125</c:v>
                </c:pt>
                <c:pt idx="334">
                  <c:v>130</c:v>
                </c:pt>
                <c:pt idx="335">
                  <c:v>124</c:v>
                </c:pt>
                <c:pt idx="336">
                  <c:v>126</c:v>
                </c:pt>
                <c:pt idx="337">
                  <c:v>119</c:v>
                </c:pt>
                <c:pt idx="338">
                  <c:v>125</c:v>
                </c:pt>
                <c:pt idx="339">
                  <c:v>125</c:v>
                </c:pt>
                <c:pt idx="340">
                  <c:v>121</c:v>
                </c:pt>
                <c:pt idx="341">
                  <c:v>123</c:v>
                </c:pt>
                <c:pt idx="342">
                  <c:v>119</c:v>
                </c:pt>
                <c:pt idx="343">
                  <c:v>117</c:v>
                </c:pt>
                <c:pt idx="344">
                  <c:v>116</c:v>
                </c:pt>
                <c:pt idx="345">
                  <c:v>129</c:v>
                </c:pt>
                <c:pt idx="346">
                  <c:v>134</c:v>
                </c:pt>
                <c:pt idx="347">
                  <c:v>132</c:v>
                </c:pt>
                <c:pt idx="348">
                  <c:v>141</c:v>
                </c:pt>
                <c:pt idx="349">
                  <c:v>133</c:v>
                </c:pt>
                <c:pt idx="350">
                  <c:v>137</c:v>
                </c:pt>
                <c:pt idx="351">
                  <c:v>138</c:v>
                </c:pt>
                <c:pt idx="352">
                  <c:v>135</c:v>
                </c:pt>
                <c:pt idx="353">
                  <c:v>131</c:v>
                </c:pt>
                <c:pt idx="354">
                  <c:v>129</c:v>
                </c:pt>
                <c:pt idx="355">
                  <c:v>118</c:v>
                </c:pt>
                <c:pt idx="356">
                  <c:v>123</c:v>
                </c:pt>
                <c:pt idx="357">
                  <c:v>131</c:v>
                </c:pt>
                <c:pt idx="358">
                  <c:v>122</c:v>
                </c:pt>
                <c:pt idx="359">
                  <c:v>128</c:v>
                </c:pt>
                <c:pt idx="360">
                  <c:v>124</c:v>
                </c:pt>
                <c:pt idx="361">
                  <c:v>140</c:v>
                </c:pt>
                <c:pt idx="362">
                  <c:v>129</c:v>
                </c:pt>
                <c:pt idx="363">
                  <c:v>136</c:v>
                </c:pt>
                <c:pt idx="364">
                  <c:v>130</c:v>
                </c:pt>
                <c:pt idx="365">
                  <c:v>133</c:v>
                </c:pt>
                <c:pt idx="366">
                  <c:v>138</c:v>
                </c:pt>
                <c:pt idx="367">
                  <c:v>146</c:v>
                </c:pt>
                <c:pt idx="368">
                  <c:v>140</c:v>
                </c:pt>
                <c:pt idx="369">
                  <c:v>117</c:v>
                </c:pt>
                <c:pt idx="370">
                  <c:v>145</c:v>
                </c:pt>
                <c:pt idx="371">
                  <c:v>130</c:v>
                </c:pt>
                <c:pt idx="372">
                  <c:v>143</c:v>
                </c:pt>
                <c:pt idx="373">
                  <c:v>146</c:v>
                </c:pt>
                <c:pt idx="374">
                  <c:v>140</c:v>
                </c:pt>
                <c:pt idx="375">
                  <c:v>146</c:v>
                </c:pt>
                <c:pt idx="376">
                  <c:v>162</c:v>
                </c:pt>
                <c:pt idx="377">
                  <c:v>157</c:v>
                </c:pt>
                <c:pt idx="378">
                  <c:v>147</c:v>
                </c:pt>
                <c:pt idx="379">
                  <c:v>156</c:v>
                </c:pt>
                <c:pt idx="380">
                  <c:v>156</c:v>
                </c:pt>
                <c:pt idx="381">
                  <c:v>156</c:v>
                </c:pt>
                <c:pt idx="382">
                  <c:v>154</c:v>
                </c:pt>
                <c:pt idx="383">
                  <c:v>151</c:v>
                </c:pt>
                <c:pt idx="384">
                  <c:v>147</c:v>
                </c:pt>
                <c:pt idx="385">
                  <c:v>151</c:v>
                </c:pt>
                <c:pt idx="386">
                  <c:v>156</c:v>
                </c:pt>
                <c:pt idx="387">
                  <c:v>154</c:v>
                </c:pt>
                <c:pt idx="388">
                  <c:v>150</c:v>
                </c:pt>
                <c:pt idx="389">
                  <c:v>154</c:v>
                </c:pt>
                <c:pt idx="390">
                  <c:v>152</c:v>
                </c:pt>
                <c:pt idx="391">
                  <c:v>154</c:v>
                </c:pt>
                <c:pt idx="392">
                  <c:v>148</c:v>
                </c:pt>
                <c:pt idx="393">
                  <c:v>153</c:v>
                </c:pt>
                <c:pt idx="394">
                  <c:v>154</c:v>
                </c:pt>
                <c:pt idx="395">
                  <c:v>150</c:v>
                </c:pt>
                <c:pt idx="396">
                  <c:v>151</c:v>
                </c:pt>
                <c:pt idx="397">
                  <c:v>154</c:v>
                </c:pt>
                <c:pt idx="398">
                  <c:v>159</c:v>
                </c:pt>
                <c:pt idx="399">
                  <c:v>146</c:v>
                </c:pt>
                <c:pt idx="400">
                  <c:v>149</c:v>
                </c:pt>
                <c:pt idx="401">
                  <c:v>146</c:v>
                </c:pt>
                <c:pt idx="402">
                  <c:v>145</c:v>
                </c:pt>
                <c:pt idx="403">
                  <c:v>135</c:v>
                </c:pt>
                <c:pt idx="404">
                  <c:v>144</c:v>
                </c:pt>
                <c:pt idx="405">
                  <c:v>146</c:v>
                </c:pt>
                <c:pt idx="406">
                  <c:v>146</c:v>
                </c:pt>
                <c:pt idx="407">
                  <c:v>150</c:v>
                </c:pt>
                <c:pt idx="408">
                  <c:v>153</c:v>
                </c:pt>
                <c:pt idx="409">
                  <c:v>152</c:v>
                </c:pt>
                <c:pt idx="410">
                  <c:v>156</c:v>
                </c:pt>
                <c:pt idx="411">
                  <c:v>153</c:v>
                </c:pt>
                <c:pt idx="412">
                  <c:v>160</c:v>
                </c:pt>
                <c:pt idx="413">
                  <c:v>159</c:v>
                </c:pt>
                <c:pt idx="414">
                  <c:v>157</c:v>
                </c:pt>
                <c:pt idx="415">
                  <c:v>157</c:v>
                </c:pt>
                <c:pt idx="416">
                  <c:v>165</c:v>
                </c:pt>
                <c:pt idx="417">
                  <c:v>155</c:v>
                </c:pt>
                <c:pt idx="418">
                  <c:v>161</c:v>
                </c:pt>
                <c:pt idx="419">
                  <c:v>159</c:v>
                </c:pt>
                <c:pt idx="420">
                  <c:v>164</c:v>
                </c:pt>
                <c:pt idx="421">
                  <c:v>154</c:v>
                </c:pt>
                <c:pt idx="422">
                  <c:v>160</c:v>
                </c:pt>
                <c:pt idx="423">
                  <c:v>161</c:v>
                </c:pt>
                <c:pt idx="424">
                  <c:v>164</c:v>
                </c:pt>
                <c:pt idx="425">
                  <c:v>168</c:v>
                </c:pt>
                <c:pt idx="426">
                  <c:v>167</c:v>
                </c:pt>
                <c:pt idx="427">
                  <c:v>155</c:v>
                </c:pt>
                <c:pt idx="428">
                  <c:v>154</c:v>
                </c:pt>
                <c:pt idx="429">
                  <c:v>156</c:v>
                </c:pt>
                <c:pt idx="430">
                  <c:v>150</c:v>
                </c:pt>
                <c:pt idx="431">
                  <c:v>167</c:v>
                </c:pt>
                <c:pt idx="432">
                  <c:v>159</c:v>
                </c:pt>
                <c:pt idx="433">
                  <c:v>158</c:v>
                </c:pt>
                <c:pt idx="434">
                  <c:v>152</c:v>
                </c:pt>
                <c:pt idx="435">
                  <c:v>153</c:v>
                </c:pt>
                <c:pt idx="436">
                  <c:v>154</c:v>
                </c:pt>
                <c:pt idx="437">
                  <c:v>155</c:v>
                </c:pt>
                <c:pt idx="438">
                  <c:v>153</c:v>
                </c:pt>
                <c:pt idx="439">
                  <c:v>155</c:v>
                </c:pt>
                <c:pt idx="440">
                  <c:v>152</c:v>
                </c:pt>
                <c:pt idx="441">
                  <c:v>160</c:v>
                </c:pt>
                <c:pt idx="442">
                  <c:v>156</c:v>
                </c:pt>
                <c:pt idx="443">
                  <c:v>168</c:v>
                </c:pt>
                <c:pt idx="444">
                  <c:v>167</c:v>
                </c:pt>
                <c:pt idx="445">
                  <c:v>164</c:v>
                </c:pt>
                <c:pt idx="446">
                  <c:v>153</c:v>
                </c:pt>
                <c:pt idx="447">
                  <c:v>163</c:v>
                </c:pt>
                <c:pt idx="448">
                  <c:v>166</c:v>
                </c:pt>
                <c:pt idx="449">
                  <c:v>158</c:v>
                </c:pt>
                <c:pt idx="450">
                  <c:v>157</c:v>
                </c:pt>
                <c:pt idx="451">
                  <c:v>159</c:v>
                </c:pt>
                <c:pt idx="452">
                  <c:v>155</c:v>
                </c:pt>
                <c:pt idx="453">
                  <c:v>158</c:v>
                </c:pt>
                <c:pt idx="454">
                  <c:v>158</c:v>
                </c:pt>
                <c:pt idx="455">
                  <c:v>156</c:v>
                </c:pt>
                <c:pt idx="456">
                  <c:v>158</c:v>
                </c:pt>
                <c:pt idx="457">
                  <c:v>155</c:v>
                </c:pt>
                <c:pt idx="458">
                  <c:v>154</c:v>
                </c:pt>
                <c:pt idx="459">
                  <c:v>156</c:v>
                </c:pt>
                <c:pt idx="460">
                  <c:v>156</c:v>
                </c:pt>
                <c:pt idx="461">
                  <c:v>154</c:v>
                </c:pt>
                <c:pt idx="462">
                  <c:v>153</c:v>
                </c:pt>
                <c:pt idx="463">
                  <c:v>157</c:v>
                </c:pt>
                <c:pt idx="464">
                  <c:v>153</c:v>
                </c:pt>
                <c:pt idx="465">
                  <c:v>146</c:v>
                </c:pt>
                <c:pt idx="466">
                  <c:v>149</c:v>
                </c:pt>
                <c:pt idx="467">
                  <c:v>148</c:v>
                </c:pt>
                <c:pt idx="468">
                  <c:v>156</c:v>
                </c:pt>
                <c:pt idx="469">
                  <c:v>151</c:v>
                </c:pt>
                <c:pt idx="470">
                  <c:v>150</c:v>
                </c:pt>
                <c:pt idx="471">
                  <c:v>155</c:v>
                </c:pt>
                <c:pt idx="472">
                  <c:v>145</c:v>
                </c:pt>
                <c:pt idx="473">
                  <c:v>143</c:v>
                </c:pt>
                <c:pt idx="474">
                  <c:v>146</c:v>
                </c:pt>
                <c:pt idx="475">
                  <c:v>140</c:v>
                </c:pt>
                <c:pt idx="476">
                  <c:v>138</c:v>
                </c:pt>
                <c:pt idx="477">
                  <c:v>149</c:v>
                </c:pt>
                <c:pt idx="478">
                  <c:v>144</c:v>
                </c:pt>
                <c:pt idx="479">
                  <c:v>140</c:v>
                </c:pt>
                <c:pt idx="480">
                  <c:v>137</c:v>
                </c:pt>
                <c:pt idx="481">
                  <c:v>139</c:v>
                </c:pt>
                <c:pt idx="482">
                  <c:v>141</c:v>
                </c:pt>
                <c:pt idx="483">
                  <c:v>144</c:v>
                </c:pt>
                <c:pt idx="484">
                  <c:v>140</c:v>
                </c:pt>
                <c:pt idx="485">
                  <c:v>137</c:v>
                </c:pt>
                <c:pt idx="486">
                  <c:v>137</c:v>
                </c:pt>
                <c:pt idx="487">
                  <c:v>131</c:v>
                </c:pt>
                <c:pt idx="488">
                  <c:v>141</c:v>
                </c:pt>
                <c:pt idx="489">
                  <c:v>135</c:v>
                </c:pt>
                <c:pt idx="490">
                  <c:v>132</c:v>
                </c:pt>
                <c:pt idx="491">
                  <c:v>130</c:v>
                </c:pt>
                <c:pt idx="492">
                  <c:v>129</c:v>
                </c:pt>
                <c:pt idx="493">
                  <c:v>134</c:v>
                </c:pt>
                <c:pt idx="494">
                  <c:v>138</c:v>
                </c:pt>
                <c:pt idx="495">
                  <c:v>133</c:v>
                </c:pt>
                <c:pt idx="496">
                  <c:v>130</c:v>
                </c:pt>
                <c:pt idx="497">
                  <c:v>142</c:v>
                </c:pt>
                <c:pt idx="498">
                  <c:v>137</c:v>
                </c:pt>
                <c:pt idx="499">
                  <c:v>132</c:v>
                </c:pt>
                <c:pt idx="500">
                  <c:v>132</c:v>
                </c:pt>
                <c:pt idx="501">
                  <c:v>134</c:v>
                </c:pt>
                <c:pt idx="502">
                  <c:v>136</c:v>
                </c:pt>
                <c:pt idx="503">
                  <c:v>138</c:v>
                </c:pt>
                <c:pt idx="504">
                  <c:v>143</c:v>
                </c:pt>
                <c:pt idx="505">
                  <c:v>142</c:v>
                </c:pt>
                <c:pt idx="506">
                  <c:v>133</c:v>
                </c:pt>
                <c:pt idx="507">
                  <c:v>105</c:v>
                </c:pt>
                <c:pt idx="508">
                  <c:v>119</c:v>
                </c:pt>
                <c:pt idx="509">
                  <c:v>130</c:v>
                </c:pt>
                <c:pt idx="510">
                  <c:v>133</c:v>
                </c:pt>
                <c:pt idx="511">
                  <c:v>133</c:v>
                </c:pt>
                <c:pt idx="512">
                  <c:v>132</c:v>
                </c:pt>
                <c:pt idx="513">
                  <c:v>141</c:v>
                </c:pt>
                <c:pt idx="514">
                  <c:v>132</c:v>
                </c:pt>
                <c:pt idx="515">
                  <c:v>134</c:v>
                </c:pt>
                <c:pt idx="516">
                  <c:v>126</c:v>
                </c:pt>
                <c:pt idx="517">
                  <c:v>125</c:v>
                </c:pt>
                <c:pt idx="518">
                  <c:v>127</c:v>
                </c:pt>
                <c:pt idx="519">
                  <c:v>114</c:v>
                </c:pt>
                <c:pt idx="520">
                  <c:v>90</c:v>
                </c:pt>
                <c:pt idx="521">
                  <c:v>74</c:v>
                </c:pt>
                <c:pt idx="522">
                  <c:v>66</c:v>
                </c:pt>
                <c:pt idx="523">
                  <c:v>68</c:v>
                </c:pt>
                <c:pt idx="524">
                  <c:v>66</c:v>
                </c:pt>
                <c:pt idx="525">
                  <c:v>77</c:v>
                </c:pt>
                <c:pt idx="526">
                  <c:v>63</c:v>
                </c:pt>
                <c:pt idx="527">
                  <c:v>78</c:v>
                </c:pt>
                <c:pt idx="528">
                  <c:v>77</c:v>
                </c:pt>
                <c:pt idx="529">
                  <c:v>73</c:v>
                </c:pt>
                <c:pt idx="530">
                  <c:v>63</c:v>
                </c:pt>
                <c:pt idx="531">
                  <c:v>62</c:v>
                </c:pt>
                <c:pt idx="532">
                  <c:v>45</c:v>
                </c:pt>
                <c:pt idx="533">
                  <c:v>43</c:v>
                </c:pt>
                <c:pt idx="534">
                  <c:v>47</c:v>
                </c:pt>
                <c:pt idx="535">
                  <c:v>48</c:v>
                </c:pt>
                <c:pt idx="536">
                  <c:v>49</c:v>
                </c:pt>
                <c:pt idx="537">
                  <c:v>43</c:v>
                </c:pt>
                <c:pt idx="538">
                  <c:v>33</c:v>
                </c:pt>
                <c:pt idx="539">
                  <c:v>34</c:v>
                </c:pt>
                <c:pt idx="540">
                  <c:v>44</c:v>
                </c:pt>
                <c:pt idx="541">
                  <c:v>51</c:v>
                </c:pt>
                <c:pt idx="542">
                  <c:v>47</c:v>
                </c:pt>
              </c:numCache>
            </c:numRef>
          </c:val>
          <c:smooth val="0"/>
          <c:extLst xmlns:c15="http://schemas.microsoft.com/office/drawing/2012/chart">
            <c:ext xmlns:c16="http://schemas.microsoft.com/office/drawing/2014/chart" uri="{C3380CC4-5D6E-409C-BE32-E72D297353CC}">
              <c16:uniqueId val="{00000001-9BB7-4438-81EC-DCA24795864D}"/>
            </c:ext>
          </c:extLst>
        </c:ser>
        <c:ser>
          <c:idx val="1"/>
          <c:order val="1"/>
          <c:tx>
            <c:strRef>
              <c:f>'Page 6 Data'!$K$5</c:f>
              <c:strCache>
                <c:ptCount val="1"/>
                <c:pt idx="0">
                  <c:v>Durables</c:v>
                </c:pt>
              </c:strCache>
            </c:strRef>
          </c:tx>
          <c:spPr>
            <a:ln w="19050">
              <a:solidFill>
                <a:schemeClr val="bg1"/>
              </a:solidFill>
            </a:ln>
          </c:spPr>
          <c:marker>
            <c:symbol val="none"/>
          </c:marker>
          <c:cat>
            <c:numRef>
              <c:f>'Page 6 Data'!$AB$7:$AB$549</c:f>
              <c:numCache>
                <c:formatCode>[$-409]mmm\-yy;@</c:formatCode>
                <c:ptCount val="543"/>
                <c:pt idx="0">
                  <c:v>28521</c:v>
                </c:pt>
                <c:pt idx="1">
                  <c:v>28549</c:v>
                </c:pt>
                <c:pt idx="2">
                  <c:v>28580</c:v>
                </c:pt>
                <c:pt idx="3">
                  <c:v>28610</c:v>
                </c:pt>
                <c:pt idx="4">
                  <c:v>28641</c:v>
                </c:pt>
                <c:pt idx="5">
                  <c:v>28671</c:v>
                </c:pt>
                <c:pt idx="6">
                  <c:v>28702</c:v>
                </c:pt>
                <c:pt idx="7">
                  <c:v>28733</c:v>
                </c:pt>
                <c:pt idx="8">
                  <c:v>28763</c:v>
                </c:pt>
                <c:pt idx="9">
                  <c:v>28794</c:v>
                </c:pt>
                <c:pt idx="10">
                  <c:v>28824</c:v>
                </c:pt>
                <c:pt idx="11">
                  <c:v>28855</c:v>
                </c:pt>
                <c:pt idx="12">
                  <c:v>28886</c:v>
                </c:pt>
                <c:pt idx="13">
                  <c:v>28914</c:v>
                </c:pt>
                <c:pt idx="14">
                  <c:v>28945</c:v>
                </c:pt>
                <c:pt idx="15">
                  <c:v>28975</c:v>
                </c:pt>
                <c:pt idx="16">
                  <c:v>29006</c:v>
                </c:pt>
                <c:pt idx="17">
                  <c:v>29036</c:v>
                </c:pt>
                <c:pt idx="18">
                  <c:v>29067</c:v>
                </c:pt>
                <c:pt idx="19">
                  <c:v>29098</c:v>
                </c:pt>
                <c:pt idx="20">
                  <c:v>29128</c:v>
                </c:pt>
                <c:pt idx="21">
                  <c:v>29159</c:v>
                </c:pt>
                <c:pt idx="22">
                  <c:v>29189</c:v>
                </c:pt>
                <c:pt idx="23">
                  <c:v>29220</c:v>
                </c:pt>
                <c:pt idx="24">
                  <c:v>29251</c:v>
                </c:pt>
                <c:pt idx="25">
                  <c:v>29280</c:v>
                </c:pt>
                <c:pt idx="26">
                  <c:v>29311</c:v>
                </c:pt>
                <c:pt idx="27">
                  <c:v>29341</c:v>
                </c:pt>
                <c:pt idx="28">
                  <c:v>29372</c:v>
                </c:pt>
                <c:pt idx="29">
                  <c:v>29402</c:v>
                </c:pt>
                <c:pt idx="30">
                  <c:v>29433</c:v>
                </c:pt>
                <c:pt idx="31">
                  <c:v>29464</c:v>
                </c:pt>
                <c:pt idx="32">
                  <c:v>29494</c:v>
                </c:pt>
                <c:pt idx="33">
                  <c:v>29525</c:v>
                </c:pt>
                <c:pt idx="34">
                  <c:v>29555</c:v>
                </c:pt>
                <c:pt idx="35">
                  <c:v>29586</c:v>
                </c:pt>
                <c:pt idx="36">
                  <c:v>29617</c:v>
                </c:pt>
                <c:pt idx="37">
                  <c:v>29645</c:v>
                </c:pt>
                <c:pt idx="38">
                  <c:v>29676</c:v>
                </c:pt>
                <c:pt idx="39">
                  <c:v>29706</c:v>
                </c:pt>
                <c:pt idx="40">
                  <c:v>29737</c:v>
                </c:pt>
                <c:pt idx="41">
                  <c:v>29767</c:v>
                </c:pt>
                <c:pt idx="42">
                  <c:v>29798</c:v>
                </c:pt>
                <c:pt idx="43">
                  <c:v>29829</c:v>
                </c:pt>
                <c:pt idx="44">
                  <c:v>29859</c:v>
                </c:pt>
                <c:pt idx="45">
                  <c:v>29890</c:v>
                </c:pt>
                <c:pt idx="46">
                  <c:v>29920</c:v>
                </c:pt>
                <c:pt idx="47">
                  <c:v>29951</c:v>
                </c:pt>
                <c:pt idx="48">
                  <c:v>29982</c:v>
                </c:pt>
                <c:pt idx="49">
                  <c:v>30010</c:v>
                </c:pt>
                <c:pt idx="50">
                  <c:v>30041</c:v>
                </c:pt>
                <c:pt idx="51">
                  <c:v>30071</c:v>
                </c:pt>
                <c:pt idx="52">
                  <c:v>30102</c:v>
                </c:pt>
                <c:pt idx="53">
                  <c:v>30132</c:v>
                </c:pt>
                <c:pt idx="54">
                  <c:v>30163</c:v>
                </c:pt>
                <c:pt idx="55">
                  <c:v>30194</c:v>
                </c:pt>
                <c:pt idx="56">
                  <c:v>30224</c:v>
                </c:pt>
                <c:pt idx="57">
                  <c:v>30255</c:v>
                </c:pt>
                <c:pt idx="58">
                  <c:v>30285</c:v>
                </c:pt>
                <c:pt idx="59">
                  <c:v>30316</c:v>
                </c:pt>
                <c:pt idx="60">
                  <c:v>30347</c:v>
                </c:pt>
                <c:pt idx="61">
                  <c:v>30375</c:v>
                </c:pt>
                <c:pt idx="62">
                  <c:v>30406</c:v>
                </c:pt>
                <c:pt idx="63">
                  <c:v>30436</c:v>
                </c:pt>
                <c:pt idx="64">
                  <c:v>30467</c:v>
                </c:pt>
                <c:pt idx="65">
                  <c:v>30497</c:v>
                </c:pt>
                <c:pt idx="66">
                  <c:v>30528</c:v>
                </c:pt>
                <c:pt idx="67">
                  <c:v>30559</c:v>
                </c:pt>
                <c:pt idx="68">
                  <c:v>30589</c:v>
                </c:pt>
                <c:pt idx="69">
                  <c:v>30620</c:v>
                </c:pt>
                <c:pt idx="70">
                  <c:v>30650</c:v>
                </c:pt>
                <c:pt idx="71">
                  <c:v>30681</c:v>
                </c:pt>
                <c:pt idx="72">
                  <c:v>30712</c:v>
                </c:pt>
                <c:pt idx="73">
                  <c:v>30741</c:v>
                </c:pt>
                <c:pt idx="74">
                  <c:v>30772</c:v>
                </c:pt>
                <c:pt idx="75">
                  <c:v>30802</c:v>
                </c:pt>
                <c:pt idx="76">
                  <c:v>30833</c:v>
                </c:pt>
                <c:pt idx="77">
                  <c:v>30863</c:v>
                </c:pt>
                <c:pt idx="78">
                  <c:v>30894</c:v>
                </c:pt>
                <c:pt idx="79">
                  <c:v>30925</c:v>
                </c:pt>
                <c:pt idx="80">
                  <c:v>30955</c:v>
                </c:pt>
                <c:pt idx="81">
                  <c:v>30986</c:v>
                </c:pt>
                <c:pt idx="82">
                  <c:v>31016</c:v>
                </c:pt>
                <c:pt idx="83">
                  <c:v>31047</c:v>
                </c:pt>
                <c:pt idx="84">
                  <c:v>31078</c:v>
                </c:pt>
                <c:pt idx="85">
                  <c:v>31106</c:v>
                </c:pt>
                <c:pt idx="86">
                  <c:v>31137</c:v>
                </c:pt>
                <c:pt idx="87">
                  <c:v>31167</c:v>
                </c:pt>
                <c:pt idx="88">
                  <c:v>31198</c:v>
                </c:pt>
                <c:pt idx="89">
                  <c:v>31228</c:v>
                </c:pt>
                <c:pt idx="90">
                  <c:v>31259</c:v>
                </c:pt>
                <c:pt idx="91">
                  <c:v>31290</c:v>
                </c:pt>
                <c:pt idx="92">
                  <c:v>31320</c:v>
                </c:pt>
                <c:pt idx="93">
                  <c:v>31351</c:v>
                </c:pt>
                <c:pt idx="94">
                  <c:v>31381</c:v>
                </c:pt>
                <c:pt idx="95">
                  <c:v>31412</c:v>
                </c:pt>
                <c:pt idx="96">
                  <c:v>31443</c:v>
                </c:pt>
                <c:pt idx="97">
                  <c:v>31471</c:v>
                </c:pt>
                <c:pt idx="98">
                  <c:v>31502</c:v>
                </c:pt>
                <c:pt idx="99">
                  <c:v>31532</c:v>
                </c:pt>
                <c:pt idx="100">
                  <c:v>31563</c:v>
                </c:pt>
                <c:pt idx="101">
                  <c:v>31593</c:v>
                </c:pt>
                <c:pt idx="102">
                  <c:v>31624</c:v>
                </c:pt>
                <c:pt idx="103">
                  <c:v>31655</c:v>
                </c:pt>
                <c:pt idx="104">
                  <c:v>31685</c:v>
                </c:pt>
                <c:pt idx="105">
                  <c:v>31716</c:v>
                </c:pt>
                <c:pt idx="106">
                  <c:v>31746</c:v>
                </c:pt>
                <c:pt idx="107">
                  <c:v>31777</c:v>
                </c:pt>
                <c:pt idx="108">
                  <c:v>31808</c:v>
                </c:pt>
                <c:pt idx="109">
                  <c:v>31836</c:v>
                </c:pt>
                <c:pt idx="110">
                  <c:v>31867</c:v>
                </c:pt>
                <c:pt idx="111">
                  <c:v>31897</c:v>
                </c:pt>
                <c:pt idx="112">
                  <c:v>31928</c:v>
                </c:pt>
                <c:pt idx="113">
                  <c:v>31958</c:v>
                </c:pt>
                <c:pt idx="114">
                  <c:v>31989</c:v>
                </c:pt>
                <c:pt idx="115">
                  <c:v>32020</c:v>
                </c:pt>
                <c:pt idx="116">
                  <c:v>32050</c:v>
                </c:pt>
                <c:pt idx="117">
                  <c:v>32081</c:v>
                </c:pt>
                <c:pt idx="118">
                  <c:v>32111</c:v>
                </c:pt>
                <c:pt idx="119">
                  <c:v>32142</c:v>
                </c:pt>
                <c:pt idx="120">
                  <c:v>32173</c:v>
                </c:pt>
                <c:pt idx="121">
                  <c:v>32202</c:v>
                </c:pt>
                <c:pt idx="122">
                  <c:v>32233</c:v>
                </c:pt>
                <c:pt idx="123">
                  <c:v>32263</c:v>
                </c:pt>
                <c:pt idx="124">
                  <c:v>32294</c:v>
                </c:pt>
                <c:pt idx="125">
                  <c:v>32324</c:v>
                </c:pt>
                <c:pt idx="126">
                  <c:v>32355</c:v>
                </c:pt>
                <c:pt idx="127">
                  <c:v>32386</c:v>
                </c:pt>
                <c:pt idx="128">
                  <c:v>32416</c:v>
                </c:pt>
                <c:pt idx="129">
                  <c:v>32447</c:v>
                </c:pt>
                <c:pt idx="130">
                  <c:v>32477</c:v>
                </c:pt>
                <c:pt idx="131">
                  <c:v>32508</c:v>
                </c:pt>
                <c:pt idx="132">
                  <c:v>32539</c:v>
                </c:pt>
                <c:pt idx="133">
                  <c:v>32567</c:v>
                </c:pt>
                <c:pt idx="134">
                  <c:v>32598</c:v>
                </c:pt>
                <c:pt idx="135">
                  <c:v>32628</c:v>
                </c:pt>
                <c:pt idx="136">
                  <c:v>32659</c:v>
                </c:pt>
                <c:pt idx="137">
                  <c:v>32689</c:v>
                </c:pt>
                <c:pt idx="138">
                  <c:v>32720</c:v>
                </c:pt>
                <c:pt idx="139">
                  <c:v>32751</c:v>
                </c:pt>
                <c:pt idx="140">
                  <c:v>32781</c:v>
                </c:pt>
                <c:pt idx="141">
                  <c:v>32812</c:v>
                </c:pt>
                <c:pt idx="142">
                  <c:v>32842</c:v>
                </c:pt>
                <c:pt idx="143">
                  <c:v>32873</c:v>
                </c:pt>
                <c:pt idx="144">
                  <c:v>32904</c:v>
                </c:pt>
                <c:pt idx="145">
                  <c:v>32932</c:v>
                </c:pt>
                <c:pt idx="146">
                  <c:v>32963</c:v>
                </c:pt>
                <c:pt idx="147">
                  <c:v>32993</c:v>
                </c:pt>
                <c:pt idx="148">
                  <c:v>33024</c:v>
                </c:pt>
                <c:pt idx="149">
                  <c:v>33054</c:v>
                </c:pt>
                <c:pt idx="150">
                  <c:v>33085</c:v>
                </c:pt>
                <c:pt idx="151">
                  <c:v>33116</c:v>
                </c:pt>
                <c:pt idx="152">
                  <c:v>33146</c:v>
                </c:pt>
                <c:pt idx="153">
                  <c:v>33177</c:v>
                </c:pt>
                <c:pt idx="154">
                  <c:v>33207</c:v>
                </c:pt>
                <c:pt idx="155">
                  <c:v>33238</c:v>
                </c:pt>
                <c:pt idx="156">
                  <c:v>33269</c:v>
                </c:pt>
                <c:pt idx="157">
                  <c:v>33297</c:v>
                </c:pt>
                <c:pt idx="158">
                  <c:v>33328</c:v>
                </c:pt>
                <c:pt idx="159">
                  <c:v>33358</c:v>
                </c:pt>
                <c:pt idx="160">
                  <c:v>33389</c:v>
                </c:pt>
                <c:pt idx="161">
                  <c:v>33419</c:v>
                </c:pt>
                <c:pt idx="162">
                  <c:v>33450</c:v>
                </c:pt>
                <c:pt idx="163">
                  <c:v>33481</c:v>
                </c:pt>
                <c:pt idx="164">
                  <c:v>33511</c:v>
                </c:pt>
                <c:pt idx="165">
                  <c:v>33542</c:v>
                </c:pt>
                <c:pt idx="166">
                  <c:v>33572</c:v>
                </c:pt>
                <c:pt idx="167">
                  <c:v>33603</c:v>
                </c:pt>
                <c:pt idx="168">
                  <c:v>33634</c:v>
                </c:pt>
                <c:pt idx="169">
                  <c:v>33663</c:v>
                </c:pt>
                <c:pt idx="170">
                  <c:v>33694</c:v>
                </c:pt>
                <c:pt idx="171">
                  <c:v>33724</c:v>
                </c:pt>
                <c:pt idx="172">
                  <c:v>33755</c:v>
                </c:pt>
                <c:pt idx="173">
                  <c:v>33785</c:v>
                </c:pt>
                <c:pt idx="174">
                  <c:v>33816</c:v>
                </c:pt>
                <c:pt idx="175">
                  <c:v>33847</c:v>
                </c:pt>
                <c:pt idx="176">
                  <c:v>33877</c:v>
                </c:pt>
                <c:pt idx="177">
                  <c:v>33908</c:v>
                </c:pt>
                <c:pt idx="178">
                  <c:v>33938</c:v>
                </c:pt>
                <c:pt idx="179">
                  <c:v>33969</c:v>
                </c:pt>
                <c:pt idx="180">
                  <c:v>34000</c:v>
                </c:pt>
                <c:pt idx="181">
                  <c:v>34028</c:v>
                </c:pt>
                <c:pt idx="182">
                  <c:v>34059</c:v>
                </c:pt>
                <c:pt idx="183">
                  <c:v>34089</c:v>
                </c:pt>
                <c:pt idx="184">
                  <c:v>34120</c:v>
                </c:pt>
                <c:pt idx="185">
                  <c:v>34150</c:v>
                </c:pt>
                <c:pt idx="186">
                  <c:v>34181</c:v>
                </c:pt>
                <c:pt idx="187">
                  <c:v>34212</c:v>
                </c:pt>
                <c:pt idx="188">
                  <c:v>34242</c:v>
                </c:pt>
                <c:pt idx="189">
                  <c:v>34273</c:v>
                </c:pt>
                <c:pt idx="190">
                  <c:v>34303</c:v>
                </c:pt>
                <c:pt idx="191">
                  <c:v>34334</c:v>
                </c:pt>
                <c:pt idx="192">
                  <c:v>34365</c:v>
                </c:pt>
                <c:pt idx="193">
                  <c:v>34393</c:v>
                </c:pt>
                <c:pt idx="194">
                  <c:v>34424</c:v>
                </c:pt>
                <c:pt idx="195">
                  <c:v>34454</c:v>
                </c:pt>
                <c:pt idx="196">
                  <c:v>34485</c:v>
                </c:pt>
                <c:pt idx="197">
                  <c:v>34515</c:v>
                </c:pt>
                <c:pt idx="198">
                  <c:v>34546</c:v>
                </c:pt>
                <c:pt idx="199">
                  <c:v>34577</c:v>
                </c:pt>
                <c:pt idx="200">
                  <c:v>34607</c:v>
                </c:pt>
                <c:pt idx="201">
                  <c:v>34638</c:v>
                </c:pt>
                <c:pt idx="202">
                  <c:v>34668</c:v>
                </c:pt>
                <c:pt idx="203">
                  <c:v>34699</c:v>
                </c:pt>
                <c:pt idx="204">
                  <c:v>34730</c:v>
                </c:pt>
                <c:pt idx="205">
                  <c:v>34758</c:v>
                </c:pt>
                <c:pt idx="206">
                  <c:v>34789</c:v>
                </c:pt>
                <c:pt idx="207">
                  <c:v>34819</c:v>
                </c:pt>
                <c:pt idx="208">
                  <c:v>34850</c:v>
                </c:pt>
                <c:pt idx="209">
                  <c:v>34880</c:v>
                </c:pt>
                <c:pt idx="210">
                  <c:v>34911</c:v>
                </c:pt>
                <c:pt idx="211">
                  <c:v>34942</c:v>
                </c:pt>
                <c:pt idx="212">
                  <c:v>34972</c:v>
                </c:pt>
                <c:pt idx="213">
                  <c:v>35003</c:v>
                </c:pt>
                <c:pt idx="214">
                  <c:v>35033</c:v>
                </c:pt>
                <c:pt idx="215">
                  <c:v>35064</c:v>
                </c:pt>
                <c:pt idx="216">
                  <c:v>35095</c:v>
                </c:pt>
                <c:pt idx="217">
                  <c:v>35124</c:v>
                </c:pt>
                <c:pt idx="218">
                  <c:v>35155</c:v>
                </c:pt>
                <c:pt idx="219">
                  <c:v>35185</c:v>
                </c:pt>
                <c:pt idx="220">
                  <c:v>35216</c:v>
                </c:pt>
                <c:pt idx="221">
                  <c:v>35246</c:v>
                </c:pt>
                <c:pt idx="222">
                  <c:v>35277</c:v>
                </c:pt>
                <c:pt idx="223">
                  <c:v>35308</c:v>
                </c:pt>
                <c:pt idx="224">
                  <c:v>35338</c:v>
                </c:pt>
                <c:pt idx="225">
                  <c:v>35369</c:v>
                </c:pt>
                <c:pt idx="226">
                  <c:v>35399</c:v>
                </c:pt>
                <c:pt idx="227">
                  <c:v>35430</c:v>
                </c:pt>
                <c:pt idx="228">
                  <c:v>35461</c:v>
                </c:pt>
                <c:pt idx="229">
                  <c:v>35489</c:v>
                </c:pt>
                <c:pt idx="230">
                  <c:v>35520</c:v>
                </c:pt>
                <c:pt idx="231">
                  <c:v>35550</c:v>
                </c:pt>
                <c:pt idx="232">
                  <c:v>35581</c:v>
                </c:pt>
                <c:pt idx="233">
                  <c:v>35611</c:v>
                </c:pt>
                <c:pt idx="234">
                  <c:v>35642</c:v>
                </c:pt>
                <c:pt idx="235">
                  <c:v>35673</c:v>
                </c:pt>
                <c:pt idx="236">
                  <c:v>35703</c:v>
                </c:pt>
                <c:pt idx="237">
                  <c:v>35734</c:v>
                </c:pt>
                <c:pt idx="238">
                  <c:v>35764</c:v>
                </c:pt>
                <c:pt idx="239">
                  <c:v>35795</c:v>
                </c:pt>
                <c:pt idx="240">
                  <c:v>35826</c:v>
                </c:pt>
                <c:pt idx="241">
                  <c:v>35854</c:v>
                </c:pt>
                <c:pt idx="242">
                  <c:v>35885</c:v>
                </c:pt>
                <c:pt idx="243">
                  <c:v>35915</c:v>
                </c:pt>
                <c:pt idx="244">
                  <c:v>35946</c:v>
                </c:pt>
                <c:pt idx="245">
                  <c:v>35976</c:v>
                </c:pt>
                <c:pt idx="246">
                  <c:v>36007</c:v>
                </c:pt>
                <c:pt idx="247">
                  <c:v>36038</c:v>
                </c:pt>
                <c:pt idx="248">
                  <c:v>36068</c:v>
                </c:pt>
                <c:pt idx="249">
                  <c:v>36099</c:v>
                </c:pt>
                <c:pt idx="250">
                  <c:v>36129</c:v>
                </c:pt>
                <c:pt idx="251">
                  <c:v>36160</c:v>
                </c:pt>
                <c:pt idx="252">
                  <c:v>36191</c:v>
                </c:pt>
                <c:pt idx="253">
                  <c:v>36219</c:v>
                </c:pt>
                <c:pt idx="254">
                  <c:v>36250</c:v>
                </c:pt>
                <c:pt idx="255">
                  <c:v>36280</c:v>
                </c:pt>
                <c:pt idx="256">
                  <c:v>36311</c:v>
                </c:pt>
                <c:pt idx="257">
                  <c:v>36341</c:v>
                </c:pt>
                <c:pt idx="258">
                  <c:v>36372</c:v>
                </c:pt>
                <c:pt idx="259">
                  <c:v>36403</c:v>
                </c:pt>
                <c:pt idx="260">
                  <c:v>36433</c:v>
                </c:pt>
                <c:pt idx="261">
                  <c:v>36464</c:v>
                </c:pt>
                <c:pt idx="262">
                  <c:v>36494</c:v>
                </c:pt>
                <c:pt idx="263">
                  <c:v>36525</c:v>
                </c:pt>
                <c:pt idx="264">
                  <c:v>36556</c:v>
                </c:pt>
                <c:pt idx="265">
                  <c:v>36585</c:v>
                </c:pt>
                <c:pt idx="266">
                  <c:v>36616</c:v>
                </c:pt>
                <c:pt idx="267">
                  <c:v>36646</c:v>
                </c:pt>
                <c:pt idx="268">
                  <c:v>36677</c:v>
                </c:pt>
                <c:pt idx="269">
                  <c:v>36707</c:v>
                </c:pt>
                <c:pt idx="270">
                  <c:v>36738</c:v>
                </c:pt>
                <c:pt idx="271">
                  <c:v>36769</c:v>
                </c:pt>
                <c:pt idx="272">
                  <c:v>36799</c:v>
                </c:pt>
                <c:pt idx="273">
                  <c:v>36830</c:v>
                </c:pt>
                <c:pt idx="274">
                  <c:v>36860</c:v>
                </c:pt>
                <c:pt idx="275">
                  <c:v>36891</c:v>
                </c:pt>
                <c:pt idx="276">
                  <c:v>36922</c:v>
                </c:pt>
                <c:pt idx="277">
                  <c:v>36950</c:v>
                </c:pt>
                <c:pt idx="278">
                  <c:v>36981</c:v>
                </c:pt>
                <c:pt idx="279">
                  <c:v>37011</c:v>
                </c:pt>
                <c:pt idx="280">
                  <c:v>37042</c:v>
                </c:pt>
                <c:pt idx="281">
                  <c:v>37072</c:v>
                </c:pt>
                <c:pt idx="282">
                  <c:v>37103</c:v>
                </c:pt>
                <c:pt idx="283">
                  <c:v>37134</c:v>
                </c:pt>
                <c:pt idx="284">
                  <c:v>37164</c:v>
                </c:pt>
                <c:pt idx="285">
                  <c:v>37195</c:v>
                </c:pt>
                <c:pt idx="286">
                  <c:v>37225</c:v>
                </c:pt>
                <c:pt idx="287">
                  <c:v>37256</c:v>
                </c:pt>
                <c:pt idx="288">
                  <c:v>37287</c:v>
                </c:pt>
                <c:pt idx="289">
                  <c:v>37315</c:v>
                </c:pt>
                <c:pt idx="290">
                  <c:v>37346</c:v>
                </c:pt>
                <c:pt idx="291">
                  <c:v>37376</c:v>
                </c:pt>
                <c:pt idx="292">
                  <c:v>37407</c:v>
                </c:pt>
                <c:pt idx="293">
                  <c:v>37437</c:v>
                </c:pt>
                <c:pt idx="294">
                  <c:v>37468</c:v>
                </c:pt>
                <c:pt idx="295">
                  <c:v>37499</c:v>
                </c:pt>
                <c:pt idx="296">
                  <c:v>37529</c:v>
                </c:pt>
                <c:pt idx="297">
                  <c:v>37560</c:v>
                </c:pt>
                <c:pt idx="298">
                  <c:v>37590</c:v>
                </c:pt>
                <c:pt idx="299">
                  <c:v>37621</c:v>
                </c:pt>
                <c:pt idx="300">
                  <c:v>37652</c:v>
                </c:pt>
                <c:pt idx="301">
                  <c:v>37680</c:v>
                </c:pt>
                <c:pt idx="302">
                  <c:v>37711</c:v>
                </c:pt>
                <c:pt idx="303">
                  <c:v>37741</c:v>
                </c:pt>
                <c:pt idx="304">
                  <c:v>37772</c:v>
                </c:pt>
                <c:pt idx="305">
                  <c:v>37802</c:v>
                </c:pt>
                <c:pt idx="306">
                  <c:v>37833</c:v>
                </c:pt>
                <c:pt idx="307">
                  <c:v>37864</c:v>
                </c:pt>
                <c:pt idx="308">
                  <c:v>37894</c:v>
                </c:pt>
                <c:pt idx="309">
                  <c:v>37925</c:v>
                </c:pt>
                <c:pt idx="310">
                  <c:v>37955</c:v>
                </c:pt>
                <c:pt idx="311">
                  <c:v>37986</c:v>
                </c:pt>
                <c:pt idx="312">
                  <c:v>38017</c:v>
                </c:pt>
                <c:pt idx="313">
                  <c:v>38046</c:v>
                </c:pt>
                <c:pt idx="314">
                  <c:v>38077</c:v>
                </c:pt>
                <c:pt idx="315">
                  <c:v>38107</c:v>
                </c:pt>
                <c:pt idx="316">
                  <c:v>38138</c:v>
                </c:pt>
                <c:pt idx="317">
                  <c:v>38168</c:v>
                </c:pt>
                <c:pt idx="318">
                  <c:v>38199</c:v>
                </c:pt>
                <c:pt idx="319">
                  <c:v>38230</c:v>
                </c:pt>
                <c:pt idx="320">
                  <c:v>38260</c:v>
                </c:pt>
                <c:pt idx="321">
                  <c:v>38291</c:v>
                </c:pt>
                <c:pt idx="322">
                  <c:v>38321</c:v>
                </c:pt>
                <c:pt idx="323">
                  <c:v>38352</c:v>
                </c:pt>
                <c:pt idx="324">
                  <c:v>38383</c:v>
                </c:pt>
                <c:pt idx="325">
                  <c:v>38411</c:v>
                </c:pt>
                <c:pt idx="326">
                  <c:v>38442</c:v>
                </c:pt>
                <c:pt idx="327">
                  <c:v>38472</c:v>
                </c:pt>
                <c:pt idx="328">
                  <c:v>38503</c:v>
                </c:pt>
                <c:pt idx="329">
                  <c:v>38533</c:v>
                </c:pt>
                <c:pt idx="330">
                  <c:v>38564</c:v>
                </c:pt>
                <c:pt idx="331">
                  <c:v>38595</c:v>
                </c:pt>
                <c:pt idx="332">
                  <c:v>38625</c:v>
                </c:pt>
                <c:pt idx="333">
                  <c:v>38656</c:v>
                </c:pt>
                <c:pt idx="334">
                  <c:v>38686</c:v>
                </c:pt>
                <c:pt idx="335">
                  <c:v>38717</c:v>
                </c:pt>
                <c:pt idx="336">
                  <c:v>38748</c:v>
                </c:pt>
                <c:pt idx="337">
                  <c:v>38776</c:v>
                </c:pt>
                <c:pt idx="338">
                  <c:v>38807</c:v>
                </c:pt>
                <c:pt idx="339">
                  <c:v>38837</c:v>
                </c:pt>
                <c:pt idx="340">
                  <c:v>38868</c:v>
                </c:pt>
                <c:pt idx="341">
                  <c:v>38898</c:v>
                </c:pt>
                <c:pt idx="342">
                  <c:v>38929</c:v>
                </c:pt>
                <c:pt idx="343">
                  <c:v>38960</c:v>
                </c:pt>
                <c:pt idx="344">
                  <c:v>38990</c:v>
                </c:pt>
                <c:pt idx="345">
                  <c:v>39021</c:v>
                </c:pt>
                <c:pt idx="346">
                  <c:v>39051</c:v>
                </c:pt>
                <c:pt idx="347">
                  <c:v>39082</c:v>
                </c:pt>
                <c:pt idx="348">
                  <c:v>39113</c:v>
                </c:pt>
                <c:pt idx="349">
                  <c:v>39141</c:v>
                </c:pt>
                <c:pt idx="350">
                  <c:v>39172</c:v>
                </c:pt>
                <c:pt idx="351">
                  <c:v>39202</c:v>
                </c:pt>
                <c:pt idx="352">
                  <c:v>39233</c:v>
                </c:pt>
                <c:pt idx="353">
                  <c:v>39263</c:v>
                </c:pt>
                <c:pt idx="354">
                  <c:v>39294</c:v>
                </c:pt>
                <c:pt idx="355">
                  <c:v>39325</c:v>
                </c:pt>
                <c:pt idx="356">
                  <c:v>39355</c:v>
                </c:pt>
                <c:pt idx="357">
                  <c:v>39386</c:v>
                </c:pt>
                <c:pt idx="358">
                  <c:v>39416</c:v>
                </c:pt>
                <c:pt idx="359">
                  <c:v>39447</c:v>
                </c:pt>
                <c:pt idx="360">
                  <c:v>39478</c:v>
                </c:pt>
                <c:pt idx="361">
                  <c:v>39507</c:v>
                </c:pt>
                <c:pt idx="362">
                  <c:v>39538</c:v>
                </c:pt>
                <c:pt idx="363">
                  <c:v>39568</c:v>
                </c:pt>
                <c:pt idx="364">
                  <c:v>39599</c:v>
                </c:pt>
                <c:pt idx="365">
                  <c:v>39629</c:v>
                </c:pt>
                <c:pt idx="366">
                  <c:v>39660</c:v>
                </c:pt>
                <c:pt idx="367">
                  <c:v>39691</c:v>
                </c:pt>
                <c:pt idx="368">
                  <c:v>39721</c:v>
                </c:pt>
                <c:pt idx="369">
                  <c:v>39752</c:v>
                </c:pt>
                <c:pt idx="370">
                  <c:v>39782</c:v>
                </c:pt>
                <c:pt idx="371">
                  <c:v>39813</c:v>
                </c:pt>
                <c:pt idx="372">
                  <c:v>39844</c:v>
                </c:pt>
                <c:pt idx="373">
                  <c:v>39872</c:v>
                </c:pt>
                <c:pt idx="374">
                  <c:v>39903</c:v>
                </c:pt>
                <c:pt idx="375">
                  <c:v>39933</c:v>
                </c:pt>
                <c:pt idx="376">
                  <c:v>39964</c:v>
                </c:pt>
                <c:pt idx="377">
                  <c:v>39994</c:v>
                </c:pt>
                <c:pt idx="378">
                  <c:v>40025</c:v>
                </c:pt>
                <c:pt idx="379">
                  <c:v>40056</c:v>
                </c:pt>
                <c:pt idx="380">
                  <c:v>40086</c:v>
                </c:pt>
                <c:pt idx="381">
                  <c:v>40117</c:v>
                </c:pt>
                <c:pt idx="382">
                  <c:v>40147</c:v>
                </c:pt>
                <c:pt idx="383">
                  <c:v>40178</c:v>
                </c:pt>
                <c:pt idx="384">
                  <c:v>40209</c:v>
                </c:pt>
                <c:pt idx="385">
                  <c:v>40237</c:v>
                </c:pt>
                <c:pt idx="386">
                  <c:v>40268</c:v>
                </c:pt>
                <c:pt idx="387">
                  <c:v>40298</c:v>
                </c:pt>
                <c:pt idx="388">
                  <c:v>40329</c:v>
                </c:pt>
                <c:pt idx="389">
                  <c:v>40359</c:v>
                </c:pt>
                <c:pt idx="390">
                  <c:v>40390</c:v>
                </c:pt>
                <c:pt idx="391">
                  <c:v>40421</c:v>
                </c:pt>
                <c:pt idx="392">
                  <c:v>40451</c:v>
                </c:pt>
                <c:pt idx="393">
                  <c:v>40482</c:v>
                </c:pt>
                <c:pt idx="394">
                  <c:v>40512</c:v>
                </c:pt>
                <c:pt idx="395">
                  <c:v>40543</c:v>
                </c:pt>
                <c:pt idx="396">
                  <c:v>40574</c:v>
                </c:pt>
                <c:pt idx="397">
                  <c:v>40602</c:v>
                </c:pt>
                <c:pt idx="398">
                  <c:v>40633</c:v>
                </c:pt>
                <c:pt idx="399">
                  <c:v>40663</c:v>
                </c:pt>
                <c:pt idx="400">
                  <c:v>40694</c:v>
                </c:pt>
                <c:pt idx="401">
                  <c:v>40724</c:v>
                </c:pt>
                <c:pt idx="402">
                  <c:v>40755</c:v>
                </c:pt>
                <c:pt idx="403">
                  <c:v>40786</c:v>
                </c:pt>
                <c:pt idx="404">
                  <c:v>40816</c:v>
                </c:pt>
                <c:pt idx="405">
                  <c:v>40847</c:v>
                </c:pt>
                <c:pt idx="406">
                  <c:v>40877</c:v>
                </c:pt>
                <c:pt idx="407">
                  <c:v>40908</c:v>
                </c:pt>
                <c:pt idx="408">
                  <c:v>40939</c:v>
                </c:pt>
                <c:pt idx="409">
                  <c:v>40968</c:v>
                </c:pt>
                <c:pt idx="410">
                  <c:v>40999</c:v>
                </c:pt>
                <c:pt idx="411">
                  <c:v>41029</c:v>
                </c:pt>
                <c:pt idx="412">
                  <c:v>41060</c:v>
                </c:pt>
                <c:pt idx="413">
                  <c:v>41090</c:v>
                </c:pt>
                <c:pt idx="414">
                  <c:v>41121</c:v>
                </c:pt>
                <c:pt idx="415">
                  <c:v>41152</c:v>
                </c:pt>
                <c:pt idx="416">
                  <c:v>41182</c:v>
                </c:pt>
                <c:pt idx="417">
                  <c:v>41213</c:v>
                </c:pt>
                <c:pt idx="418">
                  <c:v>41243</c:v>
                </c:pt>
                <c:pt idx="419">
                  <c:v>41274</c:v>
                </c:pt>
                <c:pt idx="420">
                  <c:v>41305</c:v>
                </c:pt>
                <c:pt idx="421">
                  <c:v>41333</c:v>
                </c:pt>
                <c:pt idx="422">
                  <c:v>41364</c:v>
                </c:pt>
                <c:pt idx="423">
                  <c:v>41394</c:v>
                </c:pt>
                <c:pt idx="424">
                  <c:v>41425</c:v>
                </c:pt>
                <c:pt idx="425">
                  <c:v>41455</c:v>
                </c:pt>
                <c:pt idx="426">
                  <c:v>41486</c:v>
                </c:pt>
                <c:pt idx="427">
                  <c:v>41517</c:v>
                </c:pt>
                <c:pt idx="428">
                  <c:v>41547</c:v>
                </c:pt>
                <c:pt idx="429">
                  <c:v>41578</c:v>
                </c:pt>
                <c:pt idx="430">
                  <c:v>41608</c:v>
                </c:pt>
                <c:pt idx="431">
                  <c:v>41639</c:v>
                </c:pt>
                <c:pt idx="432">
                  <c:v>41670</c:v>
                </c:pt>
                <c:pt idx="433">
                  <c:v>41698</c:v>
                </c:pt>
                <c:pt idx="434">
                  <c:v>41729</c:v>
                </c:pt>
                <c:pt idx="435">
                  <c:v>41759</c:v>
                </c:pt>
                <c:pt idx="436">
                  <c:v>41790</c:v>
                </c:pt>
                <c:pt idx="437">
                  <c:v>41820</c:v>
                </c:pt>
                <c:pt idx="438">
                  <c:v>41851</c:v>
                </c:pt>
                <c:pt idx="439">
                  <c:v>41882</c:v>
                </c:pt>
                <c:pt idx="440">
                  <c:v>41912</c:v>
                </c:pt>
                <c:pt idx="441">
                  <c:v>41943</c:v>
                </c:pt>
                <c:pt idx="442">
                  <c:v>41973</c:v>
                </c:pt>
                <c:pt idx="443">
                  <c:v>42004</c:v>
                </c:pt>
                <c:pt idx="444">
                  <c:v>42035</c:v>
                </c:pt>
                <c:pt idx="445">
                  <c:v>42063</c:v>
                </c:pt>
                <c:pt idx="446">
                  <c:v>42094</c:v>
                </c:pt>
                <c:pt idx="447">
                  <c:v>42124</c:v>
                </c:pt>
                <c:pt idx="448">
                  <c:v>42155</c:v>
                </c:pt>
                <c:pt idx="449">
                  <c:v>42185</c:v>
                </c:pt>
                <c:pt idx="450">
                  <c:v>42216</c:v>
                </c:pt>
                <c:pt idx="451">
                  <c:v>42247</c:v>
                </c:pt>
                <c:pt idx="452">
                  <c:v>42277</c:v>
                </c:pt>
                <c:pt idx="453">
                  <c:v>42308</c:v>
                </c:pt>
                <c:pt idx="454">
                  <c:v>42338</c:v>
                </c:pt>
                <c:pt idx="455">
                  <c:v>42369</c:v>
                </c:pt>
                <c:pt idx="456">
                  <c:v>42400</c:v>
                </c:pt>
                <c:pt idx="457">
                  <c:v>42429</c:v>
                </c:pt>
                <c:pt idx="458">
                  <c:v>42460</c:v>
                </c:pt>
                <c:pt idx="459">
                  <c:v>42490</c:v>
                </c:pt>
                <c:pt idx="460">
                  <c:v>42521</c:v>
                </c:pt>
                <c:pt idx="461">
                  <c:v>42551</c:v>
                </c:pt>
                <c:pt idx="462">
                  <c:v>42582</c:v>
                </c:pt>
                <c:pt idx="463">
                  <c:v>42613</c:v>
                </c:pt>
                <c:pt idx="464">
                  <c:v>42643</c:v>
                </c:pt>
                <c:pt idx="465">
                  <c:v>42674</c:v>
                </c:pt>
                <c:pt idx="466">
                  <c:v>42704</c:v>
                </c:pt>
                <c:pt idx="467">
                  <c:v>42735</c:v>
                </c:pt>
                <c:pt idx="468">
                  <c:v>42766</c:v>
                </c:pt>
                <c:pt idx="469">
                  <c:v>42794</c:v>
                </c:pt>
                <c:pt idx="470">
                  <c:v>42825</c:v>
                </c:pt>
                <c:pt idx="471">
                  <c:v>42855</c:v>
                </c:pt>
                <c:pt idx="472">
                  <c:v>42886</c:v>
                </c:pt>
                <c:pt idx="473">
                  <c:v>42916</c:v>
                </c:pt>
                <c:pt idx="474">
                  <c:v>42947</c:v>
                </c:pt>
                <c:pt idx="475">
                  <c:v>42978</c:v>
                </c:pt>
                <c:pt idx="476">
                  <c:v>43008</c:v>
                </c:pt>
                <c:pt idx="477">
                  <c:v>43039</c:v>
                </c:pt>
                <c:pt idx="478">
                  <c:v>43069</c:v>
                </c:pt>
                <c:pt idx="479">
                  <c:v>43100</c:v>
                </c:pt>
                <c:pt idx="480">
                  <c:v>43131</c:v>
                </c:pt>
                <c:pt idx="481">
                  <c:v>43159</c:v>
                </c:pt>
                <c:pt idx="482">
                  <c:v>43190</c:v>
                </c:pt>
                <c:pt idx="483">
                  <c:v>43220</c:v>
                </c:pt>
                <c:pt idx="484">
                  <c:v>43251</c:v>
                </c:pt>
                <c:pt idx="485">
                  <c:v>43281</c:v>
                </c:pt>
                <c:pt idx="486">
                  <c:v>43312</c:v>
                </c:pt>
                <c:pt idx="487">
                  <c:v>43343</c:v>
                </c:pt>
                <c:pt idx="488">
                  <c:v>43373</c:v>
                </c:pt>
                <c:pt idx="489">
                  <c:v>43404</c:v>
                </c:pt>
                <c:pt idx="490">
                  <c:v>43434</c:v>
                </c:pt>
                <c:pt idx="491">
                  <c:v>43465</c:v>
                </c:pt>
                <c:pt idx="492">
                  <c:v>43496</c:v>
                </c:pt>
                <c:pt idx="493">
                  <c:v>43524</c:v>
                </c:pt>
                <c:pt idx="494">
                  <c:v>43555</c:v>
                </c:pt>
                <c:pt idx="495">
                  <c:v>43585</c:v>
                </c:pt>
                <c:pt idx="496">
                  <c:v>43616</c:v>
                </c:pt>
                <c:pt idx="497">
                  <c:v>43646</c:v>
                </c:pt>
                <c:pt idx="498">
                  <c:v>43677</c:v>
                </c:pt>
                <c:pt idx="499">
                  <c:v>43708</c:v>
                </c:pt>
                <c:pt idx="500">
                  <c:v>43738</c:v>
                </c:pt>
                <c:pt idx="501">
                  <c:v>43769</c:v>
                </c:pt>
                <c:pt idx="502">
                  <c:v>43799</c:v>
                </c:pt>
                <c:pt idx="503">
                  <c:v>43830</c:v>
                </c:pt>
                <c:pt idx="504">
                  <c:v>43861</c:v>
                </c:pt>
                <c:pt idx="505">
                  <c:v>43890</c:v>
                </c:pt>
                <c:pt idx="506">
                  <c:v>43921</c:v>
                </c:pt>
                <c:pt idx="507">
                  <c:v>43951</c:v>
                </c:pt>
                <c:pt idx="508">
                  <c:v>43982</c:v>
                </c:pt>
                <c:pt idx="509">
                  <c:v>44012</c:v>
                </c:pt>
                <c:pt idx="510">
                  <c:v>44043</c:v>
                </c:pt>
                <c:pt idx="511">
                  <c:v>44074</c:v>
                </c:pt>
                <c:pt idx="512">
                  <c:v>44104</c:v>
                </c:pt>
                <c:pt idx="513">
                  <c:v>44135</c:v>
                </c:pt>
                <c:pt idx="514">
                  <c:v>44165</c:v>
                </c:pt>
                <c:pt idx="515">
                  <c:v>44196</c:v>
                </c:pt>
                <c:pt idx="516">
                  <c:v>44227</c:v>
                </c:pt>
                <c:pt idx="517">
                  <c:v>44255</c:v>
                </c:pt>
                <c:pt idx="518">
                  <c:v>44286</c:v>
                </c:pt>
                <c:pt idx="519">
                  <c:v>44316</c:v>
                </c:pt>
                <c:pt idx="520">
                  <c:v>44347</c:v>
                </c:pt>
                <c:pt idx="521">
                  <c:v>44377</c:v>
                </c:pt>
                <c:pt idx="522">
                  <c:v>44408</c:v>
                </c:pt>
                <c:pt idx="523">
                  <c:v>44439</c:v>
                </c:pt>
                <c:pt idx="524">
                  <c:v>44469</c:v>
                </c:pt>
                <c:pt idx="525">
                  <c:v>44500</c:v>
                </c:pt>
                <c:pt idx="526">
                  <c:v>44530</c:v>
                </c:pt>
                <c:pt idx="527">
                  <c:v>44561</c:v>
                </c:pt>
                <c:pt idx="528">
                  <c:v>44592</c:v>
                </c:pt>
                <c:pt idx="529">
                  <c:v>44620</c:v>
                </c:pt>
                <c:pt idx="530">
                  <c:v>44651</c:v>
                </c:pt>
                <c:pt idx="531">
                  <c:v>44681</c:v>
                </c:pt>
                <c:pt idx="532">
                  <c:v>44712</c:v>
                </c:pt>
                <c:pt idx="533">
                  <c:v>44742</c:v>
                </c:pt>
                <c:pt idx="534">
                  <c:v>44773</c:v>
                </c:pt>
                <c:pt idx="535">
                  <c:v>44804</c:v>
                </c:pt>
                <c:pt idx="536">
                  <c:v>44834</c:v>
                </c:pt>
                <c:pt idx="537">
                  <c:v>44865</c:v>
                </c:pt>
                <c:pt idx="538">
                  <c:v>44895</c:v>
                </c:pt>
                <c:pt idx="539">
                  <c:v>44926</c:v>
                </c:pt>
                <c:pt idx="540">
                  <c:v>44957</c:v>
                </c:pt>
                <c:pt idx="541">
                  <c:v>44985</c:v>
                </c:pt>
                <c:pt idx="542">
                  <c:v>45016</c:v>
                </c:pt>
              </c:numCache>
            </c:numRef>
          </c:cat>
          <c:val>
            <c:numRef>
              <c:f>'Page 6 Data'!$K$7:$K$549</c:f>
              <c:numCache>
                <c:formatCode>General</c:formatCode>
                <c:ptCount val="543"/>
                <c:pt idx="0">
                  <c:v>142</c:v>
                </c:pt>
                <c:pt idx="1">
                  <c:v>139</c:v>
                </c:pt>
                <c:pt idx="2">
                  <c:v>140</c:v>
                </c:pt>
                <c:pt idx="3">
                  <c:v>148</c:v>
                </c:pt>
                <c:pt idx="4">
                  <c:v>147</c:v>
                </c:pt>
                <c:pt idx="5">
                  <c:v>146</c:v>
                </c:pt>
                <c:pt idx="6">
                  <c:v>146</c:v>
                </c:pt>
                <c:pt idx="7">
                  <c:v>145</c:v>
                </c:pt>
                <c:pt idx="8">
                  <c:v>140</c:v>
                </c:pt>
                <c:pt idx="9">
                  <c:v>138</c:v>
                </c:pt>
                <c:pt idx="10">
                  <c:v>135</c:v>
                </c:pt>
                <c:pt idx="11">
                  <c:v>123</c:v>
                </c:pt>
                <c:pt idx="12">
                  <c:v>139</c:v>
                </c:pt>
                <c:pt idx="13">
                  <c:v>138</c:v>
                </c:pt>
                <c:pt idx="14">
                  <c:v>138</c:v>
                </c:pt>
                <c:pt idx="15">
                  <c:v>134</c:v>
                </c:pt>
                <c:pt idx="16">
                  <c:v>136</c:v>
                </c:pt>
                <c:pt idx="17">
                  <c:v>134</c:v>
                </c:pt>
                <c:pt idx="18">
                  <c:v>130</c:v>
                </c:pt>
                <c:pt idx="19">
                  <c:v>131</c:v>
                </c:pt>
                <c:pt idx="20">
                  <c:v>133</c:v>
                </c:pt>
                <c:pt idx="21">
                  <c:v>126</c:v>
                </c:pt>
                <c:pt idx="22">
                  <c:v>120</c:v>
                </c:pt>
                <c:pt idx="23">
                  <c:v>110</c:v>
                </c:pt>
                <c:pt idx="24">
                  <c:v>127</c:v>
                </c:pt>
                <c:pt idx="25">
                  <c:v>134</c:v>
                </c:pt>
                <c:pt idx="26">
                  <c:v>116</c:v>
                </c:pt>
                <c:pt idx="27">
                  <c:v>94</c:v>
                </c:pt>
                <c:pt idx="28">
                  <c:v>77</c:v>
                </c:pt>
                <c:pt idx="29">
                  <c:v>93</c:v>
                </c:pt>
                <c:pt idx="30">
                  <c:v>104</c:v>
                </c:pt>
                <c:pt idx="31">
                  <c:v>109</c:v>
                </c:pt>
                <c:pt idx="32">
                  <c:v>121</c:v>
                </c:pt>
                <c:pt idx="33">
                  <c:v>123</c:v>
                </c:pt>
                <c:pt idx="34">
                  <c:v>112</c:v>
                </c:pt>
                <c:pt idx="35">
                  <c:v>103</c:v>
                </c:pt>
                <c:pt idx="36">
                  <c:v>116</c:v>
                </c:pt>
                <c:pt idx="37">
                  <c:v>109</c:v>
                </c:pt>
                <c:pt idx="38">
                  <c:v>101</c:v>
                </c:pt>
                <c:pt idx="39">
                  <c:v>121</c:v>
                </c:pt>
                <c:pt idx="40">
                  <c:v>111</c:v>
                </c:pt>
                <c:pt idx="41">
                  <c:v>104</c:v>
                </c:pt>
                <c:pt idx="42">
                  <c:v>118</c:v>
                </c:pt>
                <c:pt idx="43">
                  <c:v>123</c:v>
                </c:pt>
                <c:pt idx="44">
                  <c:v>109</c:v>
                </c:pt>
                <c:pt idx="45">
                  <c:v>117</c:v>
                </c:pt>
                <c:pt idx="46">
                  <c:v>99</c:v>
                </c:pt>
                <c:pt idx="47">
                  <c:v>101</c:v>
                </c:pt>
                <c:pt idx="48">
                  <c:v>124</c:v>
                </c:pt>
                <c:pt idx="49">
                  <c:v>111</c:v>
                </c:pt>
                <c:pt idx="50">
                  <c:v>106</c:v>
                </c:pt>
                <c:pt idx="51">
                  <c:v>99</c:v>
                </c:pt>
                <c:pt idx="52">
                  <c:v>102</c:v>
                </c:pt>
                <c:pt idx="53">
                  <c:v>99</c:v>
                </c:pt>
                <c:pt idx="54">
                  <c:v>110</c:v>
                </c:pt>
                <c:pt idx="55">
                  <c:v>97</c:v>
                </c:pt>
                <c:pt idx="56">
                  <c:v>98</c:v>
                </c:pt>
                <c:pt idx="57">
                  <c:v>106</c:v>
                </c:pt>
                <c:pt idx="58">
                  <c:v>105</c:v>
                </c:pt>
                <c:pt idx="59">
                  <c:v>111</c:v>
                </c:pt>
                <c:pt idx="60">
                  <c:v>111</c:v>
                </c:pt>
                <c:pt idx="61">
                  <c:v>117</c:v>
                </c:pt>
                <c:pt idx="62">
                  <c:v>115</c:v>
                </c:pt>
                <c:pt idx="63">
                  <c:v>131</c:v>
                </c:pt>
                <c:pt idx="64">
                  <c:v>139</c:v>
                </c:pt>
                <c:pt idx="65">
                  <c:v>141</c:v>
                </c:pt>
                <c:pt idx="66">
                  <c:v>143</c:v>
                </c:pt>
                <c:pt idx="67">
                  <c:v>140</c:v>
                </c:pt>
                <c:pt idx="68">
                  <c:v>140</c:v>
                </c:pt>
                <c:pt idx="69">
                  <c:v>140</c:v>
                </c:pt>
                <c:pt idx="70">
                  <c:v>138</c:v>
                </c:pt>
                <c:pt idx="71">
                  <c:v>134</c:v>
                </c:pt>
                <c:pt idx="72">
                  <c:v>155</c:v>
                </c:pt>
                <c:pt idx="73">
                  <c:v>151</c:v>
                </c:pt>
                <c:pt idx="74">
                  <c:v>153</c:v>
                </c:pt>
                <c:pt idx="75">
                  <c:v>152</c:v>
                </c:pt>
                <c:pt idx="76">
                  <c:v>164</c:v>
                </c:pt>
                <c:pt idx="77">
                  <c:v>145</c:v>
                </c:pt>
                <c:pt idx="78">
                  <c:v>152</c:v>
                </c:pt>
                <c:pt idx="79">
                  <c:v>153</c:v>
                </c:pt>
                <c:pt idx="80">
                  <c:v>154</c:v>
                </c:pt>
                <c:pt idx="81">
                  <c:v>150</c:v>
                </c:pt>
                <c:pt idx="82">
                  <c:v>144</c:v>
                </c:pt>
                <c:pt idx="83">
                  <c:v>143</c:v>
                </c:pt>
                <c:pt idx="84">
                  <c:v>153</c:v>
                </c:pt>
                <c:pt idx="85">
                  <c:v>158</c:v>
                </c:pt>
                <c:pt idx="86">
                  <c:v>156</c:v>
                </c:pt>
                <c:pt idx="87">
                  <c:v>161</c:v>
                </c:pt>
                <c:pt idx="88">
                  <c:v>152</c:v>
                </c:pt>
                <c:pt idx="89">
                  <c:v>157</c:v>
                </c:pt>
                <c:pt idx="90">
                  <c:v>154</c:v>
                </c:pt>
                <c:pt idx="91">
                  <c:v>152</c:v>
                </c:pt>
                <c:pt idx="92">
                  <c:v>155</c:v>
                </c:pt>
                <c:pt idx="93">
                  <c:v>148</c:v>
                </c:pt>
                <c:pt idx="94">
                  <c:v>150</c:v>
                </c:pt>
                <c:pt idx="95">
                  <c:v>147</c:v>
                </c:pt>
                <c:pt idx="96">
                  <c:v>168</c:v>
                </c:pt>
                <c:pt idx="97">
                  <c:v>164</c:v>
                </c:pt>
                <c:pt idx="98">
                  <c:v>160</c:v>
                </c:pt>
                <c:pt idx="99">
                  <c:v>160</c:v>
                </c:pt>
                <c:pt idx="100">
                  <c:v>158</c:v>
                </c:pt>
                <c:pt idx="101">
                  <c:v>170</c:v>
                </c:pt>
                <c:pt idx="102">
                  <c:v>165</c:v>
                </c:pt>
                <c:pt idx="103">
                  <c:v>161</c:v>
                </c:pt>
                <c:pt idx="104">
                  <c:v>161</c:v>
                </c:pt>
                <c:pt idx="105">
                  <c:v>162</c:v>
                </c:pt>
                <c:pt idx="106">
                  <c:v>155</c:v>
                </c:pt>
                <c:pt idx="107">
                  <c:v>158</c:v>
                </c:pt>
                <c:pt idx="108">
                  <c:v>152</c:v>
                </c:pt>
                <c:pt idx="109">
                  <c:v>153</c:v>
                </c:pt>
                <c:pt idx="110">
                  <c:v>152</c:v>
                </c:pt>
                <c:pt idx="111">
                  <c:v>158</c:v>
                </c:pt>
                <c:pt idx="112">
                  <c:v>161</c:v>
                </c:pt>
                <c:pt idx="113">
                  <c:v>161</c:v>
                </c:pt>
                <c:pt idx="114">
                  <c:v>162</c:v>
                </c:pt>
                <c:pt idx="115">
                  <c:v>157</c:v>
                </c:pt>
                <c:pt idx="116">
                  <c:v>162</c:v>
                </c:pt>
                <c:pt idx="117">
                  <c:v>149</c:v>
                </c:pt>
                <c:pt idx="118">
                  <c:v>142</c:v>
                </c:pt>
                <c:pt idx="119">
                  <c:v>147</c:v>
                </c:pt>
                <c:pt idx="120">
                  <c:v>154</c:v>
                </c:pt>
                <c:pt idx="121">
                  <c:v>155</c:v>
                </c:pt>
                <c:pt idx="122">
                  <c:v>156</c:v>
                </c:pt>
                <c:pt idx="123">
                  <c:v>154</c:v>
                </c:pt>
                <c:pt idx="124">
                  <c:v>165</c:v>
                </c:pt>
                <c:pt idx="125">
                  <c:v>163</c:v>
                </c:pt>
                <c:pt idx="126">
                  <c:v>167</c:v>
                </c:pt>
                <c:pt idx="127">
                  <c:v>160</c:v>
                </c:pt>
                <c:pt idx="128">
                  <c:v>157</c:v>
                </c:pt>
                <c:pt idx="129">
                  <c:v>158</c:v>
                </c:pt>
                <c:pt idx="130">
                  <c:v>156</c:v>
                </c:pt>
                <c:pt idx="131">
                  <c:v>150</c:v>
                </c:pt>
                <c:pt idx="132">
                  <c:v>165</c:v>
                </c:pt>
                <c:pt idx="133">
                  <c:v>154</c:v>
                </c:pt>
                <c:pt idx="134">
                  <c:v>156</c:v>
                </c:pt>
                <c:pt idx="135">
                  <c:v>158</c:v>
                </c:pt>
                <c:pt idx="136">
                  <c:v>157</c:v>
                </c:pt>
                <c:pt idx="137">
                  <c:v>155</c:v>
                </c:pt>
                <c:pt idx="138">
                  <c:v>152</c:v>
                </c:pt>
                <c:pt idx="139">
                  <c:v>156</c:v>
                </c:pt>
                <c:pt idx="140">
                  <c:v>161</c:v>
                </c:pt>
                <c:pt idx="141">
                  <c:v>156</c:v>
                </c:pt>
                <c:pt idx="142">
                  <c:v>146</c:v>
                </c:pt>
                <c:pt idx="143">
                  <c:v>140</c:v>
                </c:pt>
                <c:pt idx="144">
                  <c:v>164</c:v>
                </c:pt>
                <c:pt idx="145">
                  <c:v>157</c:v>
                </c:pt>
                <c:pt idx="146">
                  <c:v>160</c:v>
                </c:pt>
                <c:pt idx="147">
                  <c:v>162</c:v>
                </c:pt>
                <c:pt idx="148">
                  <c:v>161</c:v>
                </c:pt>
                <c:pt idx="149">
                  <c:v>158</c:v>
                </c:pt>
                <c:pt idx="150">
                  <c:v>158</c:v>
                </c:pt>
                <c:pt idx="151">
                  <c:v>147</c:v>
                </c:pt>
                <c:pt idx="152">
                  <c:v>139</c:v>
                </c:pt>
                <c:pt idx="153">
                  <c:v>126</c:v>
                </c:pt>
                <c:pt idx="154">
                  <c:v>127</c:v>
                </c:pt>
                <c:pt idx="155">
                  <c:v>119</c:v>
                </c:pt>
                <c:pt idx="156">
                  <c:v>115</c:v>
                </c:pt>
                <c:pt idx="157">
                  <c:v>120</c:v>
                </c:pt>
                <c:pt idx="158">
                  <c:v>137</c:v>
                </c:pt>
                <c:pt idx="159">
                  <c:v>141</c:v>
                </c:pt>
                <c:pt idx="160">
                  <c:v>128</c:v>
                </c:pt>
                <c:pt idx="161">
                  <c:v>133</c:v>
                </c:pt>
                <c:pt idx="162">
                  <c:v>145</c:v>
                </c:pt>
                <c:pt idx="163">
                  <c:v>134</c:v>
                </c:pt>
                <c:pt idx="164">
                  <c:v>137</c:v>
                </c:pt>
                <c:pt idx="165">
                  <c:v>133</c:v>
                </c:pt>
                <c:pt idx="166">
                  <c:v>119</c:v>
                </c:pt>
                <c:pt idx="167">
                  <c:v>114</c:v>
                </c:pt>
                <c:pt idx="168">
                  <c:v>117</c:v>
                </c:pt>
                <c:pt idx="169">
                  <c:v>114</c:v>
                </c:pt>
                <c:pt idx="170">
                  <c:v>126</c:v>
                </c:pt>
                <c:pt idx="171">
                  <c:v>130</c:v>
                </c:pt>
                <c:pt idx="172">
                  <c:v>139</c:v>
                </c:pt>
                <c:pt idx="173">
                  <c:v>147</c:v>
                </c:pt>
                <c:pt idx="174">
                  <c:v>138</c:v>
                </c:pt>
                <c:pt idx="175">
                  <c:v>132</c:v>
                </c:pt>
                <c:pt idx="176">
                  <c:v>126</c:v>
                </c:pt>
                <c:pt idx="177">
                  <c:v>123</c:v>
                </c:pt>
                <c:pt idx="178">
                  <c:v>140</c:v>
                </c:pt>
                <c:pt idx="179">
                  <c:v>142</c:v>
                </c:pt>
                <c:pt idx="180">
                  <c:v>145</c:v>
                </c:pt>
                <c:pt idx="181">
                  <c:v>148</c:v>
                </c:pt>
                <c:pt idx="182">
                  <c:v>152</c:v>
                </c:pt>
                <c:pt idx="183">
                  <c:v>155</c:v>
                </c:pt>
                <c:pt idx="184">
                  <c:v>152</c:v>
                </c:pt>
                <c:pt idx="185">
                  <c:v>147</c:v>
                </c:pt>
                <c:pt idx="186">
                  <c:v>147</c:v>
                </c:pt>
                <c:pt idx="187">
                  <c:v>150</c:v>
                </c:pt>
                <c:pt idx="188">
                  <c:v>143</c:v>
                </c:pt>
                <c:pt idx="189">
                  <c:v>151</c:v>
                </c:pt>
                <c:pt idx="190">
                  <c:v>147</c:v>
                </c:pt>
                <c:pt idx="191">
                  <c:v>153</c:v>
                </c:pt>
                <c:pt idx="192">
                  <c:v>162</c:v>
                </c:pt>
                <c:pt idx="193">
                  <c:v>167</c:v>
                </c:pt>
                <c:pt idx="194">
                  <c:v>158</c:v>
                </c:pt>
                <c:pt idx="195">
                  <c:v>164</c:v>
                </c:pt>
                <c:pt idx="196">
                  <c:v>165</c:v>
                </c:pt>
                <c:pt idx="197">
                  <c:v>160</c:v>
                </c:pt>
                <c:pt idx="198">
                  <c:v>158</c:v>
                </c:pt>
                <c:pt idx="199">
                  <c:v>165</c:v>
                </c:pt>
                <c:pt idx="200">
                  <c:v>164</c:v>
                </c:pt>
                <c:pt idx="201">
                  <c:v>163</c:v>
                </c:pt>
                <c:pt idx="202">
                  <c:v>155</c:v>
                </c:pt>
                <c:pt idx="203">
                  <c:v>158</c:v>
                </c:pt>
                <c:pt idx="204">
                  <c:v>170</c:v>
                </c:pt>
                <c:pt idx="205">
                  <c:v>164</c:v>
                </c:pt>
                <c:pt idx="206">
                  <c:v>166</c:v>
                </c:pt>
                <c:pt idx="207">
                  <c:v>159</c:v>
                </c:pt>
                <c:pt idx="208">
                  <c:v>159</c:v>
                </c:pt>
                <c:pt idx="209">
                  <c:v>159</c:v>
                </c:pt>
                <c:pt idx="210">
                  <c:v>160</c:v>
                </c:pt>
                <c:pt idx="211">
                  <c:v>167</c:v>
                </c:pt>
                <c:pt idx="212">
                  <c:v>160</c:v>
                </c:pt>
                <c:pt idx="213">
                  <c:v>161</c:v>
                </c:pt>
                <c:pt idx="214">
                  <c:v>154</c:v>
                </c:pt>
                <c:pt idx="215">
                  <c:v>153</c:v>
                </c:pt>
                <c:pt idx="216">
                  <c:v>159</c:v>
                </c:pt>
                <c:pt idx="217">
                  <c:v>161</c:v>
                </c:pt>
                <c:pt idx="218">
                  <c:v>161</c:v>
                </c:pt>
                <c:pt idx="219">
                  <c:v>162</c:v>
                </c:pt>
                <c:pt idx="220">
                  <c:v>159</c:v>
                </c:pt>
                <c:pt idx="221">
                  <c:v>155</c:v>
                </c:pt>
                <c:pt idx="222">
                  <c:v>164</c:v>
                </c:pt>
                <c:pt idx="223">
                  <c:v>161</c:v>
                </c:pt>
                <c:pt idx="224">
                  <c:v>155</c:v>
                </c:pt>
                <c:pt idx="225">
                  <c:v>161</c:v>
                </c:pt>
                <c:pt idx="226">
                  <c:v>158</c:v>
                </c:pt>
                <c:pt idx="227">
                  <c:v>155</c:v>
                </c:pt>
                <c:pt idx="228">
                  <c:v>160</c:v>
                </c:pt>
                <c:pt idx="229">
                  <c:v>164</c:v>
                </c:pt>
                <c:pt idx="230">
                  <c:v>166</c:v>
                </c:pt>
                <c:pt idx="231">
                  <c:v>167</c:v>
                </c:pt>
                <c:pt idx="232">
                  <c:v>173</c:v>
                </c:pt>
                <c:pt idx="233">
                  <c:v>168</c:v>
                </c:pt>
                <c:pt idx="234">
                  <c:v>166</c:v>
                </c:pt>
                <c:pt idx="235">
                  <c:v>167</c:v>
                </c:pt>
                <c:pt idx="236">
                  <c:v>170</c:v>
                </c:pt>
                <c:pt idx="237">
                  <c:v>161</c:v>
                </c:pt>
                <c:pt idx="238">
                  <c:v>169</c:v>
                </c:pt>
                <c:pt idx="239">
                  <c:v>166</c:v>
                </c:pt>
                <c:pt idx="240">
                  <c:v>171</c:v>
                </c:pt>
                <c:pt idx="241">
                  <c:v>170</c:v>
                </c:pt>
                <c:pt idx="242">
                  <c:v>167</c:v>
                </c:pt>
                <c:pt idx="243">
                  <c:v>169</c:v>
                </c:pt>
                <c:pt idx="244">
                  <c:v>166</c:v>
                </c:pt>
                <c:pt idx="245">
                  <c:v>170</c:v>
                </c:pt>
                <c:pt idx="246">
                  <c:v>162</c:v>
                </c:pt>
                <c:pt idx="247">
                  <c:v>163</c:v>
                </c:pt>
                <c:pt idx="248">
                  <c:v>164</c:v>
                </c:pt>
                <c:pt idx="249">
                  <c:v>162</c:v>
                </c:pt>
                <c:pt idx="250">
                  <c:v>171</c:v>
                </c:pt>
                <c:pt idx="251">
                  <c:v>168</c:v>
                </c:pt>
                <c:pt idx="252">
                  <c:v>170</c:v>
                </c:pt>
                <c:pt idx="253">
                  <c:v>166</c:v>
                </c:pt>
                <c:pt idx="254">
                  <c:v>172</c:v>
                </c:pt>
                <c:pt idx="255">
                  <c:v>167</c:v>
                </c:pt>
                <c:pt idx="256">
                  <c:v>182</c:v>
                </c:pt>
                <c:pt idx="257">
                  <c:v>176</c:v>
                </c:pt>
                <c:pt idx="258">
                  <c:v>171</c:v>
                </c:pt>
                <c:pt idx="259">
                  <c:v>165</c:v>
                </c:pt>
                <c:pt idx="260">
                  <c:v>169</c:v>
                </c:pt>
                <c:pt idx="261">
                  <c:v>166</c:v>
                </c:pt>
                <c:pt idx="262">
                  <c:v>166</c:v>
                </c:pt>
                <c:pt idx="263">
                  <c:v>158</c:v>
                </c:pt>
                <c:pt idx="264">
                  <c:v>169</c:v>
                </c:pt>
                <c:pt idx="265">
                  <c:v>172</c:v>
                </c:pt>
                <c:pt idx="266">
                  <c:v>165</c:v>
                </c:pt>
                <c:pt idx="267">
                  <c:v>176</c:v>
                </c:pt>
                <c:pt idx="268">
                  <c:v>173</c:v>
                </c:pt>
                <c:pt idx="269">
                  <c:v>170</c:v>
                </c:pt>
                <c:pt idx="270">
                  <c:v>167</c:v>
                </c:pt>
                <c:pt idx="271">
                  <c:v>166</c:v>
                </c:pt>
                <c:pt idx="272">
                  <c:v>167</c:v>
                </c:pt>
                <c:pt idx="273">
                  <c:v>166</c:v>
                </c:pt>
                <c:pt idx="274">
                  <c:v>170</c:v>
                </c:pt>
                <c:pt idx="275">
                  <c:v>161</c:v>
                </c:pt>
                <c:pt idx="276">
                  <c:v>157</c:v>
                </c:pt>
                <c:pt idx="277">
                  <c:v>152</c:v>
                </c:pt>
                <c:pt idx="278">
                  <c:v>148</c:v>
                </c:pt>
                <c:pt idx="279">
                  <c:v>143</c:v>
                </c:pt>
                <c:pt idx="280">
                  <c:v>152</c:v>
                </c:pt>
                <c:pt idx="281">
                  <c:v>146</c:v>
                </c:pt>
                <c:pt idx="282">
                  <c:v>141</c:v>
                </c:pt>
                <c:pt idx="283">
                  <c:v>144</c:v>
                </c:pt>
                <c:pt idx="284">
                  <c:v>136</c:v>
                </c:pt>
                <c:pt idx="285">
                  <c:v>136</c:v>
                </c:pt>
                <c:pt idx="286">
                  <c:v>140</c:v>
                </c:pt>
                <c:pt idx="287">
                  <c:v>148</c:v>
                </c:pt>
                <c:pt idx="288">
                  <c:v>143</c:v>
                </c:pt>
                <c:pt idx="289">
                  <c:v>143</c:v>
                </c:pt>
                <c:pt idx="290">
                  <c:v>147</c:v>
                </c:pt>
                <c:pt idx="291">
                  <c:v>144</c:v>
                </c:pt>
                <c:pt idx="292">
                  <c:v>159</c:v>
                </c:pt>
                <c:pt idx="293">
                  <c:v>155</c:v>
                </c:pt>
                <c:pt idx="294">
                  <c:v>151</c:v>
                </c:pt>
                <c:pt idx="295">
                  <c:v>146</c:v>
                </c:pt>
                <c:pt idx="296">
                  <c:v>145</c:v>
                </c:pt>
                <c:pt idx="297">
                  <c:v>140</c:v>
                </c:pt>
                <c:pt idx="298">
                  <c:v>143</c:v>
                </c:pt>
                <c:pt idx="299">
                  <c:v>144</c:v>
                </c:pt>
                <c:pt idx="300">
                  <c:v>145</c:v>
                </c:pt>
                <c:pt idx="301">
                  <c:v>145</c:v>
                </c:pt>
                <c:pt idx="302">
                  <c:v>136</c:v>
                </c:pt>
                <c:pt idx="303">
                  <c:v>139</c:v>
                </c:pt>
                <c:pt idx="304">
                  <c:v>144</c:v>
                </c:pt>
                <c:pt idx="305">
                  <c:v>143</c:v>
                </c:pt>
                <c:pt idx="306">
                  <c:v>155</c:v>
                </c:pt>
                <c:pt idx="307">
                  <c:v>150</c:v>
                </c:pt>
                <c:pt idx="308">
                  <c:v>148</c:v>
                </c:pt>
                <c:pt idx="309">
                  <c:v>148</c:v>
                </c:pt>
                <c:pt idx="310">
                  <c:v>158</c:v>
                </c:pt>
                <c:pt idx="311">
                  <c:v>146</c:v>
                </c:pt>
                <c:pt idx="312">
                  <c:v>165</c:v>
                </c:pt>
                <c:pt idx="313">
                  <c:v>157</c:v>
                </c:pt>
                <c:pt idx="314">
                  <c:v>163</c:v>
                </c:pt>
                <c:pt idx="315">
                  <c:v>159</c:v>
                </c:pt>
                <c:pt idx="316">
                  <c:v>156</c:v>
                </c:pt>
                <c:pt idx="317">
                  <c:v>164</c:v>
                </c:pt>
                <c:pt idx="318">
                  <c:v>158</c:v>
                </c:pt>
                <c:pt idx="319">
                  <c:v>158</c:v>
                </c:pt>
                <c:pt idx="320">
                  <c:v>155</c:v>
                </c:pt>
                <c:pt idx="321">
                  <c:v>158</c:v>
                </c:pt>
                <c:pt idx="322">
                  <c:v>158</c:v>
                </c:pt>
                <c:pt idx="323">
                  <c:v>165</c:v>
                </c:pt>
                <c:pt idx="324">
                  <c:v>165</c:v>
                </c:pt>
                <c:pt idx="325">
                  <c:v>162</c:v>
                </c:pt>
                <c:pt idx="326">
                  <c:v>163</c:v>
                </c:pt>
                <c:pt idx="327">
                  <c:v>158</c:v>
                </c:pt>
                <c:pt idx="328">
                  <c:v>163</c:v>
                </c:pt>
                <c:pt idx="329">
                  <c:v>172</c:v>
                </c:pt>
                <c:pt idx="330">
                  <c:v>172</c:v>
                </c:pt>
                <c:pt idx="331">
                  <c:v>164</c:v>
                </c:pt>
                <c:pt idx="332">
                  <c:v>151</c:v>
                </c:pt>
                <c:pt idx="333">
                  <c:v>139</c:v>
                </c:pt>
                <c:pt idx="334">
                  <c:v>157</c:v>
                </c:pt>
                <c:pt idx="335">
                  <c:v>164</c:v>
                </c:pt>
                <c:pt idx="336">
                  <c:v>168</c:v>
                </c:pt>
                <c:pt idx="337">
                  <c:v>162</c:v>
                </c:pt>
                <c:pt idx="338">
                  <c:v>165</c:v>
                </c:pt>
                <c:pt idx="339">
                  <c:v>165</c:v>
                </c:pt>
                <c:pt idx="340">
                  <c:v>147</c:v>
                </c:pt>
                <c:pt idx="341">
                  <c:v>159</c:v>
                </c:pt>
                <c:pt idx="342">
                  <c:v>158</c:v>
                </c:pt>
                <c:pt idx="343">
                  <c:v>160</c:v>
                </c:pt>
                <c:pt idx="344">
                  <c:v>151</c:v>
                </c:pt>
                <c:pt idx="345">
                  <c:v>160</c:v>
                </c:pt>
                <c:pt idx="346">
                  <c:v>156</c:v>
                </c:pt>
                <c:pt idx="347">
                  <c:v>161</c:v>
                </c:pt>
                <c:pt idx="348">
                  <c:v>166</c:v>
                </c:pt>
                <c:pt idx="349">
                  <c:v>158</c:v>
                </c:pt>
                <c:pt idx="350">
                  <c:v>157</c:v>
                </c:pt>
                <c:pt idx="351">
                  <c:v>152</c:v>
                </c:pt>
                <c:pt idx="352">
                  <c:v>160</c:v>
                </c:pt>
                <c:pt idx="353">
                  <c:v>154</c:v>
                </c:pt>
                <c:pt idx="354">
                  <c:v>156</c:v>
                </c:pt>
                <c:pt idx="355">
                  <c:v>152</c:v>
                </c:pt>
                <c:pt idx="356">
                  <c:v>144</c:v>
                </c:pt>
                <c:pt idx="357">
                  <c:v>142</c:v>
                </c:pt>
                <c:pt idx="358">
                  <c:v>136</c:v>
                </c:pt>
                <c:pt idx="359">
                  <c:v>137</c:v>
                </c:pt>
                <c:pt idx="360">
                  <c:v>146</c:v>
                </c:pt>
                <c:pt idx="361">
                  <c:v>123</c:v>
                </c:pt>
                <c:pt idx="362">
                  <c:v>124</c:v>
                </c:pt>
                <c:pt idx="363">
                  <c:v>112</c:v>
                </c:pt>
                <c:pt idx="364">
                  <c:v>109</c:v>
                </c:pt>
                <c:pt idx="365">
                  <c:v>104</c:v>
                </c:pt>
                <c:pt idx="366">
                  <c:v>115</c:v>
                </c:pt>
                <c:pt idx="367">
                  <c:v>110</c:v>
                </c:pt>
                <c:pt idx="368">
                  <c:v>107</c:v>
                </c:pt>
                <c:pt idx="369">
                  <c:v>89</c:v>
                </c:pt>
                <c:pt idx="370">
                  <c:v>88</c:v>
                </c:pt>
                <c:pt idx="371">
                  <c:v>116</c:v>
                </c:pt>
                <c:pt idx="372">
                  <c:v>101</c:v>
                </c:pt>
                <c:pt idx="373">
                  <c:v>103</c:v>
                </c:pt>
                <c:pt idx="374">
                  <c:v>98</c:v>
                </c:pt>
                <c:pt idx="375">
                  <c:v>105</c:v>
                </c:pt>
                <c:pt idx="376">
                  <c:v>113</c:v>
                </c:pt>
                <c:pt idx="377">
                  <c:v>121</c:v>
                </c:pt>
                <c:pt idx="378">
                  <c:v>111</c:v>
                </c:pt>
                <c:pt idx="379">
                  <c:v>113</c:v>
                </c:pt>
                <c:pt idx="380">
                  <c:v>120</c:v>
                </c:pt>
                <c:pt idx="381">
                  <c:v>120</c:v>
                </c:pt>
                <c:pt idx="382">
                  <c:v>114</c:v>
                </c:pt>
                <c:pt idx="383">
                  <c:v>128</c:v>
                </c:pt>
                <c:pt idx="384">
                  <c:v>133</c:v>
                </c:pt>
                <c:pt idx="385">
                  <c:v>136</c:v>
                </c:pt>
                <c:pt idx="386">
                  <c:v>136</c:v>
                </c:pt>
                <c:pt idx="387">
                  <c:v>132</c:v>
                </c:pt>
                <c:pt idx="388">
                  <c:v>132</c:v>
                </c:pt>
                <c:pt idx="389">
                  <c:v>139</c:v>
                </c:pt>
                <c:pt idx="390">
                  <c:v>123</c:v>
                </c:pt>
                <c:pt idx="391">
                  <c:v>120</c:v>
                </c:pt>
                <c:pt idx="392">
                  <c:v>123</c:v>
                </c:pt>
                <c:pt idx="393">
                  <c:v>119</c:v>
                </c:pt>
                <c:pt idx="394">
                  <c:v>131</c:v>
                </c:pt>
                <c:pt idx="395">
                  <c:v>140</c:v>
                </c:pt>
                <c:pt idx="396">
                  <c:v>126</c:v>
                </c:pt>
                <c:pt idx="397">
                  <c:v>133</c:v>
                </c:pt>
                <c:pt idx="398">
                  <c:v>133</c:v>
                </c:pt>
                <c:pt idx="399">
                  <c:v>133</c:v>
                </c:pt>
                <c:pt idx="400">
                  <c:v>128</c:v>
                </c:pt>
                <c:pt idx="401">
                  <c:v>128</c:v>
                </c:pt>
                <c:pt idx="402">
                  <c:v>117</c:v>
                </c:pt>
                <c:pt idx="403">
                  <c:v>108</c:v>
                </c:pt>
                <c:pt idx="404">
                  <c:v>117</c:v>
                </c:pt>
                <c:pt idx="405">
                  <c:v>115</c:v>
                </c:pt>
                <c:pt idx="406">
                  <c:v>120</c:v>
                </c:pt>
                <c:pt idx="407">
                  <c:v>128</c:v>
                </c:pt>
                <c:pt idx="408">
                  <c:v>130</c:v>
                </c:pt>
                <c:pt idx="409">
                  <c:v>128</c:v>
                </c:pt>
                <c:pt idx="410">
                  <c:v>125</c:v>
                </c:pt>
                <c:pt idx="411">
                  <c:v>126</c:v>
                </c:pt>
                <c:pt idx="412">
                  <c:v>132</c:v>
                </c:pt>
                <c:pt idx="413">
                  <c:v>125</c:v>
                </c:pt>
                <c:pt idx="414">
                  <c:v>130</c:v>
                </c:pt>
                <c:pt idx="415">
                  <c:v>139</c:v>
                </c:pt>
                <c:pt idx="416">
                  <c:v>132</c:v>
                </c:pt>
                <c:pt idx="417">
                  <c:v>128</c:v>
                </c:pt>
                <c:pt idx="418">
                  <c:v>137</c:v>
                </c:pt>
                <c:pt idx="419">
                  <c:v>134</c:v>
                </c:pt>
                <c:pt idx="420">
                  <c:v>135</c:v>
                </c:pt>
                <c:pt idx="421">
                  <c:v>140</c:v>
                </c:pt>
                <c:pt idx="422">
                  <c:v>140</c:v>
                </c:pt>
                <c:pt idx="423">
                  <c:v>137</c:v>
                </c:pt>
                <c:pt idx="424">
                  <c:v>147</c:v>
                </c:pt>
                <c:pt idx="425">
                  <c:v>143</c:v>
                </c:pt>
                <c:pt idx="426">
                  <c:v>149</c:v>
                </c:pt>
                <c:pt idx="427">
                  <c:v>144</c:v>
                </c:pt>
                <c:pt idx="428">
                  <c:v>143</c:v>
                </c:pt>
                <c:pt idx="429">
                  <c:v>136</c:v>
                </c:pt>
                <c:pt idx="430">
                  <c:v>136</c:v>
                </c:pt>
                <c:pt idx="431">
                  <c:v>156</c:v>
                </c:pt>
                <c:pt idx="432">
                  <c:v>147</c:v>
                </c:pt>
                <c:pt idx="433">
                  <c:v>148</c:v>
                </c:pt>
                <c:pt idx="434">
                  <c:v>148</c:v>
                </c:pt>
                <c:pt idx="435">
                  <c:v>146</c:v>
                </c:pt>
                <c:pt idx="436">
                  <c:v>141</c:v>
                </c:pt>
                <c:pt idx="437">
                  <c:v>141</c:v>
                </c:pt>
                <c:pt idx="438">
                  <c:v>146</c:v>
                </c:pt>
                <c:pt idx="439">
                  <c:v>145</c:v>
                </c:pt>
                <c:pt idx="440">
                  <c:v>148</c:v>
                </c:pt>
                <c:pt idx="441">
                  <c:v>147</c:v>
                </c:pt>
                <c:pt idx="442">
                  <c:v>158</c:v>
                </c:pt>
                <c:pt idx="443">
                  <c:v>158</c:v>
                </c:pt>
                <c:pt idx="444">
                  <c:v>162</c:v>
                </c:pt>
                <c:pt idx="445">
                  <c:v>156</c:v>
                </c:pt>
                <c:pt idx="446">
                  <c:v>155</c:v>
                </c:pt>
                <c:pt idx="447">
                  <c:v>158</c:v>
                </c:pt>
                <c:pt idx="448">
                  <c:v>150</c:v>
                </c:pt>
                <c:pt idx="449">
                  <c:v>163</c:v>
                </c:pt>
                <c:pt idx="450">
                  <c:v>161</c:v>
                </c:pt>
                <c:pt idx="451">
                  <c:v>152</c:v>
                </c:pt>
                <c:pt idx="452">
                  <c:v>151</c:v>
                </c:pt>
                <c:pt idx="453">
                  <c:v>154</c:v>
                </c:pt>
                <c:pt idx="454">
                  <c:v>160</c:v>
                </c:pt>
                <c:pt idx="455">
                  <c:v>167</c:v>
                </c:pt>
                <c:pt idx="456">
                  <c:v>166</c:v>
                </c:pt>
                <c:pt idx="457">
                  <c:v>159</c:v>
                </c:pt>
                <c:pt idx="458">
                  <c:v>155</c:v>
                </c:pt>
                <c:pt idx="459">
                  <c:v>158</c:v>
                </c:pt>
                <c:pt idx="460">
                  <c:v>162</c:v>
                </c:pt>
                <c:pt idx="461">
                  <c:v>164</c:v>
                </c:pt>
                <c:pt idx="462">
                  <c:v>162</c:v>
                </c:pt>
                <c:pt idx="463">
                  <c:v>159</c:v>
                </c:pt>
                <c:pt idx="464">
                  <c:v>158</c:v>
                </c:pt>
                <c:pt idx="465">
                  <c:v>157</c:v>
                </c:pt>
                <c:pt idx="466">
                  <c:v>162</c:v>
                </c:pt>
                <c:pt idx="467">
                  <c:v>164</c:v>
                </c:pt>
                <c:pt idx="468">
                  <c:v>165</c:v>
                </c:pt>
                <c:pt idx="469">
                  <c:v>161</c:v>
                </c:pt>
                <c:pt idx="470">
                  <c:v>162</c:v>
                </c:pt>
                <c:pt idx="471">
                  <c:v>166</c:v>
                </c:pt>
                <c:pt idx="472">
                  <c:v>164</c:v>
                </c:pt>
                <c:pt idx="473">
                  <c:v>161</c:v>
                </c:pt>
                <c:pt idx="474">
                  <c:v>163</c:v>
                </c:pt>
                <c:pt idx="475">
                  <c:v>158</c:v>
                </c:pt>
                <c:pt idx="476">
                  <c:v>162</c:v>
                </c:pt>
                <c:pt idx="477">
                  <c:v>168</c:v>
                </c:pt>
                <c:pt idx="478">
                  <c:v>168</c:v>
                </c:pt>
                <c:pt idx="479">
                  <c:v>168</c:v>
                </c:pt>
                <c:pt idx="480">
                  <c:v>160</c:v>
                </c:pt>
                <c:pt idx="481">
                  <c:v>166</c:v>
                </c:pt>
                <c:pt idx="482">
                  <c:v>173</c:v>
                </c:pt>
                <c:pt idx="483">
                  <c:v>165</c:v>
                </c:pt>
                <c:pt idx="484">
                  <c:v>160</c:v>
                </c:pt>
                <c:pt idx="485">
                  <c:v>166</c:v>
                </c:pt>
                <c:pt idx="486">
                  <c:v>164</c:v>
                </c:pt>
                <c:pt idx="487">
                  <c:v>154</c:v>
                </c:pt>
                <c:pt idx="488">
                  <c:v>164</c:v>
                </c:pt>
                <c:pt idx="489">
                  <c:v>163</c:v>
                </c:pt>
                <c:pt idx="490">
                  <c:v>161</c:v>
                </c:pt>
                <c:pt idx="491">
                  <c:v>169</c:v>
                </c:pt>
                <c:pt idx="492">
                  <c:v>155</c:v>
                </c:pt>
                <c:pt idx="493">
                  <c:v>158</c:v>
                </c:pt>
                <c:pt idx="494">
                  <c:v>156</c:v>
                </c:pt>
                <c:pt idx="495">
                  <c:v>159</c:v>
                </c:pt>
                <c:pt idx="496">
                  <c:v>151</c:v>
                </c:pt>
                <c:pt idx="497">
                  <c:v>160</c:v>
                </c:pt>
                <c:pt idx="498">
                  <c:v>156</c:v>
                </c:pt>
                <c:pt idx="499">
                  <c:v>146</c:v>
                </c:pt>
                <c:pt idx="500">
                  <c:v>150</c:v>
                </c:pt>
                <c:pt idx="501">
                  <c:v>160</c:v>
                </c:pt>
                <c:pt idx="502">
                  <c:v>156</c:v>
                </c:pt>
                <c:pt idx="503">
                  <c:v>164</c:v>
                </c:pt>
                <c:pt idx="504">
                  <c:v>163</c:v>
                </c:pt>
                <c:pt idx="505">
                  <c:v>157</c:v>
                </c:pt>
                <c:pt idx="506">
                  <c:v>141</c:v>
                </c:pt>
                <c:pt idx="507">
                  <c:v>86</c:v>
                </c:pt>
                <c:pt idx="508">
                  <c:v>105</c:v>
                </c:pt>
                <c:pt idx="509">
                  <c:v>115</c:v>
                </c:pt>
                <c:pt idx="510">
                  <c:v>106</c:v>
                </c:pt>
                <c:pt idx="511">
                  <c:v>106</c:v>
                </c:pt>
                <c:pt idx="512">
                  <c:v>114</c:v>
                </c:pt>
                <c:pt idx="513">
                  <c:v>109</c:v>
                </c:pt>
                <c:pt idx="514">
                  <c:v>114</c:v>
                </c:pt>
                <c:pt idx="515">
                  <c:v>119</c:v>
                </c:pt>
                <c:pt idx="516">
                  <c:v>115</c:v>
                </c:pt>
                <c:pt idx="517">
                  <c:v>113</c:v>
                </c:pt>
                <c:pt idx="518">
                  <c:v>128</c:v>
                </c:pt>
                <c:pt idx="519">
                  <c:v>126</c:v>
                </c:pt>
                <c:pt idx="520">
                  <c:v>111</c:v>
                </c:pt>
                <c:pt idx="521">
                  <c:v>112</c:v>
                </c:pt>
                <c:pt idx="522">
                  <c:v>102</c:v>
                </c:pt>
                <c:pt idx="523">
                  <c:v>94</c:v>
                </c:pt>
                <c:pt idx="524">
                  <c:v>90</c:v>
                </c:pt>
                <c:pt idx="525">
                  <c:v>85</c:v>
                </c:pt>
                <c:pt idx="526">
                  <c:v>79</c:v>
                </c:pt>
                <c:pt idx="527">
                  <c:v>82</c:v>
                </c:pt>
                <c:pt idx="528">
                  <c:v>79</c:v>
                </c:pt>
                <c:pt idx="529">
                  <c:v>78</c:v>
                </c:pt>
                <c:pt idx="530">
                  <c:v>80</c:v>
                </c:pt>
                <c:pt idx="531">
                  <c:v>80</c:v>
                </c:pt>
                <c:pt idx="532">
                  <c:v>71</c:v>
                </c:pt>
                <c:pt idx="533">
                  <c:v>65</c:v>
                </c:pt>
                <c:pt idx="534">
                  <c:v>73</c:v>
                </c:pt>
                <c:pt idx="535">
                  <c:v>69</c:v>
                </c:pt>
                <c:pt idx="536">
                  <c:v>73</c:v>
                </c:pt>
                <c:pt idx="537">
                  <c:v>90</c:v>
                </c:pt>
                <c:pt idx="538">
                  <c:v>73</c:v>
                </c:pt>
                <c:pt idx="539">
                  <c:v>77</c:v>
                </c:pt>
                <c:pt idx="540">
                  <c:v>87</c:v>
                </c:pt>
                <c:pt idx="541">
                  <c:v>90</c:v>
                </c:pt>
                <c:pt idx="542">
                  <c:v>82</c:v>
                </c:pt>
              </c:numCache>
            </c:numRef>
          </c:val>
          <c:smooth val="1"/>
          <c:extLst>
            <c:ext xmlns:c16="http://schemas.microsoft.com/office/drawing/2014/chart" uri="{C3380CC4-5D6E-409C-BE32-E72D297353CC}">
              <c16:uniqueId val="{00000002-9BB7-4438-81EC-DCA24795864D}"/>
            </c:ext>
          </c:extLst>
        </c:ser>
        <c:ser>
          <c:idx val="4"/>
          <c:order val="2"/>
          <c:tx>
            <c:strRef>
              <c:f>'Page 6 Data'!$Q$5</c:f>
              <c:strCache>
                <c:ptCount val="1"/>
                <c:pt idx="0">
                  <c:v>Vehicles</c:v>
                </c:pt>
              </c:strCache>
            </c:strRef>
          </c:tx>
          <c:spPr>
            <a:ln w="19050">
              <a:solidFill>
                <a:srgbClr val="FFB343"/>
              </a:solidFill>
            </a:ln>
          </c:spPr>
          <c:marker>
            <c:symbol val="none"/>
          </c:marker>
          <c:dPt>
            <c:idx val="39"/>
            <c:bubble3D val="0"/>
            <c:spPr>
              <a:ln w="19050">
                <a:solidFill>
                  <a:srgbClr val="FFC000"/>
                </a:solidFill>
              </a:ln>
            </c:spPr>
            <c:extLst>
              <c:ext xmlns:c16="http://schemas.microsoft.com/office/drawing/2014/chart" uri="{C3380CC4-5D6E-409C-BE32-E72D297353CC}">
                <c16:uniqueId val="{00000001-4B90-433B-A627-1B41CC0FD15C}"/>
              </c:ext>
            </c:extLst>
          </c:dPt>
          <c:cat>
            <c:numRef>
              <c:f>'Page 6 Data'!$AB$7:$AB$549</c:f>
              <c:numCache>
                <c:formatCode>[$-409]mmm\-yy;@</c:formatCode>
                <c:ptCount val="543"/>
                <c:pt idx="0">
                  <c:v>28521</c:v>
                </c:pt>
                <c:pt idx="1">
                  <c:v>28549</c:v>
                </c:pt>
                <c:pt idx="2">
                  <c:v>28580</c:v>
                </c:pt>
                <c:pt idx="3">
                  <c:v>28610</c:v>
                </c:pt>
                <c:pt idx="4">
                  <c:v>28641</c:v>
                </c:pt>
                <c:pt idx="5">
                  <c:v>28671</c:v>
                </c:pt>
                <c:pt idx="6">
                  <c:v>28702</c:v>
                </c:pt>
                <c:pt idx="7">
                  <c:v>28733</c:v>
                </c:pt>
                <c:pt idx="8">
                  <c:v>28763</c:v>
                </c:pt>
                <c:pt idx="9">
                  <c:v>28794</c:v>
                </c:pt>
                <c:pt idx="10">
                  <c:v>28824</c:v>
                </c:pt>
                <c:pt idx="11">
                  <c:v>28855</c:v>
                </c:pt>
                <c:pt idx="12">
                  <c:v>28886</c:v>
                </c:pt>
                <c:pt idx="13">
                  <c:v>28914</c:v>
                </c:pt>
                <c:pt idx="14">
                  <c:v>28945</c:v>
                </c:pt>
                <c:pt idx="15">
                  <c:v>28975</c:v>
                </c:pt>
                <c:pt idx="16">
                  <c:v>29006</c:v>
                </c:pt>
                <c:pt idx="17">
                  <c:v>29036</c:v>
                </c:pt>
                <c:pt idx="18">
                  <c:v>29067</c:v>
                </c:pt>
                <c:pt idx="19">
                  <c:v>29098</c:v>
                </c:pt>
                <c:pt idx="20">
                  <c:v>29128</c:v>
                </c:pt>
                <c:pt idx="21">
                  <c:v>29159</c:v>
                </c:pt>
                <c:pt idx="22">
                  <c:v>29189</c:v>
                </c:pt>
                <c:pt idx="23">
                  <c:v>29220</c:v>
                </c:pt>
                <c:pt idx="24">
                  <c:v>29251</c:v>
                </c:pt>
                <c:pt idx="25">
                  <c:v>29280</c:v>
                </c:pt>
                <c:pt idx="26">
                  <c:v>29311</c:v>
                </c:pt>
                <c:pt idx="27">
                  <c:v>29341</c:v>
                </c:pt>
                <c:pt idx="28">
                  <c:v>29372</c:v>
                </c:pt>
                <c:pt idx="29">
                  <c:v>29402</c:v>
                </c:pt>
                <c:pt idx="30">
                  <c:v>29433</c:v>
                </c:pt>
                <c:pt idx="31">
                  <c:v>29464</c:v>
                </c:pt>
                <c:pt idx="32">
                  <c:v>29494</c:v>
                </c:pt>
                <c:pt idx="33">
                  <c:v>29525</c:v>
                </c:pt>
                <c:pt idx="34">
                  <c:v>29555</c:v>
                </c:pt>
                <c:pt idx="35">
                  <c:v>29586</c:v>
                </c:pt>
                <c:pt idx="36">
                  <c:v>29617</c:v>
                </c:pt>
                <c:pt idx="37">
                  <c:v>29645</c:v>
                </c:pt>
                <c:pt idx="38">
                  <c:v>29676</c:v>
                </c:pt>
                <c:pt idx="39">
                  <c:v>29706</c:v>
                </c:pt>
                <c:pt idx="40">
                  <c:v>29737</c:v>
                </c:pt>
                <c:pt idx="41">
                  <c:v>29767</c:v>
                </c:pt>
                <c:pt idx="42">
                  <c:v>29798</c:v>
                </c:pt>
                <c:pt idx="43">
                  <c:v>29829</c:v>
                </c:pt>
                <c:pt idx="44">
                  <c:v>29859</c:v>
                </c:pt>
                <c:pt idx="45">
                  <c:v>29890</c:v>
                </c:pt>
                <c:pt idx="46">
                  <c:v>29920</c:v>
                </c:pt>
                <c:pt idx="47">
                  <c:v>29951</c:v>
                </c:pt>
                <c:pt idx="48">
                  <c:v>29982</c:v>
                </c:pt>
                <c:pt idx="49">
                  <c:v>30010</c:v>
                </c:pt>
                <c:pt idx="50">
                  <c:v>30041</c:v>
                </c:pt>
                <c:pt idx="51">
                  <c:v>30071</c:v>
                </c:pt>
                <c:pt idx="52">
                  <c:v>30102</c:v>
                </c:pt>
                <c:pt idx="53">
                  <c:v>30132</c:v>
                </c:pt>
                <c:pt idx="54">
                  <c:v>30163</c:v>
                </c:pt>
                <c:pt idx="55">
                  <c:v>30194</c:v>
                </c:pt>
                <c:pt idx="56">
                  <c:v>30224</c:v>
                </c:pt>
                <c:pt idx="57">
                  <c:v>30255</c:v>
                </c:pt>
                <c:pt idx="58">
                  <c:v>30285</c:v>
                </c:pt>
                <c:pt idx="59">
                  <c:v>30316</c:v>
                </c:pt>
                <c:pt idx="60">
                  <c:v>30347</c:v>
                </c:pt>
                <c:pt idx="61">
                  <c:v>30375</c:v>
                </c:pt>
                <c:pt idx="62">
                  <c:v>30406</c:v>
                </c:pt>
                <c:pt idx="63">
                  <c:v>30436</c:v>
                </c:pt>
                <c:pt idx="64">
                  <c:v>30467</c:v>
                </c:pt>
                <c:pt idx="65">
                  <c:v>30497</c:v>
                </c:pt>
                <c:pt idx="66">
                  <c:v>30528</c:v>
                </c:pt>
                <c:pt idx="67">
                  <c:v>30559</c:v>
                </c:pt>
                <c:pt idx="68">
                  <c:v>30589</c:v>
                </c:pt>
                <c:pt idx="69">
                  <c:v>30620</c:v>
                </c:pt>
                <c:pt idx="70">
                  <c:v>30650</c:v>
                </c:pt>
                <c:pt idx="71">
                  <c:v>30681</c:v>
                </c:pt>
                <c:pt idx="72">
                  <c:v>30712</c:v>
                </c:pt>
                <c:pt idx="73">
                  <c:v>30741</c:v>
                </c:pt>
                <c:pt idx="74">
                  <c:v>30772</c:v>
                </c:pt>
                <c:pt idx="75">
                  <c:v>30802</c:v>
                </c:pt>
                <c:pt idx="76">
                  <c:v>30833</c:v>
                </c:pt>
                <c:pt idx="77">
                  <c:v>30863</c:v>
                </c:pt>
                <c:pt idx="78">
                  <c:v>30894</c:v>
                </c:pt>
                <c:pt idx="79">
                  <c:v>30925</c:v>
                </c:pt>
                <c:pt idx="80">
                  <c:v>30955</c:v>
                </c:pt>
                <c:pt idx="81">
                  <c:v>30986</c:v>
                </c:pt>
                <c:pt idx="82">
                  <c:v>31016</c:v>
                </c:pt>
                <c:pt idx="83">
                  <c:v>31047</c:v>
                </c:pt>
                <c:pt idx="84">
                  <c:v>31078</c:v>
                </c:pt>
                <c:pt idx="85">
                  <c:v>31106</c:v>
                </c:pt>
                <c:pt idx="86">
                  <c:v>31137</c:v>
                </c:pt>
                <c:pt idx="87">
                  <c:v>31167</c:v>
                </c:pt>
                <c:pt idx="88">
                  <c:v>31198</c:v>
                </c:pt>
                <c:pt idx="89">
                  <c:v>31228</c:v>
                </c:pt>
                <c:pt idx="90">
                  <c:v>31259</c:v>
                </c:pt>
                <c:pt idx="91">
                  <c:v>31290</c:v>
                </c:pt>
                <c:pt idx="92">
                  <c:v>31320</c:v>
                </c:pt>
                <c:pt idx="93">
                  <c:v>31351</c:v>
                </c:pt>
                <c:pt idx="94">
                  <c:v>31381</c:v>
                </c:pt>
                <c:pt idx="95">
                  <c:v>31412</c:v>
                </c:pt>
                <c:pt idx="96">
                  <c:v>31443</c:v>
                </c:pt>
                <c:pt idx="97">
                  <c:v>31471</c:v>
                </c:pt>
                <c:pt idx="98">
                  <c:v>31502</c:v>
                </c:pt>
                <c:pt idx="99">
                  <c:v>31532</c:v>
                </c:pt>
                <c:pt idx="100">
                  <c:v>31563</c:v>
                </c:pt>
                <c:pt idx="101">
                  <c:v>31593</c:v>
                </c:pt>
                <c:pt idx="102">
                  <c:v>31624</c:v>
                </c:pt>
                <c:pt idx="103">
                  <c:v>31655</c:v>
                </c:pt>
                <c:pt idx="104">
                  <c:v>31685</c:v>
                </c:pt>
                <c:pt idx="105">
                  <c:v>31716</c:v>
                </c:pt>
                <c:pt idx="106">
                  <c:v>31746</c:v>
                </c:pt>
                <c:pt idx="107">
                  <c:v>31777</c:v>
                </c:pt>
                <c:pt idx="108">
                  <c:v>31808</c:v>
                </c:pt>
                <c:pt idx="109">
                  <c:v>31836</c:v>
                </c:pt>
                <c:pt idx="110">
                  <c:v>31867</c:v>
                </c:pt>
                <c:pt idx="111">
                  <c:v>31897</c:v>
                </c:pt>
                <c:pt idx="112">
                  <c:v>31928</c:v>
                </c:pt>
                <c:pt idx="113">
                  <c:v>31958</c:v>
                </c:pt>
                <c:pt idx="114">
                  <c:v>31989</c:v>
                </c:pt>
                <c:pt idx="115">
                  <c:v>32020</c:v>
                </c:pt>
                <c:pt idx="116">
                  <c:v>32050</c:v>
                </c:pt>
                <c:pt idx="117">
                  <c:v>32081</c:v>
                </c:pt>
                <c:pt idx="118">
                  <c:v>32111</c:v>
                </c:pt>
                <c:pt idx="119">
                  <c:v>32142</c:v>
                </c:pt>
                <c:pt idx="120">
                  <c:v>32173</c:v>
                </c:pt>
                <c:pt idx="121">
                  <c:v>32202</c:v>
                </c:pt>
                <c:pt idx="122">
                  <c:v>32233</c:v>
                </c:pt>
                <c:pt idx="123">
                  <c:v>32263</c:v>
                </c:pt>
                <c:pt idx="124">
                  <c:v>32294</c:v>
                </c:pt>
                <c:pt idx="125">
                  <c:v>32324</c:v>
                </c:pt>
                <c:pt idx="126">
                  <c:v>32355</c:v>
                </c:pt>
                <c:pt idx="127">
                  <c:v>32386</c:v>
                </c:pt>
                <c:pt idx="128">
                  <c:v>32416</c:v>
                </c:pt>
                <c:pt idx="129">
                  <c:v>32447</c:v>
                </c:pt>
                <c:pt idx="130">
                  <c:v>32477</c:v>
                </c:pt>
                <c:pt idx="131">
                  <c:v>32508</c:v>
                </c:pt>
                <c:pt idx="132">
                  <c:v>32539</c:v>
                </c:pt>
                <c:pt idx="133">
                  <c:v>32567</c:v>
                </c:pt>
                <c:pt idx="134">
                  <c:v>32598</c:v>
                </c:pt>
                <c:pt idx="135">
                  <c:v>32628</c:v>
                </c:pt>
                <c:pt idx="136">
                  <c:v>32659</c:v>
                </c:pt>
                <c:pt idx="137">
                  <c:v>32689</c:v>
                </c:pt>
                <c:pt idx="138">
                  <c:v>32720</c:v>
                </c:pt>
                <c:pt idx="139">
                  <c:v>32751</c:v>
                </c:pt>
                <c:pt idx="140">
                  <c:v>32781</c:v>
                </c:pt>
                <c:pt idx="141">
                  <c:v>32812</c:v>
                </c:pt>
                <c:pt idx="142">
                  <c:v>32842</c:v>
                </c:pt>
                <c:pt idx="143">
                  <c:v>32873</c:v>
                </c:pt>
                <c:pt idx="144">
                  <c:v>32904</c:v>
                </c:pt>
                <c:pt idx="145">
                  <c:v>32932</c:v>
                </c:pt>
                <c:pt idx="146">
                  <c:v>32963</c:v>
                </c:pt>
                <c:pt idx="147">
                  <c:v>32993</c:v>
                </c:pt>
                <c:pt idx="148">
                  <c:v>33024</c:v>
                </c:pt>
                <c:pt idx="149">
                  <c:v>33054</c:v>
                </c:pt>
                <c:pt idx="150">
                  <c:v>33085</c:v>
                </c:pt>
                <c:pt idx="151">
                  <c:v>33116</c:v>
                </c:pt>
                <c:pt idx="152">
                  <c:v>33146</c:v>
                </c:pt>
                <c:pt idx="153">
                  <c:v>33177</c:v>
                </c:pt>
                <c:pt idx="154">
                  <c:v>33207</c:v>
                </c:pt>
                <c:pt idx="155">
                  <c:v>33238</c:v>
                </c:pt>
                <c:pt idx="156">
                  <c:v>33269</c:v>
                </c:pt>
                <c:pt idx="157">
                  <c:v>33297</c:v>
                </c:pt>
                <c:pt idx="158">
                  <c:v>33328</c:v>
                </c:pt>
                <c:pt idx="159">
                  <c:v>33358</c:v>
                </c:pt>
                <c:pt idx="160">
                  <c:v>33389</c:v>
                </c:pt>
                <c:pt idx="161">
                  <c:v>33419</c:v>
                </c:pt>
                <c:pt idx="162">
                  <c:v>33450</c:v>
                </c:pt>
                <c:pt idx="163">
                  <c:v>33481</c:v>
                </c:pt>
                <c:pt idx="164">
                  <c:v>33511</c:v>
                </c:pt>
                <c:pt idx="165">
                  <c:v>33542</c:v>
                </c:pt>
                <c:pt idx="166">
                  <c:v>33572</c:v>
                </c:pt>
                <c:pt idx="167">
                  <c:v>33603</c:v>
                </c:pt>
                <c:pt idx="168">
                  <c:v>33634</c:v>
                </c:pt>
                <c:pt idx="169">
                  <c:v>33663</c:v>
                </c:pt>
                <c:pt idx="170">
                  <c:v>33694</c:v>
                </c:pt>
                <c:pt idx="171">
                  <c:v>33724</c:v>
                </c:pt>
                <c:pt idx="172">
                  <c:v>33755</c:v>
                </c:pt>
                <c:pt idx="173">
                  <c:v>33785</c:v>
                </c:pt>
                <c:pt idx="174">
                  <c:v>33816</c:v>
                </c:pt>
                <c:pt idx="175">
                  <c:v>33847</c:v>
                </c:pt>
                <c:pt idx="176">
                  <c:v>33877</c:v>
                </c:pt>
                <c:pt idx="177">
                  <c:v>33908</c:v>
                </c:pt>
                <c:pt idx="178">
                  <c:v>33938</c:v>
                </c:pt>
                <c:pt idx="179">
                  <c:v>33969</c:v>
                </c:pt>
                <c:pt idx="180">
                  <c:v>34000</c:v>
                </c:pt>
                <c:pt idx="181">
                  <c:v>34028</c:v>
                </c:pt>
                <c:pt idx="182">
                  <c:v>34059</c:v>
                </c:pt>
                <c:pt idx="183">
                  <c:v>34089</c:v>
                </c:pt>
                <c:pt idx="184">
                  <c:v>34120</c:v>
                </c:pt>
                <c:pt idx="185">
                  <c:v>34150</c:v>
                </c:pt>
                <c:pt idx="186">
                  <c:v>34181</c:v>
                </c:pt>
                <c:pt idx="187">
                  <c:v>34212</c:v>
                </c:pt>
                <c:pt idx="188">
                  <c:v>34242</c:v>
                </c:pt>
                <c:pt idx="189">
                  <c:v>34273</c:v>
                </c:pt>
                <c:pt idx="190">
                  <c:v>34303</c:v>
                </c:pt>
                <c:pt idx="191">
                  <c:v>34334</c:v>
                </c:pt>
                <c:pt idx="192">
                  <c:v>34365</c:v>
                </c:pt>
                <c:pt idx="193">
                  <c:v>34393</c:v>
                </c:pt>
                <c:pt idx="194">
                  <c:v>34424</c:v>
                </c:pt>
                <c:pt idx="195">
                  <c:v>34454</c:v>
                </c:pt>
                <c:pt idx="196">
                  <c:v>34485</c:v>
                </c:pt>
                <c:pt idx="197">
                  <c:v>34515</c:v>
                </c:pt>
                <c:pt idx="198">
                  <c:v>34546</c:v>
                </c:pt>
                <c:pt idx="199">
                  <c:v>34577</c:v>
                </c:pt>
                <c:pt idx="200">
                  <c:v>34607</c:v>
                </c:pt>
                <c:pt idx="201">
                  <c:v>34638</c:v>
                </c:pt>
                <c:pt idx="202">
                  <c:v>34668</c:v>
                </c:pt>
                <c:pt idx="203">
                  <c:v>34699</c:v>
                </c:pt>
                <c:pt idx="204">
                  <c:v>34730</c:v>
                </c:pt>
                <c:pt idx="205">
                  <c:v>34758</c:v>
                </c:pt>
                <c:pt idx="206">
                  <c:v>34789</c:v>
                </c:pt>
                <c:pt idx="207">
                  <c:v>34819</c:v>
                </c:pt>
                <c:pt idx="208">
                  <c:v>34850</c:v>
                </c:pt>
                <c:pt idx="209">
                  <c:v>34880</c:v>
                </c:pt>
                <c:pt idx="210">
                  <c:v>34911</c:v>
                </c:pt>
                <c:pt idx="211">
                  <c:v>34942</c:v>
                </c:pt>
                <c:pt idx="212">
                  <c:v>34972</c:v>
                </c:pt>
                <c:pt idx="213">
                  <c:v>35003</c:v>
                </c:pt>
                <c:pt idx="214">
                  <c:v>35033</c:v>
                </c:pt>
                <c:pt idx="215">
                  <c:v>35064</c:v>
                </c:pt>
                <c:pt idx="216">
                  <c:v>35095</c:v>
                </c:pt>
                <c:pt idx="217">
                  <c:v>35124</c:v>
                </c:pt>
                <c:pt idx="218">
                  <c:v>35155</c:v>
                </c:pt>
                <c:pt idx="219">
                  <c:v>35185</c:v>
                </c:pt>
                <c:pt idx="220">
                  <c:v>35216</c:v>
                </c:pt>
                <c:pt idx="221">
                  <c:v>35246</c:v>
                </c:pt>
                <c:pt idx="222">
                  <c:v>35277</c:v>
                </c:pt>
                <c:pt idx="223">
                  <c:v>35308</c:v>
                </c:pt>
                <c:pt idx="224">
                  <c:v>35338</c:v>
                </c:pt>
                <c:pt idx="225">
                  <c:v>35369</c:v>
                </c:pt>
                <c:pt idx="226">
                  <c:v>35399</c:v>
                </c:pt>
                <c:pt idx="227">
                  <c:v>35430</c:v>
                </c:pt>
                <c:pt idx="228">
                  <c:v>35461</c:v>
                </c:pt>
                <c:pt idx="229">
                  <c:v>35489</c:v>
                </c:pt>
                <c:pt idx="230">
                  <c:v>35520</c:v>
                </c:pt>
                <c:pt idx="231">
                  <c:v>35550</c:v>
                </c:pt>
                <c:pt idx="232">
                  <c:v>35581</c:v>
                </c:pt>
                <c:pt idx="233">
                  <c:v>35611</c:v>
                </c:pt>
                <c:pt idx="234">
                  <c:v>35642</c:v>
                </c:pt>
                <c:pt idx="235">
                  <c:v>35673</c:v>
                </c:pt>
                <c:pt idx="236">
                  <c:v>35703</c:v>
                </c:pt>
                <c:pt idx="237">
                  <c:v>35734</c:v>
                </c:pt>
                <c:pt idx="238">
                  <c:v>35764</c:v>
                </c:pt>
                <c:pt idx="239">
                  <c:v>35795</c:v>
                </c:pt>
                <c:pt idx="240">
                  <c:v>35826</c:v>
                </c:pt>
                <c:pt idx="241">
                  <c:v>35854</c:v>
                </c:pt>
                <c:pt idx="242">
                  <c:v>35885</c:v>
                </c:pt>
                <c:pt idx="243">
                  <c:v>35915</c:v>
                </c:pt>
                <c:pt idx="244">
                  <c:v>35946</c:v>
                </c:pt>
                <c:pt idx="245">
                  <c:v>35976</c:v>
                </c:pt>
                <c:pt idx="246">
                  <c:v>36007</c:v>
                </c:pt>
                <c:pt idx="247">
                  <c:v>36038</c:v>
                </c:pt>
                <c:pt idx="248">
                  <c:v>36068</c:v>
                </c:pt>
                <c:pt idx="249">
                  <c:v>36099</c:v>
                </c:pt>
                <c:pt idx="250">
                  <c:v>36129</c:v>
                </c:pt>
                <c:pt idx="251">
                  <c:v>36160</c:v>
                </c:pt>
                <c:pt idx="252">
                  <c:v>36191</c:v>
                </c:pt>
                <c:pt idx="253">
                  <c:v>36219</c:v>
                </c:pt>
                <c:pt idx="254">
                  <c:v>36250</c:v>
                </c:pt>
                <c:pt idx="255">
                  <c:v>36280</c:v>
                </c:pt>
                <c:pt idx="256">
                  <c:v>36311</c:v>
                </c:pt>
                <c:pt idx="257">
                  <c:v>36341</c:v>
                </c:pt>
                <c:pt idx="258">
                  <c:v>36372</c:v>
                </c:pt>
                <c:pt idx="259">
                  <c:v>36403</c:v>
                </c:pt>
                <c:pt idx="260">
                  <c:v>36433</c:v>
                </c:pt>
                <c:pt idx="261">
                  <c:v>36464</c:v>
                </c:pt>
                <c:pt idx="262">
                  <c:v>36494</c:v>
                </c:pt>
                <c:pt idx="263">
                  <c:v>36525</c:v>
                </c:pt>
                <c:pt idx="264">
                  <c:v>36556</c:v>
                </c:pt>
                <c:pt idx="265">
                  <c:v>36585</c:v>
                </c:pt>
                <c:pt idx="266">
                  <c:v>36616</c:v>
                </c:pt>
                <c:pt idx="267">
                  <c:v>36646</c:v>
                </c:pt>
                <c:pt idx="268">
                  <c:v>36677</c:v>
                </c:pt>
                <c:pt idx="269">
                  <c:v>36707</c:v>
                </c:pt>
                <c:pt idx="270">
                  <c:v>36738</c:v>
                </c:pt>
                <c:pt idx="271">
                  <c:v>36769</c:v>
                </c:pt>
                <c:pt idx="272">
                  <c:v>36799</c:v>
                </c:pt>
                <c:pt idx="273">
                  <c:v>36830</c:v>
                </c:pt>
                <c:pt idx="274">
                  <c:v>36860</c:v>
                </c:pt>
                <c:pt idx="275">
                  <c:v>36891</c:v>
                </c:pt>
                <c:pt idx="276">
                  <c:v>36922</c:v>
                </c:pt>
                <c:pt idx="277">
                  <c:v>36950</c:v>
                </c:pt>
                <c:pt idx="278">
                  <c:v>36981</c:v>
                </c:pt>
                <c:pt idx="279">
                  <c:v>37011</c:v>
                </c:pt>
                <c:pt idx="280">
                  <c:v>37042</c:v>
                </c:pt>
                <c:pt idx="281">
                  <c:v>37072</c:v>
                </c:pt>
                <c:pt idx="282">
                  <c:v>37103</c:v>
                </c:pt>
                <c:pt idx="283">
                  <c:v>37134</c:v>
                </c:pt>
                <c:pt idx="284">
                  <c:v>37164</c:v>
                </c:pt>
                <c:pt idx="285">
                  <c:v>37195</c:v>
                </c:pt>
                <c:pt idx="286">
                  <c:v>37225</c:v>
                </c:pt>
                <c:pt idx="287">
                  <c:v>37256</c:v>
                </c:pt>
                <c:pt idx="288">
                  <c:v>37287</c:v>
                </c:pt>
                <c:pt idx="289">
                  <c:v>37315</c:v>
                </c:pt>
                <c:pt idx="290">
                  <c:v>37346</c:v>
                </c:pt>
                <c:pt idx="291">
                  <c:v>37376</c:v>
                </c:pt>
                <c:pt idx="292">
                  <c:v>37407</c:v>
                </c:pt>
                <c:pt idx="293">
                  <c:v>37437</c:v>
                </c:pt>
                <c:pt idx="294">
                  <c:v>37468</c:v>
                </c:pt>
                <c:pt idx="295">
                  <c:v>37499</c:v>
                </c:pt>
                <c:pt idx="296">
                  <c:v>37529</c:v>
                </c:pt>
                <c:pt idx="297">
                  <c:v>37560</c:v>
                </c:pt>
                <c:pt idx="298">
                  <c:v>37590</c:v>
                </c:pt>
                <c:pt idx="299">
                  <c:v>37621</c:v>
                </c:pt>
                <c:pt idx="300">
                  <c:v>37652</c:v>
                </c:pt>
                <c:pt idx="301">
                  <c:v>37680</c:v>
                </c:pt>
                <c:pt idx="302">
                  <c:v>37711</c:v>
                </c:pt>
                <c:pt idx="303">
                  <c:v>37741</c:v>
                </c:pt>
                <c:pt idx="304">
                  <c:v>37772</c:v>
                </c:pt>
                <c:pt idx="305">
                  <c:v>37802</c:v>
                </c:pt>
                <c:pt idx="306">
                  <c:v>37833</c:v>
                </c:pt>
                <c:pt idx="307">
                  <c:v>37864</c:v>
                </c:pt>
                <c:pt idx="308">
                  <c:v>37894</c:v>
                </c:pt>
                <c:pt idx="309">
                  <c:v>37925</c:v>
                </c:pt>
                <c:pt idx="310">
                  <c:v>37955</c:v>
                </c:pt>
                <c:pt idx="311">
                  <c:v>37986</c:v>
                </c:pt>
                <c:pt idx="312">
                  <c:v>38017</c:v>
                </c:pt>
                <c:pt idx="313">
                  <c:v>38046</c:v>
                </c:pt>
                <c:pt idx="314">
                  <c:v>38077</c:v>
                </c:pt>
                <c:pt idx="315">
                  <c:v>38107</c:v>
                </c:pt>
                <c:pt idx="316">
                  <c:v>38138</c:v>
                </c:pt>
                <c:pt idx="317">
                  <c:v>38168</c:v>
                </c:pt>
                <c:pt idx="318">
                  <c:v>38199</c:v>
                </c:pt>
                <c:pt idx="319">
                  <c:v>38230</c:v>
                </c:pt>
                <c:pt idx="320">
                  <c:v>38260</c:v>
                </c:pt>
                <c:pt idx="321">
                  <c:v>38291</c:v>
                </c:pt>
                <c:pt idx="322">
                  <c:v>38321</c:v>
                </c:pt>
                <c:pt idx="323">
                  <c:v>38352</c:v>
                </c:pt>
                <c:pt idx="324">
                  <c:v>38383</c:v>
                </c:pt>
                <c:pt idx="325">
                  <c:v>38411</c:v>
                </c:pt>
                <c:pt idx="326">
                  <c:v>38442</c:v>
                </c:pt>
                <c:pt idx="327">
                  <c:v>38472</c:v>
                </c:pt>
                <c:pt idx="328">
                  <c:v>38503</c:v>
                </c:pt>
                <c:pt idx="329">
                  <c:v>38533</c:v>
                </c:pt>
                <c:pt idx="330">
                  <c:v>38564</c:v>
                </c:pt>
                <c:pt idx="331">
                  <c:v>38595</c:v>
                </c:pt>
                <c:pt idx="332">
                  <c:v>38625</c:v>
                </c:pt>
                <c:pt idx="333">
                  <c:v>38656</c:v>
                </c:pt>
                <c:pt idx="334">
                  <c:v>38686</c:v>
                </c:pt>
                <c:pt idx="335">
                  <c:v>38717</c:v>
                </c:pt>
                <c:pt idx="336">
                  <c:v>38748</c:v>
                </c:pt>
                <c:pt idx="337">
                  <c:v>38776</c:v>
                </c:pt>
                <c:pt idx="338">
                  <c:v>38807</c:v>
                </c:pt>
                <c:pt idx="339">
                  <c:v>38837</c:v>
                </c:pt>
                <c:pt idx="340">
                  <c:v>38868</c:v>
                </c:pt>
                <c:pt idx="341">
                  <c:v>38898</c:v>
                </c:pt>
                <c:pt idx="342">
                  <c:v>38929</c:v>
                </c:pt>
                <c:pt idx="343">
                  <c:v>38960</c:v>
                </c:pt>
                <c:pt idx="344">
                  <c:v>38990</c:v>
                </c:pt>
                <c:pt idx="345">
                  <c:v>39021</c:v>
                </c:pt>
                <c:pt idx="346">
                  <c:v>39051</c:v>
                </c:pt>
                <c:pt idx="347">
                  <c:v>39082</c:v>
                </c:pt>
                <c:pt idx="348">
                  <c:v>39113</c:v>
                </c:pt>
                <c:pt idx="349">
                  <c:v>39141</c:v>
                </c:pt>
                <c:pt idx="350">
                  <c:v>39172</c:v>
                </c:pt>
                <c:pt idx="351">
                  <c:v>39202</c:v>
                </c:pt>
                <c:pt idx="352">
                  <c:v>39233</c:v>
                </c:pt>
                <c:pt idx="353">
                  <c:v>39263</c:v>
                </c:pt>
                <c:pt idx="354">
                  <c:v>39294</c:v>
                </c:pt>
                <c:pt idx="355">
                  <c:v>39325</c:v>
                </c:pt>
                <c:pt idx="356">
                  <c:v>39355</c:v>
                </c:pt>
                <c:pt idx="357">
                  <c:v>39386</c:v>
                </c:pt>
                <c:pt idx="358">
                  <c:v>39416</c:v>
                </c:pt>
                <c:pt idx="359">
                  <c:v>39447</c:v>
                </c:pt>
                <c:pt idx="360">
                  <c:v>39478</c:v>
                </c:pt>
                <c:pt idx="361">
                  <c:v>39507</c:v>
                </c:pt>
                <c:pt idx="362">
                  <c:v>39538</c:v>
                </c:pt>
                <c:pt idx="363">
                  <c:v>39568</c:v>
                </c:pt>
                <c:pt idx="364">
                  <c:v>39599</c:v>
                </c:pt>
                <c:pt idx="365">
                  <c:v>39629</c:v>
                </c:pt>
                <c:pt idx="366">
                  <c:v>39660</c:v>
                </c:pt>
                <c:pt idx="367">
                  <c:v>39691</c:v>
                </c:pt>
                <c:pt idx="368">
                  <c:v>39721</c:v>
                </c:pt>
                <c:pt idx="369">
                  <c:v>39752</c:v>
                </c:pt>
                <c:pt idx="370">
                  <c:v>39782</c:v>
                </c:pt>
                <c:pt idx="371">
                  <c:v>39813</c:v>
                </c:pt>
                <c:pt idx="372">
                  <c:v>39844</c:v>
                </c:pt>
                <c:pt idx="373">
                  <c:v>39872</c:v>
                </c:pt>
                <c:pt idx="374">
                  <c:v>39903</c:v>
                </c:pt>
                <c:pt idx="375">
                  <c:v>39933</c:v>
                </c:pt>
                <c:pt idx="376">
                  <c:v>39964</c:v>
                </c:pt>
                <c:pt idx="377">
                  <c:v>39994</c:v>
                </c:pt>
                <c:pt idx="378">
                  <c:v>40025</c:v>
                </c:pt>
                <c:pt idx="379">
                  <c:v>40056</c:v>
                </c:pt>
                <c:pt idx="380">
                  <c:v>40086</c:v>
                </c:pt>
                <c:pt idx="381">
                  <c:v>40117</c:v>
                </c:pt>
                <c:pt idx="382">
                  <c:v>40147</c:v>
                </c:pt>
                <c:pt idx="383">
                  <c:v>40178</c:v>
                </c:pt>
                <c:pt idx="384">
                  <c:v>40209</c:v>
                </c:pt>
                <c:pt idx="385">
                  <c:v>40237</c:v>
                </c:pt>
                <c:pt idx="386">
                  <c:v>40268</c:v>
                </c:pt>
                <c:pt idx="387">
                  <c:v>40298</c:v>
                </c:pt>
                <c:pt idx="388">
                  <c:v>40329</c:v>
                </c:pt>
                <c:pt idx="389">
                  <c:v>40359</c:v>
                </c:pt>
                <c:pt idx="390">
                  <c:v>40390</c:v>
                </c:pt>
                <c:pt idx="391">
                  <c:v>40421</c:v>
                </c:pt>
                <c:pt idx="392">
                  <c:v>40451</c:v>
                </c:pt>
                <c:pt idx="393">
                  <c:v>40482</c:v>
                </c:pt>
                <c:pt idx="394">
                  <c:v>40512</c:v>
                </c:pt>
                <c:pt idx="395">
                  <c:v>40543</c:v>
                </c:pt>
                <c:pt idx="396">
                  <c:v>40574</c:v>
                </c:pt>
                <c:pt idx="397">
                  <c:v>40602</c:v>
                </c:pt>
                <c:pt idx="398">
                  <c:v>40633</c:v>
                </c:pt>
                <c:pt idx="399">
                  <c:v>40663</c:v>
                </c:pt>
                <c:pt idx="400">
                  <c:v>40694</c:v>
                </c:pt>
                <c:pt idx="401">
                  <c:v>40724</c:v>
                </c:pt>
                <c:pt idx="402">
                  <c:v>40755</c:v>
                </c:pt>
                <c:pt idx="403">
                  <c:v>40786</c:v>
                </c:pt>
                <c:pt idx="404">
                  <c:v>40816</c:v>
                </c:pt>
                <c:pt idx="405">
                  <c:v>40847</c:v>
                </c:pt>
                <c:pt idx="406">
                  <c:v>40877</c:v>
                </c:pt>
                <c:pt idx="407">
                  <c:v>40908</c:v>
                </c:pt>
                <c:pt idx="408">
                  <c:v>40939</c:v>
                </c:pt>
                <c:pt idx="409">
                  <c:v>40968</c:v>
                </c:pt>
                <c:pt idx="410">
                  <c:v>40999</c:v>
                </c:pt>
                <c:pt idx="411">
                  <c:v>41029</c:v>
                </c:pt>
                <c:pt idx="412">
                  <c:v>41060</c:v>
                </c:pt>
                <c:pt idx="413">
                  <c:v>41090</c:v>
                </c:pt>
                <c:pt idx="414">
                  <c:v>41121</c:v>
                </c:pt>
                <c:pt idx="415">
                  <c:v>41152</c:v>
                </c:pt>
                <c:pt idx="416">
                  <c:v>41182</c:v>
                </c:pt>
                <c:pt idx="417">
                  <c:v>41213</c:v>
                </c:pt>
                <c:pt idx="418">
                  <c:v>41243</c:v>
                </c:pt>
                <c:pt idx="419">
                  <c:v>41274</c:v>
                </c:pt>
                <c:pt idx="420">
                  <c:v>41305</c:v>
                </c:pt>
                <c:pt idx="421">
                  <c:v>41333</c:v>
                </c:pt>
                <c:pt idx="422">
                  <c:v>41364</c:v>
                </c:pt>
                <c:pt idx="423">
                  <c:v>41394</c:v>
                </c:pt>
                <c:pt idx="424">
                  <c:v>41425</c:v>
                </c:pt>
                <c:pt idx="425">
                  <c:v>41455</c:v>
                </c:pt>
                <c:pt idx="426">
                  <c:v>41486</c:v>
                </c:pt>
                <c:pt idx="427">
                  <c:v>41517</c:v>
                </c:pt>
                <c:pt idx="428">
                  <c:v>41547</c:v>
                </c:pt>
                <c:pt idx="429">
                  <c:v>41578</c:v>
                </c:pt>
                <c:pt idx="430">
                  <c:v>41608</c:v>
                </c:pt>
                <c:pt idx="431">
                  <c:v>41639</c:v>
                </c:pt>
                <c:pt idx="432">
                  <c:v>41670</c:v>
                </c:pt>
                <c:pt idx="433">
                  <c:v>41698</c:v>
                </c:pt>
                <c:pt idx="434">
                  <c:v>41729</c:v>
                </c:pt>
                <c:pt idx="435">
                  <c:v>41759</c:v>
                </c:pt>
                <c:pt idx="436">
                  <c:v>41790</c:v>
                </c:pt>
                <c:pt idx="437">
                  <c:v>41820</c:v>
                </c:pt>
                <c:pt idx="438">
                  <c:v>41851</c:v>
                </c:pt>
                <c:pt idx="439">
                  <c:v>41882</c:v>
                </c:pt>
                <c:pt idx="440">
                  <c:v>41912</c:v>
                </c:pt>
                <c:pt idx="441">
                  <c:v>41943</c:v>
                </c:pt>
                <c:pt idx="442">
                  <c:v>41973</c:v>
                </c:pt>
                <c:pt idx="443">
                  <c:v>42004</c:v>
                </c:pt>
                <c:pt idx="444">
                  <c:v>42035</c:v>
                </c:pt>
                <c:pt idx="445">
                  <c:v>42063</c:v>
                </c:pt>
                <c:pt idx="446">
                  <c:v>42094</c:v>
                </c:pt>
                <c:pt idx="447">
                  <c:v>42124</c:v>
                </c:pt>
                <c:pt idx="448">
                  <c:v>42155</c:v>
                </c:pt>
                <c:pt idx="449">
                  <c:v>42185</c:v>
                </c:pt>
                <c:pt idx="450">
                  <c:v>42216</c:v>
                </c:pt>
                <c:pt idx="451">
                  <c:v>42247</c:v>
                </c:pt>
                <c:pt idx="452">
                  <c:v>42277</c:v>
                </c:pt>
                <c:pt idx="453">
                  <c:v>42308</c:v>
                </c:pt>
                <c:pt idx="454">
                  <c:v>42338</c:v>
                </c:pt>
                <c:pt idx="455">
                  <c:v>42369</c:v>
                </c:pt>
                <c:pt idx="456">
                  <c:v>42400</c:v>
                </c:pt>
                <c:pt idx="457">
                  <c:v>42429</c:v>
                </c:pt>
                <c:pt idx="458">
                  <c:v>42460</c:v>
                </c:pt>
                <c:pt idx="459">
                  <c:v>42490</c:v>
                </c:pt>
                <c:pt idx="460">
                  <c:v>42521</c:v>
                </c:pt>
                <c:pt idx="461">
                  <c:v>42551</c:v>
                </c:pt>
                <c:pt idx="462">
                  <c:v>42582</c:v>
                </c:pt>
                <c:pt idx="463">
                  <c:v>42613</c:v>
                </c:pt>
                <c:pt idx="464">
                  <c:v>42643</c:v>
                </c:pt>
                <c:pt idx="465">
                  <c:v>42674</c:v>
                </c:pt>
                <c:pt idx="466">
                  <c:v>42704</c:v>
                </c:pt>
                <c:pt idx="467">
                  <c:v>42735</c:v>
                </c:pt>
                <c:pt idx="468">
                  <c:v>42766</c:v>
                </c:pt>
                <c:pt idx="469">
                  <c:v>42794</c:v>
                </c:pt>
                <c:pt idx="470">
                  <c:v>42825</c:v>
                </c:pt>
                <c:pt idx="471">
                  <c:v>42855</c:v>
                </c:pt>
                <c:pt idx="472">
                  <c:v>42886</c:v>
                </c:pt>
                <c:pt idx="473">
                  <c:v>42916</c:v>
                </c:pt>
                <c:pt idx="474">
                  <c:v>42947</c:v>
                </c:pt>
                <c:pt idx="475">
                  <c:v>42978</c:v>
                </c:pt>
                <c:pt idx="476">
                  <c:v>43008</c:v>
                </c:pt>
                <c:pt idx="477">
                  <c:v>43039</c:v>
                </c:pt>
                <c:pt idx="478">
                  <c:v>43069</c:v>
                </c:pt>
                <c:pt idx="479">
                  <c:v>43100</c:v>
                </c:pt>
                <c:pt idx="480">
                  <c:v>43131</c:v>
                </c:pt>
                <c:pt idx="481">
                  <c:v>43159</c:v>
                </c:pt>
                <c:pt idx="482">
                  <c:v>43190</c:v>
                </c:pt>
                <c:pt idx="483">
                  <c:v>43220</c:v>
                </c:pt>
                <c:pt idx="484">
                  <c:v>43251</c:v>
                </c:pt>
                <c:pt idx="485">
                  <c:v>43281</c:v>
                </c:pt>
                <c:pt idx="486">
                  <c:v>43312</c:v>
                </c:pt>
                <c:pt idx="487">
                  <c:v>43343</c:v>
                </c:pt>
                <c:pt idx="488">
                  <c:v>43373</c:v>
                </c:pt>
                <c:pt idx="489">
                  <c:v>43404</c:v>
                </c:pt>
                <c:pt idx="490">
                  <c:v>43434</c:v>
                </c:pt>
                <c:pt idx="491">
                  <c:v>43465</c:v>
                </c:pt>
                <c:pt idx="492">
                  <c:v>43496</c:v>
                </c:pt>
                <c:pt idx="493">
                  <c:v>43524</c:v>
                </c:pt>
                <c:pt idx="494">
                  <c:v>43555</c:v>
                </c:pt>
                <c:pt idx="495">
                  <c:v>43585</c:v>
                </c:pt>
                <c:pt idx="496">
                  <c:v>43616</c:v>
                </c:pt>
                <c:pt idx="497">
                  <c:v>43646</c:v>
                </c:pt>
                <c:pt idx="498">
                  <c:v>43677</c:v>
                </c:pt>
                <c:pt idx="499">
                  <c:v>43708</c:v>
                </c:pt>
                <c:pt idx="500">
                  <c:v>43738</c:v>
                </c:pt>
                <c:pt idx="501">
                  <c:v>43769</c:v>
                </c:pt>
                <c:pt idx="502">
                  <c:v>43799</c:v>
                </c:pt>
                <c:pt idx="503">
                  <c:v>43830</c:v>
                </c:pt>
                <c:pt idx="504">
                  <c:v>43861</c:v>
                </c:pt>
                <c:pt idx="505">
                  <c:v>43890</c:v>
                </c:pt>
                <c:pt idx="506">
                  <c:v>43921</c:v>
                </c:pt>
                <c:pt idx="507">
                  <c:v>43951</c:v>
                </c:pt>
                <c:pt idx="508">
                  <c:v>43982</c:v>
                </c:pt>
                <c:pt idx="509">
                  <c:v>44012</c:v>
                </c:pt>
                <c:pt idx="510">
                  <c:v>44043</c:v>
                </c:pt>
                <c:pt idx="511">
                  <c:v>44074</c:v>
                </c:pt>
                <c:pt idx="512">
                  <c:v>44104</c:v>
                </c:pt>
                <c:pt idx="513">
                  <c:v>44135</c:v>
                </c:pt>
                <c:pt idx="514">
                  <c:v>44165</c:v>
                </c:pt>
                <c:pt idx="515">
                  <c:v>44196</c:v>
                </c:pt>
                <c:pt idx="516">
                  <c:v>44227</c:v>
                </c:pt>
                <c:pt idx="517">
                  <c:v>44255</c:v>
                </c:pt>
                <c:pt idx="518">
                  <c:v>44286</c:v>
                </c:pt>
                <c:pt idx="519">
                  <c:v>44316</c:v>
                </c:pt>
                <c:pt idx="520">
                  <c:v>44347</c:v>
                </c:pt>
                <c:pt idx="521">
                  <c:v>44377</c:v>
                </c:pt>
                <c:pt idx="522">
                  <c:v>44408</c:v>
                </c:pt>
                <c:pt idx="523">
                  <c:v>44439</c:v>
                </c:pt>
                <c:pt idx="524">
                  <c:v>44469</c:v>
                </c:pt>
                <c:pt idx="525">
                  <c:v>44500</c:v>
                </c:pt>
                <c:pt idx="526">
                  <c:v>44530</c:v>
                </c:pt>
                <c:pt idx="527">
                  <c:v>44561</c:v>
                </c:pt>
                <c:pt idx="528">
                  <c:v>44592</c:v>
                </c:pt>
                <c:pt idx="529">
                  <c:v>44620</c:v>
                </c:pt>
                <c:pt idx="530">
                  <c:v>44651</c:v>
                </c:pt>
                <c:pt idx="531">
                  <c:v>44681</c:v>
                </c:pt>
                <c:pt idx="532">
                  <c:v>44712</c:v>
                </c:pt>
                <c:pt idx="533">
                  <c:v>44742</c:v>
                </c:pt>
                <c:pt idx="534">
                  <c:v>44773</c:v>
                </c:pt>
                <c:pt idx="535">
                  <c:v>44804</c:v>
                </c:pt>
                <c:pt idx="536">
                  <c:v>44834</c:v>
                </c:pt>
                <c:pt idx="537">
                  <c:v>44865</c:v>
                </c:pt>
                <c:pt idx="538">
                  <c:v>44895</c:v>
                </c:pt>
                <c:pt idx="539">
                  <c:v>44926</c:v>
                </c:pt>
                <c:pt idx="540">
                  <c:v>44957</c:v>
                </c:pt>
                <c:pt idx="541">
                  <c:v>44985</c:v>
                </c:pt>
                <c:pt idx="542">
                  <c:v>45016</c:v>
                </c:pt>
              </c:numCache>
            </c:numRef>
          </c:cat>
          <c:val>
            <c:numRef>
              <c:f>'Page 6 Data'!$Q$7:$Q$549</c:f>
              <c:numCache>
                <c:formatCode>General</c:formatCode>
                <c:ptCount val="543"/>
                <c:pt idx="0">
                  <c:v>113</c:v>
                </c:pt>
                <c:pt idx="1">
                  <c:v>112</c:v>
                </c:pt>
                <c:pt idx="2">
                  <c:v>123</c:v>
                </c:pt>
                <c:pt idx="3">
                  <c:v>119</c:v>
                </c:pt>
                <c:pt idx="4">
                  <c:v>118</c:v>
                </c:pt>
                <c:pt idx="5">
                  <c:v>120</c:v>
                </c:pt>
                <c:pt idx="6">
                  <c:v>119</c:v>
                </c:pt>
                <c:pt idx="7">
                  <c:v>98</c:v>
                </c:pt>
                <c:pt idx="8">
                  <c:v>110</c:v>
                </c:pt>
                <c:pt idx="9">
                  <c:v>114</c:v>
                </c:pt>
                <c:pt idx="10">
                  <c:v>99</c:v>
                </c:pt>
                <c:pt idx="11">
                  <c:v>106</c:v>
                </c:pt>
                <c:pt idx="12">
                  <c:v>108</c:v>
                </c:pt>
                <c:pt idx="13">
                  <c:v>105</c:v>
                </c:pt>
                <c:pt idx="14">
                  <c:v>107</c:v>
                </c:pt>
                <c:pt idx="15">
                  <c:v>102</c:v>
                </c:pt>
                <c:pt idx="16">
                  <c:v>92</c:v>
                </c:pt>
                <c:pt idx="17">
                  <c:v>87</c:v>
                </c:pt>
                <c:pt idx="18">
                  <c:v>80</c:v>
                </c:pt>
                <c:pt idx="19">
                  <c:v>90</c:v>
                </c:pt>
                <c:pt idx="20">
                  <c:v>99</c:v>
                </c:pt>
                <c:pt idx="21">
                  <c:v>99</c:v>
                </c:pt>
                <c:pt idx="22">
                  <c:v>86</c:v>
                </c:pt>
                <c:pt idx="23">
                  <c:v>97</c:v>
                </c:pt>
                <c:pt idx="24">
                  <c:v>90</c:v>
                </c:pt>
                <c:pt idx="25">
                  <c:v>102</c:v>
                </c:pt>
                <c:pt idx="26">
                  <c:v>100</c:v>
                </c:pt>
                <c:pt idx="27">
                  <c:v>80</c:v>
                </c:pt>
                <c:pt idx="28">
                  <c:v>68</c:v>
                </c:pt>
                <c:pt idx="29">
                  <c:v>88</c:v>
                </c:pt>
                <c:pt idx="30">
                  <c:v>86</c:v>
                </c:pt>
                <c:pt idx="31">
                  <c:v>96</c:v>
                </c:pt>
                <c:pt idx="32">
                  <c:v>98</c:v>
                </c:pt>
                <c:pt idx="33">
                  <c:v>106</c:v>
                </c:pt>
                <c:pt idx="34">
                  <c:v>97</c:v>
                </c:pt>
                <c:pt idx="35">
                  <c:v>75</c:v>
                </c:pt>
                <c:pt idx="36">
                  <c:v>85</c:v>
                </c:pt>
                <c:pt idx="37">
                  <c:v>89</c:v>
                </c:pt>
                <c:pt idx="38">
                  <c:v>89</c:v>
                </c:pt>
                <c:pt idx="39">
                  <c:v>93</c:v>
                </c:pt>
                <c:pt idx="40">
                  <c:v>95</c:v>
                </c:pt>
                <c:pt idx="41">
                  <c:v>76</c:v>
                </c:pt>
                <c:pt idx="42">
                  <c:v>87</c:v>
                </c:pt>
                <c:pt idx="43">
                  <c:v>96</c:v>
                </c:pt>
                <c:pt idx="44">
                  <c:v>78</c:v>
                </c:pt>
                <c:pt idx="45">
                  <c:v>84</c:v>
                </c:pt>
                <c:pt idx="46">
                  <c:v>83</c:v>
                </c:pt>
                <c:pt idx="47">
                  <c:v>78</c:v>
                </c:pt>
                <c:pt idx="48">
                  <c:v>92</c:v>
                </c:pt>
                <c:pt idx="49">
                  <c:v>86</c:v>
                </c:pt>
                <c:pt idx="50">
                  <c:v>86</c:v>
                </c:pt>
                <c:pt idx="51">
                  <c:v>89</c:v>
                </c:pt>
                <c:pt idx="52">
                  <c:v>98</c:v>
                </c:pt>
                <c:pt idx="53">
                  <c:v>86</c:v>
                </c:pt>
                <c:pt idx="54">
                  <c:v>85</c:v>
                </c:pt>
                <c:pt idx="55">
                  <c:v>81</c:v>
                </c:pt>
                <c:pt idx="56">
                  <c:v>91</c:v>
                </c:pt>
                <c:pt idx="57">
                  <c:v>98</c:v>
                </c:pt>
                <c:pt idx="58">
                  <c:v>100</c:v>
                </c:pt>
                <c:pt idx="59">
                  <c:v>114</c:v>
                </c:pt>
                <c:pt idx="60">
                  <c:v>110</c:v>
                </c:pt>
                <c:pt idx="61">
                  <c:v>120</c:v>
                </c:pt>
                <c:pt idx="62">
                  <c:v>120</c:v>
                </c:pt>
                <c:pt idx="63">
                  <c:v>137</c:v>
                </c:pt>
                <c:pt idx="64">
                  <c:v>137</c:v>
                </c:pt>
                <c:pt idx="65">
                  <c:v>135</c:v>
                </c:pt>
                <c:pt idx="66">
                  <c:v>138</c:v>
                </c:pt>
                <c:pt idx="67">
                  <c:v>137</c:v>
                </c:pt>
                <c:pt idx="68">
                  <c:v>129</c:v>
                </c:pt>
                <c:pt idx="69">
                  <c:v>125</c:v>
                </c:pt>
                <c:pt idx="70">
                  <c:v>127</c:v>
                </c:pt>
                <c:pt idx="71">
                  <c:v>123</c:v>
                </c:pt>
                <c:pt idx="72">
                  <c:v>140</c:v>
                </c:pt>
                <c:pt idx="73">
                  <c:v>134</c:v>
                </c:pt>
                <c:pt idx="74">
                  <c:v>142</c:v>
                </c:pt>
                <c:pt idx="75">
                  <c:v>129</c:v>
                </c:pt>
                <c:pt idx="76">
                  <c:v>135</c:v>
                </c:pt>
                <c:pt idx="77">
                  <c:v>130</c:v>
                </c:pt>
                <c:pt idx="78">
                  <c:v>134</c:v>
                </c:pt>
                <c:pt idx="79">
                  <c:v>129</c:v>
                </c:pt>
                <c:pt idx="80">
                  <c:v>124</c:v>
                </c:pt>
                <c:pt idx="81">
                  <c:v>120</c:v>
                </c:pt>
                <c:pt idx="82">
                  <c:v>118</c:v>
                </c:pt>
                <c:pt idx="83">
                  <c:v>120</c:v>
                </c:pt>
                <c:pt idx="84">
                  <c:v>132</c:v>
                </c:pt>
                <c:pt idx="85">
                  <c:v>131</c:v>
                </c:pt>
                <c:pt idx="86">
                  <c:v>140</c:v>
                </c:pt>
                <c:pt idx="87">
                  <c:v>142</c:v>
                </c:pt>
                <c:pt idx="88">
                  <c:v>135</c:v>
                </c:pt>
                <c:pt idx="89">
                  <c:v>141</c:v>
                </c:pt>
                <c:pt idx="90">
                  <c:v>144</c:v>
                </c:pt>
                <c:pt idx="91">
                  <c:v>138</c:v>
                </c:pt>
                <c:pt idx="92">
                  <c:v>150</c:v>
                </c:pt>
                <c:pt idx="93">
                  <c:v>137</c:v>
                </c:pt>
                <c:pt idx="94">
                  <c:v>144</c:v>
                </c:pt>
                <c:pt idx="95">
                  <c:v>135</c:v>
                </c:pt>
                <c:pt idx="96">
                  <c:v>151</c:v>
                </c:pt>
                <c:pt idx="97">
                  <c:v>152</c:v>
                </c:pt>
                <c:pt idx="98">
                  <c:v>156</c:v>
                </c:pt>
                <c:pt idx="99">
                  <c:v>151</c:v>
                </c:pt>
                <c:pt idx="100">
                  <c:v>156</c:v>
                </c:pt>
                <c:pt idx="101">
                  <c:v>159</c:v>
                </c:pt>
                <c:pt idx="102">
                  <c:v>154</c:v>
                </c:pt>
                <c:pt idx="103">
                  <c:v>154</c:v>
                </c:pt>
                <c:pt idx="104">
                  <c:v>165</c:v>
                </c:pt>
                <c:pt idx="105">
                  <c:v>151</c:v>
                </c:pt>
                <c:pt idx="106">
                  <c:v>132</c:v>
                </c:pt>
                <c:pt idx="107">
                  <c:v>135</c:v>
                </c:pt>
                <c:pt idx="108">
                  <c:v>119</c:v>
                </c:pt>
                <c:pt idx="109">
                  <c:v>133</c:v>
                </c:pt>
                <c:pt idx="110">
                  <c:v>139</c:v>
                </c:pt>
                <c:pt idx="111">
                  <c:v>136</c:v>
                </c:pt>
                <c:pt idx="112">
                  <c:v>143</c:v>
                </c:pt>
                <c:pt idx="113">
                  <c:v>140</c:v>
                </c:pt>
                <c:pt idx="114">
                  <c:v>145</c:v>
                </c:pt>
                <c:pt idx="115">
                  <c:v>141</c:v>
                </c:pt>
                <c:pt idx="116">
                  <c:v>141</c:v>
                </c:pt>
                <c:pt idx="117">
                  <c:v>127</c:v>
                </c:pt>
                <c:pt idx="118">
                  <c:v>122</c:v>
                </c:pt>
                <c:pt idx="119">
                  <c:v>134</c:v>
                </c:pt>
                <c:pt idx="120">
                  <c:v>129</c:v>
                </c:pt>
                <c:pt idx="121">
                  <c:v>131</c:v>
                </c:pt>
                <c:pt idx="122">
                  <c:v>132</c:v>
                </c:pt>
                <c:pt idx="123">
                  <c:v>138</c:v>
                </c:pt>
                <c:pt idx="124">
                  <c:v>138</c:v>
                </c:pt>
                <c:pt idx="125">
                  <c:v>135</c:v>
                </c:pt>
                <c:pt idx="126">
                  <c:v>134</c:v>
                </c:pt>
                <c:pt idx="127">
                  <c:v>136</c:v>
                </c:pt>
                <c:pt idx="128">
                  <c:v>135</c:v>
                </c:pt>
                <c:pt idx="129">
                  <c:v>132</c:v>
                </c:pt>
                <c:pt idx="130">
                  <c:v>131</c:v>
                </c:pt>
                <c:pt idx="131">
                  <c:v>132</c:v>
                </c:pt>
                <c:pt idx="132">
                  <c:v>135</c:v>
                </c:pt>
                <c:pt idx="133">
                  <c:v>133</c:v>
                </c:pt>
                <c:pt idx="134">
                  <c:v>130</c:v>
                </c:pt>
                <c:pt idx="135">
                  <c:v>139</c:v>
                </c:pt>
                <c:pt idx="136">
                  <c:v>136</c:v>
                </c:pt>
                <c:pt idx="137">
                  <c:v>132</c:v>
                </c:pt>
                <c:pt idx="138">
                  <c:v>138</c:v>
                </c:pt>
                <c:pt idx="139">
                  <c:v>133</c:v>
                </c:pt>
                <c:pt idx="140">
                  <c:v>131</c:v>
                </c:pt>
                <c:pt idx="141">
                  <c:v>134</c:v>
                </c:pt>
                <c:pt idx="142">
                  <c:v>134</c:v>
                </c:pt>
                <c:pt idx="143">
                  <c:v>126</c:v>
                </c:pt>
                <c:pt idx="144">
                  <c:v>137</c:v>
                </c:pt>
                <c:pt idx="145">
                  <c:v>132</c:v>
                </c:pt>
                <c:pt idx="146">
                  <c:v>136</c:v>
                </c:pt>
                <c:pt idx="147">
                  <c:v>139</c:v>
                </c:pt>
                <c:pt idx="148">
                  <c:v>137</c:v>
                </c:pt>
                <c:pt idx="149">
                  <c:v>134</c:v>
                </c:pt>
                <c:pt idx="150">
                  <c:v>139</c:v>
                </c:pt>
                <c:pt idx="151">
                  <c:v>119</c:v>
                </c:pt>
                <c:pt idx="152">
                  <c:v>122</c:v>
                </c:pt>
                <c:pt idx="153">
                  <c:v>108</c:v>
                </c:pt>
                <c:pt idx="154">
                  <c:v>105</c:v>
                </c:pt>
                <c:pt idx="155">
                  <c:v>104</c:v>
                </c:pt>
                <c:pt idx="156">
                  <c:v>105</c:v>
                </c:pt>
                <c:pt idx="157">
                  <c:v>114</c:v>
                </c:pt>
                <c:pt idx="158">
                  <c:v>138</c:v>
                </c:pt>
                <c:pt idx="159">
                  <c:v>132</c:v>
                </c:pt>
                <c:pt idx="160">
                  <c:v>127</c:v>
                </c:pt>
                <c:pt idx="161">
                  <c:v>129</c:v>
                </c:pt>
                <c:pt idx="162">
                  <c:v>134</c:v>
                </c:pt>
                <c:pt idx="163">
                  <c:v>135</c:v>
                </c:pt>
                <c:pt idx="164">
                  <c:v>123</c:v>
                </c:pt>
                <c:pt idx="165">
                  <c:v>123</c:v>
                </c:pt>
                <c:pt idx="166">
                  <c:v>124</c:v>
                </c:pt>
                <c:pt idx="167">
                  <c:v>113</c:v>
                </c:pt>
                <c:pt idx="168">
                  <c:v>123</c:v>
                </c:pt>
                <c:pt idx="169">
                  <c:v>126</c:v>
                </c:pt>
                <c:pt idx="170">
                  <c:v>125</c:v>
                </c:pt>
                <c:pt idx="171">
                  <c:v>131</c:v>
                </c:pt>
                <c:pt idx="172">
                  <c:v>135</c:v>
                </c:pt>
                <c:pt idx="173">
                  <c:v>144</c:v>
                </c:pt>
                <c:pt idx="174">
                  <c:v>128</c:v>
                </c:pt>
                <c:pt idx="175">
                  <c:v>129</c:v>
                </c:pt>
                <c:pt idx="176">
                  <c:v>130</c:v>
                </c:pt>
                <c:pt idx="177">
                  <c:v>121</c:v>
                </c:pt>
                <c:pt idx="178">
                  <c:v>134</c:v>
                </c:pt>
                <c:pt idx="179">
                  <c:v>145</c:v>
                </c:pt>
                <c:pt idx="180">
                  <c:v>134</c:v>
                </c:pt>
                <c:pt idx="181">
                  <c:v>132</c:v>
                </c:pt>
                <c:pt idx="182">
                  <c:v>136</c:v>
                </c:pt>
                <c:pt idx="183">
                  <c:v>137</c:v>
                </c:pt>
                <c:pt idx="184">
                  <c:v>140</c:v>
                </c:pt>
                <c:pt idx="185">
                  <c:v>140</c:v>
                </c:pt>
                <c:pt idx="186">
                  <c:v>141</c:v>
                </c:pt>
                <c:pt idx="187">
                  <c:v>138</c:v>
                </c:pt>
                <c:pt idx="188">
                  <c:v>134</c:v>
                </c:pt>
                <c:pt idx="189">
                  <c:v>132</c:v>
                </c:pt>
                <c:pt idx="190">
                  <c:v>139</c:v>
                </c:pt>
                <c:pt idx="191">
                  <c:v>144</c:v>
                </c:pt>
                <c:pt idx="192">
                  <c:v>148</c:v>
                </c:pt>
                <c:pt idx="193">
                  <c:v>155</c:v>
                </c:pt>
                <c:pt idx="194">
                  <c:v>147</c:v>
                </c:pt>
                <c:pt idx="195">
                  <c:v>150</c:v>
                </c:pt>
                <c:pt idx="196">
                  <c:v>143</c:v>
                </c:pt>
                <c:pt idx="197">
                  <c:v>144</c:v>
                </c:pt>
                <c:pt idx="198">
                  <c:v>143</c:v>
                </c:pt>
                <c:pt idx="199">
                  <c:v>143</c:v>
                </c:pt>
                <c:pt idx="200">
                  <c:v>144</c:v>
                </c:pt>
                <c:pt idx="201">
                  <c:v>138</c:v>
                </c:pt>
                <c:pt idx="202">
                  <c:v>137</c:v>
                </c:pt>
                <c:pt idx="203">
                  <c:v>134</c:v>
                </c:pt>
                <c:pt idx="204">
                  <c:v>139</c:v>
                </c:pt>
                <c:pt idx="205">
                  <c:v>129</c:v>
                </c:pt>
                <c:pt idx="206">
                  <c:v>136</c:v>
                </c:pt>
                <c:pt idx="207">
                  <c:v>123</c:v>
                </c:pt>
                <c:pt idx="208">
                  <c:v>129</c:v>
                </c:pt>
                <c:pt idx="209">
                  <c:v>131</c:v>
                </c:pt>
                <c:pt idx="210">
                  <c:v>141</c:v>
                </c:pt>
                <c:pt idx="211">
                  <c:v>129</c:v>
                </c:pt>
                <c:pt idx="212">
                  <c:v>135</c:v>
                </c:pt>
                <c:pt idx="213">
                  <c:v>125</c:v>
                </c:pt>
                <c:pt idx="214">
                  <c:v>130</c:v>
                </c:pt>
                <c:pt idx="215">
                  <c:v>133</c:v>
                </c:pt>
                <c:pt idx="216">
                  <c:v>122</c:v>
                </c:pt>
                <c:pt idx="217">
                  <c:v>129</c:v>
                </c:pt>
                <c:pt idx="218">
                  <c:v>134</c:v>
                </c:pt>
                <c:pt idx="219">
                  <c:v>125</c:v>
                </c:pt>
                <c:pt idx="220">
                  <c:v>127</c:v>
                </c:pt>
                <c:pt idx="221">
                  <c:v>137</c:v>
                </c:pt>
                <c:pt idx="222">
                  <c:v>138</c:v>
                </c:pt>
                <c:pt idx="223">
                  <c:v>139</c:v>
                </c:pt>
                <c:pt idx="224">
                  <c:v>134</c:v>
                </c:pt>
                <c:pt idx="225">
                  <c:v>132</c:v>
                </c:pt>
                <c:pt idx="226">
                  <c:v>135</c:v>
                </c:pt>
                <c:pt idx="227">
                  <c:v>134</c:v>
                </c:pt>
                <c:pt idx="228">
                  <c:v>141</c:v>
                </c:pt>
                <c:pt idx="229">
                  <c:v>130</c:v>
                </c:pt>
                <c:pt idx="230">
                  <c:v>135</c:v>
                </c:pt>
                <c:pt idx="231">
                  <c:v>136</c:v>
                </c:pt>
                <c:pt idx="232">
                  <c:v>150</c:v>
                </c:pt>
                <c:pt idx="233">
                  <c:v>154</c:v>
                </c:pt>
                <c:pt idx="234">
                  <c:v>136</c:v>
                </c:pt>
                <c:pt idx="235">
                  <c:v>139</c:v>
                </c:pt>
                <c:pt idx="236">
                  <c:v>143</c:v>
                </c:pt>
                <c:pt idx="237">
                  <c:v>141</c:v>
                </c:pt>
                <c:pt idx="238">
                  <c:v>140</c:v>
                </c:pt>
                <c:pt idx="239">
                  <c:v>135</c:v>
                </c:pt>
                <c:pt idx="240">
                  <c:v>145</c:v>
                </c:pt>
                <c:pt idx="241">
                  <c:v>149</c:v>
                </c:pt>
                <c:pt idx="242">
                  <c:v>146</c:v>
                </c:pt>
                <c:pt idx="243">
                  <c:v>145</c:v>
                </c:pt>
                <c:pt idx="244">
                  <c:v>148</c:v>
                </c:pt>
                <c:pt idx="245">
                  <c:v>152</c:v>
                </c:pt>
                <c:pt idx="246">
                  <c:v>139</c:v>
                </c:pt>
                <c:pt idx="247">
                  <c:v>150</c:v>
                </c:pt>
                <c:pt idx="248">
                  <c:v>142</c:v>
                </c:pt>
                <c:pt idx="249">
                  <c:v>153</c:v>
                </c:pt>
                <c:pt idx="250">
                  <c:v>155</c:v>
                </c:pt>
                <c:pt idx="251">
                  <c:v>151</c:v>
                </c:pt>
                <c:pt idx="252">
                  <c:v>157</c:v>
                </c:pt>
                <c:pt idx="253">
                  <c:v>153</c:v>
                </c:pt>
                <c:pt idx="254">
                  <c:v>152</c:v>
                </c:pt>
                <c:pt idx="255">
                  <c:v>150</c:v>
                </c:pt>
                <c:pt idx="256">
                  <c:v>151</c:v>
                </c:pt>
                <c:pt idx="257">
                  <c:v>150</c:v>
                </c:pt>
                <c:pt idx="258">
                  <c:v>153</c:v>
                </c:pt>
                <c:pt idx="259">
                  <c:v>148</c:v>
                </c:pt>
                <c:pt idx="260">
                  <c:v>145</c:v>
                </c:pt>
                <c:pt idx="261">
                  <c:v>146</c:v>
                </c:pt>
                <c:pt idx="262">
                  <c:v>148</c:v>
                </c:pt>
                <c:pt idx="263">
                  <c:v>141</c:v>
                </c:pt>
                <c:pt idx="264">
                  <c:v>144</c:v>
                </c:pt>
                <c:pt idx="265">
                  <c:v>153</c:v>
                </c:pt>
                <c:pt idx="266">
                  <c:v>134</c:v>
                </c:pt>
                <c:pt idx="267">
                  <c:v>148</c:v>
                </c:pt>
                <c:pt idx="268">
                  <c:v>145</c:v>
                </c:pt>
                <c:pt idx="269">
                  <c:v>138</c:v>
                </c:pt>
                <c:pt idx="270">
                  <c:v>141</c:v>
                </c:pt>
                <c:pt idx="271">
                  <c:v>147</c:v>
                </c:pt>
                <c:pt idx="272">
                  <c:v>145</c:v>
                </c:pt>
                <c:pt idx="273">
                  <c:v>144</c:v>
                </c:pt>
                <c:pt idx="274">
                  <c:v>149</c:v>
                </c:pt>
                <c:pt idx="275">
                  <c:v>146</c:v>
                </c:pt>
                <c:pt idx="276">
                  <c:v>133</c:v>
                </c:pt>
                <c:pt idx="277">
                  <c:v>137</c:v>
                </c:pt>
                <c:pt idx="278">
                  <c:v>146</c:v>
                </c:pt>
                <c:pt idx="279">
                  <c:v>129</c:v>
                </c:pt>
                <c:pt idx="280">
                  <c:v>133</c:v>
                </c:pt>
                <c:pt idx="281">
                  <c:v>127</c:v>
                </c:pt>
                <c:pt idx="282">
                  <c:v>138</c:v>
                </c:pt>
                <c:pt idx="283">
                  <c:v>132</c:v>
                </c:pt>
                <c:pt idx="284">
                  <c:v>133</c:v>
                </c:pt>
                <c:pt idx="285">
                  <c:v>152</c:v>
                </c:pt>
                <c:pt idx="286">
                  <c:v>164</c:v>
                </c:pt>
                <c:pt idx="287">
                  <c:v>163</c:v>
                </c:pt>
                <c:pt idx="288">
                  <c:v>156</c:v>
                </c:pt>
                <c:pt idx="289">
                  <c:v>156</c:v>
                </c:pt>
                <c:pt idx="290">
                  <c:v>149</c:v>
                </c:pt>
                <c:pt idx="291">
                  <c:v>148</c:v>
                </c:pt>
                <c:pt idx="292">
                  <c:v>151</c:v>
                </c:pt>
                <c:pt idx="293">
                  <c:v>149</c:v>
                </c:pt>
                <c:pt idx="294">
                  <c:v>155</c:v>
                </c:pt>
                <c:pt idx="295">
                  <c:v>152</c:v>
                </c:pt>
                <c:pt idx="296">
                  <c:v>158</c:v>
                </c:pt>
                <c:pt idx="297">
                  <c:v>156</c:v>
                </c:pt>
                <c:pt idx="298">
                  <c:v>153</c:v>
                </c:pt>
                <c:pt idx="299">
                  <c:v>155</c:v>
                </c:pt>
                <c:pt idx="300">
                  <c:v>152</c:v>
                </c:pt>
                <c:pt idx="301">
                  <c:v>140</c:v>
                </c:pt>
                <c:pt idx="302">
                  <c:v>141</c:v>
                </c:pt>
                <c:pt idx="303">
                  <c:v>149</c:v>
                </c:pt>
                <c:pt idx="304">
                  <c:v>160</c:v>
                </c:pt>
                <c:pt idx="305">
                  <c:v>157</c:v>
                </c:pt>
                <c:pt idx="306">
                  <c:v>160</c:v>
                </c:pt>
                <c:pt idx="307">
                  <c:v>150</c:v>
                </c:pt>
                <c:pt idx="308">
                  <c:v>152</c:v>
                </c:pt>
                <c:pt idx="309">
                  <c:v>155</c:v>
                </c:pt>
                <c:pt idx="310">
                  <c:v>161</c:v>
                </c:pt>
                <c:pt idx="311">
                  <c:v>157</c:v>
                </c:pt>
                <c:pt idx="312">
                  <c:v>161</c:v>
                </c:pt>
                <c:pt idx="313">
                  <c:v>150</c:v>
                </c:pt>
                <c:pt idx="314">
                  <c:v>153</c:v>
                </c:pt>
                <c:pt idx="315">
                  <c:v>147</c:v>
                </c:pt>
                <c:pt idx="316">
                  <c:v>144</c:v>
                </c:pt>
                <c:pt idx="317">
                  <c:v>144</c:v>
                </c:pt>
                <c:pt idx="318">
                  <c:v>142</c:v>
                </c:pt>
                <c:pt idx="319">
                  <c:v>144</c:v>
                </c:pt>
                <c:pt idx="320">
                  <c:v>148</c:v>
                </c:pt>
                <c:pt idx="321">
                  <c:v>152</c:v>
                </c:pt>
                <c:pt idx="322">
                  <c:v>138</c:v>
                </c:pt>
                <c:pt idx="323">
                  <c:v>154</c:v>
                </c:pt>
                <c:pt idx="324">
                  <c:v>147</c:v>
                </c:pt>
                <c:pt idx="325">
                  <c:v>144</c:v>
                </c:pt>
                <c:pt idx="326">
                  <c:v>130</c:v>
                </c:pt>
                <c:pt idx="327">
                  <c:v>128</c:v>
                </c:pt>
                <c:pt idx="328">
                  <c:v>133</c:v>
                </c:pt>
                <c:pt idx="329">
                  <c:v>139</c:v>
                </c:pt>
                <c:pt idx="330">
                  <c:v>152</c:v>
                </c:pt>
                <c:pt idx="331">
                  <c:v>147</c:v>
                </c:pt>
                <c:pt idx="332">
                  <c:v>125</c:v>
                </c:pt>
                <c:pt idx="333">
                  <c:v>119</c:v>
                </c:pt>
                <c:pt idx="334">
                  <c:v>125</c:v>
                </c:pt>
                <c:pt idx="335">
                  <c:v>135</c:v>
                </c:pt>
                <c:pt idx="336">
                  <c:v>137</c:v>
                </c:pt>
                <c:pt idx="337">
                  <c:v>134</c:v>
                </c:pt>
                <c:pt idx="338">
                  <c:v>138</c:v>
                </c:pt>
                <c:pt idx="339">
                  <c:v>132</c:v>
                </c:pt>
                <c:pt idx="340">
                  <c:v>112</c:v>
                </c:pt>
                <c:pt idx="341">
                  <c:v>124</c:v>
                </c:pt>
                <c:pt idx="342">
                  <c:v>130</c:v>
                </c:pt>
                <c:pt idx="343">
                  <c:v>124</c:v>
                </c:pt>
                <c:pt idx="344">
                  <c:v>128</c:v>
                </c:pt>
                <c:pt idx="345">
                  <c:v>137</c:v>
                </c:pt>
                <c:pt idx="346">
                  <c:v>140</c:v>
                </c:pt>
                <c:pt idx="347">
                  <c:v>140</c:v>
                </c:pt>
                <c:pt idx="348">
                  <c:v>136</c:v>
                </c:pt>
                <c:pt idx="349">
                  <c:v>133</c:v>
                </c:pt>
                <c:pt idx="350">
                  <c:v>138</c:v>
                </c:pt>
                <c:pt idx="351">
                  <c:v>132</c:v>
                </c:pt>
                <c:pt idx="352">
                  <c:v>124</c:v>
                </c:pt>
                <c:pt idx="353">
                  <c:v>118</c:v>
                </c:pt>
                <c:pt idx="354">
                  <c:v>125</c:v>
                </c:pt>
                <c:pt idx="355">
                  <c:v>133</c:v>
                </c:pt>
                <c:pt idx="356">
                  <c:v>139</c:v>
                </c:pt>
                <c:pt idx="357">
                  <c:v>128</c:v>
                </c:pt>
                <c:pt idx="358">
                  <c:v>117</c:v>
                </c:pt>
                <c:pt idx="359">
                  <c:v>117</c:v>
                </c:pt>
                <c:pt idx="360">
                  <c:v>119</c:v>
                </c:pt>
                <c:pt idx="361">
                  <c:v>119</c:v>
                </c:pt>
                <c:pt idx="362">
                  <c:v>114</c:v>
                </c:pt>
                <c:pt idx="363">
                  <c:v>110</c:v>
                </c:pt>
                <c:pt idx="364">
                  <c:v>96</c:v>
                </c:pt>
                <c:pt idx="365">
                  <c:v>91</c:v>
                </c:pt>
                <c:pt idx="366">
                  <c:v>103</c:v>
                </c:pt>
                <c:pt idx="367">
                  <c:v>103</c:v>
                </c:pt>
                <c:pt idx="368">
                  <c:v>108</c:v>
                </c:pt>
                <c:pt idx="369">
                  <c:v>98</c:v>
                </c:pt>
                <c:pt idx="370">
                  <c:v>115</c:v>
                </c:pt>
                <c:pt idx="371">
                  <c:v>121</c:v>
                </c:pt>
                <c:pt idx="372">
                  <c:v>124</c:v>
                </c:pt>
                <c:pt idx="373">
                  <c:v>127</c:v>
                </c:pt>
                <c:pt idx="374">
                  <c:v>125</c:v>
                </c:pt>
                <c:pt idx="375">
                  <c:v>129</c:v>
                </c:pt>
                <c:pt idx="376">
                  <c:v>132</c:v>
                </c:pt>
                <c:pt idx="377">
                  <c:v>139</c:v>
                </c:pt>
                <c:pt idx="378">
                  <c:v>131</c:v>
                </c:pt>
                <c:pt idx="379">
                  <c:v>139</c:v>
                </c:pt>
                <c:pt idx="380">
                  <c:v>126</c:v>
                </c:pt>
                <c:pt idx="381">
                  <c:v>124</c:v>
                </c:pt>
                <c:pt idx="382">
                  <c:v>126</c:v>
                </c:pt>
                <c:pt idx="383">
                  <c:v>127</c:v>
                </c:pt>
                <c:pt idx="384">
                  <c:v>126</c:v>
                </c:pt>
                <c:pt idx="385">
                  <c:v>126</c:v>
                </c:pt>
                <c:pt idx="386">
                  <c:v>131</c:v>
                </c:pt>
                <c:pt idx="387">
                  <c:v>142</c:v>
                </c:pt>
                <c:pt idx="388">
                  <c:v>139</c:v>
                </c:pt>
                <c:pt idx="389">
                  <c:v>139</c:v>
                </c:pt>
                <c:pt idx="390">
                  <c:v>129</c:v>
                </c:pt>
                <c:pt idx="391">
                  <c:v>135</c:v>
                </c:pt>
                <c:pt idx="392">
                  <c:v>125</c:v>
                </c:pt>
                <c:pt idx="393">
                  <c:v>125</c:v>
                </c:pt>
                <c:pt idx="394">
                  <c:v>130</c:v>
                </c:pt>
                <c:pt idx="395">
                  <c:v>135</c:v>
                </c:pt>
                <c:pt idx="396">
                  <c:v>122</c:v>
                </c:pt>
                <c:pt idx="397">
                  <c:v>123</c:v>
                </c:pt>
                <c:pt idx="398">
                  <c:v>125</c:v>
                </c:pt>
                <c:pt idx="399">
                  <c:v>119</c:v>
                </c:pt>
                <c:pt idx="400">
                  <c:v>127</c:v>
                </c:pt>
                <c:pt idx="401">
                  <c:v>119</c:v>
                </c:pt>
                <c:pt idx="402">
                  <c:v>111</c:v>
                </c:pt>
                <c:pt idx="403">
                  <c:v>111</c:v>
                </c:pt>
                <c:pt idx="404">
                  <c:v>113</c:v>
                </c:pt>
                <c:pt idx="405">
                  <c:v>112</c:v>
                </c:pt>
                <c:pt idx="406">
                  <c:v>126</c:v>
                </c:pt>
                <c:pt idx="407">
                  <c:v>117</c:v>
                </c:pt>
                <c:pt idx="408">
                  <c:v>123</c:v>
                </c:pt>
                <c:pt idx="409">
                  <c:v>123</c:v>
                </c:pt>
                <c:pt idx="410">
                  <c:v>122</c:v>
                </c:pt>
                <c:pt idx="411">
                  <c:v>132</c:v>
                </c:pt>
                <c:pt idx="412">
                  <c:v>132</c:v>
                </c:pt>
                <c:pt idx="413">
                  <c:v>128</c:v>
                </c:pt>
                <c:pt idx="414">
                  <c:v>131</c:v>
                </c:pt>
                <c:pt idx="415">
                  <c:v>127</c:v>
                </c:pt>
                <c:pt idx="416">
                  <c:v>137</c:v>
                </c:pt>
                <c:pt idx="417">
                  <c:v>124</c:v>
                </c:pt>
                <c:pt idx="418">
                  <c:v>128</c:v>
                </c:pt>
                <c:pt idx="419">
                  <c:v>130</c:v>
                </c:pt>
                <c:pt idx="420">
                  <c:v>128</c:v>
                </c:pt>
                <c:pt idx="421">
                  <c:v>126</c:v>
                </c:pt>
                <c:pt idx="422">
                  <c:v>130</c:v>
                </c:pt>
                <c:pt idx="423">
                  <c:v>131</c:v>
                </c:pt>
                <c:pt idx="424">
                  <c:v>145</c:v>
                </c:pt>
                <c:pt idx="425">
                  <c:v>136</c:v>
                </c:pt>
                <c:pt idx="426">
                  <c:v>141</c:v>
                </c:pt>
                <c:pt idx="427">
                  <c:v>131</c:v>
                </c:pt>
                <c:pt idx="428">
                  <c:v>126</c:v>
                </c:pt>
                <c:pt idx="429">
                  <c:v>136</c:v>
                </c:pt>
                <c:pt idx="430">
                  <c:v>120</c:v>
                </c:pt>
                <c:pt idx="431">
                  <c:v>136</c:v>
                </c:pt>
                <c:pt idx="432">
                  <c:v>142</c:v>
                </c:pt>
                <c:pt idx="433">
                  <c:v>138</c:v>
                </c:pt>
                <c:pt idx="434">
                  <c:v>132</c:v>
                </c:pt>
                <c:pt idx="435">
                  <c:v>134</c:v>
                </c:pt>
                <c:pt idx="436">
                  <c:v>131</c:v>
                </c:pt>
                <c:pt idx="437">
                  <c:v>130</c:v>
                </c:pt>
                <c:pt idx="438">
                  <c:v>135</c:v>
                </c:pt>
                <c:pt idx="439">
                  <c:v>131</c:v>
                </c:pt>
                <c:pt idx="440">
                  <c:v>136</c:v>
                </c:pt>
                <c:pt idx="441">
                  <c:v>145</c:v>
                </c:pt>
                <c:pt idx="442">
                  <c:v>146</c:v>
                </c:pt>
                <c:pt idx="443">
                  <c:v>141</c:v>
                </c:pt>
                <c:pt idx="444">
                  <c:v>151</c:v>
                </c:pt>
                <c:pt idx="445">
                  <c:v>143</c:v>
                </c:pt>
                <c:pt idx="446">
                  <c:v>139</c:v>
                </c:pt>
                <c:pt idx="447">
                  <c:v>146</c:v>
                </c:pt>
                <c:pt idx="448">
                  <c:v>138</c:v>
                </c:pt>
                <c:pt idx="449">
                  <c:v>145</c:v>
                </c:pt>
                <c:pt idx="450">
                  <c:v>145</c:v>
                </c:pt>
                <c:pt idx="451">
                  <c:v>139</c:v>
                </c:pt>
                <c:pt idx="452">
                  <c:v>136</c:v>
                </c:pt>
                <c:pt idx="453">
                  <c:v>140</c:v>
                </c:pt>
                <c:pt idx="454">
                  <c:v>147</c:v>
                </c:pt>
                <c:pt idx="455">
                  <c:v>141</c:v>
                </c:pt>
                <c:pt idx="456">
                  <c:v>152</c:v>
                </c:pt>
                <c:pt idx="457">
                  <c:v>148</c:v>
                </c:pt>
                <c:pt idx="458">
                  <c:v>145</c:v>
                </c:pt>
                <c:pt idx="459">
                  <c:v>143</c:v>
                </c:pt>
                <c:pt idx="460">
                  <c:v>152</c:v>
                </c:pt>
                <c:pt idx="461">
                  <c:v>145</c:v>
                </c:pt>
                <c:pt idx="462">
                  <c:v>148</c:v>
                </c:pt>
                <c:pt idx="463">
                  <c:v>140</c:v>
                </c:pt>
                <c:pt idx="464">
                  <c:v>135</c:v>
                </c:pt>
                <c:pt idx="465">
                  <c:v>135</c:v>
                </c:pt>
                <c:pt idx="466">
                  <c:v>141</c:v>
                </c:pt>
                <c:pt idx="467">
                  <c:v>137</c:v>
                </c:pt>
                <c:pt idx="468">
                  <c:v>147</c:v>
                </c:pt>
                <c:pt idx="469">
                  <c:v>145</c:v>
                </c:pt>
                <c:pt idx="470">
                  <c:v>147</c:v>
                </c:pt>
                <c:pt idx="471">
                  <c:v>152</c:v>
                </c:pt>
                <c:pt idx="472">
                  <c:v>135</c:v>
                </c:pt>
                <c:pt idx="473">
                  <c:v>141</c:v>
                </c:pt>
                <c:pt idx="474">
                  <c:v>137</c:v>
                </c:pt>
                <c:pt idx="475">
                  <c:v>139</c:v>
                </c:pt>
                <c:pt idx="476">
                  <c:v>136</c:v>
                </c:pt>
                <c:pt idx="477">
                  <c:v>149</c:v>
                </c:pt>
                <c:pt idx="478">
                  <c:v>145</c:v>
                </c:pt>
                <c:pt idx="479">
                  <c:v>145</c:v>
                </c:pt>
                <c:pt idx="480">
                  <c:v>140</c:v>
                </c:pt>
                <c:pt idx="481">
                  <c:v>138</c:v>
                </c:pt>
                <c:pt idx="482">
                  <c:v>139</c:v>
                </c:pt>
                <c:pt idx="483">
                  <c:v>143</c:v>
                </c:pt>
                <c:pt idx="484">
                  <c:v>128</c:v>
                </c:pt>
                <c:pt idx="485">
                  <c:v>140</c:v>
                </c:pt>
                <c:pt idx="486">
                  <c:v>127</c:v>
                </c:pt>
                <c:pt idx="487">
                  <c:v>124</c:v>
                </c:pt>
                <c:pt idx="488">
                  <c:v>139</c:v>
                </c:pt>
                <c:pt idx="489">
                  <c:v>125</c:v>
                </c:pt>
                <c:pt idx="490">
                  <c:v>126</c:v>
                </c:pt>
                <c:pt idx="491">
                  <c:v>125</c:v>
                </c:pt>
                <c:pt idx="492">
                  <c:v>125</c:v>
                </c:pt>
                <c:pt idx="493">
                  <c:v>128</c:v>
                </c:pt>
                <c:pt idx="494">
                  <c:v>132</c:v>
                </c:pt>
                <c:pt idx="495">
                  <c:v>130</c:v>
                </c:pt>
                <c:pt idx="496">
                  <c:v>131</c:v>
                </c:pt>
                <c:pt idx="497">
                  <c:v>130</c:v>
                </c:pt>
                <c:pt idx="498">
                  <c:v>129</c:v>
                </c:pt>
                <c:pt idx="499">
                  <c:v>123</c:v>
                </c:pt>
                <c:pt idx="500">
                  <c:v>131</c:v>
                </c:pt>
                <c:pt idx="501">
                  <c:v>134</c:v>
                </c:pt>
                <c:pt idx="502">
                  <c:v>131</c:v>
                </c:pt>
                <c:pt idx="503">
                  <c:v>138</c:v>
                </c:pt>
                <c:pt idx="504">
                  <c:v>128</c:v>
                </c:pt>
                <c:pt idx="505">
                  <c:v>134</c:v>
                </c:pt>
                <c:pt idx="506">
                  <c:v>130</c:v>
                </c:pt>
                <c:pt idx="507">
                  <c:v>116</c:v>
                </c:pt>
                <c:pt idx="508">
                  <c:v>131</c:v>
                </c:pt>
                <c:pt idx="509">
                  <c:v>140</c:v>
                </c:pt>
                <c:pt idx="510">
                  <c:v>124</c:v>
                </c:pt>
                <c:pt idx="511">
                  <c:v>125</c:v>
                </c:pt>
                <c:pt idx="512">
                  <c:v>127</c:v>
                </c:pt>
                <c:pt idx="513">
                  <c:v>119</c:v>
                </c:pt>
                <c:pt idx="514">
                  <c:v>121</c:v>
                </c:pt>
                <c:pt idx="515">
                  <c:v>121</c:v>
                </c:pt>
                <c:pt idx="516">
                  <c:v>117</c:v>
                </c:pt>
                <c:pt idx="517">
                  <c:v>109</c:v>
                </c:pt>
                <c:pt idx="518">
                  <c:v>114</c:v>
                </c:pt>
                <c:pt idx="519">
                  <c:v>118</c:v>
                </c:pt>
                <c:pt idx="520">
                  <c:v>100</c:v>
                </c:pt>
                <c:pt idx="521">
                  <c:v>87</c:v>
                </c:pt>
                <c:pt idx="522">
                  <c:v>81</c:v>
                </c:pt>
                <c:pt idx="523">
                  <c:v>67</c:v>
                </c:pt>
                <c:pt idx="524">
                  <c:v>64</c:v>
                </c:pt>
                <c:pt idx="525">
                  <c:v>59</c:v>
                </c:pt>
                <c:pt idx="526">
                  <c:v>51</c:v>
                </c:pt>
                <c:pt idx="527">
                  <c:v>58</c:v>
                </c:pt>
                <c:pt idx="528">
                  <c:v>46</c:v>
                </c:pt>
                <c:pt idx="529">
                  <c:v>44</c:v>
                </c:pt>
                <c:pt idx="530">
                  <c:v>52</c:v>
                </c:pt>
                <c:pt idx="531">
                  <c:v>47</c:v>
                </c:pt>
                <c:pt idx="532">
                  <c:v>46</c:v>
                </c:pt>
                <c:pt idx="533">
                  <c:v>35</c:v>
                </c:pt>
                <c:pt idx="534">
                  <c:v>47</c:v>
                </c:pt>
                <c:pt idx="535">
                  <c:v>42</c:v>
                </c:pt>
                <c:pt idx="536">
                  <c:v>43</c:v>
                </c:pt>
                <c:pt idx="537">
                  <c:v>54</c:v>
                </c:pt>
                <c:pt idx="538">
                  <c:v>47</c:v>
                </c:pt>
                <c:pt idx="539">
                  <c:v>52</c:v>
                </c:pt>
                <c:pt idx="540">
                  <c:v>69</c:v>
                </c:pt>
                <c:pt idx="541">
                  <c:v>67</c:v>
                </c:pt>
                <c:pt idx="542">
                  <c:v>61</c:v>
                </c:pt>
              </c:numCache>
            </c:numRef>
          </c:val>
          <c:smooth val="1"/>
          <c:extLst>
            <c:ext xmlns:c16="http://schemas.microsoft.com/office/drawing/2014/chart" uri="{C3380CC4-5D6E-409C-BE32-E72D297353CC}">
              <c16:uniqueId val="{00000005-9BB7-4438-81EC-DCA24795864D}"/>
            </c:ext>
          </c:extLst>
        </c:ser>
        <c:dLbls>
          <c:showLegendKey val="0"/>
          <c:showVal val="0"/>
          <c:showCatName val="0"/>
          <c:showSerName val="0"/>
          <c:showPercent val="0"/>
          <c:showBubbleSize val="0"/>
        </c:dLbls>
        <c:marker val="1"/>
        <c:smooth val="0"/>
        <c:axId val="861062496"/>
        <c:axId val="861058144"/>
        <c:extLst/>
      </c:lineChart>
      <c:dateAx>
        <c:axId val="861062496"/>
        <c:scaling>
          <c:orientation val="minMax"/>
          <c:max val="45565"/>
          <c:min val="29128"/>
        </c:scaling>
        <c:delete val="0"/>
        <c:axPos val="b"/>
        <c:majorGridlines>
          <c:spPr>
            <a:ln>
              <a:noFill/>
            </a:ln>
          </c:spPr>
        </c:majorGridlines>
        <c:numFmt formatCode="[$-409]mmm\-yy;@" sourceLinked="0"/>
        <c:majorTickMark val="out"/>
        <c:minorTickMark val="none"/>
        <c:tickLblPos val="nextTo"/>
        <c:spPr>
          <a:ln>
            <a:solidFill>
              <a:srgbClr val="D9D9D9"/>
            </a:solidFill>
          </a:ln>
        </c:spPr>
        <c:txPr>
          <a:bodyPr rot="0" vert="horz"/>
          <a:lstStyle/>
          <a:p>
            <a:pPr algn="ctr">
              <a:defRPr lang="en-US" sz="900" b="0" i="0" u="none" strike="noStrike" kern="1200" cap="all" spc="-20" baseline="0">
                <a:solidFill>
                  <a:schemeClr val="bg1"/>
                </a:solidFill>
                <a:latin typeface="Poppins" panose="00000500000000000000" pitchFamily="2" charset="0"/>
                <a:ea typeface="+mn-ea"/>
                <a:cs typeface="Poppins" panose="00000500000000000000" pitchFamily="2" charset="0"/>
              </a:defRPr>
            </a:pPr>
            <a:endParaRPr lang="en-US"/>
          </a:p>
        </c:txPr>
        <c:crossAx val="861058144"/>
        <c:crosses val="autoZero"/>
        <c:auto val="0"/>
        <c:lblOffset val="100"/>
        <c:baseTimeUnit val="months"/>
        <c:majorUnit val="9"/>
        <c:majorTimeUnit val="years"/>
        <c:minorUnit val="50"/>
      </c:dateAx>
      <c:valAx>
        <c:axId val="861058144"/>
        <c:scaling>
          <c:orientation val="minMax"/>
          <c:max val="200"/>
          <c:min val="25"/>
        </c:scaling>
        <c:delete val="0"/>
        <c:axPos val="l"/>
        <c:majorGridlines>
          <c:spPr>
            <a:ln>
              <a:solidFill>
                <a:srgbClr val="D9D9D9">
                  <a:alpha val="72000"/>
                </a:srgbClr>
              </a:solidFill>
            </a:ln>
          </c:spPr>
        </c:majorGridlines>
        <c:numFmt formatCode="#,##0" sourceLinked="0"/>
        <c:majorTickMark val="out"/>
        <c:minorTickMark val="none"/>
        <c:tickLblPos val="nextTo"/>
        <c:spPr>
          <a:ln>
            <a:solidFill>
              <a:srgbClr val="D9D9D9"/>
            </a:solidFill>
          </a:ln>
        </c:spPr>
        <c:txPr>
          <a:bodyPr/>
          <a:lstStyle/>
          <a:p>
            <a:pPr algn="ctr">
              <a:defRPr lang="en-US"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861062496"/>
        <c:crossesAt val="6"/>
        <c:crossBetween val="between"/>
        <c:majorUnit val="35"/>
      </c:valAx>
      <c:spPr>
        <a:solidFill>
          <a:srgbClr val="2B3E59"/>
        </a:solidFill>
      </c:spPr>
    </c:plotArea>
    <c:plotVisOnly val="1"/>
    <c:dispBlanksAs val="gap"/>
    <c:showDLblsOverMax val="0"/>
  </c:chart>
  <c:spPr>
    <a:solidFill>
      <a:srgbClr val="2B3E59"/>
    </a:solidFill>
    <a:ln>
      <a:noFill/>
    </a:ln>
  </c:spPr>
  <c:txPr>
    <a:bodyPr/>
    <a:lstStyle/>
    <a:p>
      <a:pPr>
        <a:defRPr>
          <a:latin typeface="Arial" panose="020B0604020202020204" pitchFamily="34" charset="0"/>
          <a:cs typeface="Arial" panose="020B0604020202020204" pitchFamily="34" charset="0"/>
        </a:defRPr>
      </a:pPr>
      <a:endParaRPr lang="en-US"/>
    </a:p>
  </c:txPr>
  <c:externalData r:id="rId1">
    <c:autoUpdate val="1"/>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749483237672214"/>
          <c:y val="0.17499981542391591"/>
          <c:w val="0.71023622047244095"/>
          <c:h val="0.65069806675009501"/>
        </c:manualLayout>
      </c:layout>
      <c:lineChart>
        <c:grouping val="standard"/>
        <c:varyColors val="0"/>
        <c:ser>
          <c:idx val="1"/>
          <c:order val="0"/>
          <c:tx>
            <c:strRef>
              <c:f>'3MMA AND MONTHLY AVE'!$C$2</c:f>
              <c:strCache>
                <c:ptCount val="1"/>
                <c:pt idx="0">
                  <c:v>Intial Jobless Claims (LHS)</c:v>
                </c:pt>
              </c:strCache>
            </c:strRef>
          </c:tx>
          <c:spPr>
            <a:ln w="28575" cap="rnd">
              <a:solidFill>
                <a:schemeClr val="accent2"/>
              </a:solidFill>
              <a:round/>
            </a:ln>
            <a:effectLst/>
          </c:spPr>
          <c:marker>
            <c:symbol val="none"/>
          </c:marker>
          <c:cat>
            <c:numRef>
              <c:f>'3MMA AND MONTHLY AVE'!$A$3:$A$303</c:f>
              <c:numCache>
                <c:formatCode>m/d/yy;@</c:formatCode>
                <c:ptCount val="301"/>
                <c:pt idx="0">
                  <c:v>38107</c:v>
                </c:pt>
                <c:pt idx="1">
                  <c:v>38138</c:v>
                </c:pt>
                <c:pt idx="2">
                  <c:v>38168</c:v>
                </c:pt>
                <c:pt idx="3">
                  <c:v>38199</c:v>
                </c:pt>
                <c:pt idx="4">
                  <c:v>38230</c:v>
                </c:pt>
                <c:pt idx="5">
                  <c:v>38260</c:v>
                </c:pt>
                <c:pt idx="6">
                  <c:v>38291</c:v>
                </c:pt>
                <c:pt idx="7">
                  <c:v>38321</c:v>
                </c:pt>
                <c:pt idx="8">
                  <c:v>38352</c:v>
                </c:pt>
                <c:pt idx="9">
                  <c:v>38383</c:v>
                </c:pt>
                <c:pt idx="10">
                  <c:v>38411</c:v>
                </c:pt>
                <c:pt idx="11">
                  <c:v>38442</c:v>
                </c:pt>
                <c:pt idx="12">
                  <c:v>38472</c:v>
                </c:pt>
                <c:pt idx="13">
                  <c:v>38503</c:v>
                </c:pt>
                <c:pt idx="14">
                  <c:v>38533</c:v>
                </c:pt>
                <c:pt idx="15">
                  <c:v>38564</c:v>
                </c:pt>
                <c:pt idx="16">
                  <c:v>38595</c:v>
                </c:pt>
                <c:pt idx="17">
                  <c:v>38625</c:v>
                </c:pt>
                <c:pt idx="18">
                  <c:v>38656</c:v>
                </c:pt>
                <c:pt idx="19">
                  <c:v>38686</c:v>
                </c:pt>
                <c:pt idx="20">
                  <c:v>38717</c:v>
                </c:pt>
                <c:pt idx="21">
                  <c:v>38748</c:v>
                </c:pt>
                <c:pt idx="22">
                  <c:v>38776</c:v>
                </c:pt>
                <c:pt idx="23">
                  <c:v>38807</c:v>
                </c:pt>
                <c:pt idx="24">
                  <c:v>38837</c:v>
                </c:pt>
                <c:pt idx="25">
                  <c:v>38868</c:v>
                </c:pt>
                <c:pt idx="26">
                  <c:v>38898</c:v>
                </c:pt>
                <c:pt idx="27">
                  <c:v>38929</c:v>
                </c:pt>
                <c:pt idx="28">
                  <c:v>38960</c:v>
                </c:pt>
                <c:pt idx="29">
                  <c:v>38990</c:v>
                </c:pt>
                <c:pt idx="30">
                  <c:v>39021</c:v>
                </c:pt>
                <c:pt idx="31">
                  <c:v>39051</c:v>
                </c:pt>
                <c:pt idx="32">
                  <c:v>39082</c:v>
                </c:pt>
                <c:pt idx="33">
                  <c:v>39113</c:v>
                </c:pt>
                <c:pt idx="34">
                  <c:v>39141</c:v>
                </c:pt>
                <c:pt idx="35">
                  <c:v>39172</c:v>
                </c:pt>
                <c:pt idx="36">
                  <c:v>39202</c:v>
                </c:pt>
                <c:pt idx="37">
                  <c:v>39233</c:v>
                </c:pt>
                <c:pt idx="38">
                  <c:v>39263</c:v>
                </c:pt>
                <c:pt idx="39">
                  <c:v>39294</c:v>
                </c:pt>
                <c:pt idx="40">
                  <c:v>39325</c:v>
                </c:pt>
                <c:pt idx="41">
                  <c:v>39355</c:v>
                </c:pt>
                <c:pt idx="42">
                  <c:v>39386</c:v>
                </c:pt>
                <c:pt idx="43">
                  <c:v>39416</c:v>
                </c:pt>
                <c:pt idx="44">
                  <c:v>39447</c:v>
                </c:pt>
                <c:pt idx="45">
                  <c:v>39478</c:v>
                </c:pt>
                <c:pt idx="46">
                  <c:v>39507</c:v>
                </c:pt>
                <c:pt idx="47">
                  <c:v>39538</c:v>
                </c:pt>
                <c:pt idx="48">
                  <c:v>39568</c:v>
                </c:pt>
                <c:pt idx="49">
                  <c:v>39599</c:v>
                </c:pt>
                <c:pt idx="50">
                  <c:v>39629</c:v>
                </c:pt>
                <c:pt idx="51">
                  <c:v>39660</c:v>
                </c:pt>
                <c:pt idx="52">
                  <c:v>39691</c:v>
                </c:pt>
                <c:pt idx="53">
                  <c:v>39721</c:v>
                </c:pt>
                <c:pt idx="54">
                  <c:v>39752</c:v>
                </c:pt>
                <c:pt idx="55">
                  <c:v>39782</c:v>
                </c:pt>
                <c:pt idx="56">
                  <c:v>39813</c:v>
                </c:pt>
                <c:pt idx="57">
                  <c:v>39844</c:v>
                </c:pt>
                <c:pt idx="58">
                  <c:v>39872</c:v>
                </c:pt>
                <c:pt idx="59">
                  <c:v>39903</c:v>
                </c:pt>
                <c:pt idx="60">
                  <c:v>39933</c:v>
                </c:pt>
                <c:pt idx="61">
                  <c:v>39964</c:v>
                </c:pt>
                <c:pt idx="62">
                  <c:v>39994</c:v>
                </c:pt>
                <c:pt idx="63">
                  <c:v>40025</c:v>
                </c:pt>
                <c:pt idx="64">
                  <c:v>40056</c:v>
                </c:pt>
                <c:pt idx="65">
                  <c:v>40086</c:v>
                </c:pt>
                <c:pt idx="66">
                  <c:v>40117</c:v>
                </c:pt>
                <c:pt idx="67">
                  <c:v>40147</c:v>
                </c:pt>
                <c:pt idx="68">
                  <c:v>40178</c:v>
                </c:pt>
                <c:pt idx="69">
                  <c:v>40209</c:v>
                </c:pt>
                <c:pt idx="70">
                  <c:v>40237</c:v>
                </c:pt>
                <c:pt idx="71">
                  <c:v>40268</c:v>
                </c:pt>
                <c:pt idx="72">
                  <c:v>40298</c:v>
                </c:pt>
                <c:pt idx="73">
                  <c:v>40329</c:v>
                </c:pt>
                <c:pt idx="74">
                  <c:v>40359</c:v>
                </c:pt>
                <c:pt idx="75">
                  <c:v>40390</c:v>
                </c:pt>
                <c:pt idx="76">
                  <c:v>40421</c:v>
                </c:pt>
                <c:pt idx="77">
                  <c:v>40451</c:v>
                </c:pt>
                <c:pt idx="78">
                  <c:v>40482</c:v>
                </c:pt>
                <c:pt idx="79">
                  <c:v>40512</c:v>
                </c:pt>
                <c:pt idx="80">
                  <c:v>40543</c:v>
                </c:pt>
                <c:pt idx="81">
                  <c:v>40574</c:v>
                </c:pt>
                <c:pt idx="82">
                  <c:v>40602</c:v>
                </c:pt>
                <c:pt idx="83">
                  <c:v>40633</c:v>
                </c:pt>
                <c:pt idx="84">
                  <c:v>40663</c:v>
                </c:pt>
                <c:pt idx="85">
                  <c:v>40694</c:v>
                </c:pt>
                <c:pt idx="86">
                  <c:v>40724</c:v>
                </c:pt>
                <c:pt idx="87">
                  <c:v>40755</c:v>
                </c:pt>
                <c:pt idx="88">
                  <c:v>40786</c:v>
                </c:pt>
                <c:pt idx="89">
                  <c:v>40816</c:v>
                </c:pt>
                <c:pt idx="90">
                  <c:v>40847</c:v>
                </c:pt>
                <c:pt idx="91">
                  <c:v>40877</c:v>
                </c:pt>
                <c:pt idx="92">
                  <c:v>40908</c:v>
                </c:pt>
                <c:pt idx="93">
                  <c:v>40939</c:v>
                </c:pt>
                <c:pt idx="94">
                  <c:v>40968</c:v>
                </c:pt>
                <c:pt idx="95">
                  <c:v>40999</c:v>
                </c:pt>
                <c:pt idx="96">
                  <c:v>41029</c:v>
                </c:pt>
                <c:pt idx="97">
                  <c:v>41060</c:v>
                </c:pt>
                <c:pt idx="98">
                  <c:v>41090</c:v>
                </c:pt>
                <c:pt idx="99">
                  <c:v>41121</c:v>
                </c:pt>
                <c:pt idx="100">
                  <c:v>41152</c:v>
                </c:pt>
                <c:pt idx="101">
                  <c:v>41182</c:v>
                </c:pt>
                <c:pt idx="102">
                  <c:v>41213</c:v>
                </c:pt>
                <c:pt idx="103">
                  <c:v>41243</c:v>
                </c:pt>
                <c:pt idx="104">
                  <c:v>41274</c:v>
                </c:pt>
                <c:pt idx="105">
                  <c:v>41305</c:v>
                </c:pt>
                <c:pt idx="106">
                  <c:v>41333</c:v>
                </c:pt>
                <c:pt idx="107">
                  <c:v>41364</c:v>
                </c:pt>
                <c:pt idx="108">
                  <c:v>41394</c:v>
                </c:pt>
                <c:pt idx="109">
                  <c:v>41425</c:v>
                </c:pt>
                <c:pt idx="110">
                  <c:v>41455</c:v>
                </c:pt>
                <c:pt idx="111">
                  <c:v>41486</c:v>
                </c:pt>
                <c:pt idx="112">
                  <c:v>41517</c:v>
                </c:pt>
                <c:pt idx="113">
                  <c:v>41547</c:v>
                </c:pt>
                <c:pt idx="114">
                  <c:v>41578</c:v>
                </c:pt>
                <c:pt idx="115">
                  <c:v>41608</c:v>
                </c:pt>
                <c:pt idx="116">
                  <c:v>41639</c:v>
                </c:pt>
                <c:pt idx="117">
                  <c:v>41670</c:v>
                </c:pt>
                <c:pt idx="118">
                  <c:v>41698</c:v>
                </c:pt>
                <c:pt idx="119">
                  <c:v>41729</c:v>
                </c:pt>
                <c:pt idx="120">
                  <c:v>41759</c:v>
                </c:pt>
                <c:pt idx="121">
                  <c:v>41790</c:v>
                </c:pt>
                <c:pt idx="122">
                  <c:v>41820</c:v>
                </c:pt>
                <c:pt idx="123">
                  <c:v>41851</c:v>
                </c:pt>
                <c:pt idx="124">
                  <c:v>41882</c:v>
                </c:pt>
                <c:pt idx="125">
                  <c:v>41912</c:v>
                </c:pt>
                <c:pt idx="126">
                  <c:v>41943</c:v>
                </c:pt>
                <c:pt idx="127">
                  <c:v>41973</c:v>
                </c:pt>
                <c:pt idx="128">
                  <c:v>42004</c:v>
                </c:pt>
                <c:pt idx="129">
                  <c:v>42035</c:v>
                </c:pt>
                <c:pt idx="130">
                  <c:v>42063</c:v>
                </c:pt>
                <c:pt idx="131">
                  <c:v>42094</c:v>
                </c:pt>
                <c:pt idx="132">
                  <c:v>42124</c:v>
                </c:pt>
                <c:pt idx="133">
                  <c:v>42155</c:v>
                </c:pt>
                <c:pt idx="134">
                  <c:v>42185</c:v>
                </c:pt>
                <c:pt idx="135">
                  <c:v>42216</c:v>
                </c:pt>
                <c:pt idx="136">
                  <c:v>42247</c:v>
                </c:pt>
                <c:pt idx="137">
                  <c:v>42277</c:v>
                </c:pt>
                <c:pt idx="138">
                  <c:v>42308</c:v>
                </c:pt>
                <c:pt idx="139">
                  <c:v>42338</c:v>
                </c:pt>
                <c:pt idx="140">
                  <c:v>42369</c:v>
                </c:pt>
                <c:pt idx="141">
                  <c:v>42400</c:v>
                </c:pt>
                <c:pt idx="142">
                  <c:v>42429</c:v>
                </c:pt>
                <c:pt idx="143">
                  <c:v>42460</c:v>
                </c:pt>
                <c:pt idx="144">
                  <c:v>42490</c:v>
                </c:pt>
                <c:pt idx="145">
                  <c:v>42521</c:v>
                </c:pt>
                <c:pt idx="146">
                  <c:v>42551</c:v>
                </c:pt>
                <c:pt idx="147">
                  <c:v>42582</c:v>
                </c:pt>
                <c:pt idx="148">
                  <c:v>42613</c:v>
                </c:pt>
                <c:pt idx="149">
                  <c:v>42643</c:v>
                </c:pt>
                <c:pt idx="150">
                  <c:v>42674</c:v>
                </c:pt>
                <c:pt idx="151">
                  <c:v>42704</c:v>
                </c:pt>
                <c:pt idx="152">
                  <c:v>42735</c:v>
                </c:pt>
                <c:pt idx="153">
                  <c:v>42766</c:v>
                </c:pt>
                <c:pt idx="154">
                  <c:v>42794</c:v>
                </c:pt>
                <c:pt idx="155">
                  <c:v>42825</c:v>
                </c:pt>
                <c:pt idx="156">
                  <c:v>42855</c:v>
                </c:pt>
                <c:pt idx="157">
                  <c:v>42886</c:v>
                </c:pt>
                <c:pt idx="158">
                  <c:v>42916</c:v>
                </c:pt>
                <c:pt idx="159">
                  <c:v>42947</c:v>
                </c:pt>
                <c:pt idx="160">
                  <c:v>42978</c:v>
                </c:pt>
                <c:pt idx="161">
                  <c:v>43008</c:v>
                </c:pt>
                <c:pt idx="162">
                  <c:v>43039</c:v>
                </c:pt>
                <c:pt idx="163">
                  <c:v>43069</c:v>
                </c:pt>
                <c:pt idx="164">
                  <c:v>43100</c:v>
                </c:pt>
                <c:pt idx="165">
                  <c:v>43131</c:v>
                </c:pt>
                <c:pt idx="166">
                  <c:v>43159</c:v>
                </c:pt>
                <c:pt idx="167">
                  <c:v>43190</c:v>
                </c:pt>
                <c:pt idx="168">
                  <c:v>43220</c:v>
                </c:pt>
                <c:pt idx="169">
                  <c:v>43251</c:v>
                </c:pt>
                <c:pt idx="170">
                  <c:v>43281</c:v>
                </c:pt>
                <c:pt idx="171">
                  <c:v>43312</c:v>
                </c:pt>
                <c:pt idx="172">
                  <c:v>43343</c:v>
                </c:pt>
                <c:pt idx="173">
                  <c:v>43373</c:v>
                </c:pt>
                <c:pt idx="174">
                  <c:v>43404</c:v>
                </c:pt>
                <c:pt idx="175">
                  <c:v>43434</c:v>
                </c:pt>
                <c:pt idx="176">
                  <c:v>43465</c:v>
                </c:pt>
                <c:pt idx="177">
                  <c:v>43496</c:v>
                </c:pt>
                <c:pt idx="178">
                  <c:v>43524</c:v>
                </c:pt>
                <c:pt idx="179">
                  <c:v>43555</c:v>
                </c:pt>
                <c:pt idx="180">
                  <c:v>43585</c:v>
                </c:pt>
                <c:pt idx="181">
                  <c:v>43616</c:v>
                </c:pt>
                <c:pt idx="182">
                  <c:v>43646</c:v>
                </c:pt>
                <c:pt idx="183">
                  <c:v>43677</c:v>
                </c:pt>
                <c:pt idx="184">
                  <c:v>43708</c:v>
                </c:pt>
                <c:pt idx="185">
                  <c:v>43738</c:v>
                </c:pt>
                <c:pt idx="186">
                  <c:v>43769</c:v>
                </c:pt>
                <c:pt idx="187">
                  <c:v>43799</c:v>
                </c:pt>
                <c:pt idx="188">
                  <c:v>43830</c:v>
                </c:pt>
                <c:pt idx="189">
                  <c:v>43861</c:v>
                </c:pt>
                <c:pt idx="190">
                  <c:v>43890</c:v>
                </c:pt>
                <c:pt idx="191">
                  <c:v>43921</c:v>
                </c:pt>
                <c:pt idx="192">
                  <c:v>43951</c:v>
                </c:pt>
                <c:pt idx="193">
                  <c:v>43982</c:v>
                </c:pt>
                <c:pt idx="194">
                  <c:v>44012</c:v>
                </c:pt>
                <c:pt idx="195">
                  <c:v>44043</c:v>
                </c:pt>
                <c:pt idx="196">
                  <c:v>44074</c:v>
                </c:pt>
                <c:pt idx="197">
                  <c:v>44104</c:v>
                </c:pt>
                <c:pt idx="198">
                  <c:v>44135</c:v>
                </c:pt>
                <c:pt idx="199">
                  <c:v>44165</c:v>
                </c:pt>
                <c:pt idx="200">
                  <c:v>44196</c:v>
                </c:pt>
                <c:pt idx="201">
                  <c:v>44227</c:v>
                </c:pt>
                <c:pt idx="202">
                  <c:v>44255</c:v>
                </c:pt>
                <c:pt idx="203">
                  <c:v>44286</c:v>
                </c:pt>
                <c:pt idx="204">
                  <c:v>44316</c:v>
                </c:pt>
                <c:pt idx="205">
                  <c:v>44347</c:v>
                </c:pt>
                <c:pt idx="206">
                  <c:v>44377</c:v>
                </c:pt>
                <c:pt idx="207">
                  <c:v>44408</c:v>
                </c:pt>
                <c:pt idx="208">
                  <c:v>44439</c:v>
                </c:pt>
                <c:pt idx="209">
                  <c:v>44469</c:v>
                </c:pt>
                <c:pt idx="210">
                  <c:v>44500</c:v>
                </c:pt>
                <c:pt idx="211">
                  <c:v>44530</c:v>
                </c:pt>
                <c:pt idx="212">
                  <c:v>44561</c:v>
                </c:pt>
                <c:pt idx="213">
                  <c:v>44592</c:v>
                </c:pt>
                <c:pt idx="214">
                  <c:v>44620</c:v>
                </c:pt>
                <c:pt idx="215">
                  <c:v>44651</c:v>
                </c:pt>
                <c:pt idx="216">
                  <c:v>44681</c:v>
                </c:pt>
                <c:pt idx="217">
                  <c:v>44712</c:v>
                </c:pt>
                <c:pt idx="218">
                  <c:v>44742</c:v>
                </c:pt>
                <c:pt idx="219">
                  <c:v>44773</c:v>
                </c:pt>
                <c:pt idx="220">
                  <c:v>44804</c:v>
                </c:pt>
                <c:pt idx="221">
                  <c:v>44834</c:v>
                </c:pt>
                <c:pt idx="222">
                  <c:v>44865</c:v>
                </c:pt>
                <c:pt idx="223">
                  <c:v>44895</c:v>
                </c:pt>
                <c:pt idx="224">
                  <c:v>44926</c:v>
                </c:pt>
                <c:pt idx="225">
                  <c:v>44957</c:v>
                </c:pt>
                <c:pt idx="226">
                  <c:v>44985</c:v>
                </c:pt>
                <c:pt idx="227">
                  <c:v>45016</c:v>
                </c:pt>
                <c:pt idx="228">
                  <c:v>45046</c:v>
                </c:pt>
                <c:pt idx="229">
                  <c:v>45077</c:v>
                </c:pt>
                <c:pt idx="230">
                  <c:v>45107</c:v>
                </c:pt>
                <c:pt idx="231">
                  <c:v>45138</c:v>
                </c:pt>
                <c:pt idx="232">
                  <c:v>45169</c:v>
                </c:pt>
                <c:pt idx="233">
                  <c:v>45199</c:v>
                </c:pt>
                <c:pt idx="234">
                  <c:v>45230</c:v>
                </c:pt>
                <c:pt idx="235">
                  <c:v>45260</c:v>
                </c:pt>
                <c:pt idx="236">
                  <c:v>45291</c:v>
                </c:pt>
                <c:pt idx="237">
                  <c:v>45322</c:v>
                </c:pt>
                <c:pt idx="238">
                  <c:v>45351</c:v>
                </c:pt>
                <c:pt idx="239">
                  <c:v>45382</c:v>
                </c:pt>
                <c:pt idx="240">
                  <c:v>45412</c:v>
                </c:pt>
                <c:pt idx="241">
                  <c:v>45443</c:v>
                </c:pt>
                <c:pt idx="242">
                  <c:v>45473</c:v>
                </c:pt>
                <c:pt idx="243">
                  <c:v>45504</c:v>
                </c:pt>
                <c:pt idx="244">
                  <c:v>45535</c:v>
                </c:pt>
                <c:pt idx="245">
                  <c:v>45565</c:v>
                </c:pt>
                <c:pt idx="246">
                  <c:v>45596</c:v>
                </c:pt>
                <c:pt idx="247">
                  <c:v>45626</c:v>
                </c:pt>
                <c:pt idx="248">
                  <c:v>45657</c:v>
                </c:pt>
                <c:pt idx="249">
                  <c:v>45688</c:v>
                </c:pt>
                <c:pt idx="250">
                  <c:v>45716</c:v>
                </c:pt>
                <c:pt idx="251">
                  <c:v>45747</c:v>
                </c:pt>
                <c:pt idx="252">
                  <c:v>45777</c:v>
                </c:pt>
                <c:pt idx="253">
                  <c:v>45808</c:v>
                </c:pt>
                <c:pt idx="254">
                  <c:v>45838</c:v>
                </c:pt>
                <c:pt idx="255">
                  <c:v>45869</c:v>
                </c:pt>
                <c:pt idx="256">
                  <c:v>45900</c:v>
                </c:pt>
              </c:numCache>
            </c:numRef>
          </c:cat>
          <c:val>
            <c:numRef>
              <c:f>'3MMA AND MONTHLY AVE'!$C$3:$C$259</c:f>
              <c:numCache>
                <c:formatCode>General</c:formatCode>
                <c:ptCount val="257"/>
                <c:pt idx="0">
                  <c:v>343.4</c:v>
                </c:pt>
                <c:pt idx="1">
                  <c:v>339.25</c:v>
                </c:pt>
                <c:pt idx="2">
                  <c:v>349</c:v>
                </c:pt>
                <c:pt idx="3">
                  <c:v>343</c:v>
                </c:pt>
                <c:pt idx="4">
                  <c:v>340.75</c:v>
                </c:pt>
                <c:pt idx="5">
                  <c:v>337.25</c:v>
                </c:pt>
                <c:pt idx="6">
                  <c:v>334</c:v>
                </c:pt>
                <c:pt idx="7">
                  <c:v>328.75</c:v>
                </c:pt>
                <c:pt idx="8">
                  <c:v>331.4</c:v>
                </c:pt>
                <c:pt idx="9">
                  <c:v>340.25</c:v>
                </c:pt>
                <c:pt idx="10">
                  <c:v>311.75</c:v>
                </c:pt>
                <c:pt idx="11">
                  <c:v>332</c:v>
                </c:pt>
                <c:pt idx="12">
                  <c:v>323.2</c:v>
                </c:pt>
                <c:pt idx="13">
                  <c:v>327</c:v>
                </c:pt>
                <c:pt idx="14" formatCode="0.0">
                  <c:v>330.66666666666669</c:v>
                </c:pt>
                <c:pt idx="15">
                  <c:v>324.39999999999998</c:v>
                </c:pt>
                <c:pt idx="16">
                  <c:v>315.75</c:v>
                </c:pt>
                <c:pt idx="17">
                  <c:v>383</c:v>
                </c:pt>
                <c:pt idx="18">
                  <c:v>344.25</c:v>
                </c:pt>
                <c:pt idx="19">
                  <c:v>317.25</c:v>
                </c:pt>
                <c:pt idx="20">
                  <c:v>316.39999999999998</c:v>
                </c:pt>
                <c:pt idx="21">
                  <c:v>295.75</c:v>
                </c:pt>
                <c:pt idx="22">
                  <c:v>290.75</c:v>
                </c:pt>
                <c:pt idx="23">
                  <c:v>299.60000000000002</c:v>
                </c:pt>
                <c:pt idx="24">
                  <c:v>306.75</c:v>
                </c:pt>
                <c:pt idx="25">
                  <c:v>332.75</c:v>
                </c:pt>
                <c:pt idx="26">
                  <c:v>307.60000000000002</c:v>
                </c:pt>
                <c:pt idx="27">
                  <c:v>319.5</c:v>
                </c:pt>
                <c:pt idx="28">
                  <c:v>314.25</c:v>
                </c:pt>
                <c:pt idx="29">
                  <c:v>316.2</c:v>
                </c:pt>
                <c:pt idx="30">
                  <c:v>315.5</c:v>
                </c:pt>
                <c:pt idx="31">
                  <c:v>326.25</c:v>
                </c:pt>
                <c:pt idx="32">
                  <c:v>324</c:v>
                </c:pt>
                <c:pt idx="33">
                  <c:v>317.25</c:v>
                </c:pt>
                <c:pt idx="34">
                  <c:v>322.75</c:v>
                </c:pt>
                <c:pt idx="35">
                  <c:v>309.39999999999998</c:v>
                </c:pt>
                <c:pt idx="36">
                  <c:v>320.25</c:v>
                </c:pt>
                <c:pt idx="37">
                  <c:v>304.25</c:v>
                </c:pt>
                <c:pt idx="38">
                  <c:v>314.75</c:v>
                </c:pt>
                <c:pt idx="39">
                  <c:v>313.25</c:v>
                </c:pt>
                <c:pt idx="40">
                  <c:v>318.8</c:v>
                </c:pt>
                <c:pt idx="41">
                  <c:v>313.25</c:v>
                </c:pt>
                <c:pt idx="42">
                  <c:v>328.25</c:v>
                </c:pt>
                <c:pt idx="43">
                  <c:v>337.6</c:v>
                </c:pt>
                <c:pt idx="44">
                  <c:v>349.25</c:v>
                </c:pt>
                <c:pt idx="45">
                  <c:v>338.75</c:v>
                </c:pt>
                <c:pt idx="46">
                  <c:v>346.4</c:v>
                </c:pt>
                <c:pt idx="47">
                  <c:v>368</c:v>
                </c:pt>
                <c:pt idx="48">
                  <c:v>359.5</c:v>
                </c:pt>
                <c:pt idx="49">
                  <c:v>366.8</c:v>
                </c:pt>
                <c:pt idx="50">
                  <c:v>383.25</c:v>
                </c:pt>
                <c:pt idx="51">
                  <c:v>398</c:v>
                </c:pt>
                <c:pt idx="52">
                  <c:v>433</c:v>
                </c:pt>
                <c:pt idx="53">
                  <c:v>464</c:v>
                </c:pt>
                <c:pt idx="54">
                  <c:v>478.2</c:v>
                </c:pt>
                <c:pt idx="55">
                  <c:v>527.25</c:v>
                </c:pt>
                <c:pt idx="56">
                  <c:v>564</c:v>
                </c:pt>
                <c:pt idx="57">
                  <c:v>572</c:v>
                </c:pt>
                <c:pt idx="58">
                  <c:v>644</c:v>
                </c:pt>
                <c:pt idx="59">
                  <c:v>659.25</c:v>
                </c:pt>
                <c:pt idx="60">
                  <c:v>630.33333333333337</c:v>
                </c:pt>
                <c:pt idx="61">
                  <c:v>612</c:v>
                </c:pt>
                <c:pt idx="62">
                  <c:v>598.25</c:v>
                </c:pt>
                <c:pt idx="63">
                  <c:v>564.20000000000005</c:v>
                </c:pt>
                <c:pt idx="64">
                  <c:v>560.25</c:v>
                </c:pt>
                <c:pt idx="65">
                  <c:v>545.33333333333337</c:v>
                </c:pt>
                <c:pt idx="66">
                  <c:v>525.4</c:v>
                </c:pt>
                <c:pt idx="67">
                  <c:v>494</c:v>
                </c:pt>
                <c:pt idx="68">
                  <c:v>485.5</c:v>
                </c:pt>
                <c:pt idx="69">
                  <c:v>479.8</c:v>
                </c:pt>
                <c:pt idx="70">
                  <c:v>485.75</c:v>
                </c:pt>
                <c:pt idx="71">
                  <c:v>470.25</c:v>
                </c:pt>
                <c:pt idx="72">
                  <c:v>465.4</c:v>
                </c:pt>
                <c:pt idx="73">
                  <c:v>461.5</c:v>
                </c:pt>
                <c:pt idx="74">
                  <c:v>460.5</c:v>
                </c:pt>
                <c:pt idx="75">
                  <c:v>459.2</c:v>
                </c:pt>
                <c:pt idx="76">
                  <c:v>475</c:v>
                </c:pt>
                <c:pt idx="77">
                  <c:v>453.5</c:v>
                </c:pt>
                <c:pt idx="78">
                  <c:v>446.8</c:v>
                </c:pt>
                <c:pt idx="79">
                  <c:v>426.25</c:v>
                </c:pt>
                <c:pt idx="80">
                  <c:v>418.8</c:v>
                </c:pt>
                <c:pt idx="81">
                  <c:v>430.25</c:v>
                </c:pt>
                <c:pt idx="82">
                  <c:v>401.5</c:v>
                </c:pt>
                <c:pt idx="83">
                  <c:v>406</c:v>
                </c:pt>
                <c:pt idx="84">
                  <c:v>420.6</c:v>
                </c:pt>
                <c:pt idx="85">
                  <c:v>422.5</c:v>
                </c:pt>
                <c:pt idx="86">
                  <c:v>418.25</c:v>
                </c:pt>
                <c:pt idx="87">
                  <c:v>412.6</c:v>
                </c:pt>
                <c:pt idx="88">
                  <c:v>409.5</c:v>
                </c:pt>
                <c:pt idx="89">
                  <c:v>415.2</c:v>
                </c:pt>
                <c:pt idx="90">
                  <c:v>401.75</c:v>
                </c:pt>
                <c:pt idx="91">
                  <c:v>389.25</c:v>
                </c:pt>
                <c:pt idx="92">
                  <c:v>377</c:v>
                </c:pt>
                <c:pt idx="93">
                  <c:v>377.75</c:v>
                </c:pt>
                <c:pt idx="94">
                  <c:v>363.25</c:v>
                </c:pt>
                <c:pt idx="95">
                  <c:v>366.6</c:v>
                </c:pt>
                <c:pt idx="96">
                  <c:v>381.75</c:v>
                </c:pt>
                <c:pt idx="97">
                  <c:v>373.5</c:v>
                </c:pt>
                <c:pt idx="98">
                  <c:v>379.2</c:v>
                </c:pt>
                <c:pt idx="99">
                  <c:v>372.5</c:v>
                </c:pt>
                <c:pt idx="100">
                  <c:v>372.8</c:v>
                </c:pt>
                <c:pt idx="101">
                  <c:v>384.5</c:v>
                </c:pt>
                <c:pt idx="102">
                  <c:v>368.5</c:v>
                </c:pt>
                <c:pt idx="103">
                  <c:v>396</c:v>
                </c:pt>
                <c:pt idx="104">
                  <c:v>355</c:v>
                </c:pt>
                <c:pt idx="105">
                  <c:v>353</c:v>
                </c:pt>
                <c:pt idx="106">
                  <c:v>353</c:v>
                </c:pt>
                <c:pt idx="107">
                  <c:v>351.8</c:v>
                </c:pt>
                <c:pt idx="108">
                  <c:v>347.25</c:v>
                </c:pt>
                <c:pt idx="109">
                  <c:v>347.4</c:v>
                </c:pt>
                <c:pt idx="110">
                  <c:v>344.25</c:v>
                </c:pt>
                <c:pt idx="111">
                  <c:v>346</c:v>
                </c:pt>
                <c:pt idx="112">
                  <c:v>333.4</c:v>
                </c:pt>
                <c:pt idx="113">
                  <c:v>314</c:v>
                </c:pt>
                <c:pt idx="114">
                  <c:v>358.5</c:v>
                </c:pt>
                <c:pt idx="115">
                  <c:v>328.2</c:v>
                </c:pt>
                <c:pt idx="116">
                  <c:v>346</c:v>
                </c:pt>
                <c:pt idx="117">
                  <c:v>327.60000000000002</c:v>
                </c:pt>
                <c:pt idx="118">
                  <c:v>332.25</c:v>
                </c:pt>
                <c:pt idx="119">
                  <c:v>321.5</c:v>
                </c:pt>
                <c:pt idx="120">
                  <c:v>322.75</c:v>
                </c:pt>
                <c:pt idx="121">
                  <c:v>313.8</c:v>
                </c:pt>
                <c:pt idx="122">
                  <c:v>313.5</c:v>
                </c:pt>
                <c:pt idx="123">
                  <c:v>301.75</c:v>
                </c:pt>
                <c:pt idx="124">
                  <c:v>302</c:v>
                </c:pt>
                <c:pt idx="125">
                  <c:v>295</c:v>
                </c:pt>
                <c:pt idx="126">
                  <c:v>287</c:v>
                </c:pt>
                <c:pt idx="127">
                  <c:v>294.5</c:v>
                </c:pt>
                <c:pt idx="128">
                  <c:v>284.5</c:v>
                </c:pt>
                <c:pt idx="129">
                  <c:v>287.60000000000002</c:v>
                </c:pt>
                <c:pt idx="130">
                  <c:v>301.25</c:v>
                </c:pt>
                <c:pt idx="131">
                  <c:v>284</c:v>
                </c:pt>
                <c:pt idx="132">
                  <c:v>286</c:v>
                </c:pt>
                <c:pt idx="133">
                  <c:v>274</c:v>
                </c:pt>
                <c:pt idx="134">
                  <c:v>273.75</c:v>
                </c:pt>
                <c:pt idx="135">
                  <c:v>276.2</c:v>
                </c:pt>
                <c:pt idx="136">
                  <c:v>276.5</c:v>
                </c:pt>
                <c:pt idx="137">
                  <c:v>269.5</c:v>
                </c:pt>
                <c:pt idx="138">
                  <c:v>267</c:v>
                </c:pt>
                <c:pt idx="139">
                  <c:v>268.5</c:v>
                </c:pt>
                <c:pt idx="140">
                  <c:v>271</c:v>
                </c:pt>
                <c:pt idx="141">
                  <c:v>279.60000000000002</c:v>
                </c:pt>
                <c:pt idx="142">
                  <c:v>266.75</c:v>
                </c:pt>
                <c:pt idx="143">
                  <c:v>263.25</c:v>
                </c:pt>
                <c:pt idx="144">
                  <c:v>266</c:v>
                </c:pt>
                <c:pt idx="145">
                  <c:v>274.5</c:v>
                </c:pt>
                <c:pt idx="146">
                  <c:v>265.25</c:v>
                </c:pt>
                <c:pt idx="147">
                  <c:v>259.39999999999998</c:v>
                </c:pt>
                <c:pt idx="148">
                  <c:v>263.5</c:v>
                </c:pt>
                <c:pt idx="149">
                  <c:v>250.2</c:v>
                </c:pt>
                <c:pt idx="150">
                  <c:v>258.5</c:v>
                </c:pt>
                <c:pt idx="151">
                  <c:v>245.75</c:v>
                </c:pt>
                <c:pt idx="152">
                  <c:v>252.2</c:v>
                </c:pt>
                <c:pt idx="153">
                  <c:v>244</c:v>
                </c:pt>
                <c:pt idx="154">
                  <c:v>230.25</c:v>
                </c:pt>
                <c:pt idx="155">
                  <c:v>230.2</c:v>
                </c:pt>
                <c:pt idx="156">
                  <c:v>230.75</c:v>
                </c:pt>
                <c:pt idx="157">
                  <c:v>239</c:v>
                </c:pt>
                <c:pt idx="158">
                  <c:v>249.6</c:v>
                </c:pt>
                <c:pt idx="159">
                  <c:v>249.5</c:v>
                </c:pt>
                <c:pt idx="160">
                  <c:v>247.75</c:v>
                </c:pt>
                <c:pt idx="161">
                  <c:v>272.39999999999998</c:v>
                </c:pt>
                <c:pt idx="162">
                  <c:v>242.25</c:v>
                </c:pt>
                <c:pt idx="163">
                  <c:v>247.75</c:v>
                </c:pt>
                <c:pt idx="164">
                  <c:v>242.6</c:v>
                </c:pt>
                <c:pt idx="165">
                  <c:v>235.25</c:v>
                </c:pt>
                <c:pt idx="166">
                  <c:v>221</c:v>
                </c:pt>
                <c:pt idx="167">
                  <c:v>225.8</c:v>
                </c:pt>
                <c:pt idx="168">
                  <c:v>221.5</c:v>
                </c:pt>
                <c:pt idx="169">
                  <c:v>221.25</c:v>
                </c:pt>
                <c:pt idx="170">
                  <c:v>222.6</c:v>
                </c:pt>
                <c:pt idx="171">
                  <c:v>209.5</c:v>
                </c:pt>
                <c:pt idx="172">
                  <c:v>207</c:v>
                </c:pt>
                <c:pt idx="173">
                  <c:v>206.25</c:v>
                </c:pt>
                <c:pt idx="174">
                  <c:v>213</c:v>
                </c:pt>
                <c:pt idx="175">
                  <c:v>226.6</c:v>
                </c:pt>
                <c:pt idx="176">
                  <c:v>222.75</c:v>
                </c:pt>
                <c:pt idx="177">
                  <c:v>222.75</c:v>
                </c:pt>
                <c:pt idx="178">
                  <c:v>222.5</c:v>
                </c:pt>
                <c:pt idx="179">
                  <c:v>211.8</c:v>
                </c:pt>
                <c:pt idx="180">
                  <c:v>209.75</c:v>
                </c:pt>
                <c:pt idx="181">
                  <c:v>219.4</c:v>
                </c:pt>
                <c:pt idx="182">
                  <c:v>225.75</c:v>
                </c:pt>
                <c:pt idx="183">
                  <c:v>208.5</c:v>
                </c:pt>
                <c:pt idx="184">
                  <c:v>211</c:v>
                </c:pt>
                <c:pt idx="185">
                  <c:v>209.5</c:v>
                </c:pt>
                <c:pt idx="186">
                  <c:v>212.25</c:v>
                </c:pt>
                <c:pt idx="187">
                  <c:v>224.4</c:v>
                </c:pt>
                <c:pt idx="188">
                  <c:v>236</c:v>
                </c:pt>
                <c:pt idx="189">
                  <c:v>212.6</c:v>
                </c:pt>
                <c:pt idx="190">
                  <c:v>209.75</c:v>
                </c:pt>
                <c:pt idx="213">
                  <c:v>239.5</c:v>
                </c:pt>
                <c:pt idx="214">
                  <c:v>217.75</c:v>
                </c:pt>
                <c:pt idx="215">
                  <c:v>213.25</c:v>
                </c:pt>
                <c:pt idx="216">
                  <c:v>213.2</c:v>
                </c:pt>
                <c:pt idx="217">
                  <c:v>210.75</c:v>
                </c:pt>
                <c:pt idx="218">
                  <c:v>214.5</c:v>
                </c:pt>
                <c:pt idx="219">
                  <c:v>219.4</c:v>
                </c:pt>
                <c:pt idx="220">
                  <c:v>216.75</c:v>
                </c:pt>
                <c:pt idx="221">
                  <c:v>199</c:v>
                </c:pt>
                <c:pt idx="222">
                  <c:v>202.5</c:v>
                </c:pt>
                <c:pt idx="223">
                  <c:v>210</c:v>
                </c:pt>
                <c:pt idx="224">
                  <c:v>208.4</c:v>
                </c:pt>
                <c:pt idx="225">
                  <c:v>202.75</c:v>
                </c:pt>
                <c:pt idx="226">
                  <c:v>213.5</c:v>
                </c:pt>
                <c:pt idx="227">
                  <c:v>224.8</c:v>
                </c:pt>
                <c:pt idx="228">
                  <c:v>216.75</c:v>
                </c:pt>
                <c:pt idx="229">
                  <c:v>227</c:v>
                </c:pt>
                <c:pt idx="230">
                  <c:v>252.4</c:v>
                </c:pt>
                <c:pt idx="231">
                  <c:v>233.5</c:v>
                </c:pt>
                <c:pt idx="232">
                  <c:v>245.25</c:v>
                </c:pt>
                <c:pt idx="233">
                  <c:v>218.8</c:v>
                </c:pt>
                <c:pt idx="234">
                  <c:v>210.5</c:v>
                </c:pt>
                <c:pt idx="235">
                  <c:v>217.5</c:v>
                </c:pt>
                <c:pt idx="236">
                  <c:v>207.8</c:v>
                </c:pt>
                <c:pt idx="237">
                  <c:v>209.5</c:v>
                </c:pt>
                <c:pt idx="238">
                  <c:v>209.25</c:v>
                </c:pt>
                <c:pt idx="239">
                  <c:v>213.6</c:v>
                </c:pt>
                <c:pt idx="240">
                  <c:v>210.25</c:v>
                </c:pt>
                <c:pt idx="241">
                  <c:v>224.2</c:v>
                </c:pt>
                <c:pt idx="242">
                  <c:v>238.5</c:v>
                </c:pt>
                <c:pt idx="243">
                  <c:v>238</c:v>
                </c:pt>
                <c:pt idx="244">
                  <c:v>230.8</c:v>
                </c:pt>
                <c:pt idx="245">
                  <c:v>224.25</c:v>
                </c:pt>
                <c:pt idx="246">
                  <c:v>237</c:v>
                </c:pt>
                <c:pt idx="247" formatCode="0">
                  <c:v>218.8</c:v>
                </c:pt>
                <c:pt idx="248">
                  <c:v>223.25</c:v>
                </c:pt>
                <c:pt idx="249">
                  <c:v>214</c:v>
                </c:pt>
                <c:pt idx="250" formatCode="0">
                  <c:v>224.25</c:v>
                </c:pt>
                <c:pt idx="251">
                  <c:v>223</c:v>
                </c:pt>
                <c:pt idx="252">
                  <c:v>226</c:v>
                </c:pt>
                <c:pt idx="253">
                  <c:v>233.8</c:v>
                </c:pt>
                <c:pt idx="254">
                  <c:v>241.5</c:v>
                </c:pt>
                <c:pt idx="255">
                  <c:v>221.25</c:v>
                </c:pt>
                <c:pt idx="256">
                  <c:v>230.2</c:v>
                </c:pt>
              </c:numCache>
            </c:numRef>
          </c:val>
          <c:smooth val="0"/>
          <c:extLst>
            <c:ext xmlns:c16="http://schemas.microsoft.com/office/drawing/2014/chart" uri="{C3380CC4-5D6E-409C-BE32-E72D297353CC}">
              <c16:uniqueId val="{00000000-3B29-4254-BA01-7591C84DE67A}"/>
            </c:ext>
          </c:extLst>
        </c:ser>
        <c:dLbls>
          <c:showLegendKey val="0"/>
          <c:showVal val="0"/>
          <c:showCatName val="0"/>
          <c:showSerName val="0"/>
          <c:showPercent val="0"/>
          <c:showBubbleSize val="0"/>
        </c:dLbls>
        <c:marker val="1"/>
        <c:smooth val="0"/>
        <c:axId val="1128918192"/>
        <c:axId val="1128937392"/>
      </c:lineChart>
      <c:lineChart>
        <c:grouping val="standard"/>
        <c:varyColors val="0"/>
        <c:ser>
          <c:idx val="0"/>
          <c:order val="1"/>
          <c:tx>
            <c:strRef>
              <c:f>'3MMA AND MONTHLY AVE'!$B$2</c:f>
              <c:strCache>
                <c:ptCount val="1"/>
                <c:pt idx="0">
                  <c:v>Job Creation (RHS)</c:v>
                </c:pt>
              </c:strCache>
            </c:strRef>
          </c:tx>
          <c:spPr>
            <a:ln w="25400" cap="rnd">
              <a:solidFill>
                <a:sysClr val="window" lastClr="FFFFFF"/>
              </a:solidFill>
              <a:round/>
            </a:ln>
            <a:effectLst/>
          </c:spPr>
          <c:marker>
            <c:symbol val="none"/>
          </c:marker>
          <c:cat>
            <c:numRef>
              <c:f>'3MMA AND MONTHLY AVE'!$A$3:$A$259</c:f>
              <c:numCache>
                <c:formatCode>m/d/yy;@</c:formatCode>
                <c:ptCount val="257"/>
                <c:pt idx="0">
                  <c:v>38107</c:v>
                </c:pt>
                <c:pt idx="1">
                  <c:v>38138</c:v>
                </c:pt>
                <c:pt idx="2">
                  <c:v>38168</c:v>
                </c:pt>
                <c:pt idx="3">
                  <c:v>38199</c:v>
                </c:pt>
                <c:pt idx="4">
                  <c:v>38230</c:v>
                </c:pt>
                <c:pt idx="5">
                  <c:v>38260</c:v>
                </c:pt>
                <c:pt idx="6">
                  <c:v>38291</c:v>
                </c:pt>
                <c:pt idx="7">
                  <c:v>38321</c:v>
                </c:pt>
                <c:pt idx="8">
                  <c:v>38352</c:v>
                </c:pt>
                <c:pt idx="9">
                  <c:v>38383</c:v>
                </c:pt>
                <c:pt idx="10">
                  <c:v>38411</c:v>
                </c:pt>
                <c:pt idx="11">
                  <c:v>38442</c:v>
                </c:pt>
                <c:pt idx="12">
                  <c:v>38472</c:v>
                </c:pt>
                <c:pt idx="13">
                  <c:v>38503</c:v>
                </c:pt>
                <c:pt idx="14">
                  <c:v>38533</c:v>
                </c:pt>
                <c:pt idx="15">
                  <c:v>38564</c:v>
                </c:pt>
                <c:pt idx="16">
                  <c:v>38595</c:v>
                </c:pt>
                <c:pt idx="17">
                  <c:v>38625</c:v>
                </c:pt>
                <c:pt idx="18">
                  <c:v>38656</c:v>
                </c:pt>
                <c:pt idx="19">
                  <c:v>38686</c:v>
                </c:pt>
                <c:pt idx="20">
                  <c:v>38717</c:v>
                </c:pt>
                <c:pt idx="21">
                  <c:v>38748</c:v>
                </c:pt>
                <c:pt idx="22">
                  <c:v>38776</c:v>
                </c:pt>
                <c:pt idx="23">
                  <c:v>38807</c:v>
                </c:pt>
                <c:pt idx="24">
                  <c:v>38837</c:v>
                </c:pt>
                <c:pt idx="25">
                  <c:v>38868</c:v>
                </c:pt>
                <c:pt idx="26">
                  <c:v>38898</c:v>
                </c:pt>
                <c:pt idx="27">
                  <c:v>38929</c:v>
                </c:pt>
                <c:pt idx="28">
                  <c:v>38960</c:v>
                </c:pt>
                <c:pt idx="29">
                  <c:v>38990</c:v>
                </c:pt>
                <c:pt idx="30">
                  <c:v>39021</c:v>
                </c:pt>
                <c:pt idx="31">
                  <c:v>39051</c:v>
                </c:pt>
                <c:pt idx="32">
                  <c:v>39082</c:v>
                </c:pt>
                <c:pt idx="33">
                  <c:v>39113</c:v>
                </c:pt>
                <c:pt idx="34">
                  <c:v>39141</c:v>
                </c:pt>
                <c:pt idx="35">
                  <c:v>39172</c:v>
                </c:pt>
                <c:pt idx="36">
                  <c:v>39202</c:v>
                </c:pt>
                <c:pt idx="37">
                  <c:v>39233</c:v>
                </c:pt>
                <c:pt idx="38">
                  <c:v>39263</c:v>
                </c:pt>
                <c:pt idx="39">
                  <c:v>39294</c:v>
                </c:pt>
                <c:pt idx="40">
                  <c:v>39325</c:v>
                </c:pt>
                <c:pt idx="41">
                  <c:v>39355</c:v>
                </c:pt>
                <c:pt idx="42">
                  <c:v>39386</c:v>
                </c:pt>
                <c:pt idx="43">
                  <c:v>39416</c:v>
                </c:pt>
                <c:pt idx="44">
                  <c:v>39447</c:v>
                </c:pt>
                <c:pt idx="45">
                  <c:v>39478</c:v>
                </c:pt>
                <c:pt idx="46">
                  <c:v>39507</c:v>
                </c:pt>
                <c:pt idx="47">
                  <c:v>39538</c:v>
                </c:pt>
                <c:pt idx="48">
                  <c:v>39568</c:v>
                </c:pt>
                <c:pt idx="49">
                  <c:v>39599</c:v>
                </c:pt>
                <c:pt idx="50">
                  <c:v>39629</c:v>
                </c:pt>
                <c:pt idx="51">
                  <c:v>39660</c:v>
                </c:pt>
                <c:pt idx="52">
                  <c:v>39691</c:v>
                </c:pt>
                <c:pt idx="53">
                  <c:v>39721</c:v>
                </c:pt>
                <c:pt idx="54">
                  <c:v>39752</c:v>
                </c:pt>
                <c:pt idx="55">
                  <c:v>39782</c:v>
                </c:pt>
                <c:pt idx="56">
                  <c:v>39813</c:v>
                </c:pt>
                <c:pt idx="57">
                  <c:v>39844</c:v>
                </c:pt>
                <c:pt idx="58">
                  <c:v>39872</c:v>
                </c:pt>
                <c:pt idx="59">
                  <c:v>39903</c:v>
                </c:pt>
                <c:pt idx="60">
                  <c:v>39933</c:v>
                </c:pt>
                <c:pt idx="61">
                  <c:v>39964</c:v>
                </c:pt>
                <c:pt idx="62">
                  <c:v>39994</c:v>
                </c:pt>
                <c:pt idx="63">
                  <c:v>40025</c:v>
                </c:pt>
                <c:pt idx="64">
                  <c:v>40056</c:v>
                </c:pt>
                <c:pt idx="65">
                  <c:v>40086</c:v>
                </c:pt>
                <c:pt idx="66">
                  <c:v>40117</c:v>
                </c:pt>
                <c:pt idx="67">
                  <c:v>40147</c:v>
                </c:pt>
                <c:pt idx="68">
                  <c:v>40178</c:v>
                </c:pt>
                <c:pt idx="69">
                  <c:v>40209</c:v>
                </c:pt>
                <c:pt idx="70">
                  <c:v>40237</c:v>
                </c:pt>
                <c:pt idx="71">
                  <c:v>40268</c:v>
                </c:pt>
                <c:pt idx="72">
                  <c:v>40298</c:v>
                </c:pt>
                <c:pt idx="73">
                  <c:v>40329</c:v>
                </c:pt>
                <c:pt idx="74">
                  <c:v>40359</c:v>
                </c:pt>
                <c:pt idx="75">
                  <c:v>40390</c:v>
                </c:pt>
                <c:pt idx="76">
                  <c:v>40421</c:v>
                </c:pt>
                <c:pt idx="77">
                  <c:v>40451</c:v>
                </c:pt>
                <c:pt idx="78">
                  <c:v>40482</c:v>
                </c:pt>
                <c:pt idx="79">
                  <c:v>40512</c:v>
                </c:pt>
                <c:pt idx="80">
                  <c:v>40543</c:v>
                </c:pt>
                <c:pt idx="81">
                  <c:v>40574</c:v>
                </c:pt>
                <c:pt idx="82">
                  <c:v>40602</c:v>
                </c:pt>
                <c:pt idx="83">
                  <c:v>40633</c:v>
                </c:pt>
                <c:pt idx="84">
                  <c:v>40663</c:v>
                </c:pt>
                <c:pt idx="85">
                  <c:v>40694</c:v>
                </c:pt>
                <c:pt idx="86">
                  <c:v>40724</c:v>
                </c:pt>
                <c:pt idx="87">
                  <c:v>40755</c:v>
                </c:pt>
                <c:pt idx="88">
                  <c:v>40786</c:v>
                </c:pt>
                <c:pt idx="89">
                  <c:v>40816</c:v>
                </c:pt>
                <c:pt idx="90">
                  <c:v>40847</c:v>
                </c:pt>
                <c:pt idx="91">
                  <c:v>40877</c:v>
                </c:pt>
                <c:pt idx="92">
                  <c:v>40908</c:v>
                </c:pt>
                <c:pt idx="93">
                  <c:v>40939</c:v>
                </c:pt>
                <c:pt idx="94">
                  <c:v>40968</c:v>
                </c:pt>
                <c:pt idx="95">
                  <c:v>40999</c:v>
                </c:pt>
                <c:pt idx="96">
                  <c:v>41029</c:v>
                </c:pt>
                <c:pt idx="97">
                  <c:v>41060</c:v>
                </c:pt>
                <c:pt idx="98">
                  <c:v>41090</c:v>
                </c:pt>
                <c:pt idx="99">
                  <c:v>41121</c:v>
                </c:pt>
                <c:pt idx="100">
                  <c:v>41152</c:v>
                </c:pt>
                <c:pt idx="101">
                  <c:v>41182</c:v>
                </c:pt>
                <c:pt idx="102">
                  <c:v>41213</c:v>
                </c:pt>
                <c:pt idx="103">
                  <c:v>41243</c:v>
                </c:pt>
                <c:pt idx="104">
                  <c:v>41274</c:v>
                </c:pt>
                <c:pt idx="105">
                  <c:v>41305</c:v>
                </c:pt>
                <c:pt idx="106">
                  <c:v>41333</c:v>
                </c:pt>
                <c:pt idx="107">
                  <c:v>41364</c:v>
                </c:pt>
                <c:pt idx="108">
                  <c:v>41394</c:v>
                </c:pt>
                <c:pt idx="109">
                  <c:v>41425</c:v>
                </c:pt>
                <c:pt idx="110">
                  <c:v>41455</c:v>
                </c:pt>
                <c:pt idx="111">
                  <c:v>41486</c:v>
                </c:pt>
                <c:pt idx="112">
                  <c:v>41517</c:v>
                </c:pt>
                <c:pt idx="113">
                  <c:v>41547</c:v>
                </c:pt>
                <c:pt idx="114">
                  <c:v>41578</c:v>
                </c:pt>
                <c:pt idx="115">
                  <c:v>41608</c:v>
                </c:pt>
                <c:pt idx="116">
                  <c:v>41639</c:v>
                </c:pt>
                <c:pt idx="117">
                  <c:v>41670</c:v>
                </c:pt>
                <c:pt idx="118">
                  <c:v>41698</c:v>
                </c:pt>
                <c:pt idx="119">
                  <c:v>41729</c:v>
                </c:pt>
                <c:pt idx="120">
                  <c:v>41759</c:v>
                </c:pt>
                <c:pt idx="121">
                  <c:v>41790</c:v>
                </c:pt>
                <c:pt idx="122">
                  <c:v>41820</c:v>
                </c:pt>
                <c:pt idx="123">
                  <c:v>41851</c:v>
                </c:pt>
                <c:pt idx="124">
                  <c:v>41882</c:v>
                </c:pt>
                <c:pt idx="125">
                  <c:v>41912</c:v>
                </c:pt>
                <c:pt idx="126">
                  <c:v>41943</c:v>
                </c:pt>
                <c:pt idx="127">
                  <c:v>41973</c:v>
                </c:pt>
                <c:pt idx="128">
                  <c:v>42004</c:v>
                </c:pt>
                <c:pt idx="129">
                  <c:v>42035</c:v>
                </c:pt>
                <c:pt idx="130">
                  <c:v>42063</c:v>
                </c:pt>
                <c:pt idx="131">
                  <c:v>42094</c:v>
                </c:pt>
                <c:pt idx="132">
                  <c:v>42124</c:v>
                </c:pt>
                <c:pt idx="133">
                  <c:v>42155</c:v>
                </c:pt>
                <c:pt idx="134">
                  <c:v>42185</c:v>
                </c:pt>
                <c:pt idx="135">
                  <c:v>42216</c:v>
                </c:pt>
                <c:pt idx="136">
                  <c:v>42247</c:v>
                </c:pt>
                <c:pt idx="137">
                  <c:v>42277</c:v>
                </c:pt>
                <c:pt idx="138">
                  <c:v>42308</c:v>
                </c:pt>
                <c:pt idx="139">
                  <c:v>42338</c:v>
                </c:pt>
                <c:pt idx="140">
                  <c:v>42369</c:v>
                </c:pt>
                <c:pt idx="141">
                  <c:v>42400</c:v>
                </c:pt>
                <c:pt idx="142">
                  <c:v>42429</c:v>
                </c:pt>
                <c:pt idx="143">
                  <c:v>42460</c:v>
                </c:pt>
                <c:pt idx="144">
                  <c:v>42490</c:v>
                </c:pt>
                <c:pt idx="145">
                  <c:v>42521</c:v>
                </c:pt>
                <c:pt idx="146">
                  <c:v>42551</c:v>
                </c:pt>
                <c:pt idx="147">
                  <c:v>42582</c:v>
                </c:pt>
                <c:pt idx="148">
                  <c:v>42613</c:v>
                </c:pt>
                <c:pt idx="149">
                  <c:v>42643</c:v>
                </c:pt>
                <c:pt idx="150">
                  <c:v>42674</c:v>
                </c:pt>
                <c:pt idx="151">
                  <c:v>42704</c:v>
                </c:pt>
                <c:pt idx="152">
                  <c:v>42735</c:v>
                </c:pt>
                <c:pt idx="153">
                  <c:v>42766</c:v>
                </c:pt>
                <c:pt idx="154">
                  <c:v>42794</c:v>
                </c:pt>
                <c:pt idx="155">
                  <c:v>42825</c:v>
                </c:pt>
                <c:pt idx="156">
                  <c:v>42855</c:v>
                </c:pt>
                <c:pt idx="157">
                  <c:v>42886</c:v>
                </c:pt>
                <c:pt idx="158">
                  <c:v>42916</c:v>
                </c:pt>
                <c:pt idx="159">
                  <c:v>42947</c:v>
                </c:pt>
                <c:pt idx="160">
                  <c:v>42978</c:v>
                </c:pt>
                <c:pt idx="161">
                  <c:v>43008</c:v>
                </c:pt>
                <c:pt idx="162">
                  <c:v>43039</c:v>
                </c:pt>
                <c:pt idx="163">
                  <c:v>43069</c:v>
                </c:pt>
                <c:pt idx="164">
                  <c:v>43100</c:v>
                </c:pt>
                <c:pt idx="165">
                  <c:v>43131</c:v>
                </c:pt>
                <c:pt idx="166">
                  <c:v>43159</c:v>
                </c:pt>
                <c:pt idx="167">
                  <c:v>43190</c:v>
                </c:pt>
                <c:pt idx="168">
                  <c:v>43220</c:v>
                </c:pt>
                <c:pt idx="169">
                  <c:v>43251</c:v>
                </c:pt>
                <c:pt idx="170">
                  <c:v>43281</c:v>
                </c:pt>
                <c:pt idx="171">
                  <c:v>43312</c:v>
                </c:pt>
                <c:pt idx="172">
                  <c:v>43343</c:v>
                </c:pt>
                <c:pt idx="173">
                  <c:v>43373</c:v>
                </c:pt>
                <c:pt idx="174">
                  <c:v>43404</c:v>
                </c:pt>
                <c:pt idx="175">
                  <c:v>43434</c:v>
                </c:pt>
                <c:pt idx="176">
                  <c:v>43465</c:v>
                </c:pt>
                <c:pt idx="177">
                  <c:v>43496</c:v>
                </c:pt>
                <c:pt idx="178">
                  <c:v>43524</c:v>
                </c:pt>
                <c:pt idx="179">
                  <c:v>43555</c:v>
                </c:pt>
                <c:pt idx="180">
                  <c:v>43585</c:v>
                </c:pt>
                <c:pt idx="181">
                  <c:v>43616</c:v>
                </c:pt>
                <c:pt idx="182">
                  <c:v>43646</c:v>
                </c:pt>
                <c:pt idx="183">
                  <c:v>43677</c:v>
                </c:pt>
                <c:pt idx="184">
                  <c:v>43708</c:v>
                </c:pt>
                <c:pt idx="185">
                  <c:v>43738</c:v>
                </c:pt>
                <c:pt idx="186">
                  <c:v>43769</c:v>
                </c:pt>
                <c:pt idx="187">
                  <c:v>43799</c:v>
                </c:pt>
                <c:pt idx="188">
                  <c:v>43830</c:v>
                </c:pt>
                <c:pt idx="189">
                  <c:v>43861</c:v>
                </c:pt>
                <c:pt idx="190">
                  <c:v>43890</c:v>
                </c:pt>
                <c:pt idx="191">
                  <c:v>43921</c:v>
                </c:pt>
                <c:pt idx="192">
                  <c:v>43951</c:v>
                </c:pt>
                <c:pt idx="193">
                  <c:v>43982</c:v>
                </c:pt>
                <c:pt idx="194">
                  <c:v>44012</c:v>
                </c:pt>
                <c:pt idx="195">
                  <c:v>44043</c:v>
                </c:pt>
                <c:pt idx="196">
                  <c:v>44074</c:v>
                </c:pt>
                <c:pt idx="197">
                  <c:v>44104</c:v>
                </c:pt>
                <c:pt idx="198">
                  <c:v>44135</c:v>
                </c:pt>
                <c:pt idx="199">
                  <c:v>44165</c:v>
                </c:pt>
                <c:pt idx="200">
                  <c:v>44196</c:v>
                </c:pt>
                <c:pt idx="201">
                  <c:v>44227</c:v>
                </c:pt>
                <c:pt idx="202">
                  <c:v>44255</c:v>
                </c:pt>
                <c:pt idx="203">
                  <c:v>44286</c:v>
                </c:pt>
                <c:pt idx="204">
                  <c:v>44316</c:v>
                </c:pt>
                <c:pt idx="205">
                  <c:v>44347</c:v>
                </c:pt>
                <c:pt idx="206">
                  <c:v>44377</c:v>
                </c:pt>
                <c:pt idx="207">
                  <c:v>44408</c:v>
                </c:pt>
                <c:pt idx="208">
                  <c:v>44439</c:v>
                </c:pt>
                <c:pt idx="209">
                  <c:v>44469</c:v>
                </c:pt>
                <c:pt idx="210">
                  <c:v>44500</c:v>
                </c:pt>
                <c:pt idx="211">
                  <c:v>44530</c:v>
                </c:pt>
                <c:pt idx="212">
                  <c:v>44561</c:v>
                </c:pt>
                <c:pt idx="213">
                  <c:v>44592</c:v>
                </c:pt>
                <c:pt idx="214">
                  <c:v>44620</c:v>
                </c:pt>
                <c:pt idx="215">
                  <c:v>44651</c:v>
                </c:pt>
                <c:pt idx="216">
                  <c:v>44681</c:v>
                </c:pt>
                <c:pt idx="217">
                  <c:v>44712</c:v>
                </c:pt>
                <c:pt idx="218">
                  <c:v>44742</c:v>
                </c:pt>
                <c:pt idx="219">
                  <c:v>44773</c:v>
                </c:pt>
                <c:pt idx="220">
                  <c:v>44804</c:v>
                </c:pt>
                <c:pt idx="221">
                  <c:v>44834</c:v>
                </c:pt>
                <c:pt idx="222">
                  <c:v>44865</c:v>
                </c:pt>
                <c:pt idx="223">
                  <c:v>44895</c:v>
                </c:pt>
                <c:pt idx="224">
                  <c:v>44926</c:v>
                </c:pt>
                <c:pt idx="225">
                  <c:v>44957</c:v>
                </c:pt>
                <c:pt idx="226">
                  <c:v>44985</c:v>
                </c:pt>
                <c:pt idx="227">
                  <c:v>45016</c:v>
                </c:pt>
                <c:pt idx="228">
                  <c:v>45046</c:v>
                </c:pt>
                <c:pt idx="229">
                  <c:v>45077</c:v>
                </c:pt>
                <c:pt idx="230">
                  <c:v>45107</c:v>
                </c:pt>
                <c:pt idx="231">
                  <c:v>45138</c:v>
                </c:pt>
                <c:pt idx="232">
                  <c:v>45169</c:v>
                </c:pt>
                <c:pt idx="233">
                  <c:v>45199</c:v>
                </c:pt>
                <c:pt idx="234">
                  <c:v>45230</c:v>
                </c:pt>
                <c:pt idx="235">
                  <c:v>45260</c:v>
                </c:pt>
                <c:pt idx="236">
                  <c:v>45291</c:v>
                </c:pt>
                <c:pt idx="237">
                  <c:v>45322</c:v>
                </c:pt>
                <c:pt idx="238">
                  <c:v>45351</c:v>
                </c:pt>
                <c:pt idx="239">
                  <c:v>45382</c:v>
                </c:pt>
                <c:pt idx="240">
                  <c:v>45412</c:v>
                </c:pt>
                <c:pt idx="241">
                  <c:v>45443</c:v>
                </c:pt>
                <c:pt idx="242">
                  <c:v>45473</c:v>
                </c:pt>
                <c:pt idx="243">
                  <c:v>45504</c:v>
                </c:pt>
                <c:pt idx="244">
                  <c:v>45535</c:v>
                </c:pt>
                <c:pt idx="245">
                  <c:v>45565</c:v>
                </c:pt>
                <c:pt idx="246">
                  <c:v>45596</c:v>
                </c:pt>
                <c:pt idx="247">
                  <c:v>45626</c:v>
                </c:pt>
                <c:pt idx="248">
                  <c:v>45657</c:v>
                </c:pt>
                <c:pt idx="249">
                  <c:v>45688</c:v>
                </c:pt>
                <c:pt idx="250">
                  <c:v>45716</c:v>
                </c:pt>
                <c:pt idx="251">
                  <c:v>45747</c:v>
                </c:pt>
                <c:pt idx="252">
                  <c:v>45777</c:v>
                </c:pt>
                <c:pt idx="253">
                  <c:v>45808</c:v>
                </c:pt>
                <c:pt idx="254">
                  <c:v>45838</c:v>
                </c:pt>
                <c:pt idx="255">
                  <c:v>45869</c:v>
                </c:pt>
                <c:pt idx="256">
                  <c:v>45900</c:v>
                </c:pt>
              </c:numCache>
            </c:numRef>
          </c:cat>
          <c:val>
            <c:numRef>
              <c:f>'3MMA AND MONTHLY AVE'!$B$3:$B$259</c:f>
              <c:numCache>
                <c:formatCode>General</c:formatCode>
                <c:ptCount val="257"/>
                <c:pt idx="0">
                  <c:v>219</c:v>
                </c:pt>
                <c:pt idx="1">
                  <c:v>292</c:v>
                </c:pt>
                <c:pt idx="2">
                  <c:v>218</c:v>
                </c:pt>
                <c:pt idx="3">
                  <c:v>147</c:v>
                </c:pt>
                <c:pt idx="4">
                  <c:v>81</c:v>
                </c:pt>
                <c:pt idx="5">
                  <c:v>99</c:v>
                </c:pt>
                <c:pt idx="6">
                  <c:v>193</c:v>
                </c:pt>
                <c:pt idx="7">
                  <c:v>188</c:v>
                </c:pt>
                <c:pt idx="8">
                  <c:v>179</c:v>
                </c:pt>
                <c:pt idx="9">
                  <c:v>117</c:v>
                </c:pt>
                <c:pt idx="10">
                  <c:v>176</c:v>
                </c:pt>
                <c:pt idx="11">
                  <c:v>174</c:v>
                </c:pt>
                <c:pt idx="12">
                  <c:v>246</c:v>
                </c:pt>
                <c:pt idx="13">
                  <c:v>219</c:v>
                </c:pt>
                <c:pt idx="14">
                  <c:v>265</c:v>
                </c:pt>
                <c:pt idx="15">
                  <c:v>260</c:v>
                </c:pt>
                <c:pt idx="16">
                  <c:v>271</c:v>
                </c:pt>
                <c:pt idx="17">
                  <c:v>202</c:v>
                </c:pt>
                <c:pt idx="18">
                  <c:v>114</c:v>
                </c:pt>
                <c:pt idx="19">
                  <c:v>165</c:v>
                </c:pt>
                <c:pt idx="20">
                  <c:v>201</c:v>
                </c:pt>
                <c:pt idx="21">
                  <c:v>261</c:v>
                </c:pt>
                <c:pt idx="22">
                  <c:v>244</c:v>
                </c:pt>
                <c:pt idx="23">
                  <c:v>293</c:v>
                </c:pt>
                <c:pt idx="24">
                  <c:v>261</c:v>
                </c:pt>
                <c:pt idx="25">
                  <c:v>173</c:v>
                </c:pt>
                <c:pt idx="26">
                  <c:v>100</c:v>
                </c:pt>
                <c:pt idx="27">
                  <c:v>107</c:v>
                </c:pt>
                <c:pt idx="28">
                  <c:v>148</c:v>
                </c:pt>
                <c:pt idx="29">
                  <c:v>165</c:v>
                </c:pt>
                <c:pt idx="30">
                  <c:v>106</c:v>
                </c:pt>
                <c:pt idx="31">
                  <c:v>123</c:v>
                </c:pt>
                <c:pt idx="32">
                  <c:v>140</c:v>
                </c:pt>
                <c:pt idx="33">
                  <c:v>209</c:v>
                </c:pt>
                <c:pt idx="34">
                  <c:v>166</c:v>
                </c:pt>
                <c:pt idx="35">
                  <c:v>178</c:v>
                </c:pt>
                <c:pt idx="36">
                  <c:v>124</c:v>
                </c:pt>
                <c:pt idx="37">
                  <c:v>145</c:v>
                </c:pt>
                <c:pt idx="38">
                  <c:v>96</c:v>
                </c:pt>
                <c:pt idx="39">
                  <c:v>66</c:v>
                </c:pt>
                <c:pt idx="40">
                  <c:v>7</c:v>
                </c:pt>
                <c:pt idx="41">
                  <c:v>11</c:v>
                </c:pt>
                <c:pt idx="42">
                  <c:v>44</c:v>
                </c:pt>
                <c:pt idx="43">
                  <c:v>93</c:v>
                </c:pt>
                <c:pt idx="44">
                  <c:v>98</c:v>
                </c:pt>
                <c:pt idx="45">
                  <c:v>71</c:v>
                </c:pt>
                <c:pt idx="46">
                  <c:v>12</c:v>
                </c:pt>
                <c:pt idx="47">
                  <c:v>-46</c:v>
                </c:pt>
                <c:pt idx="48">
                  <c:v>-118</c:v>
                </c:pt>
                <c:pt idx="49">
                  <c:v>-159</c:v>
                </c:pt>
                <c:pt idx="50">
                  <c:v>-186</c:v>
                </c:pt>
                <c:pt idx="51">
                  <c:v>-180</c:v>
                </c:pt>
                <c:pt idx="52">
                  <c:v>-213</c:v>
                </c:pt>
                <c:pt idx="53">
                  <c:v>-312</c:v>
                </c:pt>
                <c:pt idx="54">
                  <c:v>-402</c:v>
                </c:pt>
                <c:pt idx="55">
                  <c:v>-556</c:v>
                </c:pt>
                <c:pt idx="56">
                  <c:v>-638</c:v>
                </c:pt>
                <c:pt idx="57">
                  <c:v>-738</c:v>
                </c:pt>
                <c:pt idx="58">
                  <c:v>-742</c:v>
                </c:pt>
                <c:pt idx="59">
                  <c:v>-785</c:v>
                </c:pt>
                <c:pt idx="60">
                  <c:v>-752</c:v>
                </c:pt>
                <c:pt idx="61">
                  <c:v>-616</c:v>
                </c:pt>
                <c:pt idx="62">
                  <c:v>-495</c:v>
                </c:pt>
                <c:pt idx="63">
                  <c:v>-386</c:v>
                </c:pt>
                <c:pt idx="64">
                  <c:v>-332</c:v>
                </c:pt>
                <c:pt idx="65">
                  <c:v>-253</c:v>
                </c:pt>
                <c:pt idx="66">
                  <c:v>-200</c:v>
                </c:pt>
                <c:pt idx="67">
                  <c:v>-138</c:v>
                </c:pt>
                <c:pt idx="68">
                  <c:v>-146</c:v>
                </c:pt>
                <c:pt idx="69">
                  <c:v>-87</c:v>
                </c:pt>
                <c:pt idx="70">
                  <c:v>-118</c:v>
                </c:pt>
                <c:pt idx="71">
                  <c:v>19</c:v>
                </c:pt>
                <c:pt idx="72">
                  <c:v>106</c:v>
                </c:pt>
                <c:pt idx="73">
                  <c:v>313</c:v>
                </c:pt>
                <c:pt idx="74">
                  <c:v>215</c:v>
                </c:pt>
                <c:pt idx="75">
                  <c:v>98</c:v>
                </c:pt>
                <c:pt idx="76">
                  <c:v>-76</c:v>
                </c:pt>
                <c:pt idx="77">
                  <c:v>-56</c:v>
                </c:pt>
                <c:pt idx="78">
                  <c:v>69</c:v>
                </c:pt>
                <c:pt idx="79">
                  <c:v>111</c:v>
                </c:pt>
                <c:pt idx="80">
                  <c:v>163</c:v>
                </c:pt>
                <c:pt idx="81">
                  <c:v>72</c:v>
                </c:pt>
                <c:pt idx="82">
                  <c:v>102</c:v>
                </c:pt>
                <c:pt idx="83">
                  <c:v>151</c:v>
                </c:pt>
                <c:pt idx="84">
                  <c:v>253</c:v>
                </c:pt>
                <c:pt idx="85">
                  <c:v>216</c:v>
                </c:pt>
                <c:pt idx="86">
                  <c:v>216</c:v>
                </c:pt>
                <c:pt idx="87">
                  <c:v>132</c:v>
                </c:pt>
                <c:pt idx="88">
                  <c:v>140</c:v>
                </c:pt>
                <c:pt idx="89">
                  <c:v>138</c:v>
                </c:pt>
                <c:pt idx="90">
                  <c:v>187</c:v>
                </c:pt>
                <c:pt idx="91">
                  <c:v>188</c:v>
                </c:pt>
                <c:pt idx="92">
                  <c:v>181</c:v>
                </c:pt>
                <c:pt idx="93">
                  <c:v>231</c:v>
                </c:pt>
                <c:pt idx="94">
                  <c:v>273</c:v>
                </c:pt>
                <c:pt idx="95">
                  <c:v>287</c:v>
                </c:pt>
                <c:pt idx="96">
                  <c:v>193</c:v>
                </c:pt>
                <c:pt idx="97">
                  <c:v>142</c:v>
                </c:pt>
                <c:pt idx="98">
                  <c:v>88</c:v>
                </c:pt>
                <c:pt idx="99">
                  <c:v>111</c:v>
                </c:pt>
                <c:pt idx="100">
                  <c:v>135</c:v>
                </c:pt>
                <c:pt idx="101">
                  <c:v>168</c:v>
                </c:pt>
                <c:pt idx="102">
                  <c:v>170</c:v>
                </c:pt>
                <c:pt idx="103">
                  <c:v>162</c:v>
                </c:pt>
                <c:pt idx="104">
                  <c:v>186</c:v>
                </c:pt>
                <c:pt idx="105">
                  <c:v>196</c:v>
                </c:pt>
                <c:pt idx="106">
                  <c:v>240</c:v>
                </c:pt>
                <c:pt idx="107">
                  <c:v>205</c:v>
                </c:pt>
                <c:pt idx="108">
                  <c:v>205</c:v>
                </c:pt>
                <c:pt idx="109">
                  <c:v>183</c:v>
                </c:pt>
                <c:pt idx="110">
                  <c:v>197</c:v>
                </c:pt>
                <c:pt idx="111">
                  <c:v>173</c:v>
                </c:pt>
                <c:pt idx="112">
                  <c:v>184</c:v>
                </c:pt>
                <c:pt idx="113">
                  <c:v>181</c:v>
                </c:pt>
                <c:pt idx="114">
                  <c:v>217</c:v>
                </c:pt>
                <c:pt idx="115">
                  <c:v>223</c:v>
                </c:pt>
                <c:pt idx="116">
                  <c:v>184</c:v>
                </c:pt>
                <c:pt idx="117">
                  <c:v>173</c:v>
                </c:pt>
                <c:pt idx="118">
                  <c:v>132</c:v>
                </c:pt>
                <c:pt idx="119">
                  <c:v>204</c:v>
                </c:pt>
                <c:pt idx="120">
                  <c:v>245</c:v>
                </c:pt>
                <c:pt idx="121">
                  <c:v>267</c:v>
                </c:pt>
                <c:pt idx="122">
                  <c:v>288</c:v>
                </c:pt>
                <c:pt idx="123">
                  <c:v>259</c:v>
                </c:pt>
                <c:pt idx="124">
                  <c:v>252</c:v>
                </c:pt>
                <c:pt idx="125">
                  <c:v>238</c:v>
                </c:pt>
                <c:pt idx="126">
                  <c:v>241</c:v>
                </c:pt>
                <c:pt idx="127">
                  <c:v>274</c:v>
                </c:pt>
                <c:pt idx="128">
                  <c:v>267</c:v>
                </c:pt>
                <c:pt idx="129">
                  <c:v>257</c:v>
                </c:pt>
                <c:pt idx="130">
                  <c:v>246</c:v>
                </c:pt>
                <c:pt idx="131">
                  <c:v>186</c:v>
                </c:pt>
                <c:pt idx="132">
                  <c:v>209</c:v>
                </c:pt>
                <c:pt idx="133">
                  <c:v>237</c:v>
                </c:pt>
                <c:pt idx="134">
                  <c:v>262</c:v>
                </c:pt>
                <c:pt idx="135">
                  <c:v>265</c:v>
                </c:pt>
                <c:pt idx="136">
                  <c:v>196</c:v>
                </c:pt>
                <c:pt idx="137">
                  <c:v>189</c:v>
                </c:pt>
                <c:pt idx="138">
                  <c:v>196</c:v>
                </c:pt>
                <c:pt idx="139">
                  <c:v>228</c:v>
                </c:pt>
                <c:pt idx="140">
                  <c:v>267</c:v>
                </c:pt>
                <c:pt idx="141">
                  <c:v>210</c:v>
                </c:pt>
                <c:pt idx="142">
                  <c:v>200</c:v>
                </c:pt>
                <c:pt idx="143">
                  <c:v>195</c:v>
                </c:pt>
                <c:pt idx="144">
                  <c:v>215</c:v>
                </c:pt>
                <c:pt idx="145">
                  <c:v>164</c:v>
                </c:pt>
                <c:pt idx="146">
                  <c:v>161</c:v>
                </c:pt>
                <c:pt idx="147">
                  <c:v>222</c:v>
                </c:pt>
                <c:pt idx="148">
                  <c:v>254</c:v>
                </c:pt>
                <c:pt idx="149">
                  <c:v>274</c:v>
                </c:pt>
                <c:pt idx="150">
                  <c:v>182</c:v>
                </c:pt>
                <c:pt idx="151">
                  <c:v>174</c:v>
                </c:pt>
                <c:pt idx="152">
                  <c:v>147</c:v>
                </c:pt>
                <c:pt idx="153">
                  <c:v>187</c:v>
                </c:pt>
                <c:pt idx="154">
                  <c:v>222</c:v>
                </c:pt>
                <c:pt idx="155">
                  <c:v>187</c:v>
                </c:pt>
                <c:pt idx="156">
                  <c:v>182</c:v>
                </c:pt>
                <c:pt idx="157">
                  <c:v>177</c:v>
                </c:pt>
                <c:pt idx="158">
                  <c:v>205</c:v>
                </c:pt>
                <c:pt idx="159">
                  <c:v>199</c:v>
                </c:pt>
                <c:pt idx="160">
                  <c:v>180</c:v>
                </c:pt>
                <c:pt idx="161">
                  <c:v>141</c:v>
                </c:pt>
                <c:pt idx="162">
                  <c:v>126</c:v>
                </c:pt>
                <c:pt idx="163">
                  <c:v>151</c:v>
                </c:pt>
                <c:pt idx="164">
                  <c:v>172</c:v>
                </c:pt>
                <c:pt idx="165">
                  <c:v>170</c:v>
                </c:pt>
                <c:pt idx="166">
                  <c:v>227</c:v>
                </c:pt>
                <c:pt idx="167">
                  <c:v>252</c:v>
                </c:pt>
                <c:pt idx="168">
                  <c:v>254</c:v>
                </c:pt>
                <c:pt idx="169">
                  <c:v>229</c:v>
                </c:pt>
                <c:pt idx="170">
                  <c:v>226</c:v>
                </c:pt>
                <c:pt idx="171">
                  <c:v>199</c:v>
                </c:pt>
                <c:pt idx="172">
                  <c:v>180</c:v>
                </c:pt>
                <c:pt idx="173">
                  <c:v>133</c:v>
                </c:pt>
                <c:pt idx="174">
                  <c:v>169</c:v>
                </c:pt>
                <c:pt idx="175">
                  <c:v>113</c:v>
                </c:pt>
                <c:pt idx="176">
                  <c:v>150</c:v>
                </c:pt>
                <c:pt idx="177">
                  <c:v>178</c:v>
                </c:pt>
                <c:pt idx="178">
                  <c:v>149</c:v>
                </c:pt>
                <c:pt idx="179">
                  <c:v>162</c:v>
                </c:pt>
                <c:pt idx="180">
                  <c:v>178</c:v>
                </c:pt>
                <c:pt idx="181">
                  <c:v>185</c:v>
                </c:pt>
                <c:pt idx="182">
                  <c:v>181</c:v>
                </c:pt>
                <c:pt idx="183">
                  <c:v>114</c:v>
                </c:pt>
                <c:pt idx="184">
                  <c:v>183</c:v>
                </c:pt>
                <c:pt idx="185">
                  <c:v>175</c:v>
                </c:pt>
                <c:pt idx="186">
                  <c:v>175</c:v>
                </c:pt>
                <c:pt idx="187">
                  <c:v>166</c:v>
                </c:pt>
                <c:pt idx="188">
                  <c:v>143</c:v>
                </c:pt>
                <c:pt idx="189">
                  <c:v>190</c:v>
                </c:pt>
                <c:pt idx="190">
                  <c:v>208</c:v>
                </c:pt>
                <c:pt idx="213">
                  <c:v>479</c:v>
                </c:pt>
                <c:pt idx="214">
                  <c:v>556</c:v>
                </c:pt>
                <c:pt idx="215">
                  <c:v>522</c:v>
                </c:pt>
                <c:pt idx="216">
                  <c:v>548</c:v>
                </c:pt>
                <c:pt idx="217">
                  <c:v>339</c:v>
                </c:pt>
                <c:pt idx="218">
                  <c:v>336</c:v>
                </c:pt>
                <c:pt idx="219">
                  <c:v>466</c:v>
                </c:pt>
                <c:pt idx="220">
                  <c:v>465</c:v>
                </c:pt>
                <c:pt idx="221">
                  <c:v>387</c:v>
                </c:pt>
                <c:pt idx="222">
                  <c:v>288</c:v>
                </c:pt>
                <c:pt idx="223">
                  <c:v>308</c:v>
                </c:pt>
                <c:pt idx="224">
                  <c:v>274</c:v>
                </c:pt>
                <c:pt idx="225">
                  <c:v>289</c:v>
                </c:pt>
                <c:pt idx="226">
                  <c:v>292</c:v>
                </c:pt>
                <c:pt idx="227">
                  <c:v>278</c:v>
                </c:pt>
                <c:pt idx="228">
                  <c:v>202</c:v>
                </c:pt>
                <c:pt idx="229">
                  <c:v>176</c:v>
                </c:pt>
                <c:pt idx="230">
                  <c:v>233</c:v>
                </c:pt>
                <c:pt idx="231">
                  <c:v>211</c:v>
                </c:pt>
                <c:pt idx="232">
                  <c:v>187</c:v>
                </c:pt>
                <c:pt idx="233">
                  <c:v>154</c:v>
                </c:pt>
                <c:pt idx="234">
                  <c:v>167</c:v>
                </c:pt>
                <c:pt idx="235">
                  <c:v>162</c:v>
                </c:pt>
                <c:pt idx="236">
                  <c:v>199</c:v>
                </c:pt>
                <c:pt idx="237">
                  <c:v>176</c:v>
                </c:pt>
                <c:pt idx="238">
                  <c:v>203</c:v>
                </c:pt>
                <c:pt idx="239">
                  <c:v>196</c:v>
                </c:pt>
                <c:pt idx="240">
                  <c:v>195</c:v>
                </c:pt>
                <c:pt idx="241">
                  <c:v>186</c:v>
                </c:pt>
                <c:pt idx="242">
                  <c:v>133</c:v>
                </c:pt>
                <c:pt idx="243">
                  <c:v>123</c:v>
                </c:pt>
                <c:pt idx="244">
                  <c:v>82</c:v>
                </c:pt>
                <c:pt idx="245">
                  <c:v>133</c:v>
                </c:pt>
                <c:pt idx="246">
                  <c:v>118</c:v>
                </c:pt>
                <c:pt idx="247">
                  <c:v>182</c:v>
                </c:pt>
                <c:pt idx="248" formatCode="0">
                  <c:v>209.33333333333334</c:v>
                </c:pt>
                <c:pt idx="249" formatCode="0">
                  <c:v>232</c:v>
                </c:pt>
                <c:pt idx="250" formatCode="0">
                  <c:v>179</c:v>
                </c:pt>
                <c:pt idx="251" formatCode="0">
                  <c:v>111</c:v>
                </c:pt>
                <c:pt idx="252" formatCode="0">
                  <c:v>127</c:v>
                </c:pt>
                <c:pt idx="253" formatCode="0">
                  <c:v>99</c:v>
                </c:pt>
                <c:pt idx="254" formatCode="0">
                  <c:v>55</c:v>
                </c:pt>
                <c:pt idx="255">
                  <c:v>28</c:v>
                </c:pt>
                <c:pt idx="256">
                  <c:v>29</c:v>
                </c:pt>
              </c:numCache>
            </c:numRef>
          </c:val>
          <c:smooth val="0"/>
          <c:extLst>
            <c:ext xmlns:c16="http://schemas.microsoft.com/office/drawing/2014/chart" uri="{C3380CC4-5D6E-409C-BE32-E72D297353CC}">
              <c16:uniqueId val="{00000001-3B29-4254-BA01-7591C84DE67A}"/>
            </c:ext>
          </c:extLst>
        </c:ser>
        <c:dLbls>
          <c:showLegendKey val="0"/>
          <c:showVal val="0"/>
          <c:showCatName val="0"/>
          <c:showSerName val="0"/>
          <c:showPercent val="0"/>
          <c:showBubbleSize val="0"/>
        </c:dLbls>
        <c:marker val="1"/>
        <c:smooth val="0"/>
        <c:axId val="341652096"/>
        <c:axId val="341667936"/>
      </c:lineChart>
      <c:dateAx>
        <c:axId val="1128918192"/>
        <c:scaling>
          <c:orientation val="minMax"/>
          <c:min val="38565"/>
        </c:scaling>
        <c:delete val="0"/>
        <c:axPos val="b"/>
        <c:numFmt formatCode="[$-409]mmm\-yy;@" sourceLinked="0"/>
        <c:majorTickMark val="out"/>
        <c:minorTickMark val="none"/>
        <c:tickLblPos val="nextTo"/>
        <c:spPr>
          <a:noFill/>
          <a:ln w="9525" cap="flat" cmpd="sng" algn="ctr">
            <a:solidFill>
              <a:schemeClr val="bg1">
                <a:lumMod val="85000"/>
              </a:schemeClr>
            </a:solidFill>
            <a:round/>
          </a:ln>
          <a:effectLst/>
        </c:spPr>
        <c:txPr>
          <a:bodyPr rot="0" spcFirstLastPara="1" vertOverflow="ellipsis" wrap="square" anchor="ctr" anchorCtr="1"/>
          <a:lstStyle/>
          <a:p>
            <a:pPr algn="ctr">
              <a:defRPr lang="en-US" sz="900" b="0" i="0" u="none" strike="noStrike" kern="1200" cap="all" baseline="0">
                <a:solidFill>
                  <a:schemeClr val="bg1"/>
                </a:solidFill>
                <a:latin typeface="Poppins Medium" panose="00000600000000000000" pitchFamily="2" charset="0"/>
                <a:ea typeface="+mn-ea"/>
                <a:cs typeface="Poppins Medium" panose="00000600000000000000" pitchFamily="2" charset="0"/>
              </a:defRPr>
            </a:pPr>
            <a:endParaRPr lang="en-BM"/>
          </a:p>
        </c:txPr>
        <c:crossAx val="1128937392"/>
        <c:crosses val="autoZero"/>
        <c:auto val="1"/>
        <c:lblOffset val="100"/>
        <c:baseTimeUnit val="months"/>
        <c:majorUnit val="5"/>
        <c:majorTimeUnit val="years"/>
      </c:dateAx>
      <c:valAx>
        <c:axId val="1128937392"/>
        <c:scaling>
          <c:orientation val="minMax"/>
          <c:max val="760"/>
          <c:min val="120"/>
        </c:scaling>
        <c:delete val="0"/>
        <c:axPos val="l"/>
        <c:majorGridlines>
          <c:spPr>
            <a:ln w="9525" cap="flat" cmpd="sng" algn="ctr">
              <a:solidFill>
                <a:schemeClr val="bg1">
                  <a:lumMod val="85000"/>
                  <a:alpha val="22000"/>
                </a:schemeClr>
              </a:solidFill>
              <a:round/>
            </a:ln>
            <a:effectLst/>
          </c:spPr>
        </c:majorGridlines>
        <c:numFmt formatCode="General" sourceLinked="1"/>
        <c:majorTickMark val="out"/>
        <c:minorTickMark val="none"/>
        <c:tickLblPos val="nextTo"/>
        <c:spPr>
          <a:noFill/>
          <a:ln>
            <a:solidFill>
              <a:srgbClr val="FFFFFF">
                <a:lumMod val="85000"/>
                <a:alpha val="67000"/>
              </a:srgbClr>
            </a:solidFill>
          </a:ln>
          <a:effectLst/>
        </c:spPr>
        <c:txPr>
          <a:bodyPr rot="-60000000" spcFirstLastPara="1" vertOverflow="ellipsis" vert="horz" wrap="square" anchor="ctr" anchorCtr="1"/>
          <a:lstStyle/>
          <a:p>
            <a:pPr algn="ctr">
              <a:defRPr lang="en-US" sz="900" b="0" i="0" u="none" strike="noStrike" kern="1200" baseline="0">
                <a:solidFill>
                  <a:schemeClr val="bg1"/>
                </a:solidFill>
                <a:latin typeface="Poppins" panose="00000500000000000000" pitchFamily="2" charset="0"/>
                <a:ea typeface="+mn-ea"/>
                <a:cs typeface="Poppins" panose="00000500000000000000" pitchFamily="2" charset="0"/>
              </a:defRPr>
            </a:pPr>
            <a:endParaRPr lang="en-BM"/>
          </a:p>
        </c:txPr>
        <c:crossAx val="1128918192"/>
        <c:crosses val="autoZero"/>
        <c:crossBetween val="between"/>
        <c:majorUnit val="80"/>
      </c:valAx>
      <c:valAx>
        <c:axId val="341667936"/>
        <c:scaling>
          <c:orientation val="minMax"/>
          <c:max val="800"/>
          <c:min val="-800"/>
        </c:scaling>
        <c:delete val="0"/>
        <c:axPos val="r"/>
        <c:numFmt formatCode="General" sourceLinked="1"/>
        <c:majorTickMark val="out"/>
        <c:minorTickMark val="none"/>
        <c:tickLblPos val="nextTo"/>
        <c:spPr>
          <a:noFill/>
          <a:ln>
            <a:solidFill>
              <a:srgbClr val="FFFFFF">
                <a:lumMod val="85000"/>
                <a:alpha val="62000"/>
              </a:srgbClr>
            </a:solidFill>
          </a:ln>
          <a:effectLst/>
        </c:spPr>
        <c:txPr>
          <a:bodyPr rot="-60000000" spcFirstLastPara="1" vertOverflow="ellipsis" vert="horz" wrap="square" anchor="ctr" anchorCtr="1"/>
          <a:lstStyle/>
          <a:p>
            <a:pPr>
              <a:defRPr sz="900" b="0" i="0" u="none" strike="noStrike" kern="1200" baseline="0">
                <a:solidFill>
                  <a:schemeClr val="bg1"/>
                </a:solidFill>
                <a:latin typeface="Poppins" panose="00000500000000000000" pitchFamily="2" charset="0"/>
                <a:ea typeface="+mn-ea"/>
                <a:cs typeface="Poppins" panose="00000500000000000000" pitchFamily="2" charset="0"/>
              </a:defRPr>
            </a:pPr>
            <a:endParaRPr lang="en-BM"/>
          </a:p>
        </c:txPr>
        <c:crossAx val="341652096"/>
        <c:crosses val="max"/>
        <c:crossBetween val="between"/>
        <c:majorUnit val="200"/>
      </c:valAx>
      <c:dateAx>
        <c:axId val="341652096"/>
        <c:scaling>
          <c:orientation val="minMax"/>
        </c:scaling>
        <c:delete val="1"/>
        <c:axPos val="b"/>
        <c:numFmt formatCode="m/d/yy;@" sourceLinked="1"/>
        <c:majorTickMark val="out"/>
        <c:minorTickMark val="none"/>
        <c:tickLblPos val="nextTo"/>
        <c:crossAx val="341667936"/>
        <c:crosses val="autoZero"/>
        <c:auto val="1"/>
        <c:lblOffset val="100"/>
        <c:baseTimeUnit val="months"/>
      </c:dateAx>
      <c:spPr>
        <a:solidFill>
          <a:srgbClr val="2B3E59"/>
        </a:solidFill>
        <a:ln>
          <a:noFill/>
        </a:ln>
        <a:effectLst/>
      </c:spPr>
    </c:plotArea>
    <c:legend>
      <c:legendPos val="t"/>
      <c:layout>
        <c:manualLayout>
          <c:xMode val="edge"/>
          <c:yMode val="edge"/>
          <c:x val="4.097396479286243E-2"/>
          <c:y val="3.5346320106611144E-2"/>
          <c:w val="0.89478910328567351"/>
          <c:h val="7.9747004839072169E-2"/>
        </c:manualLayout>
      </c:layout>
      <c:overlay val="0"/>
      <c:spPr>
        <a:noFill/>
        <a:ln>
          <a:noFill/>
        </a:ln>
        <a:effectLst/>
      </c:spPr>
      <c:txPr>
        <a:bodyPr rot="0" spcFirstLastPara="1" vertOverflow="ellipsis" vert="horz" wrap="square" anchor="ctr" anchorCtr="1"/>
        <a:lstStyle/>
        <a:p>
          <a:pPr>
            <a:defRPr sz="900" b="0" i="0" u="none" strike="noStrike" kern="1200" cap="all" baseline="0">
              <a:solidFill>
                <a:schemeClr val="bg1"/>
              </a:solidFill>
              <a:latin typeface="Poppins" panose="00000500000000000000" pitchFamily="2" charset="0"/>
              <a:ea typeface="+mn-ea"/>
              <a:cs typeface="Poppins" panose="00000500000000000000" pitchFamily="2" charset="0"/>
            </a:defRPr>
          </a:pPr>
          <a:endParaRPr lang="en-BM"/>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2B3E59"/>
    </a:solidFill>
    <a:ln w="28575" cap="flat" cmpd="sng" algn="ctr">
      <a:noFill/>
      <a:round/>
    </a:ln>
    <a:effectLst/>
  </c:spPr>
  <c:txPr>
    <a:bodyPr/>
    <a:lstStyle/>
    <a:p>
      <a:pPr>
        <a:defRPr/>
      </a:pPr>
      <a:endParaRPr lang="en-BM"/>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459171688781406"/>
          <c:y val="9.8778735632183909E-2"/>
          <c:w val="0.76604307425643636"/>
          <c:h val="0.74018199233716475"/>
        </c:manualLayout>
      </c:layout>
      <c:barChart>
        <c:barDir val="col"/>
        <c:grouping val="clustered"/>
        <c:varyColors val="0"/>
        <c:ser>
          <c:idx val="1"/>
          <c:order val="1"/>
          <c:tx>
            <c:strRef>
              <c:f>'US CONSUMER SLIDE'!$O$4</c:f>
              <c:strCache>
                <c:ptCount val="1"/>
                <c:pt idx="0">
                  <c:v>Recession</c:v>
                </c:pt>
              </c:strCache>
            </c:strRef>
          </c:tx>
          <c:spPr>
            <a:noFill/>
            <a:ln>
              <a:solidFill>
                <a:srgbClr val="84BECE">
                  <a:alpha val="70000"/>
                </a:srgbClr>
              </a:solidFill>
            </a:ln>
            <a:effectLst/>
          </c:spPr>
          <c:invertIfNegative val="0"/>
          <c:cat>
            <c:numRef>
              <c:f>'US CONSUMER SLIDE'!$M$5:$M$8037</c:f>
              <c:numCache>
                <c:formatCode>m/d/yyyy</c:formatCode>
                <c:ptCount val="8033"/>
                <c:pt idx="0">
                  <c:v>38442</c:v>
                </c:pt>
                <c:pt idx="1">
                  <c:v>38472</c:v>
                </c:pt>
                <c:pt idx="2">
                  <c:v>38503</c:v>
                </c:pt>
                <c:pt idx="3">
                  <c:v>38533</c:v>
                </c:pt>
                <c:pt idx="4">
                  <c:v>38564</c:v>
                </c:pt>
                <c:pt idx="5">
                  <c:v>38595</c:v>
                </c:pt>
                <c:pt idx="6">
                  <c:v>38625</c:v>
                </c:pt>
                <c:pt idx="7">
                  <c:v>38656</c:v>
                </c:pt>
                <c:pt idx="8">
                  <c:v>38686</c:v>
                </c:pt>
                <c:pt idx="9">
                  <c:v>38717</c:v>
                </c:pt>
                <c:pt idx="10">
                  <c:v>38748</c:v>
                </c:pt>
                <c:pt idx="11">
                  <c:v>38776</c:v>
                </c:pt>
                <c:pt idx="12">
                  <c:v>38807</c:v>
                </c:pt>
                <c:pt idx="13">
                  <c:v>38837</c:v>
                </c:pt>
                <c:pt idx="14">
                  <c:v>38868</c:v>
                </c:pt>
                <c:pt idx="15">
                  <c:v>38898</c:v>
                </c:pt>
                <c:pt idx="16">
                  <c:v>38929</c:v>
                </c:pt>
                <c:pt idx="17">
                  <c:v>38960</c:v>
                </c:pt>
                <c:pt idx="18">
                  <c:v>38990</c:v>
                </c:pt>
                <c:pt idx="19">
                  <c:v>39021</c:v>
                </c:pt>
                <c:pt idx="20">
                  <c:v>39051</c:v>
                </c:pt>
                <c:pt idx="21">
                  <c:v>39082</c:v>
                </c:pt>
                <c:pt idx="22">
                  <c:v>39113</c:v>
                </c:pt>
                <c:pt idx="23">
                  <c:v>39141</c:v>
                </c:pt>
                <c:pt idx="24">
                  <c:v>39172</c:v>
                </c:pt>
                <c:pt idx="25">
                  <c:v>39202</c:v>
                </c:pt>
                <c:pt idx="26">
                  <c:v>39233</c:v>
                </c:pt>
                <c:pt idx="27">
                  <c:v>39263</c:v>
                </c:pt>
                <c:pt idx="28">
                  <c:v>39294</c:v>
                </c:pt>
                <c:pt idx="29">
                  <c:v>39325</c:v>
                </c:pt>
                <c:pt idx="30">
                  <c:v>39355</c:v>
                </c:pt>
                <c:pt idx="31">
                  <c:v>39386</c:v>
                </c:pt>
                <c:pt idx="32">
                  <c:v>39416</c:v>
                </c:pt>
                <c:pt idx="33">
                  <c:v>39447</c:v>
                </c:pt>
                <c:pt idx="34">
                  <c:v>39478</c:v>
                </c:pt>
                <c:pt idx="35">
                  <c:v>39507</c:v>
                </c:pt>
                <c:pt idx="36">
                  <c:v>39538</c:v>
                </c:pt>
                <c:pt idx="37">
                  <c:v>39568</c:v>
                </c:pt>
                <c:pt idx="38">
                  <c:v>39599</c:v>
                </c:pt>
                <c:pt idx="39">
                  <c:v>39629</c:v>
                </c:pt>
                <c:pt idx="40">
                  <c:v>39660</c:v>
                </c:pt>
                <c:pt idx="41">
                  <c:v>39691</c:v>
                </c:pt>
                <c:pt idx="42">
                  <c:v>39721</c:v>
                </c:pt>
                <c:pt idx="43">
                  <c:v>39752</c:v>
                </c:pt>
                <c:pt idx="44">
                  <c:v>39782</c:v>
                </c:pt>
                <c:pt idx="45">
                  <c:v>39813</c:v>
                </c:pt>
                <c:pt idx="46">
                  <c:v>39844</c:v>
                </c:pt>
                <c:pt idx="47">
                  <c:v>39872</c:v>
                </c:pt>
                <c:pt idx="48">
                  <c:v>39903</c:v>
                </c:pt>
                <c:pt idx="49">
                  <c:v>39933</c:v>
                </c:pt>
                <c:pt idx="50">
                  <c:v>39964</c:v>
                </c:pt>
                <c:pt idx="51">
                  <c:v>39994</c:v>
                </c:pt>
                <c:pt idx="52">
                  <c:v>40025</c:v>
                </c:pt>
                <c:pt idx="53">
                  <c:v>40056</c:v>
                </c:pt>
                <c:pt idx="54">
                  <c:v>40086</c:v>
                </c:pt>
                <c:pt idx="55">
                  <c:v>40117</c:v>
                </c:pt>
                <c:pt idx="56">
                  <c:v>40147</c:v>
                </c:pt>
                <c:pt idx="57">
                  <c:v>40178</c:v>
                </c:pt>
                <c:pt idx="58">
                  <c:v>40209</c:v>
                </c:pt>
                <c:pt idx="59">
                  <c:v>40237</c:v>
                </c:pt>
                <c:pt idx="60">
                  <c:v>40268</c:v>
                </c:pt>
                <c:pt idx="61">
                  <c:v>40298</c:v>
                </c:pt>
                <c:pt idx="62">
                  <c:v>40329</c:v>
                </c:pt>
                <c:pt idx="63">
                  <c:v>40359</c:v>
                </c:pt>
                <c:pt idx="64">
                  <c:v>40390</c:v>
                </c:pt>
                <c:pt idx="65">
                  <c:v>40421</c:v>
                </c:pt>
                <c:pt idx="66">
                  <c:v>40451</c:v>
                </c:pt>
                <c:pt idx="67">
                  <c:v>40482</c:v>
                </c:pt>
                <c:pt idx="68">
                  <c:v>40512</c:v>
                </c:pt>
                <c:pt idx="69">
                  <c:v>40543</c:v>
                </c:pt>
                <c:pt idx="70">
                  <c:v>40574</c:v>
                </c:pt>
                <c:pt idx="71">
                  <c:v>40602</c:v>
                </c:pt>
                <c:pt idx="72">
                  <c:v>40633</c:v>
                </c:pt>
                <c:pt idx="73">
                  <c:v>40663</c:v>
                </c:pt>
                <c:pt idx="74">
                  <c:v>40694</c:v>
                </c:pt>
                <c:pt idx="75">
                  <c:v>40724</c:v>
                </c:pt>
                <c:pt idx="76">
                  <c:v>40755</c:v>
                </c:pt>
                <c:pt idx="77">
                  <c:v>40786</c:v>
                </c:pt>
                <c:pt idx="78">
                  <c:v>40816</c:v>
                </c:pt>
                <c:pt idx="79">
                  <c:v>40847</c:v>
                </c:pt>
                <c:pt idx="80">
                  <c:v>40877</c:v>
                </c:pt>
                <c:pt idx="81">
                  <c:v>40908</c:v>
                </c:pt>
                <c:pt idx="82">
                  <c:v>40939</c:v>
                </c:pt>
                <c:pt idx="83">
                  <c:v>40968</c:v>
                </c:pt>
                <c:pt idx="84">
                  <c:v>40999</c:v>
                </c:pt>
                <c:pt idx="85">
                  <c:v>41029</c:v>
                </c:pt>
                <c:pt idx="86">
                  <c:v>41060</c:v>
                </c:pt>
                <c:pt idx="87">
                  <c:v>41090</c:v>
                </c:pt>
                <c:pt idx="88">
                  <c:v>41121</c:v>
                </c:pt>
                <c:pt idx="89">
                  <c:v>41152</c:v>
                </c:pt>
                <c:pt idx="90">
                  <c:v>41182</c:v>
                </c:pt>
                <c:pt idx="91">
                  <c:v>41213</c:v>
                </c:pt>
                <c:pt idx="92">
                  <c:v>41243</c:v>
                </c:pt>
                <c:pt idx="93">
                  <c:v>41274</c:v>
                </c:pt>
                <c:pt idx="94">
                  <c:v>41305</c:v>
                </c:pt>
                <c:pt idx="95">
                  <c:v>41333</c:v>
                </c:pt>
                <c:pt idx="96">
                  <c:v>41364</c:v>
                </c:pt>
                <c:pt idx="97">
                  <c:v>41394</c:v>
                </c:pt>
                <c:pt idx="98">
                  <c:v>41425</c:v>
                </c:pt>
                <c:pt idx="99">
                  <c:v>41455</c:v>
                </c:pt>
                <c:pt idx="100">
                  <c:v>41486</c:v>
                </c:pt>
                <c:pt idx="101">
                  <c:v>41517</c:v>
                </c:pt>
                <c:pt idx="102">
                  <c:v>41547</c:v>
                </c:pt>
                <c:pt idx="103">
                  <c:v>41578</c:v>
                </c:pt>
                <c:pt idx="104">
                  <c:v>41608</c:v>
                </c:pt>
                <c:pt idx="105">
                  <c:v>41639</c:v>
                </c:pt>
                <c:pt idx="106">
                  <c:v>41670</c:v>
                </c:pt>
                <c:pt idx="107">
                  <c:v>41698</c:v>
                </c:pt>
                <c:pt idx="108">
                  <c:v>41729</c:v>
                </c:pt>
                <c:pt idx="109">
                  <c:v>41759</c:v>
                </c:pt>
                <c:pt idx="110">
                  <c:v>41790</c:v>
                </c:pt>
                <c:pt idx="111">
                  <c:v>41820</c:v>
                </c:pt>
                <c:pt idx="112">
                  <c:v>41851</c:v>
                </c:pt>
                <c:pt idx="113">
                  <c:v>41882</c:v>
                </c:pt>
                <c:pt idx="114">
                  <c:v>41912</c:v>
                </c:pt>
                <c:pt idx="115">
                  <c:v>41943</c:v>
                </c:pt>
                <c:pt idx="116">
                  <c:v>41973</c:v>
                </c:pt>
                <c:pt idx="117">
                  <c:v>42004</c:v>
                </c:pt>
                <c:pt idx="118">
                  <c:v>42035</c:v>
                </c:pt>
                <c:pt idx="119">
                  <c:v>42063</c:v>
                </c:pt>
                <c:pt idx="120">
                  <c:v>42094</c:v>
                </c:pt>
                <c:pt idx="121">
                  <c:v>42124</c:v>
                </c:pt>
                <c:pt idx="122">
                  <c:v>42155</c:v>
                </c:pt>
                <c:pt idx="123">
                  <c:v>42185</c:v>
                </c:pt>
                <c:pt idx="124">
                  <c:v>42216</c:v>
                </c:pt>
                <c:pt idx="125">
                  <c:v>42247</c:v>
                </c:pt>
                <c:pt idx="126">
                  <c:v>42277</c:v>
                </c:pt>
                <c:pt idx="127">
                  <c:v>42308</c:v>
                </c:pt>
                <c:pt idx="128">
                  <c:v>42338</c:v>
                </c:pt>
                <c:pt idx="129">
                  <c:v>42369</c:v>
                </c:pt>
                <c:pt idx="130">
                  <c:v>42400</c:v>
                </c:pt>
                <c:pt idx="131">
                  <c:v>42429</c:v>
                </c:pt>
                <c:pt idx="132">
                  <c:v>42460</c:v>
                </c:pt>
                <c:pt idx="133">
                  <c:v>42490</c:v>
                </c:pt>
                <c:pt idx="134">
                  <c:v>42521</c:v>
                </c:pt>
                <c:pt idx="135">
                  <c:v>42551</c:v>
                </c:pt>
                <c:pt idx="136">
                  <c:v>42582</c:v>
                </c:pt>
                <c:pt idx="137">
                  <c:v>42613</c:v>
                </c:pt>
                <c:pt idx="138">
                  <c:v>42643</c:v>
                </c:pt>
                <c:pt idx="139">
                  <c:v>42674</c:v>
                </c:pt>
                <c:pt idx="140">
                  <c:v>42704</c:v>
                </c:pt>
                <c:pt idx="141">
                  <c:v>42735</c:v>
                </c:pt>
                <c:pt idx="142">
                  <c:v>42766</c:v>
                </c:pt>
                <c:pt idx="143">
                  <c:v>42794</c:v>
                </c:pt>
                <c:pt idx="144">
                  <c:v>42825</c:v>
                </c:pt>
                <c:pt idx="145">
                  <c:v>42855</c:v>
                </c:pt>
                <c:pt idx="146">
                  <c:v>42886</c:v>
                </c:pt>
                <c:pt idx="147">
                  <c:v>42916</c:v>
                </c:pt>
                <c:pt idx="148">
                  <c:v>42947</c:v>
                </c:pt>
                <c:pt idx="149">
                  <c:v>42978</c:v>
                </c:pt>
                <c:pt idx="150">
                  <c:v>43008</c:v>
                </c:pt>
                <c:pt idx="151">
                  <c:v>43039</c:v>
                </c:pt>
                <c:pt idx="152">
                  <c:v>43069</c:v>
                </c:pt>
                <c:pt idx="153">
                  <c:v>43100</c:v>
                </c:pt>
                <c:pt idx="154">
                  <c:v>43131</c:v>
                </c:pt>
                <c:pt idx="155">
                  <c:v>43159</c:v>
                </c:pt>
                <c:pt idx="156">
                  <c:v>43190</c:v>
                </c:pt>
                <c:pt idx="157">
                  <c:v>43220</c:v>
                </c:pt>
                <c:pt idx="158">
                  <c:v>43251</c:v>
                </c:pt>
                <c:pt idx="159">
                  <c:v>43281</c:v>
                </c:pt>
                <c:pt idx="160">
                  <c:v>43312</c:v>
                </c:pt>
                <c:pt idx="161">
                  <c:v>43343</c:v>
                </c:pt>
                <c:pt idx="162">
                  <c:v>43373</c:v>
                </c:pt>
                <c:pt idx="163">
                  <c:v>43404</c:v>
                </c:pt>
                <c:pt idx="164">
                  <c:v>43434</c:v>
                </c:pt>
                <c:pt idx="165">
                  <c:v>43465</c:v>
                </c:pt>
                <c:pt idx="166">
                  <c:v>43496</c:v>
                </c:pt>
                <c:pt idx="167">
                  <c:v>43524</c:v>
                </c:pt>
                <c:pt idx="168">
                  <c:v>43555</c:v>
                </c:pt>
                <c:pt idx="169">
                  <c:v>43585</c:v>
                </c:pt>
                <c:pt idx="170">
                  <c:v>43616</c:v>
                </c:pt>
                <c:pt idx="171">
                  <c:v>43646</c:v>
                </c:pt>
                <c:pt idx="172">
                  <c:v>43677</c:v>
                </c:pt>
                <c:pt idx="173">
                  <c:v>43708</c:v>
                </c:pt>
                <c:pt idx="174">
                  <c:v>43738</c:v>
                </c:pt>
                <c:pt idx="175">
                  <c:v>43769</c:v>
                </c:pt>
                <c:pt idx="176">
                  <c:v>43799</c:v>
                </c:pt>
                <c:pt idx="177">
                  <c:v>43830</c:v>
                </c:pt>
                <c:pt idx="178">
                  <c:v>43861</c:v>
                </c:pt>
                <c:pt idx="179">
                  <c:v>43890</c:v>
                </c:pt>
                <c:pt idx="180">
                  <c:v>43921</c:v>
                </c:pt>
                <c:pt idx="181">
                  <c:v>43951</c:v>
                </c:pt>
                <c:pt idx="182">
                  <c:v>43982</c:v>
                </c:pt>
                <c:pt idx="183">
                  <c:v>44012</c:v>
                </c:pt>
                <c:pt idx="184">
                  <c:v>44043</c:v>
                </c:pt>
                <c:pt idx="185">
                  <c:v>44074</c:v>
                </c:pt>
                <c:pt idx="186">
                  <c:v>44104</c:v>
                </c:pt>
                <c:pt idx="187">
                  <c:v>44135</c:v>
                </c:pt>
                <c:pt idx="188">
                  <c:v>44165</c:v>
                </c:pt>
                <c:pt idx="189">
                  <c:v>44196</c:v>
                </c:pt>
                <c:pt idx="190">
                  <c:v>44227</c:v>
                </c:pt>
                <c:pt idx="191">
                  <c:v>44255</c:v>
                </c:pt>
                <c:pt idx="192">
                  <c:v>44286</c:v>
                </c:pt>
                <c:pt idx="193">
                  <c:v>44316</c:v>
                </c:pt>
                <c:pt idx="194">
                  <c:v>44347</c:v>
                </c:pt>
                <c:pt idx="195">
                  <c:v>44377</c:v>
                </c:pt>
                <c:pt idx="196">
                  <c:v>44408</c:v>
                </c:pt>
                <c:pt idx="197">
                  <c:v>44439</c:v>
                </c:pt>
                <c:pt idx="198">
                  <c:v>44469</c:v>
                </c:pt>
                <c:pt idx="199">
                  <c:v>44500</c:v>
                </c:pt>
                <c:pt idx="200">
                  <c:v>44530</c:v>
                </c:pt>
                <c:pt idx="201">
                  <c:v>44561</c:v>
                </c:pt>
                <c:pt idx="202">
                  <c:v>44592</c:v>
                </c:pt>
                <c:pt idx="203">
                  <c:v>44620</c:v>
                </c:pt>
                <c:pt idx="204">
                  <c:v>44651</c:v>
                </c:pt>
                <c:pt idx="205">
                  <c:v>44681</c:v>
                </c:pt>
                <c:pt idx="206">
                  <c:v>44712</c:v>
                </c:pt>
                <c:pt idx="207">
                  <c:v>44742</c:v>
                </c:pt>
                <c:pt idx="208">
                  <c:v>44773</c:v>
                </c:pt>
                <c:pt idx="209">
                  <c:v>44804</c:v>
                </c:pt>
                <c:pt idx="210">
                  <c:v>44834</c:v>
                </c:pt>
                <c:pt idx="211">
                  <c:v>44865</c:v>
                </c:pt>
                <c:pt idx="212">
                  <c:v>44895</c:v>
                </c:pt>
                <c:pt idx="213">
                  <c:v>44926</c:v>
                </c:pt>
                <c:pt idx="214">
                  <c:v>44957</c:v>
                </c:pt>
                <c:pt idx="215">
                  <c:v>44985</c:v>
                </c:pt>
                <c:pt idx="216">
                  <c:v>45016</c:v>
                </c:pt>
                <c:pt idx="217">
                  <c:v>45046</c:v>
                </c:pt>
                <c:pt idx="218">
                  <c:v>45077</c:v>
                </c:pt>
                <c:pt idx="219">
                  <c:v>45107</c:v>
                </c:pt>
                <c:pt idx="220">
                  <c:v>45138</c:v>
                </c:pt>
                <c:pt idx="221">
                  <c:v>45169</c:v>
                </c:pt>
                <c:pt idx="222">
                  <c:v>45199</c:v>
                </c:pt>
                <c:pt idx="223">
                  <c:v>45230</c:v>
                </c:pt>
                <c:pt idx="224">
                  <c:v>45260</c:v>
                </c:pt>
                <c:pt idx="225">
                  <c:v>45291</c:v>
                </c:pt>
                <c:pt idx="226">
                  <c:v>45322</c:v>
                </c:pt>
                <c:pt idx="227">
                  <c:v>45351</c:v>
                </c:pt>
                <c:pt idx="228">
                  <c:v>45382</c:v>
                </c:pt>
                <c:pt idx="229">
                  <c:v>45412</c:v>
                </c:pt>
                <c:pt idx="230">
                  <c:v>45443</c:v>
                </c:pt>
                <c:pt idx="231">
                  <c:v>45473</c:v>
                </c:pt>
                <c:pt idx="232">
                  <c:v>45504</c:v>
                </c:pt>
                <c:pt idx="233">
                  <c:v>45535</c:v>
                </c:pt>
                <c:pt idx="234">
                  <c:v>45565</c:v>
                </c:pt>
                <c:pt idx="235">
                  <c:v>45596</c:v>
                </c:pt>
                <c:pt idx="236">
                  <c:v>45626</c:v>
                </c:pt>
                <c:pt idx="237">
                  <c:v>45657</c:v>
                </c:pt>
                <c:pt idx="238">
                  <c:v>45688</c:v>
                </c:pt>
                <c:pt idx="239">
                  <c:v>45716</c:v>
                </c:pt>
                <c:pt idx="240">
                  <c:v>45747</c:v>
                </c:pt>
                <c:pt idx="241">
                  <c:v>45777</c:v>
                </c:pt>
                <c:pt idx="242">
                  <c:v>45808</c:v>
                </c:pt>
                <c:pt idx="243">
                  <c:v>45838</c:v>
                </c:pt>
                <c:pt idx="244">
                  <c:v>45869</c:v>
                </c:pt>
                <c:pt idx="245">
                  <c:v>45900</c:v>
                </c:pt>
                <c:pt idx="246">
                  <c:v>45930</c:v>
                </c:pt>
              </c:numCache>
            </c:numRef>
          </c:cat>
          <c:val>
            <c:numRef>
              <c:f>'US CONSUMER SLIDE'!$O$5:$O$8037</c:f>
              <c:numCache>
                <c:formatCode>General</c:formatCode>
                <c:ptCount val="8033"/>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179">
                  <c:v>100</c:v>
                </c:pt>
                <c:pt idx="180">
                  <c:v>100</c:v>
                </c:pt>
                <c:pt idx="181">
                  <c:v>100</c:v>
                </c:pt>
              </c:numCache>
            </c:numRef>
          </c:val>
          <c:extLst>
            <c:ext xmlns:c16="http://schemas.microsoft.com/office/drawing/2014/chart" uri="{C3380CC4-5D6E-409C-BE32-E72D297353CC}">
              <c16:uniqueId val="{00000000-80B8-49A9-AE26-C7424F1766FA}"/>
            </c:ext>
          </c:extLst>
        </c:ser>
        <c:dLbls>
          <c:showLegendKey val="0"/>
          <c:showVal val="0"/>
          <c:showCatName val="0"/>
          <c:showSerName val="0"/>
          <c:showPercent val="0"/>
          <c:showBubbleSize val="0"/>
        </c:dLbls>
        <c:gapWidth val="150"/>
        <c:axId val="2074428959"/>
        <c:axId val="2074424639"/>
      </c:barChart>
      <c:lineChart>
        <c:grouping val="standard"/>
        <c:varyColors val="0"/>
        <c:ser>
          <c:idx val="0"/>
          <c:order val="0"/>
          <c:tx>
            <c:strRef>
              <c:f>'US CONSUMER SLIDE'!$N$4</c:f>
              <c:strCache>
                <c:ptCount val="1"/>
                <c:pt idx="0">
                  <c:v>Consumer Sentiment</c:v>
                </c:pt>
              </c:strCache>
            </c:strRef>
          </c:tx>
          <c:spPr>
            <a:ln w="28575" cap="rnd">
              <a:solidFill>
                <a:schemeClr val="bg1"/>
              </a:solidFill>
              <a:round/>
            </a:ln>
            <a:effectLst/>
          </c:spPr>
          <c:marker>
            <c:symbol val="none"/>
          </c:marker>
          <c:cat>
            <c:numRef>
              <c:f>'US CONSUMER SLIDE'!$M$5:$M$8037</c:f>
              <c:numCache>
                <c:formatCode>m/d/yyyy</c:formatCode>
                <c:ptCount val="8033"/>
                <c:pt idx="0">
                  <c:v>38442</c:v>
                </c:pt>
                <c:pt idx="1">
                  <c:v>38472</c:v>
                </c:pt>
                <c:pt idx="2">
                  <c:v>38503</c:v>
                </c:pt>
                <c:pt idx="3">
                  <c:v>38533</c:v>
                </c:pt>
                <c:pt idx="4">
                  <c:v>38564</c:v>
                </c:pt>
                <c:pt idx="5">
                  <c:v>38595</c:v>
                </c:pt>
                <c:pt idx="6">
                  <c:v>38625</c:v>
                </c:pt>
                <c:pt idx="7">
                  <c:v>38656</c:v>
                </c:pt>
                <c:pt idx="8">
                  <c:v>38686</c:v>
                </c:pt>
                <c:pt idx="9">
                  <c:v>38717</c:v>
                </c:pt>
                <c:pt idx="10">
                  <c:v>38748</c:v>
                </c:pt>
                <c:pt idx="11">
                  <c:v>38776</c:v>
                </c:pt>
                <c:pt idx="12">
                  <c:v>38807</c:v>
                </c:pt>
                <c:pt idx="13">
                  <c:v>38837</c:v>
                </c:pt>
                <c:pt idx="14">
                  <c:v>38868</c:v>
                </c:pt>
                <c:pt idx="15">
                  <c:v>38898</c:v>
                </c:pt>
                <c:pt idx="16">
                  <c:v>38929</c:v>
                </c:pt>
                <c:pt idx="17">
                  <c:v>38960</c:v>
                </c:pt>
                <c:pt idx="18">
                  <c:v>38990</c:v>
                </c:pt>
                <c:pt idx="19">
                  <c:v>39021</c:v>
                </c:pt>
                <c:pt idx="20">
                  <c:v>39051</c:v>
                </c:pt>
                <c:pt idx="21">
                  <c:v>39082</c:v>
                </c:pt>
                <c:pt idx="22">
                  <c:v>39113</c:v>
                </c:pt>
                <c:pt idx="23">
                  <c:v>39141</c:v>
                </c:pt>
                <c:pt idx="24">
                  <c:v>39172</c:v>
                </c:pt>
                <c:pt idx="25">
                  <c:v>39202</c:v>
                </c:pt>
                <c:pt idx="26">
                  <c:v>39233</c:v>
                </c:pt>
                <c:pt idx="27">
                  <c:v>39263</c:v>
                </c:pt>
                <c:pt idx="28">
                  <c:v>39294</c:v>
                </c:pt>
                <c:pt idx="29">
                  <c:v>39325</c:v>
                </c:pt>
                <c:pt idx="30">
                  <c:v>39355</c:v>
                </c:pt>
                <c:pt idx="31">
                  <c:v>39386</c:v>
                </c:pt>
                <c:pt idx="32">
                  <c:v>39416</c:v>
                </c:pt>
                <c:pt idx="33">
                  <c:v>39447</c:v>
                </c:pt>
                <c:pt idx="34">
                  <c:v>39478</c:v>
                </c:pt>
                <c:pt idx="35">
                  <c:v>39507</c:v>
                </c:pt>
                <c:pt idx="36">
                  <c:v>39538</c:v>
                </c:pt>
                <c:pt idx="37">
                  <c:v>39568</c:v>
                </c:pt>
                <c:pt idx="38">
                  <c:v>39599</c:v>
                </c:pt>
                <c:pt idx="39">
                  <c:v>39629</c:v>
                </c:pt>
                <c:pt idx="40">
                  <c:v>39660</c:v>
                </c:pt>
                <c:pt idx="41">
                  <c:v>39691</c:v>
                </c:pt>
                <c:pt idx="42">
                  <c:v>39721</c:v>
                </c:pt>
                <c:pt idx="43">
                  <c:v>39752</c:v>
                </c:pt>
                <c:pt idx="44">
                  <c:v>39782</c:v>
                </c:pt>
                <c:pt idx="45">
                  <c:v>39813</c:v>
                </c:pt>
                <c:pt idx="46">
                  <c:v>39844</c:v>
                </c:pt>
                <c:pt idx="47">
                  <c:v>39872</c:v>
                </c:pt>
                <c:pt idx="48">
                  <c:v>39903</c:v>
                </c:pt>
                <c:pt idx="49">
                  <c:v>39933</c:v>
                </c:pt>
                <c:pt idx="50">
                  <c:v>39964</c:v>
                </c:pt>
                <c:pt idx="51">
                  <c:v>39994</c:v>
                </c:pt>
                <c:pt idx="52">
                  <c:v>40025</c:v>
                </c:pt>
                <c:pt idx="53">
                  <c:v>40056</c:v>
                </c:pt>
                <c:pt idx="54">
                  <c:v>40086</c:v>
                </c:pt>
                <c:pt idx="55">
                  <c:v>40117</c:v>
                </c:pt>
                <c:pt idx="56">
                  <c:v>40147</c:v>
                </c:pt>
                <c:pt idx="57">
                  <c:v>40178</c:v>
                </c:pt>
                <c:pt idx="58">
                  <c:v>40209</c:v>
                </c:pt>
                <c:pt idx="59">
                  <c:v>40237</c:v>
                </c:pt>
                <c:pt idx="60">
                  <c:v>40268</c:v>
                </c:pt>
                <c:pt idx="61">
                  <c:v>40298</c:v>
                </c:pt>
                <c:pt idx="62">
                  <c:v>40329</c:v>
                </c:pt>
                <c:pt idx="63">
                  <c:v>40359</c:v>
                </c:pt>
                <c:pt idx="64">
                  <c:v>40390</c:v>
                </c:pt>
                <c:pt idx="65">
                  <c:v>40421</c:v>
                </c:pt>
                <c:pt idx="66">
                  <c:v>40451</c:v>
                </c:pt>
                <c:pt idx="67">
                  <c:v>40482</c:v>
                </c:pt>
                <c:pt idx="68">
                  <c:v>40512</c:v>
                </c:pt>
                <c:pt idx="69">
                  <c:v>40543</c:v>
                </c:pt>
                <c:pt idx="70">
                  <c:v>40574</c:v>
                </c:pt>
                <c:pt idx="71">
                  <c:v>40602</c:v>
                </c:pt>
                <c:pt idx="72">
                  <c:v>40633</c:v>
                </c:pt>
                <c:pt idx="73">
                  <c:v>40663</c:v>
                </c:pt>
                <c:pt idx="74">
                  <c:v>40694</c:v>
                </c:pt>
                <c:pt idx="75">
                  <c:v>40724</c:v>
                </c:pt>
                <c:pt idx="76">
                  <c:v>40755</c:v>
                </c:pt>
                <c:pt idx="77">
                  <c:v>40786</c:v>
                </c:pt>
                <c:pt idx="78">
                  <c:v>40816</c:v>
                </c:pt>
                <c:pt idx="79">
                  <c:v>40847</c:v>
                </c:pt>
                <c:pt idx="80">
                  <c:v>40877</c:v>
                </c:pt>
                <c:pt idx="81">
                  <c:v>40908</c:v>
                </c:pt>
                <c:pt idx="82">
                  <c:v>40939</c:v>
                </c:pt>
                <c:pt idx="83">
                  <c:v>40968</c:v>
                </c:pt>
                <c:pt idx="84">
                  <c:v>40999</c:v>
                </c:pt>
                <c:pt idx="85">
                  <c:v>41029</c:v>
                </c:pt>
                <c:pt idx="86">
                  <c:v>41060</c:v>
                </c:pt>
                <c:pt idx="87">
                  <c:v>41090</c:v>
                </c:pt>
                <c:pt idx="88">
                  <c:v>41121</c:v>
                </c:pt>
                <c:pt idx="89">
                  <c:v>41152</c:v>
                </c:pt>
                <c:pt idx="90">
                  <c:v>41182</c:v>
                </c:pt>
                <c:pt idx="91">
                  <c:v>41213</c:v>
                </c:pt>
                <c:pt idx="92">
                  <c:v>41243</c:v>
                </c:pt>
                <c:pt idx="93">
                  <c:v>41274</c:v>
                </c:pt>
                <c:pt idx="94">
                  <c:v>41305</c:v>
                </c:pt>
                <c:pt idx="95">
                  <c:v>41333</c:v>
                </c:pt>
                <c:pt idx="96">
                  <c:v>41364</c:v>
                </c:pt>
                <c:pt idx="97">
                  <c:v>41394</c:v>
                </c:pt>
                <c:pt idx="98">
                  <c:v>41425</c:v>
                </c:pt>
                <c:pt idx="99">
                  <c:v>41455</c:v>
                </c:pt>
                <c:pt idx="100">
                  <c:v>41486</c:v>
                </c:pt>
                <c:pt idx="101">
                  <c:v>41517</c:v>
                </c:pt>
                <c:pt idx="102">
                  <c:v>41547</c:v>
                </c:pt>
                <c:pt idx="103">
                  <c:v>41578</c:v>
                </c:pt>
                <c:pt idx="104">
                  <c:v>41608</c:v>
                </c:pt>
                <c:pt idx="105">
                  <c:v>41639</c:v>
                </c:pt>
                <c:pt idx="106">
                  <c:v>41670</c:v>
                </c:pt>
                <c:pt idx="107">
                  <c:v>41698</c:v>
                </c:pt>
                <c:pt idx="108">
                  <c:v>41729</c:v>
                </c:pt>
                <c:pt idx="109">
                  <c:v>41759</c:v>
                </c:pt>
                <c:pt idx="110">
                  <c:v>41790</c:v>
                </c:pt>
                <c:pt idx="111">
                  <c:v>41820</c:v>
                </c:pt>
                <c:pt idx="112">
                  <c:v>41851</c:v>
                </c:pt>
                <c:pt idx="113">
                  <c:v>41882</c:v>
                </c:pt>
                <c:pt idx="114">
                  <c:v>41912</c:v>
                </c:pt>
                <c:pt idx="115">
                  <c:v>41943</c:v>
                </c:pt>
                <c:pt idx="116">
                  <c:v>41973</c:v>
                </c:pt>
                <c:pt idx="117">
                  <c:v>42004</c:v>
                </c:pt>
                <c:pt idx="118">
                  <c:v>42035</c:v>
                </c:pt>
                <c:pt idx="119">
                  <c:v>42063</c:v>
                </c:pt>
                <c:pt idx="120">
                  <c:v>42094</c:v>
                </c:pt>
                <c:pt idx="121">
                  <c:v>42124</c:v>
                </c:pt>
                <c:pt idx="122">
                  <c:v>42155</c:v>
                </c:pt>
                <c:pt idx="123">
                  <c:v>42185</c:v>
                </c:pt>
                <c:pt idx="124">
                  <c:v>42216</c:v>
                </c:pt>
                <c:pt idx="125">
                  <c:v>42247</c:v>
                </c:pt>
                <c:pt idx="126">
                  <c:v>42277</c:v>
                </c:pt>
                <c:pt idx="127">
                  <c:v>42308</c:v>
                </c:pt>
                <c:pt idx="128">
                  <c:v>42338</c:v>
                </c:pt>
                <c:pt idx="129">
                  <c:v>42369</c:v>
                </c:pt>
                <c:pt idx="130">
                  <c:v>42400</c:v>
                </c:pt>
                <c:pt idx="131">
                  <c:v>42429</c:v>
                </c:pt>
                <c:pt idx="132">
                  <c:v>42460</c:v>
                </c:pt>
                <c:pt idx="133">
                  <c:v>42490</c:v>
                </c:pt>
                <c:pt idx="134">
                  <c:v>42521</c:v>
                </c:pt>
                <c:pt idx="135">
                  <c:v>42551</c:v>
                </c:pt>
                <c:pt idx="136">
                  <c:v>42582</c:v>
                </c:pt>
                <c:pt idx="137">
                  <c:v>42613</c:v>
                </c:pt>
                <c:pt idx="138">
                  <c:v>42643</c:v>
                </c:pt>
                <c:pt idx="139">
                  <c:v>42674</c:v>
                </c:pt>
                <c:pt idx="140">
                  <c:v>42704</c:v>
                </c:pt>
                <c:pt idx="141">
                  <c:v>42735</c:v>
                </c:pt>
                <c:pt idx="142">
                  <c:v>42766</c:v>
                </c:pt>
                <c:pt idx="143">
                  <c:v>42794</c:v>
                </c:pt>
                <c:pt idx="144">
                  <c:v>42825</c:v>
                </c:pt>
                <c:pt idx="145">
                  <c:v>42855</c:v>
                </c:pt>
                <c:pt idx="146">
                  <c:v>42886</c:v>
                </c:pt>
                <c:pt idx="147">
                  <c:v>42916</c:v>
                </c:pt>
                <c:pt idx="148">
                  <c:v>42947</c:v>
                </c:pt>
                <c:pt idx="149">
                  <c:v>42978</c:v>
                </c:pt>
                <c:pt idx="150">
                  <c:v>43008</c:v>
                </c:pt>
                <c:pt idx="151">
                  <c:v>43039</c:v>
                </c:pt>
                <c:pt idx="152">
                  <c:v>43069</c:v>
                </c:pt>
                <c:pt idx="153">
                  <c:v>43100</c:v>
                </c:pt>
                <c:pt idx="154">
                  <c:v>43131</c:v>
                </c:pt>
                <c:pt idx="155">
                  <c:v>43159</c:v>
                </c:pt>
                <c:pt idx="156">
                  <c:v>43190</c:v>
                </c:pt>
                <c:pt idx="157">
                  <c:v>43220</c:v>
                </c:pt>
                <c:pt idx="158">
                  <c:v>43251</c:v>
                </c:pt>
                <c:pt idx="159">
                  <c:v>43281</c:v>
                </c:pt>
                <c:pt idx="160">
                  <c:v>43312</c:v>
                </c:pt>
                <c:pt idx="161">
                  <c:v>43343</c:v>
                </c:pt>
                <c:pt idx="162">
                  <c:v>43373</c:v>
                </c:pt>
                <c:pt idx="163">
                  <c:v>43404</c:v>
                </c:pt>
                <c:pt idx="164">
                  <c:v>43434</c:v>
                </c:pt>
                <c:pt idx="165">
                  <c:v>43465</c:v>
                </c:pt>
                <c:pt idx="166">
                  <c:v>43496</c:v>
                </c:pt>
                <c:pt idx="167">
                  <c:v>43524</c:v>
                </c:pt>
                <c:pt idx="168">
                  <c:v>43555</c:v>
                </c:pt>
                <c:pt idx="169">
                  <c:v>43585</c:v>
                </c:pt>
                <c:pt idx="170">
                  <c:v>43616</c:v>
                </c:pt>
                <c:pt idx="171">
                  <c:v>43646</c:v>
                </c:pt>
                <c:pt idx="172">
                  <c:v>43677</c:v>
                </c:pt>
                <c:pt idx="173">
                  <c:v>43708</c:v>
                </c:pt>
                <c:pt idx="174">
                  <c:v>43738</c:v>
                </c:pt>
                <c:pt idx="175">
                  <c:v>43769</c:v>
                </c:pt>
                <c:pt idx="176">
                  <c:v>43799</c:v>
                </c:pt>
                <c:pt idx="177">
                  <c:v>43830</c:v>
                </c:pt>
                <c:pt idx="178">
                  <c:v>43861</c:v>
                </c:pt>
                <c:pt idx="179">
                  <c:v>43890</c:v>
                </c:pt>
                <c:pt idx="180">
                  <c:v>43921</c:v>
                </c:pt>
                <c:pt idx="181">
                  <c:v>43951</c:v>
                </c:pt>
                <c:pt idx="182">
                  <c:v>43982</c:v>
                </c:pt>
                <c:pt idx="183">
                  <c:v>44012</c:v>
                </c:pt>
                <c:pt idx="184">
                  <c:v>44043</c:v>
                </c:pt>
                <c:pt idx="185">
                  <c:v>44074</c:v>
                </c:pt>
                <c:pt idx="186">
                  <c:v>44104</c:v>
                </c:pt>
                <c:pt idx="187">
                  <c:v>44135</c:v>
                </c:pt>
                <c:pt idx="188">
                  <c:v>44165</c:v>
                </c:pt>
                <c:pt idx="189">
                  <c:v>44196</c:v>
                </c:pt>
                <c:pt idx="190">
                  <c:v>44227</c:v>
                </c:pt>
                <c:pt idx="191">
                  <c:v>44255</c:v>
                </c:pt>
                <c:pt idx="192">
                  <c:v>44286</c:v>
                </c:pt>
                <c:pt idx="193">
                  <c:v>44316</c:v>
                </c:pt>
                <c:pt idx="194">
                  <c:v>44347</c:v>
                </c:pt>
                <c:pt idx="195">
                  <c:v>44377</c:v>
                </c:pt>
                <c:pt idx="196">
                  <c:v>44408</c:v>
                </c:pt>
                <c:pt idx="197">
                  <c:v>44439</c:v>
                </c:pt>
                <c:pt idx="198">
                  <c:v>44469</c:v>
                </c:pt>
                <c:pt idx="199">
                  <c:v>44500</c:v>
                </c:pt>
                <c:pt idx="200">
                  <c:v>44530</c:v>
                </c:pt>
                <c:pt idx="201">
                  <c:v>44561</c:v>
                </c:pt>
                <c:pt idx="202">
                  <c:v>44592</c:v>
                </c:pt>
                <c:pt idx="203">
                  <c:v>44620</c:v>
                </c:pt>
                <c:pt idx="204">
                  <c:v>44651</c:v>
                </c:pt>
                <c:pt idx="205">
                  <c:v>44681</c:v>
                </c:pt>
                <c:pt idx="206">
                  <c:v>44712</c:v>
                </c:pt>
                <c:pt idx="207">
                  <c:v>44742</c:v>
                </c:pt>
                <c:pt idx="208">
                  <c:v>44773</c:v>
                </c:pt>
                <c:pt idx="209">
                  <c:v>44804</c:v>
                </c:pt>
                <c:pt idx="210">
                  <c:v>44834</c:v>
                </c:pt>
                <c:pt idx="211">
                  <c:v>44865</c:v>
                </c:pt>
                <c:pt idx="212">
                  <c:v>44895</c:v>
                </c:pt>
                <c:pt idx="213">
                  <c:v>44926</c:v>
                </c:pt>
                <c:pt idx="214">
                  <c:v>44957</c:v>
                </c:pt>
                <c:pt idx="215">
                  <c:v>44985</c:v>
                </c:pt>
                <c:pt idx="216">
                  <c:v>45016</c:v>
                </c:pt>
                <c:pt idx="217">
                  <c:v>45046</c:v>
                </c:pt>
                <c:pt idx="218">
                  <c:v>45077</c:v>
                </c:pt>
                <c:pt idx="219">
                  <c:v>45107</c:v>
                </c:pt>
                <c:pt idx="220">
                  <c:v>45138</c:v>
                </c:pt>
                <c:pt idx="221">
                  <c:v>45169</c:v>
                </c:pt>
                <c:pt idx="222">
                  <c:v>45199</c:v>
                </c:pt>
                <c:pt idx="223">
                  <c:v>45230</c:v>
                </c:pt>
                <c:pt idx="224">
                  <c:v>45260</c:v>
                </c:pt>
                <c:pt idx="225">
                  <c:v>45291</c:v>
                </c:pt>
                <c:pt idx="226">
                  <c:v>45322</c:v>
                </c:pt>
                <c:pt idx="227">
                  <c:v>45351</c:v>
                </c:pt>
                <c:pt idx="228">
                  <c:v>45382</c:v>
                </c:pt>
                <c:pt idx="229">
                  <c:v>45412</c:v>
                </c:pt>
                <c:pt idx="230">
                  <c:v>45443</c:v>
                </c:pt>
                <c:pt idx="231">
                  <c:v>45473</c:v>
                </c:pt>
                <c:pt idx="232">
                  <c:v>45504</c:v>
                </c:pt>
                <c:pt idx="233">
                  <c:v>45535</c:v>
                </c:pt>
                <c:pt idx="234">
                  <c:v>45565</c:v>
                </c:pt>
                <c:pt idx="235">
                  <c:v>45596</c:v>
                </c:pt>
                <c:pt idx="236">
                  <c:v>45626</c:v>
                </c:pt>
                <c:pt idx="237">
                  <c:v>45657</c:v>
                </c:pt>
                <c:pt idx="238">
                  <c:v>45688</c:v>
                </c:pt>
                <c:pt idx="239">
                  <c:v>45716</c:v>
                </c:pt>
                <c:pt idx="240">
                  <c:v>45747</c:v>
                </c:pt>
                <c:pt idx="241">
                  <c:v>45777</c:v>
                </c:pt>
                <c:pt idx="242">
                  <c:v>45808</c:v>
                </c:pt>
                <c:pt idx="243">
                  <c:v>45838</c:v>
                </c:pt>
                <c:pt idx="244">
                  <c:v>45869</c:v>
                </c:pt>
                <c:pt idx="245">
                  <c:v>45900</c:v>
                </c:pt>
                <c:pt idx="246">
                  <c:v>45930</c:v>
                </c:pt>
              </c:numCache>
            </c:numRef>
          </c:cat>
          <c:val>
            <c:numRef>
              <c:f>'US CONSUMER SLIDE'!$N$5:$N$8037</c:f>
              <c:numCache>
                <c:formatCode>General</c:formatCode>
                <c:ptCount val="8033"/>
                <c:pt idx="0">
                  <c:v>103</c:v>
                </c:pt>
                <c:pt idx="1">
                  <c:v>97.5</c:v>
                </c:pt>
                <c:pt idx="2">
                  <c:v>103.1</c:v>
                </c:pt>
                <c:pt idx="3">
                  <c:v>106.2</c:v>
                </c:pt>
                <c:pt idx="4">
                  <c:v>103.6</c:v>
                </c:pt>
                <c:pt idx="5">
                  <c:v>105.5</c:v>
                </c:pt>
                <c:pt idx="6">
                  <c:v>87.5</c:v>
                </c:pt>
                <c:pt idx="7">
                  <c:v>85.2</c:v>
                </c:pt>
                <c:pt idx="8">
                  <c:v>98.3</c:v>
                </c:pt>
                <c:pt idx="9">
                  <c:v>103.8</c:v>
                </c:pt>
                <c:pt idx="10">
                  <c:v>106.8</c:v>
                </c:pt>
                <c:pt idx="11">
                  <c:v>102.7</c:v>
                </c:pt>
                <c:pt idx="12">
                  <c:v>107.5</c:v>
                </c:pt>
                <c:pt idx="13">
                  <c:v>109.8</c:v>
                </c:pt>
                <c:pt idx="14">
                  <c:v>104.7</c:v>
                </c:pt>
                <c:pt idx="15">
                  <c:v>105.4</c:v>
                </c:pt>
                <c:pt idx="16">
                  <c:v>107</c:v>
                </c:pt>
                <c:pt idx="17">
                  <c:v>100.2</c:v>
                </c:pt>
                <c:pt idx="18">
                  <c:v>105.9</c:v>
                </c:pt>
                <c:pt idx="19">
                  <c:v>105.1</c:v>
                </c:pt>
                <c:pt idx="20">
                  <c:v>105.3</c:v>
                </c:pt>
                <c:pt idx="21">
                  <c:v>110</c:v>
                </c:pt>
                <c:pt idx="22">
                  <c:v>110.2</c:v>
                </c:pt>
                <c:pt idx="23">
                  <c:v>111.2</c:v>
                </c:pt>
                <c:pt idx="24">
                  <c:v>108.2</c:v>
                </c:pt>
                <c:pt idx="25">
                  <c:v>106.3</c:v>
                </c:pt>
                <c:pt idx="26">
                  <c:v>108.5</c:v>
                </c:pt>
                <c:pt idx="27">
                  <c:v>105.3</c:v>
                </c:pt>
                <c:pt idx="28">
                  <c:v>111.9</c:v>
                </c:pt>
                <c:pt idx="29">
                  <c:v>105.6</c:v>
                </c:pt>
                <c:pt idx="30">
                  <c:v>99.5</c:v>
                </c:pt>
                <c:pt idx="31">
                  <c:v>95.2</c:v>
                </c:pt>
                <c:pt idx="32">
                  <c:v>87.8</c:v>
                </c:pt>
                <c:pt idx="33">
                  <c:v>90.6</c:v>
                </c:pt>
                <c:pt idx="34">
                  <c:v>87.3</c:v>
                </c:pt>
                <c:pt idx="35">
                  <c:v>76.400000000000006</c:v>
                </c:pt>
                <c:pt idx="36">
                  <c:v>65.900000000000006</c:v>
                </c:pt>
                <c:pt idx="37">
                  <c:v>62.8</c:v>
                </c:pt>
                <c:pt idx="38">
                  <c:v>58.1</c:v>
                </c:pt>
                <c:pt idx="39">
                  <c:v>51</c:v>
                </c:pt>
                <c:pt idx="40">
                  <c:v>51.9</c:v>
                </c:pt>
                <c:pt idx="41">
                  <c:v>58.5</c:v>
                </c:pt>
                <c:pt idx="42">
                  <c:v>61.4</c:v>
                </c:pt>
                <c:pt idx="43">
                  <c:v>38.799999999999997</c:v>
                </c:pt>
                <c:pt idx="44">
                  <c:v>44.7</c:v>
                </c:pt>
                <c:pt idx="45">
                  <c:v>38.6</c:v>
                </c:pt>
                <c:pt idx="46">
                  <c:v>37.4</c:v>
                </c:pt>
                <c:pt idx="47">
                  <c:v>25.3</c:v>
                </c:pt>
                <c:pt idx="48">
                  <c:v>26.9</c:v>
                </c:pt>
                <c:pt idx="49">
                  <c:v>40.799999999999997</c:v>
                </c:pt>
                <c:pt idx="50">
                  <c:v>54.8</c:v>
                </c:pt>
                <c:pt idx="51">
                  <c:v>49.3</c:v>
                </c:pt>
                <c:pt idx="52">
                  <c:v>47.4</c:v>
                </c:pt>
                <c:pt idx="53">
                  <c:v>54.5</c:v>
                </c:pt>
                <c:pt idx="54">
                  <c:v>53.4</c:v>
                </c:pt>
                <c:pt idx="55">
                  <c:v>48.7</c:v>
                </c:pt>
                <c:pt idx="56">
                  <c:v>50.6</c:v>
                </c:pt>
                <c:pt idx="57">
                  <c:v>53.6</c:v>
                </c:pt>
                <c:pt idx="58">
                  <c:v>56.5</c:v>
                </c:pt>
                <c:pt idx="59">
                  <c:v>46.4</c:v>
                </c:pt>
                <c:pt idx="60">
                  <c:v>52.3</c:v>
                </c:pt>
                <c:pt idx="61">
                  <c:v>57.7</c:v>
                </c:pt>
                <c:pt idx="62">
                  <c:v>62.7</c:v>
                </c:pt>
                <c:pt idx="63">
                  <c:v>54.3</c:v>
                </c:pt>
                <c:pt idx="64">
                  <c:v>51</c:v>
                </c:pt>
                <c:pt idx="65">
                  <c:v>53.2</c:v>
                </c:pt>
                <c:pt idx="66">
                  <c:v>48.6</c:v>
                </c:pt>
                <c:pt idx="67">
                  <c:v>49.9</c:v>
                </c:pt>
                <c:pt idx="68">
                  <c:v>57.8</c:v>
                </c:pt>
                <c:pt idx="69">
                  <c:v>63.4</c:v>
                </c:pt>
                <c:pt idx="70">
                  <c:v>64.8</c:v>
                </c:pt>
                <c:pt idx="71">
                  <c:v>72</c:v>
                </c:pt>
                <c:pt idx="72">
                  <c:v>63.8</c:v>
                </c:pt>
                <c:pt idx="73">
                  <c:v>66</c:v>
                </c:pt>
                <c:pt idx="74">
                  <c:v>61.7</c:v>
                </c:pt>
                <c:pt idx="75">
                  <c:v>57.6</c:v>
                </c:pt>
                <c:pt idx="76">
                  <c:v>59.2</c:v>
                </c:pt>
                <c:pt idx="77">
                  <c:v>45.2</c:v>
                </c:pt>
                <c:pt idx="78">
                  <c:v>46.4</c:v>
                </c:pt>
                <c:pt idx="79">
                  <c:v>40.9</c:v>
                </c:pt>
                <c:pt idx="80">
                  <c:v>55.2</c:v>
                </c:pt>
                <c:pt idx="81">
                  <c:v>64.8</c:v>
                </c:pt>
                <c:pt idx="82">
                  <c:v>61.5</c:v>
                </c:pt>
                <c:pt idx="83">
                  <c:v>71.599999999999994</c:v>
                </c:pt>
                <c:pt idx="84">
                  <c:v>69.5</c:v>
                </c:pt>
                <c:pt idx="85">
                  <c:v>68.7</c:v>
                </c:pt>
                <c:pt idx="86">
                  <c:v>64.400000000000006</c:v>
                </c:pt>
                <c:pt idx="87">
                  <c:v>62.7</c:v>
                </c:pt>
                <c:pt idx="88">
                  <c:v>65.400000000000006</c:v>
                </c:pt>
                <c:pt idx="89">
                  <c:v>61.3</c:v>
                </c:pt>
                <c:pt idx="90">
                  <c:v>68.400000000000006</c:v>
                </c:pt>
                <c:pt idx="91">
                  <c:v>73.099999999999994</c:v>
                </c:pt>
                <c:pt idx="92">
                  <c:v>71.5</c:v>
                </c:pt>
                <c:pt idx="93">
                  <c:v>66.7</c:v>
                </c:pt>
                <c:pt idx="94">
                  <c:v>58.4</c:v>
                </c:pt>
                <c:pt idx="95">
                  <c:v>68</c:v>
                </c:pt>
                <c:pt idx="96">
                  <c:v>61.9</c:v>
                </c:pt>
                <c:pt idx="97">
                  <c:v>69</c:v>
                </c:pt>
                <c:pt idx="98">
                  <c:v>74.3</c:v>
                </c:pt>
                <c:pt idx="99">
                  <c:v>82.1</c:v>
                </c:pt>
                <c:pt idx="100">
                  <c:v>81</c:v>
                </c:pt>
                <c:pt idx="101">
                  <c:v>81.8</c:v>
                </c:pt>
                <c:pt idx="102">
                  <c:v>80.2</c:v>
                </c:pt>
                <c:pt idx="103">
                  <c:v>72.400000000000006</c:v>
                </c:pt>
                <c:pt idx="104">
                  <c:v>72</c:v>
                </c:pt>
                <c:pt idx="105">
                  <c:v>77.5</c:v>
                </c:pt>
                <c:pt idx="106">
                  <c:v>79.400000000000006</c:v>
                </c:pt>
                <c:pt idx="107">
                  <c:v>78.3</c:v>
                </c:pt>
                <c:pt idx="108">
                  <c:v>83.9</c:v>
                </c:pt>
                <c:pt idx="109">
                  <c:v>81.7</c:v>
                </c:pt>
                <c:pt idx="110">
                  <c:v>82.2</c:v>
                </c:pt>
                <c:pt idx="111">
                  <c:v>86.4</c:v>
                </c:pt>
                <c:pt idx="112">
                  <c:v>90.3</c:v>
                </c:pt>
                <c:pt idx="113">
                  <c:v>93.4</c:v>
                </c:pt>
                <c:pt idx="114">
                  <c:v>89</c:v>
                </c:pt>
                <c:pt idx="115">
                  <c:v>94.1</c:v>
                </c:pt>
                <c:pt idx="116">
                  <c:v>91</c:v>
                </c:pt>
                <c:pt idx="117">
                  <c:v>93.1</c:v>
                </c:pt>
                <c:pt idx="118">
                  <c:v>103.8</c:v>
                </c:pt>
                <c:pt idx="119">
                  <c:v>98.8</c:v>
                </c:pt>
                <c:pt idx="120">
                  <c:v>101.4</c:v>
                </c:pt>
                <c:pt idx="121">
                  <c:v>94.3</c:v>
                </c:pt>
                <c:pt idx="122">
                  <c:v>94.6</c:v>
                </c:pt>
                <c:pt idx="123">
                  <c:v>99.8</c:v>
                </c:pt>
                <c:pt idx="124">
                  <c:v>91</c:v>
                </c:pt>
                <c:pt idx="125">
                  <c:v>101.3</c:v>
                </c:pt>
                <c:pt idx="126">
                  <c:v>102.6</c:v>
                </c:pt>
                <c:pt idx="127">
                  <c:v>99.1</c:v>
                </c:pt>
                <c:pt idx="128">
                  <c:v>92.6</c:v>
                </c:pt>
                <c:pt idx="129">
                  <c:v>96.3</c:v>
                </c:pt>
                <c:pt idx="130">
                  <c:v>97.8</c:v>
                </c:pt>
                <c:pt idx="131">
                  <c:v>94</c:v>
                </c:pt>
                <c:pt idx="132">
                  <c:v>96.1</c:v>
                </c:pt>
                <c:pt idx="133">
                  <c:v>94.7</c:v>
                </c:pt>
                <c:pt idx="134">
                  <c:v>92.4</c:v>
                </c:pt>
                <c:pt idx="135">
                  <c:v>97.4</c:v>
                </c:pt>
                <c:pt idx="136">
                  <c:v>96.7</c:v>
                </c:pt>
                <c:pt idx="137">
                  <c:v>101.8</c:v>
                </c:pt>
                <c:pt idx="138">
                  <c:v>103.5</c:v>
                </c:pt>
                <c:pt idx="139">
                  <c:v>100.8</c:v>
                </c:pt>
                <c:pt idx="140">
                  <c:v>109.4</c:v>
                </c:pt>
                <c:pt idx="141">
                  <c:v>113.3</c:v>
                </c:pt>
                <c:pt idx="142">
                  <c:v>111.6</c:v>
                </c:pt>
                <c:pt idx="143">
                  <c:v>116.1</c:v>
                </c:pt>
                <c:pt idx="144">
                  <c:v>124.9</c:v>
                </c:pt>
                <c:pt idx="145">
                  <c:v>119.4</c:v>
                </c:pt>
                <c:pt idx="146">
                  <c:v>117.6</c:v>
                </c:pt>
                <c:pt idx="147">
                  <c:v>117.3</c:v>
                </c:pt>
                <c:pt idx="148">
                  <c:v>120</c:v>
                </c:pt>
                <c:pt idx="149">
                  <c:v>120.4</c:v>
                </c:pt>
                <c:pt idx="150">
                  <c:v>120.6</c:v>
                </c:pt>
                <c:pt idx="151">
                  <c:v>126.2</c:v>
                </c:pt>
                <c:pt idx="152">
                  <c:v>128.6</c:v>
                </c:pt>
                <c:pt idx="153">
                  <c:v>123.1</c:v>
                </c:pt>
                <c:pt idx="154">
                  <c:v>124.3</c:v>
                </c:pt>
                <c:pt idx="155">
                  <c:v>130</c:v>
                </c:pt>
                <c:pt idx="156">
                  <c:v>127</c:v>
                </c:pt>
                <c:pt idx="157">
                  <c:v>125.6</c:v>
                </c:pt>
                <c:pt idx="158">
                  <c:v>128.80000000000001</c:v>
                </c:pt>
                <c:pt idx="159">
                  <c:v>127.1</c:v>
                </c:pt>
                <c:pt idx="160">
                  <c:v>127.9</c:v>
                </c:pt>
                <c:pt idx="161">
                  <c:v>134.69999999999999</c:v>
                </c:pt>
                <c:pt idx="162">
                  <c:v>135.30000000000001</c:v>
                </c:pt>
                <c:pt idx="163">
                  <c:v>137.9</c:v>
                </c:pt>
                <c:pt idx="164">
                  <c:v>136.4</c:v>
                </c:pt>
                <c:pt idx="165">
                  <c:v>126.6</c:v>
                </c:pt>
                <c:pt idx="166">
                  <c:v>121.7</c:v>
                </c:pt>
                <c:pt idx="167">
                  <c:v>131.4</c:v>
                </c:pt>
                <c:pt idx="168">
                  <c:v>124.2</c:v>
                </c:pt>
                <c:pt idx="169">
                  <c:v>129.19999999999999</c:v>
                </c:pt>
                <c:pt idx="170">
                  <c:v>131.30000000000001</c:v>
                </c:pt>
                <c:pt idx="171">
                  <c:v>124.3</c:v>
                </c:pt>
                <c:pt idx="172">
                  <c:v>135.80000000000001</c:v>
                </c:pt>
                <c:pt idx="173">
                  <c:v>134.19999999999999</c:v>
                </c:pt>
                <c:pt idx="174">
                  <c:v>126.3</c:v>
                </c:pt>
                <c:pt idx="175">
                  <c:v>126.1</c:v>
                </c:pt>
                <c:pt idx="176">
                  <c:v>126.8</c:v>
                </c:pt>
                <c:pt idx="177">
                  <c:v>128.19999999999999</c:v>
                </c:pt>
                <c:pt idx="178">
                  <c:v>130.4</c:v>
                </c:pt>
                <c:pt idx="179">
                  <c:v>132.6</c:v>
                </c:pt>
                <c:pt idx="180">
                  <c:v>118.8</c:v>
                </c:pt>
                <c:pt idx="181">
                  <c:v>85.7</c:v>
                </c:pt>
                <c:pt idx="182">
                  <c:v>85.9</c:v>
                </c:pt>
                <c:pt idx="183">
                  <c:v>98.3</c:v>
                </c:pt>
                <c:pt idx="184">
                  <c:v>91.7</c:v>
                </c:pt>
                <c:pt idx="185">
                  <c:v>86.3</c:v>
                </c:pt>
                <c:pt idx="186">
                  <c:v>101.3</c:v>
                </c:pt>
                <c:pt idx="187">
                  <c:v>101.4</c:v>
                </c:pt>
                <c:pt idx="188">
                  <c:v>92.9</c:v>
                </c:pt>
                <c:pt idx="189">
                  <c:v>87.1</c:v>
                </c:pt>
                <c:pt idx="190">
                  <c:v>87.1</c:v>
                </c:pt>
                <c:pt idx="191">
                  <c:v>95.2</c:v>
                </c:pt>
                <c:pt idx="192">
                  <c:v>114.9</c:v>
                </c:pt>
                <c:pt idx="193">
                  <c:v>117.5</c:v>
                </c:pt>
                <c:pt idx="194">
                  <c:v>120</c:v>
                </c:pt>
                <c:pt idx="195">
                  <c:v>128.9</c:v>
                </c:pt>
                <c:pt idx="196">
                  <c:v>125.1</c:v>
                </c:pt>
                <c:pt idx="197">
                  <c:v>115.2</c:v>
                </c:pt>
                <c:pt idx="198">
                  <c:v>109.8</c:v>
                </c:pt>
                <c:pt idx="199">
                  <c:v>111.6</c:v>
                </c:pt>
                <c:pt idx="200">
                  <c:v>111.9</c:v>
                </c:pt>
                <c:pt idx="201">
                  <c:v>115.2</c:v>
                </c:pt>
                <c:pt idx="202">
                  <c:v>111.1</c:v>
                </c:pt>
                <c:pt idx="203">
                  <c:v>105.7</c:v>
                </c:pt>
                <c:pt idx="204">
                  <c:v>107.6</c:v>
                </c:pt>
                <c:pt idx="205">
                  <c:v>108.6</c:v>
                </c:pt>
                <c:pt idx="206">
                  <c:v>103.2</c:v>
                </c:pt>
                <c:pt idx="207">
                  <c:v>98.4</c:v>
                </c:pt>
                <c:pt idx="208">
                  <c:v>95.3</c:v>
                </c:pt>
                <c:pt idx="209">
                  <c:v>103.6</c:v>
                </c:pt>
                <c:pt idx="210">
                  <c:v>107.8</c:v>
                </c:pt>
                <c:pt idx="211">
                  <c:v>102.2</c:v>
                </c:pt>
                <c:pt idx="212">
                  <c:v>101.4</c:v>
                </c:pt>
                <c:pt idx="213">
                  <c:v>109</c:v>
                </c:pt>
                <c:pt idx="214">
                  <c:v>106</c:v>
                </c:pt>
                <c:pt idx="215">
                  <c:v>103.4</c:v>
                </c:pt>
                <c:pt idx="216">
                  <c:v>104</c:v>
                </c:pt>
                <c:pt idx="217">
                  <c:v>103.7</c:v>
                </c:pt>
                <c:pt idx="218">
                  <c:v>102.5</c:v>
                </c:pt>
                <c:pt idx="219">
                  <c:v>110.1</c:v>
                </c:pt>
                <c:pt idx="220">
                  <c:v>114</c:v>
                </c:pt>
                <c:pt idx="221">
                  <c:v>108.7</c:v>
                </c:pt>
                <c:pt idx="222">
                  <c:v>104.3</c:v>
                </c:pt>
                <c:pt idx="223">
                  <c:v>99.1</c:v>
                </c:pt>
                <c:pt idx="224">
                  <c:v>101</c:v>
                </c:pt>
                <c:pt idx="225">
                  <c:v>108</c:v>
                </c:pt>
                <c:pt idx="226">
                  <c:v>110.9</c:v>
                </c:pt>
                <c:pt idx="227">
                  <c:v>104.8</c:v>
                </c:pt>
                <c:pt idx="228">
                  <c:v>103.1</c:v>
                </c:pt>
                <c:pt idx="229">
                  <c:v>97.5</c:v>
                </c:pt>
                <c:pt idx="230">
                  <c:v>101.3</c:v>
                </c:pt>
                <c:pt idx="231">
                  <c:v>97.8</c:v>
                </c:pt>
                <c:pt idx="232">
                  <c:v>101.9</c:v>
                </c:pt>
                <c:pt idx="233">
                  <c:v>105.6</c:v>
                </c:pt>
                <c:pt idx="234">
                  <c:v>99.2</c:v>
                </c:pt>
                <c:pt idx="235">
                  <c:v>109.6</c:v>
                </c:pt>
                <c:pt idx="236">
                  <c:v>112.8</c:v>
                </c:pt>
                <c:pt idx="237">
                  <c:v>109.5</c:v>
                </c:pt>
                <c:pt idx="238">
                  <c:v>105.3</c:v>
                </c:pt>
                <c:pt idx="239">
                  <c:v>100.1</c:v>
                </c:pt>
                <c:pt idx="240">
                  <c:v>93.9</c:v>
                </c:pt>
                <c:pt idx="241" formatCode="0.0">
                  <c:v>85.7</c:v>
                </c:pt>
                <c:pt idx="242" formatCode="0.0">
                  <c:v>98.4</c:v>
                </c:pt>
                <c:pt idx="243">
                  <c:v>95.2</c:v>
                </c:pt>
                <c:pt idx="244">
                  <c:v>98.7</c:v>
                </c:pt>
                <c:pt idx="245">
                  <c:v>97.8</c:v>
                </c:pt>
                <c:pt idx="246">
                  <c:v>94.2</c:v>
                </c:pt>
              </c:numCache>
            </c:numRef>
          </c:val>
          <c:smooth val="0"/>
          <c:extLst>
            <c:ext xmlns:c16="http://schemas.microsoft.com/office/drawing/2014/chart" uri="{C3380CC4-5D6E-409C-BE32-E72D297353CC}">
              <c16:uniqueId val="{00000001-80B8-49A9-AE26-C7424F1766FA}"/>
            </c:ext>
          </c:extLst>
        </c:ser>
        <c:dLbls>
          <c:showLegendKey val="0"/>
          <c:showVal val="0"/>
          <c:showCatName val="0"/>
          <c:showSerName val="0"/>
          <c:showPercent val="0"/>
          <c:showBubbleSize val="0"/>
        </c:dLbls>
        <c:marker val="1"/>
        <c:smooth val="0"/>
        <c:axId val="107661871"/>
        <c:axId val="107645071"/>
      </c:lineChart>
      <c:dateAx>
        <c:axId val="107661871"/>
        <c:scaling>
          <c:orientation val="minMax"/>
          <c:max val="45930"/>
          <c:min val="38625"/>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all" baseline="0">
                <a:solidFill>
                  <a:schemeClr val="bg1"/>
                </a:solidFill>
                <a:latin typeface="Poppins" panose="00000500000000000000" pitchFamily="2" charset="0"/>
                <a:ea typeface="+mn-ea"/>
                <a:cs typeface="+mn-cs"/>
              </a:defRPr>
            </a:pPr>
            <a:endParaRPr lang="en-US"/>
          </a:p>
        </c:txPr>
        <c:crossAx val="107645071"/>
        <c:crosses val="autoZero"/>
        <c:auto val="1"/>
        <c:lblOffset val="100"/>
        <c:baseTimeUnit val="months"/>
        <c:majorUnit val="5"/>
        <c:majorTimeUnit val="years"/>
      </c:dateAx>
      <c:valAx>
        <c:axId val="107645071"/>
        <c:scaling>
          <c:orientation val="minMax"/>
          <c:max val="160"/>
        </c:scaling>
        <c:delete val="0"/>
        <c:axPos val="l"/>
        <c:majorGridlines>
          <c:spPr>
            <a:ln w="9525" cap="flat" cmpd="sng" algn="ctr">
              <a:solidFill>
                <a:schemeClr val="bg1">
                  <a:lumMod val="85000"/>
                  <a:alpha val="51000"/>
                </a:schemeClr>
              </a:solidFill>
              <a:round/>
            </a:ln>
            <a:effectLst/>
          </c:spPr>
        </c:majorGridlines>
        <c:numFmt formatCode="General" sourceLinked="1"/>
        <c:majorTickMark val="out"/>
        <c:minorTickMark val="none"/>
        <c:tickLblPos val="nextTo"/>
        <c:spPr>
          <a:noFill/>
          <a:ln>
            <a:solidFill>
              <a:schemeClr val="bg1">
                <a:lumMod val="85000"/>
                <a:alpha val="75000"/>
              </a:schemeClr>
            </a:solidFill>
          </a:ln>
          <a:effectLst/>
        </c:spPr>
        <c:txPr>
          <a:bodyPr rot="-60000000" spcFirstLastPara="1" vertOverflow="ellipsis" vert="horz" wrap="square" anchor="ctr" anchorCtr="1"/>
          <a:lstStyle/>
          <a:p>
            <a:pPr>
              <a:defRPr sz="1000" b="0" i="0"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crossAx val="107661871"/>
        <c:crosses val="autoZero"/>
        <c:crossBetween val="between"/>
        <c:majorUnit val="32"/>
      </c:valAx>
      <c:valAx>
        <c:axId val="2074424639"/>
        <c:scaling>
          <c:orientation val="minMax"/>
          <c:max val="10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rgbClr val="2B3E59"/>
                </a:solidFill>
                <a:latin typeface="+mn-lt"/>
                <a:ea typeface="+mn-ea"/>
                <a:cs typeface="+mn-cs"/>
              </a:defRPr>
            </a:pPr>
            <a:endParaRPr lang="en-US"/>
          </a:p>
        </c:txPr>
        <c:crossAx val="2074428959"/>
        <c:crosses val="max"/>
        <c:crossBetween val="between"/>
      </c:valAx>
      <c:dateAx>
        <c:axId val="2074428959"/>
        <c:scaling>
          <c:orientation val="minMax"/>
        </c:scaling>
        <c:delete val="1"/>
        <c:axPos val="b"/>
        <c:numFmt formatCode="m/d/yyyy" sourceLinked="1"/>
        <c:majorTickMark val="out"/>
        <c:minorTickMark val="none"/>
        <c:tickLblPos val="nextTo"/>
        <c:crossAx val="2074424639"/>
        <c:crosses val="autoZero"/>
        <c:auto val="1"/>
        <c:lblOffset val="100"/>
        <c:baseTimeUnit val="months"/>
      </c:dateAx>
      <c:spPr>
        <a:noFill/>
        <a:ln>
          <a:noFill/>
        </a:ln>
        <a:effectLst/>
      </c:spPr>
    </c:plotArea>
    <c:plotVisOnly val="1"/>
    <c:dispBlanksAs val="zero"/>
    <c:showDLblsOverMax val="0"/>
  </c:chart>
  <c:spPr>
    <a:solidFill>
      <a:srgbClr val="2B3E59"/>
    </a:solidFill>
    <a:ln w="9525" cap="flat" cmpd="sng" algn="ctr">
      <a:noFill/>
      <a:round/>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243"/>
      <c:rAngAx val="0"/>
    </c:view3D>
    <c:floor>
      <c:thickness val="0"/>
    </c:floor>
    <c:sideWall>
      <c:thickness val="0"/>
      <c:spPr>
        <a:ln>
          <a:noFill/>
        </a:ln>
      </c:spPr>
    </c:sideWall>
    <c:backWall>
      <c:thickness val="0"/>
      <c:spPr>
        <a:ln>
          <a:noFill/>
        </a:ln>
      </c:spPr>
    </c:backWall>
    <c:plotArea>
      <c:layout>
        <c:manualLayout>
          <c:layoutTarget val="inner"/>
          <c:xMode val="edge"/>
          <c:yMode val="edge"/>
          <c:x val="6.5649966723895707E-4"/>
          <c:y val="6.9390966872104984E-2"/>
          <c:w val="0.97425997425997424"/>
          <c:h val="0.84619248078754694"/>
        </c:manualLayout>
      </c:layout>
      <c:pie3DChart>
        <c:varyColors val="1"/>
        <c:ser>
          <c:idx val="2"/>
          <c:order val="0"/>
          <c:tx>
            <c:strRef>
              <c:f>'Allocation w WB'!$B$3:$B$10</c:f>
              <c:strCache>
                <c:ptCount val="8"/>
                <c:pt idx="0">
                  <c:v>PERFORMA LIQUID ASSETS FUND</c:v>
                </c:pt>
                <c:pt idx="1">
                  <c:v>SEIX INVESTMENT ADVISORS</c:v>
                </c:pt>
                <c:pt idx="2">
                  <c:v>PERFORMA INTERNATIONAL BOND FUND</c:v>
                </c:pt>
                <c:pt idx="3">
                  <c:v>SPDR S&amp;P 500 ETF</c:v>
                </c:pt>
                <c:pt idx="4">
                  <c:v>CHAMPLAIN MID CAP</c:v>
                </c:pt>
                <c:pt idx="5">
                  <c:v>PZENA SMALL CAP VALUE</c:v>
                </c:pt>
                <c:pt idx="6">
                  <c:v>WILLIAM BLAIR ELKINS GROWTH STRATEGY</c:v>
                </c:pt>
                <c:pt idx="7">
                  <c:v>ORBIS GLOBAL EQUITY  FUND</c:v>
                </c:pt>
              </c:strCache>
            </c:strRef>
          </c:tx>
          <c:spPr>
            <a:solidFill>
              <a:srgbClr val="106280"/>
            </a:solidFill>
            <a:ln w="82550">
              <a:noFill/>
            </a:ln>
          </c:spPr>
          <c:dPt>
            <c:idx val="0"/>
            <c:bubble3D val="0"/>
            <c:spPr>
              <a:solidFill>
                <a:sysClr val="window" lastClr="FFFFFF">
                  <a:lumMod val="50000"/>
                </a:sysClr>
              </a:solidFill>
              <a:ln w="82550">
                <a:noFill/>
              </a:ln>
            </c:spPr>
            <c:extLst>
              <c:ext xmlns:c16="http://schemas.microsoft.com/office/drawing/2014/chart" uri="{C3380CC4-5D6E-409C-BE32-E72D297353CC}">
                <c16:uniqueId val="{00000001-8D6F-43CE-8531-7EC357BA6701}"/>
              </c:ext>
            </c:extLst>
          </c:dPt>
          <c:dPt>
            <c:idx val="1"/>
            <c:bubble3D val="0"/>
            <c:spPr>
              <a:solidFill>
                <a:srgbClr val="57A666"/>
              </a:solidFill>
              <a:ln w="82550">
                <a:noFill/>
              </a:ln>
            </c:spPr>
            <c:extLst>
              <c:ext xmlns:c16="http://schemas.microsoft.com/office/drawing/2014/chart" uri="{C3380CC4-5D6E-409C-BE32-E72D297353CC}">
                <c16:uniqueId val="{00000003-8D6F-43CE-8531-7EC357BA6701}"/>
              </c:ext>
            </c:extLst>
          </c:dPt>
          <c:dPt>
            <c:idx val="3"/>
            <c:bubble3D val="0"/>
            <c:spPr>
              <a:solidFill>
                <a:srgbClr val="1F2D41"/>
              </a:solidFill>
              <a:ln w="82550">
                <a:noFill/>
              </a:ln>
            </c:spPr>
            <c:extLst>
              <c:ext xmlns:c16="http://schemas.microsoft.com/office/drawing/2014/chart" uri="{C3380CC4-5D6E-409C-BE32-E72D297353CC}">
                <c16:uniqueId val="{00000005-8D6F-43CE-8531-7EC357BA6701}"/>
              </c:ext>
            </c:extLst>
          </c:dPt>
          <c:dPt>
            <c:idx val="4"/>
            <c:bubble3D val="0"/>
            <c:spPr>
              <a:solidFill>
                <a:srgbClr val="2B3E59"/>
              </a:solidFill>
              <a:ln w="82550">
                <a:noFill/>
              </a:ln>
            </c:spPr>
            <c:extLst>
              <c:ext xmlns:c16="http://schemas.microsoft.com/office/drawing/2014/chart" uri="{C3380CC4-5D6E-409C-BE32-E72D297353CC}">
                <c16:uniqueId val="{00000007-8D6F-43CE-8531-7EC357BA6701}"/>
              </c:ext>
            </c:extLst>
          </c:dPt>
          <c:dPt>
            <c:idx val="5"/>
            <c:bubble3D val="0"/>
            <c:spPr>
              <a:solidFill>
                <a:srgbClr val="3B5479"/>
              </a:solidFill>
              <a:ln w="82550">
                <a:noFill/>
              </a:ln>
            </c:spPr>
            <c:extLst>
              <c:ext xmlns:c16="http://schemas.microsoft.com/office/drawing/2014/chart" uri="{C3380CC4-5D6E-409C-BE32-E72D297353CC}">
                <c16:uniqueId val="{00000009-8D6F-43CE-8531-7EC357BA6701}"/>
              </c:ext>
            </c:extLst>
          </c:dPt>
          <c:dPt>
            <c:idx val="6"/>
            <c:bubble3D val="0"/>
            <c:spPr>
              <a:solidFill>
                <a:srgbClr val="0070C0"/>
              </a:solidFill>
              <a:ln w="82550">
                <a:noFill/>
              </a:ln>
            </c:spPr>
            <c:extLst>
              <c:ext xmlns:c16="http://schemas.microsoft.com/office/drawing/2014/chart" uri="{C3380CC4-5D6E-409C-BE32-E72D297353CC}">
                <c16:uniqueId val="{0000000B-8D6F-43CE-8531-7EC357BA6701}"/>
              </c:ext>
            </c:extLst>
          </c:dPt>
          <c:dPt>
            <c:idx val="7"/>
            <c:bubble3D val="0"/>
            <c:spPr>
              <a:solidFill>
                <a:srgbClr val="5891A6"/>
              </a:solidFill>
              <a:ln w="82550">
                <a:noFill/>
              </a:ln>
            </c:spPr>
            <c:extLst>
              <c:ext xmlns:c16="http://schemas.microsoft.com/office/drawing/2014/chart" uri="{C3380CC4-5D6E-409C-BE32-E72D297353CC}">
                <c16:uniqueId val="{0000000D-8D6F-43CE-8531-7EC357BA6701}"/>
              </c:ext>
            </c:extLst>
          </c:dPt>
          <c:dLbls>
            <c:dLbl>
              <c:idx val="0"/>
              <c:delete val="1"/>
              <c:extLst>
                <c:ext xmlns:c15="http://schemas.microsoft.com/office/drawing/2012/chart" uri="{CE6537A1-D6FC-4f65-9D91-7224C49458BB}"/>
                <c:ext xmlns:c16="http://schemas.microsoft.com/office/drawing/2014/chart" uri="{C3380CC4-5D6E-409C-BE32-E72D297353CC}">
                  <c16:uniqueId val="{00000001-8D6F-43CE-8531-7EC357BA6701}"/>
                </c:ext>
              </c:extLst>
            </c:dLbl>
            <c:dLbl>
              <c:idx val="1"/>
              <c:layout>
                <c:manualLayout>
                  <c:x val="0.16899957073390576"/>
                  <c:y val="5.110151305413374E-2"/>
                </c:manualLayout>
              </c:layout>
              <c:tx>
                <c:rich>
                  <a:bodyPr wrap="square" lIns="38100" tIns="19050" rIns="38100" bIns="19050" anchor="ctr" anchorCtr="0">
                    <a:noAutofit/>
                  </a:bodyPr>
                  <a:lstStyle/>
                  <a:p>
                    <a:pPr algn="ctr">
                      <a:defRPr lang="en-US" sz="1100" b="0" i="0" u="none" strike="noStrike" kern="1200" spc="20" baseline="0">
                        <a:solidFill>
                          <a:sysClr val="windowText" lastClr="000000"/>
                        </a:solidFill>
                        <a:latin typeface="Poppins SemiBold" panose="00000700000000000000" pitchFamily="2" charset="0"/>
                        <a:ea typeface="+mn-ea"/>
                        <a:cs typeface="Poppins SemiBold" panose="00000700000000000000" pitchFamily="2" charset="0"/>
                      </a:defRPr>
                    </a:pPr>
                    <a:r>
                      <a:rPr lang="en-US">
                        <a:solidFill>
                          <a:schemeClr val="bg1"/>
                        </a:solidFill>
                      </a:rPr>
                      <a:t>PERFORMA HIGH YIELD</a:t>
                    </a:r>
                    <a:r>
                      <a:rPr lang="en-US" baseline="0">
                        <a:solidFill>
                          <a:schemeClr val="bg1"/>
                        </a:solidFill>
                      </a:rPr>
                      <a:t> FUND
</a:t>
                    </a:r>
                    <a:fld id="{0CF233EC-37BF-4FFC-B535-9C3C31D323CC}" type="VALUE">
                      <a:rPr lang="en-US" baseline="0">
                        <a:solidFill>
                          <a:schemeClr val="bg1"/>
                        </a:solidFill>
                      </a:rPr>
                      <a:pPr algn="ctr">
                        <a:defRPr lang="en-US" sz="1100" b="0" i="0" u="none" strike="noStrike" kern="1200" spc="20" baseline="0">
                          <a:solidFill>
                            <a:sysClr val="windowText" lastClr="000000"/>
                          </a:solidFill>
                          <a:latin typeface="Poppins SemiBold" panose="00000700000000000000" pitchFamily="2" charset="0"/>
                          <a:ea typeface="+mn-ea"/>
                          <a:cs typeface="Poppins SemiBold" panose="00000700000000000000" pitchFamily="2" charset="0"/>
                        </a:defRPr>
                      </a:pPr>
                      <a:t>[VALUE]</a:t>
                    </a:fld>
                    <a:endParaRPr lang="en-US" baseline="0">
                      <a:solidFill>
                        <a:schemeClr val="bg1"/>
                      </a:solidFill>
                    </a:endParaRPr>
                  </a:p>
                </c:rich>
              </c:tx>
              <c:spPr>
                <a:noFill/>
                <a:ln>
                  <a:noFill/>
                </a:ln>
                <a:effectLst/>
              </c:spPr>
              <c:dLblPos val="bestFit"/>
              <c:showLegendKey val="0"/>
              <c:showVal val="1"/>
              <c:showCatName val="1"/>
              <c:showSerName val="0"/>
              <c:showPercent val="0"/>
              <c:showBubbleSize val="0"/>
              <c:separator>
</c:separator>
              <c:extLst>
                <c:ext xmlns:c15="http://schemas.microsoft.com/office/drawing/2012/chart" uri="{CE6537A1-D6FC-4f65-9D91-7224C49458BB}">
                  <c15:layout>
                    <c:manualLayout>
                      <c:w val="0.16893225573526932"/>
                      <c:h val="0.24838411819021236"/>
                    </c:manualLayout>
                  </c15:layout>
                  <c15:dlblFieldTable/>
                  <c15:showDataLabelsRange val="0"/>
                </c:ext>
                <c:ext xmlns:c16="http://schemas.microsoft.com/office/drawing/2014/chart" uri="{C3380CC4-5D6E-409C-BE32-E72D297353CC}">
                  <c16:uniqueId val="{00000003-8D6F-43CE-8531-7EC357BA6701}"/>
                </c:ext>
              </c:extLst>
            </c:dLbl>
            <c:dLbl>
              <c:idx val="2"/>
              <c:layout>
                <c:manualLayout>
                  <c:x val="1.115276163181155E-2"/>
                  <c:y val="5.9305749704628923E-2"/>
                </c:manualLayout>
              </c:layout>
              <c:spPr>
                <a:noFill/>
                <a:ln>
                  <a:noFill/>
                </a:ln>
                <a:effectLst/>
              </c:spPr>
              <c:txPr>
                <a:bodyPr wrap="square" lIns="38100" tIns="19050" rIns="38100" bIns="19050" anchor="ctr" anchorCtr="0">
                  <a:noAutofit/>
                </a:bodyPr>
                <a:lstStyle/>
                <a:p>
                  <a:pPr algn="ctr">
                    <a:defRPr lang="en-US" sz="1100" b="0" i="0" u="none" strike="noStrike" kern="1200" spc="20" baseline="0">
                      <a:solidFill>
                        <a:schemeClr val="bg1"/>
                      </a:solidFill>
                      <a:latin typeface="Poppins SemiBold" panose="00000700000000000000" pitchFamily="2" charset="0"/>
                      <a:ea typeface="+mn-ea"/>
                      <a:cs typeface="Poppins SemiBold" panose="00000700000000000000" pitchFamily="2" charset="0"/>
                    </a:defRPr>
                  </a:pPr>
                  <a:endParaRPr lang="en-US"/>
                </a:p>
              </c:txPr>
              <c:dLblPos val="bestFit"/>
              <c:showLegendKey val="0"/>
              <c:showVal val="1"/>
              <c:showCatName val="1"/>
              <c:showSerName val="0"/>
              <c:showPercent val="0"/>
              <c:showBubbleSize val="0"/>
              <c:separator>
</c:separator>
              <c:extLst>
                <c:ext xmlns:c15="http://schemas.microsoft.com/office/drawing/2012/chart" uri="{CE6537A1-D6FC-4f65-9D91-7224C49458BB}">
                  <c15:layout>
                    <c:manualLayout>
                      <c:w val="0.16691305692164116"/>
                      <c:h val="0.32565935292251974"/>
                    </c:manualLayout>
                  </c15:layout>
                </c:ext>
                <c:ext xmlns:c16="http://schemas.microsoft.com/office/drawing/2014/chart" uri="{C3380CC4-5D6E-409C-BE32-E72D297353CC}">
                  <c16:uniqueId val="{0000000E-8D6F-43CE-8531-7EC357BA6701}"/>
                </c:ext>
              </c:extLst>
            </c:dLbl>
            <c:dLbl>
              <c:idx val="3"/>
              <c:layout>
                <c:manualLayout>
                  <c:x val="6.0722717921060064E-2"/>
                  <c:y val="-1.9588774230165022E-2"/>
                </c:manualLayout>
              </c:layout>
              <c:spPr>
                <a:noFill/>
                <a:ln>
                  <a:noFill/>
                </a:ln>
                <a:effectLst/>
              </c:spPr>
              <c:txPr>
                <a:bodyPr wrap="square" lIns="38100" tIns="19050" rIns="38100" bIns="19050" anchor="ctr" anchorCtr="0">
                  <a:spAutoFit/>
                </a:bodyPr>
                <a:lstStyle/>
                <a:p>
                  <a:pPr algn="ctr">
                    <a:defRPr lang="en-US" sz="110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endParaRPr lang="en-US"/>
                </a:p>
              </c:txPr>
              <c:dLblPos val="bestFi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8D6F-43CE-8531-7EC357BA6701}"/>
                </c:ext>
              </c:extLst>
            </c:dLbl>
            <c:dLbl>
              <c:idx val="4"/>
              <c:layout>
                <c:manualLayout>
                  <c:x val="4.1483070308609267E-2"/>
                  <c:y val="-9.1656223318456074E-4"/>
                </c:manualLayout>
              </c:layout>
              <c:spPr>
                <a:noFill/>
                <a:ln>
                  <a:noFill/>
                </a:ln>
                <a:effectLst/>
              </c:spPr>
              <c:txPr>
                <a:bodyPr wrap="square" lIns="38100" tIns="19050" rIns="38100" bIns="19050" anchor="ctr" anchorCtr="0">
                  <a:spAutoFit/>
                </a:bodyPr>
                <a:lstStyle/>
                <a:p>
                  <a:pPr algn="ctr">
                    <a:defRPr lang="en-US" sz="110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endParaRPr lang="en-US"/>
                </a:p>
              </c:txPr>
              <c:dLblPos val="bestFit"/>
              <c:showLegendKey val="0"/>
              <c:showVal val="0"/>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8D6F-43CE-8531-7EC357BA6701}"/>
                </c:ext>
              </c:extLst>
            </c:dLbl>
            <c:dLbl>
              <c:idx val="5"/>
              <c:layout>
                <c:manualLayout>
                  <c:x val="2.9588473351624282E-2"/>
                  <c:y val="-3.1071614268570972E-2"/>
                </c:manualLayout>
              </c:layout>
              <c:spPr>
                <a:noFill/>
                <a:ln>
                  <a:noFill/>
                </a:ln>
                <a:effectLst/>
              </c:spPr>
              <c:txPr>
                <a:bodyPr wrap="square" lIns="38100" tIns="19050" rIns="38100" bIns="19050" anchor="ctr" anchorCtr="0">
                  <a:noAutofit/>
                </a:bodyPr>
                <a:lstStyle/>
                <a:p>
                  <a:pPr algn="ctr">
                    <a:defRPr lang="en-US" sz="110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endParaRPr lang="en-US"/>
                </a:p>
              </c:txPr>
              <c:dLblPos val="bestFit"/>
              <c:showLegendKey val="0"/>
              <c:showVal val="0"/>
              <c:showCatName val="1"/>
              <c:showSerName val="0"/>
              <c:showPercent val="0"/>
              <c:showBubbleSize val="0"/>
              <c:separator>
</c:separator>
              <c:extLst>
                <c:ext xmlns:c15="http://schemas.microsoft.com/office/drawing/2012/chart" uri="{CE6537A1-D6FC-4f65-9D91-7224C49458BB}">
                  <c15:layout>
                    <c:manualLayout>
                      <c:w val="0.25286285247373969"/>
                      <c:h val="0.1029554417829964"/>
                    </c:manualLayout>
                  </c15:layout>
                </c:ext>
                <c:ext xmlns:c16="http://schemas.microsoft.com/office/drawing/2014/chart" uri="{C3380CC4-5D6E-409C-BE32-E72D297353CC}">
                  <c16:uniqueId val="{00000009-8D6F-43CE-8531-7EC357BA6701}"/>
                </c:ext>
              </c:extLst>
            </c:dLbl>
            <c:dLbl>
              <c:idx val="6"/>
              <c:layout>
                <c:manualLayout>
                  <c:x val="-0.12086972769173056"/>
                  <c:y val="-0.26270435628273264"/>
                </c:manualLayout>
              </c:layout>
              <c:spPr>
                <a:noFill/>
                <a:ln>
                  <a:noFill/>
                </a:ln>
                <a:effectLst/>
              </c:spPr>
              <c:txPr>
                <a:bodyPr wrap="square" lIns="38100" tIns="19050" rIns="38100" bIns="19050" anchor="ctr" anchorCtr="0">
                  <a:noAutofit/>
                </a:bodyPr>
                <a:lstStyle/>
                <a:p>
                  <a:pPr algn="ctr">
                    <a:defRPr lang="en-US" sz="1100" b="0" i="0" u="none" strike="noStrike" kern="1200" spc="20" baseline="0">
                      <a:solidFill>
                        <a:schemeClr val="bg1"/>
                      </a:solidFill>
                      <a:latin typeface="Poppins SemiBold" panose="00000700000000000000" pitchFamily="2" charset="0"/>
                      <a:ea typeface="+mn-ea"/>
                      <a:cs typeface="Poppins SemiBold" panose="00000700000000000000" pitchFamily="2" charset="0"/>
                    </a:defRPr>
                  </a:pPr>
                  <a:endParaRPr lang="en-US"/>
                </a:p>
              </c:txPr>
              <c:dLblPos val="bestFit"/>
              <c:showLegendKey val="0"/>
              <c:showVal val="1"/>
              <c:showCatName val="1"/>
              <c:showSerName val="0"/>
              <c:showPercent val="0"/>
              <c:showBubbleSize val="0"/>
              <c:separator>
</c:separator>
              <c:extLst>
                <c:ext xmlns:c15="http://schemas.microsoft.com/office/drawing/2012/chart" uri="{CE6537A1-D6FC-4f65-9D91-7224C49458BB}">
                  <c15:layout>
                    <c:manualLayout>
                      <c:w val="0.19427012313939329"/>
                      <c:h val="0.21976298334877545"/>
                    </c:manualLayout>
                  </c15:layout>
                </c:ext>
                <c:ext xmlns:c16="http://schemas.microsoft.com/office/drawing/2014/chart" uri="{C3380CC4-5D6E-409C-BE32-E72D297353CC}">
                  <c16:uniqueId val="{0000000B-8D6F-43CE-8531-7EC357BA6701}"/>
                </c:ext>
              </c:extLst>
            </c:dLbl>
            <c:dLbl>
              <c:idx val="7"/>
              <c:layout>
                <c:manualLayout>
                  <c:x val="-6.6317241501692298E-2"/>
                  <c:y val="-5.8747917378488952E-2"/>
                </c:manualLayout>
              </c:layout>
              <c:tx>
                <c:rich>
                  <a:bodyPr wrap="square" lIns="38100" tIns="19050" rIns="38100" bIns="19050" anchor="ctr" anchorCtr="0">
                    <a:noAutofit/>
                  </a:bodyPr>
                  <a:lstStyle/>
                  <a:p>
                    <a:pPr algn="ctr">
                      <a:defRPr lang="en-US" sz="1100" b="0" i="0" u="none" strike="noStrike" kern="1200" spc="20" baseline="0">
                        <a:solidFill>
                          <a:schemeClr val="bg1"/>
                        </a:solidFill>
                        <a:latin typeface="Poppins SemiBold" panose="00000700000000000000" pitchFamily="2" charset="0"/>
                        <a:ea typeface="+mn-ea"/>
                        <a:cs typeface="Poppins SemiBold" panose="00000700000000000000" pitchFamily="2" charset="0"/>
                      </a:defRPr>
                    </a:pPr>
                    <a:fld id="{209693D8-57FE-4A2E-9150-4405C0A990C0}" type="CATEGORYNAME">
                      <a:rPr lang="en-US">
                        <a:solidFill>
                          <a:schemeClr val="tx1"/>
                        </a:solidFill>
                      </a:rPr>
                      <a:pPr algn="ctr">
                        <a:defRPr lang="en-US" sz="1100" b="0" i="0" u="none" strike="noStrike" kern="1200" spc="20" baseline="0">
                          <a:solidFill>
                            <a:schemeClr val="bg1"/>
                          </a:solidFill>
                          <a:latin typeface="Poppins SemiBold" panose="00000700000000000000" pitchFamily="2" charset="0"/>
                          <a:ea typeface="+mn-ea"/>
                          <a:cs typeface="Poppins SemiBold" panose="00000700000000000000" pitchFamily="2" charset="0"/>
                        </a:defRPr>
                      </a:pPr>
                      <a:t>[CATEGORY NAME]</a:t>
                    </a:fld>
                    <a:r>
                      <a:rPr lang="en-US" baseline="0">
                        <a:solidFill>
                          <a:schemeClr val="tx1"/>
                        </a:solidFill>
                      </a:rPr>
                      <a:t>
</a:t>
                    </a:r>
                    <a:fld id="{BE2FFFDA-1CAE-46F0-A6C1-0F275D943B0F}" type="VALUE">
                      <a:rPr lang="en-US" baseline="0">
                        <a:solidFill>
                          <a:schemeClr val="tx1"/>
                        </a:solidFill>
                      </a:rPr>
                      <a:pPr algn="ctr">
                        <a:defRPr lang="en-US" sz="1100" b="0" i="0" u="none" strike="noStrike" kern="1200" spc="20" baseline="0">
                          <a:solidFill>
                            <a:schemeClr val="bg1"/>
                          </a:solidFill>
                          <a:latin typeface="Poppins SemiBold" panose="00000700000000000000" pitchFamily="2" charset="0"/>
                          <a:ea typeface="+mn-ea"/>
                          <a:cs typeface="Poppins SemiBold" panose="00000700000000000000" pitchFamily="2" charset="0"/>
                        </a:defRPr>
                      </a:pPr>
                      <a:t>[VALUE]</a:t>
                    </a:fld>
                    <a:endParaRPr lang="en-US" baseline="0">
                      <a:solidFill>
                        <a:schemeClr val="tx1"/>
                      </a:solidFill>
                    </a:endParaRPr>
                  </a:p>
                </c:rich>
              </c:tx>
              <c:spPr>
                <a:solidFill>
                  <a:srgbClr val="FFFFFF"/>
                </a:solidFill>
                <a:ln>
                  <a:noFill/>
                </a:ln>
                <a:effectLst/>
              </c:spPr>
              <c:dLblPos val="bestFit"/>
              <c:showLegendKey val="0"/>
              <c:showVal val="1"/>
              <c:showCatName val="1"/>
              <c:showSerName val="0"/>
              <c:showPercent val="0"/>
              <c:showBubbleSize val="0"/>
              <c:separator>
</c:separator>
              <c:extLst>
                <c:ext xmlns:c15="http://schemas.microsoft.com/office/drawing/2012/chart" uri="{CE6537A1-D6FC-4f65-9D91-7224C49458BB}">
                  <c15:layout>
                    <c:manualLayout>
                      <c:w val="0.14068595351506066"/>
                      <c:h val="0.2353620529015609"/>
                    </c:manualLayout>
                  </c15:layout>
                  <c15:dlblFieldTable/>
                  <c15:showDataLabelsRange val="0"/>
                </c:ext>
                <c:ext xmlns:c16="http://schemas.microsoft.com/office/drawing/2014/chart" uri="{C3380CC4-5D6E-409C-BE32-E72D297353CC}">
                  <c16:uniqueId val="{0000000D-8D6F-43CE-8531-7EC357BA6701}"/>
                </c:ext>
              </c:extLst>
            </c:dLbl>
            <c:spPr>
              <a:noFill/>
              <a:ln>
                <a:noFill/>
              </a:ln>
              <a:effectLst/>
            </c:spPr>
            <c:txPr>
              <a:bodyPr wrap="square" lIns="38100" tIns="19050" rIns="38100" bIns="19050" anchor="ctr" anchorCtr="0">
                <a:spAutoFit/>
              </a:bodyPr>
              <a:lstStyle/>
              <a:p>
                <a:pPr algn="ctr">
                  <a:defRPr lang="en-US" sz="1100" b="0" i="0" u="none" strike="noStrike" kern="1200" spc="20" baseline="0">
                    <a:solidFill>
                      <a:schemeClr val="bg1"/>
                    </a:solidFill>
                    <a:latin typeface="Poppins SemiBold" panose="00000700000000000000" pitchFamily="2" charset="0"/>
                    <a:ea typeface="+mn-ea"/>
                    <a:cs typeface="Poppins SemiBold" panose="00000700000000000000" pitchFamily="2" charset="0"/>
                  </a:defRPr>
                </a:pPr>
                <a:endParaRPr lang="en-US"/>
              </a:p>
            </c:txPr>
            <c:dLblPos val="ctr"/>
            <c:showLegendKey val="0"/>
            <c:showVal val="1"/>
            <c:showCatName val="1"/>
            <c:showSerName val="0"/>
            <c:showPercent val="0"/>
            <c:showBubbleSize val="0"/>
            <c:separator>
</c:separator>
            <c:showLeaderLines val="1"/>
            <c:extLst>
              <c:ext xmlns:c15="http://schemas.microsoft.com/office/drawing/2012/chart" uri="{CE6537A1-D6FC-4f65-9D91-7224C49458BB}"/>
            </c:extLst>
          </c:dLbls>
          <c:cat>
            <c:strRef>
              <c:f>'[1]Allocation (&amp; vs Guidelines (2)'!$B$3:$B$12</c:f>
              <c:strCache>
                <c:ptCount val="10"/>
                <c:pt idx="0">
                  <c:v>PERFORMA LIQUID ASSETS FUND</c:v>
                </c:pt>
                <c:pt idx="1">
                  <c:v>SEIX INVESTMENT ADVISORS</c:v>
                </c:pt>
                <c:pt idx="2">
                  <c:v>PERFORMA INTERNATIONAL BOND FUND</c:v>
                </c:pt>
                <c:pt idx="3">
                  <c:v>SPDR S&amp;P 500 ETF</c:v>
                </c:pt>
                <c:pt idx="4">
                  <c:v>CHAMPLAIN MID CAP</c:v>
                </c:pt>
                <c:pt idx="5">
                  <c:v>PZENA SMALL CAP VALUE</c:v>
                </c:pt>
                <c:pt idx="6">
                  <c:v>WILLIAM BLAIR ELKINS GROWTH STRATEGY</c:v>
                </c:pt>
                <c:pt idx="7">
                  <c:v>ORBIS GLOBAL EQUITY  FUND</c:v>
                </c:pt>
              </c:strCache>
            </c:strRef>
          </c:cat>
          <c:val>
            <c:numRef>
              <c:f>'Allocation w WB'!$E$3:$E$10</c:f>
              <c:numCache>
                <c:formatCode>0.0%</c:formatCode>
                <c:ptCount val="8"/>
                <c:pt idx="0">
                  <c:v>1.0331917207087426E-3</c:v>
                </c:pt>
                <c:pt idx="1">
                  <c:v>0.19842157363852544</c:v>
                </c:pt>
                <c:pt idx="2">
                  <c:v>0.24633297061467296</c:v>
                </c:pt>
                <c:pt idx="3">
                  <c:v>7.8400000000000011E-2</c:v>
                </c:pt>
                <c:pt idx="4">
                  <c:v>7.8400000000000011E-2</c:v>
                </c:pt>
                <c:pt idx="5">
                  <c:v>3.9200000000000006E-2</c:v>
                </c:pt>
                <c:pt idx="6">
                  <c:v>0.2614841019881145</c:v>
                </c:pt>
                <c:pt idx="7">
                  <c:v>9.6677345916472743E-2</c:v>
                </c:pt>
              </c:numCache>
            </c:numRef>
          </c:val>
          <c:extLst>
            <c:ext xmlns:c16="http://schemas.microsoft.com/office/drawing/2014/chart" uri="{C3380CC4-5D6E-409C-BE32-E72D297353CC}">
              <c16:uniqueId val="{0000000F-8D6F-43CE-8531-7EC357BA6701}"/>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userShapes r:id="rId3"/>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200"/>
      <c:rAngAx val="0"/>
    </c:view3D>
    <c:floor>
      <c:thickness val="0"/>
    </c:floor>
    <c:sideWall>
      <c:thickness val="0"/>
      <c:spPr>
        <a:ln>
          <a:noFill/>
        </a:ln>
      </c:spPr>
    </c:sideWall>
    <c:backWall>
      <c:thickness val="0"/>
      <c:spPr>
        <a:ln>
          <a:noFill/>
        </a:ln>
      </c:spPr>
    </c:backWall>
    <c:plotArea>
      <c:layout>
        <c:manualLayout>
          <c:layoutTarget val="inner"/>
          <c:xMode val="edge"/>
          <c:yMode val="edge"/>
          <c:x val="1.8876018876018877E-2"/>
          <c:y val="8.8318392333922247E-2"/>
          <c:w val="0.92270406150765916"/>
          <c:h val="0.79817770701100033"/>
        </c:manualLayout>
      </c:layout>
      <c:pie3DChart>
        <c:varyColors val="1"/>
        <c:ser>
          <c:idx val="2"/>
          <c:order val="0"/>
          <c:spPr>
            <a:solidFill>
              <a:srgbClr val="106280"/>
            </a:solidFill>
            <a:ln w="82550">
              <a:noFill/>
            </a:ln>
          </c:spPr>
          <c:dPt>
            <c:idx val="0"/>
            <c:bubble3D val="0"/>
            <c:spPr>
              <a:solidFill>
                <a:schemeClr val="bg1">
                  <a:lumMod val="50000"/>
                </a:schemeClr>
              </a:solidFill>
              <a:ln w="82550">
                <a:noFill/>
              </a:ln>
            </c:spPr>
            <c:extLst>
              <c:ext xmlns:c16="http://schemas.microsoft.com/office/drawing/2014/chart" uri="{C3380CC4-5D6E-409C-BE32-E72D297353CC}">
                <c16:uniqueId val="{00000001-870C-4CE9-8A41-2AE2EA042124}"/>
              </c:ext>
            </c:extLst>
          </c:dPt>
          <c:dPt>
            <c:idx val="2"/>
            <c:bubble3D val="0"/>
            <c:spPr>
              <a:solidFill>
                <a:srgbClr val="57A666"/>
              </a:solidFill>
              <a:ln w="82550">
                <a:noFill/>
              </a:ln>
            </c:spPr>
            <c:extLst>
              <c:ext xmlns:c16="http://schemas.microsoft.com/office/drawing/2014/chart" uri="{C3380CC4-5D6E-409C-BE32-E72D297353CC}">
                <c16:uniqueId val="{00000003-870C-4CE9-8A41-2AE2EA042124}"/>
              </c:ext>
            </c:extLst>
          </c:dPt>
          <c:dPt>
            <c:idx val="3"/>
            <c:bubble3D val="0"/>
            <c:spPr>
              <a:solidFill>
                <a:srgbClr val="1F2D41"/>
              </a:solidFill>
              <a:ln w="82550">
                <a:noFill/>
              </a:ln>
            </c:spPr>
            <c:extLst>
              <c:ext xmlns:c16="http://schemas.microsoft.com/office/drawing/2014/chart" uri="{C3380CC4-5D6E-409C-BE32-E72D297353CC}">
                <c16:uniqueId val="{00000005-870C-4CE9-8A41-2AE2EA042124}"/>
              </c:ext>
            </c:extLst>
          </c:dPt>
          <c:dPt>
            <c:idx val="4"/>
            <c:bubble3D val="0"/>
            <c:spPr>
              <a:solidFill>
                <a:srgbClr val="2B3E59"/>
              </a:solidFill>
              <a:ln w="82550">
                <a:noFill/>
              </a:ln>
            </c:spPr>
            <c:extLst>
              <c:ext xmlns:c16="http://schemas.microsoft.com/office/drawing/2014/chart" uri="{C3380CC4-5D6E-409C-BE32-E72D297353CC}">
                <c16:uniqueId val="{00000007-870C-4CE9-8A41-2AE2EA042124}"/>
              </c:ext>
            </c:extLst>
          </c:dPt>
          <c:dPt>
            <c:idx val="5"/>
            <c:bubble3D val="0"/>
            <c:spPr>
              <a:solidFill>
                <a:srgbClr val="3B5479"/>
              </a:solidFill>
              <a:ln w="82550">
                <a:noFill/>
              </a:ln>
            </c:spPr>
            <c:extLst>
              <c:ext xmlns:c16="http://schemas.microsoft.com/office/drawing/2014/chart" uri="{C3380CC4-5D6E-409C-BE32-E72D297353CC}">
                <c16:uniqueId val="{00000009-870C-4CE9-8A41-2AE2EA042124}"/>
              </c:ext>
            </c:extLst>
          </c:dPt>
          <c:dPt>
            <c:idx val="6"/>
            <c:bubble3D val="0"/>
            <c:spPr>
              <a:solidFill>
                <a:srgbClr val="5891A6"/>
              </a:solidFill>
              <a:ln w="82550">
                <a:noFill/>
              </a:ln>
            </c:spPr>
            <c:extLst>
              <c:ext xmlns:c16="http://schemas.microsoft.com/office/drawing/2014/chart" uri="{C3380CC4-5D6E-409C-BE32-E72D297353CC}">
                <c16:uniqueId val="{0000000B-870C-4CE9-8A41-2AE2EA042124}"/>
              </c:ext>
            </c:extLst>
          </c:dPt>
          <c:dLbls>
            <c:dLbl>
              <c:idx val="0"/>
              <c:layout>
                <c:manualLayout>
                  <c:x val="-0.11133222771413012"/>
                  <c:y val="-9.298376484102921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589876940153256"/>
                      <c:h val="0.21514312096029548"/>
                    </c:manualLayout>
                  </c15:layout>
                </c:ext>
                <c:ext xmlns:c16="http://schemas.microsoft.com/office/drawing/2014/chart" uri="{C3380CC4-5D6E-409C-BE32-E72D297353CC}">
                  <c16:uniqueId val="{00000001-870C-4CE9-8A41-2AE2EA042124}"/>
                </c:ext>
              </c:extLst>
            </c:dLbl>
            <c:dLbl>
              <c:idx val="1"/>
              <c:layout>
                <c:manualLayout>
                  <c:x val="0.22562527502466712"/>
                  <c:y val="0.14000739325001271"/>
                </c:manualLayout>
              </c:layout>
              <c:tx>
                <c:rich>
                  <a:bodyPr/>
                  <a:lstStyle/>
                  <a:p>
                    <a:pPr>
                      <a:defRPr sz="1050" b="0" spc="20" baseline="0">
                        <a:solidFill>
                          <a:schemeClr val="bg1"/>
                        </a:solidFill>
                        <a:latin typeface="Poppins SemiBold" panose="00000700000000000000" pitchFamily="2" charset="0"/>
                        <a:cs typeface="Poppins SemiBold" panose="00000700000000000000" pitchFamily="2" charset="0"/>
                      </a:defRPr>
                    </a:pPr>
                    <a:fld id="{FB99984E-EA58-466D-90F1-CBBFE8F6A0D2}" type="CATEGORYNAME">
                      <a:rPr lang="en-US"/>
                      <a:pPr>
                        <a:defRPr sz="1050" b="0" spc="20" baseline="0">
                          <a:solidFill>
                            <a:schemeClr val="bg1"/>
                          </a:solidFill>
                          <a:latin typeface="Poppins SemiBold" panose="00000700000000000000" pitchFamily="2" charset="0"/>
                          <a:cs typeface="Poppins SemiBold" panose="00000700000000000000" pitchFamily="2" charset="0"/>
                        </a:defRPr>
                      </a:pPr>
                      <a:t>[CATEGORY NAME]</a:t>
                    </a:fld>
                    <a:r>
                      <a:rPr lang="en-US" baseline="0"/>
                      <a:t>
50.2%</a:t>
                    </a:r>
                  </a:p>
                </c:rich>
              </c:tx>
              <c:numFmt formatCode="0.0%" sourceLinked="0"/>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0628646208768317"/>
                      <c:h val="0.2586501479558822"/>
                    </c:manualLayout>
                  </c15:layout>
                  <c15:dlblFieldTable/>
                  <c15:showDataLabelsRange val="0"/>
                </c:ext>
                <c:ext xmlns:c16="http://schemas.microsoft.com/office/drawing/2014/chart" uri="{C3380CC4-5D6E-409C-BE32-E72D297353CC}">
                  <c16:uniqueId val="{0000000C-870C-4CE9-8A41-2AE2EA042124}"/>
                </c:ext>
              </c:extLst>
            </c:dLbl>
            <c:dLbl>
              <c:idx val="2"/>
              <c:layout>
                <c:manualLayout>
                  <c:x val="3.8612740974945698E-3"/>
                  <c:y val="1.454111864825761E-7"/>
                </c:manualLayout>
              </c:layout>
              <c:tx>
                <c:rich>
                  <a:bodyPr/>
                  <a:lstStyle/>
                  <a:p>
                    <a:fld id="{F3081A33-6280-4113-BB32-B9501C28583C}" type="CATEGORYNAME">
                      <a:rPr lang="en-US"/>
                      <a:pPr/>
                      <a:t>[CATEGORY NAME]</a:t>
                    </a:fld>
                    <a:r>
                      <a:rPr lang="en-US" baseline="0"/>
                      <a:t>
</a:t>
                    </a:r>
                  </a:p>
                </c:rich>
              </c:tx>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9998594770248312"/>
                      <c:h val="0.20026609338306395"/>
                    </c:manualLayout>
                  </c15:layout>
                  <c15:dlblFieldTable/>
                  <c15:showDataLabelsRange val="0"/>
                </c:ext>
                <c:ext xmlns:c16="http://schemas.microsoft.com/office/drawing/2014/chart" uri="{C3380CC4-5D6E-409C-BE32-E72D297353CC}">
                  <c16:uniqueId val="{00000003-870C-4CE9-8A41-2AE2EA042124}"/>
                </c:ext>
              </c:extLst>
            </c:dLbl>
            <c:dLbl>
              <c:idx val="3"/>
              <c:layout>
                <c:manualLayout>
                  <c:x val="7.1211408635294182E-2"/>
                  <c:y val="-6.2788550323176359E-2"/>
                </c:manualLayout>
              </c:layout>
              <c:tx>
                <c:rich>
                  <a:bodyPr/>
                  <a:lstStyle/>
                  <a:p>
                    <a:fld id="{94E2A372-4DEF-42E3-8411-6B35A0FD4F35}" type="CATEGORYNAME">
                      <a:rPr lang="nl-NL"/>
                      <a:pPr/>
                      <a:t>[CATEGORY NAME]</a:t>
                    </a:fld>
                    <a:r>
                      <a:rPr lang="nl-NL" baseline="0"/>
                      <a:t>
</a:t>
                    </a:r>
                  </a:p>
                </c:rich>
              </c:tx>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4369875171474225"/>
                      <c:h val="0.20856395808241548"/>
                    </c:manualLayout>
                  </c15:layout>
                  <c15:dlblFieldTable/>
                  <c15:showDataLabelsRange val="0"/>
                </c:ext>
                <c:ext xmlns:c16="http://schemas.microsoft.com/office/drawing/2014/chart" uri="{C3380CC4-5D6E-409C-BE32-E72D297353CC}">
                  <c16:uniqueId val="{00000005-870C-4CE9-8A41-2AE2EA042124}"/>
                </c:ext>
              </c:extLst>
            </c:dLbl>
            <c:dLbl>
              <c:idx val="4"/>
              <c:layout>
                <c:manualLayout>
                  <c:x val="7.335661821223198E-2"/>
                  <c:y val="-5.7695087283064751E-2"/>
                </c:manualLayout>
              </c:layout>
              <c:tx>
                <c:rich>
                  <a:bodyPr/>
                  <a:lstStyle/>
                  <a:p>
                    <a:fld id="{EEA46211-0BF3-4A96-9C60-937B12A63DB7}" type="CATEGORYNAME">
                      <a:rPr lang="en-US"/>
                      <a:pPr/>
                      <a:t>[CATEGORY NAME]</a:t>
                    </a:fld>
                    <a:r>
                      <a:rPr lang="en-US" baseline="0"/>
                      <a:t>
</a:t>
                    </a:r>
                  </a:p>
                </c:rich>
              </c:tx>
              <c:dLblPos val="bestFit"/>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7-870C-4CE9-8A41-2AE2EA042124}"/>
                </c:ext>
              </c:extLst>
            </c:dLbl>
            <c:dLbl>
              <c:idx val="5"/>
              <c:layout>
                <c:manualLayout>
                  <c:x val="0.12455529876471155"/>
                  <c:y val="-2.162787823267244E-2"/>
                </c:manualLayout>
              </c:layout>
              <c:tx>
                <c:rich>
                  <a:bodyPr/>
                  <a:lstStyle/>
                  <a:p>
                    <a:fld id="{6942FCEA-650B-4E47-A72D-7AE6C4B77AA6}" type="CATEGORYNAME">
                      <a:rPr lang="en-US"/>
                      <a:pPr/>
                      <a:t>[CATEGORY NAME]</a:t>
                    </a:fld>
                    <a:r>
                      <a:rPr lang="en-US" baseline="0"/>
                      <a:t>
</a:t>
                    </a:r>
                  </a:p>
                </c:rich>
              </c:tx>
              <c:dLblPos val="bestFit"/>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9-870C-4CE9-8A41-2AE2EA042124}"/>
                </c:ext>
              </c:extLst>
            </c:dLbl>
            <c:dLbl>
              <c:idx val="6"/>
              <c:layout>
                <c:manualLayout>
                  <c:x val="-7.7343840810583001E-2"/>
                  <c:y val="-0.22036978064722518"/>
                </c:manualLayout>
              </c:layout>
              <c:numFmt formatCode="0.0%" sourceLinked="0"/>
              <c:spPr/>
              <c:txPr>
                <a:bodyPr/>
                <a:lstStyle/>
                <a:p>
                  <a:pPr>
                    <a:defRPr sz="1050" b="0" spc="20" baseline="0">
                      <a:solidFill>
                        <a:schemeClr val="bg1"/>
                      </a:solidFill>
                      <a:latin typeface="Poppins SemiBold" panose="00000700000000000000" pitchFamily="2" charset="0"/>
                      <a:cs typeface="Poppins SemiBold" panose="00000700000000000000" pitchFamily="2" charset="0"/>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7640627012903717"/>
                      <c:h val="0.20856395808241548"/>
                    </c:manualLayout>
                  </c15:layout>
                </c:ext>
                <c:ext xmlns:c16="http://schemas.microsoft.com/office/drawing/2014/chart" uri="{C3380CC4-5D6E-409C-BE32-E72D297353CC}">
                  <c16:uniqueId val="{0000000B-870C-4CE9-8A41-2AE2EA042124}"/>
                </c:ext>
              </c:extLst>
            </c:dLbl>
            <c:numFmt formatCode="0.0%" sourceLinked="0"/>
            <c:spPr>
              <a:noFill/>
              <a:ln>
                <a:noFill/>
              </a:ln>
              <a:effectLst/>
            </c:spPr>
            <c:txPr>
              <a:bodyPr/>
              <a:lstStyle/>
              <a:p>
                <a:pPr>
                  <a:defRPr sz="1050" b="0" spc="20" baseline="0">
                    <a:solidFill>
                      <a:sysClr val="windowText" lastClr="000000"/>
                    </a:solidFill>
                    <a:latin typeface="Poppins SemiBold" panose="00000700000000000000" pitchFamily="2" charset="0"/>
                    <a:cs typeface="Poppins SemiBold" panose="00000700000000000000" pitchFamily="2" charset="0"/>
                  </a:defRPr>
                </a:pPr>
                <a:endParaRPr lang="en-US"/>
              </a:p>
            </c:txPr>
            <c:dLblPos val="bestFit"/>
            <c:showLegendKey val="0"/>
            <c:showVal val="0"/>
            <c:showCatName val="1"/>
            <c:showSerName val="0"/>
            <c:showPercent val="1"/>
            <c:showBubbleSize val="0"/>
            <c:separator>
</c:separator>
            <c:showLeaderLines val="1"/>
            <c:extLst>
              <c:ext xmlns:c15="http://schemas.microsoft.com/office/drawing/2012/chart" uri="{CE6537A1-D6FC-4f65-9D91-7224C49458BB}"/>
            </c:extLst>
          </c:dLbls>
          <c:cat>
            <c:strRef>
              <c:f>'Allocation (&amp; vs Guidelines)'!$B$3:$B$9</c:f>
              <c:strCache>
                <c:ptCount val="7"/>
                <c:pt idx="0">
                  <c:v>PERFORMA LIQUID ASSETS FUND</c:v>
                </c:pt>
                <c:pt idx="1">
                  <c:v>PERFORMA INTERNATIONAL BOND FUND</c:v>
                </c:pt>
                <c:pt idx="2">
                  <c:v>SEIX INVESTMENT ADVISORS</c:v>
                </c:pt>
                <c:pt idx="3">
                  <c:v>SPDR S&amp;P 500 ETF</c:v>
                </c:pt>
                <c:pt idx="4">
                  <c:v>CHAMPLAIN MID CAP</c:v>
                </c:pt>
                <c:pt idx="5">
                  <c:v>PZENA SMALL CAP VALUE</c:v>
                </c:pt>
                <c:pt idx="6">
                  <c:v>ORBIS GLOBAL EQUITY  FUND</c:v>
                </c:pt>
              </c:strCache>
            </c:strRef>
          </c:cat>
          <c:val>
            <c:numRef>
              <c:f>'Allocation (&amp; vs Guidelines)'!$E$3:$E$9</c:f>
              <c:numCache>
                <c:formatCode>0.0%</c:formatCode>
                <c:ptCount val="7"/>
                <c:pt idx="0">
                  <c:v>2.3742523616454479E-2</c:v>
                </c:pt>
                <c:pt idx="1">
                  <c:v>0.50244251664571626</c:v>
                </c:pt>
                <c:pt idx="2">
                  <c:v>0.15013464763004639</c:v>
                </c:pt>
                <c:pt idx="3">
                  <c:v>6.6000000000000003E-2</c:v>
                </c:pt>
                <c:pt idx="4">
                  <c:v>6.6000000000000003E-2</c:v>
                </c:pt>
                <c:pt idx="5">
                  <c:v>3.3000000000000002E-2</c:v>
                </c:pt>
                <c:pt idx="6">
                  <c:v>0.15854240071183007</c:v>
                </c:pt>
              </c:numCache>
            </c:numRef>
          </c:val>
          <c:extLst>
            <c:ext xmlns:c16="http://schemas.microsoft.com/office/drawing/2014/chart" uri="{C3380CC4-5D6E-409C-BE32-E72D297353CC}">
              <c16:uniqueId val="{0000000D-870C-4CE9-8A41-2AE2EA042124}"/>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245"/>
      <c:rAngAx val="0"/>
    </c:view3D>
    <c:floor>
      <c:thickness val="0"/>
    </c:floor>
    <c:sideWall>
      <c:thickness val="0"/>
      <c:spPr>
        <a:ln>
          <a:noFill/>
        </a:ln>
      </c:spPr>
    </c:sideWall>
    <c:backWall>
      <c:thickness val="0"/>
      <c:spPr>
        <a:ln>
          <a:noFill/>
        </a:ln>
      </c:spPr>
    </c:backWall>
    <c:plotArea>
      <c:layout>
        <c:manualLayout>
          <c:layoutTarget val="inner"/>
          <c:xMode val="edge"/>
          <c:yMode val="edge"/>
          <c:x val="6.0714285714285714E-2"/>
          <c:y val="3.0477960020502307E-2"/>
          <c:w val="0.93928571428571428"/>
          <c:h val="0.92123457972263445"/>
        </c:manualLayout>
      </c:layout>
      <c:pie3DChart>
        <c:varyColors val="1"/>
        <c:ser>
          <c:idx val="2"/>
          <c:order val="0"/>
          <c:spPr>
            <a:solidFill>
              <a:srgbClr val="106280"/>
            </a:solidFill>
            <a:ln w="82550">
              <a:noFill/>
            </a:ln>
          </c:spPr>
          <c:dPt>
            <c:idx val="0"/>
            <c:bubble3D val="0"/>
            <c:spPr>
              <a:solidFill>
                <a:schemeClr val="bg1">
                  <a:lumMod val="50000"/>
                </a:schemeClr>
              </a:solidFill>
              <a:ln w="82550">
                <a:noFill/>
              </a:ln>
            </c:spPr>
            <c:extLst>
              <c:ext xmlns:c16="http://schemas.microsoft.com/office/drawing/2014/chart" uri="{C3380CC4-5D6E-409C-BE32-E72D297353CC}">
                <c16:uniqueId val="{00000001-5847-4D69-9C39-F76A03918701}"/>
              </c:ext>
            </c:extLst>
          </c:dPt>
          <c:dPt>
            <c:idx val="2"/>
            <c:bubble3D val="0"/>
            <c:spPr>
              <a:solidFill>
                <a:srgbClr val="0C2836"/>
              </a:solidFill>
              <a:ln w="82550">
                <a:noFill/>
              </a:ln>
            </c:spPr>
            <c:extLst>
              <c:ext xmlns:c16="http://schemas.microsoft.com/office/drawing/2014/chart" uri="{C3380CC4-5D6E-409C-BE32-E72D297353CC}">
                <c16:uniqueId val="{00000003-5847-4D69-9C39-F76A03918701}"/>
              </c:ext>
            </c:extLst>
          </c:dPt>
          <c:dPt>
            <c:idx val="3"/>
            <c:bubble3D val="0"/>
            <c:spPr>
              <a:solidFill>
                <a:srgbClr val="75A5B4"/>
              </a:solidFill>
              <a:ln w="82550">
                <a:noFill/>
              </a:ln>
            </c:spPr>
            <c:extLst>
              <c:ext xmlns:c16="http://schemas.microsoft.com/office/drawing/2014/chart" uri="{C3380CC4-5D6E-409C-BE32-E72D297353CC}">
                <c16:uniqueId val="{00000005-5847-4D69-9C39-F76A03918701}"/>
              </c:ext>
            </c:extLst>
          </c:dPt>
          <c:dPt>
            <c:idx val="4"/>
            <c:bubble3D val="0"/>
            <c:spPr>
              <a:solidFill>
                <a:srgbClr val="A9A9A9"/>
              </a:solidFill>
              <a:ln w="82550">
                <a:noFill/>
              </a:ln>
            </c:spPr>
            <c:extLst>
              <c:ext xmlns:c16="http://schemas.microsoft.com/office/drawing/2014/chart" uri="{C3380CC4-5D6E-409C-BE32-E72D297353CC}">
                <c16:uniqueId val="{00000007-5847-4D69-9C39-F76A03918701}"/>
              </c:ext>
            </c:extLst>
          </c:dPt>
          <c:dLbls>
            <c:dLbl>
              <c:idx val="0"/>
              <c:layout>
                <c:manualLayout>
                  <c:x val="-0.15161947729047476"/>
                  <c:y val="-3.019520534329901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847-4D69-9C39-F76A03918701}"/>
                </c:ext>
              </c:extLst>
            </c:dLbl>
            <c:dLbl>
              <c:idx val="1"/>
              <c:layout>
                <c:manualLayout>
                  <c:x val="0.23558056805399324"/>
                  <c:y val="0.10613384894694401"/>
                </c:manualLayout>
              </c:layout>
              <c:numFmt formatCode="0.0%" sourceLinked="0"/>
              <c:spPr>
                <a:noFill/>
                <a:ln>
                  <a:noFill/>
                </a:ln>
                <a:effectLst/>
              </c:spPr>
              <c:txPr>
                <a:bodyPr/>
                <a:lstStyle/>
                <a:p>
                  <a:pPr>
                    <a:defRPr sz="1050" b="0" spc="20" baseline="0">
                      <a:solidFill>
                        <a:schemeClr val="bg1"/>
                      </a:solidFill>
                      <a:latin typeface="Poppins SemiBold" panose="00000700000000000000" pitchFamily="2" charset="0"/>
                      <a:cs typeface="Poppins SemiBold" panose="00000700000000000000" pitchFamily="2" charset="0"/>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7801760593568892"/>
                      <c:h val="0.25865017567894322"/>
                    </c:manualLayout>
                  </c15:layout>
                </c:ext>
                <c:ext xmlns:c16="http://schemas.microsoft.com/office/drawing/2014/chart" uri="{C3380CC4-5D6E-409C-BE32-E72D297353CC}">
                  <c16:uniqueId val="{00000006-5847-4D69-9C39-F76A03918701}"/>
                </c:ext>
              </c:extLst>
            </c:dLbl>
            <c:dLbl>
              <c:idx val="2"/>
              <c:layout>
                <c:manualLayout>
                  <c:x val="-0.17741795556805398"/>
                  <c:y val="6.0237320022366155E-2"/>
                </c:manualLayout>
              </c:layout>
              <c:numFmt formatCode="0.0%" sourceLinked="0"/>
              <c:spPr>
                <a:noFill/>
                <a:ln>
                  <a:noFill/>
                </a:ln>
                <a:effectLst/>
              </c:spPr>
              <c:txPr>
                <a:bodyPr/>
                <a:lstStyle/>
                <a:p>
                  <a:pPr>
                    <a:defRPr sz="1050" b="0" spc="20" baseline="0">
                      <a:solidFill>
                        <a:schemeClr val="bg1"/>
                      </a:solidFill>
                      <a:latin typeface="Poppins SemiBold" panose="00000700000000000000" pitchFamily="2" charset="0"/>
                      <a:cs typeface="Poppins SemiBold" panose="00000700000000000000" pitchFamily="2" charset="0"/>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9998593925759278"/>
                      <c:h val="0.28692178857905248"/>
                    </c:manualLayout>
                  </c15:layout>
                </c:ext>
                <c:ext xmlns:c16="http://schemas.microsoft.com/office/drawing/2014/chart" uri="{C3380CC4-5D6E-409C-BE32-E72D297353CC}">
                  <c16:uniqueId val="{00000003-5847-4D69-9C39-F76A03918701}"/>
                </c:ext>
              </c:extLst>
            </c:dLbl>
            <c:dLbl>
              <c:idx val="3"/>
              <c:layout>
                <c:manualLayout>
                  <c:x val="-0.16698080708661417"/>
                  <c:y val="-0.28406198005045025"/>
                </c:manualLayout>
              </c:layout>
              <c:tx>
                <c:rich>
                  <a:bodyPr wrap="square" lIns="38100" tIns="19050" rIns="38100" bIns="19050" anchor="ctr">
                    <a:noAutofit/>
                  </a:bodyPr>
                  <a:lstStyle/>
                  <a:p>
                    <a:pPr>
                      <a:defRPr sz="1050" b="0" spc="20" baseline="0">
                        <a:solidFill>
                          <a:sysClr val="windowText" lastClr="000000"/>
                        </a:solidFill>
                        <a:latin typeface="Poppins SemiBold" panose="00000700000000000000" pitchFamily="2" charset="0"/>
                        <a:cs typeface="Poppins SemiBold" panose="00000700000000000000" pitchFamily="2" charset="0"/>
                      </a:defRPr>
                    </a:pPr>
                    <a:r>
                      <a:rPr lang="en-US" baseline="0">
                        <a:solidFill>
                          <a:schemeClr val="bg1"/>
                        </a:solidFill>
                      </a:rPr>
                      <a:t>PERFORMA EQUITY FUND
</a:t>
                    </a:r>
                    <a:fld id="{BB8E9399-C5BE-4DA1-9CC1-C485CF6CF385}" type="VALUE">
                      <a:rPr lang="en-US" baseline="0">
                        <a:solidFill>
                          <a:schemeClr val="bg1"/>
                        </a:solidFill>
                      </a:rPr>
                      <a:pPr>
                        <a:defRPr sz="1050" b="0" spc="20" baseline="0">
                          <a:solidFill>
                            <a:sysClr val="windowText" lastClr="000000"/>
                          </a:solidFill>
                          <a:latin typeface="Poppins SemiBold" panose="00000700000000000000" pitchFamily="2" charset="0"/>
                          <a:cs typeface="Poppins SemiBold" panose="00000700000000000000" pitchFamily="2" charset="0"/>
                        </a:defRPr>
                      </a:pPr>
                      <a:t>[VALUE]</a:t>
                    </a:fld>
                    <a:endParaRPr lang="en-US" baseline="0">
                      <a:solidFill>
                        <a:schemeClr val="bg1"/>
                      </a:solidFill>
                    </a:endParaRPr>
                  </a:p>
                </c:rich>
              </c:tx>
              <c:numFmt formatCode="0.0%" sourceLinked="0"/>
              <c:spPr>
                <a:noFill/>
                <a:ln>
                  <a:noFill/>
                </a:ln>
                <a:effectLst/>
              </c:spPr>
              <c:showLegendKey val="0"/>
              <c:showVal val="1"/>
              <c:showCatName val="0"/>
              <c:showSerName val="1"/>
              <c:showPercent val="0"/>
              <c:showBubbleSize val="0"/>
              <c:extLst>
                <c:ext xmlns:c15="http://schemas.microsoft.com/office/drawing/2012/chart" uri="{CE6537A1-D6FC-4f65-9D91-7224C49458BB}">
                  <c15:layout>
                    <c:manualLayout>
                      <c:w val="0.14369875171474225"/>
                      <c:h val="0.20856395808241548"/>
                    </c:manualLayout>
                  </c15:layout>
                  <c15:dlblFieldTable/>
                  <c15:showDataLabelsRange val="0"/>
                </c:ext>
                <c:ext xmlns:c16="http://schemas.microsoft.com/office/drawing/2014/chart" uri="{C3380CC4-5D6E-409C-BE32-E72D297353CC}">
                  <c16:uniqueId val="{00000005-5847-4D69-9C39-F76A03918701}"/>
                </c:ext>
              </c:extLst>
            </c:dLbl>
            <c:dLbl>
              <c:idx val="4"/>
              <c:tx>
                <c:rich>
                  <a:bodyPr/>
                  <a:lstStyle/>
                  <a:p>
                    <a:fld id="{946D2084-2148-4C65-9257-2F1EE1701F40}" type="CATEGORYNAME">
                      <a:rPr lang="en-US">
                        <a:solidFill>
                          <a:schemeClr val="bg1"/>
                        </a:solidFill>
                      </a:rPr>
                      <a:pPr/>
                      <a:t>[CATEGORY NAME]</a:t>
                    </a:fld>
                    <a:r>
                      <a:rPr lang="en-US" baseline="0">
                        <a:solidFill>
                          <a:schemeClr val="bg1"/>
                        </a:solidFill>
                      </a:rPr>
                      <a:t>
</a:t>
                    </a:r>
                    <a:fld id="{C131BCB4-391E-4CF9-AB41-92A9895AEDF2}" type="PERCENTAGE">
                      <a:rPr lang="en-US" baseline="0">
                        <a:solidFill>
                          <a:schemeClr val="bg1"/>
                        </a:solidFill>
                      </a:rPr>
                      <a:pPr/>
                      <a:t>[PERCENTAGE]</a:t>
                    </a:fld>
                    <a:endParaRPr lang="en-US" baseline="0">
                      <a:solidFill>
                        <a:schemeClr val="bg1"/>
                      </a:solidFill>
                    </a:endParaRPr>
                  </a:p>
                </c:rich>
              </c:tx>
              <c:dLblPos val="bestFit"/>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7-5847-4D69-9C39-F76A03918701}"/>
                </c:ext>
              </c:extLst>
            </c:dLbl>
            <c:numFmt formatCode="0.0%" sourceLinked="0"/>
            <c:spPr>
              <a:noFill/>
              <a:ln>
                <a:noFill/>
              </a:ln>
              <a:effectLst/>
            </c:spPr>
            <c:txPr>
              <a:bodyPr/>
              <a:lstStyle/>
              <a:p>
                <a:pPr>
                  <a:defRPr sz="1050" b="0" spc="20" baseline="0">
                    <a:solidFill>
                      <a:sysClr val="windowText" lastClr="000000"/>
                    </a:solidFill>
                    <a:latin typeface="Poppins SemiBold" panose="00000700000000000000" pitchFamily="2" charset="0"/>
                    <a:cs typeface="Poppins SemiBold" panose="00000700000000000000" pitchFamily="2" charset="0"/>
                  </a:defRPr>
                </a:pPr>
                <a:endParaRPr lang="en-US"/>
              </a:p>
            </c:txPr>
            <c:dLblPos val="bestFit"/>
            <c:showLegendKey val="0"/>
            <c:showVal val="0"/>
            <c:showCatName val="1"/>
            <c:showSerName val="0"/>
            <c:showPercent val="1"/>
            <c:showBubbleSize val="0"/>
            <c:separator>
</c:separator>
            <c:showLeaderLines val="1"/>
            <c:extLst>
              <c:ext xmlns:c15="http://schemas.microsoft.com/office/drawing/2012/chart" uri="{CE6537A1-D6FC-4f65-9D91-7224C49458BB}"/>
            </c:extLst>
          </c:dLbls>
          <c:cat>
            <c:strRef>
              <c:f>'Allocation (&amp; vs Guidelines)'!$B$3:$B$7</c:f>
              <c:strCache>
                <c:ptCount val="5"/>
                <c:pt idx="0">
                  <c:v>PERFORMA LIQUID ASSETS FUND</c:v>
                </c:pt>
                <c:pt idx="1">
                  <c:v>PERFORMA INTERMEDIATE BOND FUND</c:v>
                </c:pt>
                <c:pt idx="2">
                  <c:v>PERFORMA HIGH YIELD FUND</c:v>
                </c:pt>
                <c:pt idx="3">
                  <c:v>PERFORMA EQUITY FUND</c:v>
                </c:pt>
                <c:pt idx="4">
                  <c:v>PERFORMA INTERNATIONAL EQUITY FUND</c:v>
                </c:pt>
              </c:strCache>
            </c:strRef>
          </c:cat>
          <c:val>
            <c:numRef>
              <c:f>'Allocation (&amp; vs Guidelines)'!$E$3:$E$7</c:f>
              <c:numCache>
                <c:formatCode>0.0%</c:formatCode>
                <c:ptCount val="5"/>
                <c:pt idx="0">
                  <c:v>1.0108304654118319E-2</c:v>
                </c:pt>
                <c:pt idx="1">
                  <c:v>0.45412687403482371</c:v>
                </c:pt>
                <c:pt idx="2">
                  <c:v>0.14758281643552132</c:v>
                </c:pt>
                <c:pt idx="3">
                  <c:v>0.20659677488385828</c:v>
                </c:pt>
                <c:pt idx="4">
                  <c:v>0.18158522999167831</c:v>
                </c:pt>
              </c:numCache>
            </c:numRef>
          </c:val>
          <c:extLst>
            <c:ext xmlns:c16="http://schemas.microsoft.com/office/drawing/2014/chart" uri="{C3380CC4-5D6E-409C-BE32-E72D297353CC}">
              <c16:uniqueId val="{00000008-5847-4D69-9C39-F76A03918701}"/>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200"/>
      <c:rAngAx val="0"/>
    </c:view3D>
    <c:floor>
      <c:thickness val="0"/>
    </c:floor>
    <c:sideWall>
      <c:thickness val="0"/>
      <c:spPr>
        <a:ln>
          <a:noFill/>
        </a:ln>
      </c:spPr>
    </c:sideWall>
    <c:backWall>
      <c:thickness val="0"/>
      <c:spPr>
        <a:ln>
          <a:noFill/>
        </a:ln>
      </c:spPr>
    </c:backWall>
    <c:plotArea>
      <c:layout>
        <c:manualLayout>
          <c:layoutTarget val="inner"/>
          <c:xMode val="edge"/>
          <c:yMode val="edge"/>
          <c:x val="1.8876018876018877E-2"/>
          <c:y val="8.8318392333922247E-2"/>
          <c:w val="0.92270406150765916"/>
          <c:h val="0.79817770701100033"/>
        </c:manualLayout>
      </c:layout>
      <c:pie3DChart>
        <c:varyColors val="1"/>
        <c:ser>
          <c:idx val="2"/>
          <c:order val="0"/>
          <c:spPr>
            <a:solidFill>
              <a:srgbClr val="106280"/>
            </a:solidFill>
            <a:ln w="82550">
              <a:noFill/>
            </a:ln>
          </c:spPr>
          <c:dPt>
            <c:idx val="0"/>
            <c:bubble3D val="0"/>
            <c:spPr>
              <a:solidFill>
                <a:schemeClr val="bg1">
                  <a:lumMod val="50000"/>
                </a:schemeClr>
              </a:solidFill>
              <a:ln w="82550">
                <a:noFill/>
              </a:ln>
            </c:spPr>
            <c:extLst>
              <c:ext xmlns:c16="http://schemas.microsoft.com/office/drawing/2014/chart" uri="{C3380CC4-5D6E-409C-BE32-E72D297353CC}">
                <c16:uniqueId val="{00000001-0F16-4F64-80E8-B6C5FFB75CDB}"/>
              </c:ext>
            </c:extLst>
          </c:dPt>
          <c:dPt>
            <c:idx val="2"/>
            <c:bubble3D val="0"/>
            <c:spPr>
              <a:solidFill>
                <a:srgbClr val="57A666"/>
              </a:solidFill>
              <a:ln w="82550">
                <a:noFill/>
              </a:ln>
            </c:spPr>
            <c:extLst>
              <c:ext xmlns:c16="http://schemas.microsoft.com/office/drawing/2014/chart" uri="{C3380CC4-5D6E-409C-BE32-E72D297353CC}">
                <c16:uniqueId val="{00000003-0F16-4F64-80E8-B6C5FFB75CDB}"/>
              </c:ext>
            </c:extLst>
          </c:dPt>
          <c:dPt>
            <c:idx val="3"/>
            <c:bubble3D val="0"/>
            <c:spPr>
              <a:solidFill>
                <a:srgbClr val="1F2D41"/>
              </a:solidFill>
              <a:ln w="82550">
                <a:noFill/>
              </a:ln>
            </c:spPr>
            <c:extLst>
              <c:ext xmlns:c16="http://schemas.microsoft.com/office/drawing/2014/chart" uri="{C3380CC4-5D6E-409C-BE32-E72D297353CC}">
                <c16:uniqueId val="{00000005-0F16-4F64-80E8-B6C5FFB75CDB}"/>
              </c:ext>
            </c:extLst>
          </c:dPt>
          <c:dPt>
            <c:idx val="4"/>
            <c:bubble3D val="0"/>
            <c:spPr>
              <a:solidFill>
                <a:srgbClr val="2B3E59"/>
              </a:solidFill>
              <a:ln w="82550">
                <a:noFill/>
              </a:ln>
            </c:spPr>
            <c:extLst>
              <c:ext xmlns:c16="http://schemas.microsoft.com/office/drawing/2014/chart" uri="{C3380CC4-5D6E-409C-BE32-E72D297353CC}">
                <c16:uniqueId val="{00000007-0F16-4F64-80E8-B6C5FFB75CDB}"/>
              </c:ext>
            </c:extLst>
          </c:dPt>
          <c:dPt>
            <c:idx val="5"/>
            <c:bubble3D val="0"/>
            <c:spPr>
              <a:solidFill>
                <a:srgbClr val="3B5479"/>
              </a:solidFill>
              <a:ln w="82550">
                <a:noFill/>
              </a:ln>
            </c:spPr>
            <c:extLst>
              <c:ext xmlns:c16="http://schemas.microsoft.com/office/drawing/2014/chart" uri="{C3380CC4-5D6E-409C-BE32-E72D297353CC}">
                <c16:uniqueId val="{00000009-0F16-4F64-80E8-B6C5FFB75CDB}"/>
              </c:ext>
            </c:extLst>
          </c:dPt>
          <c:dPt>
            <c:idx val="6"/>
            <c:bubble3D val="0"/>
            <c:spPr>
              <a:solidFill>
                <a:srgbClr val="5891A6"/>
              </a:solidFill>
              <a:ln w="82550">
                <a:noFill/>
              </a:ln>
            </c:spPr>
            <c:extLst>
              <c:ext xmlns:c16="http://schemas.microsoft.com/office/drawing/2014/chart" uri="{C3380CC4-5D6E-409C-BE32-E72D297353CC}">
                <c16:uniqueId val="{0000000B-0F16-4F64-80E8-B6C5FFB75CDB}"/>
              </c:ext>
            </c:extLst>
          </c:dPt>
          <c:dLbls>
            <c:dLbl>
              <c:idx val="0"/>
              <c:layout>
                <c:manualLayout>
                  <c:x val="-0.11133222771413012"/>
                  <c:y val="-9.298376484102921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589876940153256"/>
                      <c:h val="0.21514312096029548"/>
                    </c:manualLayout>
                  </c15:layout>
                </c:ext>
                <c:ext xmlns:c16="http://schemas.microsoft.com/office/drawing/2014/chart" uri="{C3380CC4-5D6E-409C-BE32-E72D297353CC}">
                  <c16:uniqueId val="{00000001-0F16-4F64-80E8-B6C5FFB75CDB}"/>
                </c:ext>
              </c:extLst>
            </c:dLbl>
            <c:dLbl>
              <c:idx val="1"/>
              <c:layout>
                <c:manualLayout>
                  <c:x val="0.22562527502466712"/>
                  <c:y val="0.14000739325001271"/>
                </c:manualLayout>
              </c:layout>
              <c:tx>
                <c:rich>
                  <a:bodyPr/>
                  <a:lstStyle/>
                  <a:p>
                    <a:pPr>
                      <a:defRPr sz="1050" b="0" spc="20" baseline="0">
                        <a:solidFill>
                          <a:schemeClr val="bg1"/>
                        </a:solidFill>
                        <a:latin typeface="Poppins SemiBold" panose="00000700000000000000" pitchFamily="2" charset="0"/>
                        <a:cs typeface="Poppins SemiBold" panose="00000700000000000000" pitchFamily="2" charset="0"/>
                      </a:defRPr>
                    </a:pPr>
                    <a:fld id="{FB99984E-EA58-466D-90F1-CBBFE8F6A0D2}" type="CATEGORYNAME">
                      <a:rPr lang="en-US"/>
                      <a:pPr>
                        <a:defRPr sz="1050" b="0" spc="20" baseline="0">
                          <a:solidFill>
                            <a:schemeClr val="bg1"/>
                          </a:solidFill>
                          <a:latin typeface="Poppins SemiBold" panose="00000700000000000000" pitchFamily="2" charset="0"/>
                          <a:cs typeface="Poppins SemiBold" panose="00000700000000000000" pitchFamily="2" charset="0"/>
                        </a:defRPr>
                      </a:pPr>
                      <a:t>[CATEGORY NAME]</a:t>
                    </a:fld>
                    <a:r>
                      <a:rPr lang="en-US" baseline="0"/>
                      <a:t>
50.2%</a:t>
                    </a:r>
                  </a:p>
                </c:rich>
              </c:tx>
              <c:numFmt formatCode="0.0%" sourceLinked="0"/>
              <c:spPr>
                <a:noFill/>
                <a:ln>
                  <a:noFill/>
                </a:ln>
                <a:effectLst/>
              </c:sp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0628646208768317"/>
                      <c:h val="0.2586501479558822"/>
                    </c:manualLayout>
                  </c15:layout>
                  <c15:dlblFieldTable/>
                  <c15:showDataLabelsRange val="0"/>
                </c:ext>
                <c:ext xmlns:c16="http://schemas.microsoft.com/office/drawing/2014/chart" uri="{C3380CC4-5D6E-409C-BE32-E72D297353CC}">
                  <c16:uniqueId val="{0000000C-0F16-4F64-80E8-B6C5FFB75CDB}"/>
                </c:ext>
              </c:extLst>
            </c:dLbl>
            <c:dLbl>
              <c:idx val="2"/>
              <c:layout>
                <c:manualLayout>
                  <c:x val="3.8612740974945698E-3"/>
                  <c:y val="1.454111864825761E-7"/>
                </c:manualLayout>
              </c:layout>
              <c:tx>
                <c:rich>
                  <a:bodyPr/>
                  <a:lstStyle/>
                  <a:p>
                    <a:fld id="{F3081A33-6280-4113-BB32-B9501C28583C}" type="CATEGORYNAME">
                      <a:rPr lang="en-US"/>
                      <a:pPr/>
                      <a:t>[CATEGORY NAME]</a:t>
                    </a:fld>
                    <a:r>
                      <a:rPr lang="en-US" baseline="0"/>
                      <a:t>
</a:t>
                    </a:r>
                  </a:p>
                </c:rich>
              </c:tx>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9998594770248312"/>
                      <c:h val="0.20026609338306395"/>
                    </c:manualLayout>
                  </c15:layout>
                  <c15:dlblFieldTable/>
                  <c15:showDataLabelsRange val="0"/>
                </c:ext>
                <c:ext xmlns:c16="http://schemas.microsoft.com/office/drawing/2014/chart" uri="{C3380CC4-5D6E-409C-BE32-E72D297353CC}">
                  <c16:uniqueId val="{00000003-0F16-4F64-80E8-B6C5FFB75CDB}"/>
                </c:ext>
              </c:extLst>
            </c:dLbl>
            <c:dLbl>
              <c:idx val="3"/>
              <c:layout>
                <c:manualLayout>
                  <c:x val="7.1211408635294182E-2"/>
                  <c:y val="-6.2788550323176359E-2"/>
                </c:manualLayout>
              </c:layout>
              <c:tx>
                <c:rich>
                  <a:bodyPr/>
                  <a:lstStyle/>
                  <a:p>
                    <a:fld id="{94E2A372-4DEF-42E3-8411-6B35A0FD4F35}" type="CATEGORYNAME">
                      <a:rPr lang="nl-NL"/>
                      <a:pPr/>
                      <a:t>[CATEGORY NAME]</a:t>
                    </a:fld>
                    <a:r>
                      <a:rPr lang="nl-NL" baseline="0"/>
                      <a:t>
</a:t>
                    </a:r>
                  </a:p>
                </c:rich>
              </c:tx>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4369875171474225"/>
                      <c:h val="0.20856395808241548"/>
                    </c:manualLayout>
                  </c15:layout>
                  <c15:dlblFieldTable/>
                  <c15:showDataLabelsRange val="0"/>
                </c:ext>
                <c:ext xmlns:c16="http://schemas.microsoft.com/office/drawing/2014/chart" uri="{C3380CC4-5D6E-409C-BE32-E72D297353CC}">
                  <c16:uniqueId val="{00000005-0F16-4F64-80E8-B6C5FFB75CDB}"/>
                </c:ext>
              </c:extLst>
            </c:dLbl>
            <c:dLbl>
              <c:idx val="4"/>
              <c:layout>
                <c:manualLayout>
                  <c:x val="7.335661821223198E-2"/>
                  <c:y val="-5.7695087283064751E-2"/>
                </c:manualLayout>
              </c:layout>
              <c:tx>
                <c:rich>
                  <a:bodyPr/>
                  <a:lstStyle/>
                  <a:p>
                    <a:fld id="{EEA46211-0BF3-4A96-9C60-937B12A63DB7}" type="CATEGORYNAME">
                      <a:rPr lang="en-US"/>
                      <a:pPr/>
                      <a:t>[CATEGORY NAME]</a:t>
                    </a:fld>
                    <a:r>
                      <a:rPr lang="en-US" baseline="0"/>
                      <a:t>
</a:t>
                    </a:r>
                  </a:p>
                </c:rich>
              </c:tx>
              <c:dLblPos val="bestFit"/>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7-0F16-4F64-80E8-B6C5FFB75CDB}"/>
                </c:ext>
              </c:extLst>
            </c:dLbl>
            <c:dLbl>
              <c:idx val="5"/>
              <c:layout>
                <c:manualLayout>
                  <c:x val="0.12455529876471155"/>
                  <c:y val="-2.162787823267244E-2"/>
                </c:manualLayout>
              </c:layout>
              <c:tx>
                <c:rich>
                  <a:bodyPr/>
                  <a:lstStyle/>
                  <a:p>
                    <a:fld id="{6942FCEA-650B-4E47-A72D-7AE6C4B77AA6}" type="CATEGORYNAME">
                      <a:rPr lang="en-US"/>
                      <a:pPr/>
                      <a:t>[CATEGORY NAME]</a:t>
                    </a:fld>
                    <a:r>
                      <a:rPr lang="en-US" baseline="0"/>
                      <a:t>
</a:t>
                    </a:r>
                  </a:p>
                </c:rich>
              </c:tx>
              <c:dLblPos val="bestFit"/>
              <c:showLegendKey val="0"/>
              <c:showVal val="0"/>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9-0F16-4F64-80E8-B6C5FFB75CDB}"/>
                </c:ext>
              </c:extLst>
            </c:dLbl>
            <c:dLbl>
              <c:idx val="6"/>
              <c:layout>
                <c:manualLayout>
                  <c:x val="-7.7343840810583001E-2"/>
                  <c:y val="-0.22036978064722518"/>
                </c:manualLayout>
              </c:layout>
              <c:numFmt formatCode="0.0%" sourceLinked="0"/>
              <c:spPr/>
              <c:txPr>
                <a:bodyPr/>
                <a:lstStyle/>
                <a:p>
                  <a:pPr>
                    <a:defRPr sz="1050" b="0" spc="20" baseline="0">
                      <a:solidFill>
                        <a:schemeClr val="bg1"/>
                      </a:solidFill>
                      <a:latin typeface="Poppins SemiBold" panose="00000700000000000000" pitchFamily="2" charset="0"/>
                      <a:cs typeface="Poppins SemiBold" panose="00000700000000000000" pitchFamily="2" charset="0"/>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7640627012903717"/>
                      <c:h val="0.20856395808241548"/>
                    </c:manualLayout>
                  </c15:layout>
                </c:ext>
                <c:ext xmlns:c16="http://schemas.microsoft.com/office/drawing/2014/chart" uri="{C3380CC4-5D6E-409C-BE32-E72D297353CC}">
                  <c16:uniqueId val="{0000000B-0F16-4F64-80E8-B6C5FFB75CDB}"/>
                </c:ext>
              </c:extLst>
            </c:dLbl>
            <c:numFmt formatCode="0.0%" sourceLinked="0"/>
            <c:spPr>
              <a:noFill/>
              <a:ln>
                <a:noFill/>
              </a:ln>
              <a:effectLst/>
            </c:spPr>
            <c:txPr>
              <a:bodyPr/>
              <a:lstStyle/>
              <a:p>
                <a:pPr>
                  <a:defRPr sz="1050" b="0" spc="20" baseline="0">
                    <a:solidFill>
                      <a:sysClr val="windowText" lastClr="000000"/>
                    </a:solidFill>
                    <a:latin typeface="Poppins SemiBold" panose="00000700000000000000" pitchFamily="2" charset="0"/>
                    <a:cs typeface="Poppins SemiBold" panose="00000700000000000000" pitchFamily="2" charset="0"/>
                  </a:defRPr>
                </a:pPr>
                <a:endParaRPr lang="en-US"/>
              </a:p>
            </c:txPr>
            <c:dLblPos val="bestFit"/>
            <c:showLegendKey val="0"/>
            <c:showVal val="0"/>
            <c:showCatName val="1"/>
            <c:showSerName val="0"/>
            <c:showPercent val="1"/>
            <c:showBubbleSize val="0"/>
            <c:separator>
</c:separator>
            <c:showLeaderLines val="1"/>
            <c:extLst>
              <c:ext xmlns:c15="http://schemas.microsoft.com/office/drawing/2012/chart" uri="{CE6537A1-D6FC-4f65-9D91-7224C49458BB}"/>
            </c:extLst>
          </c:dLbls>
          <c:cat>
            <c:strRef>
              <c:f>'Allocation (&amp; vs Guidelines)'!$B$3:$B$9</c:f>
              <c:strCache>
                <c:ptCount val="7"/>
                <c:pt idx="0">
                  <c:v>PERFORMA LIQUID ASSETS FUND</c:v>
                </c:pt>
                <c:pt idx="1">
                  <c:v>PERFORMA INTERNATIONAL BOND FUND</c:v>
                </c:pt>
                <c:pt idx="2">
                  <c:v>SEIX INVESTMENT ADVISORS</c:v>
                </c:pt>
                <c:pt idx="3">
                  <c:v>SPDR S&amp;P 500 ETF</c:v>
                </c:pt>
                <c:pt idx="4">
                  <c:v>CHAMPLAIN MID CAP</c:v>
                </c:pt>
                <c:pt idx="5">
                  <c:v>PZENA SMALL CAP VALUE</c:v>
                </c:pt>
                <c:pt idx="6">
                  <c:v>ORBIS GLOBAL EQUITY  FUND</c:v>
                </c:pt>
              </c:strCache>
            </c:strRef>
          </c:cat>
          <c:val>
            <c:numRef>
              <c:f>'Allocation (&amp; vs Guidelines)'!$E$3:$E$9</c:f>
              <c:numCache>
                <c:formatCode>0.0%</c:formatCode>
                <c:ptCount val="7"/>
                <c:pt idx="0">
                  <c:v>2.3742523616454479E-2</c:v>
                </c:pt>
                <c:pt idx="1">
                  <c:v>0.50244251664571626</c:v>
                </c:pt>
                <c:pt idx="2">
                  <c:v>0.15013464763004639</c:v>
                </c:pt>
                <c:pt idx="3">
                  <c:v>6.6000000000000003E-2</c:v>
                </c:pt>
                <c:pt idx="4">
                  <c:v>6.6000000000000003E-2</c:v>
                </c:pt>
                <c:pt idx="5">
                  <c:v>3.3000000000000002E-2</c:v>
                </c:pt>
                <c:pt idx="6">
                  <c:v>0.15854240071183007</c:v>
                </c:pt>
              </c:numCache>
            </c:numRef>
          </c:val>
          <c:extLst>
            <c:ext xmlns:c16="http://schemas.microsoft.com/office/drawing/2014/chart" uri="{C3380CC4-5D6E-409C-BE32-E72D297353CC}">
              <c16:uniqueId val="{0000000D-0F16-4F64-80E8-B6C5FFB75CDB}"/>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97"/>
      <c:rAngAx val="0"/>
    </c:view3D>
    <c:floor>
      <c:thickness val="0"/>
    </c:floor>
    <c:sideWall>
      <c:thickness val="0"/>
      <c:spPr>
        <a:ln>
          <a:noFill/>
        </a:ln>
      </c:spPr>
    </c:sideWall>
    <c:backWall>
      <c:thickness val="0"/>
      <c:spPr>
        <a:ln>
          <a:noFill/>
        </a:ln>
      </c:spPr>
    </c:backWall>
    <c:plotArea>
      <c:layout>
        <c:manualLayout>
          <c:layoutTarget val="inner"/>
          <c:xMode val="edge"/>
          <c:yMode val="edge"/>
          <c:x val="6.5656285129481358E-4"/>
          <c:y val="7.3298238751963271E-2"/>
          <c:w val="0.99934345990554863"/>
          <c:h val="0.92670161900718118"/>
        </c:manualLayout>
      </c:layout>
      <c:pie3DChart>
        <c:varyColors val="1"/>
        <c:ser>
          <c:idx val="1"/>
          <c:order val="2"/>
          <c:tx>
            <c:strRef>
              <c:f>'Allocation w WB'!$E$2</c:f>
              <c:strCache>
                <c:ptCount val="1"/>
                <c:pt idx="0">
                  <c:v>ACTUAL ALLOCATION</c:v>
                </c:pt>
              </c:strCache>
            </c:strRef>
          </c:tx>
          <c:spPr>
            <a:solidFill>
              <a:srgbClr val="106280"/>
            </a:solidFill>
            <a:ln w="82550">
              <a:noFill/>
            </a:ln>
          </c:spPr>
          <c:dPt>
            <c:idx val="0"/>
            <c:bubble3D val="0"/>
            <c:spPr>
              <a:solidFill>
                <a:srgbClr val="195FAD"/>
              </a:solidFill>
              <a:ln w="82550">
                <a:noFill/>
              </a:ln>
            </c:spPr>
            <c:extLst>
              <c:ext xmlns:c16="http://schemas.microsoft.com/office/drawing/2014/chart" uri="{C3380CC4-5D6E-409C-BE32-E72D297353CC}">
                <c16:uniqueId val="{00000001-6397-4BCA-9217-2845B3D29E22}"/>
              </c:ext>
            </c:extLst>
          </c:dPt>
          <c:dPt>
            <c:idx val="1"/>
            <c:bubble3D val="0"/>
            <c:spPr>
              <a:solidFill>
                <a:srgbClr val="0A4256"/>
              </a:solidFill>
              <a:ln w="82550">
                <a:noFill/>
              </a:ln>
            </c:spPr>
            <c:extLst>
              <c:ext xmlns:c16="http://schemas.microsoft.com/office/drawing/2014/chart" uri="{C3380CC4-5D6E-409C-BE32-E72D297353CC}">
                <c16:uniqueId val="{00000003-6397-4BCA-9217-2845B3D29E22}"/>
              </c:ext>
            </c:extLst>
          </c:dPt>
          <c:dPt>
            <c:idx val="3"/>
            <c:bubble3D val="0"/>
            <c:spPr>
              <a:solidFill>
                <a:srgbClr val="3C93B3"/>
              </a:solidFill>
              <a:ln w="82550">
                <a:noFill/>
              </a:ln>
            </c:spPr>
            <c:extLst>
              <c:ext xmlns:c16="http://schemas.microsoft.com/office/drawing/2014/chart" uri="{C3380CC4-5D6E-409C-BE32-E72D297353CC}">
                <c16:uniqueId val="{00000005-6397-4BCA-9217-2845B3D29E22}"/>
              </c:ext>
            </c:extLst>
          </c:dPt>
          <c:dPt>
            <c:idx val="4"/>
            <c:bubble3D val="0"/>
            <c:spPr>
              <a:solidFill>
                <a:srgbClr val="76A5B5"/>
              </a:solidFill>
              <a:ln w="82550">
                <a:noFill/>
              </a:ln>
            </c:spPr>
            <c:extLst>
              <c:ext xmlns:c16="http://schemas.microsoft.com/office/drawing/2014/chart" uri="{C3380CC4-5D6E-409C-BE32-E72D297353CC}">
                <c16:uniqueId val="{00000007-6397-4BCA-9217-2845B3D29E22}"/>
              </c:ext>
            </c:extLst>
          </c:dPt>
          <c:dPt>
            <c:idx val="5"/>
            <c:bubble3D val="0"/>
            <c:spPr>
              <a:solidFill>
                <a:srgbClr val="375E79"/>
              </a:solidFill>
              <a:ln w="82550">
                <a:noFill/>
              </a:ln>
            </c:spPr>
            <c:extLst>
              <c:ext xmlns:c16="http://schemas.microsoft.com/office/drawing/2014/chart" uri="{C3380CC4-5D6E-409C-BE32-E72D297353CC}">
                <c16:uniqueId val="{00000009-6397-4BCA-9217-2845B3D29E22}"/>
              </c:ext>
            </c:extLst>
          </c:dPt>
          <c:dLbls>
            <c:dLbl>
              <c:idx val="0"/>
              <c:layout>
                <c:manualLayout>
                  <c:x val="-0.14986767404639817"/>
                  <c:y val="-0.21203266725269976"/>
                </c:manualLayout>
              </c:layout>
              <c:tx>
                <c:rich>
                  <a:bodyPr wrap="square" lIns="38100" tIns="19050" rIns="38100" bIns="19050" anchor="t" anchorCtr="0">
                    <a:noAutofit/>
                  </a:bodyPr>
                  <a:lstStyle/>
                  <a:p>
                    <a:pPr algn="ctr">
                      <a:defRPr lang="en-US" sz="105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r>
                      <a:rPr lang="en-US" spc="-40" baseline="0">
                        <a:solidFill>
                          <a:schemeClr val="bg1"/>
                        </a:solidFill>
                      </a:rPr>
                      <a:t>PERFORMA</a:t>
                    </a:r>
                  </a:p>
                  <a:p>
                    <a:pPr algn="ctr">
                      <a:defRPr lang="en-US" sz="105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r>
                      <a:rPr lang="en-US" spc="-40" baseline="0">
                        <a:solidFill>
                          <a:schemeClr val="bg1"/>
                        </a:solidFill>
                      </a:rPr>
                      <a:t>LIQUID ASSETS </a:t>
                    </a:r>
                    <a:r>
                      <a:rPr lang="en-US" spc="-20" baseline="0">
                        <a:solidFill>
                          <a:schemeClr val="bg1"/>
                        </a:solidFill>
                      </a:rPr>
                      <a:t>FUND</a:t>
                    </a:r>
                    <a:r>
                      <a:rPr lang="en-US" baseline="0">
                        <a:solidFill>
                          <a:schemeClr val="bg1"/>
                        </a:solidFill>
                      </a:rPr>
                      <a:t>
</a:t>
                    </a:r>
                    <a:fld id="{3B9351AC-FAD8-4910-8DF3-F08BBEF75CCC}" type="VALUE">
                      <a:rPr lang="en-US" sz="1040" spc="-50" baseline="0">
                        <a:solidFill>
                          <a:schemeClr val="bg1"/>
                        </a:solidFill>
                      </a:rPr>
                      <a:pPr algn="ctr">
                        <a:defRPr lang="en-US" sz="105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t>[VALUE]</a:t>
                    </a:fld>
                    <a:endParaRPr lang="en-US" baseline="0">
                      <a:solidFill>
                        <a:schemeClr val="bg1"/>
                      </a:solidFill>
                    </a:endParaRPr>
                  </a:p>
                </c:rich>
              </c:tx>
              <c:spPr>
                <a:noFill/>
                <a:ln>
                  <a:noFill/>
                </a:ln>
                <a:effectLst/>
              </c:spPr>
              <c:dLblPos val="bestFit"/>
              <c:showLegendKey val="0"/>
              <c:showVal val="1"/>
              <c:showCatName val="1"/>
              <c:showSerName val="0"/>
              <c:showPercent val="0"/>
              <c:showBubbleSize val="0"/>
              <c:separator>
</c:separator>
              <c:extLst>
                <c:ext xmlns:c15="http://schemas.microsoft.com/office/drawing/2012/chart" uri="{CE6537A1-D6FC-4f65-9D91-7224C49458BB}">
                  <c15:spPr xmlns:c15="http://schemas.microsoft.com/office/drawing/2012/chart">
                    <a:prstGeom prst="rect">
                      <a:avLst/>
                    </a:prstGeom>
                  </c15:spPr>
                  <c15:layout>
                    <c:manualLayout>
                      <c:w val="0.14988301174023774"/>
                      <c:h val="0.18435343630992118"/>
                    </c:manualLayout>
                  </c15:layout>
                  <c15:dlblFieldTable/>
                  <c15:showDataLabelsRange val="0"/>
                </c:ext>
                <c:ext xmlns:c16="http://schemas.microsoft.com/office/drawing/2014/chart" uri="{C3380CC4-5D6E-409C-BE32-E72D297353CC}">
                  <c16:uniqueId val="{00000001-6397-4BCA-9217-2845B3D29E22}"/>
                </c:ext>
              </c:extLst>
            </c:dLbl>
            <c:dLbl>
              <c:idx val="1"/>
              <c:tx>
                <c:rich>
                  <a:bodyPr wrap="square" lIns="38100" tIns="19050" rIns="38100" bIns="19050" anchor="ctr" anchorCtr="0">
                    <a:noAutofit/>
                  </a:bodyPr>
                  <a:lstStyle/>
                  <a:p>
                    <a:pPr algn="ctr">
                      <a:defRPr lang="en-US" sz="105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fld id="{5FF7EE04-89CD-4A91-9967-535E20FBFFCF}" type="CATEGORYNAME">
                      <a:rPr lang="en-US">
                        <a:solidFill>
                          <a:schemeClr val="bg1"/>
                        </a:solidFill>
                      </a:rPr>
                      <a:pPr algn="ctr">
                        <a:defRPr lang="en-US" sz="105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t>[CATEGORY NAME]</a:t>
                    </a:fld>
                    <a:r>
                      <a:rPr lang="en-US" baseline="0">
                        <a:solidFill>
                          <a:schemeClr val="bg1"/>
                        </a:solidFill>
                      </a:rPr>
                      <a:t>
</a:t>
                    </a:r>
                    <a:fld id="{65D48C9B-9B4F-4EE6-86D2-A6C116AFC565}" type="VALUE">
                      <a:rPr lang="en-US" baseline="0">
                        <a:solidFill>
                          <a:schemeClr val="bg1"/>
                        </a:solidFill>
                      </a:rPr>
                      <a:pPr algn="ctr">
                        <a:defRPr lang="en-US" sz="1050" b="0" i="0" u="none" strike="noStrike" kern="1200" spc="20" baseline="0">
                          <a:solidFill>
                            <a:schemeClr val="tx1"/>
                          </a:solidFill>
                          <a:latin typeface="Poppins SemiBold" panose="00000700000000000000" pitchFamily="2" charset="0"/>
                          <a:ea typeface="+mn-ea"/>
                          <a:cs typeface="Poppins SemiBold" panose="00000700000000000000" pitchFamily="2" charset="0"/>
                        </a:defRPr>
                      </a:pPr>
                      <a:t>[VALUE]</a:t>
                    </a:fld>
                    <a:endParaRPr lang="en-US" baseline="0">
                      <a:solidFill>
                        <a:schemeClr val="bg1"/>
                      </a:solidFill>
                    </a:endParaRPr>
                  </a:p>
                </c:rich>
              </c:tx>
              <c:spPr>
                <a:noFill/>
                <a:ln>
                  <a:noFill/>
                </a:ln>
                <a:effectLst/>
              </c:spPr>
              <c:dLblPos val="inEnd"/>
              <c:showLegendKey val="0"/>
              <c:showVal val="1"/>
              <c:showCatName val="1"/>
              <c:showSerName val="0"/>
              <c:showPercent val="0"/>
              <c:showBubbleSize val="0"/>
              <c:separator>
</c:separator>
              <c:extLst>
                <c:ext xmlns:c15="http://schemas.microsoft.com/office/drawing/2012/chart" uri="{CE6537A1-D6FC-4f65-9D91-7224C49458BB}">
                  <c15:spPr xmlns:c15="http://schemas.microsoft.com/office/drawing/2012/chart">
                    <a:prstGeom prst="rect">
                      <a:avLst/>
                    </a:prstGeom>
                  </c15:spPr>
                  <c15:layout>
                    <c:manualLayout>
                      <c:w val="0.16893225573526932"/>
                      <c:h val="0.24838411819021236"/>
                    </c:manualLayout>
                  </c15:layout>
                  <c15:dlblFieldTable/>
                  <c15:showDataLabelsRange val="0"/>
                </c:ext>
                <c:ext xmlns:c16="http://schemas.microsoft.com/office/drawing/2014/chart" uri="{C3380CC4-5D6E-409C-BE32-E72D297353CC}">
                  <c16:uniqueId val="{00000003-6397-4BCA-9217-2845B3D29E22}"/>
                </c:ext>
              </c:extLst>
            </c:dLbl>
            <c:dLbl>
              <c:idx val="2"/>
              <c:layout>
                <c:manualLayout>
                  <c:x val="0.17177592637205799"/>
                  <c:y val="-0.23479089566868017"/>
                </c:manualLayout>
              </c:layout>
              <c:tx>
                <c:rich>
                  <a:bodyPr/>
                  <a:lstStyle/>
                  <a:p>
                    <a:fld id="{6E5F4048-47D1-455C-AE82-91BD4E3EF99B}" type="CATEGORYNAME">
                      <a:rPr lang="en-US" sz="1050" spc="-20" baseline="0"/>
                      <a:pPr/>
                      <a:t>[CATEGORY NAME]</a:t>
                    </a:fld>
                    <a:r>
                      <a:rPr lang="en-US" sz="1050" baseline="0"/>
                      <a:t>
</a:t>
                    </a:r>
                    <a:fld id="{145D2A0D-7643-4476-82C6-A43236770162}" type="VALUE">
                      <a:rPr lang="en-US" sz="1050" baseline="0"/>
                      <a:pPr/>
                      <a:t>[VALUE]</a:t>
                    </a:fld>
                    <a:endParaRPr lang="en-US" sz="1050" baseline="0"/>
                  </a:p>
                </c:rich>
              </c:tx>
              <c:dLblPos val="bestFit"/>
              <c:showLegendKey val="0"/>
              <c:showVal val="1"/>
              <c:showCatName val="1"/>
              <c:showSerName val="0"/>
              <c:showPercent val="0"/>
              <c:showBubbleSize val="0"/>
              <c:separator>
</c:separator>
              <c:extLst>
                <c:ext xmlns:c15="http://schemas.microsoft.com/office/drawing/2012/chart" uri="{CE6537A1-D6FC-4f65-9D91-7224C49458BB}">
                  <c15:layout>
                    <c:manualLayout>
                      <c:w val="0.17084757985662022"/>
                      <c:h val="0.27968282249843651"/>
                    </c:manualLayout>
                  </c15:layout>
                  <c15:dlblFieldTable/>
                  <c15:showDataLabelsRange val="0"/>
                </c:ext>
                <c:ext xmlns:c16="http://schemas.microsoft.com/office/drawing/2014/chart" uri="{C3380CC4-5D6E-409C-BE32-E72D297353CC}">
                  <c16:uniqueId val="{0000000A-6397-4BCA-9217-2845B3D29E22}"/>
                </c:ext>
              </c:extLst>
            </c:dLbl>
            <c:dLbl>
              <c:idx val="3"/>
              <c:dLblPos val="inEnd"/>
              <c:showLegendKey val="0"/>
              <c:showVal val="1"/>
              <c:showCatName val="1"/>
              <c:showSerName val="0"/>
              <c:showPercent val="0"/>
              <c:showBubbleSize val="0"/>
              <c:separator>
</c:separator>
              <c:extLst>
                <c:ext xmlns:c15="http://schemas.microsoft.com/office/drawing/2012/chart" uri="{CE6537A1-D6FC-4f65-9D91-7224C49458BB}">
                  <c15:layout>
                    <c:manualLayout>
                      <c:w val="0.12823363777560057"/>
                      <c:h val="0.29533237060594342"/>
                    </c:manualLayout>
                  </c15:layout>
                </c:ext>
                <c:ext xmlns:c16="http://schemas.microsoft.com/office/drawing/2014/chart" uri="{C3380CC4-5D6E-409C-BE32-E72D297353CC}">
                  <c16:uniqueId val="{00000005-6397-4BCA-9217-2845B3D29E22}"/>
                </c:ext>
              </c:extLst>
            </c:dLbl>
            <c:dLbl>
              <c:idx val="4"/>
              <c:layout>
                <c:manualLayout>
                  <c:x val="5.8421275835386664E-2"/>
                  <c:y val="3.3285880637017776E-2"/>
                </c:manualLayout>
              </c:layout>
              <c:tx>
                <c:rich>
                  <a:bodyPr/>
                  <a:lstStyle/>
                  <a:p>
                    <a:fld id="{B769F8E8-FB0F-4255-837A-37FB81788F81}" type="CATEGORYNAME">
                      <a:rPr lang="en-US" spc="-30" baseline="0"/>
                      <a:pPr/>
                      <a:t>[CATEGORY NAME]</a:t>
                    </a:fld>
                    <a:r>
                      <a:rPr lang="en-US" baseline="0"/>
                      <a:t>
</a:t>
                    </a:r>
                    <a:fld id="{ACE679F9-1C45-4021-9B17-0483A134F3F8}" type="VALUE">
                      <a:rPr lang="en-US" baseline="0"/>
                      <a:pPr/>
                      <a:t>[VALUE]</a:t>
                    </a:fld>
                    <a:endParaRPr lang="en-US" baseline="0"/>
                  </a:p>
                </c:rich>
              </c:tx>
              <c:dLblPos val="bestFit"/>
              <c:showLegendKey val="0"/>
              <c:showVal val="1"/>
              <c:showCatName val="1"/>
              <c:showSerName val="0"/>
              <c:showPercent val="0"/>
              <c:showBubbleSize val="0"/>
              <c:separator>
</c:separator>
              <c:extLst>
                <c:ext xmlns:c15="http://schemas.microsoft.com/office/drawing/2012/chart" uri="{CE6537A1-D6FC-4f65-9D91-7224C49458BB}">
                  <c15:layout>
                    <c:manualLayout>
                      <c:w val="0.15544610285085003"/>
                      <c:h val="0.37343952799973879"/>
                    </c:manualLayout>
                  </c15:layout>
                  <c15:dlblFieldTable/>
                  <c15:showDataLabelsRange val="0"/>
                </c:ext>
                <c:ext xmlns:c16="http://schemas.microsoft.com/office/drawing/2014/chart" uri="{C3380CC4-5D6E-409C-BE32-E72D297353CC}">
                  <c16:uniqueId val="{00000007-6397-4BCA-9217-2845B3D29E22}"/>
                </c:ext>
              </c:extLst>
            </c:dLbl>
            <c:dLbl>
              <c:idx val="5"/>
              <c:layout>
                <c:manualLayout>
                  <c:x val="-0.15382753793093853"/>
                  <c:y val="0.14481122387224979"/>
                </c:manualLayout>
              </c:layout>
              <c:tx>
                <c:rich>
                  <a:bodyPr/>
                  <a:lstStyle/>
                  <a:p>
                    <a:fld id="{6D19C6E7-025C-41CD-8A76-B84165292CCE}" type="CATEGORYNAME">
                      <a:rPr lang="en-US" spc="-20" baseline="0"/>
                      <a:pPr/>
                      <a:t>[CATEGORY NAME]</a:t>
                    </a:fld>
                    <a:r>
                      <a:rPr lang="en-US" baseline="0"/>
                      <a:t>
</a:t>
                    </a:r>
                    <a:fld id="{68BC57A4-AFBE-4CA9-B2D8-4A8BB1AFEEE0}" type="VALUE">
                      <a:rPr lang="en-US" baseline="0"/>
                      <a:pPr/>
                      <a:t>[VALUE]</a:t>
                    </a:fld>
                    <a:endParaRPr lang="en-US" baseline="0"/>
                  </a:p>
                </c:rich>
              </c:tx>
              <c:dLblPos val="bestFit"/>
              <c:showLegendKey val="0"/>
              <c:showVal val="1"/>
              <c:showCatName val="1"/>
              <c:showSerName val="0"/>
              <c:showPercent val="0"/>
              <c:showBubbleSize val="0"/>
              <c:separator>
</c:separator>
              <c:extLst>
                <c:ext xmlns:c15="http://schemas.microsoft.com/office/drawing/2012/chart" uri="{CE6537A1-D6FC-4f65-9D91-7224C49458BB}">
                  <c15:layout>
                    <c:manualLayout>
                      <c:w val="0.14139885683785614"/>
                      <c:h val="0.26378769001179481"/>
                    </c:manualLayout>
                  </c15:layout>
                  <c15:dlblFieldTable/>
                  <c15:showDataLabelsRange val="0"/>
                </c:ext>
                <c:ext xmlns:c16="http://schemas.microsoft.com/office/drawing/2014/chart" uri="{C3380CC4-5D6E-409C-BE32-E72D297353CC}">
                  <c16:uniqueId val="{00000009-6397-4BCA-9217-2845B3D29E22}"/>
                </c:ext>
              </c:extLst>
            </c:dLbl>
            <c:spPr>
              <a:noFill/>
              <a:ln>
                <a:noFill/>
              </a:ln>
              <a:effectLst/>
            </c:spPr>
            <c:txPr>
              <a:bodyPr wrap="square" lIns="38100" tIns="19050" rIns="38100" bIns="19050" anchor="ctr" anchorCtr="0">
                <a:noAutofit/>
              </a:bodyPr>
              <a:lstStyle/>
              <a:p>
                <a:pPr algn="ctr">
                  <a:defRPr lang="en-US" sz="1050" b="0" i="0" u="none" strike="noStrike" kern="1200" spc="20" baseline="0">
                    <a:solidFill>
                      <a:schemeClr val="bg1"/>
                    </a:solidFill>
                    <a:latin typeface="Poppins SemiBold" panose="00000700000000000000" pitchFamily="2" charset="0"/>
                    <a:ea typeface="+mn-ea"/>
                    <a:cs typeface="Poppins SemiBold" panose="00000700000000000000" pitchFamily="2" charset="0"/>
                  </a:defRPr>
                </a:pPr>
                <a:endParaRPr lang="en-US"/>
              </a:p>
            </c:txPr>
            <c:dLblPos val="inEnd"/>
            <c:showLegendKey val="0"/>
            <c:showVal val="1"/>
            <c:showCatName val="1"/>
            <c:showSerName val="0"/>
            <c:showPercent val="0"/>
            <c:showBubbleSize val="0"/>
            <c:separator>
</c:separator>
            <c:showLeaderLines val="1"/>
            <c:extLst>
              <c:ext xmlns:c15="http://schemas.microsoft.com/office/drawing/2012/chart" uri="{CE6537A1-D6FC-4f65-9D91-7224C49458BB}">
                <c15:spPr xmlns:c15="http://schemas.microsoft.com/office/drawing/2012/chart">
                  <a:prstGeom prst="rect">
                    <a:avLst/>
                  </a:prstGeom>
                </c15:spPr>
              </c:ext>
            </c:extLst>
          </c:dLbls>
          <c:cat>
            <c:strRef>
              <c:f>'Allocation w WB'!$B$3:$B$8</c:f>
              <c:strCache>
                <c:ptCount val="6"/>
                <c:pt idx="0">
                  <c:v>PERFORMA LIQUID ASSETS FUND</c:v>
                </c:pt>
                <c:pt idx="1">
                  <c:v>PERFORMA HIGH YIELD FUND</c:v>
                </c:pt>
                <c:pt idx="2">
                  <c:v>PERFORMA INTERMEDIATE BOND FUND</c:v>
                </c:pt>
                <c:pt idx="3">
                  <c:v>PERFORMA EQUITY FUND</c:v>
                </c:pt>
                <c:pt idx="4">
                  <c:v>PERFORMA INTERNATIONAL EQUITY FUND</c:v>
                </c:pt>
                <c:pt idx="5">
                  <c:v>WILLIAM BLAIR ELKINS GROWTH STRATEGY</c:v>
                </c:pt>
              </c:strCache>
            </c:strRef>
          </c:cat>
          <c:val>
            <c:numRef>
              <c:f>'Allocation w WB'!$E$3:$E$8</c:f>
              <c:numCache>
                <c:formatCode>0.0%</c:formatCode>
                <c:ptCount val="6"/>
                <c:pt idx="0">
                  <c:v>0.1078670065522738</c:v>
                </c:pt>
                <c:pt idx="1">
                  <c:v>0.163773278839631</c:v>
                </c:pt>
                <c:pt idx="2">
                  <c:v>0.18435056385129842</c:v>
                </c:pt>
                <c:pt idx="3">
                  <c:v>0.18438487334762663</c:v>
                </c:pt>
                <c:pt idx="4">
                  <c:v>0.14342782993089953</c:v>
                </c:pt>
                <c:pt idx="5">
                  <c:v>0.21605945157716538</c:v>
                </c:pt>
              </c:numCache>
            </c:numRef>
          </c:val>
          <c:extLst>
            <c:ext xmlns:c16="http://schemas.microsoft.com/office/drawing/2014/chart" uri="{C3380CC4-5D6E-409C-BE32-E72D297353CC}">
              <c16:uniqueId val="{0000000B-6397-4BCA-9217-2845B3D29E22}"/>
            </c:ext>
          </c:extLst>
        </c:ser>
        <c:dLbls>
          <c:showLegendKey val="0"/>
          <c:showVal val="0"/>
          <c:showCatName val="0"/>
          <c:showSerName val="0"/>
          <c:showPercent val="0"/>
          <c:showBubbleSize val="0"/>
          <c:showLeaderLines val="1"/>
        </c:dLbls>
        <c:extLst>
          <c:ext xmlns:c15="http://schemas.microsoft.com/office/drawing/2012/chart" uri="{02D57815-91ED-43cb-92C2-25804820EDAC}">
            <c15:filteredPieSeries>
              <c15:ser>
                <c:idx val="2"/>
                <c:order val="0"/>
                <c:tx>
                  <c:strRef>
                    <c:extLst>
                      <c:ext uri="{02D57815-91ED-43cb-92C2-25804820EDAC}">
                        <c15:formulaRef>
                          <c15:sqref>'Allocation w WB'!$C$2</c15:sqref>
                        </c15:formulaRef>
                      </c:ext>
                    </c:extLst>
                    <c:strCache>
                      <c:ptCount val="1"/>
                      <c:pt idx="0">
                        <c:v>MARKET VALUE</c:v>
                      </c:pt>
                    </c:strCache>
                  </c:strRef>
                </c:tx>
                <c:cat>
                  <c:strRef>
                    <c:extLst>
                      <c:ext uri="{02D57815-91ED-43cb-92C2-25804820EDAC}">
                        <c15:formulaRef>
                          <c15:sqref>'Allocation w WB'!$B$3:$B$8</c15:sqref>
                        </c15:formulaRef>
                      </c:ext>
                    </c:extLst>
                    <c:strCache>
                      <c:ptCount val="6"/>
                      <c:pt idx="0">
                        <c:v>PERFORMA LIQUID ASSETS FUND</c:v>
                      </c:pt>
                      <c:pt idx="1">
                        <c:v>PERFORMA HIGH YIELD FUND</c:v>
                      </c:pt>
                      <c:pt idx="2">
                        <c:v>PERFORMA INTERMEDIATE BOND FUND</c:v>
                      </c:pt>
                      <c:pt idx="3">
                        <c:v>PERFORMA EQUITY FUND</c:v>
                      </c:pt>
                      <c:pt idx="4">
                        <c:v>PERFORMA INTERNATIONAL EQUITY FUND</c:v>
                      </c:pt>
                      <c:pt idx="5">
                        <c:v>WILLIAM BLAIR ELKINS GROWTH STRATEGY</c:v>
                      </c:pt>
                    </c:strCache>
                  </c:strRef>
                </c:cat>
                <c:val>
                  <c:numRef>
                    <c:extLst>
                      <c:ext uri="{02D57815-91ED-43cb-92C2-25804820EDAC}">
                        <c15:formulaRef>
                          <c15:sqref>'Allocation w WB'!$C$3:$C$8</c15:sqref>
                        </c15:formulaRef>
                      </c:ext>
                    </c:extLst>
                    <c:numCache>
                      <c:formatCode>"$"#,##0;[Red]\-"$"#,##0</c:formatCode>
                      <c:ptCount val="6"/>
                      <c:pt idx="0">
                        <c:v>24094596.739999998</c:v>
                      </c:pt>
                      <c:pt idx="1">
                        <c:v>36536156.260799997</c:v>
                      </c:pt>
                      <c:pt idx="2">
                        <c:v>41126739.693800002</c:v>
                      </c:pt>
                      <c:pt idx="3">
                        <c:v>41134393.794200003</c:v>
                      </c:pt>
                      <c:pt idx="4">
                        <c:v>31997293.109299999</c:v>
                      </c:pt>
                      <c:pt idx="5">
                        <c:v>48200670.710000001</c:v>
                      </c:pt>
                    </c:numCache>
                  </c:numRef>
                </c:val>
                <c:extLst>
                  <c:ext xmlns:c16="http://schemas.microsoft.com/office/drawing/2014/chart" uri="{C3380CC4-5D6E-409C-BE32-E72D297353CC}">
                    <c16:uniqueId val="{0000000C-6397-4BCA-9217-2845B3D29E22}"/>
                  </c:ext>
                </c:extLst>
              </c15:ser>
            </c15:filteredPieSeries>
            <c15:filteredPieSeries>
              <c15:ser>
                <c:idx val="0"/>
                <c:order val="1"/>
                <c:tx>
                  <c:strRef>
                    <c:extLst xmlns:c15="http://schemas.microsoft.com/office/drawing/2012/chart">
                      <c:ext xmlns:c15="http://schemas.microsoft.com/office/drawing/2012/chart" uri="{02D57815-91ED-43cb-92C2-25804820EDAC}">
                        <c15:formulaRef>
                          <c15:sqref>'Allocation w WB'!$D$2</c15:sqref>
                        </c15:formulaRef>
                      </c:ext>
                    </c:extLst>
                    <c:strCache>
                      <c:ptCount val="1"/>
                      <c:pt idx="0">
                        <c:v>TARGET ALLOCATION</c:v>
                      </c:pt>
                    </c:strCache>
                  </c:strRef>
                </c:tx>
                <c:cat>
                  <c:strRef>
                    <c:extLst xmlns:c15="http://schemas.microsoft.com/office/drawing/2012/chart">
                      <c:ext xmlns:c15="http://schemas.microsoft.com/office/drawing/2012/chart" uri="{02D57815-91ED-43cb-92C2-25804820EDAC}">
                        <c15:formulaRef>
                          <c15:sqref>'Allocation w WB'!$B$3:$B$8</c15:sqref>
                        </c15:formulaRef>
                      </c:ext>
                    </c:extLst>
                    <c:strCache>
                      <c:ptCount val="6"/>
                      <c:pt idx="0">
                        <c:v>PERFORMA LIQUID ASSETS FUND</c:v>
                      </c:pt>
                      <c:pt idx="1">
                        <c:v>PERFORMA HIGH YIELD FUND</c:v>
                      </c:pt>
                      <c:pt idx="2">
                        <c:v>PERFORMA INTERMEDIATE BOND FUND</c:v>
                      </c:pt>
                      <c:pt idx="3">
                        <c:v>PERFORMA EQUITY FUND</c:v>
                      </c:pt>
                      <c:pt idx="4">
                        <c:v>PERFORMA INTERNATIONAL EQUITY FUND</c:v>
                      </c:pt>
                      <c:pt idx="5">
                        <c:v>WILLIAM BLAIR ELKINS GROWTH STRATEGY</c:v>
                      </c:pt>
                    </c:strCache>
                  </c:strRef>
                </c:cat>
                <c:val>
                  <c:numRef>
                    <c:extLst xmlns:c15="http://schemas.microsoft.com/office/drawing/2012/chart">
                      <c:ext xmlns:c15="http://schemas.microsoft.com/office/drawing/2012/chart" uri="{02D57815-91ED-43cb-92C2-25804820EDAC}">
                        <c15:formulaRef>
                          <c15:sqref>'Allocation w WB'!$D$3:$D$8</c15:sqref>
                        </c15:formulaRef>
                      </c:ext>
                    </c:extLst>
                    <c:numCache>
                      <c:formatCode>0.0%</c:formatCode>
                      <c:ptCount val="6"/>
                      <c:pt idx="0">
                        <c:v>0</c:v>
                      </c:pt>
                      <c:pt idx="1">
                        <c:v>0.2</c:v>
                      </c:pt>
                      <c:pt idx="2">
                        <c:v>0.2</c:v>
                      </c:pt>
                      <c:pt idx="3">
                        <c:v>0.2</c:v>
                      </c:pt>
                      <c:pt idx="4">
                        <c:v>0.15</c:v>
                      </c:pt>
                      <c:pt idx="5">
                        <c:v>0.25</c:v>
                      </c:pt>
                    </c:numCache>
                  </c:numRef>
                </c:val>
                <c:extLst xmlns:c15="http://schemas.microsoft.com/office/drawing/2012/chart">
                  <c:ext xmlns:c16="http://schemas.microsoft.com/office/drawing/2014/chart" uri="{C3380CC4-5D6E-409C-BE32-E72D297353CC}">
                    <c16:uniqueId val="{0000000D-6397-4BCA-9217-2845B3D29E22}"/>
                  </c:ext>
                </c:extLst>
              </c15:ser>
            </c15:filteredPieSeries>
          </c:ext>
        </c:extLst>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154"/>
      <c:rAngAx val="0"/>
    </c:view3D>
    <c:floor>
      <c:thickness val="0"/>
    </c:floor>
    <c:sideWall>
      <c:thickness val="0"/>
      <c:spPr>
        <a:ln>
          <a:noFill/>
        </a:ln>
      </c:spPr>
    </c:sideWall>
    <c:backWall>
      <c:thickness val="0"/>
      <c:spPr>
        <a:ln>
          <a:noFill/>
        </a:ln>
      </c:spPr>
    </c:backWall>
    <c:plotArea>
      <c:layout>
        <c:manualLayout>
          <c:layoutTarget val="inner"/>
          <c:xMode val="edge"/>
          <c:yMode val="edge"/>
          <c:x val="1.6450999959923607E-2"/>
          <c:y val="4.7483567761972122E-2"/>
          <c:w val="0.92796978204013281"/>
          <c:h val="0.82530197200207678"/>
        </c:manualLayout>
      </c:layout>
      <c:pie3DChart>
        <c:varyColors val="1"/>
        <c:ser>
          <c:idx val="2"/>
          <c:order val="0"/>
          <c:dPt>
            <c:idx val="0"/>
            <c:bubble3D val="0"/>
            <c:spPr>
              <a:solidFill>
                <a:srgbClr val="FFFFFF">
                  <a:lumMod val="95000"/>
                </a:srgbClr>
              </a:solidFill>
            </c:spPr>
            <c:extLst>
              <c:ext xmlns:c16="http://schemas.microsoft.com/office/drawing/2014/chart" uri="{C3380CC4-5D6E-409C-BE32-E72D297353CC}">
                <c16:uniqueId val="{00000008-A9FE-4037-BF97-AEA8FA1462F3}"/>
              </c:ext>
            </c:extLst>
          </c:dPt>
          <c:dPt>
            <c:idx val="1"/>
            <c:bubble3D val="0"/>
            <c:spPr>
              <a:solidFill>
                <a:srgbClr val="0A4256"/>
              </a:solidFill>
            </c:spPr>
            <c:extLst>
              <c:ext xmlns:c16="http://schemas.microsoft.com/office/drawing/2014/chart" uri="{C3380CC4-5D6E-409C-BE32-E72D297353CC}">
                <c16:uniqueId val="{00000002-A9FE-4037-BF97-AEA8FA1462F3}"/>
              </c:ext>
            </c:extLst>
          </c:dPt>
          <c:dPt>
            <c:idx val="2"/>
            <c:bubble3D val="0"/>
            <c:spPr>
              <a:solidFill>
                <a:srgbClr val="EAA142"/>
              </a:solidFill>
            </c:spPr>
            <c:extLst>
              <c:ext xmlns:c16="http://schemas.microsoft.com/office/drawing/2014/chart" uri="{C3380CC4-5D6E-409C-BE32-E72D297353CC}">
                <c16:uniqueId val="{00000007-A9FE-4037-BF97-AEA8FA1462F3}"/>
              </c:ext>
            </c:extLst>
          </c:dPt>
          <c:dPt>
            <c:idx val="3"/>
            <c:bubble3D val="0"/>
            <c:spPr>
              <a:solidFill>
                <a:srgbClr val="55A768"/>
              </a:solidFill>
            </c:spPr>
            <c:extLst>
              <c:ext xmlns:c16="http://schemas.microsoft.com/office/drawing/2014/chart" uri="{C3380CC4-5D6E-409C-BE32-E72D297353CC}">
                <c16:uniqueId val="{00000006-A9FE-4037-BF97-AEA8FA1462F3}"/>
              </c:ext>
            </c:extLst>
          </c:dPt>
          <c:dPt>
            <c:idx val="4"/>
            <c:bubble3D val="0"/>
            <c:spPr>
              <a:solidFill>
                <a:srgbClr val="106280"/>
              </a:solidFill>
            </c:spPr>
            <c:extLst>
              <c:ext xmlns:c16="http://schemas.microsoft.com/office/drawing/2014/chart" uri="{C3380CC4-5D6E-409C-BE32-E72D297353CC}">
                <c16:uniqueId val="{00000005-A9FE-4037-BF97-AEA8FA1462F3}"/>
              </c:ext>
            </c:extLst>
          </c:dPt>
          <c:dPt>
            <c:idx val="5"/>
            <c:bubble3D val="0"/>
            <c:spPr>
              <a:solidFill>
                <a:srgbClr val="3C93B3"/>
              </a:solidFill>
            </c:spPr>
            <c:extLst>
              <c:ext xmlns:c16="http://schemas.microsoft.com/office/drawing/2014/chart" uri="{C3380CC4-5D6E-409C-BE32-E72D297353CC}">
                <c16:uniqueId val="{00000004-A9FE-4037-BF97-AEA8FA1462F3}"/>
              </c:ext>
            </c:extLst>
          </c:dPt>
          <c:dPt>
            <c:idx val="6"/>
            <c:bubble3D val="0"/>
            <c:spPr>
              <a:solidFill>
                <a:srgbClr val="75A7B9"/>
              </a:solidFill>
            </c:spPr>
            <c:extLst>
              <c:ext xmlns:c16="http://schemas.microsoft.com/office/drawing/2014/chart" uri="{C3380CC4-5D6E-409C-BE32-E72D297353CC}">
                <c16:uniqueId val="{00000003-A9FE-4037-BF97-AEA8FA1462F3}"/>
              </c:ext>
            </c:extLst>
          </c:dPt>
          <c:dLbls>
            <c:dLbl>
              <c:idx val="0"/>
              <c:layout>
                <c:manualLayout>
                  <c:x val="0.14255821601011309"/>
                  <c:y val="-1.8898743986129771E-2"/>
                </c:manualLayout>
              </c:layout>
              <c:spPr>
                <a:noFill/>
                <a:ln>
                  <a:noFill/>
                </a:ln>
                <a:effectLst/>
              </c:spPr>
              <c:txPr>
                <a:bodyPr wrap="square" lIns="38100" tIns="19050" rIns="38100" bIns="19050" anchor="ctr" anchorCtr="0">
                  <a:spAutoFit/>
                </a:bodyPr>
                <a:lstStyle/>
                <a:p>
                  <a:pPr algn="ctr" rtl="0">
                    <a:defRPr lang="en-US" sz="800" b="0" i="0" u="none" strike="noStrike" kern="1200" baseline="0">
                      <a:solidFill>
                        <a:srgbClr val="000000"/>
                      </a:solidFill>
                      <a:latin typeface="Poppins SemiBold" panose="00000700000000000000" pitchFamily="2" charset="0"/>
                      <a:ea typeface="+mn-ea"/>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2790986893770512"/>
                      <c:h val="0.10620090647072924"/>
                    </c:manualLayout>
                  </c15:layout>
                </c:ext>
                <c:ext xmlns:c16="http://schemas.microsoft.com/office/drawing/2014/chart" uri="{C3380CC4-5D6E-409C-BE32-E72D297353CC}">
                  <c16:uniqueId val="{00000008-A9FE-4037-BF97-AEA8FA1462F3}"/>
                </c:ext>
              </c:extLst>
            </c:dLbl>
            <c:dLbl>
              <c:idx val="1"/>
              <c:layout>
                <c:manualLayout>
                  <c:x val="0.16267505326239751"/>
                  <c:y val="6.7279466647836059E-2"/>
                </c:manualLayout>
              </c:layout>
              <c:spPr>
                <a:noFill/>
                <a:ln>
                  <a:noFill/>
                </a:ln>
                <a:effectLst/>
              </c:spPr>
              <c:txPr>
                <a:bodyPr wrap="square" lIns="38100" tIns="19050" rIns="38100" bIns="19050" anchor="ctr" anchorCtr="0">
                  <a:noAutofit/>
                </a:bodyPr>
                <a:lstStyle/>
                <a:p>
                  <a:pPr algn="ctr">
                    <a:defRPr lang="en-US" sz="800" b="0" i="0" u="none" strike="noStrike" kern="1200" baseline="0">
                      <a:solidFill>
                        <a:schemeClr val="bg1"/>
                      </a:solidFill>
                      <a:latin typeface="Poppins SemiBold" panose="00000700000000000000" pitchFamily="2" charset="0"/>
                      <a:ea typeface="+mn-ea"/>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3487240779573323"/>
                      <c:h val="0.23796869783255997"/>
                    </c:manualLayout>
                  </c15:layout>
                </c:ext>
                <c:ext xmlns:c16="http://schemas.microsoft.com/office/drawing/2014/chart" uri="{C3380CC4-5D6E-409C-BE32-E72D297353CC}">
                  <c16:uniqueId val="{00000002-A9FE-4037-BF97-AEA8FA1462F3}"/>
                </c:ext>
              </c:extLst>
            </c:dLbl>
            <c:dLbl>
              <c:idx val="2"/>
              <c:layout>
                <c:manualLayout>
                  <c:x val="5.0157202091556274E-2"/>
                  <c:y val="2.1581176330670412E-2"/>
                </c:manualLayout>
              </c:layout>
              <c:spPr>
                <a:noFill/>
                <a:ln>
                  <a:noFill/>
                </a:ln>
                <a:effectLst/>
              </c:spPr>
              <c:txPr>
                <a:bodyPr wrap="square" lIns="38100" tIns="19050" rIns="38100" bIns="19050" anchor="ctr" anchorCtr="0">
                  <a:noAutofit/>
                </a:bodyPr>
                <a:lstStyle/>
                <a:p>
                  <a:pPr algn="ctr" rtl="0">
                    <a:defRPr lang="en-US" sz="800" b="0" i="0" u="none" strike="noStrike" kern="1200" baseline="0">
                      <a:solidFill>
                        <a:schemeClr val="tx1"/>
                      </a:solidFill>
                      <a:latin typeface="Poppins SemiBold" panose="00000700000000000000" pitchFamily="2" charset="0"/>
                      <a:ea typeface="+mn-ea"/>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22602372330941378"/>
                      <c:h val="0.10620090647072924"/>
                    </c:manualLayout>
                  </c15:layout>
                </c:ext>
                <c:ext xmlns:c16="http://schemas.microsoft.com/office/drawing/2014/chart" uri="{C3380CC4-5D6E-409C-BE32-E72D297353CC}">
                  <c16:uniqueId val="{00000007-A9FE-4037-BF97-AEA8FA1462F3}"/>
                </c:ext>
              </c:extLst>
            </c:dLbl>
            <c:dLbl>
              <c:idx val="3"/>
              <c:layout>
                <c:manualLayout>
                  <c:x val="1.5380186853899403E-2"/>
                  <c:y val="6.4265950112519066E-2"/>
                </c:manualLayout>
              </c:layout>
              <c:spPr>
                <a:noFill/>
                <a:ln>
                  <a:noFill/>
                </a:ln>
                <a:effectLst/>
              </c:spPr>
              <c:txPr>
                <a:bodyPr wrap="square" lIns="38100" tIns="19050" rIns="38100" bIns="19050" anchor="ctr" anchorCtr="0">
                  <a:noAutofit/>
                </a:bodyPr>
                <a:lstStyle/>
                <a:p>
                  <a:pPr algn="ctr" rtl="0">
                    <a:defRPr lang="en-US" sz="800" b="0" i="0" u="none" strike="noStrike" kern="1200" baseline="0">
                      <a:solidFill>
                        <a:srgbClr val="000000"/>
                      </a:solidFill>
                      <a:latin typeface="Poppins SemiBold" panose="00000700000000000000" pitchFamily="2" charset="0"/>
                      <a:ea typeface="+mn-ea"/>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2298154843361507"/>
                      <c:h val="0.10620090647072924"/>
                    </c:manualLayout>
                  </c15:layout>
                </c:ext>
                <c:ext xmlns:c16="http://schemas.microsoft.com/office/drawing/2014/chart" uri="{C3380CC4-5D6E-409C-BE32-E72D297353CC}">
                  <c16:uniqueId val="{00000006-A9FE-4037-BF97-AEA8FA1462F3}"/>
                </c:ext>
              </c:extLst>
            </c:dLbl>
            <c:dLbl>
              <c:idx val="4"/>
              <c:layout>
                <c:manualLayout>
                  <c:x val="6.2026402498837785E-2"/>
                  <c:y val="-3.1489234653519931E-2"/>
                </c:manualLayout>
              </c:layout>
              <c:spPr>
                <a:noFill/>
                <a:ln>
                  <a:noFill/>
                </a:ln>
                <a:effectLst/>
              </c:spPr>
              <c:txPr>
                <a:bodyPr wrap="square" lIns="38100" tIns="19050" rIns="38100" bIns="19050" anchor="ctr" anchorCtr="0">
                  <a:spAutoFit/>
                </a:bodyPr>
                <a:lstStyle/>
                <a:p>
                  <a:pPr algn="ctr" rtl="0">
                    <a:defRPr lang="en-US" sz="800" b="0" i="0" u="none" strike="noStrike" kern="1200" baseline="0">
                      <a:solidFill>
                        <a:srgbClr val="000000"/>
                      </a:solidFill>
                      <a:latin typeface="Poppins SemiBold" panose="00000700000000000000" pitchFamily="2" charset="0"/>
                      <a:ea typeface="+mn-ea"/>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A9FE-4037-BF97-AEA8FA1462F3}"/>
                </c:ext>
              </c:extLst>
            </c:dLbl>
            <c:dLbl>
              <c:idx val="5"/>
              <c:layout>
                <c:manualLayout>
                  <c:x val="7.367090871658806E-2"/>
                  <c:y val="-0.10490506338914998"/>
                </c:manualLayout>
              </c:layout>
              <c:spPr>
                <a:noFill/>
                <a:ln>
                  <a:noFill/>
                </a:ln>
                <a:effectLst/>
              </c:spPr>
              <c:txPr>
                <a:bodyPr wrap="square" lIns="38100" tIns="19050" rIns="38100" bIns="19050" anchor="ctr" anchorCtr="0">
                  <a:spAutoFit/>
                </a:bodyPr>
                <a:lstStyle/>
                <a:p>
                  <a:pPr algn="ctr" rtl="0">
                    <a:defRPr lang="en-US" sz="800" b="0" i="0" u="none" strike="noStrike" kern="1200" baseline="0">
                      <a:solidFill>
                        <a:srgbClr val="000000"/>
                      </a:solidFill>
                      <a:latin typeface="Poppins SemiBold" panose="00000700000000000000" pitchFamily="2" charset="0"/>
                      <a:ea typeface="+mn-ea"/>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A9FE-4037-BF97-AEA8FA1462F3}"/>
                </c:ext>
              </c:extLst>
            </c:dLbl>
            <c:dLbl>
              <c:idx val="6"/>
              <c:layout>
                <c:manualLayout>
                  <c:x val="9.8802655713911752E-2"/>
                  <c:y val="-0.11099094210641398"/>
                </c:manualLayout>
              </c:layout>
              <c:spPr>
                <a:noFill/>
                <a:ln>
                  <a:noFill/>
                </a:ln>
                <a:effectLst/>
              </c:spPr>
              <c:txPr>
                <a:bodyPr wrap="square" lIns="38100" tIns="19050" rIns="38100" bIns="19050" anchor="ctr" anchorCtr="0">
                  <a:spAutoFit/>
                </a:bodyPr>
                <a:lstStyle/>
                <a:p>
                  <a:pPr algn="ctr" rtl="0">
                    <a:defRPr lang="en-US" sz="800" b="0" i="0" u="none" strike="noStrike" kern="1200" baseline="0">
                      <a:solidFill>
                        <a:srgbClr val="000000"/>
                      </a:solidFill>
                      <a:latin typeface="Poppins SemiBold" panose="00000700000000000000" pitchFamily="2" charset="0"/>
                      <a:ea typeface="+mn-ea"/>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A9FE-4037-BF97-AEA8FA1462F3}"/>
                </c:ext>
              </c:extLst>
            </c:dLbl>
            <c:spPr>
              <a:noFill/>
              <a:ln>
                <a:noFill/>
              </a:ln>
              <a:effectLst/>
            </c:spPr>
            <c:showLegendKey val="0"/>
            <c:showVal val="1"/>
            <c:showCatName val="1"/>
            <c:showSerName val="0"/>
            <c:showPercent val="0"/>
            <c:showBubbleSize val="0"/>
            <c:showLeaderLines val="1"/>
            <c:extLst>
              <c:ext xmlns:c15="http://schemas.microsoft.com/office/drawing/2012/chart" uri="{CE6537A1-D6FC-4f65-9D91-7224C49458BB}"/>
            </c:extLst>
          </c:dLbls>
          <c:cat>
            <c:strRef>
              <c:f>Sheet1!$D$21:$D$27</c:f>
              <c:strCache>
                <c:ptCount val="7"/>
                <c:pt idx="0">
                  <c:v>CASH</c:v>
                </c:pt>
                <c:pt idx="1">
                  <c:v>INVESTMENT GRADE BONDS SEPARATE ACCOUNT</c:v>
                </c:pt>
                <c:pt idx="2">
                  <c:v>XTRACKERS HIGH YIELD CORPORATE BOND ETF</c:v>
                </c:pt>
                <c:pt idx="3">
                  <c:v>VANECK FALLEN ANGEL HIGH YIELD BOND ETF</c:v>
                </c:pt>
                <c:pt idx="4">
                  <c:v>VANGUARD S&amp;P 500 ETF</c:v>
                </c:pt>
                <c:pt idx="5">
                  <c:v>VANGUARD MID-CAP ETF</c:v>
                </c:pt>
                <c:pt idx="6">
                  <c:v>ISHARES CORE S&amp;P SMALL-CAP ETF</c:v>
                </c:pt>
              </c:strCache>
            </c:strRef>
          </c:cat>
          <c:val>
            <c:numRef>
              <c:f>Sheet1!$E$21:$E$27</c:f>
              <c:numCache>
                <c:formatCode>0.0%</c:formatCode>
                <c:ptCount val="7"/>
                <c:pt idx="0">
                  <c:v>1E-3</c:v>
                </c:pt>
                <c:pt idx="1">
                  <c:v>0.67615633193957281</c:v>
                </c:pt>
                <c:pt idx="2">
                  <c:v>7.4999999999999997E-2</c:v>
                </c:pt>
                <c:pt idx="3">
                  <c:v>3.2000000000000001E-2</c:v>
                </c:pt>
                <c:pt idx="4">
                  <c:v>8.5000000000000006E-2</c:v>
                </c:pt>
                <c:pt idx="5">
                  <c:v>8.6999999999999994E-2</c:v>
                </c:pt>
                <c:pt idx="6">
                  <c:v>4.3999999999999997E-2</c:v>
                </c:pt>
              </c:numCache>
            </c:numRef>
          </c:val>
          <c:extLst>
            <c:ext xmlns:c16="http://schemas.microsoft.com/office/drawing/2014/chart" uri="{C3380CC4-5D6E-409C-BE32-E72D297353CC}">
              <c16:uniqueId val="{00000000-A9FE-4037-BF97-AEA8FA1462F3}"/>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154"/>
      <c:rAngAx val="0"/>
    </c:view3D>
    <c:floor>
      <c:thickness val="0"/>
    </c:floor>
    <c:sideWall>
      <c:thickness val="0"/>
      <c:spPr>
        <a:ln>
          <a:noFill/>
        </a:ln>
      </c:spPr>
    </c:sideWall>
    <c:backWall>
      <c:thickness val="0"/>
      <c:spPr>
        <a:ln>
          <a:noFill/>
        </a:ln>
      </c:spPr>
    </c:backWall>
    <c:plotArea>
      <c:layout>
        <c:manualLayout>
          <c:layoutTarget val="inner"/>
          <c:xMode val="edge"/>
          <c:yMode val="edge"/>
          <c:x val="1.6450999959923607E-2"/>
          <c:y val="4.7483567761972122E-2"/>
          <c:w val="0.92796978204013281"/>
          <c:h val="0.82530197200207678"/>
        </c:manualLayout>
      </c:layout>
      <c:pie3DChart>
        <c:varyColors val="1"/>
        <c:ser>
          <c:idx val="2"/>
          <c:order val="0"/>
          <c:dPt>
            <c:idx val="0"/>
            <c:bubble3D val="0"/>
            <c:spPr>
              <a:solidFill>
                <a:srgbClr val="C1F3F5"/>
              </a:solidFill>
            </c:spPr>
            <c:extLst>
              <c:ext xmlns:c16="http://schemas.microsoft.com/office/drawing/2014/chart" uri="{C3380CC4-5D6E-409C-BE32-E72D297353CC}">
                <c16:uniqueId val="{00000000-5CC2-4931-9C99-6E49B2722F71}"/>
              </c:ext>
            </c:extLst>
          </c:dPt>
          <c:dPt>
            <c:idx val="1"/>
            <c:bubble3D val="0"/>
            <c:spPr>
              <a:solidFill>
                <a:srgbClr val="0A4256"/>
              </a:solidFill>
            </c:spPr>
            <c:extLst>
              <c:ext xmlns:c16="http://schemas.microsoft.com/office/drawing/2014/chart" uri="{C3380CC4-5D6E-409C-BE32-E72D297353CC}">
                <c16:uniqueId val="{00000001-5CC2-4931-9C99-6E49B2722F71}"/>
              </c:ext>
            </c:extLst>
          </c:dPt>
          <c:dPt>
            <c:idx val="2"/>
            <c:bubble3D val="0"/>
            <c:spPr>
              <a:solidFill>
                <a:srgbClr val="EBA142"/>
              </a:solidFill>
            </c:spPr>
            <c:extLst>
              <c:ext xmlns:c16="http://schemas.microsoft.com/office/drawing/2014/chart" uri="{C3380CC4-5D6E-409C-BE32-E72D297353CC}">
                <c16:uniqueId val="{00000002-5CC2-4931-9C99-6E49B2722F71}"/>
              </c:ext>
            </c:extLst>
          </c:dPt>
          <c:dPt>
            <c:idx val="3"/>
            <c:bubble3D val="0"/>
            <c:spPr>
              <a:solidFill>
                <a:srgbClr val="55A768"/>
              </a:solidFill>
            </c:spPr>
            <c:extLst>
              <c:ext xmlns:c16="http://schemas.microsoft.com/office/drawing/2014/chart" uri="{C3380CC4-5D6E-409C-BE32-E72D297353CC}">
                <c16:uniqueId val="{00000003-5CC2-4931-9C99-6E49B2722F71}"/>
              </c:ext>
            </c:extLst>
          </c:dPt>
          <c:dPt>
            <c:idx val="4"/>
            <c:bubble3D val="0"/>
            <c:spPr>
              <a:solidFill>
                <a:srgbClr val="106280"/>
              </a:solidFill>
            </c:spPr>
            <c:extLst>
              <c:ext xmlns:c16="http://schemas.microsoft.com/office/drawing/2014/chart" uri="{C3380CC4-5D6E-409C-BE32-E72D297353CC}">
                <c16:uniqueId val="{00000004-5CC2-4931-9C99-6E49B2722F71}"/>
              </c:ext>
            </c:extLst>
          </c:dPt>
          <c:dPt>
            <c:idx val="5"/>
            <c:bubble3D val="0"/>
            <c:spPr>
              <a:solidFill>
                <a:srgbClr val="3C93B3"/>
              </a:solidFill>
            </c:spPr>
            <c:extLst>
              <c:ext xmlns:c16="http://schemas.microsoft.com/office/drawing/2014/chart" uri="{C3380CC4-5D6E-409C-BE32-E72D297353CC}">
                <c16:uniqueId val="{00000005-5CC2-4931-9C99-6E49B2722F71}"/>
              </c:ext>
            </c:extLst>
          </c:dPt>
          <c:dPt>
            <c:idx val="6"/>
            <c:bubble3D val="0"/>
            <c:spPr>
              <a:solidFill>
                <a:srgbClr val="76A7B9"/>
              </a:solidFill>
            </c:spPr>
            <c:extLst>
              <c:ext xmlns:c16="http://schemas.microsoft.com/office/drawing/2014/chart" uri="{C3380CC4-5D6E-409C-BE32-E72D297353CC}">
                <c16:uniqueId val="{00000006-5CC2-4931-9C99-6E49B2722F71}"/>
              </c:ext>
            </c:extLst>
          </c:dPt>
          <c:dLbls>
            <c:dLbl>
              <c:idx val="0"/>
              <c:layout>
                <c:manualLayout>
                  <c:x val="0.22613383464109948"/>
                  <c:y val="-7.0122193059200935E-2"/>
                </c:manualLayout>
              </c:layout>
              <c:tx>
                <c:rich>
                  <a:bodyPr/>
                  <a:lstStyle/>
                  <a:p>
                    <a:fld id="{3A7BCAB4-95D7-4879-B48B-C20410AE03C0}" type="CATEGORYNAME">
                      <a:rPr lang="en-US"/>
                      <a:pPr/>
                      <a:t>[CATEGORY NAME]</a:t>
                    </a:fld>
                    <a:r>
                      <a:rPr lang="en-US" baseline="0"/>
                      <a:t>
0.8%</a:t>
                    </a:r>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0-5CC2-4931-9C99-6E49B2722F71}"/>
                </c:ext>
              </c:extLst>
            </c:dLbl>
            <c:dLbl>
              <c:idx val="1"/>
              <c:layout>
                <c:manualLayout>
                  <c:x val="0.16075611644226748"/>
                  <c:y val="-0.10256751239428408"/>
                </c:manualLayout>
              </c:layout>
              <c:spPr>
                <a:noFill/>
                <a:ln>
                  <a:noFill/>
                </a:ln>
                <a:effectLst/>
              </c:spPr>
              <c:txPr>
                <a:bodyPr/>
                <a:lstStyle/>
                <a:p>
                  <a:pPr>
                    <a:defRPr sz="900">
                      <a:solidFill>
                        <a:schemeClr val="bg1"/>
                      </a:solidFill>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1797786408237297"/>
                      <c:h val="0.27962962962962962"/>
                    </c:manualLayout>
                  </c15:layout>
                </c:ext>
                <c:ext xmlns:c16="http://schemas.microsoft.com/office/drawing/2014/chart" uri="{C3380CC4-5D6E-409C-BE32-E72D297353CC}">
                  <c16:uniqueId val="{00000001-5CC2-4931-9C99-6E49B2722F71}"/>
                </c:ext>
              </c:extLst>
            </c:dLbl>
            <c:dLbl>
              <c:idx val="2"/>
              <c:layout>
                <c:manualLayout>
                  <c:x val="0.11712603834892622"/>
                  <c:y val="3.7037037037037035E-2"/>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27920954596309688"/>
                      <c:h val="0.1377681539807524"/>
                    </c:manualLayout>
                  </c15:layout>
                </c:ext>
                <c:ext xmlns:c16="http://schemas.microsoft.com/office/drawing/2014/chart" uri="{C3380CC4-5D6E-409C-BE32-E72D297353CC}">
                  <c16:uniqueId val="{00000002-5CC2-4931-9C99-6E49B2722F71}"/>
                </c:ext>
              </c:extLst>
            </c:dLbl>
            <c:dLbl>
              <c:idx val="3"/>
              <c:layout>
                <c:manualLayout>
                  <c:x val="6.4478475656732204E-2"/>
                  <c:y val="8.4609798775153108E-2"/>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24371680706948287"/>
                      <c:h val="0.17110148731408573"/>
                    </c:manualLayout>
                  </c15:layout>
                </c:ext>
                <c:ext xmlns:c16="http://schemas.microsoft.com/office/drawing/2014/chart" uri="{C3380CC4-5D6E-409C-BE32-E72D297353CC}">
                  <c16:uniqueId val="{00000003-5CC2-4931-9C99-6E49B2722F71}"/>
                </c:ext>
              </c:extLst>
            </c:dLbl>
            <c:dLbl>
              <c:idx val="4"/>
              <c:layout>
                <c:manualLayout>
                  <c:x val="9.1460409759478556E-2"/>
                  <c:y val="-8.7477398658501015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5CC2-4931-9C99-6E49B2722F71}"/>
                </c:ext>
              </c:extLst>
            </c:dLbl>
            <c:dLbl>
              <c:idx val="5"/>
              <c:layout>
                <c:manualLayout>
                  <c:x val="0.1056978422091575"/>
                  <c:y val="-0.16512540099154266"/>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5CC2-4931-9C99-6E49B2722F71}"/>
                </c:ext>
              </c:extLst>
            </c:dLbl>
            <c:dLbl>
              <c:idx val="6"/>
              <c:layout>
                <c:manualLayout>
                  <c:x val="0.13295114205572817"/>
                  <c:y val="-0.17643744531933508"/>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5CC2-4931-9C99-6E49B2722F71}"/>
                </c:ext>
              </c:extLst>
            </c:dLbl>
            <c:dLbl>
              <c:idx val="7"/>
              <c:delete val="1"/>
              <c:extLst>
                <c:ext xmlns:c15="http://schemas.microsoft.com/office/drawing/2012/chart" uri="{CE6537A1-D6FC-4f65-9D91-7224C49458BB}">
                  <c15:layout>
                    <c:manualLayout>
                      <c:w val="0.2607473597035378"/>
                      <c:h val="0.13406445027704866"/>
                    </c:manualLayout>
                  </c15:layout>
                </c:ext>
                <c:ext xmlns:c16="http://schemas.microsoft.com/office/drawing/2014/chart" uri="{C3380CC4-5D6E-409C-BE32-E72D297353CC}">
                  <c16:uniqueId val="{00000007-5CC2-4931-9C99-6E49B2722F71}"/>
                </c:ext>
              </c:extLst>
            </c:dLbl>
            <c:spPr>
              <a:noFill/>
              <a:ln>
                <a:noFill/>
              </a:ln>
              <a:effectLst/>
            </c:spPr>
            <c:txPr>
              <a:bodyPr/>
              <a:lstStyle/>
              <a:p>
                <a:pPr>
                  <a:defRPr sz="900"/>
                </a:pPr>
                <a:endParaRPr lang="en-US"/>
              </a:p>
            </c:txPr>
            <c:showLegendKey val="0"/>
            <c:showVal val="1"/>
            <c:showCatName val="1"/>
            <c:showSerName val="0"/>
            <c:showPercent val="0"/>
            <c:showBubbleSize val="0"/>
            <c:separator>
</c:separator>
            <c:showLeaderLines val="1"/>
            <c:extLst>
              <c:ext xmlns:c15="http://schemas.microsoft.com/office/drawing/2012/chart" uri="{CE6537A1-D6FC-4f65-9D91-7224C49458BB}"/>
            </c:extLst>
          </c:dLbls>
          <c:cat>
            <c:strRef>
              <c:f>Sheet2!$O$6:$O$13</c:f>
              <c:strCache>
                <c:ptCount val="8"/>
                <c:pt idx="0">
                  <c:v>CASH</c:v>
                </c:pt>
                <c:pt idx="1">
                  <c:v>INVESTMENT GRADE BONDS SEPARATE ACCOUNT</c:v>
                </c:pt>
                <c:pt idx="2">
                  <c:v>XTRACKERS HIGH YIELD CORPORATE BOND ETF</c:v>
                </c:pt>
                <c:pt idx="3">
                  <c:v>VANECK FALLEN ANGEL HIGH YIELD BOND ETF</c:v>
                </c:pt>
                <c:pt idx="4">
                  <c:v>VANGUARD S&amp;P 500 ETF</c:v>
                </c:pt>
                <c:pt idx="5">
                  <c:v>VANGUARD MID-CAP ETF</c:v>
                </c:pt>
                <c:pt idx="6">
                  <c:v>ISHARES CORE S&amp;P SMALL-CAP ETF</c:v>
                </c:pt>
                <c:pt idx="7">
                  <c:v>FIRST AMERICA TREASURY OBLIGATIONS FUND</c:v>
                </c:pt>
              </c:strCache>
            </c:strRef>
          </c:cat>
          <c:val>
            <c:numRef>
              <c:f>Sheet2!$P$6:$P$13</c:f>
              <c:numCache>
                <c:formatCode>0.0%</c:formatCode>
                <c:ptCount val="8"/>
                <c:pt idx="0">
                  <c:v>8.0000000000000004E-4</c:v>
                </c:pt>
                <c:pt idx="1">
                  <c:v>0.59984000000000004</c:v>
                </c:pt>
                <c:pt idx="2">
                  <c:v>8.6599999999999996E-2</c:v>
                </c:pt>
                <c:pt idx="3">
                  <c:v>9.5119999999999996E-2</c:v>
                </c:pt>
                <c:pt idx="4">
                  <c:v>8.6110000000000006E-2</c:v>
                </c:pt>
                <c:pt idx="5">
                  <c:v>8.5900000000000004E-2</c:v>
                </c:pt>
                <c:pt idx="6">
                  <c:v>3.789E-2</c:v>
                </c:pt>
                <c:pt idx="7">
                  <c:v>0</c:v>
                </c:pt>
              </c:numCache>
            </c:numRef>
          </c:val>
          <c:extLst>
            <c:ext xmlns:c16="http://schemas.microsoft.com/office/drawing/2014/chart" uri="{C3380CC4-5D6E-409C-BE32-E72D297353CC}">
              <c16:uniqueId val="{00000008-5CC2-4931-9C99-6E49B2722F71}"/>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sz="800">
          <a:latin typeface="Poppins SemiBold" panose="00000700000000000000" pitchFamily="2" charset="0"/>
          <a:cs typeface="Poppins SemiBold" panose="00000700000000000000" pitchFamily="2" charset="0"/>
        </a:defRPr>
      </a:pPr>
      <a:endParaRPr lang="en-US"/>
    </a:p>
  </c:txPr>
  <c:externalData r:id="rId2">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154"/>
      <c:rAngAx val="0"/>
    </c:view3D>
    <c:floor>
      <c:thickness val="0"/>
    </c:floor>
    <c:sideWall>
      <c:thickness val="0"/>
      <c:spPr>
        <a:ln>
          <a:noFill/>
        </a:ln>
      </c:spPr>
    </c:sideWall>
    <c:backWall>
      <c:thickness val="0"/>
      <c:spPr>
        <a:ln>
          <a:noFill/>
        </a:ln>
      </c:spPr>
    </c:backWall>
    <c:plotArea>
      <c:layout>
        <c:manualLayout>
          <c:layoutTarget val="inner"/>
          <c:xMode val="edge"/>
          <c:yMode val="edge"/>
          <c:x val="9.4647303716304029E-3"/>
          <c:y val="1.415018543301679E-2"/>
          <c:w val="0.96582869024340934"/>
          <c:h val="0.85863521182991775"/>
        </c:manualLayout>
      </c:layout>
      <c:pie3DChart>
        <c:varyColors val="1"/>
        <c:ser>
          <c:idx val="2"/>
          <c:order val="0"/>
          <c:dPt>
            <c:idx val="0"/>
            <c:bubble3D val="0"/>
            <c:spPr>
              <a:solidFill>
                <a:srgbClr val="76A5B5"/>
              </a:solidFill>
            </c:spPr>
            <c:extLst>
              <c:ext xmlns:c16="http://schemas.microsoft.com/office/drawing/2014/chart" uri="{C3380CC4-5D6E-409C-BE32-E72D297353CC}">
                <c16:uniqueId val="{00000001-F5EC-4E6B-98EE-8847C6D5C64C}"/>
              </c:ext>
            </c:extLst>
          </c:dPt>
          <c:dPt>
            <c:idx val="1"/>
            <c:bubble3D val="0"/>
            <c:spPr>
              <a:solidFill>
                <a:srgbClr val="0A4256"/>
              </a:solidFill>
            </c:spPr>
            <c:extLst>
              <c:ext xmlns:c16="http://schemas.microsoft.com/office/drawing/2014/chart" uri="{C3380CC4-5D6E-409C-BE32-E72D297353CC}">
                <c16:uniqueId val="{00000003-F5EC-4E6B-98EE-8847C6D5C64C}"/>
              </c:ext>
            </c:extLst>
          </c:dPt>
          <c:dPt>
            <c:idx val="2"/>
            <c:bubble3D val="0"/>
            <c:spPr>
              <a:solidFill>
                <a:srgbClr val="E9BC3F"/>
              </a:solidFill>
            </c:spPr>
            <c:extLst>
              <c:ext xmlns:c16="http://schemas.microsoft.com/office/drawing/2014/chart" uri="{C3380CC4-5D6E-409C-BE32-E72D297353CC}">
                <c16:uniqueId val="{00000005-F5EC-4E6B-98EE-8847C6D5C64C}"/>
              </c:ext>
            </c:extLst>
          </c:dPt>
          <c:dPt>
            <c:idx val="3"/>
            <c:bubble3D val="0"/>
            <c:spPr>
              <a:solidFill>
                <a:srgbClr val="41A178"/>
              </a:solidFill>
            </c:spPr>
            <c:extLst>
              <c:ext xmlns:c16="http://schemas.microsoft.com/office/drawing/2014/chart" uri="{C3380CC4-5D6E-409C-BE32-E72D297353CC}">
                <c16:uniqueId val="{00000007-F5EC-4E6B-98EE-8847C6D5C64C}"/>
              </c:ext>
            </c:extLst>
          </c:dPt>
          <c:dPt>
            <c:idx val="4"/>
            <c:bubble3D val="0"/>
            <c:spPr>
              <a:solidFill>
                <a:srgbClr val="106280"/>
              </a:solidFill>
            </c:spPr>
            <c:extLst>
              <c:ext xmlns:c16="http://schemas.microsoft.com/office/drawing/2014/chart" uri="{C3380CC4-5D6E-409C-BE32-E72D297353CC}">
                <c16:uniqueId val="{00000009-F5EC-4E6B-98EE-8847C6D5C64C}"/>
              </c:ext>
            </c:extLst>
          </c:dPt>
          <c:dPt>
            <c:idx val="5"/>
            <c:bubble3D val="0"/>
            <c:spPr>
              <a:solidFill>
                <a:srgbClr val="106280"/>
              </a:solidFill>
            </c:spPr>
            <c:extLst>
              <c:ext xmlns:c16="http://schemas.microsoft.com/office/drawing/2014/chart" uri="{C3380CC4-5D6E-409C-BE32-E72D297353CC}">
                <c16:uniqueId val="{0000000B-F5EC-4E6B-98EE-8847C6D5C64C}"/>
              </c:ext>
            </c:extLst>
          </c:dPt>
          <c:dPt>
            <c:idx val="6"/>
            <c:bubble3D val="0"/>
            <c:spPr>
              <a:solidFill>
                <a:srgbClr val="3C93B3"/>
              </a:solidFill>
            </c:spPr>
            <c:extLst>
              <c:ext xmlns:c16="http://schemas.microsoft.com/office/drawing/2014/chart" uri="{C3380CC4-5D6E-409C-BE32-E72D297353CC}">
                <c16:uniqueId val="{0000000D-F5EC-4E6B-98EE-8847C6D5C64C}"/>
              </c:ext>
            </c:extLst>
          </c:dPt>
          <c:dLbls>
            <c:dLbl>
              <c:idx val="0"/>
              <c:layout>
                <c:manualLayout>
                  <c:x val="0.10427543110635805"/>
                  <c:y val="-9.6048090974601638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F5EC-4E6B-98EE-8847C6D5C64C}"/>
                </c:ext>
              </c:extLst>
            </c:dLbl>
            <c:dLbl>
              <c:idx val="1"/>
              <c:layout>
                <c:manualLayout>
                  <c:x val="0.18382639672311654"/>
                  <c:y val="-0.11367863112749596"/>
                </c:manualLayout>
              </c:layout>
              <c:spPr>
                <a:noFill/>
                <a:ln>
                  <a:noFill/>
                </a:ln>
                <a:effectLst/>
              </c:spPr>
              <c:txPr>
                <a:bodyPr wrap="square" lIns="38100" tIns="19050" rIns="38100" bIns="19050" anchor="ctr">
                  <a:noAutofit/>
                </a:bodyPr>
                <a:lstStyle/>
                <a:p>
                  <a:pPr>
                    <a:defRPr sz="900">
                      <a:solidFill>
                        <a:schemeClr val="bg1"/>
                      </a:solidFill>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5228751167953317"/>
                      <c:h val="0.27962954808120499"/>
                    </c:manualLayout>
                  </c15:layout>
                </c:ext>
                <c:ext xmlns:c16="http://schemas.microsoft.com/office/drawing/2014/chart" uri="{C3380CC4-5D6E-409C-BE32-E72D297353CC}">
                  <c16:uniqueId val="{00000003-F5EC-4E6B-98EE-8847C6D5C64C}"/>
                </c:ext>
              </c:extLst>
            </c:dLbl>
            <c:dLbl>
              <c:idx val="2"/>
              <c:layout>
                <c:manualLayout>
                  <c:x val="0.11594294705247234"/>
                  <c:y val="-1.1979628960654916E-2"/>
                </c:manualLayout>
              </c:layout>
              <c:spPr>
                <a:noFill/>
                <a:ln>
                  <a:noFill/>
                </a:ln>
                <a:effectLst/>
              </c:spPr>
              <c:txPr>
                <a:bodyPr wrap="square" lIns="38100" tIns="19050" rIns="38100" bIns="19050" anchor="ctr">
                  <a:no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27920954596309688"/>
                      <c:h val="0.14517551905059228"/>
                    </c:manualLayout>
                  </c15:layout>
                </c:ext>
                <c:ext xmlns:c16="http://schemas.microsoft.com/office/drawing/2014/chart" uri="{C3380CC4-5D6E-409C-BE32-E72D297353CC}">
                  <c16:uniqueId val="{00000005-F5EC-4E6B-98EE-8847C6D5C64C}"/>
                </c:ext>
              </c:extLst>
            </c:dLbl>
            <c:dLbl>
              <c:idx val="3"/>
              <c:layout>
                <c:manualLayout>
                  <c:x val="3.7267329259897126E-2"/>
                  <c:y val="7.7202368853202433E-2"/>
                </c:manualLayout>
              </c:layout>
              <c:spPr>
                <a:noFill/>
                <a:ln>
                  <a:noFill/>
                </a:ln>
                <a:effectLst/>
              </c:spPr>
              <c:txPr>
                <a:bodyPr wrap="square" lIns="38100" tIns="19050" rIns="38100" bIns="19050" anchor="ctr">
                  <a:no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28394191114891204"/>
                      <c:h val="0.11924960068544747"/>
                    </c:manualLayout>
                  </c15:layout>
                </c:ext>
                <c:ext xmlns:c16="http://schemas.microsoft.com/office/drawing/2014/chart" uri="{C3380CC4-5D6E-409C-BE32-E72D297353CC}">
                  <c16:uniqueId val="{00000007-F5EC-4E6B-98EE-8847C6D5C64C}"/>
                </c:ext>
              </c:extLst>
            </c:dLbl>
            <c:dLbl>
              <c:idx val="4"/>
              <c:layout>
                <c:manualLayout>
                  <c:x val="8.1995679387847978E-2"/>
                  <c:y val="-0.1134032915126009"/>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F5EC-4E6B-98EE-8847C6D5C64C}"/>
                </c:ext>
              </c:extLst>
            </c:dLbl>
            <c:dLbl>
              <c:idx val="5"/>
              <c:layout>
                <c:manualLayout>
                  <c:x val="0.10214856831979592"/>
                  <c:y val="-0.1910512712011458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F5EC-4E6B-98EE-8847C6D5C64C}"/>
                </c:ext>
              </c:extLst>
            </c:dLbl>
            <c:dLbl>
              <c:idx val="6"/>
              <c:layout>
                <c:manualLayout>
                  <c:x val="0.12940186816636695"/>
                  <c:y val="-0.19125220435922891"/>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F5EC-4E6B-98EE-8847C6D5C64C}"/>
                </c:ext>
              </c:extLst>
            </c:dLbl>
            <c:dLbl>
              <c:idx val="7"/>
              <c:delete val="1"/>
              <c:extLst>
                <c:ext xmlns:c15="http://schemas.microsoft.com/office/drawing/2012/chart" uri="{CE6537A1-D6FC-4f65-9D91-7224C49458BB}">
                  <c15:layout>
                    <c:manualLayout>
                      <c:w val="0.2607473597035378"/>
                      <c:h val="0.13406445027704866"/>
                    </c:manualLayout>
                  </c15:layout>
                </c:ext>
                <c:ext xmlns:c16="http://schemas.microsoft.com/office/drawing/2014/chart" uri="{C3380CC4-5D6E-409C-BE32-E72D297353CC}">
                  <c16:uniqueId val="{0000000E-F5EC-4E6B-98EE-8847C6D5C64C}"/>
                </c:ext>
              </c:extLst>
            </c:dLbl>
            <c:spPr>
              <a:noFill/>
              <a:ln>
                <a:noFill/>
              </a:ln>
              <a:effectLst/>
            </c:spPr>
            <c:txPr>
              <a:bodyPr wrap="square" lIns="38100" tIns="19050" rIns="38100" bIns="19050" anchor="ctr">
                <a:sp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showLeaderLines val="1"/>
            <c:extLst>
              <c:ext xmlns:c15="http://schemas.microsoft.com/office/drawing/2012/chart" uri="{CE6537A1-D6FC-4f65-9D91-7224C49458BB}"/>
            </c:extLst>
          </c:dLbls>
          <c:cat>
            <c:strRef>
              <c:f>'MAY 2022 WITH WEIRD CASH THING '!$O$6:$O$13</c:f>
              <c:strCache>
                <c:ptCount val="8"/>
                <c:pt idx="0">
                  <c:v>CASH</c:v>
                </c:pt>
                <c:pt idx="1">
                  <c:v>INVESTMENT GRADE BONDS SEPARATE ACCOUNT</c:v>
                </c:pt>
                <c:pt idx="2">
                  <c:v>XTRACKERS HIGH YIELD CORPORATE BOND ETF</c:v>
                </c:pt>
                <c:pt idx="3">
                  <c:v>VANECK FALLEN ANGEL HIGH YIELD BOND ETF</c:v>
                </c:pt>
                <c:pt idx="4">
                  <c:v>VANGUARD S&amp;P 500 ETF</c:v>
                </c:pt>
                <c:pt idx="5">
                  <c:v>VANGUARD MID-CAP ETF</c:v>
                </c:pt>
                <c:pt idx="6">
                  <c:v>ISHARES CORE S&amp;P SMALL-CAP ETF</c:v>
                </c:pt>
                <c:pt idx="7">
                  <c:v>FIRST AMERICA TREASURY OBLIGATIONS FUND</c:v>
                </c:pt>
              </c:strCache>
            </c:strRef>
          </c:cat>
          <c:val>
            <c:numRef>
              <c:f>'MAY 2022 WITH WEIRD CASH THING '!$P$6:$P$13</c:f>
              <c:numCache>
                <c:formatCode>0.0%</c:formatCode>
                <c:ptCount val="8"/>
                <c:pt idx="0">
                  <c:v>1.8999999999999989E-3</c:v>
                </c:pt>
                <c:pt idx="1">
                  <c:v>0.60367999999999999</c:v>
                </c:pt>
                <c:pt idx="2">
                  <c:v>8.5120000000000001E-2</c:v>
                </c:pt>
                <c:pt idx="3">
                  <c:v>0.10009999999999999</c:v>
                </c:pt>
                <c:pt idx="4">
                  <c:v>8.5000000000000006E-2</c:v>
                </c:pt>
                <c:pt idx="5">
                  <c:v>8.4809999999999997E-2</c:v>
                </c:pt>
                <c:pt idx="6">
                  <c:v>3.9390000000000001E-2</c:v>
                </c:pt>
                <c:pt idx="7">
                  <c:v>0</c:v>
                </c:pt>
              </c:numCache>
            </c:numRef>
          </c:val>
          <c:extLst>
            <c:ext xmlns:c16="http://schemas.microsoft.com/office/drawing/2014/chart" uri="{C3380CC4-5D6E-409C-BE32-E72D297353CC}">
              <c16:uniqueId val="{0000000F-F5EC-4E6B-98EE-8847C6D5C64C}"/>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159"/>
      <c:rAngAx val="0"/>
    </c:view3D>
    <c:floor>
      <c:thickness val="0"/>
    </c:floor>
    <c:sideWall>
      <c:thickness val="0"/>
      <c:spPr>
        <a:ln>
          <a:noFill/>
        </a:ln>
      </c:spPr>
    </c:sideWall>
    <c:backWall>
      <c:thickness val="0"/>
      <c:spPr>
        <a:ln>
          <a:noFill/>
        </a:ln>
      </c:spPr>
    </c:backWall>
    <c:plotArea>
      <c:layout>
        <c:manualLayout>
          <c:layoutTarget val="inner"/>
          <c:xMode val="edge"/>
          <c:yMode val="edge"/>
          <c:x val="1.6450999959923607E-2"/>
          <c:y val="4.7483567761972122E-2"/>
          <c:w val="0.92796978204013281"/>
          <c:h val="0.82530197200207678"/>
        </c:manualLayout>
      </c:layout>
      <c:pie3DChart>
        <c:varyColors val="1"/>
        <c:ser>
          <c:idx val="2"/>
          <c:order val="0"/>
          <c:dPt>
            <c:idx val="0"/>
            <c:bubble3D val="0"/>
            <c:spPr>
              <a:solidFill>
                <a:srgbClr val="0A4256"/>
              </a:solidFill>
            </c:spPr>
            <c:extLst>
              <c:ext xmlns:c16="http://schemas.microsoft.com/office/drawing/2014/chart" uri="{C3380CC4-5D6E-409C-BE32-E72D297353CC}">
                <c16:uniqueId val="{00000001-6163-49C2-B8E7-43160D01FF27}"/>
              </c:ext>
            </c:extLst>
          </c:dPt>
          <c:dPt>
            <c:idx val="1"/>
            <c:bubble3D val="0"/>
            <c:spPr>
              <a:solidFill>
                <a:srgbClr val="409585"/>
              </a:solidFill>
            </c:spPr>
            <c:extLst>
              <c:ext xmlns:c16="http://schemas.microsoft.com/office/drawing/2014/chart" uri="{C3380CC4-5D6E-409C-BE32-E72D297353CC}">
                <c16:uniqueId val="{00000003-6163-49C2-B8E7-43160D01FF27}"/>
              </c:ext>
            </c:extLst>
          </c:dPt>
          <c:dPt>
            <c:idx val="2"/>
            <c:bubble3D val="0"/>
            <c:spPr>
              <a:solidFill>
                <a:srgbClr val="85B1A7"/>
              </a:solidFill>
            </c:spPr>
            <c:extLst>
              <c:ext xmlns:c16="http://schemas.microsoft.com/office/drawing/2014/chart" uri="{C3380CC4-5D6E-409C-BE32-E72D297353CC}">
                <c16:uniqueId val="{00000005-6163-49C2-B8E7-43160D01FF27}"/>
              </c:ext>
            </c:extLst>
          </c:dPt>
          <c:dPt>
            <c:idx val="3"/>
            <c:bubble3D val="0"/>
            <c:spPr>
              <a:solidFill>
                <a:srgbClr val="4ACFAB"/>
              </a:solidFill>
            </c:spPr>
            <c:extLst>
              <c:ext xmlns:c16="http://schemas.microsoft.com/office/drawing/2014/chart" uri="{C3380CC4-5D6E-409C-BE32-E72D297353CC}">
                <c16:uniqueId val="{00000007-6163-49C2-B8E7-43160D01FF27}"/>
              </c:ext>
            </c:extLst>
          </c:dPt>
          <c:dPt>
            <c:idx val="4"/>
            <c:bubble3D val="0"/>
            <c:spPr>
              <a:solidFill>
                <a:srgbClr val="95CD9D"/>
              </a:solidFill>
            </c:spPr>
            <c:extLst>
              <c:ext xmlns:c16="http://schemas.microsoft.com/office/drawing/2014/chart" uri="{C3380CC4-5D6E-409C-BE32-E72D297353CC}">
                <c16:uniqueId val="{00000009-6163-49C2-B8E7-43160D01FF27}"/>
              </c:ext>
            </c:extLst>
          </c:dPt>
          <c:dPt>
            <c:idx val="5"/>
            <c:bubble3D val="0"/>
            <c:spPr>
              <a:solidFill>
                <a:srgbClr val="53787F"/>
              </a:solidFill>
            </c:spPr>
            <c:extLst>
              <c:ext xmlns:c16="http://schemas.microsoft.com/office/drawing/2014/chart" uri="{C3380CC4-5D6E-409C-BE32-E72D297353CC}">
                <c16:uniqueId val="{0000000B-6163-49C2-B8E7-43160D01FF27}"/>
              </c:ext>
            </c:extLst>
          </c:dPt>
          <c:dLbls>
            <c:dLbl>
              <c:idx val="0"/>
              <c:layout>
                <c:manualLayout>
                  <c:x val="0.14511887033579732"/>
                  <c:y val="-5.3083526997462591E-2"/>
                </c:manualLayout>
              </c:layout>
              <c:tx>
                <c:rich>
                  <a:bodyPr wrap="square" lIns="38100" tIns="19050" rIns="38100" bIns="19050" anchor="ctr">
                    <a:noAutofit/>
                  </a:bodyPr>
                  <a:lstStyle/>
                  <a:p>
                    <a:pPr>
                      <a:defRPr sz="900">
                        <a:latin typeface="Poppins SemiBold" panose="00000700000000000000" pitchFamily="2" charset="0"/>
                        <a:cs typeface="Poppins SemiBold" panose="00000700000000000000" pitchFamily="2" charset="0"/>
                      </a:defRPr>
                    </a:pPr>
                    <a:fld id="{B01F93D2-21B2-4F44-89A9-C78E89AA1C9A}" type="CATEGORYNAME">
                      <a:rPr lang="en-US">
                        <a:solidFill>
                          <a:schemeClr val="bg1"/>
                        </a:solidFill>
                      </a:rPr>
                      <a:pPr>
                        <a:defRPr sz="900">
                          <a:latin typeface="Poppins SemiBold" panose="00000700000000000000" pitchFamily="2" charset="0"/>
                          <a:cs typeface="Poppins SemiBold" panose="00000700000000000000" pitchFamily="2" charset="0"/>
                        </a:defRPr>
                      </a:pPr>
                      <a:t>[CATEGORY NAME]</a:t>
                    </a:fld>
                    <a:r>
                      <a:rPr lang="en-US" baseline="0"/>
                      <a:t>
</a:t>
                    </a:r>
                    <a:fld id="{504734C8-F1B1-4933-B672-43C984E20792}" type="VALUE">
                      <a:rPr lang="en-US" baseline="0">
                        <a:solidFill>
                          <a:schemeClr val="bg1"/>
                        </a:solidFill>
                      </a:rPr>
                      <a:pPr>
                        <a:defRPr sz="900">
                          <a:latin typeface="Poppins SemiBold" panose="00000700000000000000" pitchFamily="2" charset="0"/>
                          <a:cs typeface="Poppins SemiBold" panose="00000700000000000000" pitchFamily="2" charset="0"/>
                        </a:defRPr>
                      </a:pPr>
                      <a:t>[VALUE]</a:t>
                    </a:fld>
                    <a:endParaRPr lang="en-US" baseline="0"/>
                  </a:p>
                </c:rich>
              </c:tx>
              <c:spPr>
                <a:noFill/>
                <a:ln>
                  <a:noFill/>
                </a:ln>
                <a:effectLst/>
              </c:spPr>
              <c:showLegendKey val="0"/>
              <c:showVal val="1"/>
              <c:showCatName val="1"/>
              <c:showSerName val="0"/>
              <c:showPercent val="0"/>
              <c:showBubbleSize val="0"/>
              <c:separator>
</c:separator>
              <c:extLst>
                <c:ext xmlns:c15="http://schemas.microsoft.com/office/drawing/2012/chart" uri="{CE6537A1-D6FC-4f65-9D91-7224C49458BB}">
                  <c15:layout>
                    <c:manualLayout>
                      <c:w val="0.11281059090239801"/>
                      <c:h val="0.36232492472820926"/>
                    </c:manualLayout>
                  </c15:layout>
                  <c15:dlblFieldTable/>
                  <c15:showDataLabelsRange val="0"/>
                </c:ext>
                <c:ext xmlns:c16="http://schemas.microsoft.com/office/drawing/2014/chart" uri="{C3380CC4-5D6E-409C-BE32-E72D297353CC}">
                  <c16:uniqueId val="{00000001-6163-49C2-B8E7-43160D01FF27}"/>
                </c:ext>
              </c:extLst>
            </c:dLbl>
            <c:dLbl>
              <c:idx val="1"/>
              <c:layout>
                <c:manualLayout>
                  <c:x val="0.10219526235784855"/>
                  <c:y val="4.2833503486543939E-2"/>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13086516209044885"/>
                      <c:h val="0.17110141062563808"/>
                    </c:manualLayout>
                  </c15:layout>
                </c:ext>
                <c:ext xmlns:c16="http://schemas.microsoft.com/office/drawing/2014/chart" uri="{C3380CC4-5D6E-409C-BE32-E72D297353CC}">
                  <c16:uniqueId val="{00000003-6163-49C2-B8E7-43160D01FF27}"/>
                </c:ext>
              </c:extLst>
            </c:dLbl>
            <c:dLbl>
              <c:idx val="2"/>
              <c:layout>
                <c:manualLayout>
                  <c:x val="4.1604853634151194E-2"/>
                  <c:y val="0.11892869219446345"/>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13779720803564413"/>
                      <c:h val="0.17110141062563808"/>
                    </c:manualLayout>
                  </c15:layout>
                </c:ext>
                <c:ext xmlns:c16="http://schemas.microsoft.com/office/drawing/2014/chart" uri="{C3380CC4-5D6E-409C-BE32-E72D297353CC}">
                  <c16:uniqueId val="{00000005-6163-49C2-B8E7-43160D01FF27}"/>
                </c:ext>
              </c:extLst>
            </c:dLbl>
            <c:dLbl>
              <c:idx val="3"/>
              <c:layout>
                <c:manualLayout>
                  <c:x val="2.5929921428513168E-2"/>
                  <c:y val="-3.2682093170454014E-2"/>
                </c:manualLayout>
              </c:layout>
              <c:spPr>
                <a:noFill/>
                <a:ln>
                  <a:noFill/>
                </a:ln>
                <a:effectLst/>
              </c:spPr>
              <c:txPr>
                <a:bodyPr wrap="square" lIns="38100" tIns="19050" rIns="38100" bIns="19050" anchor="ctr">
                  <a:no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342855094568681"/>
                      <c:h val="0.17461964640167971"/>
                    </c:manualLayout>
                  </c15:layout>
                </c:ext>
                <c:ext xmlns:c16="http://schemas.microsoft.com/office/drawing/2014/chart" uri="{C3380CC4-5D6E-409C-BE32-E72D297353CC}">
                  <c16:uniqueId val="{00000007-6163-49C2-B8E7-43160D01FF27}"/>
                </c:ext>
              </c:extLst>
            </c:dLbl>
            <c:dLbl>
              <c:idx val="4"/>
              <c:layout>
                <c:manualLayout>
                  <c:x val="5.8419701296989743E-2"/>
                  <c:y val="-0.11599712385551957"/>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9-6163-49C2-B8E7-43160D01FF27}"/>
                </c:ext>
              </c:extLst>
            </c:dLbl>
            <c:dLbl>
              <c:idx val="5"/>
              <c:layout>
                <c:manualLayout>
                  <c:x val="0.1148586095298032"/>
                  <c:y val="-0.12272257322361375"/>
                </c:manualLayout>
              </c:layout>
              <c:spPr>
                <a:noFill/>
                <a:ln>
                  <a:noFill/>
                </a:ln>
                <a:effectLst/>
              </c:spPr>
              <c:txPr>
                <a:bodyPr wrap="square" lIns="38100" tIns="19050" rIns="38100" bIns="19050" anchor="ctr">
                  <a:no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178315591823208"/>
                      <c:h val="0.16848263331722702"/>
                    </c:manualLayout>
                  </c15:layout>
                </c:ext>
                <c:ext xmlns:c16="http://schemas.microsoft.com/office/drawing/2014/chart" uri="{C3380CC4-5D6E-409C-BE32-E72D297353CC}">
                  <c16:uniqueId val="{0000000B-6163-49C2-B8E7-43160D01FF27}"/>
                </c:ext>
              </c:extLst>
            </c:dLbl>
            <c:spPr>
              <a:noFill/>
              <a:ln>
                <a:noFill/>
              </a:ln>
              <a:effectLst/>
            </c:spPr>
            <c:txPr>
              <a:bodyPr wrap="square" lIns="38100" tIns="19050" rIns="38100" bIns="19050" anchor="ctr">
                <a:sp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showLeaderLines val="1"/>
            <c:extLst>
              <c:ext xmlns:c15="http://schemas.microsoft.com/office/drawing/2012/chart" uri="{CE6537A1-D6FC-4f65-9D91-7224C49458BB}"/>
            </c:extLst>
          </c:dLbls>
          <c:cat>
            <c:strRef>
              <c:f>'Table 3 CRRG'!$M$9:$M$14</c:f>
              <c:strCache>
                <c:ptCount val="6"/>
                <c:pt idx="0">
                  <c:v>CASH &amp; INVESTMENT GRADE BONDS</c:v>
                </c:pt>
                <c:pt idx="1">
                  <c:v>XTRACKERS HIGH YIELD CORPORATE BOND ETF</c:v>
                </c:pt>
                <c:pt idx="2">
                  <c:v>VANECK FALLEN ANGEL HIGH YIELD BOND ETF</c:v>
                </c:pt>
                <c:pt idx="3">
                  <c:v>VANGUARD S&amp;P 500 ETF</c:v>
                </c:pt>
                <c:pt idx="4">
                  <c:v>VANGUARD MID-CAP ETF</c:v>
                </c:pt>
                <c:pt idx="5">
                  <c:v>ISHARES CORE S&amp;P SMALL-CAP ETF</c:v>
                </c:pt>
              </c:strCache>
            </c:strRef>
          </c:cat>
          <c:val>
            <c:numRef>
              <c:f>'Table 3 CRRG'!$N$9:$N$14</c:f>
              <c:numCache>
                <c:formatCode>0.0%</c:formatCode>
                <c:ptCount val="6"/>
                <c:pt idx="0">
                  <c:v>0.60514999999999997</c:v>
                </c:pt>
                <c:pt idx="1">
                  <c:v>8.6120000000000002E-2</c:v>
                </c:pt>
                <c:pt idx="2">
                  <c:v>9.4060000000000005E-2</c:v>
                </c:pt>
                <c:pt idx="3">
                  <c:v>8.7309999999999999E-2</c:v>
                </c:pt>
                <c:pt idx="4">
                  <c:v>8.7090000000000001E-2</c:v>
                </c:pt>
                <c:pt idx="5">
                  <c:v>4.0259999999999997E-2</c:v>
                </c:pt>
              </c:numCache>
            </c:numRef>
          </c:val>
          <c:extLst>
            <c:ext xmlns:c16="http://schemas.microsoft.com/office/drawing/2014/chart" uri="{C3380CC4-5D6E-409C-BE32-E72D297353CC}">
              <c16:uniqueId val="{0000000C-6163-49C2-B8E7-43160D01FF27}"/>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40"/>
      <c:rotY val="154"/>
      <c:rAngAx val="0"/>
    </c:view3D>
    <c:floor>
      <c:thickness val="0"/>
    </c:floor>
    <c:sideWall>
      <c:thickness val="0"/>
      <c:spPr>
        <a:ln>
          <a:noFill/>
        </a:ln>
      </c:spPr>
    </c:sideWall>
    <c:backWall>
      <c:thickness val="0"/>
      <c:spPr>
        <a:ln>
          <a:noFill/>
        </a:ln>
      </c:spPr>
    </c:backWall>
    <c:plotArea>
      <c:layout>
        <c:manualLayout>
          <c:layoutTarget val="inner"/>
          <c:xMode val="edge"/>
          <c:yMode val="edge"/>
          <c:x val="1.6450999959923607E-2"/>
          <c:y val="4.7483567761972122E-2"/>
          <c:w val="0.92796978204013281"/>
          <c:h val="0.82530197200207678"/>
        </c:manualLayout>
      </c:layout>
      <c:pie3DChart>
        <c:varyColors val="1"/>
        <c:ser>
          <c:idx val="2"/>
          <c:order val="0"/>
          <c:dPt>
            <c:idx val="0"/>
            <c:bubble3D val="0"/>
            <c:spPr>
              <a:solidFill>
                <a:srgbClr val="0A4256"/>
              </a:solidFill>
            </c:spPr>
            <c:extLst>
              <c:ext xmlns:c16="http://schemas.microsoft.com/office/drawing/2014/chart" uri="{C3380CC4-5D6E-409C-BE32-E72D297353CC}">
                <c16:uniqueId val="{00000001-6CA6-4906-8C6B-CBADE509A304}"/>
              </c:ext>
            </c:extLst>
          </c:dPt>
          <c:dPt>
            <c:idx val="1"/>
            <c:bubble3D val="0"/>
            <c:spPr>
              <a:solidFill>
                <a:srgbClr val="409585"/>
              </a:solidFill>
            </c:spPr>
            <c:extLst>
              <c:ext xmlns:c16="http://schemas.microsoft.com/office/drawing/2014/chart" uri="{C3380CC4-5D6E-409C-BE32-E72D297353CC}">
                <c16:uniqueId val="{00000003-6CA6-4906-8C6B-CBADE509A304}"/>
              </c:ext>
            </c:extLst>
          </c:dPt>
          <c:dPt>
            <c:idx val="2"/>
            <c:bubble3D val="0"/>
            <c:spPr>
              <a:solidFill>
                <a:srgbClr val="85B1A7"/>
              </a:solidFill>
            </c:spPr>
            <c:extLst>
              <c:ext xmlns:c16="http://schemas.microsoft.com/office/drawing/2014/chart" uri="{C3380CC4-5D6E-409C-BE32-E72D297353CC}">
                <c16:uniqueId val="{00000005-6CA6-4906-8C6B-CBADE509A304}"/>
              </c:ext>
            </c:extLst>
          </c:dPt>
          <c:dPt>
            <c:idx val="3"/>
            <c:bubble3D val="0"/>
            <c:spPr>
              <a:solidFill>
                <a:srgbClr val="4ACFAB"/>
              </a:solidFill>
            </c:spPr>
            <c:extLst>
              <c:ext xmlns:c16="http://schemas.microsoft.com/office/drawing/2014/chart" uri="{C3380CC4-5D6E-409C-BE32-E72D297353CC}">
                <c16:uniqueId val="{00000007-6CA6-4906-8C6B-CBADE509A304}"/>
              </c:ext>
            </c:extLst>
          </c:dPt>
          <c:dPt>
            <c:idx val="4"/>
            <c:bubble3D val="0"/>
            <c:spPr>
              <a:solidFill>
                <a:srgbClr val="95CD9D"/>
              </a:solidFill>
            </c:spPr>
            <c:extLst>
              <c:ext xmlns:c16="http://schemas.microsoft.com/office/drawing/2014/chart" uri="{C3380CC4-5D6E-409C-BE32-E72D297353CC}">
                <c16:uniqueId val="{00000009-6CA6-4906-8C6B-CBADE509A304}"/>
              </c:ext>
            </c:extLst>
          </c:dPt>
          <c:dPt>
            <c:idx val="5"/>
            <c:bubble3D val="0"/>
            <c:spPr>
              <a:solidFill>
                <a:srgbClr val="53787F"/>
              </a:solidFill>
            </c:spPr>
            <c:extLst>
              <c:ext xmlns:c16="http://schemas.microsoft.com/office/drawing/2014/chart" uri="{C3380CC4-5D6E-409C-BE32-E72D297353CC}">
                <c16:uniqueId val="{0000000B-6CA6-4906-8C6B-CBADE509A304}"/>
              </c:ext>
            </c:extLst>
          </c:dPt>
          <c:dLbls>
            <c:dLbl>
              <c:idx val="0"/>
              <c:layout>
                <c:manualLayout>
                  <c:x val="0.13851719163562745"/>
                  <c:y val="-6.3364190855699526E-2"/>
                </c:manualLayout>
              </c:layout>
              <c:tx>
                <c:rich>
                  <a:bodyPr wrap="square" lIns="38100" tIns="19050" rIns="38100" bIns="19050" anchor="ctr">
                    <a:noAutofit/>
                  </a:bodyPr>
                  <a:lstStyle/>
                  <a:p>
                    <a:pPr>
                      <a:defRPr sz="900">
                        <a:latin typeface="Poppins SemiBold" panose="00000700000000000000" pitchFamily="2" charset="0"/>
                        <a:cs typeface="Poppins SemiBold" panose="00000700000000000000" pitchFamily="2" charset="0"/>
                      </a:defRPr>
                    </a:pPr>
                    <a:fld id="{B01F93D2-21B2-4F44-89A9-C78E89AA1C9A}" type="CATEGORYNAME">
                      <a:rPr lang="en-US">
                        <a:solidFill>
                          <a:schemeClr val="bg1"/>
                        </a:solidFill>
                      </a:rPr>
                      <a:pPr>
                        <a:defRPr sz="900">
                          <a:latin typeface="Poppins SemiBold" panose="00000700000000000000" pitchFamily="2" charset="0"/>
                          <a:cs typeface="Poppins SemiBold" panose="00000700000000000000" pitchFamily="2" charset="0"/>
                        </a:defRPr>
                      </a:pPr>
                      <a:t>[CATEGORY NAME]</a:t>
                    </a:fld>
                    <a:r>
                      <a:rPr lang="en-US" baseline="0"/>
                      <a:t>
</a:t>
                    </a:r>
                    <a:fld id="{504734C8-F1B1-4933-B672-43C984E20792}" type="VALUE">
                      <a:rPr lang="en-US" baseline="0">
                        <a:solidFill>
                          <a:schemeClr val="bg1"/>
                        </a:solidFill>
                      </a:rPr>
                      <a:pPr>
                        <a:defRPr sz="900">
                          <a:latin typeface="Poppins SemiBold" panose="00000700000000000000" pitchFamily="2" charset="0"/>
                          <a:cs typeface="Poppins SemiBold" panose="00000700000000000000" pitchFamily="2" charset="0"/>
                        </a:defRPr>
                      </a:pPr>
                      <a:t>[VALUE]</a:t>
                    </a:fld>
                    <a:endParaRPr lang="en-US" baseline="0"/>
                  </a:p>
                </c:rich>
              </c:tx>
              <c:spPr>
                <a:noFill/>
                <a:ln>
                  <a:noFill/>
                </a:ln>
                <a:effectLst/>
              </c:spPr>
              <c:showLegendKey val="0"/>
              <c:showVal val="1"/>
              <c:showCatName val="1"/>
              <c:showSerName val="0"/>
              <c:showPercent val="0"/>
              <c:showBubbleSize val="0"/>
              <c:separator>
</c:separator>
              <c:extLst>
                <c:ext xmlns:c15="http://schemas.microsoft.com/office/drawing/2012/chart" uri="{CE6537A1-D6FC-4f65-9D91-7224C49458BB}">
                  <c15:layout>
                    <c:manualLayout>
                      <c:w val="0.10517797764644166"/>
                      <c:h val="0.36232487605715952"/>
                    </c:manualLayout>
                  </c15:layout>
                  <c15:dlblFieldTable/>
                  <c15:showDataLabelsRange val="0"/>
                </c:ext>
                <c:ext xmlns:c16="http://schemas.microsoft.com/office/drawing/2014/chart" uri="{C3380CC4-5D6E-409C-BE32-E72D297353CC}">
                  <c16:uniqueId val="{00000001-6CA6-4906-8C6B-CBADE509A304}"/>
                </c:ext>
              </c:extLst>
            </c:dLbl>
            <c:dLbl>
              <c:idx val="1"/>
              <c:layout>
                <c:manualLayout>
                  <c:x val="6.3404318463136156E-2"/>
                  <c:y val="4.2562104562104561E-2"/>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22136643342856002"/>
                      <c:h val="0.17110142197664704"/>
                    </c:manualLayout>
                  </c15:layout>
                </c:ext>
                <c:ext xmlns:c16="http://schemas.microsoft.com/office/drawing/2014/chart" uri="{C3380CC4-5D6E-409C-BE32-E72D297353CC}">
                  <c16:uniqueId val="{00000003-6CA6-4906-8C6B-CBADE509A304}"/>
                </c:ext>
              </c:extLst>
            </c:dLbl>
            <c:dLbl>
              <c:idx val="2"/>
              <c:layout>
                <c:manualLayout>
                  <c:x val="4.0408351488370783E-2"/>
                  <c:y val="0.13909970029970031"/>
                </c:manualLayout>
              </c:layout>
              <c:showLegendKey val="0"/>
              <c:showVal val="1"/>
              <c:showCatName val="1"/>
              <c:showSerName val="0"/>
              <c:showPercent val="0"/>
              <c:showBubbleSize val="0"/>
              <c:separator>
</c:separator>
              <c:extLst>
                <c:ext xmlns:c15="http://schemas.microsoft.com/office/drawing/2012/chart" uri="{CE6537A1-D6FC-4f65-9D91-7224C49458BB}">
                  <c15:layout>
                    <c:manualLayout>
                      <c:w val="0.206490952100436"/>
                      <c:h val="0.17110142197664704"/>
                    </c:manualLayout>
                  </c15:layout>
                </c:ext>
                <c:ext xmlns:c16="http://schemas.microsoft.com/office/drawing/2014/chart" uri="{C3380CC4-5D6E-409C-BE32-E72D297353CC}">
                  <c16:uniqueId val="{00000005-6CA6-4906-8C6B-CBADE509A304}"/>
                </c:ext>
              </c:extLst>
            </c:dLbl>
            <c:dLbl>
              <c:idx val="3"/>
              <c:layout>
                <c:manualLayout>
                  <c:x val="3.2289403313153622E-2"/>
                  <c:y val="0.15292307692307686"/>
                </c:manualLayout>
              </c:layout>
              <c:spPr>
                <a:noFill/>
                <a:ln>
                  <a:noFill/>
                </a:ln>
                <a:effectLst/>
              </c:spPr>
              <c:txPr>
                <a:bodyPr wrap="square" lIns="38100" tIns="19050" rIns="38100" bIns="19050" anchor="ctr">
                  <a:no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6979899985986052"/>
                      <c:h val="0.16678611685373174"/>
                    </c:manualLayout>
                  </c15:layout>
                </c:ext>
                <c:ext xmlns:c16="http://schemas.microsoft.com/office/drawing/2014/chart" uri="{C3380CC4-5D6E-409C-BE32-E72D297353CC}">
                  <c16:uniqueId val="{00000007-6CA6-4906-8C6B-CBADE509A304}"/>
                </c:ext>
              </c:extLst>
            </c:dLbl>
            <c:dLbl>
              <c:idx val="4"/>
              <c:layout>
                <c:manualLayout>
                  <c:x val="4.2064523341772624E-2"/>
                  <c:y val="-5.8295437895437834E-2"/>
                </c:manualLayout>
              </c:layout>
              <c:spPr>
                <a:noFill/>
                <a:ln>
                  <a:noFill/>
                </a:ln>
                <a:effectLst/>
              </c:spPr>
              <c:txPr>
                <a:bodyPr wrap="square" lIns="38100" tIns="19050" rIns="38100" bIns="19050" anchor="ctr">
                  <a:noAutofit/>
                </a:bodyPr>
                <a:lstStyle/>
                <a:p>
                  <a:pPr>
                    <a:defRPr sz="900">
                      <a:solidFill>
                        <a:schemeClr val="tx1"/>
                      </a:solidFill>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6211484153551337"/>
                      <c:h val="0.16816808067406186"/>
                    </c:manualLayout>
                  </c15:layout>
                </c:ext>
                <c:ext xmlns:c16="http://schemas.microsoft.com/office/drawing/2014/chart" uri="{C3380CC4-5D6E-409C-BE32-E72D297353CC}">
                  <c16:uniqueId val="{00000009-6CA6-4906-8C6B-CBADE509A304}"/>
                </c:ext>
              </c:extLst>
            </c:dLbl>
            <c:dLbl>
              <c:idx val="5"/>
              <c:layout>
                <c:manualLayout>
                  <c:x val="8.9130609751097309E-2"/>
                  <c:y val="-8.5292307692307695E-2"/>
                </c:manualLayout>
              </c:layout>
              <c:spPr>
                <a:noFill/>
                <a:ln>
                  <a:noFill/>
                </a:ln>
                <a:effectLst/>
              </c:spPr>
              <c:txPr>
                <a:bodyPr wrap="square" lIns="38100" tIns="19050" rIns="38100" bIns="19050" anchor="ctr">
                  <a:no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16101208388975954"/>
                      <c:h val="0.14277935397935398"/>
                    </c:manualLayout>
                  </c15:layout>
                </c:ext>
                <c:ext xmlns:c16="http://schemas.microsoft.com/office/drawing/2014/chart" uri="{C3380CC4-5D6E-409C-BE32-E72D297353CC}">
                  <c16:uniqueId val="{0000000B-6CA6-4906-8C6B-CBADE509A304}"/>
                </c:ext>
              </c:extLst>
            </c:dLbl>
            <c:spPr>
              <a:noFill/>
              <a:ln>
                <a:noFill/>
              </a:ln>
              <a:effectLst/>
            </c:spPr>
            <c:txPr>
              <a:bodyPr wrap="square" lIns="38100" tIns="19050" rIns="38100" bIns="19050" anchor="ctr">
                <a:spAutoFit/>
              </a:bodyPr>
              <a:lstStyle/>
              <a:p>
                <a:pPr>
                  <a:defRPr sz="900">
                    <a:latin typeface="Poppins SemiBold" panose="00000700000000000000" pitchFamily="2" charset="0"/>
                    <a:cs typeface="Poppins SemiBold" panose="00000700000000000000" pitchFamily="2" charset="0"/>
                  </a:defRPr>
                </a:pPr>
                <a:endParaRPr lang="en-US"/>
              </a:p>
            </c:txPr>
            <c:showLegendKey val="0"/>
            <c:showVal val="1"/>
            <c:showCatName val="1"/>
            <c:showSerName val="0"/>
            <c:showPercent val="0"/>
            <c:showBubbleSize val="0"/>
            <c:separator>
</c:separator>
            <c:showLeaderLines val="1"/>
            <c:extLst>
              <c:ext xmlns:c15="http://schemas.microsoft.com/office/drawing/2012/chart" uri="{CE6537A1-D6FC-4f65-9D91-7224C49458BB}"/>
            </c:extLst>
          </c:dLbls>
          <c:cat>
            <c:strRef>
              <c:f>'Table 3 CRRG'!$M$9:$M$14</c:f>
              <c:strCache>
                <c:ptCount val="6"/>
                <c:pt idx="0">
                  <c:v>CASH &amp; INVESTMENT GRADE BONDS</c:v>
                </c:pt>
                <c:pt idx="1">
                  <c:v>XTRACKERS HIGH YIELD CORPORATE BOND ETF</c:v>
                </c:pt>
                <c:pt idx="2">
                  <c:v>VANECK FALLEN ANGEL HIGH YIELD BOND ETF</c:v>
                </c:pt>
                <c:pt idx="3">
                  <c:v>VANGUARD S&amp;P 500 ETF</c:v>
                </c:pt>
                <c:pt idx="4">
                  <c:v>VANGUARD MID-CAP ETF</c:v>
                </c:pt>
                <c:pt idx="5">
                  <c:v>ISHARES CORE S&amp;P SMALL-CAP ETF</c:v>
                </c:pt>
              </c:strCache>
            </c:strRef>
          </c:cat>
          <c:val>
            <c:numRef>
              <c:f>'Table 3 CRRG'!$N$9:$N$14</c:f>
              <c:numCache>
                <c:formatCode>0.0%</c:formatCode>
                <c:ptCount val="6"/>
                <c:pt idx="0">
                  <c:v>0.64681999999999995</c:v>
                </c:pt>
                <c:pt idx="1">
                  <c:v>7.8740000000000004E-2</c:v>
                </c:pt>
                <c:pt idx="2">
                  <c:v>1.9519999999999999E-2</c:v>
                </c:pt>
                <c:pt idx="3">
                  <c:v>0.10359</c:v>
                </c:pt>
                <c:pt idx="4">
                  <c:v>9.9769999999999998E-2</c:v>
                </c:pt>
                <c:pt idx="5">
                  <c:v>5.1569999999999998E-2</c:v>
                </c:pt>
              </c:numCache>
            </c:numRef>
          </c:val>
          <c:extLst>
            <c:ext xmlns:c16="http://schemas.microsoft.com/office/drawing/2014/chart" uri="{C3380CC4-5D6E-409C-BE32-E72D297353CC}">
              <c16:uniqueId val="{0000000C-6CA6-4906-8C6B-CBADE509A304}"/>
            </c:ext>
          </c:extLst>
        </c:ser>
        <c:dLbls>
          <c:showLegendKey val="0"/>
          <c:showVal val="0"/>
          <c:showCatName val="0"/>
          <c:showSerName val="0"/>
          <c:showPercent val="0"/>
          <c:showBubbleSize val="0"/>
          <c:showLeaderLines val="1"/>
        </c:dLbls>
      </c:pie3DChart>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87222228849629"/>
          <c:y val="0.18793393015267051"/>
          <c:w val="0.87061457636118733"/>
          <c:h val="0.60463374062236952"/>
        </c:manualLayout>
      </c:layout>
      <c:barChart>
        <c:barDir val="col"/>
        <c:grouping val="clustered"/>
        <c:varyColors val="0"/>
        <c:ser>
          <c:idx val="0"/>
          <c:order val="0"/>
          <c:tx>
            <c:strRef>
              <c:f>'REFERENCING UG SHEET'!$C$7</c:f>
              <c:strCache>
                <c:ptCount val="1"/>
                <c:pt idx="0">
                  <c:v>GROSS OF ADVISORY FEE</c:v>
                </c:pt>
              </c:strCache>
              <c:extLst xmlns:c15="http://schemas.microsoft.com/office/drawing/2012/chart"/>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ext>
            </c:extLst>
          </c:dLbls>
          <c:cat>
            <c:strRef>
              <c:f>'REFERENCING UG SHEET'!$A$8:$A$14</c:f>
              <c:strCache>
                <c:ptCount val="7"/>
                <c:pt idx="0">
                  <c:v>QTD</c:v>
                </c:pt>
                <c:pt idx="1">
                  <c:v>YTD</c:v>
                </c:pt>
                <c:pt idx="2">
                  <c:v>1 YR</c:v>
                </c:pt>
                <c:pt idx="3">
                  <c:v>3 YR</c:v>
                </c:pt>
                <c:pt idx="4">
                  <c:v>5 YR</c:v>
                </c:pt>
                <c:pt idx="5">
                  <c:v>10 YR</c:v>
                </c:pt>
                <c:pt idx="6">
                  <c:v>SINCE INCEPTION
 (6/7/2021)</c:v>
                </c:pt>
              </c:strCache>
            </c:strRef>
          </c:cat>
          <c:val>
            <c:numRef>
              <c:f>('REFERENCING UG SHEET'!$C$9:$C$10,'REFERENCING UG SHEET'!$C$14)</c:f>
              <c:numCache>
                <c:formatCode>0.00%</c:formatCode>
                <c:ptCount val="3"/>
                <c:pt idx="0">
                  <c:v>4.1669999999999999E-2</c:v>
                </c:pt>
                <c:pt idx="1">
                  <c:v>4.48E-2</c:v>
                </c:pt>
                <c:pt idx="2">
                  <c:v>-2.6120000000000001E-2</c:v>
                </c:pt>
              </c:numCache>
              <c:extLst/>
            </c:numRef>
          </c:val>
          <c:extLst xmlns:c15="http://schemas.microsoft.com/office/drawing/2012/chart">
            <c:ext xmlns:c16="http://schemas.microsoft.com/office/drawing/2014/chart" uri="{C3380CC4-5D6E-409C-BE32-E72D297353CC}">
              <c16:uniqueId val="{00000000-A2B0-44F0-AD34-4553C9BF2B79}"/>
            </c:ext>
          </c:extLst>
        </c:ser>
        <c:ser>
          <c:idx val="1"/>
          <c:order val="1"/>
          <c:tx>
            <c:strRef>
              <c:f>'REFERENCING UG SHEET'!$D$7</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SHEET'!$A$8:$A$14</c:f>
              <c:strCache>
                <c:ptCount val="7"/>
                <c:pt idx="0">
                  <c:v>QTD</c:v>
                </c:pt>
                <c:pt idx="1">
                  <c:v>YTD</c:v>
                </c:pt>
                <c:pt idx="2">
                  <c:v>1 YR</c:v>
                </c:pt>
                <c:pt idx="3">
                  <c:v>3 YR</c:v>
                </c:pt>
                <c:pt idx="4">
                  <c:v>5 YR</c:v>
                </c:pt>
                <c:pt idx="5">
                  <c:v>10 YR</c:v>
                </c:pt>
                <c:pt idx="6">
                  <c:v>SINCE INCEPTION
 (6/7/2021)</c:v>
                </c:pt>
              </c:strCache>
            </c:strRef>
          </c:cat>
          <c:val>
            <c:numRef>
              <c:f>('REFERENCING UG SHEET'!$D$9:$D$10,'REFERENCING UG SHEET'!$D$14)</c:f>
              <c:numCache>
                <c:formatCode>0.00%</c:formatCode>
                <c:ptCount val="3"/>
                <c:pt idx="0">
                  <c:v>4.0340000000000001E-2</c:v>
                </c:pt>
                <c:pt idx="1">
                  <c:v>4.2259999999999999E-2</c:v>
                </c:pt>
                <c:pt idx="2">
                  <c:v>-2.8320000000000001E-2</c:v>
                </c:pt>
              </c:numCache>
              <c:extLst/>
            </c:numRef>
          </c:val>
          <c:extLst>
            <c:ext xmlns:c16="http://schemas.microsoft.com/office/drawing/2014/chart" uri="{C3380CC4-5D6E-409C-BE32-E72D297353CC}">
              <c16:uniqueId val="{00000001-A2B0-44F0-AD34-4553C9BF2B79}"/>
            </c:ext>
          </c:extLst>
        </c:ser>
        <c:ser>
          <c:idx val="2"/>
          <c:order val="2"/>
          <c:tx>
            <c:strRef>
              <c:f>'REFERENCING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SHEET'!$A$8:$A$14</c:f>
              <c:strCache>
                <c:ptCount val="7"/>
                <c:pt idx="0">
                  <c:v>QTD</c:v>
                </c:pt>
                <c:pt idx="1">
                  <c:v>YTD</c:v>
                </c:pt>
                <c:pt idx="2">
                  <c:v>1 YR</c:v>
                </c:pt>
                <c:pt idx="3">
                  <c:v>3 YR</c:v>
                </c:pt>
                <c:pt idx="4">
                  <c:v>5 YR</c:v>
                </c:pt>
                <c:pt idx="5">
                  <c:v>10 YR</c:v>
                </c:pt>
                <c:pt idx="6">
                  <c:v>SINCE INCEPTION
 (6/7/2021)</c:v>
                </c:pt>
              </c:strCache>
            </c:strRef>
          </c:cat>
          <c:val>
            <c:numRef>
              <c:f>('REFERENCING UG SHEET'!$E$9:$E$10,'REFERENCING UG SHEET'!$E$14)</c:f>
              <c:numCache>
                <c:formatCode>0.00%</c:formatCode>
                <c:ptCount val="3"/>
                <c:pt idx="0">
                  <c:v>4.3389999999999998E-2</c:v>
                </c:pt>
                <c:pt idx="1">
                  <c:v>4.9489999999999999E-2</c:v>
                </c:pt>
                <c:pt idx="2">
                  <c:v>-2.427E-2</c:v>
                </c:pt>
              </c:numCache>
              <c:extLst/>
            </c:numRef>
          </c:val>
          <c:extLst>
            <c:ext xmlns:c16="http://schemas.microsoft.com/office/drawing/2014/chart" uri="{C3380CC4-5D6E-409C-BE32-E72D297353CC}">
              <c16:uniqueId val="{00000002-A2B0-44F0-AD34-4553C9BF2B79}"/>
            </c:ext>
          </c:extLst>
        </c:ser>
        <c:dLbls>
          <c:showLegendKey val="0"/>
          <c:showVal val="0"/>
          <c:showCatName val="0"/>
          <c:showSerName val="0"/>
          <c:showPercent val="0"/>
          <c:showBubbleSize val="0"/>
        </c:dLbls>
        <c:gapWidth val="145"/>
        <c:overlap val="-20"/>
        <c:axId val="1106878872"/>
        <c:axId val="1"/>
        <c:extLst/>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1.8505783809013049E-3"/>
              <c:y val="0.23757504051617223"/>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0.16188652654678679"/>
          <c:y val="4.1684636015423444E-2"/>
          <c:w val="0.68067554809153907"/>
          <c:h val="8.1146611595032503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140115637719197"/>
          <c:y val="9.5088159238847336E-2"/>
          <c:w val="0.88859884362280817"/>
          <c:h val="0.74938501285117831"/>
        </c:manualLayout>
      </c:layout>
      <c:barChart>
        <c:barDir val="col"/>
        <c:grouping val="clustered"/>
        <c:varyColors val="0"/>
        <c:ser>
          <c:idx val="0"/>
          <c:order val="0"/>
          <c:tx>
            <c:strRef>
              <c:f>'REFERENCING UG SHEET'!$C$7</c:f>
              <c:strCache>
                <c:ptCount val="1"/>
                <c:pt idx="0">
                  <c:v>GROSS</c:v>
                </c:pt>
              </c:strCache>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0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SHEET'!$A$8:$A$11,'REFERENCING UG SHEET'!$A$14)</c:f>
              <c:strCache>
                <c:ptCount val="5"/>
                <c:pt idx="0">
                  <c:v>QTD</c:v>
                </c:pt>
                <c:pt idx="1">
                  <c:v>YTD</c:v>
                </c:pt>
                <c:pt idx="2">
                  <c:v>1 YR</c:v>
                </c:pt>
                <c:pt idx="3">
                  <c:v>3 YR</c:v>
                </c:pt>
                <c:pt idx="4">
                  <c:v>SINCE INCEPTION
 (6/7/2021)</c:v>
                </c:pt>
              </c:strCache>
              <c:extLst/>
            </c:strRef>
          </c:cat>
          <c:val>
            <c:numRef>
              <c:f>('REFERENCING UG SHEET'!$C$8:$C$11,'REFERENCING UG SHEET'!$C$14)</c:f>
              <c:numCache>
                <c:formatCode>0.00%</c:formatCode>
                <c:ptCount val="5"/>
                <c:pt idx="0">
                  <c:v>1.057E-2</c:v>
                </c:pt>
                <c:pt idx="1">
                  <c:v>8.523E-2</c:v>
                </c:pt>
                <c:pt idx="2">
                  <c:v>8.6879999999999999E-2</c:v>
                </c:pt>
                <c:pt idx="3">
                  <c:v>8.6260000000000003E-2</c:v>
                </c:pt>
                <c:pt idx="4">
                  <c:v>3.218E-2</c:v>
                </c:pt>
              </c:numCache>
              <c:extLst/>
            </c:numRef>
          </c:val>
          <c:extLst>
            <c:ext xmlns:c16="http://schemas.microsoft.com/office/drawing/2014/chart" uri="{C3380CC4-5D6E-409C-BE32-E72D297353CC}">
              <c16:uniqueId val="{00000000-36A1-4973-AFBF-7F8A038361BF}"/>
            </c:ext>
          </c:extLst>
        </c:ser>
        <c:ser>
          <c:idx val="1"/>
          <c:order val="1"/>
          <c:tx>
            <c:strRef>
              <c:f>'REFERENCING UG SHEET'!$D$7</c:f>
              <c:strCache>
                <c:ptCount val="1"/>
                <c:pt idx="0">
                  <c:v>NET</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000" b="0" i="0" u="none" strike="noStrike" kern="1200" spc="-5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SHEET'!$A$8:$A$11,'REFERENCING UG SHEET'!$A$14)</c:f>
              <c:strCache>
                <c:ptCount val="5"/>
                <c:pt idx="0">
                  <c:v>QTD</c:v>
                </c:pt>
                <c:pt idx="1">
                  <c:v>YTD</c:v>
                </c:pt>
                <c:pt idx="2">
                  <c:v>1 YR</c:v>
                </c:pt>
                <c:pt idx="3">
                  <c:v>3 YR</c:v>
                </c:pt>
                <c:pt idx="4">
                  <c:v>SINCE INCEPTION
 (6/7/2021)</c:v>
                </c:pt>
              </c:strCache>
              <c:extLst/>
            </c:strRef>
          </c:cat>
          <c:val>
            <c:numRef>
              <c:f>('REFERENCING UG SHEET'!$D$8:$D$11,'REFERENCING UG SHEET'!$D$14)</c:f>
              <c:numCache>
                <c:formatCode>0.00%</c:formatCode>
                <c:ptCount val="5"/>
                <c:pt idx="0">
                  <c:v>1.057E-2</c:v>
                </c:pt>
                <c:pt idx="1">
                  <c:v>8.3470000000000003E-2</c:v>
                </c:pt>
                <c:pt idx="2">
                  <c:v>8.4500000000000006E-2</c:v>
                </c:pt>
                <c:pt idx="3">
                  <c:v>8.3659999999999998E-2</c:v>
                </c:pt>
                <c:pt idx="4">
                  <c:v>2.9839999999999998E-2</c:v>
                </c:pt>
              </c:numCache>
              <c:extLst/>
            </c:numRef>
          </c:val>
          <c:extLst>
            <c:ext xmlns:c16="http://schemas.microsoft.com/office/drawing/2014/chart" uri="{C3380CC4-5D6E-409C-BE32-E72D297353CC}">
              <c16:uniqueId val="{00000001-36A1-4973-AFBF-7F8A038361BF}"/>
            </c:ext>
          </c:extLst>
        </c:ser>
        <c:ser>
          <c:idx val="2"/>
          <c:order val="2"/>
          <c:tx>
            <c:strRef>
              <c:f>'REFERENCING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000" b="0" i="0" u="none" strike="noStrike" kern="1200" spc="-5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SHEET'!$A$8:$A$11,'REFERENCING UG SHEET'!$A$14)</c:f>
              <c:strCache>
                <c:ptCount val="5"/>
                <c:pt idx="0">
                  <c:v>QTD</c:v>
                </c:pt>
                <c:pt idx="1">
                  <c:v>YTD</c:v>
                </c:pt>
                <c:pt idx="2">
                  <c:v>1 YR</c:v>
                </c:pt>
                <c:pt idx="3">
                  <c:v>3 YR</c:v>
                </c:pt>
                <c:pt idx="4">
                  <c:v>SINCE INCEPTION
 (6/7/2021)</c:v>
                </c:pt>
              </c:strCache>
              <c:extLst/>
            </c:strRef>
          </c:cat>
          <c:val>
            <c:numRef>
              <c:f>('REFERENCING UG SHEET'!$E$8:$E$11,'REFERENCING UG SHEET'!$E$14)</c:f>
              <c:numCache>
                <c:formatCode>0.00%</c:formatCode>
                <c:ptCount val="5"/>
                <c:pt idx="0">
                  <c:v>1.057E-2</c:v>
                </c:pt>
                <c:pt idx="1">
                  <c:v>8.4629999999999997E-2</c:v>
                </c:pt>
                <c:pt idx="2">
                  <c:v>8.6029999999999995E-2</c:v>
                </c:pt>
                <c:pt idx="3">
                  <c:v>8.8660000000000003E-2</c:v>
                </c:pt>
                <c:pt idx="4">
                  <c:v>3.3829999999999999E-2</c:v>
                </c:pt>
              </c:numCache>
              <c:extLst/>
            </c:numRef>
          </c:val>
          <c:extLst>
            <c:ext xmlns:c16="http://schemas.microsoft.com/office/drawing/2014/chart" uri="{C3380CC4-5D6E-409C-BE32-E72D297353CC}">
              <c16:uniqueId val="{00000002-36A1-4973-AFBF-7F8A038361BF}"/>
            </c:ext>
          </c:extLst>
        </c:ser>
        <c:dLbls>
          <c:showLegendKey val="0"/>
          <c:showVal val="0"/>
          <c:showCatName val="0"/>
          <c:showSerName val="0"/>
          <c:showPercent val="0"/>
          <c:showBubbleSize val="0"/>
        </c:dLbls>
        <c:gapWidth val="61"/>
        <c:overlap val="-1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0.20573196013541786"/>
          <c:y val="0"/>
          <c:w val="0.68067554809153907"/>
          <c:h val="6.6246141908920114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9559609424648072"/>
          <c:y val="9.9847787548336189E-2"/>
          <c:w val="0.77186900869437114"/>
          <c:h val="0.75056688911762803"/>
        </c:manualLayout>
      </c:layout>
      <c:lineChart>
        <c:grouping val="standard"/>
        <c:varyColors val="0"/>
        <c:ser>
          <c:idx val="0"/>
          <c:order val="0"/>
          <c:spPr>
            <a:ln w="34925">
              <a:solidFill>
                <a:srgbClr val="106280"/>
              </a:solidFill>
            </a:ln>
          </c:spPr>
          <c:marker>
            <c:symbol val="diamond"/>
            <c:size val="9"/>
            <c:spPr>
              <a:solidFill>
                <a:srgbClr val="106280"/>
              </a:solidFill>
              <a:ln>
                <a:solidFill>
                  <a:srgbClr val="106280"/>
                </a:solidFill>
              </a:ln>
            </c:spPr>
          </c:marker>
          <c:dLbls>
            <c:dLbl>
              <c:idx val="0"/>
              <c:layout>
                <c:manualLayout>
                  <c:x val="-2.1618449379220857E-2"/>
                  <c:y val="6.37616544580720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928-4C61-968B-E5C77A14EDC2}"/>
                </c:ext>
              </c:extLst>
            </c:dLbl>
            <c:dLbl>
              <c:idx val="1"/>
              <c:delete val="1"/>
              <c:extLst>
                <c:ext xmlns:c15="http://schemas.microsoft.com/office/drawing/2012/chart" uri="{CE6537A1-D6FC-4f65-9D91-7224C49458BB}"/>
                <c:ext xmlns:c16="http://schemas.microsoft.com/office/drawing/2014/chart" uri="{C3380CC4-5D6E-409C-BE32-E72D297353CC}">
                  <c16:uniqueId val="{00000001-5928-4C61-968B-E5C77A14EDC2}"/>
                </c:ext>
              </c:extLst>
            </c:dLbl>
            <c:dLbl>
              <c:idx val="2"/>
              <c:delete val="1"/>
              <c:extLst>
                <c:ext xmlns:c15="http://schemas.microsoft.com/office/drawing/2012/chart" uri="{CE6537A1-D6FC-4f65-9D91-7224C49458BB}"/>
                <c:ext xmlns:c16="http://schemas.microsoft.com/office/drawing/2014/chart" uri="{C3380CC4-5D6E-409C-BE32-E72D297353CC}">
                  <c16:uniqueId val="{00000002-5928-4C61-968B-E5C77A14EDC2}"/>
                </c:ext>
              </c:extLst>
            </c:dLbl>
            <c:dLbl>
              <c:idx val="3"/>
              <c:delete val="1"/>
              <c:extLst>
                <c:ext xmlns:c15="http://schemas.microsoft.com/office/drawing/2012/chart" uri="{CE6537A1-D6FC-4f65-9D91-7224C49458BB}"/>
                <c:ext xmlns:c16="http://schemas.microsoft.com/office/drawing/2014/chart" uri="{C3380CC4-5D6E-409C-BE32-E72D297353CC}">
                  <c16:uniqueId val="{00000003-5928-4C61-968B-E5C77A14EDC2}"/>
                </c:ext>
              </c:extLst>
            </c:dLbl>
            <c:dLbl>
              <c:idx val="4"/>
              <c:layout>
                <c:manualLayout>
                  <c:x val="-7.2704237812970002E-2"/>
                  <c:y val="-6.37695355104740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928-4C61-968B-E5C77A14EDC2}"/>
                </c:ext>
              </c:extLst>
            </c:dLbl>
            <c:dLbl>
              <c:idx val="5"/>
              <c:delete val="1"/>
              <c:extLst>
                <c:ext xmlns:c15="http://schemas.microsoft.com/office/drawing/2012/chart" uri="{CE6537A1-D6FC-4f65-9D91-7224C49458BB}"/>
                <c:ext xmlns:c16="http://schemas.microsoft.com/office/drawing/2014/chart" uri="{C3380CC4-5D6E-409C-BE32-E72D297353CC}">
                  <c16:uniqueId val="{00000005-5928-4C61-968B-E5C77A14EDC2}"/>
                </c:ext>
              </c:extLst>
            </c:dLbl>
            <c:dLbl>
              <c:idx val="6"/>
              <c:layout>
                <c:manualLayout>
                  <c:x val="-3.0093824012738927E-3"/>
                  <c:y val="-7.80434937452078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928-4C61-968B-E5C77A14EDC2}"/>
                </c:ext>
              </c:extLst>
            </c:dLbl>
            <c:dLbl>
              <c:idx val="7"/>
              <c:delete val="1"/>
              <c:extLst>
                <c:ext xmlns:c15="http://schemas.microsoft.com/office/drawing/2012/chart" uri="{CE6537A1-D6FC-4f65-9D91-7224C49458BB}"/>
                <c:ext xmlns:c16="http://schemas.microsoft.com/office/drawing/2014/chart" uri="{C3380CC4-5D6E-409C-BE32-E72D297353CC}">
                  <c16:uniqueId val="{00000007-5928-4C61-968B-E5C77A14EDC2}"/>
                </c:ext>
              </c:extLst>
            </c:dLbl>
            <c:dLbl>
              <c:idx val="8"/>
              <c:delete val="1"/>
              <c:extLst>
                <c:ext xmlns:c15="http://schemas.microsoft.com/office/drawing/2012/chart" uri="{CE6537A1-D6FC-4f65-9D91-7224C49458BB}"/>
                <c:ext xmlns:c16="http://schemas.microsoft.com/office/drawing/2014/chart" uri="{C3380CC4-5D6E-409C-BE32-E72D297353CC}">
                  <c16:uniqueId val="{00000008-5928-4C61-968B-E5C77A14EDC2}"/>
                </c:ext>
              </c:extLst>
            </c:dLbl>
            <c:dLbl>
              <c:idx val="9"/>
              <c:layout>
                <c:manualLayout>
                  <c:x val="-2.4662950839010402E-2"/>
                  <c:y val="7.8641644325290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928-4C61-968B-E5C77A14EDC2}"/>
                </c:ext>
              </c:extLst>
            </c:dLbl>
            <c:dLbl>
              <c:idx val="10"/>
              <c:delete val="1"/>
              <c:extLst>
                <c:ext xmlns:c15="http://schemas.microsoft.com/office/drawing/2012/chart" uri="{CE6537A1-D6FC-4f65-9D91-7224C49458BB}"/>
                <c:ext xmlns:c16="http://schemas.microsoft.com/office/drawing/2014/chart" uri="{C3380CC4-5D6E-409C-BE32-E72D297353CC}">
                  <c16:uniqueId val="{0000000A-5928-4C61-968B-E5C77A14EDC2}"/>
                </c:ext>
              </c:extLst>
            </c:dLbl>
            <c:dLbl>
              <c:idx val="11"/>
              <c:delete val="1"/>
              <c:extLst>
                <c:ext xmlns:c15="http://schemas.microsoft.com/office/drawing/2012/chart" uri="{CE6537A1-D6FC-4f65-9D91-7224C49458BB}"/>
                <c:ext xmlns:c16="http://schemas.microsoft.com/office/drawing/2014/chart" uri="{C3380CC4-5D6E-409C-BE32-E72D297353CC}">
                  <c16:uniqueId val="{0000000B-5928-4C61-968B-E5C77A14EDC2}"/>
                </c:ext>
              </c:extLst>
            </c:dLbl>
            <c:dLbl>
              <c:idx val="12"/>
              <c:layout>
                <c:manualLayout>
                  <c:x val="-2.7878380370992953E-2"/>
                  <c:y val="-5.978847818285452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928-4C61-968B-E5C77A14EDC2}"/>
                </c:ext>
              </c:extLst>
            </c:dLbl>
            <c:numFmt formatCode="&quot;$&quot;#,##0" sourceLinked="0"/>
            <c:spPr>
              <a:noFill/>
              <a:ln>
                <a:noFill/>
              </a:ln>
              <a:effectLst/>
            </c:spPr>
            <c:txPr>
              <a:bodyPr wrap="square" lIns="38100" tIns="19050" rIns="38100" bIns="19050" anchor="ctr">
                <a:spAutoFit/>
              </a:bodyPr>
              <a:lstStyle/>
              <a:p>
                <a:pPr>
                  <a:defRPr sz="1200">
                    <a:latin typeface="Poppins "/>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'Roll Forward'!$A$5:$A$17</c:f>
              <c:numCache>
                <c:formatCode>m/d/yyyy</c:formatCode>
                <c:ptCount val="13"/>
                <c:pt idx="0">
                  <c:v>43951</c:v>
                </c:pt>
                <c:pt idx="1">
                  <c:v>43982</c:v>
                </c:pt>
                <c:pt idx="2">
                  <c:v>44012</c:v>
                </c:pt>
                <c:pt idx="3">
                  <c:v>44043</c:v>
                </c:pt>
                <c:pt idx="4">
                  <c:v>44074</c:v>
                </c:pt>
                <c:pt idx="5">
                  <c:v>44104</c:v>
                </c:pt>
                <c:pt idx="6">
                  <c:v>44135</c:v>
                </c:pt>
                <c:pt idx="7">
                  <c:v>44165</c:v>
                </c:pt>
                <c:pt idx="8">
                  <c:v>44196</c:v>
                </c:pt>
                <c:pt idx="9">
                  <c:v>44227</c:v>
                </c:pt>
                <c:pt idx="10">
                  <c:v>44255</c:v>
                </c:pt>
                <c:pt idx="11">
                  <c:v>44286</c:v>
                </c:pt>
                <c:pt idx="12">
                  <c:v>44316</c:v>
                </c:pt>
              </c:numCache>
            </c:numRef>
          </c:cat>
          <c:val>
            <c:numRef>
              <c:f>'Roll Forward'!$B$5:$B$17</c:f>
              <c:numCache>
                <c:formatCode>"$"#,##0</c:formatCode>
                <c:ptCount val="13"/>
                <c:pt idx="0">
                  <c:v>1874049.89</c:v>
                </c:pt>
                <c:pt idx="1">
                  <c:v>1903391.4393</c:v>
                </c:pt>
                <c:pt idx="2">
                  <c:v>1914632.7682</c:v>
                </c:pt>
                <c:pt idx="3">
                  <c:v>1941059.8307</c:v>
                </c:pt>
                <c:pt idx="4">
                  <c:v>1960027.9902999999</c:v>
                </c:pt>
                <c:pt idx="5">
                  <c:v>1945136.4535999999</c:v>
                </c:pt>
                <c:pt idx="6">
                  <c:v>2514769.5162999998</c:v>
                </c:pt>
                <c:pt idx="7">
                  <c:v>2586915.2886000001</c:v>
                </c:pt>
                <c:pt idx="8">
                  <c:v>2623305.1192000001</c:v>
                </c:pt>
                <c:pt idx="9">
                  <c:v>2650994.6647000001</c:v>
                </c:pt>
                <c:pt idx="10">
                  <c:v>2670079.3509</c:v>
                </c:pt>
                <c:pt idx="11">
                  <c:v>2683920.2067999998</c:v>
                </c:pt>
                <c:pt idx="12">
                  <c:v>2728771.5967999999</c:v>
                </c:pt>
              </c:numCache>
            </c:numRef>
          </c:val>
          <c:smooth val="0"/>
          <c:extLst>
            <c:ext xmlns:c16="http://schemas.microsoft.com/office/drawing/2014/chart" uri="{C3380CC4-5D6E-409C-BE32-E72D297353CC}">
              <c16:uniqueId val="{0000000D-5928-4C61-968B-E5C77A14EDC2}"/>
            </c:ext>
          </c:extLst>
        </c:ser>
        <c:dLbls>
          <c:showLegendKey val="0"/>
          <c:showVal val="0"/>
          <c:showCatName val="0"/>
          <c:showSerName val="0"/>
          <c:showPercent val="0"/>
          <c:showBubbleSize val="0"/>
        </c:dLbls>
        <c:marker val="1"/>
        <c:smooth val="0"/>
        <c:axId val="-571536160"/>
        <c:axId val="-571536704"/>
      </c:lineChart>
      <c:dateAx>
        <c:axId val="-571536160"/>
        <c:scaling>
          <c:orientation val="minMax"/>
        </c:scaling>
        <c:delete val="0"/>
        <c:axPos val="b"/>
        <c:numFmt formatCode="[$-409]mmm\-yy;@" sourceLinked="0"/>
        <c:majorTickMark val="out"/>
        <c:minorTickMark val="none"/>
        <c:tickLblPos val="low"/>
        <c:txPr>
          <a:bodyPr/>
          <a:lstStyle/>
          <a:p>
            <a:pPr>
              <a:defRPr sz="1100" b="0" cap="all" baseline="0">
                <a:solidFill>
                  <a:schemeClr val="bg1">
                    <a:lumMod val="50000"/>
                  </a:schemeClr>
                </a:solidFill>
                <a:latin typeface="Poppins Medium" panose="00000600000000000000" pitchFamily="2" charset="0"/>
                <a:cs typeface="Poppins Medium" panose="00000600000000000000" pitchFamily="2" charset="0"/>
              </a:defRPr>
            </a:pPr>
            <a:endParaRPr lang="en-US"/>
          </a:p>
        </c:txPr>
        <c:crossAx val="-571536704"/>
        <c:crosses val="autoZero"/>
        <c:auto val="1"/>
        <c:lblOffset val="100"/>
        <c:baseTimeUnit val="months"/>
        <c:majorUnit val="2"/>
        <c:majorTimeUnit val="months"/>
      </c:dateAx>
      <c:valAx>
        <c:axId val="-571536704"/>
        <c:scaling>
          <c:orientation val="minMax"/>
          <c:max val="3500000"/>
          <c:min val="1000000"/>
        </c:scaling>
        <c:delete val="0"/>
        <c:axPos val="l"/>
        <c:title>
          <c:tx>
            <c:rich>
              <a:bodyPr rot="-5400000" vert="horz"/>
              <a:lstStyle/>
              <a:p>
                <a:pPr marL="0" algn="l" defTabSz="457200" rtl="0" eaLnBrk="1" latinLnBrk="0" hangingPunct="1">
                  <a:defRPr lang="en-US" sz="1250" kern="1200" dirty="0">
                    <a:solidFill>
                      <a:schemeClr val="bg1">
                        <a:lumMod val="50000"/>
                      </a:schemeClr>
                    </a:solidFill>
                    <a:latin typeface="Poppins SemiBold" panose="00000700000000000000" pitchFamily="2" charset="0"/>
                    <a:ea typeface="+mn-ea"/>
                    <a:cs typeface="Poppins SemiBold" panose="00000700000000000000" pitchFamily="2" charset="0"/>
                  </a:defRPr>
                </a:pPr>
                <a:r>
                  <a:rPr lang="en-US" sz="1250" kern="1200">
                    <a:solidFill>
                      <a:schemeClr val="bg1">
                        <a:lumMod val="50000"/>
                      </a:schemeClr>
                    </a:solidFill>
                    <a:latin typeface="Poppins SemiBold" panose="00000700000000000000" pitchFamily="2" charset="0"/>
                    <a:ea typeface="+mn-ea"/>
                    <a:cs typeface="Poppins SemiBold" panose="00000700000000000000" pitchFamily="2" charset="0"/>
                  </a:rPr>
                  <a:t>BASE MARKET VALUE + ACCRUED</a:t>
                </a:r>
              </a:p>
            </c:rich>
          </c:tx>
          <c:layout>
            <c:manualLayout>
              <c:xMode val="edge"/>
              <c:yMode val="edge"/>
              <c:x val="6.9576432794387936E-3"/>
              <c:y val="7.4558789165535599E-2"/>
            </c:manualLayout>
          </c:layout>
          <c:overlay val="0"/>
        </c:title>
        <c:numFmt formatCode="&quot;$&quot;#,##0" sourceLinked="0"/>
        <c:majorTickMark val="none"/>
        <c:minorTickMark val="none"/>
        <c:tickLblPos val="nextTo"/>
        <c:txPr>
          <a:bodyPr/>
          <a:lstStyle/>
          <a:p>
            <a:pPr>
              <a:defRPr sz="1100" b="0">
                <a:solidFill>
                  <a:schemeClr val="bg1">
                    <a:lumMod val="50000"/>
                  </a:schemeClr>
                </a:solidFill>
                <a:latin typeface="Poppins Medium" panose="00000600000000000000" pitchFamily="2" charset="0"/>
                <a:cs typeface="Poppins Medium" panose="00000600000000000000" pitchFamily="2" charset="0"/>
              </a:defRPr>
            </a:pPr>
            <a:endParaRPr lang="en-US"/>
          </a:p>
        </c:txPr>
        <c:crossAx val="-571536160"/>
        <c:crosses val="autoZero"/>
        <c:crossBetween val="between"/>
      </c:valAx>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775643957068985"/>
          <c:y val="8.1956443808173629E-2"/>
          <c:w val="0.77200894757232352"/>
          <c:h val="0.77077341707977221"/>
        </c:manualLayout>
      </c:layout>
      <c:lineChart>
        <c:grouping val="standard"/>
        <c:varyColors val="0"/>
        <c:ser>
          <c:idx val="0"/>
          <c:order val="0"/>
          <c:tx>
            <c:strRef>
              <c:f>'REFERENCING UG SHEET'!$D$60</c:f>
              <c:strCache>
                <c:ptCount val="1"/>
                <c:pt idx="0">
                  <c:v>Base Market Value + Accrued</c:v>
                </c:pt>
              </c:strCache>
            </c:strRef>
          </c:tx>
          <c:spPr>
            <a:ln>
              <a:solidFill>
                <a:srgbClr val="106280"/>
              </a:solidFill>
            </a:ln>
          </c:spPr>
          <c:marker>
            <c:symbol val="square"/>
            <c:size val="7"/>
            <c:spPr>
              <a:solidFill>
                <a:srgbClr val="106280"/>
              </a:solidFill>
              <a:ln>
                <a:noFill/>
              </a:ln>
            </c:spPr>
          </c:marker>
          <c:dLbls>
            <c:dLbl>
              <c:idx val="0"/>
              <c:layout>
                <c:manualLayout>
                  <c:x val="-3.5548926655487256E-2"/>
                  <c:y val="5.8864426128893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C71-4F7F-818E-9E7826B72C38}"/>
                </c:ext>
              </c:extLst>
            </c:dLbl>
            <c:dLbl>
              <c:idx val="2"/>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C71-4F7F-818E-9E7826B72C38}"/>
                </c:ext>
              </c:extLst>
            </c:dLbl>
            <c:dLbl>
              <c:idx val="6"/>
              <c:delete val="1"/>
              <c:extLst>
                <c:ext xmlns:c15="http://schemas.microsoft.com/office/drawing/2012/chart" uri="{CE6537A1-D6FC-4f65-9D91-7224C49458BB}"/>
                <c:ext xmlns:c16="http://schemas.microsoft.com/office/drawing/2014/chart" uri="{C3380CC4-5D6E-409C-BE32-E72D297353CC}">
                  <c16:uniqueId val="{00000003-CC71-4F7F-818E-9E7826B72C38}"/>
                </c:ext>
              </c:extLst>
            </c:dLbl>
            <c:dLbl>
              <c:idx val="7"/>
              <c:layout>
                <c:manualLayout>
                  <c:x val="-7.0033949430188647E-2"/>
                  <c:y val="-6.630184218189327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C71-4F7F-818E-9E7826B72C38}"/>
                </c:ext>
              </c:extLst>
            </c:dLbl>
            <c:dLbl>
              <c:idx val="10"/>
              <c:delete val="1"/>
              <c:extLst>
                <c:ext xmlns:c15="http://schemas.microsoft.com/office/drawing/2012/chart" uri="{CE6537A1-D6FC-4f65-9D91-7224C49458BB}"/>
                <c:ext xmlns:c16="http://schemas.microsoft.com/office/drawing/2014/chart" uri="{C3380CC4-5D6E-409C-BE32-E72D297353CC}">
                  <c16:uniqueId val="{00000005-CC71-4F7F-818E-9E7826B72C38}"/>
                </c:ext>
              </c:extLst>
            </c:dLbl>
            <c:dLbl>
              <c:idx val="12"/>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C71-4F7F-818E-9E7826B72C38}"/>
                </c:ext>
              </c:extLst>
            </c:dLbl>
            <c:spPr>
              <a:noFill/>
              <a:ln>
                <a:noFill/>
              </a:ln>
              <a:effectLst/>
            </c:spPr>
            <c:txPr>
              <a:bodyPr wrap="square" lIns="38100" tIns="19050" rIns="38100" bIns="19050" anchor="ctr" anchorCtr="0">
                <a:spAutoFit/>
              </a:bodyPr>
              <a:lstStyle/>
              <a:p>
                <a:pPr algn="ctr" rtl="0">
                  <a:defRPr lang="en-US" sz="1200" b="0" i="0" u="none" strike="noStrike" kern="1200" baseline="0">
                    <a:solidFill>
                      <a:sysClr val="windowText" lastClr="000000"/>
                    </a:solidFill>
                    <a:latin typeface="Poppins" panose="00000500000000000000" pitchFamily="2" charset="0"/>
                    <a:ea typeface="+mn-ea"/>
                    <a:cs typeface="Poppins" panose="00000500000000000000" pitchFamily="2" charset="0"/>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numRef>
              <c:f>'REFERENCING UG SHEET'!$C$62:$C$74</c:f>
              <c:numCache>
                <c:formatCode>m/d/yyyy</c:formatCode>
                <c:ptCount val="13"/>
                <c:pt idx="0">
                  <c:v>45596</c:v>
                </c:pt>
                <c:pt idx="1">
                  <c:v>45626</c:v>
                </c:pt>
                <c:pt idx="2">
                  <c:v>45657</c:v>
                </c:pt>
                <c:pt idx="3">
                  <c:v>45688</c:v>
                </c:pt>
                <c:pt idx="4">
                  <c:v>45716</c:v>
                </c:pt>
                <c:pt idx="5">
                  <c:v>45747</c:v>
                </c:pt>
                <c:pt idx="6">
                  <c:v>45777</c:v>
                </c:pt>
                <c:pt idx="7">
                  <c:v>45808</c:v>
                </c:pt>
                <c:pt idx="8">
                  <c:v>45838</c:v>
                </c:pt>
                <c:pt idx="9">
                  <c:v>45869</c:v>
                </c:pt>
                <c:pt idx="10">
                  <c:v>45900</c:v>
                </c:pt>
                <c:pt idx="11">
                  <c:v>45930</c:v>
                </c:pt>
                <c:pt idx="12">
                  <c:v>45957</c:v>
                </c:pt>
              </c:numCache>
            </c:numRef>
          </c:cat>
          <c:val>
            <c:numRef>
              <c:f>'REFERENCING UG SHEET'!$D$62:$D$74</c:f>
              <c:numCache>
                <c:formatCode>"$"#,##0</c:formatCode>
                <c:ptCount val="13"/>
                <c:pt idx="0">
                  <c:v>99743732.849999994</c:v>
                </c:pt>
                <c:pt idx="1">
                  <c:v>101676259.53</c:v>
                </c:pt>
                <c:pt idx="2">
                  <c:v>131361743.11</c:v>
                </c:pt>
                <c:pt idx="3">
                  <c:v>133086622.55</c:v>
                </c:pt>
                <c:pt idx="4">
                  <c:v>133778095.42</c:v>
                </c:pt>
                <c:pt idx="5">
                  <c:v>142574565.97</c:v>
                </c:pt>
                <c:pt idx="6">
                  <c:v>142817166.52000001</c:v>
                </c:pt>
                <c:pt idx="7">
                  <c:v>156823914.91999999</c:v>
                </c:pt>
                <c:pt idx="8">
                  <c:v>159673130.38</c:v>
                </c:pt>
                <c:pt idx="9">
                  <c:v>164569373.41</c:v>
                </c:pt>
                <c:pt idx="10">
                  <c:v>172233753.27000001</c:v>
                </c:pt>
                <c:pt idx="11">
                  <c:v>173813228.09</c:v>
                </c:pt>
                <c:pt idx="12">
                  <c:v>175643852.08000001</c:v>
                </c:pt>
              </c:numCache>
            </c:numRef>
          </c:val>
          <c:smooth val="0"/>
          <c:extLst>
            <c:ext xmlns:c16="http://schemas.microsoft.com/office/drawing/2014/chart" uri="{C3380CC4-5D6E-409C-BE32-E72D297353CC}">
              <c16:uniqueId val="{00000007-CC71-4F7F-818E-9E7826B72C38}"/>
            </c:ext>
          </c:extLst>
        </c:ser>
        <c:dLbls>
          <c:showLegendKey val="0"/>
          <c:showVal val="0"/>
          <c:showCatName val="0"/>
          <c:showSerName val="0"/>
          <c:showPercent val="0"/>
          <c:showBubbleSize val="0"/>
        </c:dLbls>
        <c:marker val="1"/>
        <c:smooth val="0"/>
        <c:axId val="-571536160"/>
        <c:axId val="-571536704"/>
      </c:lineChart>
      <c:dateAx>
        <c:axId val="-571536160"/>
        <c:scaling>
          <c:orientation val="minMax"/>
        </c:scaling>
        <c:delete val="0"/>
        <c:axPos val="b"/>
        <c:numFmt formatCode="[$-409]mmm\-yy;@" sourceLinked="0"/>
        <c:majorTickMark val="out"/>
        <c:minorTickMark val="none"/>
        <c:tickLblPos val="low"/>
        <c:txPr>
          <a:bodyPr/>
          <a:lstStyle/>
          <a:p>
            <a:pPr>
              <a:defRPr sz="1100" b="0" cap="all" baseline="0">
                <a:solidFill>
                  <a:schemeClr val="bg1">
                    <a:lumMod val="50000"/>
                  </a:schemeClr>
                </a:solidFill>
                <a:latin typeface="Poppins Medium" panose="00000600000000000000" pitchFamily="2" charset="0"/>
                <a:cs typeface="Poppins Medium" panose="00000600000000000000" pitchFamily="2" charset="0"/>
              </a:defRPr>
            </a:pPr>
            <a:endParaRPr lang="en-US"/>
          </a:p>
        </c:txPr>
        <c:crossAx val="-571536704"/>
        <c:crosses val="autoZero"/>
        <c:auto val="1"/>
        <c:lblOffset val="100"/>
        <c:baseTimeUnit val="months"/>
        <c:majorUnit val="2"/>
        <c:majorTimeUnit val="months"/>
      </c:dateAx>
      <c:valAx>
        <c:axId val="-571536704"/>
        <c:scaling>
          <c:orientation val="minMax"/>
          <c:max val="180000000"/>
          <c:min val="80000000"/>
        </c:scaling>
        <c:delete val="0"/>
        <c:axPos val="l"/>
        <c:title>
          <c:tx>
            <c:rich>
              <a:bodyPr rot="-5400000" vert="horz"/>
              <a:lstStyle/>
              <a:p>
                <a:pPr marL="0" algn="l" defTabSz="457200" rtl="0" eaLnBrk="1" latinLnBrk="0" hangingPunct="1">
                  <a:defRPr lang="en-US" sz="1250" kern="1200" dirty="0">
                    <a:solidFill>
                      <a:schemeClr val="bg1">
                        <a:lumMod val="50000"/>
                      </a:schemeClr>
                    </a:solidFill>
                    <a:latin typeface="Poppins SemiBold" panose="00000700000000000000" pitchFamily="2" charset="0"/>
                    <a:ea typeface="+mn-ea"/>
                    <a:cs typeface="Poppins SemiBold" panose="00000700000000000000" pitchFamily="2" charset="0"/>
                  </a:defRPr>
                </a:pPr>
                <a:r>
                  <a:rPr lang="en-US" sz="1250" kern="1200">
                    <a:solidFill>
                      <a:schemeClr val="bg1">
                        <a:lumMod val="50000"/>
                      </a:schemeClr>
                    </a:solidFill>
                    <a:latin typeface="Poppins SemiBold" panose="00000700000000000000" pitchFamily="2" charset="0"/>
                    <a:ea typeface="+mn-ea"/>
                    <a:cs typeface="Poppins SemiBold" panose="00000700000000000000" pitchFamily="2" charset="0"/>
                  </a:rPr>
                  <a:t>MARKET VALUE ($)</a:t>
                </a:r>
              </a:p>
            </c:rich>
          </c:tx>
          <c:layout>
            <c:manualLayout>
              <c:xMode val="edge"/>
              <c:yMode val="edge"/>
              <c:x val="2.6299552966382658E-3"/>
              <c:y val="0.23074679195712697"/>
            </c:manualLayout>
          </c:layout>
          <c:overlay val="0"/>
        </c:title>
        <c:numFmt formatCode="&quot;$&quot;#,##0" sourceLinked="0"/>
        <c:majorTickMark val="none"/>
        <c:minorTickMark val="none"/>
        <c:tickLblPos val="nextTo"/>
        <c:txPr>
          <a:bodyPr/>
          <a:lstStyle/>
          <a:p>
            <a:pPr>
              <a:defRPr sz="1100" b="0">
                <a:solidFill>
                  <a:schemeClr val="bg1">
                    <a:lumMod val="50000"/>
                  </a:schemeClr>
                </a:solidFill>
                <a:latin typeface="Poppins Medium" panose="00000600000000000000" pitchFamily="2" charset="0"/>
                <a:cs typeface="Poppins Medium" panose="00000600000000000000" pitchFamily="2" charset="0"/>
              </a:defRPr>
            </a:pPr>
            <a:endParaRPr lang="en-US"/>
          </a:p>
        </c:txPr>
        <c:crossAx val="-571536160"/>
        <c:crosses val="autoZero"/>
        <c:crossBetween val="between"/>
        <c:majorUnit val="20000000"/>
      </c:valAx>
      <c:spPr>
        <a:ln>
          <a:noFill/>
        </a:ln>
      </c:spPr>
    </c:plotArea>
    <c:plotVisOnly val="1"/>
    <c:dispBlanksAs val="gap"/>
    <c:showDLblsOverMax val="0"/>
  </c:chart>
  <c:spPr>
    <a:noFill/>
    <a:ln>
      <a:noFill/>
    </a:ln>
  </c:spPr>
  <c:txPr>
    <a:bodyPr/>
    <a:lstStyle/>
    <a:p>
      <a:pPr>
        <a:defRPr>
          <a:latin typeface="+mn-lt"/>
        </a:defRPr>
      </a:pPr>
      <a:endParaRPr lang="en-US"/>
    </a:p>
  </c:txPr>
  <c:externalData r:id="rId2">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1291710367319613"/>
          <c:y val="8.84518210962561E-2"/>
          <c:w val="0.87598209946102412"/>
          <c:h val="0.72382234062889961"/>
        </c:manualLayout>
      </c:layout>
      <c:barChart>
        <c:barDir val="col"/>
        <c:grouping val="clustered"/>
        <c:varyColors val="0"/>
        <c:ser>
          <c:idx val="0"/>
          <c:order val="0"/>
          <c:tx>
            <c:strRef>
              <c:f>'Performance '!$C$3</c:f>
              <c:strCache>
                <c:ptCount val="1"/>
                <c:pt idx="0">
                  <c:v>GROSS OF ADVISORY FEE</c:v>
                </c:pt>
              </c:strCache>
            </c:strRef>
          </c:tx>
          <c:spPr>
            <a:solidFill>
              <a:srgbClr val="2B3E59"/>
            </a:solidFill>
          </c:spPr>
          <c:invertIfNegative val="0"/>
          <c:dLbls>
            <c:spPr>
              <a:noFill/>
              <a:ln w="25400">
                <a:noFill/>
              </a:ln>
            </c:spPr>
            <c:txPr>
              <a:bodyPr wrap="square" lIns="38100" tIns="19050" rIns="38100" bIns="19050" anchor="ctr" anchorCtr="0">
                <a:spAutoFit/>
              </a:bodyPr>
              <a:lstStyle/>
              <a:p>
                <a:pPr algn="ctr">
                  <a:defRPr lang="en-US" sz="1000" b="0" i="0" u="none" strike="noStrike" kern="1200" baseline="0">
                    <a:solidFill>
                      <a:schemeClr val="tx1">
                        <a:lumMod val="65000"/>
                        <a:lumOff val="35000"/>
                      </a:schemeClr>
                    </a:solidFill>
                    <a:latin typeface="Poppins Medium" panose="00000600000000000000" pitchFamily="2" charset="0"/>
                    <a:ea typeface="Calibri"/>
                    <a:cs typeface="Poppins Medium" panose="00000600000000000000" pitchFamily="2"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'Performance '!$B$4:$B$11</c:f>
              <c:strCache>
                <c:ptCount val="3"/>
                <c:pt idx="0">
                  <c:v>Q2</c:v>
                </c:pt>
                <c:pt idx="1">
                  <c:v>Q3 QTD</c:v>
                </c:pt>
                <c:pt idx="2">
                  <c:v>SINCE INCEPTION (3/15/2021)</c:v>
                </c:pt>
              </c:strCache>
            </c:strRef>
          </c:cat>
          <c:val>
            <c:numRef>
              <c:f>'Performance '!$C$4:$C$11</c:f>
              <c:numCache>
                <c:formatCode>0.00%</c:formatCode>
                <c:ptCount val="3"/>
                <c:pt idx="0">
                  <c:v>1.6199999999999999E-2</c:v>
                </c:pt>
                <c:pt idx="1">
                  <c:v>6.2500000000000003E-3</c:v>
                </c:pt>
                <c:pt idx="2">
                  <c:v>2.121E-2</c:v>
                </c:pt>
              </c:numCache>
            </c:numRef>
          </c:val>
          <c:extLst xmlns:c15="http://schemas.microsoft.com/office/drawing/2012/chart">
            <c:ext xmlns:c16="http://schemas.microsoft.com/office/drawing/2014/chart" uri="{C3380CC4-5D6E-409C-BE32-E72D297353CC}">
              <c16:uniqueId val="{00000000-D681-4591-A2F2-99605F1C9559}"/>
            </c:ext>
          </c:extLst>
        </c:ser>
        <c:ser>
          <c:idx val="2"/>
          <c:order val="1"/>
          <c:tx>
            <c:strRef>
              <c:f>'Performance '!$D$3</c:f>
              <c:strCache>
                <c:ptCount val="1"/>
                <c:pt idx="0">
                  <c:v>NET OF ADVISORY FEE</c:v>
                </c:pt>
              </c:strCache>
            </c:strRef>
          </c:tx>
          <c:spPr>
            <a:solidFill>
              <a:srgbClr val="0C7EA8"/>
            </a:solidFill>
          </c:spPr>
          <c:invertIfNegative val="0"/>
          <c:dLbls>
            <c:spPr>
              <a:noFill/>
              <a:ln w="25400">
                <a:noFill/>
              </a:ln>
            </c:spPr>
            <c:txPr>
              <a:bodyPr wrap="square" lIns="38100" tIns="19050" rIns="38100" bIns="19050" anchor="ctr" anchorCtr="0">
                <a:spAutoFit/>
              </a:bodyPr>
              <a:lstStyle/>
              <a:p>
                <a:pPr algn="ctr">
                  <a:defRPr lang="en-US" sz="1000" b="0" i="0" u="none" strike="noStrike" kern="1200" baseline="0">
                    <a:solidFill>
                      <a:schemeClr val="tx1">
                        <a:lumMod val="65000"/>
                        <a:lumOff val="35000"/>
                      </a:schemeClr>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'Performance '!$B$4:$B$11</c:f>
              <c:strCache>
                <c:ptCount val="3"/>
                <c:pt idx="0">
                  <c:v>Q2</c:v>
                </c:pt>
                <c:pt idx="1">
                  <c:v>Q3 QTD</c:v>
                </c:pt>
                <c:pt idx="2">
                  <c:v>SINCE INCEPTION (3/15/2021)</c:v>
                </c:pt>
              </c:strCache>
            </c:strRef>
          </c:cat>
          <c:val>
            <c:numRef>
              <c:f>'Performance '!$D$4:$D$11</c:f>
              <c:numCache>
                <c:formatCode>0.00%</c:formatCode>
                <c:ptCount val="3"/>
                <c:pt idx="0">
                  <c:v>1.54E-2</c:v>
                </c:pt>
                <c:pt idx="1">
                  <c:v>6.0400000000000002E-3</c:v>
                </c:pt>
                <c:pt idx="2">
                  <c:v>2.0119999999999999E-2</c:v>
                </c:pt>
              </c:numCache>
            </c:numRef>
          </c:val>
          <c:extLst>
            <c:ext xmlns:c16="http://schemas.microsoft.com/office/drawing/2014/chart" uri="{C3380CC4-5D6E-409C-BE32-E72D297353CC}">
              <c16:uniqueId val="{00000001-D681-4591-A2F2-99605F1C9559}"/>
            </c:ext>
          </c:extLst>
        </c:ser>
        <c:ser>
          <c:idx val="1"/>
          <c:order val="2"/>
          <c:tx>
            <c:strRef>
              <c:f>'Performance '!$E$3</c:f>
              <c:strCache>
                <c:ptCount val="1"/>
                <c:pt idx="0">
                  <c:v>INDEX</c:v>
                </c:pt>
              </c:strCache>
            </c:strRef>
          </c:tx>
          <c:spPr>
            <a:solidFill>
              <a:srgbClr val="75A5B4"/>
            </a:solidFill>
          </c:spPr>
          <c:invertIfNegative val="0"/>
          <c:dLbls>
            <c:spPr>
              <a:noFill/>
              <a:ln w="25400">
                <a:noFill/>
              </a:ln>
            </c:spPr>
            <c:txPr>
              <a:bodyPr wrap="square" lIns="38100" tIns="19050" rIns="38100" bIns="19050" anchor="ctr" anchorCtr="0">
                <a:spAutoFit/>
              </a:bodyPr>
              <a:lstStyle/>
              <a:p>
                <a:pPr algn="ctr">
                  <a:defRPr lang="en-US" sz="1000" b="0" i="0" u="none" strike="noStrike" kern="1200" baseline="0">
                    <a:solidFill>
                      <a:schemeClr val="tx1">
                        <a:lumMod val="65000"/>
                        <a:lumOff val="35000"/>
                      </a:schemeClr>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'Performance '!$B$4:$B$11</c:f>
              <c:strCache>
                <c:ptCount val="3"/>
                <c:pt idx="0">
                  <c:v>Q2</c:v>
                </c:pt>
                <c:pt idx="1">
                  <c:v>Q3 QTD</c:v>
                </c:pt>
                <c:pt idx="2">
                  <c:v>SINCE INCEPTION (3/15/2021)</c:v>
                </c:pt>
              </c:strCache>
            </c:strRef>
          </c:cat>
          <c:val>
            <c:numRef>
              <c:f>'Performance '!$E$4:$E$11</c:f>
              <c:numCache>
                <c:formatCode>0.00%</c:formatCode>
                <c:ptCount val="3"/>
                <c:pt idx="0">
                  <c:v>1.4200000000000001E-2</c:v>
                </c:pt>
                <c:pt idx="1">
                  <c:v>7.3200000000000001E-3</c:v>
                </c:pt>
                <c:pt idx="2">
                  <c:v>2.061E-2</c:v>
                </c:pt>
              </c:numCache>
            </c:numRef>
          </c:val>
          <c:extLst>
            <c:ext xmlns:c16="http://schemas.microsoft.com/office/drawing/2014/chart" uri="{C3380CC4-5D6E-409C-BE32-E72D297353CC}">
              <c16:uniqueId val="{00000002-D681-4591-A2F2-99605F1C9559}"/>
            </c:ext>
          </c:extLst>
        </c:ser>
        <c:dLbls>
          <c:showLegendKey val="0"/>
          <c:showVal val="0"/>
          <c:showCatName val="0"/>
          <c:showSerName val="0"/>
          <c:showPercent val="0"/>
          <c:showBubbleSize val="0"/>
        </c:dLbls>
        <c:gapWidth val="174"/>
        <c:overlap val="-18"/>
        <c:axId val="1106878872"/>
        <c:axId val="1"/>
        <c:extLst/>
      </c:barChart>
      <c:catAx>
        <c:axId val="1106878872"/>
        <c:scaling>
          <c:orientation val="minMax"/>
        </c:scaling>
        <c:delete val="0"/>
        <c:axPos val="b"/>
        <c:title>
          <c:tx>
            <c:rich>
              <a:bodyPr/>
              <a:lstStyle/>
              <a:p>
                <a:pPr algn="ctr" rtl="0">
                  <a:defRPr lang="en-US" sz="1300" b="0" i="0" u="none" strike="noStrike" kern="1200"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i="0" u="none" strike="noStrike" kern="1200" baseline="0">
                    <a:solidFill>
                      <a:schemeClr val="bg1">
                        <a:lumMod val="50000"/>
                      </a:schemeClr>
                    </a:solidFill>
                    <a:latin typeface="Poppins SemiBold" panose="00000700000000000000" pitchFamily="2" charset="0"/>
                    <a:ea typeface="Calibri"/>
                    <a:cs typeface="Poppins SemiBold" panose="00000700000000000000" pitchFamily="2" charset="0"/>
                  </a:rPr>
                  <a:t>PERFORMANCE TIME PERIOD</a:t>
                </a:r>
              </a:p>
            </c:rich>
          </c:tx>
          <c:layout>
            <c:manualLayout>
              <c:xMode val="edge"/>
              <c:yMode val="edge"/>
              <c:x val="0.41629543250028528"/>
              <c:y val="0.91982195728333749"/>
            </c:manualLayout>
          </c:layout>
          <c:overlay val="0"/>
        </c:title>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0"/>
              <c:y val="0.32166825295330742"/>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0.17167611490680534"/>
          <c:y val="6.7694144866962719E-4"/>
          <c:w val="0.76400767434390426"/>
          <c:h val="7.2206092721822088E-2"/>
        </c:manualLayout>
      </c:layout>
      <c:overlay val="0"/>
      <c:txPr>
        <a:bodyPr/>
        <a:lstStyle/>
        <a:p>
          <a:pPr>
            <a:defRPr sz="1100" b="0" i="0" u="none" strike="noStrike"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2">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291710367319613"/>
          <c:y val="8.84518210962561E-2"/>
          <c:w val="0.87598209946102412"/>
          <c:h val="0.75602135631914702"/>
        </c:manualLayout>
      </c:layout>
      <c:barChart>
        <c:barDir val="col"/>
        <c:grouping val="clustered"/>
        <c:varyColors val="0"/>
        <c:ser>
          <c:idx val="0"/>
          <c:order val="0"/>
          <c:tx>
            <c:strRef>
              <c:f>Performance!$C$3</c:f>
              <c:strCache>
                <c:ptCount val="1"/>
                <c:pt idx="0">
                  <c:v>GROSS OF ADVISORY FEE</c:v>
                </c:pt>
              </c:strCache>
            </c:strRef>
          </c:tx>
          <c:spPr>
            <a:solidFill>
              <a:srgbClr val="2B3E59"/>
            </a:solidFill>
          </c:spPr>
          <c:invertIfNegative val="0"/>
          <c:dLbls>
            <c:spPr>
              <a:noFill/>
              <a:ln w="25400">
                <a:noFill/>
              </a:ln>
            </c:spPr>
            <c:txPr>
              <a:bodyPr wrap="square" lIns="38100" tIns="19050" rIns="38100" bIns="19050" anchor="ctr" anchorCtr="0">
                <a:spAutoFit/>
              </a:bodyPr>
              <a:lstStyle/>
              <a:p>
                <a:pPr algn="ctr">
                  <a:defRPr lang="en-US" sz="1100" b="0" i="0" u="none" strike="noStrike" kern="1200" baseline="0">
                    <a:solidFill>
                      <a:schemeClr val="tx1">
                        <a:lumMod val="65000"/>
                        <a:lumOff val="35000"/>
                      </a:schemeClr>
                    </a:solidFill>
                    <a:latin typeface="Poppins Medium" panose="00000600000000000000" pitchFamily="2" charset="0"/>
                    <a:ea typeface="Calibri"/>
                    <a:cs typeface="Poppins Medium" panose="00000600000000000000" pitchFamily="2"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Performance!$B$5:$B$11</c:f>
              <c:strCache>
                <c:ptCount val="4"/>
                <c:pt idx="0">
                  <c:v>QTD</c:v>
                </c:pt>
                <c:pt idx="1">
                  <c:v>YTD</c:v>
                </c:pt>
                <c:pt idx="2">
                  <c:v>1 YR</c:v>
                </c:pt>
                <c:pt idx="3">
                  <c:v>SINCE INCEPTION 
(7/15/2020)</c:v>
                </c:pt>
              </c:strCache>
            </c:strRef>
          </c:cat>
          <c:val>
            <c:numRef>
              <c:f>Performance!$C$5:$C$11</c:f>
              <c:numCache>
                <c:formatCode>0.00%</c:formatCode>
                <c:ptCount val="4"/>
                <c:pt idx="0">
                  <c:v>1.174E-2</c:v>
                </c:pt>
                <c:pt idx="1">
                  <c:v>2.1850000000000001E-2</c:v>
                </c:pt>
                <c:pt idx="2">
                  <c:v>3.2030000000000003E-2</c:v>
                </c:pt>
                <c:pt idx="3">
                  <c:v>3.3349999999999998E-2</c:v>
                </c:pt>
              </c:numCache>
            </c:numRef>
          </c:val>
          <c:extLst xmlns:c15="http://schemas.microsoft.com/office/drawing/2012/chart">
            <c:ext xmlns:c16="http://schemas.microsoft.com/office/drawing/2014/chart" uri="{C3380CC4-5D6E-409C-BE32-E72D297353CC}">
              <c16:uniqueId val="{00000000-6958-4FDB-8706-CEB535B3E657}"/>
            </c:ext>
          </c:extLst>
        </c:ser>
        <c:ser>
          <c:idx val="2"/>
          <c:order val="1"/>
          <c:tx>
            <c:strRef>
              <c:f>Performance!$D$3</c:f>
              <c:strCache>
                <c:ptCount val="1"/>
                <c:pt idx="0">
                  <c:v>NET OF ADVISORY FEE</c:v>
                </c:pt>
              </c:strCache>
            </c:strRef>
          </c:tx>
          <c:spPr>
            <a:solidFill>
              <a:srgbClr val="0C7EA8"/>
            </a:solidFill>
          </c:spPr>
          <c:invertIfNegative val="0"/>
          <c:dLbls>
            <c:dLbl>
              <c:idx val="1"/>
              <c:layout>
                <c:manualLayout>
                  <c:x val="0"/>
                  <c:y val="5.7224597985934466E-3"/>
                </c:manualLayout>
              </c:layout>
              <c:spPr>
                <a:noFill/>
                <a:ln w="25400">
                  <a:noFill/>
                </a:ln>
              </c:spPr>
              <c:txPr>
                <a:bodyPr anchorCtr="0"/>
                <a:lstStyle/>
                <a:p>
                  <a:pPr algn="ctr">
                    <a:defRPr lang="en-US" sz="1100" b="0" i="0" u="none" strike="noStrike" kern="1200" baseline="0">
                      <a:solidFill>
                        <a:schemeClr val="tx1">
                          <a:lumMod val="65000"/>
                          <a:lumOff val="35000"/>
                        </a:schemeClr>
                      </a:solidFill>
                      <a:latin typeface="Poppins Medium" panose="00000600000000000000" pitchFamily="2" charset="0"/>
                      <a:ea typeface="Calibri"/>
                      <a:cs typeface="Poppins Medium" panose="00000600000000000000" pitchFamily="2"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958-4FDB-8706-CEB535B3E657}"/>
                </c:ext>
              </c:extLst>
            </c:dLbl>
            <c:spPr>
              <a:noFill/>
              <a:ln w="25400">
                <a:noFill/>
              </a:ln>
            </c:spPr>
            <c:txPr>
              <a:bodyPr wrap="square" lIns="38100" tIns="19050" rIns="38100" bIns="19050" anchor="ctr" anchorCtr="0">
                <a:spAutoFit/>
              </a:bodyPr>
              <a:lstStyle/>
              <a:p>
                <a:pPr algn="ctr">
                  <a:defRPr lang="en-US" sz="1100" b="0" i="0" u="none" strike="noStrike" kern="1200" baseline="0">
                    <a:solidFill>
                      <a:schemeClr val="tx1">
                        <a:lumMod val="65000"/>
                        <a:lumOff val="35000"/>
                      </a:schemeClr>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Performance!$B$5:$B$11</c:f>
              <c:strCache>
                <c:ptCount val="4"/>
                <c:pt idx="0">
                  <c:v>QTD</c:v>
                </c:pt>
                <c:pt idx="1">
                  <c:v>YTD</c:v>
                </c:pt>
                <c:pt idx="2">
                  <c:v>1 YR</c:v>
                </c:pt>
                <c:pt idx="3">
                  <c:v>SINCE INCEPTION 
(7/15/2020)</c:v>
                </c:pt>
              </c:strCache>
            </c:strRef>
          </c:cat>
          <c:val>
            <c:numRef>
              <c:f>Performance!$D$5:$D$11</c:f>
              <c:numCache>
                <c:formatCode>0.00%</c:formatCode>
                <c:ptCount val="4"/>
                <c:pt idx="0">
                  <c:v>1.1243827151506292E-2</c:v>
                </c:pt>
                <c:pt idx="1">
                  <c:v>1.9962514750843319E-2</c:v>
                </c:pt>
                <c:pt idx="2">
                  <c:v>2.9127374277210016E-2</c:v>
                </c:pt>
                <c:pt idx="3">
                  <c:v>3.0432622713968849E-2</c:v>
                </c:pt>
              </c:numCache>
            </c:numRef>
          </c:val>
          <c:extLst>
            <c:ext xmlns:c16="http://schemas.microsoft.com/office/drawing/2014/chart" uri="{C3380CC4-5D6E-409C-BE32-E72D297353CC}">
              <c16:uniqueId val="{00000002-6958-4FDB-8706-CEB535B3E657}"/>
            </c:ext>
          </c:extLst>
        </c:ser>
        <c:ser>
          <c:idx val="1"/>
          <c:order val="2"/>
          <c:tx>
            <c:strRef>
              <c:f>Performance!$E$3</c:f>
              <c:strCache>
                <c:ptCount val="1"/>
                <c:pt idx="0">
                  <c:v>INDEX</c:v>
                </c:pt>
              </c:strCache>
            </c:strRef>
          </c:tx>
          <c:spPr>
            <a:solidFill>
              <a:srgbClr val="75A5B4"/>
            </a:solidFill>
          </c:spPr>
          <c:invertIfNegative val="0"/>
          <c:dLbls>
            <c:dLbl>
              <c:idx val="1"/>
              <c:layout>
                <c:manualLayout>
                  <c:x val="-1.1942275665035647E-3"/>
                  <c:y val="4.6624506290770642E-3"/>
                </c:manualLayout>
              </c:layout>
              <c:spPr>
                <a:noFill/>
                <a:ln w="25400">
                  <a:noFill/>
                </a:ln>
              </c:spPr>
              <c:txPr>
                <a:bodyPr anchorCtr="0"/>
                <a:lstStyle/>
                <a:p>
                  <a:pPr algn="ctr">
                    <a:defRPr lang="en-US" sz="1100" b="0" i="0" u="none" strike="noStrike" kern="1200" baseline="0">
                      <a:solidFill>
                        <a:schemeClr val="tx1">
                          <a:lumMod val="65000"/>
                          <a:lumOff val="35000"/>
                        </a:schemeClr>
                      </a:solidFill>
                      <a:latin typeface="Poppins Medium" panose="00000600000000000000" pitchFamily="2" charset="0"/>
                      <a:ea typeface="Calibri"/>
                      <a:cs typeface="Poppins Medium" panose="00000600000000000000" pitchFamily="2"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958-4FDB-8706-CEB535B3E657}"/>
                </c:ext>
              </c:extLst>
            </c:dLbl>
            <c:spPr>
              <a:noFill/>
              <a:ln w="25400">
                <a:noFill/>
              </a:ln>
            </c:spPr>
            <c:txPr>
              <a:bodyPr wrap="square" lIns="38100" tIns="19050" rIns="38100" bIns="19050" anchor="ctr" anchorCtr="0">
                <a:spAutoFit/>
              </a:bodyPr>
              <a:lstStyle/>
              <a:p>
                <a:pPr algn="ctr">
                  <a:defRPr lang="en-US" sz="1100" b="0" i="0" u="none" strike="noStrike" kern="1200" baseline="0">
                    <a:solidFill>
                      <a:schemeClr val="tx1">
                        <a:lumMod val="65000"/>
                        <a:lumOff val="35000"/>
                      </a:schemeClr>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Performance!$B$5:$B$11</c:f>
              <c:strCache>
                <c:ptCount val="4"/>
                <c:pt idx="0">
                  <c:v>QTD</c:v>
                </c:pt>
                <c:pt idx="1">
                  <c:v>YTD</c:v>
                </c:pt>
                <c:pt idx="2">
                  <c:v>1 YR</c:v>
                </c:pt>
                <c:pt idx="3">
                  <c:v>SINCE INCEPTION 
(7/15/2020)</c:v>
                </c:pt>
              </c:strCache>
            </c:strRef>
          </c:cat>
          <c:val>
            <c:numRef>
              <c:f>Performance!$E$5:$E$11</c:f>
              <c:numCache>
                <c:formatCode>0.00%</c:formatCode>
                <c:ptCount val="4"/>
                <c:pt idx="0">
                  <c:v>9.620673290184234E-3</c:v>
                </c:pt>
                <c:pt idx="1">
                  <c:v>1.2418703912873807E-2</c:v>
                </c:pt>
                <c:pt idx="2">
                  <c:v>2.0808775061891494E-2</c:v>
                </c:pt>
                <c:pt idx="3">
                  <c:v>2.4828102918167394E-2</c:v>
                </c:pt>
              </c:numCache>
            </c:numRef>
          </c:val>
          <c:extLst>
            <c:ext xmlns:c16="http://schemas.microsoft.com/office/drawing/2014/chart" uri="{C3380CC4-5D6E-409C-BE32-E72D297353CC}">
              <c16:uniqueId val="{00000004-6958-4FDB-8706-CEB535B3E657}"/>
            </c:ext>
          </c:extLst>
        </c:ser>
        <c:dLbls>
          <c:showLegendKey val="0"/>
          <c:showVal val="0"/>
          <c:showCatName val="0"/>
          <c:showSerName val="0"/>
          <c:showPercent val="0"/>
          <c:showBubbleSize val="0"/>
        </c:dLbls>
        <c:gapWidth val="60"/>
        <c:overlap val="-18"/>
        <c:axId val="1106878872"/>
        <c:axId val="1"/>
        <c:extLst/>
      </c:barChart>
      <c:catAx>
        <c:axId val="1106878872"/>
        <c:scaling>
          <c:orientation val="minMax"/>
        </c:scaling>
        <c:delete val="0"/>
        <c:axPos val="b"/>
        <c:title>
          <c:tx>
            <c:rich>
              <a:bodyPr/>
              <a:lstStyle/>
              <a:p>
                <a:pPr algn="ctr" rtl="0">
                  <a:defRPr lang="en-US" sz="1300" b="0" i="0" u="none" strike="noStrike" kern="1200"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i="0" u="none" strike="noStrike" kern="1200" baseline="0">
                    <a:solidFill>
                      <a:schemeClr val="bg1">
                        <a:lumMod val="50000"/>
                      </a:schemeClr>
                    </a:solidFill>
                    <a:latin typeface="Poppins SemiBold" panose="00000700000000000000" pitchFamily="2" charset="0"/>
                    <a:ea typeface="Calibri"/>
                    <a:cs typeface="Poppins SemiBold" panose="00000700000000000000" pitchFamily="2" charset="0"/>
                  </a:rPr>
                  <a:t>PERFORMANCE TIME PERIOD</a:t>
                </a:r>
              </a:p>
            </c:rich>
          </c:tx>
          <c:layout>
            <c:manualLayout>
              <c:xMode val="edge"/>
              <c:yMode val="edge"/>
              <c:x val="0.39319606372751442"/>
              <c:y val="0.92575577156204281"/>
            </c:manualLayout>
          </c:layout>
          <c:overlay val="0"/>
        </c:title>
        <c:numFmt formatCode="General" sourceLinked="1"/>
        <c:majorTickMark val="out"/>
        <c:minorTickMark val="none"/>
        <c:tickLblPos val="low"/>
        <c:txPr>
          <a:bodyPr rot="0" vert="horz"/>
          <a:lstStyle/>
          <a:p>
            <a:pPr>
              <a:defRPr sz="12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445930890391733E-4"/>
              <c:y val="0.38606635071090045"/>
            </c:manualLayout>
          </c:layout>
          <c:overlay val="0"/>
        </c:title>
        <c:numFmt formatCode="0.0%" sourceLinked="0"/>
        <c:majorTickMark val="none"/>
        <c:minorTickMark val="none"/>
        <c:tickLblPos val="nextTo"/>
        <c:txPr>
          <a:bodyPr rot="0" vert="horz"/>
          <a:lstStyle/>
          <a:p>
            <a:pPr>
              <a:defRPr sz="12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majorUnit val="1.0000000000000002E-2"/>
        <c:minorUnit val="1.0000000000000002E-3"/>
      </c:valAx>
      <c:spPr>
        <a:noFill/>
        <a:ln w="25400">
          <a:noFill/>
        </a:ln>
      </c:spPr>
    </c:plotArea>
    <c:legend>
      <c:legendPos val="t"/>
      <c:layout>
        <c:manualLayout>
          <c:xMode val="edge"/>
          <c:yMode val="edge"/>
          <c:x val="0.11883796454790978"/>
          <c:y val="6.7694144866962719E-4"/>
          <c:w val="0.81684580527977468"/>
          <c:h val="7.2206092721822088E-2"/>
        </c:manualLayout>
      </c:layout>
      <c:overlay val="0"/>
      <c:txPr>
        <a:bodyPr/>
        <a:lstStyle/>
        <a:p>
          <a:pPr>
            <a:defRPr sz="1100" b="0" i="0" u="none" strike="noStrike"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87222228849629"/>
          <c:y val="0.13978961091338507"/>
          <c:w val="0.88224148910208267"/>
          <c:h val="0.70468363877725204"/>
        </c:manualLayout>
      </c:layout>
      <c:barChart>
        <c:barDir val="col"/>
        <c:grouping val="clustered"/>
        <c:varyColors val="0"/>
        <c:ser>
          <c:idx val="0"/>
          <c:order val="0"/>
          <c:tx>
            <c:strRef>
              <c:f>'REFERENCING UG SHEET'!$C$7</c:f>
              <c:strCache>
                <c:ptCount val="1"/>
                <c:pt idx="0">
                  <c:v>GROSS OF ADVISORY FEE</c:v>
                </c:pt>
              </c:strCache>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SHEET'!$A$14)</c:f>
              <c:strCache>
                <c:ptCount val="2"/>
                <c:pt idx="0">
                  <c:v>QTD</c:v>
                </c:pt>
                <c:pt idx="1">
                  <c:v>SINCE INCEPTION
 (6/7/2021)</c:v>
                </c:pt>
              </c:strCache>
              <c:extLst/>
            </c:strRef>
          </c:cat>
          <c:val>
            <c:numRef>
              <c:f>('REFERENCING UG SHEET'!$C$8,'REFERENCING UG SHEET'!$C$14)</c:f>
              <c:numCache>
                <c:formatCode>0.00%</c:formatCode>
                <c:ptCount val="2"/>
                <c:pt idx="0">
                  <c:v>-1.3050000000000001E-2</c:v>
                </c:pt>
                <c:pt idx="1">
                  <c:v>-1.9980000000000001E-2</c:v>
                </c:pt>
              </c:numCache>
              <c:extLst/>
            </c:numRef>
          </c:val>
          <c:extLst>
            <c:ext xmlns:c16="http://schemas.microsoft.com/office/drawing/2014/chart" uri="{C3380CC4-5D6E-409C-BE32-E72D297353CC}">
              <c16:uniqueId val="{00000005-AB89-4DAA-9A46-93C1B4C1C56A}"/>
            </c:ext>
          </c:extLst>
        </c:ser>
        <c:ser>
          <c:idx val="1"/>
          <c:order val="1"/>
          <c:tx>
            <c:strRef>
              <c:f>'REFERENCING UG SHEET'!$D$7</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SHEET'!$A$14)</c:f>
              <c:strCache>
                <c:ptCount val="2"/>
                <c:pt idx="0">
                  <c:v>QTD</c:v>
                </c:pt>
                <c:pt idx="1">
                  <c:v>SINCE INCEPTION
 (6/7/2021)</c:v>
                </c:pt>
              </c:strCache>
              <c:extLst/>
            </c:strRef>
          </c:cat>
          <c:val>
            <c:numRef>
              <c:f>('REFERENCING UG SHEET'!$D$8,'REFERENCING UG SHEET'!$D$14)</c:f>
              <c:numCache>
                <c:formatCode>0.00%</c:formatCode>
                <c:ptCount val="2"/>
                <c:pt idx="0">
                  <c:v>-1.329E-2</c:v>
                </c:pt>
                <c:pt idx="1">
                  <c:v>-2.1829999999999999E-2</c:v>
                </c:pt>
              </c:numCache>
              <c:extLst/>
            </c:numRef>
          </c:val>
          <c:extLst>
            <c:ext xmlns:c16="http://schemas.microsoft.com/office/drawing/2014/chart" uri="{C3380CC4-5D6E-409C-BE32-E72D297353CC}">
              <c16:uniqueId val="{00000006-AB89-4DAA-9A46-93C1B4C1C56A}"/>
            </c:ext>
          </c:extLst>
        </c:ser>
        <c:ser>
          <c:idx val="2"/>
          <c:order val="2"/>
          <c:tx>
            <c:strRef>
              <c:f>'REFERENCING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SHEET'!$A$14)</c:f>
              <c:strCache>
                <c:ptCount val="2"/>
                <c:pt idx="0">
                  <c:v>QTD</c:v>
                </c:pt>
                <c:pt idx="1">
                  <c:v>SINCE INCEPTION
 (6/7/2021)</c:v>
                </c:pt>
              </c:strCache>
              <c:extLst/>
            </c:strRef>
          </c:cat>
          <c:val>
            <c:numRef>
              <c:f>('REFERENCING UG SHEET'!$E$8,'REFERENCING UG SHEET'!$E$14)</c:f>
              <c:numCache>
                <c:formatCode>0.00%</c:formatCode>
                <c:ptCount val="2"/>
                <c:pt idx="0">
                  <c:v>-1.4670000000000001E-2</c:v>
                </c:pt>
                <c:pt idx="1">
                  <c:v>-2.0080000000000001E-2</c:v>
                </c:pt>
              </c:numCache>
              <c:extLst/>
            </c:numRef>
          </c:val>
          <c:extLst>
            <c:ext xmlns:c16="http://schemas.microsoft.com/office/drawing/2014/chart" uri="{C3380CC4-5D6E-409C-BE32-E72D297353CC}">
              <c16:uniqueId val="{00000007-AB89-4DAA-9A46-93C1B4C1C56A}"/>
            </c:ext>
          </c:extLst>
        </c:ser>
        <c:dLbls>
          <c:showLegendKey val="0"/>
          <c:showVal val="0"/>
          <c:showCatName val="0"/>
          <c:showSerName val="0"/>
          <c:showPercent val="0"/>
          <c:showBubbleSize val="0"/>
        </c:dLbls>
        <c:gapWidth val="145"/>
        <c:overlap val="-2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0.17704838210587021"/>
          <c:y val="2.8602105331668678E-2"/>
          <c:w val="0.68067554809153907"/>
          <c:h val="8.1146611595032503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87222228849629"/>
          <c:y val="0.13978961091338507"/>
          <c:w val="0.86261578036441089"/>
          <c:h val="0.70468363877725204"/>
        </c:manualLayout>
      </c:layout>
      <c:barChart>
        <c:barDir val="col"/>
        <c:grouping val="clustered"/>
        <c:varyColors val="0"/>
        <c:ser>
          <c:idx val="0"/>
          <c:order val="0"/>
          <c:tx>
            <c:strRef>
              <c:f>'REFERENCING UG SHEET'!$C$7</c:f>
              <c:strCache>
                <c:ptCount val="1"/>
                <c:pt idx="0">
                  <c:v>GROSS OF ADVISORY FEE</c:v>
                </c:pt>
              </c:strCache>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SHEET'!$A$10:$A$11,'REFERENCING UG SHEET'!$A$14)</c:f>
              <c:strCache>
                <c:ptCount val="3"/>
                <c:pt idx="0">
                  <c:v>2021</c:v>
                </c:pt>
                <c:pt idx="1">
                  <c:v>YTD 2022</c:v>
                </c:pt>
                <c:pt idx="2">
                  <c:v>SINCE INCEPTION
 (6/7/2021)</c:v>
                </c:pt>
              </c:strCache>
              <c:extLst/>
            </c:strRef>
          </c:cat>
          <c:val>
            <c:numRef>
              <c:f>('REFERENCING UG SHEET'!$C$10:$C$11,'REFERENCING UG SHEET'!$C$14)</c:f>
              <c:numCache>
                <c:formatCode>0.00%</c:formatCode>
                <c:ptCount val="3"/>
                <c:pt idx="0">
                  <c:v>1.8089999999999998E-2</c:v>
                </c:pt>
                <c:pt idx="1">
                  <c:v>-2.7560000000000001E-2</c:v>
                </c:pt>
                <c:pt idx="2">
                  <c:v>-9.9600000000000001E-3</c:v>
                </c:pt>
              </c:numCache>
              <c:extLst/>
            </c:numRef>
          </c:val>
          <c:extLst>
            <c:ext xmlns:c16="http://schemas.microsoft.com/office/drawing/2014/chart" uri="{C3380CC4-5D6E-409C-BE32-E72D297353CC}">
              <c16:uniqueId val="{00000000-E0D7-4D8C-B995-92D8EF7DC730}"/>
            </c:ext>
          </c:extLst>
        </c:ser>
        <c:ser>
          <c:idx val="1"/>
          <c:order val="1"/>
          <c:tx>
            <c:strRef>
              <c:f>'REFERENCING UG SHEET'!$D$7</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SHEET'!$A$10:$A$11,'REFERENCING UG SHEET'!$A$14)</c:f>
              <c:strCache>
                <c:ptCount val="3"/>
                <c:pt idx="0">
                  <c:v>2021</c:v>
                </c:pt>
                <c:pt idx="1">
                  <c:v>YTD 2022</c:v>
                </c:pt>
                <c:pt idx="2">
                  <c:v>SINCE INCEPTION
 (6/7/2021)</c:v>
                </c:pt>
              </c:strCache>
              <c:extLst/>
            </c:strRef>
          </c:cat>
          <c:val>
            <c:numRef>
              <c:f>('REFERENCING UG SHEET'!$D$10:$D$11,'REFERENCING UG SHEET'!$D$14)</c:f>
              <c:numCache>
                <c:formatCode>0.00%</c:formatCode>
                <c:ptCount val="3"/>
                <c:pt idx="0">
                  <c:v>1.644E-2</c:v>
                </c:pt>
                <c:pt idx="1">
                  <c:v>-2.7799999999999998E-2</c:v>
                </c:pt>
                <c:pt idx="2">
                  <c:v>-1.1809999999999999E-2</c:v>
                </c:pt>
              </c:numCache>
              <c:extLst/>
            </c:numRef>
          </c:val>
          <c:extLst>
            <c:ext xmlns:c16="http://schemas.microsoft.com/office/drawing/2014/chart" uri="{C3380CC4-5D6E-409C-BE32-E72D297353CC}">
              <c16:uniqueId val="{00000001-E0D7-4D8C-B995-92D8EF7DC730}"/>
            </c:ext>
          </c:extLst>
        </c:ser>
        <c:ser>
          <c:idx val="2"/>
          <c:order val="2"/>
          <c:tx>
            <c:strRef>
              <c:f>'REFERENCING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SHEET'!$A$10:$A$11,'REFERENCING UG SHEET'!$A$14)</c:f>
              <c:strCache>
                <c:ptCount val="3"/>
                <c:pt idx="0">
                  <c:v>2021</c:v>
                </c:pt>
                <c:pt idx="1">
                  <c:v>YTD 2022</c:v>
                </c:pt>
                <c:pt idx="2">
                  <c:v>SINCE INCEPTION
 (6/7/2021)</c:v>
                </c:pt>
              </c:strCache>
              <c:extLst/>
            </c:strRef>
          </c:cat>
          <c:val>
            <c:numRef>
              <c:f>('REFERENCING UG SHEET'!$E$10:$E$11,'REFERENCING UG SHEET'!$E$14)</c:f>
              <c:numCache>
                <c:formatCode>0.00%</c:formatCode>
                <c:ptCount val="3"/>
                <c:pt idx="0">
                  <c:v>2.0840000000000001E-2</c:v>
                </c:pt>
                <c:pt idx="1">
                  <c:v>-2.9590000000000002E-2</c:v>
                </c:pt>
                <c:pt idx="2">
                  <c:v>-9.3699999999999999E-3</c:v>
                </c:pt>
              </c:numCache>
              <c:extLst/>
            </c:numRef>
          </c:val>
          <c:extLst>
            <c:ext xmlns:c16="http://schemas.microsoft.com/office/drawing/2014/chart" uri="{C3380CC4-5D6E-409C-BE32-E72D297353CC}">
              <c16:uniqueId val="{00000002-E0D7-4D8C-B995-92D8EF7DC730}"/>
            </c:ext>
          </c:extLst>
        </c:ser>
        <c:dLbls>
          <c:showLegendKey val="0"/>
          <c:showVal val="0"/>
          <c:showCatName val="0"/>
          <c:showSerName val="0"/>
          <c:showPercent val="0"/>
          <c:showBubbleSize val="0"/>
        </c:dLbls>
        <c:gapWidth val="145"/>
        <c:overlap val="-2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0.17100973791319563"/>
          <c:y val="8.5098469004491199E-4"/>
          <c:w val="0.68067554809153907"/>
          <c:h val="8.1146611595032503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196880372598849"/>
          <c:y val="0.13978961091338507"/>
          <c:w val="0.87803119627401149"/>
          <c:h val="0.70468363877725204"/>
        </c:manualLayout>
      </c:layout>
      <c:barChart>
        <c:barDir val="col"/>
        <c:grouping val="clustered"/>
        <c:varyColors val="0"/>
        <c:ser>
          <c:idx val="0"/>
          <c:order val="0"/>
          <c:tx>
            <c:strRef>
              <c:f>'REFERENCING UG SHEET'!$C$7</c:f>
              <c:strCache>
                <c:ptCount val="1"/>
                <c:pt idx="0">
                  <c:v>GROSS OF ADVISORY FEE</c:v>
                </c:pt>
              </c:strCache>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SHEET'!$A$8:$A$9,'REFERENCING UG SHEET'!$A$14)</c:f>
              <c:strCache>
                <c:ptCount val="3"/>
                <c:pt idx="0">
                  <c:v>2021
(6/7/2021 - 12/31/2021)</c:v>
                </c:pt>
                <c:pt idx="1">
                  <c:v>YTD 2022</c:v>
                </c:pt>
                <c:pt idx="2">
                  <c:v>SINCE INCEPTION
 (6/7/2021)</c:v>
                </c:pt>
              </c:strCache>
              <c:extLst/>
            </c:strRef>
          </c:cat>
          <c:val>
            <c:numRef>
              <c:f>('REFERENCING UG SHEET'!$C$8:$C$9,'REFERENCING UG SHEET'!$C$14)</c:f>
              <c:numCache>
                <c:formatCode>0.00%</c:formatCode>
                <c:ptCount val="3"/>
                <c:pt idx="0">
                  <c:v>-7.0200000000000002E-3</c:v>
                </c:pt>
                <c:pt idx="1">
                  <c:v>-4.0989999999999999E-2</c:v>
                </c:pt>
                <c:pt idx="2">
                  <c:v>-4.7719999999999999E-2</c:v>
                </c:pt>
              </c:numCache>
              <c:extLst/>
            </c:numRef>
          </c:val>
          <c:extLst>
            <c:ext xmlns:c16="http://schemas.microsoft.com/office/drawing/2014/chart" uri="{C3380CC4-5D6E-409C-BE32-E72D297353CC}">
              <c16:uniqueId val="{00000000-7B0E-4582-A690-B93F2A2E59C4}"/>
            </c:ext>
          </c:extLst>
        </c:ser>
        <c:ser>
          <c:idx val="1"/>
          <c:order val="1"/>
          <c:tx>
            <c:strRef>
              <c:f>'REFERENCING UG SHEET'!$D$7</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SHEET'!$A$8:$A$9,'REFERENCING UG SHEET'!$A$14)</c:f>
              <c:strCache>
                <c:ptCount val="3"/>
                <c:pt idx="0">
                  <c:v>2021
(6/7/2021 - 12/31/2021)</c:v>
                </c:pt>
                <c:pt idx="1">
                  <c:v>YTD 2022</c:v>
                </c:pt>
                <c:pt idx="2">
                  <c:v>SINCE INCEPTION
 (6/7/2021)</c:v>
                </c:pt>
              </c:strCache>
              <c:extLst/>
            </c:strRef>
          </c:cat>
          <c:val>
            <c:numRef>
              <c:f>('REFERENCING UG SHEET'!$D$8:$D$9,'REFERENCING UG SHEET'!$D$14)</c:f>
              <c:numCache>
                <c:formatCode>0.00%</c:formatCode>
                <c:ptCount val="3"/>
                <c:pt idx="0">
                  <c:v>-8.6499999999999997E-3</c:v>
                </c:pt>
                <c:pt idx="1">
                  <c:v>-4.1669999999999999E-2</c:v>
                </c:pt>
                <c:pt idx="2">
                  <c:v>-4.9959999999999997E-2</c:v>
                </c:pt>
              </c:numCache>
              <c:extLst/>
            </c:numRef>
          </c:val>
          <c:extLst>
            <c:ext xmlns:c16="http://schemas.microsoft.com/office/drawing/2014/chart" uri="{C3380CC4-5D6E-409C-BE32-E72D297353CC}">
              <c16:uniqueId val="{00000001-7B0E-4582-A690-B93F2A2E59C4}"/>
            </c:ext>
          </c:extLst>
        </c:ser>
        <c:ser>
          <c:idx val="2"/>
          <c:order val="2"/>
          <c:tx>
            <c:strRef>
              <c:f>'REFERENCING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SHEET'!$A$8:$A$9,'REFERENCING UG SHEET'!$A$14)</c:f>
              <c:strCache>
                <c:ptCount val="3"/>
                <c:pt idx="0">
                  <c:v>2021
(6/7/2021 - 12/31/2021)</c:v>
                </c:pt>
                <c:pt idx="1">
                  <c:v>YTD 2022</c:v>
                </c:pt>
                <c:pt idx="2">
                  <c:v>SINCE INCEPTION
 (6/7/2021)</c:v>
                </c:pt>
              </c:strCache>
              <c:extLst/>
            </c:strRef>
          </c:cat>
          <c:val>
            <c:numRef>
              <c:f>('REFERENCING UG SHEET'!$E$8:$E$9,'REFERENCING UG SHEET'!$E$14)</c:f>
              <c:numCache>
                <c:formatCode>0.00%</c:formatCode>
                <c:ptCount val="3"/>
                <c:pt idx="0">
                  <c:v>-5.4900000000000001E-3</c:v>
                </c:pt>
                <c:pt idx="1">
                  <c:v>-4.5089999999999998E-2</c:v>
                </c:pt>
                <c:pt idx="2">
                  <c:v>-5.033E-2</c:v>
                </c:pt>
              </c:numCache>
              <c:extLst/>
            </c:numRef>
          </c:val>
          <c:extLst>
            <c:ext xmlns:c16="http://schemas.microsoft.com/office/drawing/2014/chart" uri="{C3380CC4-5D6E-409C-BE32-E72D297353CC}">
              <c16:uniqueId val="{00000002-7B0E-4582-A690-B93F2A2E59C4}"/>
            </c:ext>
          </c:extLst>
        </c:ser>
        <c:dLbls>
          <c:showLegendKey val="0"/>
          <c:showVal val="0"/>
          <c:showCatName val="0"/>
          <c:showSerName val="0"/>
          <c:showPercent val="0"/>
          <c:showBubbleSize val="0"/>
        </c:dLbls>
        <c:gapWidth val="145"/>
        <c:overlap val="-2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0.17704838210587021"/>
          <c:y val="2.8602105331668678E-2"/>
          <c:w val="0.68067554809153907"/>
          <c:h val="8.1146611595032503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87222228849629"/>
          <c:y val="0.13978961091338507"/>
          <c:w val="0.86305333178897725"/>
          <c:h val="0.70468363877725204"/>
        </c:manualLayout>
      </c:layout>
      <c:barChart>
        <c:barDir val="col"/>
        <c:grouping val="clustered"/>
        <c:varyColors val="0"/>
        <c:ser>
          <c:idx val="2"/>
          <c:order val="0"/>
          <c:tx>
            <c:strRef>
              <c:f>'REFERENCING UG SHEET'!$C$7</c:f>
              <c:strCache>
                <c:ptCount val="1"/>
                <c:pt idx="0">
                  <c:v>GROSS OF ADVISORY FEE</c:v>
                </c:pt>
              </c:strCache>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SHEET'!$A$10:$A$11,'REFERENCING UG SHEET'!$A$14)</c:f>
              <c:strCache>
                <c:ptCount val="3"/>
                <c:pt idx="0">
                  <c:v>YTD
2022</c:v>
                </c:pt>
                <c:pt idx="1">
                  <c:v>1 YR
2022</c:v>
                </c:pt>
                <c:pt idx="2">
                  <c:v>SINCE INCEPTION
 (6/7/2021)</c:v>
                </c:pt>
              </c:strCache>
              <c:extLst/>
            </c:strRef>
          </c:cat>
          <c:val>
            <c:numRef>
              <c:f>('REFERENCING UG SHEET'!$C$8,'REFERENCING UG SHEET'!$C$10:$C$11,'REFERENCING UG SHEET'!$C$14)</c:f>
              <c:numCache>
                <c:formatCode>0.00%</c:formatCode>
                <c:ptCount val="3"/>
                <c:pt idx="0">
                  <c:v>-6.2089999999999999E-2</c:v>
                </c:pt>
                <c:pt idx="1">
                  <c:v>-6.8309999999999996E-2</c:v>
                </c:pt>
                <c:pt idx="2">
                  <c:v>-6.4579999999999999E-2</c:v>
                </c:pt>
              </c:numCache>
              <c:extLst/>
            </c:numRef>
          </c:val>
          <c:extLst>
            <c:ext xmlns:c16="http://schemas.microsoft.com/office/drawing/2014/chart" uri="{C3380CC4-5D6E-409C-BE32-E72D297353CC}">
              <c16:uniqueId val="{00000000-CA6B-4309-BAA0-6DBC403D43A0}"/>
            </c:ext>
          </c:extLst>
        </c:ser>
        <c:ser>
          <c:idx val="0"/>
          <c:order val="1"/>
          <c:tx>
            <c:strRef>
              <c:f>'REFERENCING UG SHEET'!$D$7</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SHEET'!$A$10:$A$11,'REFERENCING UG SHEET'!$A$14)</c:f>
              <c:strCache>
                <c:ptCount val="3"/>
                <c:pt idx="0">
                  <c:v>YTD
2022</c:v>
                </c:pt>
                <c:pt idx="1">
                  <c:v>1 YR
2022</c:v>
                </c:pt>
                <c:pt idx="2">
                  <c:v>SINCE INCEPTION
 (6/7/2021)</c:v>
                </c:pt>
              </c:strCache>
              <c:extLst/>
            </c:strRef>
          </c:cat>
          <c:val>
            <c:numRef>
              <c:f>('REFERENCING UG SHEET'!$D$8,'REFERENCING UG SHEET'!$D$10:$D$11,'REFERENCING UG SHEET'!$D$14)</c:f>
              <c:numCache>
                <c:formatCode>0.00%</c:formatCode>
                <c:ptCount val="3"/>
                <c:pt idx="0">
                  <c:v>-6.3380000000000006E-2</c:v>
                </c:pt>
                <c:pt idx="1">
                  <c:v>-7.0910000000000001E-2</c:v>
                </c:pt>
                <c:pt idx="2">
                  <c:v>-6.7220000000000002E-2</c:v>
                </c:pt>
              </c:numCache>
              <c:extLst/>
            </c:numRef>
          </c:val>
          <c:extLst>
            <c:ext xmlns:c16="http://schemas.microsoft.com/office/drawing/2014/chart" uri="{C3380CC4-5D6E-409C-BE32-E72D297353CC}">
              <c16:uniqueId val="{00000001-CA6B-4309-BAA0-6DBC403D43A0}"/>
            </c:ext>
          </c:extLst>
        </c:ser>
        <c:ser>
          <c:idx val="1"/>
          <c:order val="2"/>
          <c:tx>
            <c:strRef>
              <c:f>'REFERENCING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SHEET'!$A$10:$A$11,'REFERENCING UG SHEET'!$A$14)</c:f>
              <c:strCache>
                <c:ptCount val="3"/>
                <c:pt idx="0">
                  <c:v>YTD
2022</c:v>
                </c:pt>
                <c:pt idx="1">
                  <c:v>1 YR
2022</c:v>
                </c:pt>
                <c:pt idx="2">
                  <c:v>SINCE INCEPTION
 (6/7/2021)</c:v>
                </c:pt>
              </c:strCache>
              <c:extLst/>
            </c:strRef>
          </c:cat>
          <c:val>
            <c:numRef>
              <c:f>('REFERENCING UG SHEET'!$E$8,'REFERENCING UG SHEET'!$E$10:$E$11,'REFERENCING UG SHEET'!$E$14)</c:f>
              <c:numCache>
                <c:formatCode>0.00%</c:formatCode>
                <c:ptCount val="3"/>
                <c:pt idx="0">
                  <c:v>-6.7699999999999996E-2</c:v>
                </c:pt>
                <c:pt idx="1">
                  <c:v>-7.2800000000000004E-2</c:v>
                </c:pt>
                <c:pt idx="2">
                  <c:v>-6.8479999999999999E-2</c:v>
                </c:pt>
              </c:numCache>
              <c:extLst/>
            </c:numRef>
          </c:val>
          <c:extLst>
            <c:ext xmlns:c16="http://schemas.microsoft.com/office/drawing/2014/chart" uri="{C3380CC4-5D6E-409C-BE32-E72D297353CC}">
              <c16:uniqueId val="{00000002-CA6B-4309-BAA0-6DBC403D43A0}"/>
            </c:ext>
          </c:extLst>
        </c:ser>
        <c:dLbls>
          <c:showLegendKey val="0"/>
          <c:showVal val="0"/>
          <c:showCatName val="0"/>
          <c:showSerName val="0"/>
          <c:showPercent val="0"/>
          <c:showBubbleSize val="0"/>
        </c:dLbls>
        <c:gapWidth val="145"/>
        <c:overlap val="-2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min val="-0.1"/>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7.2351545957099014E-2"/>
          <c:y val="2.8602105331668678E-2"/>
          <c:w val="0.82449635975211921"/>
          <c:h val="7.49153990453372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87222228849629"/>
          <c:y val="0.13978961091338507"/>
          <c:w val="0.89280912320850969"/>
          <c:h val="0.70468363877725204"/>
        </c:manualLayout>
      </c:layout>
      <c:barChart>
        <c:barDir val="col"/>
        <c:grouping val="clustered"/>
        <c:varyColors val="0"/>
        <c:ser>
          <c:idx val="2"/>
          <c:order val="0"/>
          <c:tx>
            <c:strRef>
              <c:f>'REFERENCING UG SHEET'!$C$7</c:f>
              <c:strCache>
                <c:ptCount val="1"/>
                <c:pt idx="0">
                  <c:v>GROSS OF ADVISORY FEE</c:v>
                </c:pt>
              </c:strCache>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SHEET'!$A$10:$A$11,'REFERENCING UG SHEET'!$A$14)</c:f>
              <c:strCache>
                <c:ptCount val="4"/>
                <c:pt idx="0">
                  <c:v>2021
(6/7/2021 - 12/31/2021)</c:v>
                </c:pt>
                <c:pt idx="1">
                  <c:v>YTD
2022</c:v>
                </c:pt>
                <c:pt idx="2">
                  <c:v>1 YR
2022</c:v>
                </c:pt>
                <c:pt idx="3">
                  <c:v>SINCE INCEPTION
 (6/7/2021)</c:v>
                </c:pt>
              </c:strCache>
            </c:strRef>
          </c:cat>
          <c:val>
            <c:numRef>
              <c:f>('REFERENCING UG SHEET'!$C$8,'REFERENCING UG SHEET'!$C$10:$C$11,'REFERENCING UG SHEET'!$C$14)</c:f>
              <c:numCache>
                <c:formatCode>0.00%</c:formatCode>
                <c:ptCount val="4"/>
                <c:pt idx="0">
                  <c:v>-7.0000000000000001E-3</c:v>
                </c:pt>
                <c:pt idx="1">
                  <c:v>-6.2089999999999999E-2</c:v>
                </c:pt>
                <c:pt idx="2">
                  <c:v>-6.8309999999999996E-2</c:v>
                </c:pt>
                <c:pt idx="3">
                  <c:v>-6.4579999999999999E-2</c:v>
                </c:pt>
              </c:numCache>
            </c:numRef>
          </c:val>
          <c:extLst>
            <c:ext xmlns:c16="http://schemas.microsoft.com/office/drawing/2014/chart" uri="{C3380CC4-5D6E-409C-BE32-E72D297353CC}">
              <c16:uniqueId val="{00000000-BF6A-4D4A-9B2B-D672C7D8EC89}"/>
            </c:ext>
          </c:extLst>
        </c:ser>
        <c:ser>
          <c:idx val="0"/>
          <c:order val="1"/>
          <c:tx>
            <c:strRef>
              <c:f>'REFERENCING UG SHEET'!$D$7</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SHEET'!$A$10:$A$11,'REFERENCING UG SHEET'!$A$14)</c:f>
              <c:strCache>
                <c:ptCount val="4"/>
                <c:pt idx="0">
                  <c:v>2021
(6/7/2021 - 12/31/2021)</c:v>
                </c:pt>
                <c:pt idx="1">
                  <c:v>YTD
2022</c:v>
                </c:pt>
                <c:pt idx="2">
                  <c:v>1 YR
2022</c:v>
                </c:pt>
                <c:pt idx="3">
                  <c:v>SINCE INCEPTION
 (6/7/2021)</c:v>
                </c:pt>
              </c:strCache>
            </c:strRef>
          </c:cat>
          <c:val>
            <c:numRef>
              <c:f>('REFERENCING UG SHEET'!$D$8,'REFERENCING UG SHEET'!$D$10:$D$11,'REFERENCING UG SHEET'!$D$14)</c:f>
              <c:numCache>
                <c:formatCode>0.00%</c:formatCode>
                <c:ptCount val="4"/>
                <c:pt idx="0">
                  <c:v>-8.6999999999999994E-3</c:v>
                </c:pt>
                <c:pt idx="1">
                  <c:v>-6.3130000000000006E-2</c:v>
                </c:pt>
                <c:pt idx="2">
                  <c:v>-7.0260000000000003E-2</c:v>
                </c:pt>
                <c:pt idx="3">
                  <c:v>-6.6540000000000002E-2</c:v>
                </c:pt>
              </c:numCache>
            </c:numRef>
          </c:val>
          <c:extLst>
            <c:ext xmlns:c16="http://schemas.microsoft.com/office/drawing/2014/chart" uri="{C3380CC4-5D6E-409C-BE32-E72D297353CC}">
              <c16:uniqueId val="{00000001-BF6A-4D4A-9B2B-D672C7D8EC89}"/>
            </c:ext>
          </c:extLst>
        </c:ser>
        <c:ser>
          <c:idx val="1"/>
          <c:order val="2"/>
          <c:tx>
            <c:strRef>
              <c:f>'REFERENCING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SHEET'!$A$8,'REFERENCING UG SHEET'!$A$10:$A$11,'REFERENCING UG SHEET'!$A$14)</c:f>
              <c:strCache>
                <c:ptCount val="4"/>
                <c:pt idx="0">
                  <c:v>2021
(6/7/2021 - 12/31/2021)</c:v>
                </c:pt>
                <c:pt idx="1">
                  <c:v>YTD
2022</c:v>
                </c:pt>
                <c:pt idx="2">
                  <c:v>1 YR
2022</c:v>
                </c:pt>
                <c:pt idx="3">
                  <c:v>SINCE INCEPTION
 (6/7/2021)</c:v>
                </c:pt>
              </c:strCache>
            </c:strRef>
          </c:cat>
          <c:val>
            <c:numRef>
              <c:f>('REFERENCING UG SHEET'!$E$8,'REFERENCING UG SHEET'!$E$10:$E$11,'REFERENCING UG SHEET'!$E$14)</c:f>
              <c:numCache>
                <c:formatCode>0.00%</c:formatCode>
                <c:ptCount val="4"/>
                <c:pt idx="0">
                  <c:v>-5.4999999999999997E-3</c:v>
                </c:pt>
                <c:pt idx="1">
                  <c:v>-6.7699999999999996E-2</c:v>
                </c:pt>
                <c:pt idx="2">
                  <c:v>-7.2800000000000004E-2</c:v>
                </c:pt>
                <c:pt idx="3">
                  <c:v>-6.8479999999999999E-2</c:v>
                </c:pt>
              </c:numCache>
            </c:numRef>
          </c:val>
          <c:extLst>
            <c:ext xmlns:c16="http://schemas.microsoft.com/office/drawing/2014/chart" uri="{C3380CC4-5D6E-409C-BE32-E72D297353CC}">
              <c16:uniqueId val="{00000002-BF6A-4D4A-9B2B-D672C7D8EC89}"/>
            </c:ext>
          </c:extLst>
        </c:ser>
        <c:dLbls>
          <c:showLegendKey val="0"/>
          <c:showVal val="0"/>
          <c:showCatName val="0"/>
          <c:showSerName val="0"/>
          <c:showPercent val="0"/>
          <c:showBubbleSize val="0"/>
        </c:dLbls>
        <c:gapWidth val="145"/>
        <c:overlap val="-2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7.7410713298660228E-2"/>
          <c:y val="2.8602105331668678E-2"/>
          <c:w val="0.83113966762948233"/>
          <c:h val="7.49153990453372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1442048004868957"/>
          <c:y val="0.14529353182947313"/>
          <c:w val="0.84450946688729123"/>
          <c:h val="0.69381044462280128"/>
        </c:manualLayout>
      </c:layout>
      <c:barChart>
        <c:barDir val="col"/>
        <c:grouping val="clustered"/>
        <c:varyColors val="0"/>
        <c:ser>
          <c:idx val="0"/>
          <c:order val="0"/>
          <c:tx>
            <c:strRef>
              <c:f>'FI Performance'!$C$4</c:f>
              <c:strCache>
                <c:ptCount val="1"/>
                <c:pt idx="0">
                  <c:v>GROSS OF ADVISORY FEE</c:v>
                </c:pt>
              </c:strCache>
            </c:strRef>
          </c:tx>
          <c:spPr>
            <a:solidFill>
              <a:srgbClr val="2B3E59"/>
            </a:solidFill>
          </c:spPr>
          <c:invertIfNegative val="0"/>
          <c:dLbls>
            <c:spPr>
              <a:noFill/>
              <a:ln>
                <a:noFill/>
              </a:ln>
              <a:effectLst/>
            </c:spPr>
            <c:txPr>
              <a:bodyPr wrap="square" lIns="38100" tIns="19050" rIns="38100" bIns="19050" anchor="ctr">
                <a:spAutoFit/>
              </a:bodyPr>
              <a:lstStyle/>
              <a:p>
                <a:pPr>
                  <a:defRPr sz="1000">
                    <a:solidFill>
                      <a:srgbClr val="646464"/>
                    </a:solidFill>
                    <a:latin typeface="Poppins Medium" panose="00000600000000000000" pitchFamily="50" charset="0"/>
                    <a:cs typeface="Poppins Medium" panose="00000600000000000000" pitchFamily="50"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'FI Performance'!$B$5:$B$8</c:f>
              <c:strCache>
                <c:ptCount val="4"/>
                <c:pt idx="0">
                  <c:v>2021 
(6/7/2021 - 12/31/2021)</c:v>
                </c:pt>
                <c:pt idx="1">
                  <c:v>YTD 2022</c:v>
                </c:pt>
                <c:pt idx="2">
                  <c:v>1 YR 2022</c:v>
                </c:pt>
                <c:pt idx="3">
                  <c:v>SINCE INCEPTION 
(6/7/2021)</c:v>
                </c:pt>
              </c:strCache>
            </c:strRef>
          </c:cat>
          <c:val>
            <c:numRef>
              <c:f>'FI Performance'!$C$5:$C$8</c:f>
              <c:numCache>
                <c:formatCode>0.00%</c:formatCode>
                <c:ptCount val="4"/>
                <c:pt idx="0">
                  <c:v>-7.0200000000000002E-3</c:v>
                </c:pt>
                <c:pt idx="1">
                  <c:v>-8.924E-2</c:v>
                </c:pt>
                <c:pt idx="2">
                  <c:v>-9.5699999999999993E-2</c:v>
                </c:pt>
                <c:pt idx="3">
                  <c:v>-7.3400000000000007E-2</c:v>
                </c:pt>
              </c:numCache>
            </c:numRef>
          </c:val>
          <c:extLst>
            <c:ext xmlns:c16="http://schemas.microsoft.com/office/drawing/2014/chart" uri="{C3380CC4-5D6E-409C-BE32-E72D297353CC}">
              <c16:uniqueId val="{00000000-31E9-4696-B476-AE8AA61EED0C}"/>
            </c:ext>
          </c:extLst>
        </c:ser>
        <c:ser>
          <c:idx val="1"/>
          <c:order val="1"/>
          <c:tx>
            <c:strRef>
              <c:f>'FI Performance'!$D$4</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000" b="0" i="0" u="none" strike="noStrike" kern="1200" baseline="0">
                    <a:solidFill>
                      <a:srgbClr val="646464"/>
                    </a:solidFill>
                    <a:latin typeface="Poppins Medium" panose="00000600000000000000" pitchFamily="50" charset="0"/>
                    <a:ea typeface="Calibri"/>
                    <a:cs typeface="Poppins Medium" panose="00000600000000000000" pitchFamily="50"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'FI Performance'!$B$5:$B$8</c:f>
              <c:strCache>
                <c:ptCount val="4"/>
                <c:pt idx="0">
                  <c:v>2021 
(6/7/2021 - 12/31/2021)</c:v>
                </c:pt>
                <c:pt idx="1">
                  <c:v>YTD 2022</c:v>
                </c:pt>
                <c:pt idx="2">
                  <c:v>1 YR 2022</c:v>
                </c:pt>
                <c:pt idx="3">
                  <c:v>SINCE INCEPTION 
(6/7/2021)</c:v>
                </c:pt>
              </c:strCache>
            </c:strRef>
          </c:cat>
          <c:val>
            <c:numRef>
              <c:f>'FI Performance'!$D$5:$D$8</c:f>
              <c:numCache>
                <c:formatCode>0.00%</c:formatCode>
                <c:ptCount val="4"/>
                <c:pt idx="0">
                  <c:v>-8.1399999999999997E-3</c:v>
                </c:pt>
                <c:pt idx="1">
                  <c:v>-9.0700000000000003E-2</c:v>
                </c:pt>
                <c:pt idx="2">
                  <c:v>-9.7600000000000006E-2</c:v>
                </c:pt>
                <c:pt idx="3">
                  <c:v>-7.5380000000000003E-2</c:v>
                </c:pt>
              </c:numCache>
            </c:numRef>
          </c:val>
          <c:extLst>
            <c:ext xmlns:c16="http://schemas.microsoft.com/office/drawing/2014/chart" uri="{C3380CC4-5D6E-409C-BE32-E72D297353CC}">
              <c16:uniqueId val="{00000001-31E9-4696-B476-AE8AA61EED0C}"/>
            </c:ext>
          </c:extLst>
        </c:ser>
        <c:ser>
          <c:idx val="2"/>
          <c:order val="2"/>
          <c:tx>
            <c:strRef>
              <c:f>'FI Performance'!$E$4</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000" b="0" i="0" u="none" strike="noStrike" kern="1200" baseline="0">
                    <a:solidFill>
                      <a:srgbClr val="646464"/>
                    </a:solidFill>
                    <a:latin typeface="Poppins Medium" panose="00000600000000000000" pitchFamily="50" charset="0"/>
                    <a:ea typeface="Calibri"/>
                    <a:cs typeface="Poppins Medium" panose="00000600000000000000" pitchFamily="50"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'FI Performance'!$B$5:$B$8</c:f>
              <c:strCache>
                <c:ptCount val="4"/>
                <c:pt idx="0">
                  <c:v>2021 
(6/7/2021 - 12/31/2021)</c:v>
                </c:pt>
                <c:pt idx="1">
                  <c:v>YTD 2022</c:v>
                </c:pt>
                <c:pt idx="2">
                  <c:v>1 YR 2022</c:v>
                </c:pt>
                <c:pt idx="3">
                  <c:v>SINCE INCEPTION 
(6/7/2021)</c:v>
                </c:pt>
              </c:strCache>
            </c:strRef>
          </c:cat>
          <c:val>
            <c:numRef>
              <c:f>'FI Performance'!$E$5:$E$8</c:f>
              <c:numCache>
                <c:formatCode>0.00%</c:formatCode>
                <c:ptCount val="4"/>
                <c:pt idx="0">
                  <c:v>-5.4900000000000001E-3</c:v>
                </c:pt>
                <c:pt idx="1">
                  <c:v>-9.6250000000000002E-2</c:v>
                </c:pt>
                <c:pt idx="2">
                  <c:v>-0.1014</c:v>
                </c:pt>
                <c:pt idx="3">
                  <c:v>-7.7780000000000002E-2</c:v>
                </c:pt>
              </c:numCache>
            </c:numRef>
          </c:val>
          <c:extLst>
            <c:ext xmlns:c16="http://schemas.microsoft.com/office/drawing/2014/chart" uri="{C3380CC4-5D6E-409C-BE32-E72D297353CC}">
              <c16:uniqueId val="{00000002-31E9-4696-B476-AE8AA61EED0C}"/>
            </c:ext>
          </c:extLst>
        </c:ser>
        <c:dLbls>
          <c:showLegendKey val="0"/>
          <c:showVal val="0"/>
          <c:showCatName val="0"/>
          <c:showSerName val="0"/>
          <c:showPercent val="0"/>
          <c:showBubbleSize val="0"/>
        </c:dLbls>
        <c:gapWidth val="145"/>
        <c:overlap val="-2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max val="0"/>
          <c:min val="-0.15000000000000002"/>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majorUnit val="3.0000000000000006E-2"/>
      </c:valAx>
      <c:spPr>
        <a:noFill/>
        <a:ln w="25400">
          <a:noFill/>
        </a:ln>
      </c:spPr>
    </c:plotArea>
    <c:legend>
      <c:legendPos val="t"/>
      <c:layout>
        <c:manualLayout>
          <c:xMode val="edge"/>
          <c:yMode val="edge"/>
          <c:x val="0.17704838210587021"/>
          <c:y val="2.8602105331668678E-2"/>
          <c:w val="0.68067554809153907"/>
          <c:h val="8.1146611595032503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2">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87222228849629"/>
          <c:y val="0.14788843013262618"/>
          <c:w val="0.86412544220015974"/>
          <c:h val="0.69658480492530361"/>
        </c:manualLayout>
      </c:layout>
      <c:barChart>
        <c:barDir val="col"/>
        <c:grouping val="clustered"/>
        <c:varyColors val="0"/>
        <c:ser>
          <c:idx val="0"/>
          <c:order val="0"/>
          <c:tx>
            <c:strRef>
              <c:f>'[BOREX_CRRG AGG _ FEB 2023.xlsx]IGNORE -CUSTOM'!$C$7</c:f>
              <c:strCache>
                <c:ptCount val="1"/>
                <c:pt idx="0">
                  <c:v>GROSS OF ADVISORY FEE</c:v>
                </c:pt>
              </c:strCache>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'[BOREX_CRRG AGG _ FEB 2023.xlsx]IGNORE -CUSTOM'!$A$8:$A$14</c:f>
              <c:strCache>
                <c:ptCount val="3"/>
                <c:pt idx="0">
                  <c:v>YTD</c:v>
                </c:pt>
                <c:pt idx="1">
                  <c:v>1 YR</c:v>
                </c:pt>
                <c:pt idx="2">
                  <c:v>SINCE INCEPTION
 (6/7/2021)</c:v>
                </c:pt>
              </c:strCache>
              <c:extLst/>
            </c:strRef>
          </c:cat>
          <c:val>
            <c:numRef>
              <c:f>'[BOREX_CRRG AGG _ FEB 2023.xlsx]IGNORE -CUSTOM'!$C$8:$C$14</c:f>
              <c:numCache>
                <c:formatCode>0.00%</c:formatCode>
                <c:ptCount val="3"/>
                <c:pt idx="0">
                  <c:v>3.4070000000000003E-2</c:v>
                </c:pt>
                <c:pt idx="1">
                  <c:v>-5.0659999999999997E-2</c:v>
                </c:pt>
                <c:pt idx="2">
                  <c:v>-3.678E-2</c:v>
                </c:pt>
              </c:numCache>
              <c:extLst/>
            </c:numRef>
          </c:val>
          <c:extLst>
            <c:ext xmlns:c16="http://schemas.microsoft.com/office/drawing/2014/chart" uri="{C3380CC4-5D6E-409C-BE32-E72D297353CC}">
              <c16:uniqueId val="{00000000-005F-41FB-9AB0-EEE624E8C4CF}"/>
            </c:ext>
          </c:extLst>
        </c:ser>
        <c:ser>
          <c:idx val="1"/>
          <c:order val="1"/>
          <c:tx>
            <c:strRef>
              <c:f>'[BOREX_CRRG AGG _ FEB 2023.xlsx]IGNORE -CUSTOM'!$D$7</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'[BOREX_CRRG AGG _ FEB 2023.xlsx]IGNORE -CUSTOM'!$A$8:$A$14</c:f>
              <c:strCache>
                <c:ptCount val="3"/>
                <c:pt idx="0">
                  <c:v>YTD</c:v>
                </c:pt>
                <c:pt idx="1">
                  <c:v>1 YR</c:v>
                </c:pt>
                <c:pt idx="2">
                  <c:v>SINCE INCEPTION
 (6/7/2021)</c:v>
                </c:pt>
              </c:strCache>
              <c:extLst/>
            </c:strRef>
          </c:cat>
          <c:val>
            <c:numRef>
              <c:f>'[BOREX_CRRG AGG _ FEB 2023.xlsx]IGNORE -CUSTOM'!$D$8:$D$14</c:f>
              <c:numCache>
                <c:formatCode>0.00%</c:formatCode>
                <c:ptCount val="3"/>
                <c:pt idx="0">
                  <c:v>3.3840000000000002E-2</c:v>
                </c:pt>
                <c:pt idx="1">
                  <c:v>-5.2839999999999998E-2</c:v>
                </c:pt>
                <c:pt idx="2">
                  <c:v>-3.8870000000000002E-2</c:v>
                </c:pt>
              </c:numCache>
              <c:extLst/>
            </c:numRef>
          </c:val>
          <c:extLst>
            <c:ext xmlns:c16="http://schemas.microsoft.com/office/drawing/2014/chart" uri="{C3380CC4-5D6E-409C-BE32-E72D297353CC}">
              <c16:uniqueId val="{00000001-005F-41FB-9AB0-EEE624E8C4CF}"/>
            </c:ext>
          </c:extLst>
        </c:ser>
        <c:ser>
          <c:idx val="2"/>
          <c:order val="2"/>
          <c:tx>
            <c:strRef>
              <c:f>'[BOREX_CRRG AGG _ FEB 2023.xlsx]IGNORE -CUSTOM'!$E$7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'[BOREX_CRRG AGG _ FEB 2023.xlsx]IGNORE -CUSTOM'!$A$8:$A$14</c:f>
              <c:strCache>
                <c:ptCount val="3"/>
                <c:pt idx="0">
                  <c:v>YTD</c:v>
                </c:pt>
                <c:pt idx="1">
                  <c:v>1 YR</c:v>
                </c:pt>
                <c:pt idx="2">
                  <c:v>SINCE INCEPTION
 (6/7/2021)</c:v>
                </c:pt>
              </c:strCache>
              <c:extLst/>
            </c:strRef>
          </c:cat>
          <c:val>
            <c:numRef>
              <c:f>'[BOREX_CRRG AGG _ FEB 2023.xlsx]IGNORE -CUSTOM'!$E$8:$E$14</c:f>
              <c:numCache>
                <c:formatCode>0.00%</c:formatCode>
                <c:ptCount val="3"/>
                <c:pt idx="0">
                  <c:v>3.4439999999999998E-2</c:v>
                </c:pt>
                <c:pt idx="1">
                  <c:v>-4.8739999999999999E-2</c:v>
                </c:pt>
                <c:pt idx="2">
                  <c:v>-3.5249999999999997E-2</c:v>
                </c:pt>
              </c:numCache>
              <c:extLst/>
            </c:numRef>
          </c:val>
          <c:extLst>
            <c:ext xmlns:c16="http://schemas.microsoft.com/office/drawing/2014/chart" uri="{C3380CC4-5D6E-409C-BE32-E72D297353CC}">
              <c16:uniqueId val="{00000002-005F-41FB-9AB0-EEE624E8C4CF}"/>
            </c:ext>
          </c:extLst>
        </c:ser>
        <c:dLbls>
          <c:showLegendKey val="0"/>
          <c:showVal val="0"/>
          <c:showCatName val="0"/>
          <c:showSerName val="0"/>
          <c:showPercent val="0"/>
          <c:showBubbleSize val="0"/>
        </c:dLbls>
        <c:gapWidth val="145"/>
        <c:overlap val="-2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max val="5.000000000000001E-2"/>
          <c:min val="-8.0000000000000016E-2"/>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majorUnit val="2.0000000000000004E-2"/>
      </c:valAx>
      <c:spPr>
        <a:noFill/>
        <a:ln w="25400">
          <a:noFill/>
        </a:ln>
      </c:spPr>
    </c:plotArea>
    <c:legend>
      <c:legendPos val="t"/>
      <c:layout>
        <c:manualLayout>
          <c:xMode val="edge"/>
          <c:yMode val="edge"/>
          <c:x val="8.7978336947012042E-2"/>
          <c:y val="9.4729295073233168E-3"/>
          <c:w val="0.82295161474380918"/>
          <c:h val="7.5479032645603544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87222228849629"/>
          <c:y val="0.13978961091338507"/>
          <c:w val="0.87933838085975913"/>
          <c:h val="0.70468363877725204"/>
        </c:manualLayout>
      </c:layout>
      <c:barChart>
        <c:barDir val="col"/>
        <c:grouping val="clustered"/>
        <c:varyColors val="0"/>
        <c:ser>
          <c:idx val="2"/>
          <c:order val="0"/>
          <c:tx>
            <c:strRef>
              <c:f>'REFERENCING UG SHEET'!$C$7</c:f>
              <c:strCache>
                <c:ptCount val="1"/>
                <c:pt idx="0">
                  <c:v>GROSS OF ADVISORY FEE</c:v>
                </c:pt>
              </c:strCache>
              <c:extLst xmlns:c15="http://schemas.microsoft.com/office/drawing/2012/chart"/>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ext>
            </c:extLst>
          </c:dLbls>
          <c:cat>
            <c:strRef>
              <c:f>'REFERENCING UG SHEET'!$A$8:$A$14</c:f>
              <c:strCache>
                <c:ptCount val="7"/>
                <c:pt idx="0">
                  <c:v>QTD</c:v>
                </c:pt>
                <c:pt idx="1">
                  <c:v>YTD</c:v>
                </c:pt>
                <c:pt idx="2">
                  <c:v>1 YR</c:v>
                </c:pt>
                <c:pt idx="3">
                  <c:v>3 YR</c:v>
                </c:pt>
                <c:pt idx="4">
                  <c:v>5 YR</c:v>
                </c:pt>
                <c:pt idx="5">
                  <c:v>10 YR</c:v>
                </c:pt>
                <c:pt idx="6">
                  <c:v>SINCE INCEPTION
 (6/7/2021)</c:v>
                </c:pt>
              </c:strCache>
            </c:strRef>
          </c:cat>
          <c:val>
            <c:numRef>
              <c:f>('REFERENCING UG SHEET'!$C$9:$C$10,'REFERENCING UG SHEET'!$C$14)</c:f>
              <c:numCache>
                <c:formatCode>0.00%</c:formatCode>
                <c:ptCount val="3"/>
                <c:pt idx="0">
                  <c:v>2.9270000000000001E-2</c:v>
                </c:pt>
                <c:pt idx="1">
                  <c:v>1.0880000000000001E-2</c:v>
                </c:pt>
                <c:pt idx="2">
                  <c:v>-2.989E-2</c:v>
                </c:pt>
              </c:numCache>
              <c:extLst/>
            </c:numRef>
          </c:val>
          <c:extLst xmlns:c15="http://schemas.microsoft.com/office/drawing/2012/chart">
            <c:ext xmlns:c16="http://schemas.microsoft.com/office/drawing/2014/chart" uri="{C3380CC4-5D6E-409C-BE32-E72D297353CC}">
              <c16:uniqueId val="{00000000-32F3-4B16-B6AF-E5C26FD08D10}"/>
            </c:ext>
          </c:extLst>
        </c:ser>
        <c:ser>
          <c:idx val="0"/>
          <c:order val="1"/>
          <c:tx>
            <c:strRef>
              <c:f>'REFERENCING UG SHEET'!$D$7</c:f>
              <c:strCache>
                <c:ptCount val="1"/>
                <c:pt idx="0">
                  <c:v>NET OF ADVISORY FEE</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SHEET'!$A$8:$A$14</c:f>
              <c:strCache>
                <c:ptCount val="7"/>
                <c:pt idx="0">
                  <c:v>QTD</c:v>
                </c:pt>
                <c:pt idx="1">
                  <c:v>YTD</c:v>
                </c:pt>
                <c:pt idx="2">
                  <c:v>1 YR</c:v>
                </c:pt>
                <c:pt idx="3">
                  <c:v>3 YR</c:v>
                </c:pt>
                <c:pt idx="4">
                  <c:v>5 YR</c:v>
                </c:pt>
                <c:pt idx="5">
                  <c:v>10 YR</c:v>
                </c:pt>
                <c:pt idx="6">
                  <c:v>SINCE INCEPTION
 (6/7/2021)</c:v>
                </c:pt>
              </c:strCache>
            </c:strRef>
          </c:cat>
          <c:val>
            <c:numRef>
              <c:f>('REFERENCING UG SHEET'!$D$9:$D$10,'REFERENCING UG SHEET'!$D$14)</c:f>
              <c:numCache>
                <c:formatCode>0.00%</c:formatCode>
                <c:ptCount val="3"/>
                <c:pt idx="0">
                  <c:v>2.8400000000000002E-2</c:v>
                </c:pt>
                <c:pt idx="1">
                  <c:v>8.5199999999999998E-3</c:v>
                </c:pt>
                <c:pt idx="2">
                  <c:v>-3.2050000000000002E-2</c:v>
                </c:pt>
              </c:numCache>
              <c:extLst/>
            </c:numRef>
          </c:val>
          <c:extLst>
            <c:ext xmlns:c16="http://schemas.microsoft.com/office/drawing/2014/chart" uri="{C3380CC4-5D6E-409C-BE32-E72D297353CC}">
              <c16:uniqueId val="{00000001-32F3-4B16-B6AF-E5C26FD08D10}"/>
            </c:ext>
          </c:extLst>
        </c:ser>
        <c:ser>
          <c:idx val="1"/>
          <c:order val="2"/>
          <c:tx>
            <c:strRef>
              <c:f>'REFERENCING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100" b="0" i="0" u="none" strike="noStrike" kern="120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'REFERENCING UG SHEET'!$A$8:$A$14</c:f>
              <c:strCache>
                <c:ptCount val="7"/>
                <c:pt idx="0">
                  <c:v>QTD</c:v>
                </c:pt>
                <c:pt idx="1">
                  <c:v>YTD</c:v>
                </c:pt>
                <c:pt idx="2">
                  <c:v>1 YR</c:v>
                </c:pt>
                <c:pt idx="3">
                  <c:v>3 YR</c:v>
                </c:pt>
                <c:pt idx="4">
                  <c:v>5 YR</c:v>
                </c:pt>
                <c:pt idx="5">
                  <c:v>10 YR</c:v>
                </c:pt>
                <c:pt idx="6">
                  <c:v>SINCE INCEPTION
 (6/7/2021)</c:v>
                </c:pt>
              </c:strCache>
            </c:strRef>
          </c:cat>
          <c:val>
            <c:numRef>
              <c:f>('REFERENCING UG SHEET'!$E$9:$E$10,'REFERENCING UG SHEET'!$E$14)</c:f>
              <c:numCache>
                <c:formatCode>0.00%</c:formatCode>
                <c:ptCount val="3"/>
                <c:pt idx="0">
                  <c:v>2.9569999999999999E-2</c:v>
                </c:pt>
                <c:pt idx="1">
                  <c:v>9.58E-3</c:v>
                </c:pt>
                <c:pt idx="2">
                  <c:v>-3.2280000000000003E-2</c:v>
                </c:pt>
              </c:numCache>
              <c:extLst/>
            </c:numRef>
          </c:val>
          <c:extLst>
            <c:ext xmlns:c16="http://schemas.microsoft.com/office/drawing/2014/chart" uri="{C3380CC4-5D6E-409C-BE32-E72D297353CC}">
              <c16:uniqueId val="{00000002-32F3-4B16-B6AF-E5C26FD08D10}"/>
            </c:ext>
          </c:extLst>
        </c:ser>
        <c:dLbls>
          <c:showLegendKey val="0"/>
          <c:showVal val="0"/>
          <c:showCatName val="0"/>
          <c:showSerName val="0"/>
          <c:showPercent val="0"/>
          <c:showBubbleSize val="0"/>
        </c:dLbls>
        <c:gapWidth val="145"/>
        <c:overlap val="-20"/>
        <c:axId val="1106878872"/>
        <c:axId val="1"/>
        <c:extLst/>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1.8382210907816612E-3"/>
              <c:y val="0.37486141376218107"/>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0.17704838210587021"/>
          <c:y val="2.8602105331668678E-2"/>
          <c:w val="0.71764641480407521"/>
          <c:h val="7.49153990453372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687222228849629"/>
          <c:y val="0.15902049645773619"/>
          <c:w val="0.8931278291300544"/>
          <c:h val="0.68545259856146235"/>
        </c:manualLayout>
      </c:layout>
      <c:barChart>
        <c:barDir val="col"/>
        <c:grouping val="clustered"/>
        <c:varyColors val="0"/>
        <c:ser>
          <c:idx val="0"/>
          <c:order val="0"/>
          <c:tx>
            <c:strRef>
              <c:f>'[BOREX CRRG SMA October One off use NOV version in 2025 folder.xlsx]REFERENCING UG SHEET'!$C$7</c:f>
              <c:strCache>
                <c:ptCount val="1"/>
                <c:pt idx="0">
                  <c:v>GROSS</c:v>
                </c:pt>
              </c:strCache>
            </c:strRef>
          </c:tx>
          <c:spPr>
            <a:solidFill>
              <a:srgbClr val="2B3E59"/>
            </a:solidFill>
          </c:spPr>
          <c:invertIfNegative val="0"/>
          <c:dLbls>
            <c:spPr>
              <a:noFill/>
              <a:ln>
                <a:noFill/>
              </a:ln>
              <a:effectLst/>
            </c:spPr>
            <c:txPr>
              <a:bodyPr wrap="square" lIns="38100" tIns="19050" rIns="38100" bIns="19050" anchor="ctr" anchorCtr="0">
                <a:spAutoFit/>
              </a:bodyPr>
              <a:lstStyle/>
              <a:p>
                <a:pPr algn="ctr">
                  <a:defRPr lang="en-US" sz="1050" b="0" i="0" u="none" strike="noStrike" kern="1200" spc="-4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'[BOREX CRRG SMA October One off use NOV version in 2025 folder.xlsx]REFERENCING UG SHEET'!$A$8:$A$14</c:f>
              <c:strCache>
                <c:ptCount val="5"/>
                <c:pt idx="0">
                  <c:v>QTD</c:v>
                </c:pt>
                <c:pt idx="1">
                  <c:v>YTD</c:v>
                </c:pt>
                <c:pt idx="2">
                  <c:v>1 YR</c:v>
                </c:pt>
                <c:pt idx="3">
                  <c:v>3 YR</c:v>
                </c:pt>
                <c:pt idx="4">
                  <c:v>SINCE INCEPTION
 (6/7/2021)</c:v>
                </c:pt>
              </c:strCache>
              <c:extLst/>
            </c:strRef>
          </c:cat>
          <c:val>
            <c:numRef>
              <c:f>'[BOREX CRRG SMA October One off use NOV version in 2025 folder.xlsx]REFERENCING UG SHEET'!$C$8:$C$14</c:f>
              <c:numCache>
                <c:formatCode>0.00%</c:formatCode>
                <c:ptCount val="5"/>
                <c:pt idx="0">
                  <c:v>8.0800000000000004E-3</c:v>
                </c:pt>
                <c:pt idx="1">
                  <c:v>6.6180000000000003E-2</c:v>
                </c:pt>
                <c:pt idx="2">
                  <c:v>6.4170000000000005E-2</c:v>
                </c:pt>
                <c:pt idx="3">
                  <c:v>5.5789999999999999E-2</c:v>
                </c:pt>
                <c:pt idx="4">
                  <c:v>1.439E-2</c:v>
                </c:pt>
              </c:numCache>
              <c:extLst/>
            </c:numRef>
          </c:val>
          <c:extLst>
            <c:ext xmlns:c16="http://schemas.microsoft.com/office/drawing/2014/chart" uri="{C3380CC4-5D6E-409C-BE32-E72D297353CC}">
              <c16:uniqueId val="{00000000-55FF-425F-9416-320D6CD67662}"/>
            </c:ext>
          </c:extLst>
        </c:ser>
        <c:ser>
          <c:idx val="1"/>
          <c:order val="1"/>
          <c:tx>
            <c:strRef>
              <c:f>'[BOREX CRRG SMA October One off use NOV version in 2025 folder.xlsx]REFERENCING UG SHEET'!$D$7</c:f>
              <c:strCache>
                <c:ptCount val="1"/>
                <c:pt idx="0">
                  <c:v>NET</c:v>
                </c:pt>
              </c:strCache>
            </c:strRef>
          </c:tx>
          <c:spPr>
            <a:solidFill>
              <a:srgbClr val="0C7EA8"/>
            </a:solidFill>
          </c:spPr>
          <c:invertIfNegative val="0"/>
          <c:dLbls>
            <c:spPr>
              <a:noFill/>
              <a:ln>
                <a:noFill/>
              </a:ln>
              <a:effectLst/>
            </c:spPr>
            <c:txPr>
              <a:bodyPr wrap="square" lIns="38100" tIns="19050" rIns="38100" bIns="19050" anchor="ctr" anchorCtr="0">
                <a:spAutoFit/>
              </a:bodyPr>
              <a:lstStyle/>
              <a:p>
                <a:pPr algn="ctr">
                  <a:defRPr lang="en-US" sz="1050" b="0" i="0" u="none" strike="noStrike" kern="1200" spc="-4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'[BOREX CRRG SMA October One off use NOV version in 2025 folder.xlsx]REFERENCING UG SHEET'!$A$8:$A$14</c:f>
              <c:strCache>
                <c:ptCount val="5"/>
                <c:pt idx="0">
                  <c:v>QTD</c:v>
                </c:pt>
                <c:pt idx="1">
                  <c:v>YTD</c:v>
                </c:pt>
                <c:pt idx="2">
                  <c:v>1 YR</c:v>
                </c:pt>
                <c:pt idx="3">
                  <c:v>3 YR</c:v>
                </c:pt>
                <c:pt idx="4">
                  <c:v>SINCE INCEPTION
 (6/7/2021)</c:v>
                </c:pt>
              </c:strCache>
              <c:extLst/>
            </c:strRef>
          </c:cat>
          <c:val>
            <c:numRef>
              <c:f>'[BOREX CRRG SMA October One off use NOV version in 2025 folder.xlsx]REFERENCING UG SHEET'!$D$8:$D$14</c:f>
              <c:numCache>
                <c:formatCode>0.00%</c:formatCode>
                <c:ptCount val="5"/>
                <c:pt idx="0">
                  <c:v>8.0800000000000004E-3</c:v>
                </c:pt>
                <c:pt idx="1">
                  <c:v>6.4449999999999993E-2</c:v>
                </c:pt>
                <c:pt idx="2">
                  <c:v>6.1850000000000002E-2</c:v>
                </c:pt>
                <c:pt idx="3">
                  <c:v>5.3269999999999998E-2</c:v>
                </c:pt>
                <c:pt idx="4">
                  <c:v>1.208E-2</c:v>
                </c:pt>
              </c:numCache>
              <c:extLst/>
            </c:numRef>
          </c:val>
          <c:extLst>
            <c:ext xmlns:c16="http://schemas.microsoft.com/office/drawing/2014/chart" uri="{C3380CC4-5D6E-409C-BE32-E72D297353CC}">
              <c16:uniqueId val="{00000001-55FF-425F-9416-320D6CD67662}"/>
            </c:ext>
          </c:extLst>
        </c:ser>
        <c:ser>
          <c:idx val="2"/>
          <c:order val="2"/>
          <c:tx>
            <c:strRef>
              <c:f>'[BOREX CRRG SMA October One off use NOV version in 2025 folder.xlsx]REFERENCING UG SHEET'!$E$7</c:f>
              <c:strCache>
                <c:ptCount val="1"/>
                <c:pt idx="0">
                  <c:v>INDEX</c:v>
                </c:pt>
              </c:strCache>
            </c:strRef>
          </c:tx>
          <c:spPr>
            <a:solidFill>
              <a:srgbClr val="75A5B4"/>
            </a:solidFill>
          </c:spPr>
          <c:invertIfNegative val="0"/>
          <c:dLbls>
            <c:spPr>
              <a:noFill/>
              <a:ln>
                <a:noFill/>
              </a:ln>
              <a:effectLst/>
            </c:spPr>
            <c:txPr>
              <a:bodyPr wrap="square" lIns="38100" tIns="19050" rIns="38100" bIns="19050" anchor="ctr" anchorCtr="0">
                <a:spAutoFit/>
              </a:bodyPr>
              <a:lstStyle/>
              <a:p>
                <a:pPr algn="ctr">
                  <a:defRPr lang="en-US" sz="1050" b="0" i="0" u="none" strike="noStrike" kern="1200" spc="-40" baseline="0">
                    <a:solidFill>
                      <a:srgbClr val="646464"/>
                    </a:solidFill>
                    <a:latin typeface="Poppins Medium" panose="00000600000000000000" pitchFamily="2" charset="0"/>
                    <a:ea typeface="Calibri"/>
                    <a:cs typeface="Poppins Medium" panose="000006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'[BOREX CRRG SMA October One off use NOV version in 2025 folder.xlsx]REFERENCING UG SHEET'!$A$8:$A$14</c:f>
              <c:strCache>
                <c:ptCount val="5"/>
                <c:pt idx="0">
                  <c:v>QTD</c:v>
                </c:pt>
                <c:pt idx="1">
                  <c:v>YTD</c:v>
                </c:pt>
                <c:pt idx="2">
                  <c:v>1 YR</c:v>
                </c:pt>
                <c:pt idx="3">
                  <c:v>3 YR</c:v>
                </c:pt>
                <c:pt idx="4">
                  <c:v>SINCE INCEPTION
 (6/7/2021)</c:v>
                </c:pt>
              </c:strCache>
              <c:extLst/>
            </c:strRef>
          </c:cat>
          <c:val>
            <c:numRef>
              <c:f>'[BOREX CRRG SMA October One off use NOV version in 2025 folder.xlsx]REFERENCING UG SHEET'!$E$8:$E$14</c:f>
              <c:numCache>
                <c:formatCode>0.00%</c:formatCode>
                <c:ptCount val="5"/>
                <c:pt idx="0">
                  <c:v>7.8899999999999994E-3</c:v>
                </c:pt>
                <c:pt idx="1">
                  <c:v>6.5369999999999998E-2</c:v>
                </c:pt>
                <c:pt idx="2">
                  <c:v>6.3170000000000004E-2</c:v>
                </c:pt>
                <c:pt idx="3">
                  <c:v>5.4330000000000003E-2</c:v>
                </c:pt>
                <c:pt idx="4">
                  <c:v>1.2030000000000001E-2</c:v>
                </c:pt>
              </c:numCache>
              <c:extLst/>
            </c:numRef>
          </c:val>
          <c:extLst>
            <c:ext xmlns:c16="http://schemas.microsoft.com/office/drawing/2014/chart" uri="{C3380CC4-5D6E-409C-BE32-E72D297353CC}">
              <c16:uniqueId val="{00000002-55FF-425F-9416-320D6CD67662}"/>
            </c:ext>
          </c:extLst>
        </c:ser>
        <c:dLbls>
          <c:showLegendKey val="0"/>
          <c:showVal val="0"/>
          <c:showCatName val="0"/>
          <c:showSerName val="0"/>
          <c:showPercent val="0"/>
          <c:showBubbleSize val="0"/>
        </c:dLbls>
        <c:gapWidth val="95"/>
        <c:overlap val="-10"/>
        <c:axId val="1106878872"/>
        <c:axId val="1"/>
      </c:barChart>
      <c:catAx>
        <c:axId val="1106878872"/>
        <c:scaling>
          <c:orientation val="minMax"/>
        </c:scaling>
        <c:delete val="0"/>
        <c:axPos val="b"/>
        <c:numFmt formatCode="General" sourceLinked="1"/>
        <c:majorTickMark val="out"/>
        <c:minorTickMark val="none"/>
        <c:tickLblPos val="low"/>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
        <c:crosses val="autoZero"/>
        <c:auto val="1"/>
        <c:lblAlgn val="ctr"/>
        <c:lblOffset val="100"/>
        <c:noMultiLvlLbl val="0"/>
      </c:catAx>
      <c:valAx>
        <c:axId val="1"/>
        <c:scaling>
          <c:orientation val="minMax"/>
        </c:scaling>
        <c:delete val="0"/>
        <c:axPos val="l"/>
        <c:title>
          <c:tx>
            <c:rich>
              <a:bodyPr/>
              <a:lstStyle/>
              <a:p>
                <a:pPr>
                  <a:defRPr sz="1300" b="0" i="0" u="none" strike="noStrike" baseline="0">
                    <a:solidFill>
                      <a:schemeClr val="bg1">
                        <a:lumMod val="50000"/>
                      </a:schemeClr>
                    </a:solidFill>
                    <a:latin typeface="Poppins SemiBold" panose="00000700000000000000" pitchFamily="2" charset="0"/>
                    <a:ea typeface="Calibri"/>
                    <a:cs typeface="Poppins SemiBold" panose="00000700000000000000" pitchFamily="2" charset="0"/>
                  </a:defRPr>
                </a:pPr>
                <a:r>
                  <a:rPr lang="en-US" sz="1300" b="0">
                    <a:solidFill>
                      <a:schemeClr val="bg1">
                        <a:lumMod val="50000"/>
                      </a:schemeClr>
                    </a:solidFill>
                    <a:latin typeface="Poppins SemiBold" panose="00000700000000000000" pitchFamily="2" charset="0"/>
                    <a:cs typeface="Poppins SemiBold" panose="00000700000000000000" pitchFamily="2" charset="0"/>
                  </a:rPr>
                  <a:t>RETURN (%)</a:t>
                </a:r>
              </a:p>
            </c:rich>
          </c:tx>
          <c:layout>
            <c:manualLayout>
              <c:xMode val="edge"/>
              <c:yMode val="edge"/>
              <c:x val="3.3478686690501637E-3"/>
              <c:y val="0.37768877908441778"/>
            </c:manualLayout>
          </c:layout>
          <c:overlay val="0"/>
        </c:title>
        <c:numFmt formatCode="0.0%" sourceLinked="0"/>
        <c:majorTickMark val="none"/>
        <c:minorTickMark val="none"/>
        <c:tickLblPos val="nextTo"/>
        <c:txPr>
          <a:bodyPr rot="0" vert="horz"/>
          <a:lstStyle/>
          <a:p>
            <a:pPr>
              <a:defRPr sz="1100" b="0" i="0" u="none" strike="noStrike" baseline="0">
                <a:solidFill>
                  <a:schemeClr val="bg1">
                    <a:lumMod val="50000"/>
                  </a:schemeClr>
                </a:solidFill>
                <a:latin typeface="Poppins Medium" panose="00000600000000000000" pitchFamily="2" charset="0"/>
                <a:ea typeface="Calibri"/>
                <a:cs typeface="Poppins Medium" panose="00000600000000000000" pitchFamily="2" charset="0"/>
              </a:defRPr>
            </a:pPr>
            <a:endParaRPr lang="en-US"/>
          </a:p>
        </c:txPr>
        <c:crossAx val="1106878872"/>
        <c:crosses val="autoZero"/>
        <c:crossBetween val="between"/>
      </c:valAx>
      <c:spPr>
        <a:noFill/>
        <a:ln w="25400">
          <a:noFill/>
        </a:ln>
      </c:spPr>
    </c:plotArea>
    <c:legend>
      <c:legendPos val="t"/>
      <c:layout>
        <c:manualLayout>
          <c:xMode val="edge"/>
          <c:yMode val="edge"/>
          <c:x val="0.20247227775483467"/>
          <c:y val="1.1291979882104809E-3"/>
          <c:w val="0.68067554809153907"/>
          <c:h val="8.1146611595032503E-2"/>
        </c:manualLayout>
      </c:layout>
      <c:overlay val="0"/>
      <c:txPr>
        <a:bodyPr/>
        <a:lstStyle/>
        <a:p>
          <a:pPr algn="ctr">
            <a:defRPr lang="en-US" sz="1200" b="0" i="0" u="none" strike="noStrike" kern="1200" baseline="0">
              <a:solidFill>
                <a:schemeClr val="tx1">
                  <a:lumMod val="65000"/>
                  <a:lumOff val="35000"/>
                </a:schemeClr>
              </a:solidFill>
              <a:latin typeface="Poppins SemiBold" panose="00000700000000000000" pitchFamily="2" charset="0"/>
              <a:ea typeface="Calibri"/>
              <a:cs typeface="Poppins SemiBold" panose="00000700000000000000" pitchFamily="2" charset="0"/>
            </a:defRPr>
          </a:pPr>
          <a:endParaRPr lang="en-US"/>
        </a:p>
      </c:txPr>
    </c:legend>
    <c:plotVisOnly val="1"/>
    <c:dispBlanksAs val="gap"/>
    <c:showDLblsOverMax val="0"/>
  </c:chart>
  <c:spPr>
    <a:noFill/>
    <a:ln>
      <a:no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868016089453672"/>
          <c:y val="0.12816591558665"/>
          <c:w val="0.85585070236107585"/>
          <c:h val="0.62079269106256274"/>
        </c:manualLayout>
      </c:layout>
      <c:barChart>
        <c:barDir val="col"/>
        <c:grouping val="clustered"/>
        <c:varyColors val="0"/>
        <c:ser>
          <c:idx val="0"/>
          <c:order val="0"/>
          <c:tx>
            <c:strRef>
              <c:f>HYLB!$B$32</c:f>
              <c:strCache>
                <c:ptCount val="1"/>
                <c:pt idx="0">
                  <c:v>NAV (NET)</c:v>
                </c:pt>
              </c:strCache>
            </c:strRef>
          </c:tx>
          <c:spPr>
            <a:solidFill>
              <a:srgbClr val="0C7EA8"/>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HYLB!$A$33:$A$37</c:f>
              <c:strCache>
                <c:ptCount val="5"/>
                <c:pt idx="0">
                  <c:v>YTD</c:v>
                </c:pt>
                <c:pt idx="1">
                  <c:v>1 year</c:v>
                </c:pt>
                <c:pt idx="2">
                  <c:v>3 YEARS</c:v>
                </c:pt>
                <c:pt idx="3">
                  <c:v>5 YEARS</c:v>
                </c:pt>
                <c:pt idx="4">
                  <c:v>SINCE INCEPTION (12/7/2016)</c:v>
                </c:pt>
              </c:strCache>
            </c:strRef>
          </c:cat>
          <c:val>
            <c:numRef>
              <c:f>HYLB!$B$33:$B$37</c:f>
              <c:numCache>
                <c:formatCode>0.00%</c:formatCode>
                <c:ptCount val="5"/>
                <c:pt idx="0">
                  <c:v>7.026056E-2</c:v>
                </c:pt>
                <c:pt idx="1">
                  <c:v>7.087170000000001E-2</c:v>
                </c:pt>
                <c:pt idx="2">
                  <c:v>0.10680397</c:v>
                </c:pt>
                <c:pt idx="3">
                  <c:v>4.9926569999999997E-2</c:v>
                </c:pt>
                <c:pt idx="4">
                  <c:v>4.8300000000000003E-2</c:v>
                </c:pt>
              </c:numCache>
            </c:numRef>
          </c:val>
          <c:extLst>
            <c:ext xmlns:c16="http://schemas.microsoft.com/office/drawing/2014/chart" uri="{C3380CC4-5D6E-409C-BE32-E72D297353CC}">
              <c16:uniqueId val="{00000000-7349-4F9D-A57E-04840B0B3B4C}"/>
            </c:ext>
          </c:extLst>
        </c:ser>
        <c:ser>
          <c:idx val="1"/>
          <c:order val="1"/>
          <c:tx>
            <c:strRef>
              <c:f>HYLB!$C$32</c:f>
              <c:strCache>
                <c:ptCount val="1"/>
                <c:pt idx="0">
                  <c:v>INDEX</c:v>
                </c:pt>
              </c:strCache>
            </c:strRef>
          </c:tx>
          <c:spPr>
            <a:solidFill>
              <a:srgbClr val="75A5B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HYLB!$A$33:$A$37</c:f>
              <c:strCache>
                <c:ptCount val="5"/>
                <c:pt idx="0">
                  <c:v>YTD</c:v>
                </c:pt>
                <c:pt idx="1">
                  <c:v>1 year</c:v>
                </c:pt>
                <c:pt idx="2">
                  <c:v>3 YEARS</c:v>
                </c:pt>
                <c:pt idx="3">
                  <c:v>5 YEARS</c:v>
                </c:pt>
                <c:pt idx="4">
                  <c:v>SINCE INCEPTION (12/7/2016)</c:v>
                </c:pt>
              </c:strCache>
            </c:strRef>
          </c:cat>
          <c:val>
            <c:numRef>
              <c:f>HYLB!$C$33:$C$37</c:f>
              <c:numCache>
                <c:formatCode>0.00%</c:formatCode>
                <c:ptCount val="5"/>
                <c:pt idx="0">
                  <c:v>6.9739289999999995E-2</c:v>
                </c:pt>
                <c:pt idx="1">
                  <c:v>7.0041309999999996E-2</c:v>
                </c:pt>
                <c:pt idx="2">
                  <c:v>0.10794181999999999</c:v>
                </c:pt>
                <c:pt idx="3">
                  <c:v>5.1133490000000004E-2</c:v>
                </c:pt>
                <c:pt idx="4">
                  <c:v>5.0299999999999997E-2</c:v>
                </c:pt>
              </c:numCache>
            </c:numRef>
          </c:val>
          <c:extLst>
            <c:ext xmlns:c16="http://schemas.microsoft.com/office/drawing/2014/chart" uri="{C3380CC4-5D6E-409C-BE32-E72D297353CC}">
              <c16:uniqueId val="{00000001-7349-4F9D-A57E-04840B0B3B4C}"/>
            </c:ext>
          </c:extLst>
        </c:ser>
        <c:dLbls>
          <c:dLblPos val="outEnd"/>
          <c:showLegendKey val="0"/>
          <c:showVal val="1"/>
          <c:showCatName val="0"/>
          <c:showSerName val="0"/>
          <c:showPercent val="0"/>
          <c:showBubbleSize val="0"/>
        </c:dLbls>
        <c:gapWidth val="90"/>
        <c:overlap val="-25"/>
        <c:axId val="141711568"/>
        <c:axId val="141714192"/>
      </c:barChart>
      <c:catAx>
        <c:axId val="141711568"/>
        <c:scaling>
          <c:orientation val="minMax"/>
        </c:scaling>
        <c:delete val="0"/>
        <c:axPos val="b"/>
        <c:title>
          <c:tx>
            <c:rich>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PERFORMANCE TIME PERIOD</a:t>
                </a:r>
              </a:p>
            </c:rich>
          </c:tx>
          <c:layout>
            <c:manualLayout>
              <c:xMode val="edge"/>
              <c:yMode val="edge"/>
              <c:x val="0.42310707096572275"/>
              <c:y val="0.92583903496847164"/>
            </c:manualLayout>
          </c:layout>
          <c:overlay val="0"/>
          <c:spPr>
            <a:noFill/>
            <a:ln>
              <a:noFill/>
            </a:ln>
            <a:effectLst/>
          </c:spPr>
          <c:txPr>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cap="all"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4192"/>
        <c:crosses val="autoZero"/>
        <c:auto val="1"/>
        <c:lblAlgn val="ctr"/>
        <c:lblOffset val="100"/>
        <c:noMultiLvlLbl val="0"/>
      </c:catAx>
      <c:valAx>
        <c:axId val="141714192"/>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RETURNS (%)</a:t>
                </a:r>
              </a:p>
            </c:rich>
          </c:tx>
          <c:layout>
            <c:manualLayout>
              <c:xMode val="edge"/>
              <c:yMode val="edge"/>
              <c:x val="2.2223986030637352E-3"/>
              <c:y val="0.31561444933876814"/>
            </c:manualLayout>
          </c:layout>
          <c:overlay val="0"/>
          <c:spPr>
            <a:noFill/>
            <a:ln>
              <a:noFill/>
            </a:ln>
            <a:effectLst/>
          </c:spPr>
          <c:txPr>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0.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1568"/>
        <c:crosses val="autoZero"/>
        <c:crossBetween val="between"/>
        <c:majorUnit val="2.0000000000000004E-2"/>
        <c:minorUnit val="2.0000000000000004E-2"/>
      </c:valAx>
      <c:spPr>
        <a:solidFill>
          <a:schemeClr val="bg1"/>
        </a:solidFill>
        <a:ln>
          <a:noFill/>
        </a:ln>
        <a:effectLst/>
      </c:spPr>
    </c:plotArea>
    <c:legend>
      <c:legendPos val="b"/>
      <c:layout>
        <c:manualLayout>
          <c:xMode val="edge"/>
          <c:yMode val="edge"/>
          <c:x val="0.17537142362171965"/>
          <c:y val="3.6284938821136035E-4"/>
          <c:w val="0.62823951350332252"/>
          <c:h val="6.6017236126341E-2"/>
        </c:manualLayout>
      </c:layout>
      <c:overlay val="0"/>
      <c:spPr>
        <a:noFill/>
        <a:ln>
          <a:noFill/>
        </a:ln>
        <a:effectLst/>
      </c:spPr>
      <c:txPr>
        <a:bodyPr rot="0" spcFirstLastPara="1" vertOverflow="ellipsis" vert="horz" wrap="square" anchor="ctr" anchorCtr="1"/>
        <a:lstStyle/>
        <a:p>
          <a:pPr>
            <a:defRPr lang="en-US" sz="1050" b="0" i="0" u="none" strike="noStrike" kern="1200" baseline="0">
              <a:solidFill>
                <a:schemeClr val="tx1">
                  <a:lumMod val="65000"/>
                  <a:lumOff val="35000"/>
                </a:schemeClr>
              </a:solidFill>
              <a:latin typeface="Poppins SemiBold" panose="00000700000000000000" pitchFamily="50" charset="0"/>
              <a:ea typeface="+mn-ea"/>
              <a:cs typeface="Poppins SemiBold" panose="00000700000000000000" pitchFamily="50"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4">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852747608801307"/>
          <c:y val="9.2597925259342601E-2"/>
          <c:w val="0.83461414818382684"/>
          <c:h val="0.74086789151356081"/>
        </c:manualLayout>
      </c:layout>
      <c:barChart>
        <c:barDir val="col"/>
        <c:grouping val="clustered"/>
        <c:varyColors val="0"/>
        <c:ser>
          <c:idx val="0"/>
          <c:order val="0"/>
          <c:tx>
            <c:strRef>
              <c:f>ANGL!$B$32</c:f>
              <c:strCache>
                <c:ptCount val="1"/>
                <c:pt idx="0">
                  <c:v>NAV (NET)</c:v>
                </c:pt>
              </c:strCache>
            </c:strRef>
          </c:tx>
          <c:spPr>
            <a:solidFill>
              <a:srgbClr val="0C7EA8"/>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ANGL!$A$33:$A$37</c:f>
              <c:strCache>
                <c:ptCount val="5"/>
                <c:pt idx="0">
                  <c:v>YTD</c:v>
                </c:pt>
                <c:pt idx="1">
                  <c:v>1 YEAR</c:v>
                </c:pt>
                <c:pt idx="2">
                  <c:v>3 YEARS</c:v>
                </c:pt>
                <c:pt idx="3">
                  <c:v>5 YEARS</c:v>
                </c:pt>
                <c:pt idx="4">
                  <c:v>10 YEARS</c:v>
                </c:pt>
              </c:strCache>
            </c:strRef>
          </c:cat>
          <c:val>
            <c:numRef>
              <c:f>ANGL!$B$33:$B$37</c:f>
              <c:numCache>
                <c:formatCode>0.00%</c:formatCode>
                <c:ptCount val="5"/>
                <c:pt idx="0">
                  <c:v>7.9010410000000003E-2</c:v>
                </c:pt>
                <c:pt idx="1">
                  <c:v>7.6039259999999997E-2</c:v>
                </c:pt>
                <c:pt idx="2">
                  <c:v>0.10249435999999999</c:v>
                </c:pt>
                <c:pt idx="3">
                  <c:v>5.3385259999999997E-2</c:v>
                </c:pt>
                <c:pt idx="4">
                  <c:v>7.0807549999999997E-2</c:v>
                </c:pt>
              </c:numCache>
            </c:numRef>
          </c:val>
          <c:extLst>
            <c:ext xmlns:c16="http://schemas.microsoft.com/office/drawing/2014/chart" uri="{C3380CC4-5D6E-409C-BE32-E72D297353CC}">
              <c16:uniqueId val="{00000000-0384-4FB2-ADD1-0FD314FBD517}"/>
            </c:ext>
          </c:extLst>
        </c:ser>
        <c:ser>
          <c:idx val="1"/>
          <c:order val="1"/>
          <c:tx>
            <c:strRef>
              <c:f>ANGL!$C$32</c:f>
              <c:strCache>
                <c:ptCount val="1"/>
                <c:pt idx="0">
                  <c:v>INDEX</c:v>
                </c:pt>
              </c:strCache>
            </c:strRef>
          </c:tx>
          <c:spPr>
            <a:solidFill>
              <a:srgbClr val="75A5B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ANGL!$A$33:$A$37</c:f>
              <c:strCache>
                <c:ptCount val="5"/>
                <c:pt idx="0">
                  <c:v>YTD</c:v>
                </c:pt>
                <c:pt idx="1">
                  <c:v>1 YEAR</c:v>
                </c:pt>
                <c:pt idx="2">
                  <c:v>3 YEARS</c:v>
                </c:pt>
                <c:pt idx="3">
                  <c:v>5 YEARS</c:v>
                </c:pt>
                <c:pt idx="4">
                  <c:v>10 YEARS</c:v>
                </c:pt>
              </c:strCache>
            </c:strRef>
          </c:cat>
          <c:val>
            <c:numRef>
              <c:f>ANGL!$C$33:$C$37</c:f>
              <c:numCache>
                <c:formatCode>0.00%</c:formatCode>
                <c:ptCount val="5"/>
                <c:pt idx="0">
                  <c:v>7.8408489999999997E-2</c:v>
                </c:pt>
                <c:pt idx="1">
                  <c:v>7.4084940000000002E-2</c:v>
                </c:pt>
                <c:pt idx="2">
                  <c:v>0.10348397000000001</c:v>
                </c:pt>
                <c:pt idx="3">
                  <c:v>5.5964539999999993E-2</c:v>
                </c:pt>
                <c:pt idx="4">
                  <c:v>7.4899889999999997E-2</c:v>
                </c:pt>
              </c:numCache>
            </c:numRef>
          </c:val>
          <c:extLst>
            <c:ext xmlns:c16="http://schemas.microsoft.com/office/drawing/2014/chart" uri="{C3380CC4-5D6E-409C-BE32-E72D297353CC}">
              <c16:uniqueId val="{00000001-0384-4FB2-ADD1-0FD314FBD517}"/>
            </c:ext>
          </c:extLst>
        </c:ser>
        <c:dLbls>
          <c:dLblPos val="outEnd"/>
          <c:showLegendKey val="0"/>
          <c:showVal val="1"/>
          <c:showCatName val="0"/>
          <c:showSerName val="0"/>
          <c:showPercent val="0"/>
          <c:showBubbleSize val="0"/>
        </c:dLbls>
        <c:gapWidth val="90"/>
        <c:overlap val="-25"/>
        <c:axId val="141711568"/>
        <c:axId val="141714192"/>
      </c:barChart>
      <c:catAx>
        <c:axId val="141711568"/>
        <c:scaling>
          <c:orientation val="minMax"/>
        </c:scaling>
        <c:delete val="0"/>
        <c:axPos val="b"/>
        <c:title>
          <c:tx>
            <c:rich>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PERFORMANCE TIME PERIOD</a:t>
                </a:r>
              </a:p>
            </c:rich>
          </c:tx>
          <c:layout>
            <c:manualLayout>
              <c:xMode val="edge"/>
              <c:yMode val="edge"/>
              <c:x val="0.38245662229265481"/>
              <c:y val="0.92085239345081848"/>
            </c:manualLayout>
          </c:layout>
          <c:overlay val="0"/>
          <c:spPr>
            <a:noFill/>
            <a:ln>
              <a:noFill/>
            </a:ln>
            <a:effectLst/>
          </c:spPr>
          <c:txPr>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4192"/>
        <c:crosses val="autoZero"/>
        <c:auto val="1"/>
        <c:lblAlgn val="ctr"/>
        <c:lblOffset val="100"/>
        <c:noMultiLvlLbl val="0"/>
      </c:catAx>
      <c:valAx>
        <c:axId val="141714192"/>
        <c:scaling>
          <c:orientation val="minMax"/>
          <c:max val="0.12000000000000001"/>
          <c:min val="0"/>
        </c:scaling>
        <c:delete val="0"/>
        <c:axPos val="l"/>
        <c:majorGridlines>
          <c:spPr>
            <a:ln w="9525" cap="flat" cmpd="sng" algn="ctr">
              <a:noFill/>
              <a:round/>
            </a:ln>
            <a:effectLst/>
          </c:spPr>
        </c:majorGridlines>
        <c:title>
          <c:tx>
            <c:rich>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RETURNS (%)</a:t>
                </a:r>
              </a:p>
            </c:rich>
          </c:tx>
          <c:layout>
            <c:manualLayout>
              <c:xMode val="edge"/>
              <c:yMode val="edge"/>
              <c:x val="2.2223986030637352E-3"/>
              <c:y val="0.31561444933876814"/>
            </c:manualLayout>
          </c:layout>
          <c:overlay val="0"/>
          <c:spPr>
            <a:noFill/>
            <a:ln>
              <a:noFill/>
            </a:ln>
            <a:effectLst/>
          </c:spPr>
          <c:txPr>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0.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1568"/>
        <c:crosses val="autoZero"/>
        <c:crossBetween val="between"/>
        <c:majorUnit val="2.0000000000000004E-2"/>
      </c:valAx>
      <c:spPr>
        <a:noFill/>
        <a:ln>
          <a:noFill/>
        </a:ln>
        <a:effectLst/>
      </c:spPr>
    </c:plotArea>
    <c:legend>
      <c:legendPos val="b"/>
      <c:layout>
        <c:manualLayout>
          <c:xMode val="edge"/>
          <c:yMode val="edge"/>
          <c:x val="0.17537142362171965"/>
          <c:y val="3.6284938821136035E-4"/>
          <c:w val="0.62823951350332252"/>
          <c:h val="6.6017236126341E-2"/>
        </c:manualLayout>
      </c:layout>
      <c:overlay val="0"/>
      <c:spPr>
        <a:noFill/>
        <a:ln>
          <a:noFill/>
        </a:ln>
        <a:effectLst/>
      </c:spPr>
      <c:txPr>
        <a:bodyPr rot="0" spcFirstLastPara="1" vertOverflow="ellipsis" vert="horz" wrap="square" anchor="ctr" anchorCtr="1"/>
        <a:lstStyle/>
        <a:p>
          <a:pPr>
            <a:defRPr lang="en-US" sz="1050" b="0" i="0" u="none" strike="noStrike" kern="1200" baseline="0">
              <a:solidFill>
                <a:schemeClr val="tx1">
                  <a:lumMod val="65000"/>
                  <a:lumOff val="35000"/>
                </a:schemeClr>
              </a:solidFill>
              <a:latin typeface="Poppins SemiBold" panose="00000700000000000000" pitchFamily="50" charset="0"/>
              <a:ea typeface="+mn-ea"/>
              <a:cs typeface="Poppins SemiBold" panose="00000700000000000000" pitchFamily="50"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4">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852746224068515"/>
          <c:y val="0.13789662527003127"/>
          <c:w val="0.83461414818382684"/>
          <c:h val="0.60476560730189377"/>
        </c:manualLayout>
      </c:layout>
      <c:barChart>
        <c:barDir val="col"/>
        <c:grouping val="clustered"/>
        <c:varyColors val="0"/>
        <c:ser>
          <c:idx val="0"/>
          <c:order val="0"/>
          <c:tx>
            <c:strRef>
              <c:f>VOO!$B$23</c:f>
              <c:strCache>
                <c:ptCount val="1"/>
                <c:pt idx="0">
                  <c:v>NAV (NET)</c:v>
                </c:pt>
              </c:strCache>
            </c:strRef>
          </c:tx>
          <c:spPr>
            <a:solidFill>
              <a:srgbClr val="0C7EA8"/>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VOO!$A$24:$A$28</c:f>
              <c:strCache>
                <c:ptCount val="5"/>
                <c:pt idx="0">
                  <c:v>YTD</c:v>
                </c:pt>
                <c:pt idx="1">
                  <c:v>1 YEAR</c:v>
                </c:pt>
                <c:pt idx="2">
                  <c:v>3 YEARS</c:v>
                </c:pt>
                <c:pt idx="3">
                  <c:v>5 YEARS</c:v>
                </c:pt>
                <c:pt idx="4">
                  <c:v>10 YEARS</c:v>
                </c:pt>
              </c:strCache>
            </c:strRef>
          </c:cat>
          <c:val>
            <c:numRef>
              <c:f>VOO!$B$24:$B$28</c:f>
              <c:numCache>
                <c:formatCode>0.00%</c:formatCode>
                <c:ptCount val="5"/>
                <c:pt idx="0">
                  <c:v>0.14804100000000001</c:v>
                </c:pt>
                <c:pt idx="1">
                  <c:v>0.17561198</c:v>
                </c:pt>
                <c:pt idx="2">
                  <c:v>0.24895081000000002</c:v>
                </c:pt>
                <c:pt idx="3">
                  <c:v>0.16427079999999999</c:v>
                </c:pt>
                <c:pt idx="4">
                  <c:v>0.15261773000000001</c:v>
                </c:pt>
              </c:numCache>
            </c:numRef>
          </c:val>
          <c:extLst>
            <c:ext xmlns:c16="http://schemas.microsoft.com/office/drawing/2014/chart" uri="{C3380CC4-5D6E-409C-BE32-E72D297353CC}">
              <c16:uniqueId val="{00000000-6A10-47B6-88E2-F40D1C5A706B}"/>
            </c:ext>
          </c:extLst>
        </c:ser>
        <c:ser>
          <c:idx val="1"/>
          <c:order val="1"/>
          <c:tx>
            <c:strRef>
              <c:f>VOO!$C$23</c:f>
              <c:strCache>
                <c:ptCount val="1"/>
                <c:pt idx="0">
                  <c:v>INDEX</c:v>
                </c:pt>
              </c:strCache>
            </c:strRef>
          </c:tx>
          <c:spPr>
            <a:solidFill>
              <a:srgbClr val="75A5B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VOO!$A$24:$A$28</c:f>
              <c:strCache>
                <c:ptCount val="5"/>
                <c:pt idx="0">
                  <c:v>YTD</c:v>
                </c:pt>
                <c:pt idx="1">
                  <c:v>1 YEAR</c:v>
                </c:pt>
                <c:pt idx="2">
                  <c:v>3 YEARS</c:v>
                </c:pt>
                <c:pt idx="3">
                  <c:v>5 YEARS</c:v>
                </c:pt>
                <c:pt idx="4">
                  <c:v>10 YEARS</c:v>
                </c:pt>
              </c:strCache>
            </c:strRef>
          </c:cat>
          <c:val>
            <c:numRef>
              <c:f>VOO!$C$24:$C$28</c:f>
              <c:numCache>
                <c:formatCode>0.00%</c:formatCode>
                <c:ptCount val="5"/>
                <c:pt idx="0">
                  <c:v>0.14831324000000001</c:v>
                </c:pt>
                <c:pt idx="1">
                  <c:v>0.17597747999999999</c:v>
                </c:pt>
                <c:pt idx="2">
                  <c:v>0.24935154000000001</c:v>
                </c:pt>
                <c:pt idx="3">
                  <c:v>0.16466989999999998</c:v>
                </c:pt>
                <c:pt idx="4">
                  <c:v>0.15301745</c:v>
                </c:pt>
              </c:numCache>
            </c:numRef>
          </c:val>
          <c:extLst>
            <c:ext xmlns:c16="http://schemas.microsoft.com/office/drawing/2014/chart" uri="{C3380CC4-5D6E-409C-BE32-E72D297353CC}">
              <c16:uniqueId val="{00000001-6A10-47B6-88E2-F40D1C5A706B}"/>
            </c:ext>
          </c:extLst>
        </c:ser>
        <c:dLbls>
          <c:dLblPos val="outEnd"/>
          <c:showLegendKey val="0"/>
          <c:showVal val="1"/>
          <c:showCatName val="0"/>
          <c:showSerName val="0"/>
          <c:showPercent val="0"/>
          <c:showBubbleSize val="0"/>
        </c:dLbls>
        <c:gapWidth val="66"/>
        <c:overlap val="-25"/>
        <c:axId val="141711568"/>
        <c:axId val="141714192"/>
      </c:barChart>
      <c:catAx>
        <c:axId val="141711568"/>
        <c:scaling>
          <c:orientation val="minMax"/>
        </c:scaling>
        <c:delete val="0"/>
        <c:axPos val="b"/>
        <c:title>
          <c:tx>
            <c:rich>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PERFORMANCE TIME PERIOD</a:t>
                </a:r>
              </a:p>
            </c:rich>
          </c:tx>
          <c:layout>
            <c:manualLayout>
              <c:xMode val="edge"/>
              <c:yMode val="edge"/>
              <c:x val="0.39990974144916736"/>
              <c:y val="0.87557533372384699"/>
            </c:manualLayout>
          </c:layout>
          <c:overlay val="0"/>
          <c:spPr>
            <a:noFill/>
            <a:ln>
              <a:noFill/>
            </a:ln>
            <a:effectLst/>
          </c:spPr>
          <c:txPr>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4192"/>
        <c:crosses val="autoZero"/>
        <c:auto val="1"/>
        <c:lblAlgn val="ctr"/>
        <c:lblOffset val="100"/>
        <c:noMultiLvlLbl val="0"/>
      </c:catAx>
      <c:valAx>
        <c:axId val="141714192"/>
        <c:scaling>
          <c:orientation val="minMax"/>
          <c:max val="0.30000000000000004"/>
          <c:min val="0"/>
        </c:scaling>
        <c:delete val="0"/>
        <c:axPos val="l"/>
        <c:majorGridlines>
          <c:spPr>
            <a:ln w="9525" cap="flat" cmpd="sng" algn="ctr">
              <a:noFill/>
              <a:round/>
            </a:ln>
            <a:effectLst/>
          </c:spPr>
        </c:majorGridlines>
        <c:title>
          <c:tx>
            <c:rich>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RETURNS (%)</a:t>
                </a:r>
              </a:p>
            </c:rich>
          </c:tx>
          <c:layout>
            <c:manualLayout>
              <c:xMode val="edge"/>
              <c:yMode val="edge"/>
              <c:x val="2.2223986030637352E-3"/>
              <c:y val="0.31561444933876814"/>
            </c:manualLayout>
          </c:layout>
          <c:overlay val="0"/>
          <c:spPr>
            <a:noFill/>
            <a:ln>
              <a:noFill/>
            </a:ln>
            <a:effectLst/>
          </c:spPr>
          <c:txPr>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0.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1568"/>
        <c:crosses val="autoZero"/>
        <c:crossBetween val="between"/>
        <c:majorUnit val="5.000000000000001E-2"/>
      </c:valAx>
      <c:spPr>
        <a:noFill/>
        <a:ln>
          <a:noFill/>
        </a:ln>
        <a:effectLst/>
      </c:spPr>
    </c:plotArea>
    <c:legend>
      <c:legendPos val="b"/>
      <c:layout>
        <c:manualLayout>
          <c:xMode val="edge"/>
          <c:yMode val="edge"/>
          <c:x val="0.2216677410937668"/>
          <c:y val="2.9016150750870221E-2"/>
          <c:w val="0.62823951350332252"/>
          <c:h val="6.6017236126341E-2"/>
        </c:manualLayout>
      </c:layout>
      <c:overlay val="0"/>
      <c:spPr>
        <a:noFill/>
        <a:ln>
          <a:noFill/>
        </a:ln>
        <a:effectLst/>
      </c:spPr>
      <c:txPr>
        <a:bodyPr rot="0" spcFirstLastPara="1" vertOverflow="ellipsis" vert="horz" wrap="square" anchor="ctr" anchorCtr="1"/>
        <a:lstStyle/>
        <a:p>
          <a:pPr>
            <a:defRPr lang="en-US" sz="1050" b="0" i="0" u="none" strike="noStrike" kern="1200" baseline="0">
              <a:solidFill>
                <a:schemeClr val="tx1">
                  <a:lumMod val="65000"/>
                  <a:lumOff val="35000"/>
                </a:schemeClr>
              </a:solidFill>
              <a:latin typeface="Poppins SemiBold" panose="00000700000000000000" pitchFamily="50" charset="0"/>
              <a:ea typeface="+mn-ea"/>
              <a:cs typeface="Poppins SemiBold" panose="00000700000000000000" pitchFamily="50"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4">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590206763986545"/>
          <c:y val="0.14307598332774396"/>
          <c:w val="0.79282454184377393"/>
          <c:h val="0.647110295323303"/>
        </c:manualLayout>
      </c:layout>
      <c:barChart>
        <c:barDir val="col"/>
        <c:grouping val="clustered"/>
        <c:varyColors val="0"/>
        <c:ser>
          <c:idx val="0"/>
          <c:order val="0"/>
          <c:tx>
            <c:strRef>
              <c:f>VO!$B$23</c:f>
              <c:strCache>
                <c:ptCount val="1"/>
                <c:pt idx="0">
                  <c:v>NAV (NET)</c:v>
                </c:pt>
              </c:strCache>
            </c:strRef>
          </c:tx>
          <c:spPr>
            <a:solidFill>
              <a:srgbClr val="0C7EA8"/>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VO!$A$24:$A$28</c:f>
              <c:strCache>
                <c:ptCount val="5"/>
                <c:pt idx="0">
                  <c:v>YTD</c:v>
                </c:pt>
                <c:pt idx="1">
                  <c:v>1 YEAR</c:v>
                </c:pt>
                <c:pt idx="2">
                  <c:v>3 YEARS</c:v>
                </c:pt>
                <c:pt idx="3">
                  <c:v>5 YEARS</c:v>
                </c:pt>
                <c:pt idx="4">
                  <c:v>10 YEARS</c:v>
                </c:pt>
              </c:strCache>
            </c:strRef>
          </c:cat>
          <c:val>
            <c:numRef>
              <c:f>VO!$B$24:$B$28</c:f>
              <c:numCache>
                <c:formatCode>0.00%</c:formatCode>
                <c:ptCount val="5"/>
                <c:pt idx="0">
                  <c:v>0.12606009000000001</c:v>
                </c:pt>
                <c:pt idx="1">
                  <c:v>0.13106063000000001</c:v>
                </c:pt>
                <c:pt idx="2">
                  <c:v>0.17949660000000001</c:v>
                </c:pt>
                <c:pt idx="3">
                  <c:v>0.12455071999999999</c:v>
                </c:pt>
                <c:pt idx="4">
                  <c:v>0.11389542000000001</c:v>
                </c:pt>
              </c:numCache>
            </c:numRef>
          </c:val>
          <c:extLst>
            <c:ext xmlns:c16="http://schemas.microsoft.com/office/drawing/2014/chart" uri="{C3380CC4-5D6E-409C-BE32-E72D297353CC}">
              <c16:uniqueId val="{00000000-744B-490D-AE27-61D96CE03547}"/>
            </c:ext>
          </c:extLst>
        </c:ser>
        <c:ser>
          <c:idx val="1"/>
          <c:order val="1"/>
          <c:tx>
            <c:strRef>
              <c:f>VO!$C$23</c:f>
              <c:strCache>
                <c:ptCount val="1"/>
                <c:pt idx="0">
                  <c:v>INDEX ¹</c:v>
                </c:pt>
              </c:strCache>
            </c:strRef>
          </c:tx>
          <c:spPr>
            <a:solidFill>
              <a:srgbClr val="75A5B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VO!$A$24:$A$28</c:f>
              <c:strCache>
                <c:ptCount val="5"/>
                <c:pt idx="0">
                  <c:v>YTD</c:v>
                </c:pt>
                <c:pt idx="1">
                  <c:v>1 YEAR</c:v>
                </c:pt>
                <c:pt idx="2">
                  <c:v>3 YEARS</c:v>
                </c:pt>
                <c:pt idx="3">
                  <c:v>5 YEARS</c:v>
                </c:pt>
                <c:pt idx="4">
                  <c:v>10 YEARS</c:v>
                </c:pt>
              </c:strCache>
            </c:strRef>
          </c:cat>
          <c:val>
            <c:numRef>
              <c:f>VO!$C$24:$C$28</c:f>
              <c:numCache>
                <c:formatCode>0.00%</c:formatCode>
                <c:ptCount val="5"/>
                <c:pt idx="0">
                  <c:v>0.12625991</c:v>
                </c:pt>
                <c:pt idx="1">
                  <c:v>0.13139945</c:v>
                </c:pt>
                <c:pt idx="2">
                  <c:v>0.17959192000000002</c:v>
                </c:pt>
                <c:pt idx="3">
                  <c:v>0.12465177000000001</c:v>
                </c:pt>
                <c:pt idx="4">
                  <c:v>0.11406095000000001</c:v>
                </c:pt>
              </c:numCache>
            </c:numRef>
          </c:val>
          <c:extLst>
            <c:ext xmlns:c16="http://schemas.microsoft.com/office/drawing/2014/chart" uri="{C3380CC4-5D6E-409C-BE32-E72D297353CC}">
              <c16:uniqueId val="{00000001-744B-490D-AE27-61D96CE03547}"/>
            </c:ext>
          </c:extLst>
        </c:ser>
        <c:dLbls>
          <c:dLblPos val="outEnd"/>
          <c:showLegendKey val="0"/>
          <c:showVal val="1"/>
          <c:showCatName val="0"/>
          <c:showSerName val="0"/>
          <c:showPercent val="0"/>
          <c:showBubbleSize val="0"/>
        </c:dLbls>
        <c:gapWidth val="90"/>
        <c:overlap val="-25"/>
        <c:axId val="141711568"/>
        <c:axId val="141714192"/>
      </c:barChart>
      <c:catAx>
        <c:axId val="141711568"/>
        <c:scaling>
          <c:orientation val="minMax"/>
        </c:scaling>
        <c:delete val="0"/>
        <c:axPos val="b"/>
        <c:title>
          <c:tx>
            <c:rich>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PERFORMANCE TIME PERIOD</a:t>
                </a:r>
              </a:p>
            </c:rich>
          </c:tx>
          <c:layout>
            <c:manualLayout>
              <c:xMode val="edge"/>
              <c:yMode val="edge"/>
              <c:x val="0.38245662229265481"/>
              <c:y val="0.92085239345081848"/>
            </c:manualLayout>
          </c:layout>
          <c:overlay val="0"/>
          <c:spPr>
            <a:noFill/>
            <a:ln>
              <a:noFill/>
            </a:ln>
            <a:effectLst/>
          </c:spPr>
          <c:txPr>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4192"/>
        <c:crosses val="autoZero"/>
        <c:auto val="1"/>
        <c:lblAlgn val="ctr"/>
        <c:lblOffset val="100"/>
        <c:noMultiLvlLbl val="0"/>
      </c:catAx>
      <c:valAx>
        <c:axId val="141714192"/>
        <c:scaling>
          <c:orientation val="minMax"/>
          <c:max val="0.2"/>
          <c:min val="0"/>
        </c:scaling>
        <c:delete val="0"/>
        <c:axPos val="l"/>
        <c:majorGridlines>
          <c:spPr>
            <a:ln w="9525" cap="flat" cmpd="sng" algn="ctr">
              <a:noFill/>
              <a:round/>
            </a:ln>
            <a:effectLst/>
          </c:spPr>
        </c:majorGridlines>
        <c:title>
          <c:tx>
            <c:rich>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RETURNS (%)</a:t>
                </a:r>
              </a:p>
            </c:rich>
          </c:tx>
          <c:layout>
            <c:manualLayout>
              <c:xMode val="edge"/>
              <c:yMode val="edge"/>
              <c:x val="2.2223986030637352E-3"/>
              <c:y val="0.31561444933876814"/>
            </c:manualLayout>
          </c:layout>
          <c:overlay val="0"/>
          <c:spPr>
            <a:noFill/>
            <a:ln>
              <a:noFill/>
            </a:ln>
            <a:effectLst/>
          </c:spPr>
          <c:txPr>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0.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1568"/>
        <c:crosses val="autoZero"/>
        <c:crossBetween val="between"/>
        <c:majorUnit val="5.000000000000001E-2"/>
      </c:valAx>
      <c:spPr>
        <a:noFill/>
        <a:ln>
          <a:noFill/>
        </a:ln>
        <a:effectLst/>
      </c:spPr>
    </c:plotArea>
    <c:legend>
      <c:legendPos val="b"/>
      <c:layout>
        <c:manualLayout>
          <c:xMode val="edge"/>
          <c:yMode val="edge"/>
          <c:x val="0.22207743943511485"/>
          <c:y val="2.9970617651012912E-2"/>
          <c:w val="0.62823951350332252"/>
          <c:h val="6.6017236126341E-2"/>
        </c:manualLayout>
      </c:layout>
      <c:overlay val="0"/>
      <c:spPr>
        <a:noFill/>
        <a:ln>
          <a:noFill/>
        </a:ln>
        <a:effectLst/>
      </c:spPr>
      <c:txPr>
        <a:bodyPr rot="0" spcFirstLastPara="1" vertOverflow="ellipsis" vert="horz" wrap="square" anchor="ctr" anchorCtr="1"/>
        <a:lstStyle/>
        <a:p>
          <a:pPr>
            <a:defRPr lang="en-US" sz="1050" b="0" i="0" u="none" strike="noStrike" kern="1200" baseline="0">
              <a:solidFill>
                <a:schemeClr val="tx1">
                  <a:lumMod val="65000"/>
                  <a:lumOff val="35000"/>
                </a:schemeClr>
              </a:solidFill>
              <a:latin typeface="Poppins SemiBold" panose="00000700000000000000" pitchFamily="50" charset="0"/>
              <a:ea typeface="+mn-ea"/>
              <a:cs typeface="Poppins SemiBold" panose="00000700000000000000" pitchFamily="50"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4">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318292790216865"/>
          <c:y val="0.14614538644516825"/>
          <c:w val="0.80435343626739397"/>
          <c:h val="0.65608435491748274"/>
        </c:manualLayout>
      </c:layout>
      <c:barChart>
        <c:barDir val="col"/>
        <c:grouping val="clustered"/>
        <c:varyColors val="0"/>
        <c:ser>
          <c:idx val="0"/>
          <c:order val="0"/>
          <c:tx>
            <c:strRef>
              <c:f>IJR!$B$23</c:f>
              <c:strCache>
                <c:ptCount val="1"/>
                <c:pt idx="0">
                  <c:v>TOTAL RETURN (NET)</c:v>
                </c:pt>
              </c:strCache>
            </c:strRef>
          </c:tx>
          <c:spPr>
            <a:solidFill>
              <a:srgbClr val="0C7EA8"/>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IJR!$A$24:$A$28</c:f>
              <c:strCache>
                <c:ptCount val="5"/>
                <c:pt idx="0">
                  <c:v>YTD</c:v>
                </c:pt>
                <c:pt idx="1">
                  <c:v>1 YEAR</c:v>
                </c:pt>
                <c:pt idx="2">
                  <c:v>3 YEARS</c:v>
                </c:pt>
                <c:pt idx="3">
                  <c:v>5 YEARS</c:v>
                </c:pt>
                <c:pt idx="4">
                  <c:v>10 YEARS</c:v>
                </c:pt>
              </c:strCache>
            </c:strRef>
          </c:cat>
          <c:val>
            <c:numRef>
              <c:f>IJR!$B$24:$B$28</c:f>
              <c:numCache>
                <c:formatCode>0.00%</c:formatCode>
                <c:ptCount val="5"/>
                <c:pt idx="0">
                  <c:v>4.2171139999999996E-2</c:v>
                </c:pt>
                <c:pt idx="1">
                  <c:v>3.5941689999999998E-2</c:v>
                </c:pt>
                <c:pt idx="2">
                  <c:v>0.12755395</c:v>
                </c:pt>
                <c:pt idx="3">
                  <c:v>0.12864611999999997</c:v>
                </c:pt>
                <c:pt idx="4">
                  <c:v>9.9867659999999997E-2</c:v>
                </c:pt>
              </c:numCache>
            </c:numRef>
          </c:val>
          <c:extLst>
            <c:ext xmlns:c16="http://schemas.microsoft.com/office/drawing/2014/chart" uri="{C3380CC4-5D6E-409C-BE32-E72D297353CC}">
              <c16:uniqueId val="{00000000-DD7A-44EE-A982-2A8A3DAB076F}"/>
            </c:ext>
          </c:extLst>
        </c:ser>
        <c:ser>
          <c:idx val="1"/>
          <c:order val="1"/>
          <c:tx>
            <c:strRef>
              <c:f>IJR!$C$23</c:f>
              <c:strCache>
                <c:ptCount val="1"/>
                <c:pt idx="0">
                  <c:v>INDEX</c:v>
                </c:pt>
              </c:strCache>
            </c:strRef>
          </c:tx>
          <c:spPr>
            <a:solidFill>
              <a:srgbClr val="75A5B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Poppins" panose="00000500000000000000" pitchFamily="2" charset="0"/>
                    <a:ea typeface="+mn-ea"/>
                    <a:cs typeface="Poppins" panose="00000500000000000000" pitchFamily="2" charset="0"/>
                  </a:defRPr>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IJR!$A$24:$A$28</c:f>
              <c:strCache>
                <c:ptCount val="5"/>
                <c:pt idx="0">
                  <c:v>YTD</c:v>
                </c:pt>
                <c:pt idx="1">
                  <c:v>1 YEAR</c:v>
                </c:pt>
                <c:pt idx="2">
                  <c:v>3 YEARS</c:v>
                </c:pt>
                <c:pt idx="3">
                  <c:v>5 YEARS</c:v>
                </c:pt>
                <c:pt idx="4">
                  <c:v>10 YEARS</c:v>
                </c:pt>
              </c:strCache>
            </c:strRef>
          </c:cat>
          <c:val>
            <c:numRef>
              <c:f>IJR!$C$24:$C$28</c:f>
              <c:numCache>
                <c:formatCode>0.00%</c:formatCode>
                <c:ptCount val="5"/>
                <c:pt idx="0">
                  <c:v>4.2437280000000001E-2</c:v>
                </c:pt>
                <c:pt idx="1">
                  <c:v>3.6383939999999997E-2</c:v>
                </c:pt>
                <c:pt idx="2">
                  <c:v>0.12816051000000001</c:v>
                </c:pt>
                <c:pt idx="3">
                  <c:v>0.12936661000000002</c:v>
                </c:pt>
                <c:pt idx="4">
                  <c:v>0.10029871</c:v>
                </c:pt>
              </c:numCache>
            </c:numRef>
          </c:val>
          <c:extLst>
            <c:ext xmlns:c16="http://schemas.microsoft.com/office/drawing/2014/chart" uri="{C3380CC4-5D6E-409C-BE32-E72D297353CC}">
              <c16:uniqueId val="{00000001-DD7A-44EE-A982-2A8A3DAB076F}"/>
            </c:ext>
          </c:extLst>
        </c:ser>
        <c:dLbls>
          <c:dLblPos val="outEnd"/>
          <c:showLegendKey val="0"/>
          <c:showVal val="1"/>
          <c:showCatName val="0"/>
          <c:showSerName val="0"/>
          <c:showPercent val="0"/>
          <c:showBubbleSize val="0"/>
        </c:dLbls>
        <c:gapWidth val="90"/>
        <c:overlap val="-25"/>
        <c:axId val="141711568"/>
        <c:axId val="141714192"/>
      </c:barChart>
      <c:catAx>
        <c:axId val="141711568"/>
        <c:scaling>
          <c:orientation val="minMax"/>
        </c:scaling>
        <c:delete val="0"/>
        <c:axPos val="b"/>
        <c:title>
          <c:tx>
            <c:rich>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PERFORMANCE TIME PERIOD</a:t>
                </a:r>
              </a:p>
            </c:rich>
          </c:tx>
          <c:layout>
            <c:manualLayout>
              <c:xMode val="edge"/>
              <c:yMode val="edge"/>
              <c:x val="0.38245662229265481"/>
              <c:y val="0.92085239345081848"/>
            </c:manualLayout>
          </c:layout>
          <c:overlay val="0"/>
          <c:spPr>
            <a:noFill/>
            <a:ln>
              <a:noFill/>
            </a:ln>
            <a:effectLst/>
          </c:spPr>
          <c:txPr>
            <a:bodyPr rot="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4192"/>
        <c:crosses val="autoZero"/>
        <c:auto val="1"/>
        <c:lblAlgn val="ctr"/>
        <c:lblOffset val="100"/>
        <c:noMultiLvlLbl val="0"/>
      </c:catAx>
      <c:valAx>
        <c:axId val="141714192"/>
        <c:scaling>
          <c:orientation val="minMax"/>
          <c:max val="0.15000000000000002"/>
          <c:min val="0"/>
        </c:scaling>
        <c:delete val="0"/>
        <c:axPos val="l"/>
        <c:majorGridlines>
          <c:spPr>
            <a:ln w="9525" cap="flat" cmpd="sng" algn="ctr">
              <a:noFill/>
              <a:round/>
            </a:ln>
            <a:effectLst/>
          </c:spPr>
        </c:majorGridlines>
        <c:title>
          <c:tx>
            <c:rich>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r>
                  <a: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rPr>
                  <a:t>RETURNS (%)</a:t>
                </a:r>
              </a:p>
            </c:rich>
          </c:tx>
          <c:layout>
            <c:manualLayout>
              <c:xMode val="edge"/>
              <c:yMode val="edge"/>
              <c:x val="2.2223986030637352E-3"/>
              <c:y val="0.31561444933876814"/>
            </c:manualLayout>
          </c:layout>
          <c:overlay val="0"/>
          <c:spPr>
            <a:noFill/>
            <a:ln>
              <a:noFill/>
            </a:ln>
            <a:effectLst/>
          </c:spPr>
          <c:txPr>
            <a:bodyPr rot="-5400000" spcFirstLastPara="1" vertOverflow="ellipsis" vert="horz" wrap="square" anchor="ctr" anchorCtr="1"/>
            <a:lstStyle/>
            <a:p>
              <a:pPr algn="ctr" rtl="0">
                <a:defRPr lang="en-US" sz="1050" b="0" i="0" u="none" strike="noStrike" kern="1200" baseline="0">
                  <a:solidFill>
                    <a:srgbClr val="7F7F7F"/>
                  </a:solidFill>
                  <a:latin typeface="Poppins SemiBold" panose="00000700000000000000" pitchFamily="2" charset="0"/>
                  <a:ea typeface="+mn-ea"/>
                  <a:cs typeface="Poppins SemiBold" panose="00000700000000000000" pitchFamily="2" charset="0"/>
                </a:defRPr>
              </a:pPr>
              <a:endParaRPr lang="en-US"/>
            </a:p>
          </c:txPr>
        </c:title>
        <c:numFmt formatCode="0.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lgn="ctr">
              <a:defRPr lang="en-US" sz="1000" b="0" i="0" u="none" strike="noStrike" kern="1200" baseline="0">
                <a:solidFill>
                  <a:srgbClr val="7F7F7F"/>
                </a:solidFill>
                <a:latin typeface="Poppins Medium" panose="00000600000000000000" pitchFamily="2" charset="0"/>
                <a:ea typeface="+mn-ea"/>
                <a:cs typeface="Poppins Medium" panose="00000600000000000000" pitchFamily="2" charset="0"/>
              </a:defRPr>
            </a:pPr>
            <a:endParaRPr lang="en-US"/>
          </a:p>
        </c:txPr>
        <c:crossAx val="141711568"/>
        <c:crosses val="autoZero"/>
        <c:crossBetween val="between"/>
        <c:majorUnit val="5.000000000000001E-2"/>
      </c:valAx>
      <c:spPr>
        <a:noFill/>
        <a:ln>
          <a:noFill/>
        </a:ln>
        <a:effectLst/>
      </c:spPr>
    </c:plotArea>
    <c:legend>
      <c:legendPos val="b"/>
      <c:layout>
        <c:manualLayout>
          <c:xMode val="edge"/>
          <c:yMode val="edge"/>
          <c:x val="0.21025105055434196"/>
          <c:y val="6.5986618585959375E-2"/>
          <c:w val="0.62823951350332252"/>
          <c:h val="6.6017236126341E-2"/>
        </c:manualLayout>
      </c:layout>
      <c:overlay val="0"/>
      <c:spPr>
        <a:noFill/>
        <a:ln>
          <a:noFill/>
        </a:ln>
        <a:effectLst/>
      </c:spPr>
      <c:txPr>
        <a:bodyPr rot="0" spcFirstLastPara="1" vertOverflow="ellipsis" vert="horz" wrap="square" anchor="ctr" anchorCtr="1"/>
        <a:lstStyle/>
        <a:p>
          <a:pPr>
            <a:defRPr lang="en-US" sz="1050" b="0" i="0" u="none" strike="noStrike" kern="1200" baseline="0">
              <a:solidFill>
                <a:schemeClr val="tx1">
                  <a:lumMod val="65000"/>
                  <a:lumOff val="35000"/>
                </a:schemeClr>
              </a:solidFill>
              <a:latin typeface="Poppins SemiBold" panose="00000700000000000000" pitchFamily="50" charset="0"/>
              <a:ea typeface="+mn-ea"/>
              <a:cs typeface="Poppins SemiBold" panose="00000700000000000000" pitchFamily="50"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0.14288</cdr:x>
      <cdr:y>0.21686</cdr:y>
    </cdr:from>
    <cdr:to>
      <cdr:x>0.24233</cdr:x>
      <cdr:y>0.49952</cdr:y>
    </cdr:to>
    <cdr:sp macro="" textlink="">
      <cdr:nvSpPr>
        <cdr:cNvPr id="2" name="TextBox 1">
          <a:extLst xmlns:a="http://schemas.openxmlformats.org/drawingml/2006/main">
            <a:ext uri="{FF2B5EF4-FFF2-40B4-BE49-F238E27FC236}">
              <a16:creationId xmlns:a16="http://schemas.microsoft.com/office/drawing/2014/main" id="{292EF037-9ED8-4695-9DBF-14FEF04FCD05}"/>
            </a:ext>
          </a:extLst>
        </cdr:cNvPr>
        <cdr:cNvSpPr txBox="1"/>
      </cdr:nvSpPr>
      <cdr:spPr>
        <a:xfrm xmlns:a="http://schemas.openxmlformats.org/drawingml/2006/main">
          <a:off x="1313748" y="701536"/>
          <a:ext cx="914419" cy="914381"/>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latin typeface="Poppins SemiBold" panose="00000700000000000000" pitchFamily="2" charset="0"/>
              <a:cs typeface="Poppins SemiBold" panose="00000700000000000000" pitchFamily="2" charset="0"/>
            </a:rPr>
            <a:t>SEIX INVESTMENT</a:t>
          </a:r>
        </a:p>
        <a:p xmlns:a="http://schemas.openxmlformats.org/drawingml/2006/main">
          <a:pPr algn="ctr"/>
          <a:r>
            <a:rPr lang="en-US" sz="1100" dirty="0">
              <a:solidFill>
                <a:schemeClr val="tx1"/>
              </a:solidFill>
              <a:latin typeface="Poppins SemiBold" panose="00000700000000000000" pitchFamily="2" charset="0"/>
              <a:cs typeface="Poppins SemiBold" panose="00000700000000000000" pitchFamily="2" charset="0"/>
            </a:rPr>
            <a:t>ADVISORS</a:t>
          </a:r>
        </a:p>
      </cdr:txBody>
    </cdr:sp>
  </cdr:relSizeAnchor>
  <cdr:relSizeAnchor xmlns:cdr="http://schemas.openxmlformats.org/drawingml/2006/chartDrawing">
    <cdr:from>
      <cdr:x>0.5654</cdr:x>
      <cdr:y>0.24046</cdr:y>
    </cdr:from>
    <cdr:to>
      <cdr:x>0.66484</cdr:x>
      <cdr:y>0.52312</cdr:y>
    </cdr:to>
    <cdr:sp macro="" textlink="">
      <cdr:nvSpPr>
        <cdr:cNvPr id="3" name="TextBox 1">
          <a:extLst xmlns:a="http://schemas.openxmlformats.org/drawingml/2006/main">
            <a:ext uri="{FF2B5EF4-FFF2-40B4-BE49-F238E27FC236}">
              <a16:creationId xmlns:a16="http://schemas.microsoft.com/office/drawing/2014/main" id="{CE23C34E-F337-4861-91B5-D2652EB264F1}"/>
            </a:ext>
          </a:extLst>
        </cdr:cNvPr>
        <cdr:cNvSpPr txBox="1"/>
      </cdr:nvSpPr>
      <cdr:spPr>
        <a:xfrm xmlns:a="http://schemas.openxmlformats.org/drawingml/2006/main">
          <a:off x="5198721" y="777870"/>
          <a:ext cx="914327" cy="91438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bg1"/>
              </a:solidFill>
              <a:latin typeface="Poppins SemiBold" panose="00000700000000000000" pitchFamily="2" charset="0"/>
              <a:cs typeface="Poppins SemiBold" panose="00000700000000000000" pitchFamily="2" charset="0"/>
            </a:rPr>
            <a:t>PERFORMA </a:t>
          </a:r>
        </a:p>
        <a:p xmlns:a="http://schemas.openxmlformats.org/drawingml/2006/main">
          <a:pPr algn="ctr"/>
          <a:r>
            <a:rPr lang="en-US" sz="1100" dirty="0">
              <a:solidFill>
                <a:schemeClr val="bg1"/>
              </a:solidFill>
              <a:latin typeface="Poppins SemiBold" panose="00000700000000000000" pitchFamily="2" charset="0"/>
              <a:cs typeface="Poppins SemiBold" panose="00000700000000000000" pitchFamily="2" charset="0"/>
            </a:rPr>
            <a:t>EQUITY </a:t>
          </a:r>
        </a:p>
        <a:p xmlns:a="http://schemas.openxmlformats.org/drawingml/2006/main">
          <a:pPr algn="ctr"/>
          <a:r>
            <a:rPr lang="en-US" dirty="0">
              <a:solidFill>
                <a:schemeClr val="bg1"/>
              </a:solidFill>
              <a:latin typeface="Poppins SemiBold" panose="00000700000000000000" pitchFamily="2" charset="0"/>
              <a:cs typeface="Poppins SemiBold" panose="00000700000000000000" pitchFamily="2" charset="0"/>
            </a:rPr>
            <a:t>FUND</a:t>
          </a:r>
        </a:p>
        <a:p xmlns:a="http://schemas.openxmlformats.org/drawingml/2006/main">
          <a:pPr algn="ctr"/>
          <a:r>
            <a:rPr lang="en-US" sz="1100" dirty="0">
              <a:solidFill>
                <a:schemeClr val="bg1"/>
              </a:solidFill>
              <a:latin typeface="Poppins SemiBold" panose="00000700000000000000" pitchFamily="2" charset="0"/>
              <a:cs typeface="Poppins SemiBold" panose="00000700000000000000" pitchFamily="2" charset="0"/>
            </a:rPr>
            <a:t>19.6%</a:t>
          </a:r>
        </a:p>
      </cdr:txBody>
    </cdr:sp>
  </cdr:relSizeAnchor>
  <cdr:relSizeAnchor xmlns:cdr="http://schemas.openxmlformats.org/drawingml/2006/chartDrawing">
    <cdr:from>
      <cdr:x>0.24453</cdr:x>
      <cdr:y>0.30384</cdr:y>
    </cdr:from>
    <cdr:to>
      <cdr:x>0.28893</cdr:x>
      <cdr:y>0.34254</cdr:y>
    </cdr:to>
    <cdr:cxnSp macro="">
      <cdr:nvCxnSpPr>
        <cdr:cNvPr id="5" name="Straight Connector 4">
          <a:extLst xmlns:a="http://schemas.openxmlformats.org/drawingml/2006/main">
            <a:ext uri="{FF2B5EF4-FFF2-40B4-BE49-F238E27FC236}">
              <a16:creationId xmlns:a16="http://schemas.microsoft.com/office/drawing/2014/main" id="{AC7C8A8E-080A-4FE9-A879-A5765ECCA716}"/>
            </a:ext>
          </a:extLst>
        </cdr:cNvPr>
        <cdr:cNvCxnSpPr/>
      </cdr:nvCxnSpPr>
      <cdr:spPr bwMode="auto">
        <a:xfrm xmlns:a="http://schemas.openxmlformats.org/drawingml/2006/main" flipH="1" flipV="1">
          <a:off x="2248399" y="982902"/>
          <a:ext cx="408215" cy="125186"/>
        </a:xfrm>
        <a:prstGeom xmlns:a="http://schemas.openxmlformats.org/drawingml/2006/main" prst="line">
          <a:avLst/>
        </a:prstGeom>
        <a:noFill xmlns:a="http://schemas.openxmlformats.org/drawingml/2006/main"/>
        <a:ln xmlns:a="http://schemas.openxmlformats.org/drawingml/2006/main" w="12700" cap="flat" cmpd="sng" algn="ctr">
          <a:solidFill>
            <a:schemeClr val="tx1"/>
          </a:solidFill>
          <a:prstDash val="solid"/>
          <a:round/>
          <a:headEnd type="none" w="med" len="med"/>
          <a:tailEnd type="none" w="med" len="med"/>
        </a:ln>
        <a:effectLst xmlns:a="http://schemas.openxmlformats.org/drawingml/2006/main"/>
      </cdr:spPr>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F26A7B-5B61-49E6-8ECD-53565A546B07}"/>
              </a:ext>
            </a:extLst>
          </p:cNvPr>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300"/>
            </a:lvl1pPr>
          </a:lstStyle>
          <a:p>
            <a:endParaRPr lang="en-US"/>
          </a:p>
        </p:txBody>
      </p:sp>
      <p:sp>
        <p:nvSpPr>
          <p:cNvPr id="3" name="Date Placeholder 2">
            <a:extLst>
              <a:ext uri="{FF2B5EF4-FFF2-40B4-BE49-F238E27FC236}">
                <a16:creationId xmlns:a16="http://schemas.microsoft.com/office/drawing/2014/main" id="{70B10748-1EBB-4DE6-8787-2A49127ADCA6}"/>
              </a:ext>
            </a:extLst>
          </p:cNvPr>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300"/>
            </a:lvl1pPr>
          </a:lstStyle>
          <a:p>
            <a:fld id="{D641A418-108B-4B3F-AFD2-73274E97E52F}" type="datetimeFigureOut">
              <a:rPr lang="en-US" smtClean="0"/>
              <a:t>3/16/2026</a:t>
            </a:fld>
            <a:endParaRPr lang="en-US"/>
          </a:p>
        </p:txBody>
      </p:sp>
      <p:sp>
        <p:nvSpPr>
          <p:cNvPr id="4" name="Footer Placeholder 3">
            <a:extLst>
              <a:ext uri="{FF2B5EF4-FFF2-40B4-BE49-F238E27FC236}">
                <a16:creationId xmlns:a16="http://schemas.microsoft.com/office/drawing/2014/main" id="{8CC9E483-A5F2-4B37-A799-B5C9970BF0D6}"/>
              </a:ext>
            </a:extLst>
          </p:cNvPr>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0AB7ADD8-824D-494C-95F7-A620D53AE0A6}"/>
              </a:ext>
            </a:extLst>
          </p:cNvPr>
          <p:cNvSpPr>
            <a:spLocks noGrp="1"/>
          </p:cNvSpPr>
          <p:nvPr>
            <p:ph type="sldNum" sz="quarter" idx="3"/>
          </p:nvPr>
        </p:nvSpPr>
        <p:spPr>
          <a:xfrm>
            <a:off x="3970938" y="8829967"/>
            <a:ext cx="3037840" cy="466433"/>
          </a:xfrm>
          <a:prstGeom prst="rect">
            <a:avLst/>
          </a:prstGeom>
        </p:spPr>
        <p:txBody>
          <a:bodyPr vert="horz" lIns="93172" tIns="46586" rIns="93172" bIns="46586" rtlCol="0" anchor="b"/>
          <a:lstStyle>
            <a:lvl1pPr algn="r">
              <a:defRPr sz="1300"/>
            </a:lvl1pPr>
          </a:lstStyle>
          <a:p>
            <a:fld id="{5EE57059-9163-4606-BC8A-F9249034C713}" type="slidenum">
              <a:rPr lang="en-US" smtClean="0"/>
              <a:t>‹#›</a:t>
            </a:fld>
            <a:endParaRPr lang="en-US"/>
          </a:p>
        </p:txBody>
      </p:sp>
    </p:spTree>
    <p:extLst>
      <p:ext uri="{BB962C8B-B14F-4D97-AF65-F5344CB8AC3E}">
        <p14:creationId xmlns:p14="http://schemas.microsoft.com/office/powerpoint/2010/main" val="31758651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300"/>
            </a:lvl1pPr>
          </a:lstStyle>
          <a:p>
            <a:fld id="{C2DD7745-D68C-43C3-8E2D-3C9F8AA16F5F}" type="datetimeFigureOut">
              <a:rPr lang="en-US" smtClean="0"/>
              <a:t>3/16/2026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2" tIns="46586" rIns="93172" bIns="4658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300"/>
            </a:lvl1pPr>
          </a:lstStyle>
          <a:p>
            <a:fld id="{7FEDBDE0-38D8-4CA7-8BFB-7F442D9C2B75}" type="slidenum">
              <a:rPr lang="en-US" smtClean="0"/>
              <a:t>‹#›</a:t>
            </a:fld>
            <a:endParaRPr lang="en-US"/>
          </a:p>
        </p:txBody>
      </p:sp>
    </p:spTree>
    <p:extLst>
      <p:ext uri="{BB962C8B-B14F-4D97-AF65-F5344CB8AC3E}">
        <p14:creationId xmlns:p14="http://schemas.microsoft.com/office/powerpoint/2010/main" val="3175206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p:txBody>
          <a:bodyPr/>
          <a:lstStyle>
            <a:lvl1pPr algn="ctr" defTabSz="945916" eaLnBrk="0" hangingPunct="0">
              <a:spcBef>
                <a:spcPct val="50000"/>
              </a:spcBef>
              <a:defRPr sz="1100" b="1">
                <a:solidFill>
                  <a:schemeClr val="tx1"/>
                </a:solidFill>
                <a:latin typeface="Arial" charset="0"/>
              </a:defRPr>
            </a:lvl1pPr>
            <a:lvl2pPr marL="759327" indent="-292051" algn="ctr" defTabSz="945916" eaLnBrk="0" hangingPunct="0">
              <a:spcBef>
                <a:spcPct val="50000"/>
              </a:spcBef>
              <a:defRPr sz="1100" b="1">
                <a:solidFill>
                  <a:schemeClr val="tx1"/>
                </a:solidFill>
                <a:latin typeface="Arial" charset="0"/>
              </a:defRPr>
            </a:lvl2pPr>
            <a:lvl3pPr marL="1168196" indent="-233640" algn="ctr" defTabSz="945916" eaLnBrk="0" hangingPunct="0">
              <a:spcBef>
                <a:spcPct val="50000"/>
              </a:spcBef>
              <a:defRPr sz="1100" b="1">
                <a:solidFill>
                  <a:schemeClr val="tx1"/>
                </a:solidFill>
                <a:latin typeface="Arial" charset="0"/>
              </a:defRPr>
            </a:lvl3pPr>
            <a:lvl4pPr marL="1635476" indent="-233640" algn="ctr" defTabSz="945916" eaLnBrk="0" hangingPunct="0">
              <a:spcBef>
                <a:spcPct val="50000"/>
              </a:spcBef>
              <a:defRPr sz="1100" b="1">
                <a:solidFill>
                  <a:schemeClr val="tx1"/>
                </a:solidFill>
                <a:latin typeface="Arial" charset="0"/>
              </a:defRPr>
            </a:lvl4pPr>
            <a:lvl5pPr marL="2102753" indent="-233640" algn="ctr" defTabSz="945916" eaLnBrk="0" hangingPunct="0">
              <a:spcBef>
                <a:spcPct val="50000"/>
              </a:spcBef>
              <a:defRPr sz="1100" b="1">
                <a:solidFill>
                  <a:schemeClr val="tx1"/>
                </a:solidFill>
                <a:latin typeface="Arial" charset="0"/>
              </a:defRPr>
            </a:lvl5pPr>
            <a:lvl6pPr marL="2570032" indent="-233640" algn="ctr" defTabSz="945916" eaLnBrk="0" fontAlgn="base" hangingPunct="0">
              <a:spcBef>
                <a:spcPct val="50000"/>
              </a:spcBef>
              <a:spcAft>
                <a:spcPct val="0"/>
              </a:spcAft>
              <a:defRPr sz="1100" b="1">
                <a:solidFill>
                  <a:schemeClr val="tx1"/>
                </a:solidFill>
                <a:latin typeface="Arial" charset="0"/>
              </a:defRPr>
            </a:lvl6pPr>
            <a:lvl7pPr marL="3037312" indent="-233640" algn="ctr" defTabSz="945916" eaLnBrk="0" fontAlgn="base" hangingPunct="0">
              <a:spcBef>
                <a:spcPct val="50000"/>
              </a:spcBef>
              <a:spcAft>
                <a:spcPct val="0"/>
              </a:spcAft>
              <a:defRPr sz="1100" b="1">
                <a:solidFill>
                  <a:schemeClr val="tx1"/>
                </a:solidFill>
                <a:latin typeface="Arial" charset="0"/>
              </a:defRPr>
            </a:lvl7pPr>
            <a:lvl8pPr marL="3504587" indent="-233640" algn="ctr" defTabSz="945916" eaLnBrk="0" fontAlgn="base" hangingPunct="0">
              <a:spcBef>
                <a:spcPct val="50000"/>
              </a:spcBef>
              <a:spcAft>
                <a:spcPct val="0"/>
              </a:spcAft>
              <a:defRPr sz="1100" b="1">
                <a:solidFill>
                  <a:schemeClr val="tx1"/>
                </a:solidFill>
                <a:latin typeface="Arial" charset="0"/>
              </a:defRPr>
            </a:lvl8pPr>
            <a:lvl9pPr marL="3971867" indent="-233640" algn="ctr" defTabSz="945916" eaLnBrk="0" fontAlgn="base" hangingPunct="0">
              <a:spcBef>
                <a:spcPct val="50000"/>
              </a:spcBef>
              <a:spcAft>
                <a:spcPct val="0"/>
              </a:spcAft>
              <a:defRPr sz="1100" b="1">
                <a:solidFill>
                  <a:schemeClr val="tx1"/>
                </a:solidFill>
                <a:latin typeface="Arial" charset="0"/>
              </a:defRPr>
            </a:lvl9pPr>
          </a:lstStyle>
          <a:p>
            <a:pPr algn="r">
              <a:spcBef>
                <a:spcPct val="0"/>
              </a:spcBef>
              <a:defRPr/>
            </a:pPr>
            <a:fld id="{8D181CB6-116C-4F73-9D2F-41F68F1A81C1}" type="slidenum">
              <a:rPr lang="en-US" b="0" smtClean="0">
                <a:latin typeface="Times New Roman" pitchFamily="18" charset="0"/>
              </a:rPr>
              <a:pPr algn="r">
                <a:spcBef>
                  <a:spcPct val="0"/>
                </a:spcBef>
                <a:defRPr/>
              </a:pPr>
              <a:t>1</a:t>
            </a:fld>
            <a:endParaRPr lang="en-US" b="0">
              <a:latin typeface="Times New Roman" pitchFamily="18" charset="0"/>
            </a:endParaRPr>
          </a:p>
        </p:txBody>
      </p:sp>
      <p:sp>
        <p:nvSpPr>
          <p:cNvPr id="34819" name="Rectangle 2"/>
          <p:cNvSpPr>
            <a:spLocks noGrp="1" noRot="1" noChangeAspect="1" noChangeArrowheads="1" noTextEdit="1"/>
          </p:cNvSpPr>
          <p:nvPr>
            <p:ph type="sldImg"/>
          </p:nvPr>
        </p:nvSpPr>
        <p:spPr>
          <a:xfrm>
            <a:off x="1285875" y="723900"/>
            <a:ext cx="4800600" cy="3602038"/>
          </a:xfrm>
          <a:ln/>
        </p:spPr>
        <p:txBody>
          <a:bodyPr/>
          <a:lstStyle/>
          <a:p>
            <a:endParaRPr lang="en-US"/>
          </a:p>
        </p:txBody>
      </p:sp>
      <p:sp>
        <p:nvSpPr>
          <p:cNvPr id="34820" name="Rectangle 3"/>
          <p:cNvSpPr>
            <a:spLocks noGrp="1" noChangeArrowheads="1"/>
          </p:cNvSpPr>
          <p:nvPr>
            <p:ph type="body" idx="1"/>
          </p:nvPr>
        </p:nvSpPr>
        <p:spPr>
          <a:xfrm>
            <a:off x="977860" y="4570771"/>
            <a:ext cx="5382992" cy="43289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590" tIns="47301" rIns="94590" bIns="47301"/>
          <a:lstStyle/>
          <a:p>
            <a:endParaRPr lang="en-GB" altLang="en-US"/>
          </a:p>
        </p:txBody>
      </p:sp>
    </p:spTree>
    <p:extLst>
      <p:ext uri="{BB962C8B-B14F-4D97-AF65-F5344CB8AC3E}">
        <p14:creationId xmlns:p14="http://schemas.microsoft.com/office/powerpoint/2010/main" val="581651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2</a:t>
            </a:fld>
            <a:endParaRPr lang="en-US"/>
          </a:p>
        </p:txBody>
      </p:sp>
    </p:spTree>
    <p:extLst>
      <p:ext uri="{BB962C8B-B14F-4D97-AF65-F5344CB8AC3E}">
        <p14:creationId xmlns:p14="http://schemas.microsoft.com/office/powerpoint/2010/main" val="3910879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p:txBody>
          <a:bodyPr/>
          <a:lstStyle>
            <a:lvl1pPr algn="ctr" defTabSz="952201" eaLnBrk="0" hangingPunct="0">
              <a:spcBef>
                <a:spcPct val="50000"/>
              </a:spcBef>
              <a:defRPr sz="1100" b="1">
                <a:solidFill>
                  <a:schemeClr val="tx1"/>
                </a:solidFill>
                <a:latin typeface="Arial" charset="0"/>
              </a:defRPr>
            </a:lvl1pPr>
            <a:lvl2pPr marL="764372" indent="-293991" algn="ctr" defTabSz="952201" eaLnBrk="0" hangingPunct="0">
              <a:spcBef>
                <a:spcPct val="50000"/>
              </a:spcBef>
              <a:defRPr sz="1100" b="1">
                <a:solidFill>
                  <a:schemeClr val="tx1"/>
                </a:solidFill>
                <a:latin typeface="Arial" charset="0"/>
              </a:defRPr>
            </a:lvl2pPr>
            <a:lvl3pPr marL="1175957" indent="-235192" algn="ctr" defTabSz="952201" eaLnBrk="0" hangingPunct="0">
              <a:spcBef>
                <a:spcPct val="50000"/>
              </a:spcBef>
              <a:defRPr sz="1100" b="1">
                <a:solidFill>
                  <a:schemeClr val="tx1"/>
                </a:solidFill>
                <a:latin typeface="Arial" charset="0"/>
              </a:defRPr>
            </a:lvl3pPr>
            <a:lvl4pPr marL="1646342" indent="-235192" algn="ctr" defTabSz="952201" eaLnBrk="0" hangingPunct="0">
              <a:spcBef>
                <a:spcPct val="50000"/>
              </a:spcBef>
              <a:defRPr sz="1100" b="1">
                <a:solidFill>
                  <a:schemeClr val="tx1"/>
                </a:solidFill>
                <a:latin typeface="Arial" charset="0"/>
              </a:defRPr>
            </a:lvl4pPr>
            <a:lvl5pPr marL="2116723" indent="-235192" algn="ctr" defTabSz="952201" eaLnBrk="0" hangingPunct="0">
              <a:spcBef>
                <a:spcPct val="50000"/>
              </a:spcBef>
              <a:defRPr sz="1100" b="1">
                <a:solidFill>
                  <a:schemeClr val="tx1"/>
                </a:solidFill>
                <a:latin typeface="Arial" charset="0"/>
              </a:defRPr>
            </a:lvl5pPr>
            <a:lvl6pPr marL="2587107" indent="-235192" algn="ctr" defTabSz="952201" eaLnBrk="0" fontAlgn="base" hangingPunct="0">
              <a:spcBef>
                <a:spcPct val="50000"/>
              </a:spcBef>
              <a:spcAft>
                <a:spcPct val="0"/>
              </a:spcAft>
              <a:defRPr sz="1100" b="1">
                <a:solidFill>
                  <a:schemeClr val="tx1"/>
                </a:solidFill>
                <a:latin typeface="Arial" charset="0"/>
              </a:defRPr>
            </a:lvl6pPr>
            <a:lvl7pPr marL="3057491" indent="-235192" algn="ctr" defTabSz="952201" eaLnBrk="0" fontAlgn="base" hangingPunct="0">
              <a:spcBef>
                <a:spcPct val="50000"/>
              </a:spcBef>
              <a:spcAft>
                <a:spcPct val="0"/>
              </a:spcAft>
              <a:defRPr sz="1100" b="1">
                <a:solidFill>
                  <a:schemeClr val="tx1"/>
                </a:solidFill>
                <a:latin typeface="Arial" charset="0"/>
              </a:defRPr>
            </a:lvl7pPr>
            <a:lvl8pPr marL="3527871" indent="-235192" algn="ctr" defTabSz="952201" eaLnBrk="0" fontAlgn="base" hangingPunct="0">
              <a:spcBef>
                <a:spcPct val="50000"/>
              </a:spcBef>
              <a:spcAft>
                <a:spcPct val="0"/>
              </a:spcAft>
              <a:defRPr sz="1100" b="1">
                <a:solidFill>
                  <a:schemeClr val="tx1"/>
                </a:solidFill>
                <a:latin typeface="Arial" charset="0"/>
              </a:defRPr>
            </a:lvl8pPr>
            <a:lvl9pPr marL="3998255" indent="-235192" algn="ctr" defTabSz="952201" eaLnBrk="0" fontAlgn="base" hangingPunct="0">
              <a:spcBef>
                <a:spcPct val="50000"/>
              </a:spcBef>
              <a:spcAft>
                <a:spcPct val="0"/>
              </a:spcAft>
              <a:defRPr sz="1100" b="1">
                <a:solidFill>
                  <a:schemeClr val="tx1"/>
                </a:solidFill>
                <a:latin typeface="Arial" charset="0"/>
              </a:defRPr>
            </a:lvl9pPr>
          </a:lstStyle>
          <a:p>
            <a:pPr algn="r">
              <a:spcBef>
                <a:spcPct val="0"/>
              </a:spcBef>
              <a:defRPr/>
            </a:pPr>
            <a:fld id="{8D181CB6-116C-4F73-9D2F-41F68F1A81C1}" type="slidenum">
              <a:rPr lang="en-US" b="0" smtClean="0">
                <a:latin typeface="Times New Roman" pitchFamily="18" charset="0"/>
              </a:rPr>
              <a:pPr algn="r">
                <a:spcBef>
                  <a:spcPct val="0"/>
                </a:spcBef>
                <a:defRPr/>
              </a:pPr>
              <a:t>3</a:t>
            </a:fld>
            <a:endParaRPr lang="en-US" b="0">
              <a:latin typeface="Times New Roman" pitchFamily="18" charset="0"/>
            </a:endParaRPr>
          </a:p>
        </p:txBody>
      </p:sp>
      <p:sp>
        <p:nvSpPr>
          <p:cNvPr id="34819" name="Rectangle 2"/>
          <p:cNvSpPr>
            <a:spLocks noGrp="1" noRot="1" noChangeAspect="1" noChangeArrowheads="1" noTextEdit="1"/>
          </p:cNvSpPr>
          <p:nvPr>
            <p:ph type="sldImg"/>
          </p:nvPr>
        </p:nvSpPr>
        <p:spPr>
          <a:xfrm>
            <a:off x="1298575" y="728663"/>
            <a:ext cx="4830763" cy="3622675"/>
          </a:xfrm>
          <a:ln/>
        </p:spPr>
        <p:txBody>
          <a:bodyPr/>
          <a:lstStyle/>
          <a:p>
            <a:endParaRPr lang="en-US"/>
          </a:p>
        </p:txBody>
      </p:sp>
      <p:sp>
        <p:nvSpPr>
          <p:cNvPr id="34820" name="Rectangle 3"/>
          <p:cNvSpPr>
            <a:spLocks noGrp="1" noChangeArrowheads="1"/>
          </p:cNvSpPr>
          <p:nvPr>
            <p:ph type="body" idx="1"/>
          </p:nvPr>
        </p:nvSpPr>
        <p:spPr>
          <a:xfrm>
            <a:off x="985375" y="4597272"/>
            <a:ext cx="5424362" cy="435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18" tIns="47615" rIns="95218" bIns="47615"/>
          <a:lstStyle/>
          <a:p>
            <a:endParaRPr lang="en-GB" altLang="en-US"/>
          </a:p>
        </p:txBody>
      </p:sp>
    </p:spTree>
    <p:extLst>
      <p:ext uri="{BB962C8B-B14F-4D97-AF65-F5344CB8AC3E}">
        <p14:creationId xmlns:p14="http://schemas.microsoft.com/office/powerpoint/2010/main" val="2381821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872A5-44F8-043A-C41B-9331B1532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D3003-F3B7-BA37-6F36-E09CC211D0A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67FEE4-4763-F67F-CF5D-12AAA244B8B9}"/>
              </a:ext>
            </a:extLst>
          </p:cNvPr>
          <p:cNvSpPr>
            <a:spLocks noGrp="1"/>
          </p:cNvSpPr>
          <p:nvPr>
            <p:ph type="body" idx="1"/>
          </p:nvPr>
        </p:nvSpPr>
        <p:spPr/>
        <p:txBody>
          <a:bodyPr/>
          <a:lstStyle/>
          <a:p>
            <a:pPr defTabSz="940040">
              <a:defRPr/>
            </a:pPr>
            <a:endParaRPr lang="en-US"/>
          </a:p>
        </p:txBody>
      </p:sp>
      <p:sp>
        <p:nvSpPr>
          <p:cNvPr id="4" name="Slide Number Placeholder 3">
            <a:extLst>
              <a:ext uri="{FF2B5EF4-FFF2-40B4-BE49-F238E27FC236}">
                <a16:creationId xmlns:a16="http://schemas.microsoft.com/office/drawing/2014/main" id="{1F870B8A-F944-E26A-1040-DAA6CFC526A5}"/>
              </a:ext>
            </a:extLst>
          </p:cNvPr>
          <p:cNvSpPr>
            <a:spLocks noGrp="1"/>
          </p:cNvSpPr>
          <p:nvPr>
            <p:ph type="sldNum" sz="quarter" idx="5"/>
          </p:nvPr>
        </p:nvSpPr>
        <p:spPr/>
        <p:txBody>
          <a:bodyPr/>
          <a:lstStyle/>
          <a:p>
            <a:pPr marL="0" marR="0" lvl="0" indent="0" algn="r" defTabSz="470020" rtl="0" eaLnBrk="1" fontAlgn="auto" latinLnBrk="0" hangingPunct="1">
              <a:lnSpc>
                <a:spcPct val="100000"/>
              </a:lnSpc>
              <a:spcBef>
                <a:spcPts val="0"/>
              </a:spcBef>
              <a:spcAft>
                <a:spcPts val="0"/>
              </a:spcAft>
              <a:buClrTx/>
              <a:buSzTx/>
              <a:buFontTx/>
              <a:buNone/>
              <a:tabLst/>
              <a:defRPr/>
            </a:pPr>
            <a:fld id="{7FEDBDE0-38D8-4CA7-8BFB-7F442D9C2B75}" type="slidenum">
              <a:rPr kumimoji="0" lang="en-US" sz="13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7002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369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14016">
              <a:defRPr/>
            </a:pPr>
            <a:r>
              <a:rPr lang="en-US"/>
              <a:t>This should be noted as Option 1</a:t>
            </a:r>
          </a:p>
          <a:p>
            <a:pPr defTabSz="914016">
              <a:defRPr/>
            </a:pPr>
            <a:r>
              <a:rPr lang="en-US">
                <a:solidFill>
                  <a:srgbClr val="95B2B9"/>
                </a:solidFill>
                <a:highlight>
                  <a:srgbClr val="FFFF00"/>
                </a:highlight>
                <a:latin typeface="Poppins Medium" panose="00000600000000000000" pitchFamily="2" charset="0"/>
                <a:cs typeface="Poppins Medium" panose="00000600000000000000" pitchFamily="2" charset="0"/>
              </a:rPr>
              <a:t>CHECK WITH MIKE AND SCOTT  BUT I WOULD SUGGEST HAVING THE STARTING DATE FOR EACH GRAPH BE DEC 1999.  THAT WAY THE AXIS WILL SAY DEC 00, DEC 02, DEC 08, ETC</a:t>
            </a:r>
          </a:p>
          <a:p>
            <a:endParaRPr lang="en-US"/>
          </a:p>
        </p:txBody>
      </p:sp>
      <p:sp>
        <p:nvSpPr>
          <p:cNvPr id="4" name="Slide Number Placeholder 3"/>
          <p:cNvSpPr>
            <a:spLocks noGrp="1"/>
          </p:cNvSpPr>
          <p:nvPr>
            <p:ph type="sldNum" sz="quarter" idx="5"/>
          </p:nvPr>
        </p:nvSpPr>
        <p:spPr/>
        <p:txBody>
          <a:bodyPr/>
          <a:lstStyle/>
          <a:p>
            <a:pPr defTabSz="457008">
              <a:defRPr/>
            </a:pPr>
            <a:fld id="{7FEDBDE0-38D8-4CA7-8BFB-7F442D9C2B75}" type="slidenum">
              <a:rPr lang="en-US">
                <a:solidFill>
                  <a:prstClr val="black"/>
                </a:solidFill>
                <a:latin typeface="Calibri" panose="020F0502020204030204"/>
              </a:rPr>
              <a:pPr defTabSz="457008">
                <a:defRPr/>
              </a:pPr>
              <a:t>5</a:t>
            </a:fld>
            <a:endParaRPr lang="en-US">
              <a:solidFill>
                <a:prstClr val="black"/>
              </a:solidFill>
              <a:latin typeface="Calibri" panose="020F0502020204030204"/>
            </a:endParaRPr>
          </a:p>
        </p:txBody>
      </p:sp>
    </p:spTree>
    <p:extLst>
      <p:ext uri="{BB962C8B-B14F-4D97-AF65-F5344CB8AC3E}">
        <p14:creationId xmlns:p14="http://schemas.microsoft.com/office/powerpoint/2010/main" val="639204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F81C5-232D-50D3-8C6E-1CC02EB05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6FA33-EDF4-4D1E-AA1A-21234108C4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6C4D13-2B76-C28B-ADEA-39F3D99CCF94}"/>
              </a:ext>
            </a:extLst>
          </p:cNvPr>
          <p:cNvSpPr>
            <a:spLocks noGrp="1"/>
          </p:cNvSpPr>
          <p:nvPr>
            <p:ph type="body" idx="1"/>
          </p:nvPr>
        </p:nvSpPr>
        <p:spPr/>
        <p:txBody>
          <a:bodyPr/>
          <a:lstStyle/>
          <a:p>
            <a:pPr defTabSz="914016">
              <a:defRPr/>
            </a:pPr>
            <a:r>
              <a:rPr lang="en-US"/>
              <a:t>This should be noted as Option 1</a:t>
            </a:r>
          </a:p>
          <a:p>
            <a:pPr defTabSz="914016">
              <a:defRPr/>
            </a:pPr>
            <a:r>
              <a:rPr lang="en-US">
                <a:solidFill>
                  <a:srgbClr val="95B2B9"/>
                </a:solidFill>
                <a:highlight>
                  <a:srgbClr val="FFFF00"/>
                </a:highlight>
                <a:latin typeface="Poppins Medium" panose="00000600000000000000" pitchFamily="2" charset="0"/>
                <a:cs typeface="Poppins Medium" panose="00000600000000000000" pitchFamily="2" charset="0"/>
              </a:rPr>
              <a:t>CHECK WITH MIKE AND SCOTT  BUT I WOULD SUGGEST HAVING THE STARTING DATE FOR EACH GRAPH BE DEC 1999.  THAT WAY THE AXIS WILL SAY DEC 00, DEC 02, DEC 08, ETC</a:t>
            </a:r>
          </a:p>
          <a:p>
            <a:endParaRPr lang="en-US"/>
          </a:p>
        </p:txBody>
      </p:sp>
      <p:sp>
        <p:nvSpPr>
          <p:cNvPr id="4" name="Slide Number Placeholder 3">
            <a:extLst>
              <a:ext uri="{FF2B5EF4-FFF2-40B4-BE49-F238E27FC236}">
                <a16:creationId xmlns:a16="http://schemas.microsoft.com/office/drawing/2014/main" id="{372EACB1-3D18-A2CF-BE0E-DA84FB08F184}"/>
              </a:ext>
            </a:extLst>
          </p:cNvPr>
          <p:cNvSpPr>
            <a:spLocks noGrp="1"/>
          </p:cNvSpPr>
          <p:nvPr>
            <p:ph type="sldNum" sz="quarter" idx="5"/>
          </p:nvPr>
        </p:nvSpPr>
        <p:spPr/>
        <p:txBody>
          <a:bodyPr/>
          <a:lstStyle/>
          <a:p>
            <a:pPr defTabSz="457008">
              <a:defRPr/>
            </a:pPr>
            <a:fld id="{7FEDBDE0-38D8-4CA7-8BFB-7F442D9C2B75}" type="slidenum">
              <a:rPr lang="en-US">
                <a:solidFill>
                  <a:prstClr val="black"/>
                </a:solidFill>
                <a:latin typeface="Calibri" panose="020F0502020204030204"/>
              </a:rPr>
              <a:pPr defTabSz="457008">
                <a:defRPr/>
              </a:pPr>
              <a:t>6</a:t>
            </a:fld>
            <a:endParaRPr lang="en-US">
              <a:solidFill>
                <a:prstClr val="black"/>
              </a:solidFill>
              <a:latin typeface="Calibri" panose="020F0502020204030204"/>
            </a:endParaRPr>
          </a:p>
        </p:txBody>
      </p:sp>
    </p:spTree>
    <p:extLst>
      <p:ext uri="{BB962C8B-B14F-4D97-AF65-F5344CB8AC3E}">
        <p14:creationId xmlns:p14="http://schemas.microsoft.com/office/powerpoint/2010/main" val="346190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9E704-1865-5BF9-57A2-7A69C9A70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E1A2A-1CCB-4B45-E6E8-D30B63B4F7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A5B274-6B0B-E334-23E6-9C5454737A80}"/>
              </a:ext>
            </a:extLst>
          </p:cNvPr>
          <p:cNvSpPr>
            <a:spLocks noGrp="1"/>
          </p:cNvSpPr>
          <p:nvPr>
            <p:ph type="body" idx="1"/>
          </p:nvPr>
        </p:nvSpPr>
        <p:spPr/>
        <p:txBody>
          <a:bodyPr/>
          <a:lstStyle/>
          <a:p>
            <a:pPr defTabSz="940040">
              <a:defRPr/>
            </a:pPr>
            <a:endParaRPr lang="en-US"/>
          </a:p>
        </p:txBody>
      </p:sp>
      <p:sp>
        <p:nvSpPr>
          <p:cNvPr id="4" name="Slide Number Placeholder 3">
            <a:extLst>
              <a:ext uri="{FF2B5EF4-FFF2-40B4-BE49-F238E27FC236}">
                <a16:creationId xmlns:a16="http://schemas.microsoft.com/office/drawing/2014/main" id="{C83F30E7-244E-7E34-78D4-59994A4643CD}"/>
              </a:ext>
            </a:extLst>
          </p:cNvPr>
          <p:cNvSpPr>
            <a:spLocks noGrp="1"/>
          </p:cNvSpPr>
          <p:nvPr>
            <p:ph type="sldNum" sz="quarter" idx="5"/>
          </p:nvPr>
        </p:nvSpPr>
        <p:spPr/>
        <p:txBody>
          <a:bodyPr/>
          <a:lstStyle/>
          <a:p>
            <a:pPr marL="0" marR="0" lvl="0" indent="0" algn="r" defTabSz="470020" rtl="0" eaLnBrk="1" fontAlgn="auto" latinLnBrk="0" hangingPunct="1">
              <a:lnSpc>
                <a:spcPct val="100000"/>
              </a:lnSpc>
              <a:spcBef>
                <a:spcPts val="0"/>
              </a:spcBef>
              <a:spcAft>
                <a:spcPts val="0"/>
              </a:spcAft>
              <a:buClrTx/>
              <a:buSzTx/>
              <a:buFontTx/>
              <a:buNone/>
              <a:tabLst/>
              <a:defRPr/>
            </a:pPr>
            <a:fld id="{7FEDBDE0-38D8-4CA7-8BFB-7F442D9C2B75}" type="slidenum">
              <a:rPr kumimoji="0" lang="en-US" sz="13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70020" rtl="0" eaLnBrk="1" fontAlgn="auto" latinLnBrk="0" hangingPunct="1">
                <a:lnSpc>
                  <a:spcPct val="100000"/>
                </a:lnSpc>
                <a:spcBef>
                  <a:spcPts val="0"/>
                </a:spcBef>
                <a:spcAft>
                  <a:spcPts val="0"/>
                </a:spcAft>
                <a:buClrTx/>
                <a:buSzTx/>
                <a:buFontTx/>
                <a:buNone/>
                <a:tabLst/>
                <a:defRPr/>
              </a:pPr>
              <a:t>7</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8991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2CA82-36F8-064F-F8DD-D75F68946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35095-4669-A9F8-FE22-B5BF286277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D079DB1-46AB-5F77-ECA8-525AD2BDFB2D}"/>
              </a:ext>
            </a:extLst>
          </p:cNvPr>
          <p:cNvSpPr>
            <a:spLocks noGrp="1"/>
          </p:cNvSpPr>
          <p:nvPr>
            <p:ph type="body" idx="1"/>
          </p:nvPr>
        </p:nvSpPr>
        <p:spPr/>
        <p:txBody>
          <a:bodyPr/>
          <a:lstStyle/>
          <a:p>
            <a:pPr defTabSz="940040">
              <a:defRPr/>
            </a:pPr>
            <a:endParaRPr lang="en-US"/>
          </a:p>
        </p:txBody>
      </p:sp>
      <p:sp>
        <p:nvSpPr>
          <p:cNvPr id="4" name="Slide Number Placeholder 3">
            <a:extLst>
              <a:ext uri="{FF2B5EF4-FFF2-40B4-BE49-F238E27FC236}">
                <a16:creationId xmlns:a16="http://schemas.microsoft.com/office/drawing/2014/main" id="{EA550E33-0309-6029-F6A1-47DAE5DC86B5}"/>
              </a:ext>
            </a:extLst>
          </p:cNvPr>
          <p:cNvSpPr>
            <a:spLocks noGrp="1"/>
          </p:cNvSpPr>
          <p:nvPr>
            <p:ph type="sldNum" sz="quarter" idx="5"/>
          </p:nvPr>
        </p:nvSpPr>
        <p:spPr/>
        <p:txBody>
          <a:bodyPr/>
          <a:lstStyle/>
          <a:p>
            <a:pPr defTabSz="470020">
              <a:defRPr/>
            </a:pPr>
            <a:fld id="{7FEDBDE0-38D8-4CA7-8BFB-7F442D9C2B75}" type="slidenum">
              <a:rPr lang="en-US">
                <a:solidFill>
                  <a:prstClr val="black"/>
                </a:solidFill>
                <a:latin typeface="Calibri" panose="020F0502020204030204"/>
              </a:rPr>
              <a:pPr defTabSz="470020">
                <a:defRPr/>
              </a:pPr>
              <a:t>8</a:t>
            </a:fld>
            <a:endParaRPr lang="en-US">
              <a:solidFill>
                <a:prstClr val="black"/>
              </a:solidFill>
              <a:latin typeface="Calibri" panose="020F0502020204030204"/>
            </a:endParaRPr>
          </a:p>
        </p:txBody>
      </p:sp>
    </p:spTree>
    <p:extLst>
      <p:ext uri="{BB962C8B-B14F-4D97-AF65-F5344CB8AC3E}">
        <p14:creationId xmlns:p14="http://schemas.microsoft.com/office/powerpoint/2010/main" val="1439824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0040">
              <a:defRPr/>
            </a:pPr>
            <a:endParaRPr lang="en-US"/>
          </a:p>
        </p:txBody>
      </p:sp>
      <p:sp>
        <p:nvSpPr>
          <p:cNvPr id="4" name="Slide Number Placeholder 3"/>
          <p:cNvSpPr>
            <a:spLocks noGrp="1"/>
          </p:cNvSpPr>
          <p:nvPr>
            <p:ph type="sldNum" sz="quarter" idx="5"/>
          </p:nvPr>
        </p:nvSpPr>
        <p:spPr/>
        <p:txBody>
          <a:bodyPr/>
          <a:lstStyle/>
          <a:p>
            <a:pPr defTabSz="470020">
              <a:defRPr/>
            </a:pPr>
            <a:fld id="{7FEDBDE0-38D8-4CA7-8BFB-7F442D9C2B75}" type="slidenum">
              <a:rPr lang="en-US">
                <a:solidFill>
                  <a:prstClr val="black"/>
                </a:solidFill>
                <a:latin typeface="Calibri" panose="020F0502020204030204"/>
              </a:rPr>
              <a:pPr defTabSz="470020">
                <a:defRPr/>
              </a:pPr>
              <a:t>9</a:t>
            </a:fld>
            <a:endParaRPr lang="en-US">
              <a:solidFill>
                <a:prstClr val="black"/>
              </a:solidFill>
              <a:latin typeface="Calibri" panose="020F0502020204030204"/>
            </a:endParaRPr>
          </a:p>
        </p:txBody>
      </p:sp>
    </p:spTree>
    <p:extLst>
      <p:ext uri="{BB962C8B-B14F-4D97-AF65-F5344CB8AC3E}">
        <p14:creationId xmlns:p14="http://schemas.microsoft.com/office/powerpoint/2010/main" val="2075581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p:txBody>
          <a:bodyPr/>
          <a:lstStyle>
            <a:lvl1pPr algn="ctr" defTabSz="952201" eaLnBrk="0" hangingPunct="0">
              <a:spcBef>
                <a:spcPct val="50000"/>
              </a:spcBef>
              <a:defRPr sz="1100" b="1">
                <a:solidFill>
                  <a:schemeClr val="tx1"/>
                </a:solidFill>
                <a:latin typeface="Arial" charset="0"/>
              </a:defRPr>
            </a:lvl1pPr>
            <a:lvl2pPr marL="764372" indent="-293991" algn="ctr" defTabSz="952201" eaLnBrk="0" hangingPunct="0">
              <a:spcBef>
                <a:spcPct val="50000"/>
              </a:spcBef>
              <a:defRPr sz="1100" b="1">
                <a:solidFill>
                  <a:schemeClr val="tx1"/>
                </a:solidFill>
                <a:latin typeface="Arial" charset="0"/>
              </a:defRPr>
            </a:lvl2pPr>
            <a:lvl3pPr marL="1175957" indent="-235192" algn="ctr" defTabSz="952201" eaLnBrk="0" hangingPunct="0">
              <a:spcBef>
                <a:spcPct val="50000"/>
              </a:spcBef>
              <a:defRPr sz="1100" b="1">
                <a:solidFill>
                  <a:schemeClr val="tx1"/>
                </a:solidFill>
                <a:latin typeface="Arial" charset="0"/>
              </a:defRPr>
            </a:lvl3pPr>
            <a:lvl4pPr marL="1646342" indent="-235192" algn="ctr" defTabSz="952201" eaLnBrk="0" hangingPunct="0">
              <a:spcBef>
                <a:spcPct val="50000"/>
              </a:spcBef>
              <a:defRPr sz="1100" b="1">
                <a:solidFill>
                  <a:schemeClr val="tx1"/>
                </a:solidFill>
                <a:latin typeface="Arial" charset="0"/>
              </a:defRPr>
            </a:lvl4pPr>
            <a:lvl5pPr marL="2116723" indent="-235192" algn="ctr" defTabSz="952201" eaLnBrk="0" hangingPunct="0">
              <a:spcBef>
                <a:spcPct val="50000"/>
              </a:spcBef>
              <a:defRPr sz="1100" b="1">
                <a:solidFill>
                  <a:schemeClr val="tx1"/>
                </a:solidFill>
                <a:latin typeface="Arial" charset="0"/>
              </a:defRPr>
            </a:lvl5pPr>
            <a:lvl6pPr marL="2587107" indent="-235192" algn="ctr" defTabSz="952201" eaLnBrk="0" fontAlgn="base" hangingPunct="0">
              <a:spcBef>
                <a:spcPct val="50000"/>
              </a:spcBef>
              <a:spcAft>
                <a:spcPct val="0"/>
              </a:spcAft>
              <a:defRPr sz="1100" b="1">
                <a:solidFill>
                  <a:schemeClr val="tx1"/>
                </a:solidFill>
                <a:latin typeface="Arial" charset="0"/>
              </a:defRPr>
            </a:lvl6pPr>
            <a:lvl7pPr marL="3057491" indent="-235192" algn="ctr" defTabSz="952201" eaLnBrk="0" fontAlgn="base" hangingPunct="0">
              <a:spcBef>
                <a:spcPct val="50000"/>
              </a:spcBef>
              <a:spcAft>
                <a:spcPct val="0"/>
              </a:spcAft>
              <a:defRPr sz="1100" b="1">
                <a:solidFill>
                  <a:schemeClr val="tx1"/>
                </a:solidFill>
                <a:latin typeface="Arial" charset="0"/>
              </a:defRPr>
            </a:lvl7pPr>
            <a:lvl8pPr marL="3527871" indent="-235192" algn="ctr" defTabSz="952201" eaLnBrk="0" fontAlgn="base" hangingPunct="0">
              <a:spcBef>
                <a:spcPct val="50000"/>
              </a:spcBef>
              <a:spcAft>
                <a:spcPct val="0"/>
              </a:spcAft>
              <a:defRPr sz="1100" b="1">
                <a:solidFill>
                  <a:schemeClr val="tx1"/>
                </a:solidFill>
                <a:latin typeface="Arial" charset="0"/>
              </a:defRPr>
            </a:lvl8pPr>
            <a:lvl9pPr marL="3998255" indent="-235192" algn="ctr" defTabSz="952201" eaLnBrk="0" fontAlgn="base" hangingPunct="0">
              <a:spcBef>
                <a:spcPct val="50000"/>
              </a:spcBef>
              <a:spcAft>
                <a:spcPct val="0"/>
              </a:spcAft>
              <a:defRPr sz="1100" b="1">
                <a:solidFill>
                  <a:schemeClr val="tx1"/>
                </a:solidFill>
                <a:latin typeface="Arial" charset="0"/>
              </a:defRPr>
            </a:lvl9pPr>
          </a:lstStyle>
          <a:p>
            <a:pPr marL="0" marR="0" lvl="0" indent="0" algn="r" defTabSz="952201" rtl="0" eaLnBrk="0" fontAlgn="auto" latinLnBrk="0" hangingPunct="0">
              <a:lnSpc>
                <a:spcPct val="100000"/>
              </a:lnSpc>
              <a:spcBef>
                <a:spcPct val="0"/>
              </a:spcBef>
              <a:spcAft>
                <a:spcPts val="0"/>
              </a:spcAft>
              <a:buClrTx/>
              <a:buSzTx/>
              <a:buFontTx/>
              <a:buNone/>
              <a:tabLst/>
              <a:defRPr/>
            </a:pPr>
            <a:fld id="{8D181CB6-116C-4F73-9D2F-41F68F1A81C1}" type="slidenum">
              <a:rPr kumimoji="0" lang="en-US" sz="11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52201" rtl="0" eaLnBrk="0" fontAlgn="auto" latinLnBrk="0" hangingPunct="0">
                <a:lnSpc>
                  <a:spcPct val="100000"/>
                </a:lnSpc>
                <a:spcBef>
                  <a:spcPct val="0"/>
                </a:spcBef>
                <a:spcAft>
                  <a:spcPts val="0"/>
                </a:spcAft>
                <a:buClrTx/>
                <a:buSzTx/>
                <a:buFontTx/>
                <a:buNone/>
                <a:tabLst/>
                <a:defRPr/>
              </a:pPr>
              <a:t>10</a:t>
            </a:fld>
            <a:endParaRPr kumimoji="0" lang="en-US" sz="11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4819" name="Rectangle 2"/>
          <p:cNvSpPr>
            <a:spLocks noGrp="1" noRot="1" noChangeAspect="1" noChangeArrowheads="1" noTextEdit="1"/>
          </p:cNvSpPr>
          <p:nvPr>
            <p:ph type="sldImg"/>
          </p:nvPr>
        </p:nvSpPr>
        <p:spPr>
          <a:xfrm>
            <a:off x="1298575" y="728663"/>
            <a:ext cx="4830763" cy="3622675"/>
          </a:xfrm>
          <a:ln/>
        </p:spPr>
        <p:txBody>
          <a:bodyPr/>
          <a:lstStyle/>
          <a:p>
            <a:endParaRPr lang="en-US"/>
          </a:p>
        </p:txBody>
      </p:sp>
      <p:sp>
        <p:nvSpPr>
          <p:cNvPr id="34820" name="Rectangle 3"/>
          <p:cNvSpPr>
            <a:spLocks noGrp="1" noChangeArrowheads="1"/>
          </p:cNvSpPr>
          <p:nvPr>
            <p:ph type="body" idx="1"/>
          </p:nvPr>
        </p:nvSpPr>
        <p:spPr>
          <a:xfrm>
            <a:off x="985375" y="4597272"/>
            <a:ext cx="5424362" cy="435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18" tIns="47615" rIns="95218" bIns="47615"/>
          <a:lstStyle/>
          <a:p>
            <a:endParaRPr lang="en-GB" altLang="en-US"/>
          </a:p>
        </p:txBody>
      </p:sp>
    </p:spTree>
    <p:extLst>
      <p:ext uri="{BB962C8B-B14F-4D97-AF65-F5344CB8AC3E}">
        <p14:creationId xmlns:p14="http://schemas.microsoft.com/office/powerpoint/2010/main" val="2327865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should be noted as Option 1</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EDBDE0-38D8-4CA7-8BFB-7F442D9C2B75}"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4731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should be noted as Option 1</a:t>
            </a:r>
          </a:p>
          <a:p>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12</a:t>
            </a:fld>
            <a:endParaRPr lang="en-US"/>
          </a:p>
        </p:txBody>
      </p:sp>
    </p:spTree>
    <p:extLst>
      <p:ext uri="{BB962C8B-B14F-4D97-AF65-F5344CB8AC3E}">
        <p14:creationId xmlns:p14="http://schemas.microsoft.com/office/powerpoint/2010/main" val="2576153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a:r>
              <a:rPr lang="en-US" b="0" i="0">
                <a:effectLst/>
                <a:latin typeface="Segoe UI" panose="020B0502040204020203" pitchFamily="34" charset="0"/>
              </a:rPr>
              <a:t>Update 5/2021: adding the new expense to the existing expense and changing Misc income to Dividend Income</a:t>
            </a:r>
          </a:p>
          <a:p>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13</a:t>
            </a:fld>
            <a:endParaRPr lang="en-US"/>
          </a:p>
        </p:txBody>
      </p:sp>
    </p:spTree>
    <p:extLst>
      <p:ext uri="{BB962C8B-B14F-4D97-AF65-F5344CB8AC3E}">
        <p14:creationId xmlns:p14="http://schemas.microsoft.com/office/powerpoint/2010/main" val="3947410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p:txBody>
          <a:bodyPr/>
          <a:lstStyle>
            <a:lvl1pPr algn="ctr" defTabSz="952201" eaLnBrk="0" hangingPunct="0">
              <a:spcBef>
                <a:spcPct val="50000"/>
              </a:spcBef>
              <a:defRPr sz="1100" b="1">
                <a:solidFill>
                  <a:schemeClr val="tx1"/>
                </a:solidFill>
                <a:latin typeface="Arial" charset="0"/>
              </a:defRPr>
            </a:lvl1pPr>
            <a:lvl2pPr marL="764372" indent="-293991" algn="ctr" defTabSz="952201" eaLnBrk="0" hangingPunct="0">
              <a:spcBef>
                <a:spcPct val="50000"/>
              </a:spcBef>
              <a:defRPr sz="1100" b="1">
                <a:solidFill>
                  <a:schemeClr val="tx1"/>
                </a:solidFill>
                <a:latin typeface="Arial" charset="0"/>
              </a:defRPr>
            </a:lvl2pPr>
            <a:lvl3pPr marL="1175957" indent="-235192" algn="ctr" defTabSz="952201" eaLnBrk="0" hangingPunct="0">
              <a:spcBef>
                <a:spcPct val="50000"/>
              </a:spcBef>
              <a:defRPr sz="1100" b="1">
                <a:solidFill>
                  <a:schemeClr val="tx1"/>
                </a:solidFill>
                <a:latin typeface="Arial" charset="0"/>
              </a:defRPr>
            </a:lvl3pPr>
            <a:lvl4pPr marL="1646342" indent="-235192" algn="ctr" defTabSz="952201" eaLnBrk="0" hangingPunct="0">
              <a:spcBef>
                <a:spcPct val="50000"/>
              </a:spcBef>
              <a:defRPr sz="1100" b="1">
                <a:solidFill>
                  <a:schemeClr val="tx1"/>
                </a:solidFill>
                <a:latin typeface="Arial" charset="0"/>
              </a:defRPr>
            </a:lvl4pPr>
            <a:lvl5pPr marL="2116723" indent="-235192" algn="ctr" defTabSz="952201" eaLnBrk="0" hangingPunct="0">
              <a:spcBef>
                <a:spcPct val="50000"/>
              </a:spcBef>
              <a:defRPr sz="1100" b="1">
                <a:solidFill>
                  <a:schemeClr val="tx1"/>
                </a:solidFill>
                <a:latin typeface="Arial" charset="0"/>
              </a:defRPr>
            </a:lvl5pPr>
            <a:lvl6pPr marL="2587107" indent="-235192" algn="ctr" defTabSz="952201" eaLnBrk="0" fontAlgn="base" hangingPunct="0">
              <a:spcBef>
                <a:spcPct val="50000"/>
              </a:spcBef>
              <a:spcAft>
                <a:spcPct val="0"/>
              </a:spcAft>
              <a:defRPr sz="1100" b="1">
                <a:solidFill>
                  <a:schemeClr val="tx1"/>
                </a:solidFill>
                <a:latin typeface="Arial" charset="0"/>
              </a:defRPr>
            </a:lvl6pPr>
            <a:lvl7pPr marL="3057491" indent="-235192" algn="ctr" defTabSz="952201" eaLnBrk="0" fontAlgn="base" hangingPunct="0">
              <a:spcBef>
                <a:spcPct val="50000"/>
              </a:spcBef>
              <a:spcAft>
                <a:spcPct val="0"/>
              </a:spcAft>
              <a:defRPr sz="1100" b="1">
                <a:solidFill>
                  <a:schemeClr val="tx1"/>
                </a:solidFill>
                <a:latin typeface="Arial" charset="0"/>
              </a:defRPr>
            </a:lvl7pPr>
            <a:lvl8pPr marL="3527871" indent="-235192" algn="ctr" defTabSz="952201" eaLnBrk="0" fontAlgn="base" hangingPunct="0">
              <a:spcBef>
                <a:spcPct val="50000"/>
              </a:spcBef>
              <a:spcAft>
                <a:spcPct val="0"/>
              </a:spcAft>
              <a:defRPr sz="1100" b="1">
                <a:solidFill>
                  <a:schemeClr val="tx1"/>
                </a:solidFill>
                <a:latin typeface="Arial" charset="0"/>
              </a:defRPr>
            </a:lvl8pPr>
            <a:lvl9pPr marL="3998255" indent="-235192" algn="ctr" defTabSz="952201" eaLnBrk="0" fontAlgn="base" hangingPunct="0">
              <a:spcBef>
                <a:spcPct val="50000"/>
              </a:spcBef>
              <a:spcAft>
                <a:spcPct val="0"/>
              </a:spcAft>
              <a:defRPr sz="1100" b="1">
                <a:solidFill>
                  <a:schemeClr val="tx1"/>
                </a:solidFill>
                <a:latin typeface="Arial" charset="0"/>
              </a:defRPr>
            </a:lvl9pPr>
          </a:lstStyle>
          <a:p>
            <a:pPr marL="0" marR="0" lvl="0" indent="0" algn="r" defTabSz="952201" rtl="0" eaLnBrk="0" fontAlgn="auto" latinLnBrk="0" hangingPunct="0">
              <a:lnSpc>
                <a:spcPct val="100000"/>
              </a:lnSpc>
              <a:spcBef>
                <a:spcPct val="0"/>
              </a:spcBef>
              <a:spcAft>
                <a:spcPts val="0"/>
              </a:spcAft>
              <a:buClrTx/>
              <a:buSzTx/>
              <a:buFontTx/>
              <a:buNone/>
              <a:tabLst/>
              <a:defRPr/>
            </a:pPr>
            <a:fld id="{8D181CB6-116C-4F73-9D2F-41F68F1A81C1}" type="slidenum">
              <a:rPr kumimoji="0" lang="en-US" sz="11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52201" rtl="0" eaLnBrk="0" fontAlgn="auto" latinLnBrk="0" hangingPunct="0">
                <a:lnSpc>
                  <a:spcPct val="100000"/>
                </a:lnSpc>
                <a:spcBef>
                  <a:spcPct val="0"/>
                </a:spcBef>
                <a:spcAft>
                  <a:spcPts val="0"/>
                </a:spcAft>
                <a:buClrTx/>
                <a:buSzTx/>
                <a:buFontTx/>
                <a:buNone/>
                <a:tabLst/>
                <a:defRPr/>
              </a:pPr>
              <a:t>14</a:t>
            </a:fld>
            <a:endParaRPr kumimoji="0" lang="en-US" sz="11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4819" name="Rectangle 2"/>
          <p:cNvSpPr>
            <a:spLocks noGrp="1" noRot="1" noChangeAspect="1" noChangeArrowheads="1" noTextEdit="1"/>
          </p:cNvSpPr>
          <p:nvPr>
            <p:ph type="sldImg"/>
          </p:nvPr>
        </p:nvSpPr>
        <p:spPr>
          <a:xfrm>
            <a:off x="1298575" y="728663"/>
            <a:ext cx="4830763" cy="3622675"/>
          </a:xfrm>
          <a:ln/>
        </p:spPr>
        <p:txBody>
          <a:bodyPr/>
          <a:lstStyle/>
          <a:p>
            <a:endParaRPr lang="en-US"/>
          </a:p>
        </p:txBody>
      </p:sp>
      <p:sp>
        <p:nvSpPr>
          <p:cNvPr id="34820" name="Rectangle 3"/>
          <p:cNvSpPr>
            <a:spLocks noGrp="1" noChangeArrowheads="1"/>
          </p:cNvSpPr>
          <p:nvPr>
            <p:ph type="body" idx="1"/>
          </p:nvPr>
        </p:nvSpPr>
        <p:spPr>
          <a:xfrm>
            <a:off x="985375" y="4597272"/>
            <a:ext cx="5424362" cy="435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18" tIns="47615" rIns="95218" bIns="47615"/>
          <a:lstStyle/>
          <a:p>
            <a:endParaRPr lang="en-GB" altLang="en-US"/>
          </a:p>
        </p:txBody>
      </p:sp>
    </p:spTree>
    <p:extLst>
      <p:ext uri="{BB962C8B-B14F-4D97-AF65-F5344CB8AC3E}">
        <p14:creationId xmlns:p14="http://schemas.microsoft.com/office/powerpoint/2010/main" val="2815301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1635">
              <a:defRPr/>
            </a:pPr>
            <a:r>
              <a:rPr lang="en-US" b="1" i="1" u="sng">
                <a:solidFill>
                  <a:srgbClr val="FF0000"/>
                </a:solidFill>
              </a:rPr>
              <a:t>PUT NOT 2X CHECKED AT THE TOP</a:t>
            </a:r>
          </a:p>
          <a:p>
            <a:pPr defTabSz="941635">
              <a:defRPr/>
            </a:pPr>
            <a:r>
              <a:rPr lang="en-US">
                <a:solidFill>
                  <a:srgbClr val="FF0000"/>
                </a:solidFill>
              </a:rPr>
              <a:t>AFTER JACK SENDS OUT FACT SHEETS CHECK in EMAIL IN THERE TO THIS </a:t>
            </a:r>
            <a:r>
              <a:rPr lang="en-US" b="1" u="sng">
                <a:solidFill>
                  <a:srgbClr val="FF0000"/>
                </a:solidFill>
              </a:rPr>
              <a:t>THAT IS THE DOUBLE CHECK</a:t>
            </a:r>
          </a:p>
          <a:p>
            <a:pPr defTabSz="949262">
              <a:defRPr/>
            </a:pPr>
            <a:endParaRPr lang="en-US">
              <a:solidFill>
                <a:srgbClr val="FF0000"/>
              </a:solidFill>
            </a:endParaRPr>
          </a:p>
          <a:p>
            <a:pPr defTabSz="949262">
              <a:defRPr/>
            </a:pPr>
            <a:endParaRPr lang="en-US">
              <a:solidFill>
                <a:srgbClr val="FF0000"/>
              </a:solidFill>
            </a:endParaRPr>
          </a:p>
          <a:p>
            <a:pPr defTabSz="949262">
              <a:defRPr/>
            </a:pPr>
            <a:r>
              <a:rPr lang="en-US">
                <a:solidFill>
                  <a:srgbClr val="FF0000"/>
                </a:solidFill>
              </a:rPr>
              <a:t>Q:\Data Bases\DB Reporting\Monthly Fact Sheet Support\2019   (file name = v2Copy of FS backup Data Stable Name Master.xls)  | Tab name: SECTOR ALLOCATIONS_ ALL FUNDS</a:t>
            </a:r>
            <a:endParaRPr lang="en-US"/>
          </a:p>
          <a:p>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15</a:t>
            </a:fld>
            <a:endParaRPr lang="en-US"/>
          </a:p>
        </p:txBody>
      </p:sp>
    </p:spTree>
    <p:extLst>
      <p:ext uri="{BB962C8B-B14F-4D97-AF65-F5344CB8AC3E}">
        <p14:creationId xmlns:p14="http://schemas.microsoft.com/office/powerpoint/2010/main" val="4235904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should be noted as Option 1</a:t>
            </a:r>
          </a:p>
          <a:p>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16</a:t>
            </a:fld>
            <a:endParaRPr lang="en-US"/>
          </a:p>
        </p:txBody>
      </p:sp>
    </p:spTree>
    <p:extLst>
      <p:ext uri="{BB962C8B-B14F-4D97-AF65-F5344CB8AC3E}">
        <p14:creationId xmlns:p14="http://schemas.microsoft.com/office/powerpoint/2010/main" val="2191736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Proof before posting. </a:t>
            </a:r>
          </a:p>
        </p:txBody>
      </p:sp>
      <p:sp>
        <p:nvSpPr>
          <p:cNvPr id="4" name="Slide Number Placeholder 3"/>
          <p:cNvSpPr>
            <a:spLocks noGrp="1"/>
          </p:cNvSpPr>
          <p:nvPr>
            <p:ph type="sldNum" sz="quarter" idx="5"/>
          </p:nvPr>
        </p:nvSpPr>
        <p:spPr/>
        <p:txBody>
          <a:bodyPr/>
          <a:lstStyle/>
          <a:p>
            <a:fld id="{7FEDBDE0-38D8-4CA7-8BFB-7F442D9C2B75}" type="slidenum">
              <a:rPr lang="en-US" smtClean="0"/>
              <a:t>17</a:t>
            </a:fld>
            <a:endParaRPr lang="en-US"/>
          </a:p>
        </p:txBody>
      </p:sp>
    </p:spTree>
    <p:extLst>
      <p:ext uri="{BB962C8B-B14F-4D97-AF65-F5344CB8AC3E}">
        <p14:creationId xmlns:p14="http://schemas.microsoft.com/office/powerpoint/2010/main" val="2190425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p:txBody>
          <a:bodyPr/>
          <a:lstStyle>
            <a:lvl1pPr algn="ctr" defTabSz="952201" eaLnBrk="0" hangingPunct="0">
              <a:spcBef>
                <a:spcPct val="50000"/>
              </a:spcBef>
              <a:defRPr sz="1100" b="1">
                <a:solidFill>
                  <a:schemeClr val="tx1"/>
                </a:solidFill>
                <a:latin typeface="Arial" charset="0"/>
              </a:defRPr>
            </a:lvl1pPr>
            <a:lvl2pPr marL="764372" indent="-293991" algn="ctr" defTabSz="952201" eaLnBrk="0" hangingPunct="0">
              <a:spcBef>
                <a:spcPct val="50000"/>
              </a:spcBef>
              <a:defRPr sz="1100" b="1">
                <a:solidFill>
                  <a:schemeClr val="tx1"/>
                </a:solidFill>
                <a:latin typeface="Arial" charset="0"/>
              </a:defRPr>
            </a:lvl2pPr>
            <a:lvl3pPr marL="1175957" indent="-235192" algn="ctr" defTabSz="952201" eaLnBrk="0" hangingPunct="0">
              <a:spcBef>
                <a:spcPct val="50000"/>
              </a:spcBef>
              <a:defRPr sz="1100" b="1">
                <a:solidFill>
                  <a:schemeClr val="tx1"/>
                </a:solidFill>
                <a:latin typeface="Arial" charset="0"/>
              </a:defRPr>
            </a:lvl3pPr>
            <a:lvl4pPr marL="1646342" indent="-235192" algn="ctr" defTabSz="952201" eaLnBrk="0" hangingPunct="0">
              <a:spcBef>
                <a:spcPct val="50000"/>
              </a:spcBef>
              <a:defRPr sz="1100" b="1">
                <a:solidFill>
                  <a:schemeClr val="tx1"/>
                </a:solidFill>
                <a:latin typeface="Arial" charset="0"/>
              </a:defRPr>
            </a:lvl4pPr>
            <a:lvl5pPr marL="2116723" indent="-235192" algn="ctr" defTabSz="952201" eaLnBrk="0" hangingPunct="0">
              <a:spcBef>
                <a:spcPct val="50000"/>
              </a:spcBef>
              <a:defRPr sz="1100" b="1">
                <a:solidFill>
                  <a:schemeClr val="tx1"/>
                </a:solidFill>
                <a:latin typeface="Arial" charset="0"/>
              </a:defRPr>
            </a:lvl5pPr>
            <a:lvl6pPr marL="2587107" indent="-235192" algn="ctr" defTabSz="952201" eaLnBrk="0" fontAlgn="base" hangingPunct="0">
              <a:spcBef>
                <a:spcPct val="50000"/>
              </a:spcBef>
              <a:spcAft>
                <a:spcPct val="0"/>
              </a:spcAft>
              <a:defRPr sz="1100" b="1">
                <a:solidFill>
                  <a:schemeClr val="tx1"/>
                </a:solidFill>
                <a:latin typeface="Arial" charset="0"/>
              </a:defRPr>
            </a:lvl6pPr>
            <a:lvl7pPr marL="3057491" indent="-235192" algn="ctr" defTabSz="952201" eaLnBrk="0" fontAlgn="base" hangingPunct="0">
              <a:spcBef>
                <a:spcPct val="50000"/>
              </a:spcBef>
              <a:spcAft>
                <a:spcPct val="0"/>
              </a:spcAft>
              <a:defRPr sz="1100" b="1">
                <a:solidFill>
                  <a:schemeClr val="tx1"/>
                </a:solidFill>
                <a:latin typeface="Arial" charset="0"/>
              </a:defRPr>
            </a:lvl7pPr>
            <a:lvl8pPr marL="3527871" indent="-235192" algn="ctr" defTabSz="952201" eaLnBrk="0" fontAlgn="base" hangingPunct="0">
              <a:spcBef>
                <a:spcPct val="50000"/>
              </a:spcBef>
              <a:spcAft>
                <a:spcPct val="0"/>
              </a:spcAft>
              <a:defRPr sz="1100" b="1">
                <a:solidFill>
                  <a:schemeClr val="tx1"/>
                </a:solidFill>
                <a:latin typeface="Arial" charset="0"/>
              </a:defRPr>
            </a:lvl8pPr>
            <a:lvl9pPr marL="3998255" indent="-235192" algn="ctr" defTabSz="952201" eaLnBrk="0" fontAlgn="base" hangingPunct="0">
              <a:spcBef>
                <a:spcPct val="50000"/>
              </a:spcBef>
              <a:spcAft>
                <a:spcPct val="0"/>
              </a:spcAft>
              <a:defRPr sz="1100" b="1">
                <a:solidFill>
                  <a:schemeClr val="tx1"/>
                </a:solidFill>
                <a:latin typeface="Arial" charset="0"/>
              </a:defRPr>
            </a:lvl9pPr>
          </a:lstStyle>
          <a:p>
            <a:pPr marL="0" marR="0" lvl="0" indent="0" algn="r" defTabSz="952201" rtl="0" eaLnBrk="0" fontAlgn="auto" latinLnBrk="0" hangingPunct="0">
              <a:lnSpc>
                <a:spcPct val="100000"/>
              </a:lnSpc>
              <a:spcBef>
                <a:spcPct val="0"/>
              </a:spcBef>
              <a:spcAft>
                <a:spcPts val="0"/>
              </a:spcAft>
              <a:buClrTx/>
              <a:buSzTx/>
              <a:buFontTx/>
              <a:buNone/>
              <a:tabLst/>
              <a:defRPr/>
            </a:pPr>
            <a:fld id="{8D181CB6-116C-4F73-9D2F-41F68F1A81C1}" type="slidenum">
              <a:rPr kumimoji="0" lang="en-US" sz="11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52201" rtl="0" eaLnBrk="0" fontAlgn="auto" latinLnBrk="0" hangingPunct="0">
                <a:lnSpc>
                  <a:spcPct val="100000"/>
                </a:lnSpc>
                <a:spcBef>
                  <a:spcPct val="0"/>
                </a:spcBef>
                <a:spcAft>
                  <a:spcPts val="0"/>
                </a:spcAft>
                <a:buClrTx/>
                <a:buSzTx/>
                <a:buFontTx/>
                <a:buNone/>
                <a:tabLst/>
                <a:defRPr/>
              </a:pPr>
              <a:t>18</a:t>
            </a:fld>
            <a:endParaRPr kumimoji="0" lang="en-US" sz="11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4819" name="Rectangle 2"/>
          <p:cNvSpPr>
            <a:spLocks noGrp="1" noRot="1" noChangeAspect="1" noChangeArrowheads="1" noTextEdit="1"/>
          </p:cNvSpPr>
          <p:nvPr>
            <p:ph type="sldImg"/>
          </p:nvPr>
        </p:nvSpPr>
        <p:spPr>
          <a:xfrm>
            <a:off x="1298575" y="728663"/>
            <a:ext cx="4830763" cy="3622675"/>
          </a:xfrm>
          <a:ln/>
        </p:spPr>
        <p:txBody>
          <a:bodyPr/>
          <a:lstStyle/>
          <a:p>
            <a:endParaRPr lang="en-US"/>
          </a:p>
        </p:txBody>
      </p:sp>
      <p:sp>
        <p:nvSpPr>
          <p:cNvPr id="34820" name="Rectangle 3"/>
          <p:cNvSpPr>
            <a:spLocks noGrp="1" noChangeArrowheads="1"/>
          </p:cNvSpPr>
          <p:nvPr>
            <p:ph type="body" idx="1"/>
          </p:nvPr>
        </p:nvSpPr>
        <p:spPr>
          <a:xfrm>
            <a:off x="985375" y="4597272"/>
            <a:ext cx="5424362" cy="435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18" tIns="47615" rIns="95218" bIns="47615"/>
          <a:lstStyle/>
          <a:p>
            <a:endParaRPr lang="en-GB" altLang="en-US"/>
          </a:p>
        </p:txBody>
      </p:sp>
    </p:spTree>
    <p:extLst>
      <p:ext uri="{BB962C8B-B14F-4D97-AF65-F5344CB8AC3E}">
        <p14:creationId xmlns:p14="http://schemas.microsoft.com/office/powerpoint/2010/main" val="15229703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8349">
              <a:defRPr/>
            </a:pPr>
            <a:r>
              <a:rPr lang="en-US" b="0" i="0">
                <a:solidFill>
                  <a:srgbClr val="242424"/>
                </a:solidFill>
                <a:effectLst/>
                <a:latin typeface="-apple-system"/>
              </a:rPr>
              <a:t>OneDrive - Performa\PBDA\Data Bases\DB Reporting\Monthly Fact Sheet Support\1) ETF One Pager Data</a:t>
            </a: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19</a:t>
            </a:fld>
            <a:endParaRPr lang="en-US"/>
          </a:p>
        </p:txBody>
      </p:sp>
    </p:spTree>
    <p:extLst>
      <p:ext uri="{BB962C8B-B14F-4D97-AF65-F5344CB8AC3E}">
        <p14:creationId xmlns:p14="http://schemas.microsoft.com/office/powerpoint/2010/main" val="938710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8349">
              <a:defRPr/>
            </a:pPr>
            <a:r>
              <a:rPr lang="en-US" b="0" i="0">
                <a:solidFill>
                  <a:srgbClr val="242424"/>
                </a:solidFill>
                <a:effectLst/>
                <a:latin typeface="-apple-system"/>
              </a:rPr>
              <a:t>OneDrive - Performa\PBDA\Data Bases\DB Reporting\Monthly Fact Sheet Support\1) ETF One Pager Data</a:t>
            </a: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20</a:t>
            </a:fld>
            <a:endParaRPr lang="en-US"/>
          </a:p>
        </p:txBody>
      </p:sp>
    </p:spTree>
    <p:extLst>
      <p:ext uri="{BB962C8B-B14F-4D97-AF65-F5344CB8AC3E}">
        <p14:creationId xmlns:p14="http://schemas.microsoft.com/office/powerpoint/2010/main" val="1110343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i="0">
                <a:solidFill>
                  <a:srgbClr val="242424"/>
                </a:solidFill>
                <a:effectLst/>
                <a:latin typeface="-apple-system"/>
              </a:rPr>
              <a:t>OneDrive - Performa\PBDA\Data Bases\DB Reporting\Monthly Fact Sheet Support\1) ETF One Pager Data</a:t>
            </a: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21</a:t>
            </a:fld>
            <a:endParaRPr lang="en-US"/>
          </a:p>
        </p:txBody>
      </p:sp>
    </p:spTree>
    <p:extLst>
      <p:ext uri="{BB962C8B-B14F-4D97-AF65-F5344CB8AC3E}">
        <p14:creationId xmlns:p14="http://schemas.microsoft.com/office/powerpoint/2010/main" val="4189154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i="0">
                <a:solidFill>
                  <a:srgbClr val="242424"/>
                </a:solidFill>
                <a:effectLst/>
                <a:latin typeface="-apple-system"/>
              </a:rPr>
              <a:t>OneDrive - Performa\PBDA\Data Bases\DB Reporting\Monthly Fact Sheet Support\1) ETF One Pager Data</a:t>
            </a: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22</a:t>
            </a:fld>
            <a:endParaRPr lang="en-US"/>
          </a:p>
        </p:txBody>
      </p:sp>
    </p:spTree>
    <p:extLst>
      <p:ext uri="{BB962C8B-B14F-4D97-AF65-F5344CB8AC3E}">
        <p14:creationId xmlns:p14="http://schemas.microsoft.com/office/powerpoint/2010/main" val="3550465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8349">
              <a:defRPr/>
            </a:pPr>
            <a:r>
              <a:rPr lang="en-US" b="0" i="0">
                <a:solidFill>
                  <a:srgbClr val="242424"/>
                </a:solidFill>
                <a:effectLst/>
                <a:latin typeface="-apple-system"/>
              </a:rPr>
              <a:t>OneDrive - Performa\PBDA\Data Bases\DB Reporting\Monthly Fact Sheet Support\1) ETF One Pager Data</a:t>
            </a: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23</a:t>
            </a:fld>
            <a:endParaRPr lang="en-US"/>
          </a:p>
        </p:txBody>
      </p:sp>
    </p:spTree>
    <p:extLst>
      <p:ext uri="{BB962C8B-B14F-4D97-AF65-F5344CB8AC3E}">
        <p14:creationId xmlns:p14="http://schemas.microsoft.com/office/powerpoint/2010/main" val="3980653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p:txBody>
          <a:bodyPr/>
          <a:lstStyle>
            <a:lvl1pPr algn="ctr" defTabSz="952201" eaLnBrk="0" hangingPunct="0">
              <a:spcBef>
                <a:spcPct val="50000"/>
              </a:spcBef>
              <a:defRPr sz="1100" b="1">
                <a:solidFill>
                  <a:schemeClr val="tx1"/>
                </a:solidFill>
                <a:latin typeface="Arial" charset="0"/>
              </a:defRPr>
            </a:lvl1pPr>
            <a:lvl2pPr marL="764372" indent="-293991" algn="ctr" defTabSz="952201" eaLnBrk="0" hangingPunct="0">
              <a:spcBef>
                <a:spcPct val="50000"/>
              </a:spcBef>
              <a:defRPr sz="1100" b="1">
                <a:solidFill>
                  <a:schemeClr val="tx1"/>
                </a:solidFill>
                <a:latin typeface="Arial" charset="0"/>
              </a:defRPr>
            </a:lvl2pPr>
            <a:lvl3pPr marL="1175957" indent="-235192" algn="ctr" defTabSz="952201" eaLnBrk="0" hangingPunct="0">
              <a:spcBef>
                <a:spcPct val="50000"/>
              </a:spcBef>
              <a:defRPr sz="1100" b="1">
                <a:solidFill>
                  <a:schemeClr val="tx1"/>
                </a:solidFill>
                <a:latin typeface="Arial" charset="0"/>
              </a:defRPr>
            </a:lvl3pPr>
            <a:lvl4pPr marL="1646342" indent="-235192" algn="ctr" defTabSz="952201" eaLnBrk="0" hangingPunct="0">
              <a:spcBef>
                <a:spcPct val="50000"/>
              </a:spcBef>
              <a:defRPr sz="1100" b="1">
                <a:solidFill>
                  <a:schemeClr val="tx1"/>
                </a:solidFill>
                <a:latin typeface="Arial" charset="0"/>
              </a:defRPr>
            </a:lvl4pPr>
            <a:lvl5pPr marL="2116723" indent="-235192" algn="ctr" defTabSz="952201" eaLnBrk="0" hangingPunct="0">
              <a:spcBef>
                <a:spcPct val="50000"/>
              </a:spcBef>
              <a:defRPr sz="1100" b="1">
                <a:solidFill>
                  <a:schemeClr val="tx1"/>
                </a:solidFill>
                <a:latin typeface="Arial" charset="0"/>
              </a:defRPr>
            </a:lvl5pPr>
            <a:lvl6pPr marL="2587107" indent="-235192" algn="ctr" defTabSz="952201" eaLnBrk="0" fontAlgn="base" hangingPunct="0">
              <a:spcBef>
                <a:spcPct val="50000"/>
              </a:spcBef>
              <a:spcAft>
                <a:spcPct val="0"/>
              </a:spcAft>
              <a:defRPr sz="1100" b="1">
                <a:solidFill>
                  <a:schemeClr val="tx1"/>
                </a:solidFill>
                <a:latin typeface="Arial" charset="0"/>
              </a:defRPr>
            </a:lvl6pPr>
            <a:lvl7pPr marL="3057491" indent="-235192" algn="ctr" defTabSz="952201" eaLnBrk="0" fontAlgn="base" hangingPunct="0">
              <a:spcBef>
                <a:spcPct val="50000"/>
              </a:spcBef>
              <a:spcAft>
                <a:spcPct val="0"/>
              </a:spcAft>
              <a:defRPr sz="1100" b="1">
                <a:solidFill>
                  <a:schemeClr val="tx1"/>
                </a:solidFill>
                <a:latin typeface="Arial" charset="0"/>
              </a:defRPr>
            </a:lvl7pPr>
            <a:lvl8pPr marL="3527871" indent="-235192" algn="ctr" defTabSz="952201" eaLnBrk="0" fontAlgn="base" hangingPunct="0">
              <a:spcBef>
                <a:spcPct val="50000"/>
              </a:spcBef>
              <a:spcAft>
                <a:spcPct val="0"/>
              </a:spcAft>
              <a:defRPr sz="1100" b="1">
                <a:solidFill>
                  <a:schemeClr val="tx1"/>
                </a:solidFill>
                <a:latin typeface="Arial" charset="0"/>
              </a:defRPr>
            </a:lvl8pPr>
            <a:lvl9pPr marL="3998255" indent="-235192" algn="ctr" defTabSz="952201" eaLnBrk="0" fontAlgn="base" hangingPunct="0">
              <a:spcBef>
                <a:spcPct val="50000"/>
              </a:spcBef>
              <a:spcAft>
                <a:spcPct val="0"/>
              </a:spcAft>
              <a:defRPr sz="1100" b="1">
                <a:solidFill>
                  <a:schemeClr val="tx1"/>
                </a:solidFill>
                <a:latin typeface="Arial" charset="0"/>
              </a:defRPr>
            </a:lvl9pPr>
          </a:lstStyle>
          <a:p>
            <a:pPr marL="0" marR="0" lvl="0" indent="0" algn="r" defTabSz="952201" rtl="0" eaLnBrk="0" fontAlgn="auto" latinLnBrk="0" hangingPunct="0">
              <a:lnSpc>
                <a:spcPct val="100000"/>
              </a:lnSpc>
              <a:spcBef>
                <a:spcPct val="0"/>
              </a:spcBef>
              <a:spcAft>
                <a:spcPts val="0"/>
              </a:spcAft>
              <a:buClrTx/>
              <a:buSzTx/>
              <a:buFontTx/>
              <a:buNone/>
              <a:tabLst/>
              <a:defRPr/>
            </a:pPr>
            <a:fld id="{8D181CB6-116C-4F73-9D2F-41F68F1A81C1}" type="slidenum">
              <a:rPr kumimoji="0" lang="en-US" sz="11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52201" rtl="0" eaLnBrk="0" fontAlgn="auto" latinLnBrk="0" hangingPunct="0">
                <a:lnSpc>
                  <a:spcPct val="100000"/>
                </a:lnSpc>
                <a:spcBef>
                  <a:spcPct val="0"/>
                </a:spcBef>
                <a:spcAft>
                  <a:spcPts val="0"/>
                </a:spcAft>
                <a:buClrTx/>
                <a:buSzTx/>
                <a:buFontTx/>
                <a:buNone/>
                <a:tabLst/>
                <a:defRPr/>
              </a:pPr>
              <a:t>24</a:t>
            </a:fld>
            <a:endParaRPr kumimoji="0" lang="en-US" sz="11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4819" name="Rectangle 2"/>
          <p:cNvSpPr>
            <a:spLocks noGrp="1" noRot="1" noChangeAspect="1" noChangeArrowheads="1" noTextEdit="1"/>
          </p:cNvSpPr>
          <p:nvPr>
            <p:ph type="sldImg"/>
          </p:nvPr>
        </p:nvSpPr>
        <p:spPr>
          <a:xfrm>
            <a:off x="1298575" y="728663"/>
            <a:ext cx="4830763" cy="3622675"/>
          </a:xfrm>
          <a:ln/>
        </p:spPr>
        <p:txBody>
          <a:bodyPr/>
          <a:lstStyle/>
          <a:p>
            <a:endParaRPr lang="en-US"/>
          </a:p>
        </p:txBody>
      </p:sp>
      <p:sp>
        <p:nvSpPr>
          <p:cNvPr id="34820" name="Rectangle 3"/>
          <p:cNvSpPr>
            <a:spLocks noGrp="1" noChangeArrowheads="1"/>
          </p:cNvSpPr>
          <p:nvPr>
            <p:ph type="body" idx="1"/>
          </p:nvPr>
        </p:nvSpPr>
        <p:spPr>
          <a:xfrm>
            <a:off x="985375" y="4597272"/>
            <a:ext cx="5424362" cy="435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18" tIns="47615" rIns="95218" bIns="47615"/>
          <a:lstStyle/>
          <a:p>
            <a:endParaRPr lang="en-GB" altLang="en-US"/>
          </a:p>
        </p:txBody>
      </p:sp>
    </p:spTree>
    <p:extLst>
      <p:ext uri="{BB962C8B-B14F-4D97-AF65-F5344CB8AC3E}">
        <p14:creationId xmlns:p14="http://schemas.microsoft.com/office/powerpoint/2010/main" val="19818277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26</a:t>
            </a:fld>
            <a:endParaRPr lang="en-US"/>
          </a:p>
        </p:txBody>
      </p:sp>
    </p:spTree>
    <p:extLst>
      <p:ext uri="{BB962C8B-B14F-4D97-AF65-F5344CB8AC3E}">
        <p14:creationId xmlns:p14="http://schemas.microsoft.com/office/powerpoint/2010/main" val="34479882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p:txBody>
          <a:bodyPr/>
          <a:lstStyle>
            <a:lvl1pPr algn="ctr" defTabSz="952201" eaLnBrk="0" hangingPunct="0">
              <a:spcBef>
                <a:spcPct val="50000"/>
              </a:spcBef>
              <a:defRPr sz="1100" b="1">
                <a:solidFill>
                  <a:schemeClr val="tx1"/>
                </a:solidFill>
                <a:latin typeface="Arial" charset="0"/>
              </a:defRPr>
            </a:lvl1pPr>
            <a:lvl2pPr marL="764372" indent="-293991" algn="ctr" defTabSz="952201" eaLnBrk="0" hangingPunct="0">
              <a:spcBef>
                <a:spcPct val="50000"/>
              </a:spcBef>
              <a:defRPr sz="1100" b="1">
                <a:solidFill>
                  <a:schemeClr val="tx1"/>
                </a:solidFill>
                <a:latin typeface="Arial" charset="0"/>
              </a:defRPr>
            </a:lvl2pPr>
            <a:lvl3pPr marL="1175957" indent="-235192" algn="ctr" defTabSz="952201" eaLnBrk="0" hangingPunct="0">
              <a:spcBef>
                <a:spcPct val="50000"/>
              </a:spcBef>
              <a:defRPr sz="1100" b="1">
                <a:solidFill>
                  <a:schemeClr val="tx1"/>
                </a:solidFill>
                <a:latin typeface="Arial" charset="0"/>
              </a:defRPr>
            </a:lvl3pPr>
            <a:lvl4pPr marL="1646342" indent="-235192" algn="ctr" defTabSz="952201" eaLnBrk="0" hangingPunct="0">
              <a:spcBef>
                <a:spcPct val="50000"/>
              </a:spcBef>
              <a:defRPr sz="1100" b="1">
                <a:solidFill>
                  <a:schemeClr val="tx1"/>
                </a:solidFill>
                <a:latin typeface="Arial" charset="0"/>
              </a:defRPr>
            </a:lvl4pPr>
            <a:lvl5pPr marL="2116723" indent="-235192" algn="ctr" defTabSz="952201" eaLnBrk="0" hangingPunct="0">
              <a:spcBef>
                <a:spcPct val="50000"/>
              </a:spcBef>
              <a:defRPr sz="1100" b="1">
                <a:solidFill>
                  <a:schemeClr val="tx1"/>
                </a:solidFill>
                <a:latin typeface="Arial" charset="0"/>
              </a:defRPr>
            </a:lvl5pPr>
            <a:lvl6pPr marL="2587107" indent="-235192" algn="ctr" defTabSz="952201" eaLnBrk="0" fontAlgn="base" hangingPunct="0">
              <a:spcBef>
                <a:spcPct val="50000"/>
              </a:spcBef>
              <a:spcAft>
                <a:spcPct val="0"/>
              </a:spcAft>
              <a:defRPr sz="1100" b="1">
                <a:solidFill>
                  <a:schemeClr val="tx1"/>
                </a:solidFill>
                <a:latin typeface="Arial" charset="0"/>
              </a:defRPr>
            </a:lvl6pPr>
            <a:lvl7pPr marL="3057491" indent="-235192" algn="ctr" defTabSz="952201" eaLnBrk="0" fontAlgn="base" hangingPunct="0">
              <a:spcBef>
                <a:spcPct val="50000"/>
              </a:spcBef>
              <a:spcAft>
                <a:spcPct val="0"/>
              </a:spcAft>
              <a:defRPr sz="1100" b="1">
                <a:solidFill>
                  <a:schemeClr val="tx1"/>
                </a:solidFill>
                <a:latin typeface="Arial" charset="0"/>
              </a:defRPr>
            </a:lvl7pPr>
            <a:lvl8pPr marL="3527871" indent="-235192" algn="ctr" defTabSz="952201" eaLnBrk="0" fontAlgn="base" hangingPunct="0">
              <a:spcBef>
                <a:spcPct val="50000"/>
              </a:spcBef>
              <a:spcAft>
                <a:spcPct val="0"/>
              </a:spcAft>
              <a:defRPr sz="1100" b="1">
                <a:solidFill>
                  <a:schemeClr val="tx1"/>
                </a:solidFill>
                <a:latin typeface="Arial" charset="0"/>
              </a:defRPr>
            </a:lvl8pPr>
            <a:lvl9pPr marL="3998255" indent="-235192" algn="ctr" defTabSz="952201" eaLnBrk="0" fontAlgn="base" hangingPunct="0">
              <a:spcBef>
                <a:spcPct val="50000"/>
              </a:spcBef>
              <a:spcAft>
                <a:spcPct val="0"/>
              </a:spcAft>
              <a:defRPr sz="1100" b="1">
                <a:solidFill>
                  <a:schemeClr val="tx1"/>
                </a:solidFill>
                <a:latin typeface="Arial" charset="0"/>
              </a:defRPr>
            </a:lvl9pPr>
          </a:lstStyle>
          <a:p>
            <a:pPr marL="0" marR="0" lvl="0" indent="0" algn="r" defTabSz="952201" rtl="0" eaLnBrk="0" fontAlgn="auto" latinLnBrk="0" hangingPunct="0">
              <a:lnSpc>
                <a:spcPct val="100000"/>
              </a:lnSpc>
              <a:spcBef>
                <a:spcPct val="0"/>
              </a:spcBef>
              <a:spcAft>
                <a:spcPts val="0"/>
              </a:spcAft>
              <a:buClrTx/>
              <a:buSzTx/>
              <a:buFontTx/>
              <a:buNone/>
              <a:tabLst/>
              <a:defRPr/>
            </a:pPr>
            <a:fld id="{8D181CB6-116C-4F73-9D2F-41F68F1A81C1}" type="slidenum">
              <a:rPr kumimoji="0" lang="en-US" sz="11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52201" rtl="0" eaLnBrk="0" fontAlgn="auto" latinLnBrk="0" hangingPunct="0">
                <a:lnSpc>
                  <a:spcPct val="100000"/>
                </a:lnSpc>
                <a:spcBef>
                  <a:spcPct val="0"/>
                </a:spcBef>
                <a:spcAft>
                  <a:spcPts val="0"/>
                </a:spcAft>
                <a:buClrTx/>
                <a:buSzTx/>
                <a:buFontTx/>
                <a:buNone/>
                <a:tabLst/>
                <a:defRPr/>
              </a:pPr>
              <a:t>27</a:t>
            </a:fld>
            <a:endParaRPr kumimoji="0" lang="en-US" sz="11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4819" name="Rectangle 2"/>
          <p:cNvSpPr>
            <a:spLocks noGrp="1" noRot="1" noChangeAspect="1" noChangeArrowheads="1" noTextEdit="1"/>
          </p:cNvSpPr>
          <p:nvPr>
            <p:ph type="sldImg"/>
          </p:nvPr>
        </p:nvSpPr>
        <p:spPr>
          <a:xfrm>
            <a:off x="1298575" y="728663"/>
            <a:ext cx="4830763" cy="3622675"/>
          </a:xfrm>
          <a:ln/>
        </p:spPr>
        <p:txBody>
          <a:bodyPr/>
          <a:lstStyle/>
          <a:p>
            <a:endParaRPr lang="en-US"/>
          </a:p>
        </p:txBody>
      </p:sp>
      <p:sp>
        <p:nvSpPr>
          <p:cNvPr id="34820" name="Rectangle 3"/>
          <p:cNvSpPr>
            <a:spLocks noGrp="1" noChangeArrowheads="1"/>
          </p:cNvSpPr>
          <p:nvPr>
            <p:ph type="body" idx="1"/>
          </p:nvPr>
        </p:nvSpPr>
        <p:spPr>
          <a:xfrm>
            <a:off x="985375" y="4597272"/>
            <a:ext cx="5424362" cy="435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218" tIns="47615" rIns="95218" bIns="47615"/>
          <a:lstStyle/>
          <a:p>
            <a:endParaRPr lang="en-GB" altLang="en-US"/>
          </a:p>
        </p:txBody>
      </p:sp>
    </p:spTree>
    <p:extLst>
      <p:ext uri="{BB962C8B-B14F-4D97-AF65-F5344CB8AC3E}">
        <p14:creationId xmlns:p14="http://schemas.microsoft.com/office/powerpoint/2010/main" val="8001112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9420">
              <a:defRPr/>
            </a:pP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28</a:t>
            </a:fld>
            <a:endParaRPr lang="en-US"/>
          </a:p>
        </p:txBody>
      </p:sp>
    </p:spTree>
    <p:extLst>
      <p:ext uri="{BB962C8B-B14F-4D97-AF65-F5344CB8AC3E}">
        <p14:creationId xmlns:p14="http://schemas.microsoft.com/office/powerpoint/2010/main" val="4650401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9420">
              <a:defRPr/>
            </a:pP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29</a:t>
            </a:fld>
            <a:endParaRPr lang="en-US"/>
          </a:p>
        </p:txBody>
      </p:sp>
    </p:spTree>
    <p:extLst>
      <p:ext uri="{BB962C8B-B14F-4D97-AF65-F5344CB8AC3E}">
        <p14:creationId xmlns:p14="http://schemas.microsoft.com/office/powerpoint/2010/main" val="13017318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9420">
              <a:defRPr/>
            </a:pP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30</a:t>
            </a:fld>
            <a:endParaRPr lang="en-US"/>
          </a:p>
        </p:txBody>
      </p:sp>
    </p:spTree>
    <p:extLst>
      <p:ext uri="{BB962C8B-B14F-4D97-AF65-F5344CB8AC3E}">
        <p14:creationId xmlns:p14="http://schemas.microsoft.com/office/powerpoint/2010/main" val="19784510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9420">
              <a:defRPr/>
            </a:pP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31</a:t>
            </a:fld>
            <a:endParaRPr lang="en-US"/>
          </a:p>
        </p:txBody>
      </p:sp>
    </p:spTree>
    <p:extLst>
      <p:ext uri="{BB962C8B-B14F-4D97-AF65-F5344CB8AC3E}">
        <p14:creationId xmlns:p14="http://schemas.microsoft.com/office/powerpoint/2010/main" val="40475092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9420">
              <a:defRPr/>
            </a:pPr>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32</a:t>
            </a:fld>
            <a:endParaRPr lang="en-US"/>
          </a:p>
        </p:txBody>
      </p:sp>
    </p:spTree>
    <p:extLst>
      <p:ext uri="{BB962C8B-B14F-4D97-AF65-F5344CB8AC3E}">
        <p14:creationId xmlns:p14="http://schemas.microsoft.com/office/powerpoint/2010/main" val="15765876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33</a:t>
            </a:fld>
            <a:endParaRPr lang="en-US"/>
          </a:p>
        </p:txBody>
      </p:sp>
    </p:spTree>
    <p:extLst>
      <p:ext uri="{BB962C8B-B14F-4D97-AF65-F5344CB8AC3E}">
        <p14:creationId xmlns:p14="http://schemas.microsoft.com/office/powerpoint/2010/main" val="25444637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EDBDE0-38D8-4CA7-8BFB-7F442D9C2B75}" type="slidenum">
              <a:rPr lang="en-US" smtClean="0"/>
              <a:t>34</a:t>
            </a:fld>
            <a:endParaRPr lang="en-US"/>
          </a:p>
        </p:txBody>
      </p:sp>
    </p:spTree>
    <p:extLst>
      <p:ext uri="{BB962C8B-B14F-4D97-AF65-F5344CB8AC3E}">
        <p14:creationId xmlns:p14="http://schemas.microsoft.com/office/powerpoint/2010/main" val="27078085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F19F9-31FE-5956-98E6-AF19A7F1D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90F41-1413-4441-BBB9-97CE30E58B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0CAE6D-AA03-72E8-9244-DA62C2D996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8D19EF-5139-5CDB-F174-B30BB6A36A2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EDBDE0-38D8-4CA7-8BFB-7F442D9C2B75}"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2269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Rectangle 310">
            <a:extLst>
              <a:ext uri="{FF2B5EF4-FFF2-40B4-BE49-F238E27FC236}">
                <a16:creationId xmlns:a16="http://schemas.microsoft.com/office/drawing/2014/main" id="{E98E55F5-65A8-44E4-81B2-5E1A4205D8BF}"/>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93427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a:defRPr>
                <a:latin typeface="Poppins" panose="00000500000000000000" pitchFamily="2" charset="0"/>
                <a:cs typeface="Poppins" panose="00000500000000000000" pitchFamily="2" charset="0"/>
              </a:defRPr>
            </a:lvl1pPr>
            <a:lvl2pPr>
              <a:defRPr>
                <a:latin typeface="Poppins" panose="00000500000000000000" pitchFamily="2" charset="0"/>
                <a:cs typeface="Poppins" panose="00000500000000000000" pitchFamily="2" charset="0"/>
              </a:defRPr>
            </a:lvl2pPr>
            <a:lvl3pPr>
              <a:defRPr>
                <a:latin typeface="Poppins" panose="00000500000000000000" pitchFamily="2" charset="0"/>
                <a:cs typeface="Poppins" panose="00000500000000000000" pitchFamily="2" charset="0"/>
              </a:defRPr>
            </a:lvl3pPr>
            <a:lvl4pPr>
              <a:defRPr>
                <a:latin typeface="Poppins" panose="00000500000000000000" pitchFamily="2" charset="0"/>
                <a:cs typeface="Poppins" panose="00000500000000000000" pitchFamily="2" charset="0"/>
              </a:defRPr>
            </a:lvl4pPr>
            <a:lvl5pPr>
              <a:defRPr>
                <a:latin typeface="Poppins" panose="00000500000000000000" pitchFamily="2" charset="0"/>
                <a:cs typeface="Poppins"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10">
            <a:extLst>
              <a:ext uri="{FF2B5EF4-FFF2-40B4-BE49-F238E27FC236}">
                <a16:creationId xmlns:a16="http://schemas.microsoft.com/office/drawing/2014/main" id="{82EC62C2-C650-4A7D-A0BA-4067867E7822}"/>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603248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3035" y="4406713"/>
            <a:ext cx="7771534" cy="1362916"/>
          </a:xfrm>
        </p:spPr>
        <p:txBody>
          <a:bodyPr anchor="t"/>
          <a:lstStyle>
            <a:lvl1pPr algn="l">
              <a:defRPr sz="3530" b="1" cap="all"/>
            </a:lvl1pPr>
          </a:lstStyle>
          <a:p>
            <a:r>
              <a:rPr lang="en-US"/>
              <a:t>Click to edit Master title style</a:t>
            </a:r>
          </a:p>
        </p:txBody>
      </p:sp>
      <p:sp>
        <p:nvSpPr>
          <p:cNvPr id="3" name="Text Placeholder 2"/>
          <p:cNvSpPr>
            <a:spLocks noGrp="1"/>
          </p:cNvSpPr>
          <p:nvPr>
            <p:ph type="body" idx="1"/>
          </p:nvPr>
        </p:nvSpPr>
        <p:spPr>
          <a:xfrm>
            <a:off x="723035" y="2906526"/>
            <a:ext cx="7771534" cy="1500187"/>
          </a:xfrm>
        </p:spPr>
        <p:txBody>
          <a:bodyPr anchor="b"/>
          <a:lstStyle>
            <a:lvl1pPr marL="0" indent="0">
              <a:buNone/>
              <a:defRPr sz="1765"/>
            </a:lvl1pPr>
            <a:lvl2pPr marL="403433" indent="0">
              <a:buNone/>
              <a:defRPr sz="1588"/>
            </a:lvl2pPr>
            <a:lvl3pPr marL="806867" indent="0">
              <a:buNone/>
              <a:defRPr sz="1412"/>
            </a:lvl3pPr>
            <a:lvl4pPr marL="1210300" indent="0">
              <a:buNone/>
              <a:defRPr sz="1235"/>
            </a:lvl4pPr>
            <a:lvl5pPr marL="1613733" indent="0">
              <a:buNone/>
              <a:defRPr sz="1235"/>
            </a:lvl5pPr>
            <a:lvl6pPr marL="2017166" indent="0">
              <a:buNone/>
              <a:defRPr sz="1235"/>
            </a:lvl6pPr>
            <a:lvl7pPr marL="2420600" indent="0">
              <a:buNone/>
              <a:defRPr sz="1235"/>
            </a:lvl7pPr>
            <a:lvl8pPr marL="2824033" indent="0">
              <a:buNone/>
              <a:defRPr sz="1235"/>
            </a:lvl8pPr>
            <a:lvl9pPr marL="3227466" indent="0">
              <a:buNone/>
              <a:defRPr sz="1235"/>
            </a:lvl9pPr>
          </a:lstStyle>
          <a:p>
            <a:pPr lvl="0"/>
            <a:r>
              <a:rPr lang="en-US"/>
              <a:t>Click to edit Master text styles</a:t>
            </a:r>
          </a:p>
        </p:txBody>
      </p:sp>
      <p:sp>
        <p:nvSpPr>
          <p:cNvPr id="6" name="Rectangle 310">
            <a:extLst>
              <a:ext uri="{FF2B5EF4-FFF2-40B4-BE49-F238E27FC236}">
                <a16:creationId xmlns:a16="http://schemas.microsoft.com/office/drawing/2014/main" id="{F669688B-AFDF-4621-B376-582901E46CD6}"/>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2551606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Content Placeholder 2"/>
          <p:cNvSpPr>
            <a:spLocks noGrp="1"/>
          </p:cNvSpPr>
          <p:nvPr>
            <p:ph sz="half" idx="1"/>
          </p:nvPr>
        </p:nvSpPr>
        <p:spPr>
          <a:xfrm>
            <a:off x="415636" y="1210235"/>
            <a:ext cx="4087091" cy="4572000"/>
          </a:xfrm>
        </p:spPr>
        <p:txBody>
          <a:bodyPr/>
          <a:lstStyle>
            <a:lvl1pPr>
              <a:defRPr sz="2471"/>
            </a:lvl1pPr>
            <a:lvl2pPr>
              <a:defRPr sz="2118"/>
            </a:lvl2pPr>
            <a:lvl3pPr>
              <a:defRPr sz="1765"/>
            </a:lvl3pPr>
            <a:lvl4pPr>
              <a:defRPr sz="1588"/>
            </a:lvl4pPr>
            <a:lvl5pPr>
              <a:defRPr sz="1588"/>
            </a:lvl5pPr>
            <a:lvl6pPr>
              <a:defRPr sz="1588"/>
            </a:lvl6pPr>
            <a:lvl7pPr>
              <a:defRPr sz="1588"/>
            </a:lvl7pPr>
            <a:lvl8pPr>
              <a:defRPr sz="1588"/>
            </a:lvl8pPr>
            <a:lvl9pPr>
              <a:defRPr sz="15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1273" y="1210235"/>
            <a:ext cx="4087091" cy="4572000"/>
          </a:xfrm>
        </p:spPr>
        <p:txBody>
          <a:bodyPr/>
          <a:lstStyle>
            <a:lvl1pPr>
              <a:defRPr sz="2471"/>
            </a:lvl1pPr>
            <a:lvl2pPr>
              <a:defRPr sz="2118"/>
            </a:lvl2pPr>
            <a:lvl3pPr>
              <a:defRPr sz="1765"/>
            </a:lvl3pPr>
            <a:lvl4pPr>
              <a:defRPr sz="1588"/>
            </a:lvl4pPr>
            <a:lvl5pPr>
              <a:defRPr sz="1588"/>
            </a:lvl5pPr>
            <a:lvl6pPr>
              <a:defRPr sz="1588"/>
            </a:lvl6pPr>
            <a:lvl7pPr>
              <a:defRPr sz="1588"/>
            </a:lvl7pPr>
            <a:lvl8pPr>
              <a:defRPr sz="1588"/>
            </a:lvl8pPr>
            <a:lvl9pPr>
              <a:defRPr sz="15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10">
            <a:extLst>
              <a:ext uri="{FF2B5EF4-FFF2-40B4-BE49-F238E27FC236}">
                <a16:creationId xmlns:a16="http://schemas.microsoft.com/office/drawing/2014/main" id="{6F3C2D9D-BC41-4C38-9BCC-E7EF08911A53}"/>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3912716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3485" y="0"/>
            <a:ext cx="8229023" cy="1143000"/>
          </a:xfrm>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457489" y="1535206"/>
            <a:ext cx="4039465" cy="640136"/>
          </a:xfrm>
        </p:spPr>
        <p:txBody>
          <a:bodyPr anchor="b"/>
          <a:lstStyle>
            <a:lvl1pPr marL="0" indent="0">
              <a:buNone/>
              <a:defRPr sz="2118" b="0">
                <a:latin typeface="Poppins" panose="00000500000000000000" pitchFamily="2" charset="0"/>
                <a:cs typeface="Poppins" panose="00000500000000000000" pitchFamily="2" charset="0"/>
              </a:defRPr>
            </a:lvl1pPr>
            <a:lvl2pPr marL="403433" indent="0">
              <a:buNone/>
              <a:defRPr sz="1765" b="1"/>
            </a:lvl2pPr>
            <a:lvl3pPr marL="806867" indent="0">
              <a:buNone/>
              <a:defRPr sz="1588" b="1"/>
            </a:lvl3pPr>
            <a:lvl4pPr marL="1210300" indent="0">
              <a:buNone/>
              <a:defRPr sz="1412" b="1"/>
            </a:lvl4pPr>
            <a:lvl5pPr marL="1613733" indent="0">
              <a:buNone/>
              <a:defRPr sz="1412" b="1"/>
            </a:lvl5pPr>
            <a:lvl6pPr marL="2017166" indent="0">
              <a:buNone/>
              <a:defRPr sz="1412" b="1"/>
            </a:lvl6pPr>
            <a:lvl7pPr marL="2420600" indent="0">
              <a:buNone/>
              <a:defRPr sz="1412" b="1"/>
            </a:lvl7pPr>
            <a:lvl8pPr marL="2824033" indent="0">
              <a:buNone/>
              <a:defRPr sz="1412" b="1"/>
            </a:lvl8pPr>
            <a:lvl9pPr marL="3227466" indent="0">
              <a:buNone/>
              <a:defRPr sz="1412" b="1"/>
            </a:lvl9pPr>
          </a:lstStyle>
          <a:p>
            <a:pPr lvl="0"/>
            <a:r>
              <a:rPr lang="en-US"/>
              <a:t>CLICK TO EDIT MASTER TEXT STYLES</a:t>
            </a:r>
          </a:p>
        </p:txBody>
      </p:sp>
      <p:sp>
        <p:nvSpPr>
          <p:cNvPr id="4" name="Content Placeholder 3"/>
          <p:cNvSpPr>
            <a:spLocks noGrp="1"/>
          </p:cNvSpPr>
          <p:nvPr>
            <p:ph sz="half" idx="2" hasCustomPrompt="1"/>
          </p:nvPr>
        </p:nvSpPr>
        <p:spPr>
          <a:xfrm>
            <a:off x="457489" y="2175343"/>
            <a:ext cx="4039465" cy="3951474"/>
          </a:xfrm>
        </p:spPr>
        <p:txBody>
          <a:bodyPr/>
          <a:lstStyle>
            <a:lvl1pPr>
              <a:defRPr sz="2118">
                <a:latin typeface="Poppins" panose="00000500000000000000" pitchFamily="2" charset="0"/>
                <a:cs typeface="Poppins" panose="00000500000000000000" pitchFamily="2" charset="0"/>
              </a:defRPr>
            </a:lvl1pPr>
            <a:lvl2pPr>
              <a:defRPr sz="1765">
                <a:latin typeface="Poppins" panose="00000500000000000000" pitchFamily="2" charset="0"/>
                <a:cs typeface="Poppins" panose="00000500000000000000" pitchFamily="2" charset="0"/>
              </a:defRPr>
            </a:lvl2pPr>
            <a:lvl3pPr>
              <a:defRPr sz="1588">
                <a:latin typeface="Poppins" panose="00000500000000000000" pitchFamily="2" charset="0"/>
                <a:cs typeface="Poppins" panose="00000500000000000000" pitchFamily="2" charset="0"/>
              </a:defRPr>
            </a:lvl3pPr>
            <a:lvl4pPr>
              <a:defRPr sz="1412">
                <a:latin typeface="Poppins" panose="00000500000000000000" pitchFamily="2" charset="0"/>
                <a:cs typeface="Poppins" panose="00000500000000000000" pitchFamily="2" charset="0"/>
              </a:defRPr>
            </a:lvl4pPr>
            <a:lvl5pPr>
              <a:defRPr sz="1412">
                <a:latin typeface="Poppins" panose="00000500000000000000" pitchFamily="2" charset="0"/>
                <a:cs typeface="Poppins" panose="00000500000000000000" pitchFamily="2" charset="0"/>
              </a:defRPr>
            </a:lvl5pPr>
            <a:lvl6pPr>
              <a:defRPr sz="1412"/>
            </a:lvl6pPr>
            <a:lvl7pPr>
              <a:defRPr sz="1412"/>
            </a:lvl7pPr>
            <a:lvl8pPr>
              <a:defRPr sz="1412"/>
            </a:lvl8pPr>
            <a:lvl9pPr>
              <a:defRPr sz="141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603" y="1535206"/>
            <a:ext cx="4040909" cy="640136"/>
          </a:xfrm>
        </p:spPr>
        <p:txBody>
          <a:bodyPr anchor="b"/>
          <a:lstStyle>
            <a:lvl1pPr marL="0" indent="0">
              <a:buNone/>
              <a:defRPr lang="en-US" sz="2118" b="0" dirty="0">
                <a:solidFill>
                  <a:srgbClr val="000000"/>
                </a:solidFill>
                <a:latin typeface="Poppins" panose="00000500000000000000" pitchFamily="2" charset="0"/>
                <a:ea typeface="+mn-ea"/>
                <a:cs typeface="Poppins" panose="00000500000000000000" pitchFamily="2" charset="0"/>
              </a:defRPr>
            </a:lvl1pPr>
            <a:lvl2pPr marL="403433" indent="0">
              <a:buNone/>
              <a:defRPr sz="1765" b="1"/>
            </a:lvl2pPr>
            <a:lvl3pPr marL="806867" indent="0">
              <a:buNone/>
              <a:defRPr sz="1588" b="1"/>
            </a:lvl3pPr>
            <a:lvl4pPr marL="1210300" indent="0">
              <a:buNone/>
              <a:defRPr sz="1412" b="1"/>
            </a:lvl4pPr>
            <a:lvl5pPr marL="1613733" indent="0">
              <a:buNone/>
              <a:defRPr sz="1412" b="1"/>
            </a:lvl5pPr>
            <a:lvl6pPr marL="2017166" indent="0">
              <a:buNone/>
              <a:defRPr sz="1412" b="1"/>
            </a:lvl6pPr>
            <a:lvl7pPr marL="2420600" indent="0">
              <a:buNone/>
              <a:defRPr sz="1412" b="1"/>
            </a:lvl7pPr>
            <a:lvl8pPr marL="2824033" indent="0">
              <a:buNone/>
              <a:defRPr sz="1412" b="1"/>
            </a:lvl8pPr>
            <a:lvl9pPr marL="3227466" indent="0">
              <a:buNone/>
              <a:defRPr sz="1412" b="1"/>
            </a:lvl9pPr>
          </a:lstStyle>
          <a:p>
            <a:pPr marL="0" lvl="0" indent="0" algn="l" defTabSz="1042203" rtl="0" eaLnBrk="0" fontAlgn="base" hangingPunct="0">
              <a:lnSpc>
                <a:spcPct val="105000"/>
              </a:lnSpc>
              <a:spcBef>
                <a:spcPct val="52000"/>
              </a:spcBef>
              <a:spcAft>
                <a:spcPct val="0"/>
              </a:spcAft>
              <a:buClr>
                <a:srgbClr val="336699"/>
              </a:buClr>
              <a:buSzPct val="150000"/>
              <a:buNone/>
            </a:pPr>
            <a:r>
              <a:rPr lang="en-US"/>
              <a:t>Click to edit Master text styles</a:t>
            </a:r>
          </a:p>
        </p:txBody>
      </p:sp>
      <p:sp>
        <p:nvSpPr>
          <p:cNvPr id="6" name="Content Placeholder 5"/>
          <p:cNvSpPr>
            <a:spLocks noGrp="1"/>
          </p:cNvSpPr>
          <p:nvPr>
            <p:ph sz="quarter" idx="4" hasCustomPrompt="1"/>
          </p:nvPr>
        </p:nvSpPr>
        <p:spPr>
          <a:xfrm>
            <a:off x="4645603" y="2175343"/>
            <a:ext cx="4040909" cy="3951474"/>
          </a:xfrm>
        </p:spPr>
        <p:txBody>
          <a:bodyPr/>
          <a:lstStyle>
            <a:lvl1pPr>
              <a:defRPr sz="2118">
                <a:latin typeface="Poppins" panose="00000500000000000000" pitchFamily="2" charset="0"/>
                <a:cs typeface="Poppins" panose="00000500000000000000" pitchFamily="2" charset="0"/>
              </a:defRPr>
            </a:lvl1pPr>
            <a:lvl2pPr>
              <a:defRPr sz="1765">
                <a:latin typeface="Poppins" panose="00000500000000000000" pitchFamily="2" charset="0"/>
                <a:cs typeface="Poppins" panose="00000500000000000000" pitchFamily="2" charset="0"/>
              </a:defRPr>
            </a:lvl2pPr>
            <a:lvl3pPr>
              <a:defRPr sz="1588">
                <a:latin typeface="Poppins" panose="00000500000000000000" pitchFamily="2" charset="0"/>
                <a:cs typeface="Poppins" panose="00000500000000000000" pitchFamily="2" charset="0"/>
              </a:defRPr>
            </a:lvl3pPr>
            <a:lvl4pPr>
              <a:defRPr sz="1412">
                <a:latin typeface="Poppins" panose="00000500000000000000" pitchFamily="2" charset="0"/>
                <a:cs typeface="Poppins" panose="00000500000000000000" pitchFamily="2" charset="0"/>
              </a:defRPr>
            </a:lvl4pPr>
            <a:lvl5pPr>
              <a:defRPr sz="1412">
                <a:latin typeface="Poppins" panose="00000500000000000000" pitchFamily="2" charset="0"/>
                <a:cs typeface="Poppins" panose="00000500000000000000" pitchFamily="2" charset="0"/>
              </a:defRPr>
            </a:lvl5pPr>
            <a:lvl6pPr>
              <a:defRPr sz="1412"/>
            </a:lvl6pPr>
            <a:lvl7pPr>
              <a:defRPr sz="1412"/>
            </a:lvl7pPr>
            <a:lvl8pPr>
              <a:defRPr sz="1412"/>
            </a:lvl8pPr>
            <a:lvl9pPr>
              <a:defRPr sz="141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310">
            <a:extLst>
              <a:ext uri="{FF2B5EF4-FFF2-40B4-BE49-F238E27FC236}">
                <a16:creationId xmlns:a16="http://schemas.microsoft.com/office/drawing/2014/main" id="{7E428EA5-6B37-4D8F-933D-E3EF30F08C54}"/>
              </a:ext>
            </a:extLst>
          </p:cNvPr>
          <p:cNvSpPr>
            <a:spLocks noGrp="1" noChangeArrowheads="1"/>
          </p:cNvSpPr>
          <p:nvPr>
            <p:ph type="sldNum" sz="quarter" idx="10"/>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26184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5636" y="470647"/>
            <a:ext cx="7065818" cy="281383"/>
          </a:xfrm>
        </p:spPr>
        <p:txBody>
          <a:bodyPr/>
          <a:lstStyle>
            <a:lvl1pPr>
              <a:defRPr b="0">
                <a:latin typeface="Poppins" panose="00000500000000000000" pitchFamily="2" charset="0"/>
                <a:cs typeface="Poppins" panose="00000500000000000000" pitchFamily="2" charset="0"/>
              </a:defRPr>
            </a:lvl1pPr>
          </a:lstStyle>
          <a:p>
            <a:r>
              <a:rPr lang="en-US"/>
              <a:t>CLICK TO EDIT MASTER TITLE STYLE</a:t>
            </a:r>
          </a:p>
        </p:txBody>
      </p:sp>
      <p:sp>
        <p:nvSpPr>
          <p:cNvPr id="5" name="Rectangle 310">
            <a:extLst>
              <a:ext uri="{FF2B5EF4-FFF2-40B4-BE49-F238E27FC236}">
                <a16:creationId xmlns:a16="http://schemas.microsoft.com/office/drawing/2014/main" id="{548B6E22-B5ED-4C28-82AC-5B4AFB805512}"/>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3439230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Rectangle 310">
            <a:extLst>
              <a:ext uri="{FF2B5EF4-FFF2-40B4-BE49-F238E27FC236}">
                <a16:creationId xmlns:a16="http://schemas.microsoft.com/office/drawing/2014/main" id="{AAB489AD-F617-43F3-BC1C-A92890C69D6C}"/>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2022896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489" y="273144"/>
            <a:ext cx="3007591" cy="1162610"/>
          </a:xfrm>
        </p:spPr>
        <p:txBody>
          <a:bodyPr anchor="b"/>
          <a:lstStyle>
            <a:lvl1pPr algn="l">
              <a:defRPr sz="1765" b="1"/>
            </a:lvl1pPr>
          </a:lstStyle>
          <a:p>
            <a:r>
              <a:rPr lang="en-US"/>
              <a:t>Click to edit Master title style</a:t>
            </a:r>
          </a:p>
        </p:txBody>
      </p:sp>
      <p:sp>
        <p:nvSpPr>
          <p:cNvPr id="3" name="Content Placeholder 2"/>
          <p:cNvSpPr>
            <a:spLocks noGrp="1"/>
          </p:cNvSpPr>
          <p:nvPr>
            <p:ph idx="1"/>
          </p:nvPr>
        </p:nvSpPr>
        <p:spPr>
          <a:xfrm>
            <a:off x="3574762" y="273144"/>
            <a:ext cx="5111750" cy="5853672"/>
          </a:xfrm>
        </p:spPr>
        <p:txBody>
          <a:bodyPr/>
          <a:lstStyle>
            <a:lvl1pPr>
              <a:defRPr sz="2824"/>
            </a:lvl1pPr>
            <a:lvl2pPr>
              <a:defRPr sz="2471"/>
            </a:lvl2pPr>
            <a:lvl3pPr>
              <a:defRPr sz="2118"/>
            </a:lvl3pPr>
            <a:lvl4pPr>
              <a:defRPr sz="1765"/>
            </a:lvl4pPr>
            <a:lvl5pPr>
              <a:defRPr sz="1765"/>
            </a:lvl5pPr>
            <a:lvl6pPr>
              <a:defRPr sz="1765"/>
            </a:lvl6pPr>
            <a:lvl7pPr>
              <a:defRPr sz="1765"/>
            </a:lvl7pPr>
            <a:lvl8pPr>
              <a:defRPr sz="1765"/>
            </a:lvl8pPr>
            <a:lvl9pPr>
              <a:defRPr sz="176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489" y="1435755"/>
            <a:ext cx="3007591" cy="4691062"/>
          </a:xfrm>
        </p:spPr>
        <p:txBody>
          <a:bodyPr/>
          <a:lstStyle>
            <a:lvl1pPr marL="0" indent="0">
              <a:buNone/>
              <a:defRPr sz="1235"/>
            </a:lvl1pPr>
            <a:lvl2pPr marL="403433" indent="0">
              <a:buNone/>
              <a:defRPr sz="1059"/>
            </a:lvl2pPr>
            <a:lvl3pPr marL="806867" indent="0">
              <a:buNone/>
              <a:defRPr sz="882"/>
            </a:lvl3pPr>
            <a:lvl4pPr marL="1210300" indent="0">
              <a:buNone/>
              <a:defRPr sz="794"/>
            </a:lvl4pPr>
            <a:lvl5pPr marL="1613733" indent="0">
              <a:buNone/>
              <a:defRPr sz="794"/>
            </a:lvl5pPr>
            <a:lvl6pPr marL="2017166" indent="0">
              <a:buNone/>
              <a:defRPr sz="794"/>
            </a:lvl6pPr>
            <a:lvl7pPr marL="2420600" indent="0">
              <a:buNone/>
              <a:defRPr sz="794"/>
            </a:lvl7pPr>
            <a:lvl8pPr marL="2824033" indent="0">
              <a:buNone/>
              <a:defRPr sz="794"/>
            </a:lvl8pPr>
            <a:lvl9pPr marL="3227466" indent="0">
              <a:buNone/>
              <a:defRPr sz="794"/>
            </a:lvl9pPr>
          </a:lstStyle>
          <a:p>
            <a:pPr lvl="0"/>
            <a:r>
              <a:rPr lang="en-US"/>
              <a:t>Click to edit Master text styles</a:t>
            </a:r>
          </a:p>
        </p:txBody>
      </p:sp>
      <p:sp>
        <p:nvSpPr>
          <p:cNvPr id="7" name="Rectangle 310">
            <a:extLst>
              <a:ext uri="{FF2B5EF4-FFF2-40B4-BE49-F238E27FC236}">
                <a16:creationId xmlns:a16="http://schemas.microsoft.com/office/drawing/2014/main" id="{6B651D1A-D996-47F3-A591-E6DD6363AC81}"/>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3867074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432" y="4800321"/>
            <a:ext cx="5486977" cy="567297"/>
          </a:xfrm>
        </p:spPr>
        <p:txBody>
          <a:bodyPr anchor="b"/>
          <a:lstStyle>
            <a:lvl1pPr algn="l">
              <a:defRPr sz="1765" b="1"/>
            </a:lvl1pPr>
          </a:lstStyle>
          <a:p>
            <a:r>
              <a:rPr lang="en-US"/>
              <a:t>Click to edit Master title style</a:t>
            </a:r>
          </a:p>
        </p:txBody>
      </p:sp>
      <p:sp>
        <p:nvSpPr>
          <p:cNvPr id="3" name="Picture Placeholder 2"/>
          <p:cNvSpPr>
            <a:spLocks noGrp="1"/>
          </p:cNvSpPr>
          <p:nvPr>
            <p:ph type="pic" idx="1"/>
          </p:nvPr>
        </p:nvSpPr>
        <p:spPr>
          <a:xfrm>
            <a:off x="1792432" y="612122"/>
            <a:ext cx="5486977" cy="4115360"/>
          </a:xfrm>
        </p:spPr>
        <p:txBody>
          <a:bodyPr/>
          <a:lstStyle>
            <a:lvl1pPr marL="0" indent="0">
              <a:buNone/>
              <a:defRPr sz="2824"/>
            </a:lvl1pPr>
            <a:lvl2pPr marL="403433" indent="0">
              <a:buNone/>
              <a:defRPr sz="2471"/>
            </a:lvl2pPr>
            <a:lvl3pPr marL="806867" indent="0">
              <a:buNone/>
              <a:defRPr sz="2118"/>
            </a:lvl3pPr>
            <a:lvl4pPr marL="1210300" indent="0">
              <a:buNone/>
              <a:defRPr sz="1765"/>
            </a:lvl4pPr>
            <a:lvl5pPr marL="1613733" indent="0">
              <a:buNone/>
              <a:defRPr sz="1765"/>
            </a:lvl5pPr>
            <a:lvl6pPr marL="2017166" indent="0">
              <a:buNone/>
              <a:defRPr sz="1765"/>
            </a:lvl6pPr>
            <a:lvl7pPr marL="2420600" indent="0">
              <a:buNone/>
              <a:defRPr sz="1765"/>
            </a:lvl7pPr>
            <a:lvl8pPr marL="2824033" indent="0">
              <a:buNone/>
              <a:defRPr sz="1765"/>
            </a:lvl8pPr>
            <a:lvl9pPr marL="3227466" indent="0">
              <a:buNone/>
              <a:defRPr sz="1765"/>
            </a:lvl9pPr>
          </a:lstStyle>
          <a:p>
            <a:pPr lvl="0"/>
            <a:endParaRPr lang="en-US" noProof="0"/>
          </a:p>
        </p:txBody>
      </p:sp>
      <p:sp>
        <p:nvSpPr>
          <p:cNvPr id="4" name="Text Placeholder 3"/>
          <p:cNvSpPr>
            <a:spLocks noGrp="1"/>
          </p:cNvSpPr>
          <p:nvPr>
            <p:ph type="body" sz="half" idx="2"/>
          </p:nvPr>
        </p:nvSpPr>
        <p:spPr>
          <a:xfrm>
            <a:off x="1792432" y="5367618"/>
            <a:ext cx="5486977" cy="804022"/>
          </a:xfrm>
        </p:spPr>
        <p:txBody>
          <a:bodyPr/>
          <a:lstStyle>
            <a:lvl1pPr marL="0" indent="0">
              <a:buNone/>
              <a:defRPr sz="1235"/>
            </a:lvl1pPr>
            <a:lvl2pPr marL="403433" indent="0">
              <a:buNone/>
              <a:defRPr sz="1059"/>
            </a:lvl2pPr>
            <a:lvl3pPr marL="806867" indent="0">
              <a:buNone/>
              <a:defRPr sz="882"/>
            </a:lvl3pPr>
            <a:lvl4pPr marL="1210300" indent="0">
              <a:buNone/>
              <a:defRPr sz="794"/>
            </a:lvl4pPr>
            <a:lvl5pPr marL="1613733" indent="0">
              <a:buNone/>
              <a:defRPr sz="794"/>
            </a:lvl5pPr>
            <a:lvl6pPr marL="2017166" indent="0">
              <a:buNone/>
              <a:defRPr sz="794"/>
            </a:lvl6pPr>
            <a:lvl7pPr marL="2420600" indent="0">
              <a:buNone/>
              <a:defRPr sz="794"/>
            </a:lvl7pPr>
            <a:lvl8pPr marL="2824033" indent="0">
              <a:buNone/>
              <a:defRPr sz="794"/>
            </a:lvl8pPr>
            <a:lvl9pPr marL="3227466" indent="0">
              <a:buNone/>
              <a:defRPr sz="794"/>
            </a:lvl9pPr>
          </a:lstStyle>
          <a:p>
            <a:pPr lvl="0"/>
            <a:r>
              <a:rPr lang="en-US"/>
              <a:t>Click to edit Master text styles</a:t>
            </a:r>
          </a:p>
        </p:txBody>
      </p:sp>
      <p:sp>
        <p:nvSpPr>
          <p:cNvPr id="7" name="Rectangle 310">
            <a:extLst>
              <a:ext uri="{FF2B5EF4-FFF2-40B4-BE49-F238E27FC236}">
                <a16:creationId xmlns:a16="http://schemas.microsoft.com/office/drawing/2014/main" id="{5BBB7D90-2CEC-4FAB-AE56-776F9E0911B3}"/>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3545762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310">
            <a:extLst>
              <a:ext uri="{FF2B5EF4-FFF2-40B4-BE49-F238E27FC236}">
                <a16:creationId xmlns:a16="http://schemas.microsoft.com/office/drawing/2014/main" id="{15CCDBEF-F7D9-4127-9A40-64D37217A157}"/>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2164512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415636" y="470647"/>
            <a:ext cx="6096000" cy="5311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310">
            <a:extLst>
              <a:ext uri="{FF2B5EF4-FFF2-40B4-BE49-F238E27FC236}">
                <a16:creationId xmlns:a16="http://schemas.microsoft.com/office/drawing/2014/main" id="{D79FA74F-47EF-486F-9703-72E2E4F5BFB1}"/>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1617681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rbis Standard">
    <p:spTree>
      <p:nvGrpSpPr>
        <p:cNvPr id="1" name=""/>
        <p:cNvGrpSpPr/>
        <p:nvPr/>
      </p:nvGrpSpPr>
      <p:grpSpPr>
        <a:xfrm>
          <a:off x="0" y="0"/>
          <a:ext cx="0" cy="0"/>
          <a:chOff x="0" y="0"/>
          <a:chExt cx="0" cy="0"/>
        </a:xfrm>
      </p:grpSpPr>
      <p:sp>
        <p:nvSpPr>
          <p:cNvPr id="6" name="Title 1"/>
          <p:cNvSpPr>
            <a:spLocks noGrp="1"/>
          </p:cNvSpPr>
          <p:nvPr>
            <p:ph type="title"/>
          </p:nvPr>
        </p:nvSpPr>
        <p:spPr>
          <a:xfrm>
            <a:off x="503239" y="419725"/>
            <a:ext cx="7669212" cy="392400"/>
          </a:xfrm>
        </p:spPr>
        <p:txBody>
          <a:bodyPr/>
          <a:lstStyle/>
          <a:p>
            <a:r>
              <a:rPr lang="en-US"/>
              <a:t>Click to edit Master title style</a:t>
            </a:r>
            <a:endParaRPr lang="en-CA"/>
          </a:p>
        </p:txBody>
      </p:sp>
      <p:sp>
        <p:nvSpPr>
          <p:cNvPr id="5" name="Rectangle 4"/>
          <p:cNvSpPr/>
          <p:nvPr userDrawn="1"/>
        </p:nvSpPr>
        <p:spPr>
          <a:xfrm>
            <a:off x="503238" y="6330434"/>
            <a:ext cx="8172000" cy="10800"/>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87553" rtl="0" eaLnBrk="1" fontAlgn="auto" latinLnBrk="0" hangingPunct="1">
              <a:lnSpc>
                <a:spcPct val="100000"/>
              </a:lnSpc>
              <a:spcBef>
                <a:spcPts val="0"/>
              </a:spcBef>
              <a:spcAft>
                <a:spcPts val="0"/>
              </a:spcAft>
              <a:buClrTx/>
              <a:buSzTx/>
              <a:buFontTx/>
              <a:buNone/>
              <a:tabLst/>
              <a:defRPr/>
            </a:pPr>
            <a:endParaRPr kumimoji="0" lang="en-US" sz="1747" b="0" i="0" u="none" strike="noStrike" kern="1200" cap="none" spc="0" normalizeH="0" baseline="0" noProof="0">
              <a:ln>
                <a:noFill/>
              </a:ln>
              <a:solidFill>
                <a:prstClr val="white"/>
              </a:solidFill>
              <a:effectLst/>
              <a:uLnTx/>
              <a:uFillTx/>
              <a:latin typeface="Arial"/>
              <a:ea typeface="+mn-ea"/>
              <a:cs typeface="+mn-cs"/>
            </a:endParaRPr>
          </a:p>
        </p:txBody>
      </p:sp>
      <p:sp>
        <p:nvSpPr>
          <p:cNvPr id="10" name="Rectangle 310">
            <a:extLst>
              <a:ext uri="{FF2B5EF4-FFF2-40B4-BE49-F238E27FC236}">
                <a16:creationId xmlns:a16="http://schemas.microsoft.com/office/drawing/2014/main" id="{0747284E-331A-4737-94B9-0FE9F9D4FCB0}"/>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658043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52"/>
          <p:cNvSpPr>
            <a:spLocks noGrp="1" noChangeArrowheads="1"/>
          </p:cNvSpPr>
          <p:nvPr>
            <p:ph type="body" idx="1"/>
          </p:nvPr>
        </p:nvSpPr>
        <p:spPr bwMode="auto">
          <a:xfrm>
            <a:off x="415637" y="1210235"/>
            <a:ext cx="831272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9176" tIns="54588" rIns="109176" bIns="54588" numCol="1" anchor="t" anchorCtr="0" compatLnSpc="1">
            <a:prstTxWarp prst="textNoShape">
              <a:avLst/>
            </a:prstTxWarp>
          </a:bodyPr>
          <a:lstStyle/>
          <a:p>
            <a:pPr lvl="0"/>
            <a:r>
              <a:rPr lang="en-US" altLang="en-US"/>
              <a:t>Click to edit Master text styles</a:t>
            </a:r>
          </a:p>
          <a:p>
            <a:pPr lvl="1"/>
            <a:r>
              <a:rPr lang="en-US" altLang="en-US"/>
              <a:t>Click to edit Master text styles</a:t>
            </a:r>
          </a:p>
          <a:p>
            <a:pPr lvl="2"/>
            <a:r>
              <a:rPr lang="en-US" altLang="en-US"/>
              <a:t>Click to edit Master text styles</a:t>
            </a:r>
          </a:p>
        </p:txBody>
      </p:sp>
      <p:sp>
        <p:nvSpPr>
          <p:cNvPr id="2051" name="Rectangle 308"/>
          <p:cNvSpPr>
            <a:spLocks noGrp="1" noChangeArrowheads="1"/>
          </p:cNvSpPr>
          <p:nvPr>
            <p:ph type="title"/>
          </p:nvPr>
        </p:nvSpPr>
        <p:spPr bwMode="auto">
          <a:xfrm>
            <a:off x="297392" y="299732"/>
            <a:ext cx="7065818" cy="483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ctr" anchorCtr="0" compatLnSpc="1">
            <a:prstTxWarp prst="textNoShape">
              <a:avLst/>
            </a:prstTxWarp>
          </a:bodyPr>
          <a:lstStyle/>
          <a:p>
            <a:pPr lvl="0"/>
            <a:r>
              <a:rPr lang="en-US" altLang="en-US"/>
              <a:t>PERFORMA </a:t>
            </a:r>
          </a:p>
        </p:txBody>
      </p:sp>
      <p:sp>
        <p:nvSpPr>
          <p:cNvPr id="1028" name="Line 309"/>
          <p:cNvSpPr>
            <a:spLocks noChangeShapeType="1"/>
          </p:cNvSpPr>
          <p:nvPr userDrawn="1"/>
        </p:nvSpPr>
        <p:spPr bwMode="auto">
          <a:xfrm>
            <a:off x="365760" y="760700"/>
            <a:ext cx="8412480" cy="0"/>
          </a:xfrm>
          <a:prstGeom prst="line">
            <a:avLst/>
          </a:prstGeom>
          <a:noFill/>
          <a:ln w="19050">
            <a:solidFill>
              <a:srgbClr val="194160"/>
            </a:solidFill>
            <a:round/>
            <a:headEnd/>
            <a:tailEnd/>
          </a:ln>
        </p:spPr>
        <p:txBody>
          <a:bodyPr anchor="ctr">
            <a:spAutoFit/>
          </a:bodyPr>
          <a:lstStyle/>
          <a:p>
            <a:pPr>
              <a:defRPr/>
            </a:pPr>
            <a:endParaRPr lang="en-US" sz="1588"/>
          </a:p>
        </p:txBody>
      </p:sp>
      <p:pic>
        <p:nvPicPr>
          <p:cNvPr id="7" name="Picture 6"/>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331521" y="257666"/>
            <a:ext cx="1363905" cy="308884"/>
          </a:xfrm>
          <a:prstGeom prst="rect">
            <a:avLst/>
          </a:prstGeom>
        </p:spPr>
      </p:pic>
      <p:sp>
        <p:nvSpPr>
          <p:cNvPr id="6" name="Rectangle 310">
            <a:extLst>
              <a:ext uri="{FF2B5EF4-FFF2-40B4-BE49-F238E27FC236}">
                <a16:creationId xmlns:a16="http://schemas.microsoft.com/office/drawing/2014/main" id="{C0BCE126-83BA-440A-83C8-79CCD2D60725}"/>
              </a:ext>
            </a:extLst>
          </p:cNvPr>
          <p:cNvSpPr>
            <a:spLocks noGrp="1" noChangeArrowheads="1"/>
          </p:cNvSpPr>
          <p:nvPr>
            <p:ph type="sldNum" sz="quarter" idx="4"/>
          </p:nvPr>
        </p:nvSpPr>
        <p:spPr>
          <a:xfrm>
            <a:off x="8433270" y="6442782"/>
            <a:ext cx="392545" cy="275945"/>
          </a:xfrm>
          <a:prstGeom prst="rect">
            <a:avLst/>
          </a:prstGeom>
        </p:spPr>
        <p:txBody>
          <a:bodyPr/>
          <a:lstStyle>
            <a:lvl1pPr>
              <a:defRPr sz="800">
                <a:latin typeface="Poppins" panose="00000500000000000000" pitchFamily="2" charset="0"/>
                <a:cs typeface="Poppins" panose="00000500000000000000" pitchFamily="2" charset="0"/>
              </a:defRPr>
            </a:lvl1pPr>
          </a:lstStyle>
          <a:p>
            <a:pPr>
              <a:defRPr/>
            </a:pPr>
            <a:fld id="{DD2473E4-B5B6-45FC-9E99-CC9FE2E39F22}" type="slidenum">
              <a:rPr lang="en-US" smtClean="0"/>
              <a:pPr>
                <a:defRPr/>
              </a:pPr>
              <a:t>‹#›</a:t>
            </a:fld>
            <a:endParaRPr lang="en-US"/>
          </a:p>
        </p:txBody>
      </p:sp>
    </p:spTree>
    <p:extLst>
      <p:ext uri="{BB962C8B-B14F-4D97-AF65-F5344CB8AC3E}">
        <p14:creationId xmlns:p14="http://schemas.microsoft.com/office/powerpoint/2010/main" val="18339966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1042203" rtl="0" eaLnBrk="0" fontAlgn="base" hangingPunct="0">
        <a:lnSpc>
          <a:spcPct val="98000"/>
        </a:lnSpc>
        <a:spcBef>
          <a:spcPct val="0"/>
        </a:spcBef>
        <a:spcAft>
          <a:spcPct val="0"/>
        </a:spcAft>
        <a:defRPr sz="1941" b="0">
          <a:solidFill>
            <a:srgbClr val="0F2E55"/>
          </a:solidFill>
          <a:latin typeface="Poppins" panose="00000500000000000000" pitchFamily="2" charset="0"/>
          <a:ea typeface="+mj-ea"/>
          <a:cs typeface="Poppins" panose="00000500000000000000" pitchFamily="2" charset="0"/>
        </a:defRPr>
      </a:lvl1pPr>
      <a:lvl2pPr algn="l" defTabSz="1042203" rtl="0" eaLnBrk="0" fontAlgn="base" hangingPunct="0">
        <a:lnSpc>
          <a:spcPct val="98000"/>
        </a:lnSpc>
        <a:spcBef>
          <a:spcPct val="0"/>
        </a:spcBef>
        <a:spcAft>
          <a:spcPct val="0"/>
        </a:spcAft>
        <a:defRPr sz="1941" b="1">
          <a:solidFill>
            <a:srgbClr val="0F2E55"/>
          </a:solidFill>
          <a:latin typeface="Helvetica" pitchFamily="34" charset="0"/>
        </a:defRPr>
      </a:lvl2pPr>
      <a:lvl3pPr algn="l" defTabSz="1042203" rtl="0" eaLnBrk="0" fontAlgn="base" hangingPunct="0">
        <a:lnSpc>
          <a:spcPct val="98000"/>
        </a:lnSpc>
        <a:spcBef>
          <a:spcPct val="0"/>
        </a:spcBef>
        <a:spcAft>
          <a:spcPct val="0"/>
        </a:spcAft>
        <a:defRPr sz="1941" b="1">
          <a:solidFill>
            <a:srgbClr val="0F2E55"/>
          </a:solidFill>
          <a:latin typeface="Helvetica" pitchFamily="34" charset="0"/>
        </a:defRPr>
      </a:lvl3pPr>
      <a:lvl4pPr algn="l" defTabSz="1042203" rtl="0" eaLnBrk="0" fontAlgn="base" hangingPunct="0">
        <a:lnSpc>
          <a:spcPct val="98000"/>
        </a:lnSpc>
        <a:spcBef>
          <a:spcPct val="0"/>
        </a:spcBef>
        <a:spcAft>
          <a:spcPct val="0"/>
        </a:spcAft>
        <a:defRPr sz="1941" b="1">
          <a:solidFill>
            <a:srgbClr val="0F2E55"/>
          </a:solidFill>
          <a:latin typeface="Helvetica" pitchFamily="34" charset="0"/>
        </a:defRPr>
      </a:lvl4pPr>
      <a:lvl5pPr algn="l" defTabSz="1042203" rtl="0" eaLnBrk="0" fontAlgn="base" hangingPunct="0">
        <a:lnSpc>
          <a:spcPct val="98000"/>
        </a:lnSpc>
        <a:spcBef>
          <a:spcPct val="0"/>
        </a:spcBef>
        <a:spcAft>
          <a:spcPct val="0"/>
        </a:spcAft>
        <a:defRPr sz="1941" b="1">
          <a:solidFill>
            <a:srgbClr val="0F2E55"/>
          </a:solidFill>
          <a:latin typeface="Helvetica" pitchFamily="34" charset="0"/>
        </a:defRPr>
      </a:lvl5pPr>
      <a:lvl6pPr marL="403433" algn="l" defTabSz="1042203" rtl="0" eaLnBrk="0" fontAlgn="base" hangingPunct="0">
        <a:lnSpc>
          <a:spcPct val="98000"/>
        </a:lnSpc>
        <a:spcBef>
          <a:spcPct val="0"/>
        </a:spcBef>
        <a:spcAft>
          <a:spcPct val="0"/>
        </a:spcAft>
        <a:defRPr sz="2118" b="1">
          <a:solidFill>
            <a:srgbClr val="336699"/>
          </a:solidFill>
          <a:latin typeface="Times New Roman" pitchFamily="18" charset="0"/>
        </a:defRPr>
      </a:lvl6pPr>
      <a:lvl7pPr marL="806867" algn="l" defTabSz="1042203" rtl="0" eaLnBrk="0" fontAlgn="base" hangingPunct="0">
        <a:lnSpc>
          <a:spcPct val="98000"/>
        </a:lnSpc>
        <a:spcBef>
          <a:spcPct val="0"/>
        </a:spcBef>
        <a:spcAft>
          <a:spcPct val="0"/>
        </a:spcAft>
        <a:defRPr sz="2118" b="1">
          <a:solidFill>
            <a:srgbClr val="336699"/>
          </a:solidFill>
          <a:latin typeface="Times New Roman" pitchFamily="18" charset="0"/>
        </a:defRPr>
      </a:lvl7pPr>
      <a:lvl8pPr marL="1210300" algn="l" defTabSz="1042203" rtl="0" eaLnBrk="0" fontAlgn="base" hangingPunct="0">
        <a:lnSpc>
          <a:spcPct val="98000"/>
        </a:lnSpc>
        <a:spcBef>
          <a:spcPct val="0"/>
        </a:spcBef>
        <a:spcAft>
          <a:spcPct val="0"/>
        </a:spcAft>
        <a:defRPr sz="2118" b="1">
          <a:solidFill>
            <a:srgbClr val="336699"/>
          </a:solidFill>
          <a:latin typeface="Times New Roman" pitchFamily="18" charset="0"/>
        </a:defRPr>
      </a:lvl8pPr>
      <a:lvl9pPr marL="1613733" algn="l" defTabSz="1042203" rtl="0" eaLnBrk="0" fontAlgn="base" hangingPunct="0">
        <a:lnSpc>
          <a:spcPct val="98000"/>
        </a:lnSpc>
        <a:spcBef>
          <a:spcPct val="0"/>
        </a:spcBef>
        <a:spcAft>
          <a:spcPct val="0"/>
        </a:spcAft>
        <a:defRPr sz="2118" b="1">
          <a:solidFill>
            <a:srgbClr val="336699"/>
          </a:solidFill>
          <a:latin typeface="Times New Roman" pitchFamily="18" charset="0"/>
        </a:defRPr>
      </a:lvl9pPr>
    </p:titleStyle>
    <p:bodyStyle>
      <a:lvl1pPr marL="162494" indent="-162494" algn="l" defTabSz="1042203" rtl="0" eaLnBrk="0" fontAlgn="base" hangingPunct="0">
        <a:lnSpc>
          <a:spcPct val="105000"/>
        </a:lnSpc>
        <a:spcBef>
          <a:spcPct val="52000"/>
        </a:spcBef>
        <a:spcAft>
          <a:spcPct val="0"/>
        </a:spcAft>
        <a:buClr>
          <a:srgbClr val="336699"/>
        </a:buClr>
        <a:buSzPct val="150000"/>
        <a:buChar char="•"/>
        <a:defRPr sz="1412">
          <a:solidFill>
            <a:srgbClr val="000000"/>
          </a:solidFill>
          <a:latin typeface="+mn-lt"/>
          <a:ea typeface="+mn-ea"/>
          <a:cs typeface="+mn-cs"/>
        </a:defRPr>
      </a:lvl1pPr>
      <a:lvl2pPr marL="315183" indent="-151287" algn="l" defTabSz="1042203" rtl="0" eaLnBrk="0" fontAlgn="base" hangingPunct="0">
        <a:spcBef>
          <a:spcPct val="30000"/>
        </a:spcBef>
        <a:spcAft>
          <a:spcPct val="0"/>
        </a:spcAft>
        <a:buClr>
          <a:srgbClr val="CC9900"/>
        </a:buClr>
        <a:buSzPct val="120000"/>
        <a:buChar char="•"/>
        <a:defRPr sz="1235">
          <a:solidFill>
            <a:schemeClr val="tx1"/>
          </a:solidFill>
          <a:latin typeface="+mn-lt"/>
        </a:defRPr>
      </a:lvl2pPr>
      <a:lvl3pPr marL="458065" indent="-141482" algn="l" defTabSz="1042203" rtl="0" eaLnBrk="0" fontAlgn="base" hangingPunct="0">
        <a:spcBef>
          <a:spcPct val="21000"/>
        </a:spcBef>
        <a:spcAft>
          <a:spcPct val="0"/>
        </a:spcAft>
        <a:buClr>
          <a:srgbClr val="2B68C1"/>
        </a:buClr>
        <a:buSzPct val="120000"/>
        <a:buChar char="•"/>
        <a:defRPr sz="1059">
          <a:solidFill>
            <a:schemeClr val="tx1"/>
          </a:solidFill>
          <a:latin typeface="+mn-lt"/>
        </a:defRPr>
      </a:lvl3pPr>
      <a:lvl4pPr marL="2276317" indent="-240939" algn="l" defTabSz="1042203" rtl="0" eaLnBrk="0" fontAlgn="base" hangingPunct="0">
        <a:lnSpc>
          <a:spcPts val="1556"/>
        </a:lnSpc>
        <a:spcBef>
          <a:spcPct val="20000"/>
        </a:spcBef>
        <a:spcAft>
          <a:spcPct val="0"/>
        </a:spcAft>
        <a:buChar char="–"/>
        <a:defRPr sz="1147">
          <a:solidFill>
            <a:schemeClr val="tx1"/>
          </a:solidFill>
          <a:latin typeface="+mn-lt"/>
        </a:defRPr>
      </a:lvl4pPr>
      <a:lvl5pPr marL="2693758" indent="-232534" algn="l" defTabSz="1042203" rtl="0" eaLnBrk="0" fontAlgn="base" hangingPunct="0">
        <a:lnSpc>
          <a:spcPts val="1556"/>
        </a:lnSpc>
        <a:spcBef>
          <a:spcPct val="20000"/>
        </a:spcBef>
        <a:spcAft>
          <a:spcPct val="0"/>
        </a:spcAft>
        <a:buChar char="•"/>
        <a:defRPr sz="1147">
          <a:solidFill>
            <a:schemeClr val="tx1"/>
          </a:solidFill>
          <a:latin typeface="+mn-lt"/>
        </a:defRPr>
      </a:lvl5pPr>
      <a:lvl6pPr marL="3097191" indent="-232534" algn="l" defTabSz="1042203" rtl="0" eaLnBrk="0" fontAlgn="base" hangingPunct="0">
        <a:lnSpc>
          <a:spcPts val="1556"/>
        </a:lnSpc>
        <a:spcBef>
          <a:spcPct val="20000"/>
        </a:spcBef>
        <a:spcAft>
          <a:spcPct val="0"/>
        </a:spcAft>
        <a:buChar char="•"/>
        <a:defRPr sz="1147">
          <a:solidFill>
            <a:schemeClr val="tx1"/>
          </a:solidFill>
          <a:latin typeface="+mn-lt"/>
        </a:defRPr>
      </a:lvl6pPr>
      <a:lvl7pPr marL="3500625" indent="-232534" algn="l" defTabSz="1042203" rtl="0" eaLnBrk="0" fontAlgn="base" hangingPunct="0">
        <a:lnSpc>
          <a:spcPts val="1556"/>
        </a:lnSpc>
        <a:spcBef>
          <a:spcPct val="20000"/>
        </a:spcBef>
        <a:spcAft>
          <a:spcPct val="0"/>
        </a:spcAft>
        <a:buChar char="•"/>
        <a:defRPr sz="1147">
          <a:solidFill>
            <a:schemeClr val="tx1"/>
          </a:solidFill>
          <a:latin typeface="+mn-lt"/>
        </a:defRPr>
      </a:lvl7pPr>
      <a:lvl8pPr marL="3904058" indent="-232534" algn="l" defTabSz="1042203" rtl="0" eaLnBrk="0" fontAlgn="base" hangingPunct="0">
        <a:lnSpc>
          <a:spcPts val="1556"/>
        </a:lnSpc>
        <a:spcBef>
          <a:spcPct val="20000"/>
        </a:spcBef>
        <a:spcAft>
          <a:spcPct val="0"/>
        </a:spcAft>
        <a:buChar char="•"/>
        <a:defRPr sz="1147">
          <a:solidFill>
            <a:schemeClr val="tx1"/>
          </a:solidFill>
          <a:latin typeface="+mn-lt"/>
        </a:defRPr>
      </a:lvl8pPr>
      <a:lvl9pPr marL="4307491" indent="-232534" algn="l" defTabSz="1042203" rtl="0" eaLnBrk="0" fontAlgn="base" hangingPunct="0">
        <a:lnSpc>
          <a:spcPts val="1556"/>
        </a:lnSpc>
        <a:spcBef>
          <a:spcPct val="20000"/>
        </a:spcBef>
        <a:spcAft>
          <a:spcPct val="0"/>
        </a:spcAft>
        <a:buChar char="•"/>
        <a:defRPr sz="1147">
          <a:solidFill>
            <a:schemeClr val="tx1"/>
          </a:solidFill>
          <a:latin typeface="+mn-lt"/>
        </a:defRPr>
      </a:lvl9pPr>
    </p:bodyStyle>
    <p:otherStyle>
      <a:defPPr>
        <a:defRPr lang="en-US"/>
      </a:defPPr>
      <a:lvl1pPr marL="0" algn="l" defTabSz="806867" rtl="0" eaLnBrk="1" latinLnBrk="0" hangingPunct="1">
        <a:defRPr sz="1588" kern="1200">
          <a:solidFill>
            <a:schemeClr val="tx1"/>
          </a:solidFill>
          <a:latin typeface="+mn-lt"/>
          <a:ea typeface="+mn-ea"/>
          <a:cs typeface="+mn-cs"/>
        </a:defRPr>
      </a:lvl1pPr>
      <a:lvl2pPr marL="403433" algn="l" defTabSz="806867" rtl="0" eaLnBrk="1" latinLnBrk="0" hangingPunct="1">
        <a:defRPr sz="1588" kern="1200">
          <a:solidFill>
            <a:schemeClr val="tx1"/>
          </a:solidFill>
          <a:latin typeface="+mn-lt"/>
          <a:ea typeface="+mn-ea"/>
          <a:cs typeface="+mn-cs"/>
        </a:defRPr>
      </a:lvl2pPr>
      <a:lvl3pPr marL="806867" algn="l" defTabSz="806867" rtl="0" eaLnBrk="1" latinLnBrk="0" hangingPunct="1">
        <a:defRPr sz="1588" kern="1200">
          <a:solidFill>
            <a:schemeClr val="tx1"/>
          </a:solidFill>
          <a:latin typeface="+mn-lt"/>
          <a:ea typeface="+mn-ea"/>
          <a:cs typeface="+mn-cs"/>
        </a:defRPr>
      </a:lvl3pPr>
      <a:lvl4pPr marL="1210300" algn="l" defTabSz="806867" rtl="0" eaLnBrk="1" latinLnBrk="0" hangingPunct="1">
        <a:defRPr sz="1588" kern="1200">
          <a:solidFill>
            <a:schemeClr val="tx1"/>
          </a:solidFill>
          <a:latin typeface="+mn-lt"/>
          <a:ea typeface="+mn-ea"/>
          <a:cs typeface="+mn-cs"/>
        </a:defRPr>
      </a:lvl4pPr>
      <a:lvl5pPr marL="1613733" algn="l" defTabSz="806867" rtl="0" eaLnBrk="1" latinLnBrk="0" hangingPunct="1">
        <a:defRPr sz="1588" kern="1200">
          <a:solidFill>
            <a:schemeClr val="tx1"/>
          </a:solidFill>
          <a:latin typeface="+mn-lt"/>
          <a:ea typeface="+mn-ea"/>
          <a:cs typeface="+mn-cs"/>
        </a:defRPr>
      </a:lvl5pPr>
      <a:lvl6pPr marL="2017166" algn="l" defTabSz="806867" rtl="0" eaLnBrk="1" latinLnBrk="0" hangingPunct="1">
        <a:defRPr sz="1588" kern="1200">
          <a:solidFill>
            <a:schemeClr val="tx1"/>
          </a:solidFill>
          <a:latin typeface="+mn-lt"/>
          <a:ea typeface="+mn-ea"/>
          <a:cs typeface="+mn-cs"/>
        </a:defRPr>
      </a:lvl6pPr>
      <a:lvl7pPr marL="2420600" algn="l" defTabSz="806867" rtl="0" eaLnBrk="1" latinLnBrk="0" hangingPunct="1">
        <a:defRPr sz="1588" kern="1200">
          <a:solidFill>
            <a:schemeClr val="tx1"/>
          </a:solidFill>
          <a:latin typeface="+mn-lt"/>
          <a:ea typeface="+mn-ea"/>
          <a:cs typeface="+mn-cs"/>
        </a:defRPr>
      </a:lvl7pPr>
      <a:lvl8pPr marL="2824033" algn="l" defTabSz="806867" rtl="0" eaLnBrk="1" latinLnBrk="0" hangingPunct="1">
        <a:defRPr sz="1588" kern="1200">
          <a:solidFill>
            <a:schemeClr val="tx1"/>
          </a:solidFill>
          <a:latin typeface="+mn-lt"/>
          <a:ea typeface="+mn-ea"/>
          <a:cs typeface="+mn-cs"/>
        </a:defRPr>
      </a:lvl8pPr>
      <a:lvl9pPr marL="3227466" algn="l" defTabSz="806867" rtl="0" eaLnBrk="1" latinLnBrk="0" hangingPunct="1">
        <a:defRPr sz="15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chart" Target="../charts/chart7.xml"/><Relationship Id="rId3" Type="http://schemas.openxmlformats.org/officeDocument/2006/relationships/chart" Target="../charts/chart1.xml"/><Relationship Id="rId7" Type="http://schemas.openxmlformats.org/officeDocument/2006/relationships/image" Target="../media/image9.png"/><Relationship Id="rId12" Type="http://schemas.openxmlformats.org/officeDocument/2006/relationships/chart" Target="../charts/chart6.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chart" Target="../charts/chart4.xml"/><Relationship Id="rId11" Type="http://schemas.openxmlformats.org/officeDocument/2006/relationships/image" Target="../media/image11.emf"/><Relationship Id="rId5" Type="http://schemas.openxmlformats.org/officeDocument/2006/relationships/chart" Target="../charts/chart3.xml"/><Relationship Id="rId10" Type="http://schemas.openxmlformats.org/officeDocument/2006/relationships/oleObject" Target="https://performaltd.sharepoint.com/Shared%20Documents/PBDA/Quantitative%20Resources/Marketing/QTLY%20Slide%20Data%20v2%20wb.xlsx!Page%205%20Graphs!%5bQTLY%20Slide%20Data%20v2%20wb.xlsx%5dPage%205%20Graphs%20Chart%202-1" TargetMode="External"/><Relationship Id="rId4" Type="http://schemas.openxmlformats.org/officeDocument/2006/relationships/chart" Target="../charts/chart2.xml"/><Relationship Id="rId9" Type="http://schemas.openxmlformats.org/officeDocument/2006/relationships/chart" Target="../charts/chart5.xml"/><Relationship Id="rId14" Type="http://schemas.openxmlformats.org/officeDocument/2006/relationships/chart" Target="../charts/chart8.xml"/></Relationships>
</file>

<file path=ppt/slides/_rels/slide6.xml.rels><?xml version="1.0" encoding="UTF-8" standalone="yes"?>
<Relationships xmlns="http://schemas.openxmlformats.org/package/2006/relationships"><Relationship Id="rId8" Type="http://schemas.openxmlformats.org/officeDocument/2006/relationships/chart" Target="../charts/chart11.xml"/><Relationship Id="rId3" Type="http://schemas.openxmlformats.org/officeDocument/2006/relationships/chart" Target="../charts/chart9.xml"/><Relationship Id="rId7" Type="http://schemas.openxmlformats.org/officeDocument/2006/relationships/chart" Target="../charts/chart10.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emf"/><Relationship Id="rId5" Type="http://schemas.openxmlformats.org/officeDocument/2006/relationships/oleObject" Target="https://performaltd.sharepoint.com/Shared%20Documents/PBDA/Quantitative%20Resources/Marketing/ignore%20TLY%20Slide%20Data%20v3%20wb.xlsx!Page%206%20Graphs!%5bignore%20TLY%20Slide%20Data%20v3%20wb.xlsx%5dPage%206%20Graphs%20Chart%2010" TargetMode="External"/><Relationship Id="rId10" Type="http://schemas.openxmlformats.org/officeDocument/2006/relationships/image" Target="../media/image14.png"/><Relationship Id="rId4" Type="http://schemas.openxmlformats.org/officeDocument/2006/relationships/image" Target="../media/image12.png"/><Relationship Id="rId9" Type="http://schemas.openxmlformats.org/officeDocument/2006/relationships/chart" Target="../charts/char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7.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8.sv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chart" Target="../charts/chart17.xml"/><Relationship Id="rId13" Type="http://schemas.openxmlformats.org/officeDocument/2006/relationships/chart" Target="../charts/chart22.xml"/><Relationship Id="rId3" Type="http://schemas.openxmlformats.org/officeDocument/2006/relationships/chart" Target="../charts/chart13.xml"/><Relationship Id="rId7" Type="http://schemas.openxmlformats.org/officeDocument/2006/relationships/chart" Target="../charts/chart16.xml"/><Relationship Id="rId12" Type="http://schemas.openxmlformats.org/officeDocument/2006/relationships/chart" Target="../charts/chart21.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chart" Target="../charts/chart15.xml"/><Relationship Id="rId11" Type="http://schemas.openxmlformats.org/officeDocument/2006/relationships/chart" Target="../charts/chart20.xml"/><Relationship Id="rId5" Type="http://schemas.openxmlformats.org/officeDocument/2006/relationships/image" Target="../media/image1.png"/><Relationship Id="rId10" Type="http://schemas.openxmlformats.org/officeDocument/2006/relationships/chart" Target="../charts/chart19.xml"/><Relationship Id="rId4" Type="http://schemas.openxmlformats.org/officeDocument/2006/relationships/chart" Target="../charts/chart14.xml"/><Relationship Id="rId9" Type="http://schemas.openxmlformats.org/officeDocument/2006/relationships/chart" Target="../charts/chart18.xml"/></Relationships>
</file>

<file path=ppt/slides/_rels/slide12.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24.xml"/></Relationships>
</file>

<file path=ppt/slides/_rels/slide13.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chart" Target="../charts/chart2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oleObject" Target="https://performaltd.sharepoint.com/Shared%20Documents/PBDA/Data%20Bases/DB%20Reporting/Monthly%20Fact%20Sheet%20Support/2019/V2Copy%20of%20FS%20backup%20data%20STABLE%20NAME%20MASTER.xlsx!Sector%20Allocations%20_%20ALL%20FUNDS!R21C2:R24C3" TargetMode="External"/><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4.emf"/><Relationship Id="rId5" Type="http://schemas.openxmlformats.org/officeDocument/2006/relationships/oleObject" Target="https://performaltd.sharepoint.com/Shared%20Documents/PBDA/Data%20Bases/DB%20Reporting/Monthly%20Fact%20Sheet%20Support/2019/V2Copy%20of%20FS%20backup%20data%20STABLE%20NAME%20MASTER.xlsx!Sector%20Allocations%20_%20ALL%20FUNDS!R21C6:R27C7" TargetMode="External"/><Relationship Id="rId4" Type="http://schemas.openxmlformats.org/officeDocument/2006/relationships/image" Target="../media/image23.emf"/></Relationships>
</file>

<file path=ppt/slides/_rels/slide16.xml.rels><?xml version="1.0" encoding="UTF-8" standalone="yes"?>
<Relationships xmlns="http://schemas.openxmlformats.org/package/2006/relationships"><Relationship Id="rId8" Type="http://schemas.openxmlformats.org/officeDocument/2006/relationships/chart" Target="../charts/chart32.xml"/><Relationship Id="rId13" Type="http://schemas.openxmlformats.org/officeDocument/2006/relationships/chart" Target="../charts/chart37.xml"/><Relationship Id="rId3" Type="http://schemas.openxmlformats.org/officeDocument/2006/relationships/chart" Target="../charts/chart27.xml"/><Relationship Id="rId7" Type="http://schemas.openxmlformats.org/officeDocument/2006/relationships/chart" Target="../charts/chart31.xml"/><Relationship Id="rId12" Type="http://schemas.openxmlformats.org/officeDocument/2006/relationships/chart" Target="../charts/chart36.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chart" Target="../charts/chart30.xml"/><Relationship Id="rId11" Type="http://schemas.openxmlformats.org/officeDocument/2006/relationships/chart" Target="../charts/chart35.xml"/><Relationship Id="rId5" Type="http://schemas.openxmlformats.org/officeDocument/2006/relationships/chart" Target="../charts/chart29.xml"/><Relationship Id="rId10" Type="http://schemas.openxmlformats.org/officeDocument/2006/relationships/chart" Target="../charts/chart34.xml"/><Relationship Id="rId4" Type="http://schemas.openxmlformats.org/officeDocument/2006/relationships/chart" Target="../charts/chart28.xml"/><Relationship Id="rId9" Type="http://schemas.openxmlformats.org/officeDocument/2006/relationships/chart" Target="../charts/chart3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08F094A-B7C4-D6A4-3E44-17D2E9ECA066}"/>
              </a:ext>
            </a:extLst>
          </p:cNvPr>
          <p:cNvSpPr/>
          <p:nvPr/>
        </p:nvSpPr>
        <p:spPr bwMode="auto">
          <a:xfrm>
            <a:off x="2122446" y="161695"/>
            <a:ext cx="6833048" cy="6560828"/>
          </a:xfrm>
          <a:custGeom>
            <a:avLst/>
            <a:gdLst>
              <a:gd name="connsiteX0" fmla="*/ 0 w 6606906"/>
              <a:gd name="connsiteY0" fmla="*/ 0 h 6557121"/>
              <a:gd name="connsiteX1" fmla="*/ 6606906 w 6606906"/>
              <a:gd name="connsiteY1" fmla="*/ 0 h 6557121"/>
              <a:gd name="connsiteX2" fmla="*/ 6606906 w 6606906"/>
              <a:gd name="connsiteY2" fmla="*/ 6557121 h 6557121"/>
              <a:gd name="connsiteX3" fmla="*/ 0 w 6606906"/>
              <a:gd name="connsiteY3" fmla="*/ 6557121 h 6557121"/>
              <a:gd name="connsiteX4" fmla="*/ 0 w 6606906"/>
              <a:gd name="connsiteY4" fmla="*/ 0 h 6557121"/>
              <a:gd name="connsiteX0" fmla="*/ 0 w 6606906"/>
              <a:gd name="connsiteY0" fmla="*/ 3707 h 6560828"/>
              <a:gd name="connsiteX1" fmla="*/ 1632154 w 6606906"/>
              <a:gd name="connsiteY1" fmla="*/ 0 h 6560828"/>
              <a:gd name="connsiteX2" fmla="*/ 6606906 w 6606906"/>
              <a:gd name="connsiteY2" fmla="*/ 3707 h 6560828"/>
              <a:gd name="connsiteX3" fmla="*/ 6606906 w 6606906"/>
              <a:gd name="connsiteY3" fmla="*/ 6560828 h 6560828"/>
              <a:gd name="connsiteX4" fmla="*/ 0 w 6606906"/>
              <a:gd name="connsiteY4" fmla="*/ 6560828 h 6560828"/>
              <a:gd name="connsiteX5" fmla="*/ 0 w 6606906"/>
              <a:gd name="connsiteY5" fmla="*/ 3707 h 6560828"/>
              <a:gd name="connsiteX0" fmla="*/ 88491 w 6606906"/>
              <a:gd name="connsiteY0" fmla="*/ 1016430 h 6560828"/>
              <a:gd name="connsiteX1" fmla="*/ 1632154 w 6606906"/>
              <a:gd name="connsiteY1" fmla="*/ 0 h 6560828"/>
              <a:gd name="connsiteX2" fmla="*/ 6606906 w 6606906"/>
              <a:gd name="connsiteY2" fmla="*/ 3707 h 6560828"/>
              <a:gd name="connsiteX3" fmla="*/ 6606906 w 6606906"/>
              <a:gd name="connsiteY3" fmla="*/ 6560828 h 6560828"/>
              <a:gd name="connsiteX4" fmla="*/ 0 w 6606906"/>
              <a:gd name="connsiteY4" fmla="*/ 6560828 h 6560828"/>
              <a:gd name="connsiteX5" fmla="*/ 88491 w 6606906"/>
              <a:gd name="connsiteY5" fmla="*/ 1016430 h 6560828"/>
              <a:gd name="connsiteX0" fmla="*/ 0 w 6518415"/>
              <a:gd name="connsiteY0" fmla="*/ 1016430 h 6560828"/>
              <a:gd name="connsiteX1" fmla="*/ 1543663 w 6518415"/>
              <a:gd name="connsiteY1" fmla="*/ 0 h 6560828"/>
              <a:gd name="connsiteX2" fmla="*/ 6518415 w 6518415"/>
              <a:gd name="connsiteY2" fmla="*/ 3707 h 6560828"/>
              <a:gd name="connsiteX3" fmla="*/ 6518415 w 6518415"/>
              <a:gd name="connsiteY3" fmla="*/ 6560828 h 6560828"/>
              <a:gd name="connsiteX4" fmla="*/ 4906296 w 6518415"/>
              <a:gd name="connsiteY4" fmla="*/ 6560828 h 6560828"/>
              <a:gd name="connsiteX5" fmla="*/ 0 w 6518415"/>
              <a:gd name="connsiteY5" fmla="*/ 1016430 h 6560828"/>
              <a:gd name="connsiteX0" fmla="*/ 0 w 6833048"/>
              <a:gd name="connsiteY0" fmla="*/ 1232739 h 6560828"/>
              <a:gd name="connsiteX1" fmla="*/ 1858296 w 6833048"/>
              <a:gd name="connsiteY1" fmla="*/ 0 h 6560828"/>
              <a:gd name="connsiteX2" fmla="*/ 6833048 w 6833048"/>
              <a:gd name="connsiteY2" fmla="*/ 3707 h 6560828"/>
              <a:gd name="connsiteX3" fmla="*/ 6833048 w 6833048"/>
              <a:gd name="connsiteY3" fmla="*/ 6560828 h 6560828"/>
              <a:gd name="connsiteX4" fmla="*/ 5220929 w 6833048"/>
              <a:gd name="connsiteY4" fmla="*/ 6560828 h 6560828"/>
              <a:gd name="connsiteX5" fmla="*/ 0 w 6833048"/>
              <a:gd name="connsiteY5" fmla="*/ 1232739 h 6560828"/>
              <a:gd name="connsiteX0" fmla="*/ 0 w 6833048"/>
              <a:gd name="connsiteY0" fmla="*/ 1232739 h 6560828"/>
              <a:gd name="connsiteX1" fmla="*/ 1858296 w 6833048"/>
              <a:gd name="connsiteY1" fmla="*/ 0 h 6560828"/>
              <a:gd name="connsiteX2" fmla="*/ 6833048 w 6833048"/>
              <a:gd name="connsiteY2" fmla="*/ 3707 h 6560828"/>
              <a:gd name="connsiteX3" fmla="*/ 6833048 w 6833048"/>
              <a:gd name="connsiteY3" fmla="*/ 6560828 h 6560828"/>
              <a:gd name="connsiteX4" fmla="*/ 4463845 w 6833048"/>
              <a:gd name="connsiteY4" fmla="*/ 6560828 h 6560828"/>
              <a:gd name="connsiteX5" fmla="*/ 0 w 6833048"/>
              <a:gd name="connsiteY5" fmla="*/ 1232739 h 6560828"/>
              <a:gd name="connsiteX0" fmla="*/ 0 w 6833048"/>
              <a:gd name="connsiteY0" fmla="*/ 1232739 h 6560828"/>
              <a:gd name="connsiteX1" fmla="*/ 1858296 w 6833048"/>
              <a:gd name="connsiteY1" fmla="*/ 0 h 6560828"/>
              <a:gd name="connsiteX2" fmla="*/ 6833048 w 6833048"/>
              <a:gd name="connsiteY2" fmla="*/ 3707 h 6560828"/>
              <a:gd name="connsiteX3" fmla="*/ 6833048 w 6833048"/>
              <a:gd name="connsiteY3" fmla="*/ 6560828 h 6560828"/>
              <a:gd name="connsiteX4" fmla="*/ 4532671 w 6833048"/>
              <a:gd name="connsiteY4" fmla="*/ 6550995 h 6560828"/>
              <a:gd name="connsiteX5" fmla="*/ 0 w 6833048"/>
              <a:gd name="connsiteY5" fmla="*/ 1232739 h 6560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33048" h="6560828">
                <a:moveTo>
                  <a:pt x="0" y="1232739"/>
                </a:moveTo>
                <a:lnTo>
                  <a:pt x="1858296" y="0"/>
                </a:lnTo>
                <a:lnTo>
                  <a:pt x="6833048" y="3707"/>
                </a:lnTo>
                <a:lnTo>
                  <a:pt x="6833048" y="6560828"/>
                </a:lnTo>
                <a:lnTo>
                  <a:pt x="4532671" y="6550995"/>
                </a:lnTo>
                <a:lnTo>
                  <a:pt x="0" y="1232739"/>
                </a:lnTo>
                <a:close/>
              </a:path>
            </a:pathLst>
          </a:custGeom>
          <a:solidFill>
            <a:srgbClr val="E7E7E7">
              <a:alpha val="54902"/>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pic>
        <p:nvPicPr>
          <p:cNvPr id="15" name="Picture 14">
            <a:extLst>
              <a:ext uri="{FF2B5EF4-FFF2-40B4-BE49-F238E27FC236}">
                <a16:creationId xmlns:a16="http://schemas.microsoft.com/office/drawing/2014/main" id="{0CF76990-2A9F-436D-AA72-8068F7C57FA0}"/>
              </a:ext>
            </a:extLst>
          </p:cNvPr>
          <p:cNvPicPr>
            <a:picLocks noChangeAspect="1"/>
          </p:cNvPicPr>
          <p:nvPr/>
        </p:nvPicPr>
        <p:blipFill rotWithShape="1">
          <a:blip r:embed="rId3">
            <a:duotone>
              <a:prstClr val="black"/>
              <a:srgbClr val="106280">
                <a:tint val="45000"/>
                <a:satMod val="400000"/>
              </a:srgbClr>
            </a:duotone>
          </a:blip>
          <a:srcRect l="2668" t="4540"/>
          <a:stretch/>
        </p:blipFill>
        <p:spPr>
          <a:xfrm>
            <a:off x="173798" y="147484"/>
            <a:ext cx="4437530" cy="6710516"/>
          </a:xfrm>
          <a:prstGeom prst="rect">
            <a:avLst/>
          </a:prstGeom>
        </p:spPr>
      </p:pic>
      <p:sp>
        <p:nvSpPr>
          <p:cNvPr id="16" name="Rectangle 15">
            <a:extLst>
              <a:ext uri="{FF2B5EF4-FFF2-40B4-BE49-F238E27FC236}">
                <a16:creationId xmlns:a16="http://schemas.microsoft.com/office/drawing/2014/main" id="{8649DACC-6AD0-6D06-483F-98F93C4D53DC}"/>
              </a:ext>
            </a:extLst>
          </p:cNvPr>
          <p:cNvSpPr/>
          <p:nvPr/>
        </p:nvSpPr>
        <p:spPr bwMode="auto">
          <a:xfrm rot="19289737">
            <a:off x="3331975" y="-1005116"/>
            <a:ext cx="885747" cy="8885537"/>
          </a:xfrm>
          <a:custGeom>
            <a:avLst/>
            <a:gdLst>
              <a:gd name="connsiteX0" fmla="*/ 0 w 569821"/>
              <a:gd name="connsiteY0" fmla="*/ 0 h 9064979"/>
              <a:gd name="connsiteX1" fmla="*/ 569821 w 569821"/>
              <a:gd name="connsiteY1" fmla="*/ 0 h 9064979"/>
              <a:gd name="connsiteX2" fmla="*/ 569821 w 569821"/>
              <a:gd name="connsiteY2" fmla="*/ 9064979 h 9064979"/>
              <a:gd name="connsiteX3" fmla="*/ 0 w 569821"/>
              <a:gd name="connsiteY3" fmla="*/ 9064979 h 9064979"/>
              <a:gd name="connsiteX4" fmla="*/ 0 w 569821"/>
              <a:gd name="connsiteY4" fmla="*/ 0 h 9064979"/>
              <a:gd name="connsiteX0" fmla="*/ 0 w 569821"/>
              <a:gd name="connsiteY0" fmla="*/ 0 h 9064979"/>
              <a:gd name="connsiteX1" fmla="*/ 565181 w 569821"/>
              <a:gd name="connsiteY1" fmla="*/ 483172 h 9064979"/>
              <a:gd name="connsiteX2" fmla="*/ 569821 w 569821"/>
              <a:gd name="connsiteY2" fmla="*/ 9064979 h 9064979"/>
              <a:gd name="connsiteX3" fmla="*/ 0 w 569821"/>
              <a:gd name="connsiteY3" fmla="*/ 9064979 h 9064979"/>
              <a:gd name="connsiteX4" fmla="*/ 0 w 569821"/>
              <a:gd name="connsiteY4" fmla="*/ 0 h 9064979"/>
              <a:gd name="connsiteX0" fmla="*/ 0 w 569821"/>
              <a:gd name="connsiteY0" fmla="*/ 0 h 9064979"/>
              <a:gd name="connsiteX1" fmla="*/ 565181 w 569821"/>
              <a:gd name="connsiteY1" fmla="*/ 483172 h 9064979"/>
              <a:gd name="connsiteX2" fmla="*/ 569821 w 569821"/>
              <a:gd name="connsiteY2" fmla="*/ 9064979 h 9064979"/>
              <a:gd name="connsiteX3" fmla="*/ 5093 w 569821"/>
              <a:gd name="connsiteY3" fmla="*/ 7871346 h 9064979"/>
              <a:gd name="connsiteX4" fmla="*/ 0 w 569821"/>
              <a:gd name="connsiteY4" fmla="*/ 0 h 9064979"/>
              <a:gd name="connsiteX0" fmla="*/ 0 w 565653"/>
              <a:gd name="connsiteY0" fmla="*/ 0 h 8311690"/>
              <a:gd name="connsiteX1" fmla="*/ 565181 w 565653"/>
              <a:gd name="connsiteY1" fmla="*/ 483172 h 8311690"/>
              <a:gd name="connsiteX2" fmla="*/ 565397 w 565653"/>
              <a:gd name="connsiteY2" fmla="*/ 8311690 h 8311690"/>
              <a:gd name="connsiteX3" fmla="*/ 5093 w 565653"/>
              <a:gd name="connsiteY3" fmla="*/ 7871346 h 8311690"/>
              <a:gd name="connsiteX4" fmla="*/ 0 w 565653"/>
              <a:gd name="connsiteY4" fmla="*/ 0 h 8311690"/>
              <a:gd name="connsiteX0" fmla="*/ 105060 w 560580"/>
              <a:gd name="connsiteY0" fmla="*/ 0 h 8684899"/>
              <a:gd name="connsiteX1" fmla="*/ 560108 w 560580"/>
              <a:gd name="connsiteY1" fmla="*/ 856381 h 8684899"/>
              <a:gd name="connsiteX2" fmla="*/ 560324 w 560580"/>
              <a:gd name="connsiteY2" fmla="*/ 8684899 h 8684899"/>
              <a:gd name="connsiteX3" fmla="*/ 20 w 560580"/>
              <a:gd name="connsiteY3" fmla="*/ 8244555 h 8684899"/>
              <a:gd name="connsiteX4" fmla="*/ 105060 w 560580"/>
              <a:gd name="connsiteY4" fmla="*/ 0 h 8684899"/>
              <a:gd name="connsiteX0" fmla="*/ 55393 w 560596"/>
              <a:gd name="connsiteY0" fmla="*/ 0 h 8708315"/>
              <a:gd name="connsiteX1" fmla="*/ 560124 w 560596"/>
              <a:gd name="connsiteY1" fmla="*/ 879797 h 8708315"/>
              <a:gd name="connsiteX2" fmla="*/ 560340 w 560596"/>
              <a:gd name="connsiteY2" fmla="*/ 8708315 h 8708315"/>
              <a:gd name="connsiteX3" fmla="*/ 36 w 560596"/>
              <a:gd name="connsiteY3" fmla="*/ 8267971 h 8708315"/>
              <a:gd name="connsiteX4" fmla="*/ 55393 w 560596"/>
              <a:gd name="connsiteY4" fmla="*/ 0 h 8708315"/>
              <a:gd name="connsiteX0" fmla="*/ 55393 w 630875"/>
              <a:gd name="connsiteY0" fmla="*/ 0 h 8708315"/>
              <a:gd name="connsiteX1" fmla="*/ 630851 w 630875"/>
              <a:gd name="connsiteY1" fmla="*/ 824730 h 8708315"/>
              <a:gd name="connsiteX2" fmla="*/ 560340 w 630875"/>
              <a:gd name="connsiteY2" fmla="*/ 8708315 h 8708315"/>
              <a:gd name="connsiteX3" fmla="*/ 36 w 630875"/>
              <a:gd name="connsiteY3" fmla="*/ 8267971 h 8708315"/>
              <a:gd name="connsiteX4" fmla="*/ 55393 w 630875"/>
              <a:gd name="connsiteY4" fmla="*/ 0 h 8708315"/>
              <a:gd name="connsiteX0" fmla="*/ 27150 w 602632"/>
              <a:gd name="connsiteY0" fmla="*/ 0 h 8708315"/>
              <a:gd name="connsiteX1" fmla="*/ 602608 w 602632"/>
              <a:gd name="connsiteY1" fmla="*/ 824730 h 8708315"/>
              <a:gd name="connsiteX2" fmla="*/ 532097 w 602632"/>
              <a:gd name="connsiteY2" fmla="*/ 8708315 h 8708315"/>
              <a:gd name="connsiteX3" fmla="*/ 69 w 602632"/>
              <a:gd name="connsiteY3" fmla="*/ 8127342 h 8708315"/>
              <a:gd name="connsiteX4" fmla="*/ 27150 w 602632"/>
              <a:gd name="connsiteY4" fmla="*/ 0 h 8708315"/>
              <a:gd name="connsiteX0" fmla="*/ 67241 w 642723"/>
              <a:gd name="connsiteY0" fmla="*/ 0 h 8708315"/>
              <a:gd name="connsiteX1" fmla="*/ 642699 w 642723"/>
              <a:gd name="connsiteY1" fmla="*/ 824730 h 8708315"/>
              <a:gd name="connsiteX2" fmla="*/ 572188 w 642723"/>
              <a:gd name="connsiteY2" fmla="*/ 8708315 h 8708315"/>
              <a:gd name="connsiteX3" fmla="*/ 30 w 642723"/>
              <a:gd name="connsiteY3" fmla="*/ 7960432 h 8708315"/>
              <a:gd name="connsiteX4" fmla="*/ 67241 w 642723"/>
              <a:gd name="connsiteY4" fmla="*/ 0 h 8708315"/>
              <a:gd name="connsiteX0" fmla="*/ 124323 w 699805"/>
              <a:gd name="connsiteY0" fmla="*/ 0 h 8708315"/>
              <a:gd name="connsiteX1" fmla="*/ 699781 w 699805"/>
              <a:gd name="connsiteY1" fmla="*/ 824730 h 8708315"/>
              <a:gd name="connsiteX2" fmla="*/ 629270 w 699805"/>
              <a:gd name="connsiteY2" fmla="*/ 8708315 h 8708315"/>
              <a:gd name="connsiteX3" fmla="*/ 16 w 699805"/>
              <a:gd name="connsiteY3" fmla="*/ 7877898 h 8708315"/>
              <a:gd name="connsiteX4" fmla="*/ 124323 w 699805"/>
              <a:gd name="connsiteY4" fmla="*/ 0 h 8708315"/>
              <a:gd name="connsiteX0" fmla="*/ 116311 w 699806"/>
              <a:gd name="connsiteY0" fmla="*/ 0 h 8373350"/>
              <a:gd name="connsiteX1" fmla="*/ 699782 w 699806"/>
              <a:gd name="connsiteY1" fmla="*/ 489765 h 8373350"/>
              <a:gd name="connsiteX2" fmla="*/ 629271 w 699806"/>
              <a:gd name="connsiteY2" fmla="*/ 8373350 h 8373350"/>
              <a:gd name="connsiteX3" fmla="*/ 17 w 699806"/>
              <a:gd name="connsiteY3" fmla="*/ 7542933 h 8373350"/>
              <a:gd name="connsiteX4" fmla="*/ 116311 w 699806"/>
              <a:gd name="connsiteY4" fmla="*/ 0 h 837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9806" h="8373350">
                <a:moveTo>
                  <a:pt x="116311" y="0"/>
                </a:moveTo>
                <a:cubicBezTo>
                  <a:pt x="304705" y="161057"/>
                  <a:pt x="511388" y="328708"/>
                  <a:pt x="699782" y="489765"/>
                </a:cubicBezTo>
                <a:cubicBezTo>
                  <a:pt x="701329" y="3350367"/>
                  <a:pt x="627724" y="5512748"/>
                  <a:pt x="629271" y="8373350"/>
                </a:cubicBezTo>
                <a:lnTo>
                  <a:pt x="17" y="7542933"/>
                </a:lnTo>
                <a:cubicBezTo>
                  <a:pt x="-1681" y="4919151"/>
                  <a:pt x="118009" y="2623782"/>
                  <a:pt x="116311" y="0"/>
                </a:cubicBezTo>
                <a:close/>
              </a:path>
            </a:pathLst>
          </a:custGeom>
          <a:solidFill>
            <a:schemeClr val="bg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sp>
        <p:nvSpPr>
          <p:cNvPr id="27" name="HUGH SANDI PETER DAVID" hidden="1">
            <a:extLst>
              <a:ext uri="{FF2B5EF4-FFF2-40B4-BE49-F238E27FC236}">
                <a16:creationId xmlns:a16="http://schemas.microsoft.com/office/drawing/2014/main" id="{9E5DD169-4E4E-4561-B236-46460ED6609F}"/>
              </a:ext>
            </a:extLst>
          </p:cNvPr>
          <p:cNvSpPr/>
          <p:nvPr/>
        </p:nvSpPr>
        <p:spPr>
          <a:xfrm>
            <a:off x="4527550" y="3879696"/>
            <a:ext cx="4328429" cy="1184940"/>
          </a:xfrm>
          <a:prstGeom prst="rect">
            <a:avLst/>
          </a:prstGeom>
        </p:spPr>
        <p:txBody>
          <a:bodyPr wrap="none">
            <a:spAutoFit/>
          </a:bodyPr>
          <a:lstStyle/>
          <a:p>
            <a:pPr marL="0" lvl="1"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HUGH BARIT </a:t>
            </a:r>
            <a:r>
              <a:rPr lang="en-US" altLang="en-US" sz="1400">
                <a:solidFill>
                  <a:srgbClr val="106280"/>
                </a:solidFill>
                <a:latin typeface="Poppins Light" panose="00000400000000000000" pitchFamily="2" charset="0"/>
                <a:cs typeface="Poppins Light" panose="00000400000000000000" pitchFamily="2" charset="0"/>
              </a:rPr>
              <a:t>| CHAIRMAN &amp; CEO</a:t>
            </a:r>
          </a:p>
          <a:p>
            <a:pPr marL="0" lvl="1"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DAVID KILBORN, CFA </a:t>
            </a:r>
            <a:r>
              <a:rPr lang="en-US" altLang="en-US" sz="1400">
                <a:solidFill>
                  <a:srgbClr val="106280"/>
                </a:solidFill>
                <a:latin typeface="Poppins Light" panose="00000400000000000000" pitchFamily="2" charset="0"/>
                <a:cs typeface="Poppins Light" panose="00000400000000000000" pitchFamily="2" charset="0"/>
              </a:rPr>
              <a:t>| CHIEF INVESTMENT OFFICER</a:t>
            </a:r>
            <a:endParaRPr lang="en-US" altLang="en-US" sz="1400">
              <a:solidFill>
                <a:srgbClr val="106280"/>
              </a:solidFill>
              <a:latin typeface="Poppins Medium" panose="00000600000000000000" pitchFamily="2" charset="0"/>
              <a:cs typeface="Poppins Medium" panose="00000600000000000000" pitchFamily="2" charset="0"/>
            </a:endParaRPr>
          </a:p>
          <a:p>
            <a:pPr marL="0" lvl="1" indent="0"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SANDI PRESCOTT </a:t>
            </a:r>
            <a:r>
              <a:rPr lang="en-US" altLang="en-US" sz="1400">
                <a:solidFill>
                  <a:srgbClr val="106280"/>
                </a:solidFill>
                <a:latin typeface="Poppins Light" panose="00000400000000000000" pitchFamily="2" charset="0"/>
                <a:cs typeface="Poppins Light" panose="00000400000000000000" pitchFamily="2" charset="0"/>
              </a:rPr>
              <a:t>| HEAD OF CLIENT SERVICE</a:t>
            </a:r>
          </a:p>
          <a:p>
            <a:pPr marL="0" lvl="1" indent="0"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PETER MILNE </a:t>
            </a:r>
            <a:r>
              <a:rPr lang="en-US" altLang="en-US" sz="1400">
                <a:solidFill>
                  <a:srgbClr val="106280"/>
                </a:solidFill>
                <a:latin typeface="Poppins Light" panose="00000400000000000000" pitchFamily="2" charset="0"/>
                <a:cs typeface="Poppins Light" panose="00000400000000000000" pitchFamily="2" charset="0"/>
              </a:rPr>
              <a:t>| HEAD OF ASSET ALLOCATION</a:t>
            </a:r>
          </a:p>
        </p:txBody>
      </p:sp>
      <p:sp>
        <p:nvSpPr>
          <p:cNvPr id="29" name="Rectangle 28">
            <a:extLst>
              <a:ext uri="{FF2B5EF4-FFF2-40B4-BE49-F238E27FC236}">
                <a16:creationId xmlns:a16="http://schemas.microsoft.com/office/drawing/2014/main" id="{82FA936D-D013-48A2-B1D3-8125F0B0DA6A}"/>
              </a:ext>
            </a:extLst>
          </p:cNvPr>
          <p:cNvSpPr/>
          <p:nvPr/>
        </p:nvSpPr>
        <p:spPr bwMode="auto">
          <a:xfrm>
            <a:off x="0" y="6680199"/>
            <a:ext cx="9055100" cy="177801"/>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algn="ctr" defTabSz="806867" eaLnBrk="0" fontAlgn="base" hangingPunct="0">
              <a:spcBef>
                <a:spcPct val="50000"/>
              </a:spcBef>
              <a:spcAft>
                <a:spcPct val="0"/>
              </a:spcAft>
            </a:pPr>
            <a:endParaRPr lang="en-US" sz="882" b="1">
              <a:latin typeface="Arial" charset="0"/>
            </a:endParaRPr>
          </a:p>
        </p:txBody>
      </p:sp>
      <p:sp>
        <p:nvSpPr>
          <p:cNvPr id="2" name="Rectangle 1">
            <a:extLst>
              <a:ext uri="{FF2B5EF4-FFF2-40B4-BE49-F238E27FC236}">
                <a16:creationId xmlns:a16="http://schemas.microsoft.com/office/drawing/2014/main" id="{37D77CB8-EACD-4271-B101-24CEEF31330D}"/>
              </a:ext>
            </a:extLst>
          </p:cNvPr>
          <p:cNvSpPr/>
          <p:nvPr/>
        </p:nvSpPr>
        <p:spPr bwMode="auto">
          <a:xfrm>
            <a:off x="2895600" y="632461"/>
            <a:ext cx="6155779" cy="4786108"/>
          </a:xfrm>
          <a:prstGeom prst="rect">
            <a:avLst/>
          </a:prstGeom>
          <a:solidFill>
            <a:srgbClr val="FFFFFF">
              <a:alpha val="63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94556" y="1103554"/>
            <a:ext cx="4350062" cy="1025568"/>
          </a:xfrm>
          <a:prstGeom prst="rect">
            <a:avLst/>
          </a:prstGeom>
          <a:ln>
            <a:noFill/>
          </a:ln>
        </p:spPr>
      </p:pic>
      <p:cxnSp>
        <p:nvCxnSpPr>
          <p:cNvPr id="18" name="Straight Connector 17">
            <a:extLst>
              <a:ext uri="{FF2B5EF4-FFF2-40B4-BE49-F238E27FC236}">
                <a16:creationId xmlns:a16="http://schemas.microsoft.com/office/drawing/2014/main" id="{E2506DD5-66B6-4D78-93D5-430D5123C77F}"/>
              </a:ext>
            </a:extLst>
          </p:cNvPr>
          <p:cNvCxnSpPr>
            <a:cxnSpLocks/>
          </p:cNvCxnSpPr>
          <p:nvPr/>
        </p:nvCxnSpPr>
        <p:spPr bwMode="auto">
          <a:xfrm>
            <a:off x="5220558" y="2327098"/>
            <a:ext cx="3566160" cy="0"/>
          </a:xfrm>
          <a:prstGeom prst="line">
            <a:avLst/>
          </a:prstGeom>
          <a:noFill/>
          <a:ln w="12700" cap="flat" cmpd="sng" algn="ctr">
            <a:solidFill>
              <a:srgbClr val="157EA3"/>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E12ED6D2-C3B3-4274-8D56-D8FDF381075F}"/>
              </a:ext>
            </a:extLst>
          </p:cNvPr>
          <p:cNvCxnSpPr>
            <a:cxnSpLocks/>
          </p:cNvCxnSpPr>
          <p:nvPr/>
        </p:nvCxnSpPr>
        <p:spPr bwMode="auto">
          <a:xfrm>
            <a:off x="5220558" y="3440589"/>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30" name="PRESENTER" hidden="1">
            <a:extLst>
              <a:ext uri="{FF2B5EF4-FFF2-40B4-BE49-F238E27FC236}">
                <a16:creationId xmlns:a16="http://schemas.microsoft.com/office/drawing/2014/main" id="{21D2C058-3FFC-4B96-893C-F83CA0C2F294}"/>
              </a:ext>
            </a:extLst>
          </p:cNvPr>
          <p:cNvSpPr/>
          <p:nvPr/>
        </p:nvSpPr>
        <p:spPr>
          <a:xfrm>
            <a:off x="7551701" y="3543748"/>
            <a:ext cx="1205290" cy="307777"/>
          </a:xfrm>
          <a:prstGeom prst="rect">
            <a:avLst/>
          </a:prstGeom>
        </p:spPr>
        <p:txBody>
          <a:bodyPr wrap="square">
            <a:spAutoFit/>
          </a:bodyPr>
          <a:lstStyle/>
          <a:p>
            <a:pPr marL="0" lvl="1" indent="0" algn="r"/>
            <a:r>
              <a:rPr lang="en-US" altLang="en-US" sz="1400">
                <a:solidFill>
                  <a:srgbClr val="106280"/>
                </a:solidFill>
                <a:latin typeface="Poppins Light" panose="00000400000000000000" pitchFamily="2" charset="0"/>
                <a:cs typeface="Poppins Light" panose="00000400000000000000" pitchFamily="2" charset="0"/>
              </a:rPr>
              <a:t>PRESENTER</a:t>
            </a:r>
          </a:p>
        </p:txBody>
      </p:sp>
      <p:sp>
        <p:nvSpPr>
          <p:cNvPr id="8" name="just hugh" hidden="1">
            <a:extLst>
              <a:ext uri="{FF2B5EF4-FFF2-40B4-BE49-F238E27FC236}">
                <a16:creationId xmlns:a16="http://schemas.microsoft.com/office/drawing/2014/main" id="{490F123B-C776-E53D-7057-6BDA3FB5DB18}"/>
              </a:ext>
            </a:extLst>
          </p:cNvPr>
          <p:cNvSpPr/>
          <p:nvPr/>
        </p:nvSpPr>
        <p:spPr>
          <a:xfrm>
            <a:off x="5971319" y="3859363"/>
            <a:ext cx="2905026" cy="600164"/>
          </a:xfrm>
          <a:prstGeom prst="rect">
            <a:avLst/>
          </a:prstGeom>
        </p:spPr>
        <p:txBody>
          <a:bodyPr wrap="none">
            <a:spAutoFit/>
          </a:bodyPr>
          <a:lstStyle/>
          <a:p>
            <a:pPr marL="0" lvl="1"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HUGH BARIT </a:t>
            </a:r>
            <a:r>
              <a:rPr lang="en-US" altLang="en-US" sz="1400">
                <a:solidFill>
                  <a:srgbClr val="106280"/>
                </a:solidFill>
                <a:latin typeface="Poppins Light" panose="00000400000000000000" pitchFamily="2" charset="0"/>
                <a:cs typeface="Poppins Light" panose="00000400000000000000" pitchFamily="2" charset="0"/>
              </a:rPr>
              <a:t>| CHAIRMAN &amp; CEO</a:t>
            </a:r>
          </a:p>
          <a:p>
            <a:pPr marL="0" lvl="1" algn="r">
              <a:spcAft>
                <a:spcPts val="600"/>
              </a:spcAft>
            </a:pPr>
            <a:endParaRPr lang="en-US" altLang="en-US" sz="1400">
              <a:solidFill>
                <a:srgbClr val="106280"/>
              </a:solidFill>
              <a:latin typeface="Poppins Medium" panose="00000600000000000000" pitchFamily="2" charset="0"/>
              <a:cs typeface="Poppins Medium" panose="00000600000000000000" pitchFamily="2" charset="0"/>
            </a:endParaRPr>
          </a:p>
        </p:txBody>
      </p:sp>
      <p:sp>
        <p:nvSpPr>
          <p:cNvPr id="4" name="WARREN" hidden="1">
            <a:extLst>
              <a:ext uri="{FF2B5EF4-FFF2-40B4-BE49-F238E27FC236}">
                <a16:creationId xmlns:a16="http://schemas.microsoft.com/office/drawing/2014/main" id="{9386C17C-53E4-900D-4DF1-71852F64EDF0}"/>
              </a:ext>
            </a:extLst>
          </p:cNvPr>
          <p:cNvSpPr/>
          <p:nvPr/>
        </p:nvSpPr>
        <p:spPr>
          <a:xfrm>
            <a:off x="4431946" y="3852446"/>
            <a:ext cx="4408579" cy="307777"/>
          </a:xfrm>
          <a:prstGeom prst="rect">
            <a:avLst/>
          </a:prstGeom>
        </p:spPr>
        <p:txBody>
          <a:bodyPr wrap="none">
            <a:spAutoFit/>
          </a:bodyPr>
          <a:lstStyle/>
          <a:p>
            <a:pPr marL="0" lvl="1" indent="0"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WARREN MILLER </a:t>
            </a:r>
            <a:r>
              <a:rPr lang="en-US" altLang="en-US" sz="1400">
                <a:solidFill>
                  <a:srgbClr val="106280"/>
                </a:solidFill>
                <a:latin typeface="Poppins Light" panose="00000400000000000000" pitchFamily="2" charset="0"/>
                <a:cs typeface="Poppins Light" panose="00000400000000000000" pitchFamily="2" charset="0"/>
              </a:rPr>
              <a:t>| SENIOR RELATIONSHIP MANAGER</a:t>
            </a:r>
          </a:p>
        </p:txBody>
      </p:sp>
      <p:graphicFrame>
        <p:nvGraphicFramePr>
          <p:cNvPr id="19" name="LOCATIONS BERMUDA SC VT">
            <a:extLst>
              <a:ext uri="{FF2B5EF4-FFF2-40B4-BE49-F238E27FC236}">
                <a16:creationId xmlns:a16="http://schemas.microsoft.com/office/drawing/2014/main" id="{D1720957-7E7E-6A9B-17BC-E327058AD952}"/>
              </a:ext>
            </a:extLst>
          </p:cNvPr>
          <p:cNvGraphicFramePr>
            <a:graphicFrameLocks noGrp="1"/>
          </p:cNvGraphicFramePr>
          <p:nvPr/>
        </p:nvGraphicFramePr>
        <p:xfrm>
          <a:off x="3653948" y="6026913"/>
          <a:ext cx="5190670" cy="274320"/>
        </p:xfrm>
        <a:graphic>
          <a:graphicData uri="http://schemas.openxmlformats.org/drawingml/2006/table">
            <a:tbl>
              <a:tblPr firstRow="1" bandRow="1">
                <a:tableStyleId>{5C22544A-7EE6-4342-B048-85BDC9FD1C3A}</a:tableStyleId>
              </a:tblPr>
              <a:tblGrid>
                <a:gridCol w="1371262">
                  <a:extLst>
                    <a:ext uri="{9D8B030D-6E8A-4147-A177-3AD203B41FA5}">
                      <a16:colId xmlns:a16="http://schemas.microsoft.com/office/drawing/2014/main" val="4008082903"/>
                    </a:ext>
                  </a:extLst>
                </a:gridCol>
                <a:gridCol w="208280">
                  <a:extLst>
                    <a:ext uri="{9D8B030D-6E8A-4147-A177-3AD203B41FA5}">
                      <a16:colId xmlns:a16="http://schemas.microsoft.com/office/drawing/2014/main" val="3557453627"/>
                    </a:ext>
                  </a:extLst>
                </a:gridCol>
                <a:gridCol w="2035048">
                  <a:extLst>
                    <a:ext uri="{9D8B030D-6E8A-4147-A177-3AD203B41FA5}">
                      <a16:colId xmlns:a16="http://schemas.microsoft.com/office/drawing/2014/main" val="3802950187"/>
                    </a:ext>
                  </a:extLst>
                </a:gridCol>
                <a:gridCol w="208280">
                  <a:extLst>
                    <a:ext uri="{9D8B030D-6E8A-4147-A177-3AD203B41FA5}">
                      <a16:colId xmlns:a16="http://schemas.microsoft.com/office/drawing/2014/main" val="3057384582"/>
                    </a:ext>
                  </a:extLst>
                </a:gridCol>
                <a:gridCol w="1367800">
                  <a:extLst>
                    <a:ext uri="{9D8B030D-6E8A-4147-A177-3AD203B41FA5}">
                      <a16:colId xmlns:a16="http://schemas.microsoft.com/office/drawing/2014/main" val="2400454363"/>
                    </a:ext>
                  </a:extLst>
                </a:gridCol>
              </a:tblGrid>
              <a:tr h="194282">
                <a:tc>
                  <a:txBody>
                    <a:bodyPr/>
                    <a:lstStyle/>
                    <a:p>
                      <a:pPr algn="ctr"/>
                      <a:r>
                        <a:rPr lang="en-US" altLang="en-US" sz="1400" b="0">
                          <a:solidFill>
                            <a:srgbClr val="106280"/>
                          </a:solidFill>
                          <a:latin typeface="Poppins Light" panose="00000400000000000000" pitchFamily="2" charset="0"/>
                          <a:cs typeface="Poppins Light" panose="00000400000000000000" pitchFamily="2" charset="0"/>
                        </a:rPr>
                        <a:t>  BERMUDA </a:t>
                      </a:r>
                      <a:endParaRPr lang="en-US" sz="1400" b="0">
                        <a:solidFill>
                          <a:srgbClr val="4E7288"/>
                        </a:solidFill>
                        <a:latin typeface="Poppins Light" panose="00000400000000000000" pitchFamily="2" charset="0"/>
                        <a:cs typeface="Poppins Light" panose="00000400000000000000" pitchFamily="2" charset="0"/>
                      </a:endParaRPr>
                    </a:p>
                  </a:txBody>
                  <a:tcPr marL="0" marR="0" marT="0" marB="0" anchor="ctr">
                    <a:lnL w="12700" cmpd="sng">
                      <a:noFill/>
                    </a:lnL>
                    <a:lnR w="12700" cmpd="sng">
                      <a:noFill/>
                    </a:lnR>
                    <a:lnT w="9525" cap="flat" cmpd="sng" algn="ctr">
                      <a:solidFill>
                        <a:srgbClr val="296A8B"/>
                      </a:solidFill>
                      <a:prstDash val="solid"/>
                      <a:round/>
                      <a:headEnd type="none" w="med" len="med"/>
                      <a:tailEnd type="none" w="med" len="med"/>
                    </a:lnT>
                    <a:lnB w="9525" cap="flat" cmpd="sng" algn="ctr">
                      <a:solidFill>
                        <a:srgbClr val="296A8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a:solidFill>
                            <a:srgbClr val="4E7288"/>
                          </a:solidFill>
                          <a:latin typeface="Poppins Light" panose="00000400000000000000" pitchFamily="2" charset="0"/>
                          <a:cs typeface="Poppins Light" panose="00000400000000000000" pitchFamily="2" charset="0"/>
                        </a:rPr>
                        <a:t>|</a:t>
                      </a:r>
                    </a:p>
                  </a:txBody>
                  <a:tcPr marL="0" marR="0" marT="0" marB="0" anchor="ctr">
                    <a:lnL w="12700" cmpd="sng">
                      <a:noFill/>
                    </a:lnL>
                    <a:lnR w="12700" cmpd="sng">
                      <a:noFill/>
                    </a:lnR>
                    <a:lnT w="9525" cap="flat" cmpd="sng" algn="ctr">
                      <a:solidFill>
                        <a:srgbClr val="296A8B"/>
                      </a:solidFill>
                      <a:prstDash val="solid"/>
                      <a:round/>
                      <a:headEnd type="none" w="med" len="med"/>
                      <a:tailEnd type="none" w="med" len="med"/>
                    </a:lnT>
                    <a:lnB w="9525" cap="flat" cmpd="sng" algn="ctr">
                      <a:solidFill>
                        <a:srgbClr val="296A8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a:solidFill>
                            <a:srgbClr val="4E7288"/>
                          </a:solidFill>
                          <a:latin typeface="Poppins Light" panose="00000400000000000000" pitchFamily="2" charset="0"/>
                          <a:cs typeface="Poppins Light" panose="00000400000000000000" pitchFamily="2" charset="0"/>
                        </a:rPr>
                        <a:t>SOUTH CAROLINA</a:t>
                      </a:r>
                    </a:p>
                  </a:txBody>
                  <a:tcPr marL="0" marR="0" marT="0" marB="0" anchor="ctr">
                    <a:lnL w="12700" cmpd="sng">
                      <a:noFill/>
                    </a:lnL>
                    <a:lnR w="12700" cmpd="sng">
                      <a:noFill/>
                    </a:lnR>
                    <a:lnT w="9525" cap="flat" cmpd="sng" algn="ctr">
                      <a:solidFill>
                        <a:srgbClr val="296A8B"/>
                      </a:solidFill>
                      <a:prstDash val="solid"/>
                      <a:round/>
                      <a:headEnd type="none" w="med" len="med"/>
                      <a:tailEnd type="none" w="med" len="med"/>
                    </a:lnT>
                    <a:lnB w="9525" cap="flat" cmpd="sng" algn="ctr">
                      <a:solidFill>
                        <a:srgbClr val="296A8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a:solidFill>
                            <a:srgbClr val="4E7288"/>
                          </a:solidFill>
                          <a:latin typeface="Poppins Light" panose="00000400000000000000" pitchFamily="2" charset="0"/>
                          <a:cs typeface="Poppins Light" panose="00000400000000000000" pitchFamily="2" charset="0"/>
                        </a:rPr>
                        <a:t>|</a:t>
                      </a:r>
                    </a:p>
                  </a:txBody>
                  <a:tcPr marL="0" marR="0" marT="0" marB="0" anchor="ctr">
                    <a:lnL w="12700" cmpd="sng">
                      <a:noFill/>
                    </a:lnL>
                    <a:lnR w="12700" cmpd="sng">
                      <a:noFill/>
                    </a:lnR>
                    <a:lnT w="9525" cap="flat" cmpd="sng" algn="ctr">
                      <a:solidFill>
                        <a:srgbClr val="296A8B"/>
                      </a:solidFill>
                      <a:prstDash val="solid"/>
                      <a:round/>
                      <a:headEnd type="none" w="med" len="med"/>
                      <a:tailEnd type="none" w="med" len="med"/>
                    </a:lnT>
                    <a:lnB w="9525" cap="flat" cmpd="sng" algn="ctr">
                      <a:solidFill>
                        <a:srgbClr val="296A8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en-US" sz="1400" b="0">
                          <a:solidFill>
                            <a:srgbClr val="106280"/>
                          </a:solidFill>
                          <a:latin typeface="Poppins Light" panose="00000400000000000000" pitchFamily="2" charset="0"/>
                          <a:cs typeface="Poppins Light" panose="00000400000000000000" pitchFamily="2" charset="0"/>
                        </a:rPr>
                        <a:t>     VERMONT  </a:t>
                      </a:r>
                      <a:endParaRPr lang="en-US" sz="1400" b="0">
                        <a:solidFill>
                          <a:srgbClr val="4E7288"/>
                        </a:solidFill>
                        <a:latin typeface="Poppins Light" panose="00000400000000000000" pitchFamily="2" charset="0"/>
                        <a:cs typeface="Poppins Light" panose="00000400000000000000" pitchFamily="2" charset="0"/>
                      </a:endParaRPr>
                    </a:p>
                  </a:txBody>
                  <a:tcPr marL="0" marR="0" marT="0" marB="0" anchor="ctr">
                    <a:lnL w="12700" cmpd="sng">
                      <a:noFill/>
                    </a:lnL>
                    <a:lnR w="12700" cmpd="sng">
                      <a:noFill/>
                    </a:lnR>
                    <a:lnT w="9525" cap="flat" cmpd="sng" algn="ctr">
                      <a:solidFill>
                        <a:srgbClr val="296A8B"/>
                      </a:solidFill>
                      <a:prstDash val="solid"/>
                      <a:round/>
                      <a:headEnd type="none" w="med" len="med"/>
                      <a:tailEnd type="none" w="med" len="med"/>
                    </a:lnT>
                    <a:lnB w="9525" cap="flat" cmpd="sng" algn="ctr">
                      <a:solidFill>
                        <a:srgbClr val="296A8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4623650"/>
                  </a:ext>
                </a:extLst>
              </a:tr>
            </a:tbl>
          </a:graphicData>
        </a:graphic>
      </p:graphicFrame>
      <p:sp>
        <p:nvSpPr>
          <p:cNvPr id="42" name="HUGH SANDI PETER DAVID">
            <a:extLst>
              <a:ext uri="{FF2B5EF4-FFF2-40B4-BE49-F238E27FC236}">
                <a16:creationId xmlns:a16="http://schemas.microsoft.com/office/drawing/2014/main" id="{DAFB5F2A-7E4A-81C4-14E6-355FD2908309}"/>
              </a:ext>
            </a:extLst>
          </p:cNvPr>
          <p:cNvSpPr/>
          <p:nvPr/>
        </p:nvSpPr>
        <p:spPr>
          <a:xfrm>
            <a:off x="4610420" y="4096236"/>
            <a:ext cx="4275530" cy="307777"/>
          </a:xfrm>
          <a:prstGeom prst="rect">
            <a:avLst/>
          </a:prstGeom>
        </p:spPr>
        <p:txBody>
          <a:bodyPr wrap="none">
            <a:spAutoFit/>
          </a:bodyPr>
          <a:lstStyle/>
          <a:p>
            <a:pPr marL="0" lvl="1" algn="r">
              <a:spcAft>
                <a:spcPts val="1200"/>
              </a:spcAft>
            </a:pPr>
            <a:r>
              <a:rPr lang="en-US" altLang="en-US" sz="1400" dirty="0">
                <a:solidFill>
                  <a:srgbClr val="106280"/>
                </a:solidFill>
                <a:latin typeface="Poppins Medium" panose="00000600000000000000" pitchFamily="2" charset="0"/>
                <a:cs typeface="Poppins Medium" panose="00000600000000000000" pitchFamily="2" charset="0"/>
              </a:rPr>
              <a:t>CLAYTON JOHNSON </a:t>
            </a:r>
            <a:r>
              <a:rPr lang="en-US" altLang="en-US" sz="1400" dirty="0">
                <a:solidFill>
                  <a:srgbClr val="106280"/>
                </a:solidFill>
                <a:latin typeface="Poppins Light" panose="00000400000000000000" pitchFamily="2" charset="0"/>
                <a:cs typeface="Poppins Light" panose="00000400000000000000" pitchFamily="2" charset="0"/>
              </a:rPr>
              <a:t>| CLIENT SERVICE ASSOCIATE</a:t>
            </a:r>
            <a:endParaRPr lang="en-US" altLang="en-US" sz="1400" dirty="0">
              <a:solidFill>
                <a:srgbClr val="106280"/>
              </a:solidFill>
              <a:latin typeface="Poppins Medium" panose="00000600000000000000" pitchFamily="2" charset="0"/>
              <a:cs typeface="Poppins Medium" panose="00000600000000000000" pitchFamily="2" charset="0"/>
            </a:endParaRPr>
          </a:p>
        </p:txBody>
      </p:sp>
      <p:graphicFrame>
        <p:nvGraphicFramePr>
          <p:cNvPr id="43" name="PRESENTER" hidden="1">
            <a:extLst>
              <a:ext uri="{FF2B5EF4-FFF2-40B4-BE49-F238E27FC236}">
                <a16:creationId xmlns:a16="http://schemas.microsoft.com/office/drawing/2014/main" id="{DCAC089D-1F68-7777-0D1B-C1DF8397626C}"/>
              </a:ext>
            </a:extLst>
          </p:cNvPr>
          <p:cNvGraphicFramePr>
            <a:graphicFrameLocks noGrp="1"/>
          </p:cNvGraphicFramePr>
          <p:nvPr/>
        </p:nvGraphicFramePr>
        <p:xfrm>
          <a:off x="7697110" y="3511992"/>
          <a:ext cx="1020169" cy="248588"/>
        </p:xfrm>
        <a:graphic>
          <a:graphicData uri="http://schemas.openxmlformats.org/drawingml/2006/table">
            <a:tbl>
              <a:tblPr firstRow="1" bandRow="1">
                <a:tableStyleId>{5C22544A-7EE6-4342-B048-85BDC9FD1C3A}</a:tableStyleId>
              </a:tblPr>
              <a:tblGrid>
                <a:gridCol w="1020169">
                  <a:extLst>
                    <a:ext uri="{9D8B030D-6E8A-4147-A177-3AD203B41FA5}">
                      <a16:colId xmlns:a16="http://schemas.microsoft.com/office/drawing/2014/main" val="906590826"/>
                    </a:ext>
                  </a:extLst>
                </a:gridCol>
              </a:tblGrid>
              <a:tr h="248588">
                <a:tc>
                  <a:txBody>
                    <a:bodyPr/>
                    <a:lstStyle/>
                    <a:p>
                      <a:pPr marL="0" lvl="1" indent="0" algn="ctr"/>
                      <a:r>
                        <a:rPr lang="en-US" altLang="en-US" sz="1400" b="0">
                          <a:solidFill>
                            <a:srgbClr val="106280"/>
                          </a:solidFill>
                          <a:latin typeface="Poppins Light" panose="00000400000000000000" pitchFamily="2" charset="0"/>
                          <a:cs typeface="Poppins Light" panose="00000400000000000000" pitchFamily="2" charset="0"/>
                        </a:rPr>
                        <a:t>PRESENTER</a:t>
                      </a:r>
                    </a:p>
                  </a:txBody>
                  <a:tcPr marL="0" marR="0" marT="9144" marB="0" anchor="ctr">
                    <a:lnL w="12700" cmpd="sng">
                      <a:noFill/>
                    </a:lnL>
                    <a:lnR w="12700" cmpd="sng">
                      <a:noFill/>
                    </a:lnR>
                    <a:lnT w="9525" cap="flat" cmpd="sng" algn="ctr">
                      <a:solidFill>
                        <a:srgbClr val="296A8B"/>
                      </a:solidFill>
                      <a:prstDash val="solid"/>
                      <a:round/>
                      <a:headEnd type="none" w="med" len="med"/>
                      <a:tailEnd type="none" w="med" len="med"/>
                    </a:lnT>
                    <a:lnB w="9525" cap="flat" cmpd="sng" algn="ctr">
                      <a:solidFill>
                        <a:srgbClr val="296A8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599054"/>
                  </a:ext>
                </a:extLst>
              </a:tr>
            </a:tbl>
          </a:graphicData>
        </a:graphic>
      </p:graphicFrame>
      <p:sp>
        <p:nvSpPr>
          <p:cNvPr id="33" name="SANDI AND WARREN" hidden="1">
            <a:extLst>
              <a:ext uri="{FF2B5EF4-FFF2-40B4-BE49-F238E27FC236}">
                <a16:creationId xmlns:a16="http://schemas.microsoft.com/office/drawing/2014/main" id="{18D318A6-4AAC-7051-C4A8-42A149CBBB23}"/>
              </a:ext>
            </a:extLst>
          </p:cNvPr>
          <p:cNvSpPr/>
          <p:nvPr/>
        </p:nvSpPr>
        <p:spPr>
          <a:xfrm>
            <a:off x="4509020" y="3705074"/>
            <a:ext cx="4314066" cy="943848"/>
          </a:xfrm>
          <a:prstGeom prst="rect">
            <a:avLst/>
          </a:prstGeom>
        </p:spPr>
        <p:txBody>
          <a:bodyPr wrap="none">
            <a:spAutoFit/>
          </a:bodyPr>
          <a:lstStyle/>
          <a:p>
            <a:pPr marL="0" lvl="1" algn="r">
              <a:spcAft>
                <a:spcPts val="600"/>
              </a:spcAft>
            </a:pPr>
            <a:endParaRPr lang="en-US" altLang="en-US" sz="1400">
              <a:solidFill>
                <a:srgbClr val="106280"/>
              </a:solidFill>
              <a:latin typeface="Poppins Medium" panose="00000600000000000000" pitchFamily="2" charset="0"/>
              <a:cs typeface="Poppins Medium" panose="00000600000000000000" pitchFamily="2" charset="0"/>
            </a:endParaRPr>
          </a:p>
          <a:p>
            <a:pPr marL="0" lvl="1" algn="r">
              <a:spcAft>
                <a:spcPts val="1000"/>
              </a:spcAft>
            </a:pPr>
            <a:r>
              <a:rPr lang="en-US" altLang="en-US" sz="1400">
                <a:solidFill>
                  <a:srgbClr val="106280"/>
                </a:solidFill>
                <a:latin typeface="Poppins Medium" panose="00000600000000000000" pitchFamily="2" charset="0"/>
                <a:cs typeface="Poppins Medium" panose="00000600000000000000" pitchFamily="2" charset="0"/>
              </a:rPr>
              <a:t>DAVID KILBORN, CFA® </a:t>
            </a:r>
            <a:r>
              <a:rPr lang="en-US" altLang="en-US" sz="1400">
                <a:solidFill>
                  <a:srgbClr val="106280"/>
                </a:solidFill>
                <a:latin typeface="Poppins Light" panose="00000400000000000000" pitchFamily="2" charset="0"/>
                <a:cs typeface="Poppins Light" panose="00000400000000000000" pitchFamily="2" charset="0"/>
              </a:rPr>
              <a:t>| PRESIDENT &amp; CIO</a:t>
            </a:r>
            <a:endParaRPr lang="en-US" altLang="en-US" sz="1400">
              <a:solidFill>
                <a:srgbClr val="106280"/>
              </a:solidFill>
              <a:latin typeface="Poppins Medium" panose="00000600000000000000" pitchFamily="2" charset="0"/>
              <a:cs typeface="Poppins Medium" panose="00000600000000000000" pitchFamily="2" charset="0"/>
            </a:endParaRPr>
          </a:p>
          <a:p>
            <a:pPr marL="0" lvl="1" algn="r">
              <a:spcAft>
                <a:spcPts val="1000"/>
              </a:spcAft>
            </a:pPr>
            <a:r>
              <a:rPr lang="en-US" altLang="en-US" sz="1400">
                <a:solidFill>
                  <a:srgbClr val="106280"/>
                </a:solidFill>
                <a:latin typeface="Poppins Medium" panose="00000600000000000000" pitchFamily="2" charset="0"/>
                <a:cs typeface="Poppins Medium" panose="00000600000000000000" pitchFamily="2" charset="0"/>
              </a:rPr>
              <a:t>WARREN MILLER </a:t>
            </a:r>
            <a:r>
              <a:rPr lang="en-US" altLang="en-US" sz="1400">
                <a:solidFill>
                  <a:srgbClr val="106280"/>
                </a:solidFill>
                <a:latin typeface="Poppins Light" panose="00000400000000000000" pitchFamily="2" charset="0"/>
                <a:cs typeface="Poppins Light" panose="00000400000000000000" pitchFamily="2" charset="0"/>
              </a:rPr>
              <a:t>| SENIOR RELATIONSHIP MANAGER</a:t>
            </a:r>
          </a:p>
        </p:txBody>
      </p:sp>
      <p:graphicFrame>
        <p:nvGraphicFramePr>
          <p:cNvPr id="34" name="PRESENTERS PLURAL">
            <a:extLst>
              <a:ext uri="{FF2B5EF4-FFF2-40B4-BE49-F238E27FC236}">
                <a16:creationId xmlns:a16="http://schemas.microsoft.com/office/drawing/2014/main" id="{ED002355-1915-5467-9E41-4524504B50DA}"/>
              </a:ext>
            </a:extLst>
          </p:cNvPr>
          <p:cNvGraphicFramePr>
            <a:graphicFrameLocks noGrp="1"/>
          </p:cNvGraphicFramePr>
          <p:nvPr>
            <p:extLst>
              <p:ext uri="{D42A27DB-BD31-4B8C-83A1-F6EECF244321}">
                <p14:modId xmlns:p14="http://schemas.microsoft.com/office/powerpoint/2010/main" val="509088770"/>
              </p:ext>
            </p:extLst>
          </p:nvPr>
        </p:nvGraphicFramePr>
        <p:xfrm>
          <a:off x="7727696" y="3779049"/>
          <a:ext cx="1065813" cy="248588"/>
        </p:xfrm>
        <a:graphic>
          <a:graphicData uri="http://schemas.openxmlformats.org/drawingml/2006/table">
            <a:tbl>
              <a:tblPr firstRow="1" bandRow="1">
                <a:tableStyleId>{5C22544A-7EE6-4342-B048-85BDC9FD1C3A}</a:tableStyleId>
              </a:tblPr>
              <a:tblGrid>
                <a:gridCol w="1065813">
                  <a:extLst>
                    <a:ext uri="{9D8B030D-6E8A-4147-A177-3AD203B41FA5}">
                      <a16:colId xmlns:a16="http://schemas.microsoft.com/office/drawing/2014/main" val="906590826"/>
                    </a:ext>
                  </a:extLst>
                </a:gridCol>
              </a:tblGrid>
              <a:tr h="248588">
                <a:tc>
                  <a:txBody>
                    <a:bodyPr/>
                    <a:lstStyle/>
                    <a:p>
                      <a:pPr marL="0" lvl="1" indent="0" algn="ctr"/>
                      <a:r>
                        <a:rPr lang="en-US" altLang="en-US" sz="1400" b="0">
                          <a:solidFill>
                            <a:srgbClr val="106280"/>
                          </a:solidFill>
                          <a:latin typeface="Poppins Light" panose="00000400000000000000" pitchFamily="2" charset="0"/>
                          <a:cs typeface="Poppins Light" panose="00000400000000000000" pitchFamily="2" charset="0"/>
                        </a:rPr>
                        <a:t>PRESENTERS</a:t>
                      </a:r>
                    </a:p>
                  </a:txBody>
                  <a:tcPr marL="0" marR="0" marT="18288" marB="0" anchor="ctr">
                    <a:lnL w="12700" cmpd="sng">
                      <a:noFill/>
                    </a:lnL>
                    <a:lnR w="12700" cmpd="sng">
                      <a:noFill/>
                    </a:lnR>
                    <a:lnT w="9525" cap="flat" cmpd="sng" algn="ctr">
                      <a:solidFill>
                        <a:srgbClr val="296A8B"/>
                      </a:solidFill>
                      <a:prstDash val="solid"/>
                      <a:round/>
                      <a:headEnd type="none" w="med" len="med"/>
                      <a:tailEnd type="none" w="med" len="med"/>
                    </a:lnT>
                    <a:lnB w="9525" cap="flat" cmpd="sng" algn="ctr">
                      <a:solidFill>
                        <a:srgbClr val="296A8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599054"/>
                  </a:ext>
                </a:extLst>
              </a:tr>
            </a:tbl>
          </a:graphicData>
        </a:graphic>
      </p:graphicFrame>
      <p:grpSp>
        <p:nvGrpSpPr>
          <p:cNvPr id="45" name="Group 44">
            <a:extLst>
              <a:ext uri="{FF2B5EF4-FFF2-40B4-BE49-F238E27FC236}">
                <a16:creationId xmlns:a16="http://schemas.microsoft.com/office/drawing/2014/main" id="{CAEE4049-A38F-53F8-2ED5-04DD5F70FEBB}"/>
              </a:ext>
            </a:extLst>
          </p:cNvPr>
          <p:cNvGrpSpPr/>
          <p:nvPr/>
        </p:nvGrpSpPr>
        <p:grpSpPr>
          <a:xfrm>
            <a:off x="9181516" y="3568193"/>
            <a:ext cx="1830142" cy="783193"/>
            <a:chOff x="9181516" y="3568193"/>
            <a:chExt cx="1830142" cy="783193"/>
          </a:xfrm>
        </p:grpSpPr>
        <p:sp>
          <p:nvSpPr>
            <p:cNvPr id="46" name="Rectangle: Rounded Corners 45">
              <a:extLst>
                <a:ext uri="{FF2B5EF4-FFF2-40B4-BE49-F238E27FC236}">
                  <a16:creationId xmlns:a16="http://schemas.microsoft.com/office/drawing/2014/main" id="{16D24264-AD43-9391-934A-07B54C04751F}"/>
                </a:ext>
              </a:extLst>
            </p:cNvPr>
            <p:cNvSpPr/>
            <p:nvPr/>
          </p:nvSpPr>
          <p:spPr bwMode="auto">
            <a:xfrm>
              <a:off x="9392554" y="3568193"/>
              <a:ext cx="1619104" cy="783193"/>
            </a:xfrm>
            <a:prstGeom prst="roundRect">
              <a:avLst/>
            </a:prstGeom>
            <a:solidFill>
              <a:schemeClr val="accent1">
                <a:lumMod val="7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15888" marR="0" algn="ctr" defTabSz="914400" rtl="0" eaLnBrk="0" fontAlgn="base" latinLnBrk="0" hangingPunct="0">
                <a:lnSpc>
                  <a:spcPct val="100000"/>
                </a:lnSpc>
                <a:spcBef>
                  <a:spcPct val="50000"/>
                </a:spcBef>
                <a:spcAft>
                  <a:spcPct val="0"/>
                </a:spcAft>
                <a:buClrTx/>
                <a:buSzTx/>
                <a:buFontTx/>
                <a:buNone/>
                <a:tabLst/>
              </a:pPr>
              <a:r>
                <a:rPr kumimoji="0" lang="en-US" sz="1000" b="1" i="0" u="none" strike="noStrike" cap="none" normalizeH="0" baseline="0">
                  <a:ln>
                    <a:noFill/>
                  </a:ln>
                  <a:solidFill>
                    <a:schemeClr val="bg1"/>
                  </a:solidFill>
                  <a:effectLst/>
                  <a:latin typeface="Arial" charset="0"/>
                </a:rPr>
                <a:t>PLEASE KEEP </a:t>
              </a:r>
              <a:r>
                <a:rPr lang="en-US" sz="1000" b="1">
                  <a:solidFill>
                    <a:schemeClr val="bg1"/>
                  </a:solidFill>
                  <a:latin typeface="Arial" charset="0"/>
                </a:rPr>
                <a:t>“PRESENTER” / “PRESENTERS”             </a:t>
              </a:r>
              <a:r>
                <a:rPr kumimoji="0" lang="en-US" sz="1000" b="1" i="0" u="none" strike="noStrike" cap="none" normalizeH="0" baseline="0">
                  <a:ln>
                    <a:noFill/>
                  </a:ln>
                  <a:solidFill>
                    <a:schemeClr val="bg1"/>
                  </a:solidFill>
                  <a:effectLst/>
                  <a:latin typeface="Arial" charset="0"/>
                </a:rPr>
                <a:t>AS AN EXCEL CELL</a:t>
              </a:r>
            </a:p>
          </p:txBody>
        </p:sp>
        <p:pic>
          <p:nvPicPr>
            <p:cNvPr id="47" name="Graphic 46" descr="Chevron arrows with solid fill">
              <a:extLst>
                <a:ext uri="{FF2B5EF4-FFF2-40B4-BE49-F238E27FC236}">
                  <a16:creationId xmlns:a16="http://schemas.microsoft.com/office/drawing/2014/main" id="{62BD1A57-DA28-4CC8-0C06-B30604C39F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0800000">
              <a:off x="9181516" y="3835393"/>
              <a:ext cx="294213" cy="294213"/>
            </a:xfrm>
            <a:prstGeom prst="rect">
              <a:avLst/>
            </a:prstGeom>
          </p:spPr>
        </p:pic>
      </p:grpSp>
      <p:sp>
        <p:nvSpPr>
          <p:cNvPr id="48" name="Rectangle 47">
            <a:extLst>
              <a:ext uri="{FF2B5EF4-FFF2-40B4-BE49-F238E27FC236}">
                <a16:creationId xmlns:a16="http://schemas.microsoft.com/office/drawing/2014/main" id="{43E04916-EB2D-BFEB-36F5-70317E29E242}"/>
              </a:ext>
            </a:extLst>
          </p:cNvPr>
          <p:cNvSpPr/>
          <p:nvPr/>
        </p:nvSpPr>
        <p:spPr bwMode="auto">
          <a:xfrm>
            <a:off x="92622" y="95250"/>
            <a:ext cx="8958757" cy="6675120"/>
          </a:xfrm>
          <a:prstGeom prst="rect">
            <a:avLst/>
          </a:prstGeom>
          <a:noFill/>
          <a:ln w="1873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sp>
        <p:nvSpPr>
          <p:cNvPr id="12" name="DATE AND CLIENT NAME">
            <a:extLst>
              <a:ext uri="{FF2B5EF4-FFF2-40B4-BE49-F238E27FC236}">
                <a16:creationId xmlns:a16="http://schemas.microsoft.com/office/drawing/2014/main" id="{10842B79-1776-0EB3-4788-D03BD6A5848A}"/>
              </a:ext>
            </a:extLst>
          </p:cNvPr>
          <p:cNvSpPr txBox="1">
            <a:spLocks noChangeArrowheads="1"/>
          </p:cNvSpPr>
          <p:nvPr/>
        </p:nvSpPr>
        <p:spPr bwMode="auto">
          <a:xfrm>
            <a:off x="744220" y="2625175"/>
            <a:ext cx="8127441"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1440" tIns="45720" rIns="91440" bIns="45720" anchor="ctr">
            <a:spAutoFit/>
          </a:bodyPr>
          <a:lstStyle>
            <a:lvl1pPr eaLnBrk="0" hangingPunct="0">
              <a:defRPr sz="1000" b="1">
                <a:solidFill>
                  <a:schemeClr val="tx1"/>
                </a:solidFill>
                <a:latin typeface="Arial" charset="0"/>
                <a:cs typeface="Arial" charset="0"/>
              </a:defRPr>
            </a:lvl1pPr>
            <a:lvl2pPr marL="742950" indent="-285750" eaLnBrk="0" hangingPunct="0">
              <a:defRPr sz="1000" b="1">
                <a:solidFill>
                  <a:schemeClr val="tx1"/>
                </a:solidFill>
                <a:latin typeface="Arial" charset="0"/>
                <a:cs typeface="Arial" charset="0"/>
              </a:defRPr>
            </a:lvl2pPr>
            <a:lvl3pPr marL="1143000" indent="-228600" eaLnBrk="0" hangingPunct="0">
              <a:defRPr sz="1000" b="1">
                <a:solidFill>
                  <a:schemeClr val="tx1"/>
                </a:solidFill>
                <a:latin typeface="Arial" charset="0"/>
                <a:cs typeface="Arial" charset="0"/>
              </a:defRPr>
            </a:lvl3pPr>
            <a:lvl4pPr marL="1600200" indent="-228600" eaLnBrk="0" hangingPunct="0">
              <a:defRPr sz="1000" b="1">
                <a:solidFill>
                  <a:schemeClr val="tx1"/>
                </a:solidFill>
                <a:latin typeface="Arial" charset="0"/>
                <a:cs typeface="Arial" charset="0"/>
              </a:defRPr>
            </a:lvl4pPr>
            <a:lvl5pPr marL="2057400" indent="-228600" eaLnBrk="0" hangingPunct="0">
              <a:defRPr sz="1000" b="1">
                <a:solidFill>
                  <a:schemeClr val="tx1"/>
                </a:solidFill>
                <a:latin typeface="Arial" charset="0"/>
                <a:cs typeface="Arial" charset="0"/>
              </a:defRPr>
            </a:lvl5pPr>
            <a:lvl6pPr marL="2514600" indent="-228600" eaLnBrk="0" fontAlgn="base" hangingPunct="0">
              <a:spcBef>
                <a:spcPct val="0"/>
              </a:spcBef>
              <a:spcAft>
                <a:spcPct val="0"/>
              </a:spcAft>
              <a:defRPr sz="1000" b="1">
                <a:solidFill>
                  <a:schemeClr val="tx1"/>
                </a:solidFill>
                <a:latin typeface="Arial" charset="0"/>
                <a:cs typeface="Arial" charset="0"/>
              </a:defRPr>
            </a:lvl6pPr>
            <a:lvl7pPr marL="2971800" indent="-228600" eaLnBrk="0" fontAlgn="base" hangingPunct="0">
              <a:spcBef>
                <a:spcPct val="0"/>
              </a:spcBef>
              <a:spcAft>
                <a:spcPct val="0"/>
              </a:spcAft>
              <a:defRPr sz="1000" b="1">
                <a:solidFill>
                  <a:schemeClr val="tx1"/>
                </a:solidFill>
                <a:latin typeface="Arial" charset="0"/>
                <a:cs typeface="Arial" charset="0"/>
              </a:defRPr>
            </a:lvl7pPr>
            <a:lvl8pPr marL="3429000" indent="-228600" eaLnBrk="0" fontAlgn="base" hangingPunct="0">
              <a:spcBef>
                <a:spcPct val="0"/>
              </a:spcBef>
              <a:spcAft>
                <a:spcPct val="0"/>
              </a:spcAft>
              <a:defRPr sz="1000" b="1">
                <a:solidFill>
                  <a:schemeClr val="tx1"/>
                </a:solidFill>
                <a:latin typeface="Arial" charset="0"/>
                <a:cs typeface="Arial" charset="0"/>
              </a:defRPr>
            </a:lvl8pPr>
            <a:lvl9pPr marL="3886200" indent="-228600" eaLnBrk="0" fontAlgn="base" hangingPunct="0">
              <a:spcBef>
                <a:spcPct val="0"/>
              </a:spcBef>
              <a:spcAft>
                <a:spcPct val="0"/>
              </a:spcAft>
              <a:defRPr sz="1000" b="1">
                <a:solidFill>
                  <a:schemeClr val="tx1"/>
                </a:solidFill>
                <a:latin typeface="Arial" charset="0"/>
                <a:cs typeface="Arial" charset="0"/>
              </a:defRPr>
            </a:lvl9pPr>
          </a:lstStyle>
          <a:p>
            <a:pPr marL="0" lvl="1" indent="0" algn="r"/>
            <a:endParaRPr lang="en-US" altLang="en-US" b="0" dirty="0">
              <a:solidFill>
                <a:srgbClr val="106280"/>
              </a:solidFill>
              <a:latin typeface="Poppins SemiBold" panose="00000700000000000000" pitchFamily="2" charset="0"/>
              <a:cs typeface="Poppins SemiBold" panose="00000700000000000000" pitchFamily="2" charset="0"/>
            </a:endParaRPr>
          </a:p>
          <a:p>
            <a:pPr marL="0" lvl="1" indent="0" algn="r"/>
            <a:r>
              <a:rPr lang="en-US" altLang="en-US" sz="1900" b="0" cap="all" spc="-20">
                <a:solidFill>
                  <a:srgbClr val="106280"/>
                </a:solidFill>
                <a:latin typeface="Poppins SemiBold" panose="00000700000000000000" pitchFamily="2" charset="0"/>
                <a:cs typeface="Poppins SemiBold" panose="00000700000000000000" pitchFamily="2" charset="0"/>
              </a:rPr>
              <a:t>CLIENT</a:t>
            </a:r>
            <a:endParaRPr lang="en-US" altLang="en-US" sz="1900" b="0" cap="all" spc="-20" dirty="0">
              <a:solidFill>
                <a:srgbClr val="106280"/>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219734798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E778D370-BEE2-4E7C-AB69-A29E4DA03B63}"/>
              </a:ext>
            </a:extLst>
          </p:cNvPr>
          <p:cNvSpPr txBox="1"/>
          <p:nvPr/>
        </p:nvSpPr>
        <p:spPr>
          <a:xfrm>
            <a:off x="0" y="1427187"/>
            <a:ext cx="7930917" cy="815608"/>
          </a:xfrm>
          <a:prstGeom prst="rect">
            <a:avLst/>
          </a:prstGeom>
          <a:noFill/>
        </p:spPr>
        <p:txBody>
          <a:bodyPr wrap="square" lIns="91440" tIns="45720" rIns="91440" bIns="45720" rtlCol="0" anchor="t">
            <a:spAutoFit/>
          </a:bodyPr>
          <a:lstStyle/>
          <a:p>
            <a:pPr marL="918845" lvl="1" indent="-461645">
              <a:spcAft>
                <a:spcPts val="1800"/>
              </a:spcAft>
              <a:buFont typeface="+mj-lt"/>
              <a:buAutoNum type="arabicPeriod"/>
            </a:pPr>
            <a:r>
              <a:rPr lang="en-US" sz="1600">
                <a:solidFill>
                  <a:srgbClr val="0F2E55"/>
                </a:solidFill>
                <a:latin typeface="Poppins Medium" panose="00000600000000000000" pitchFamily="2" charset="0"/>
                <a:cs typeface="Poppins Medium" panose="00000600000000000000" pitchFamily="2" charset="0"/>
              </a:rPr>
              <a:t>MARKET UPDATE</a:t>
            </a:r>
            <a:endParaRPr lang="en-US" sz="1600">
              <a:solidFill>
                <a:srgbClr val="0F2E55"/>
              </a:solidFill>
              <a:latin typeface="Poppins" panose="00000500000000000000" pitchFamily="2" charset="0"/>
              <a:cs typeface="Poppins" panose="00000500000000000000" pitchFamily="2" charset="0"/>
            </a:endParaRPr>
          </a:p>
          <a:p>
            <a:pPr marL="918845" lvl="1" indent="-461645">
              <a:spcAft>
                <a:spcPts val="1800"/>
              </a:spcAft>
              <a:buFont typeface="+mj-lt"/>
              <a:buAutoNum type="arabicPeriod"/>
            </a:pPr>
            <a:r>
              <a:rPr lang="en-US" sz="1600">
                <a:solidFill>
                  <a:srgbClr val="0F2E55"/>
                </a:solidFill>
                <a:latin typeface="Poppins Medium" panose="00000600000000000000" pitchFamily="2" charset="0"/>
                <a:cs typeface="Poppins Medium" panose="00000600000000000000" pitchFamily="2" charset="0"/>
              </a:rPr>
              <a:t>INVESTMENT REPORT</a:t>
            </a:r>
          </a:p>
        </p:txBody>
      </p:sp>
      <p:sp>
        <p:nvSpPr>
          <p:cNvPr id="48" name="Slide Number Placeholder 1">
            <a:extLst>
              <a:ext uri="{FF2B5EF4-FFF2-40B4-BE49-F238E27FC236}">
                <a16:creationId xmlns:a16="http://schemas.microsoft.com/office/drawing/2014/main" id="{3C349428-DFD3-4DD4-A839-99D2D214DCB0}"/>
              </a:ext>
            </a:extLst>
          </p:cNvPr>
          <p:cNvSpPr>
            <a:spLocks noGrp="1"/>
          </p:cNvSpPr>
          <p:nvPr>
            <p:ph type="sldNum" sz="quarter" idx="4"/>
          </p:nvPr>
        </p:nvSpPr>
        <p:spPr>
          <a:xfrm>
            <a:off x="8599574"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2</a:t>
            </a:fld>
            <a:endParaRPr lang="en-US" sz="882">
              <a:solidFill>
                <a:srgbClr val="000000"/>
              </a:solidFill>
            </a:endParaRPr>
          </a:p>
        </p:txBody>
      </p:sp>
      <p:sp>
        <p:nvSpPr>
          <p:cNvPr id="34" name="Rectangle 33">
            <a:extLst>
              <a:ext uri="{FF2B5EF4-FFF2-40B4-BE49-F238E27FC236}">
                <a16:creationId xmlns:a16="http://schemas.microsoft.com/office/drawing/2014/main" id="{1F9CA5AF-2DE0-479B-820F-EADA27A25C6B}"/>
              </a:ext>
            </a:extLst>
          </p:cNvPr>
          <p:cNvSpPr/>
          <p:nvPr/>
        </p:nvSpPr>
        <p:spPr bwMode="auto">
          <a:xfrm>
            <a:off x="366583" y="825084"/>
            <a:ext cx="8409937" cy="338554"/>
          </a:xfrm>
          <a:prstGeom prst="rect">
            <a:avLst/>
          </a:prstGeom>
          <a:solidFill>
            <a:srgbClr val="106280"/>
          </a:solidFill>
        </p:spPr>
        <p:txBody>
          <a:bodyPr wrap="square" tIns="0" rIns="0" bIns="0" rtlCol="0" anchor="ctr">
            <a:noAutofit/>
          </a:bodyPr>
          <a:lstStyle/>
          <a:p>
            <a:r>
              <a:rPr lang="en-US" sz="1600">
                <a:solidFill>
                  <a:schemeClr val="bg1"/>
                </a:solidFill>
                <a:latin typeface="Poppins Light" panose="00000400000000000000" pitchFamily="2" charset="0"/>
                <a:cs typeface="Poppins Light" panose="00000400000000000000" pitchFamily="2" charset="0"/>
              </a:rPr>
              <a:t>SECTION</a:t>
            </a:r>
          </a:p>
        </p:txBody>
      </p:sp>
      <p:sp>
        <p:nvSpPr>
          <p:cNvPr id="33" name="Line 309">
            <a:extLst>
              <a:ext uri="{FF2B5EF4-FFF2-40B4-BE49-F238E27FC236}">
                <a16:creationId xmlns:a16="http://schemas.microsoft.com/office/drawing/2014/main" id="{10CD0EA1-C065-4105-8610-A3B871661723}"/>
              </a:ext>
            </a:extLst>
          </p:cNvPr>
          <p:cNvSpPr>
            <a:spLocks noChangeShapeType="1"/>
          </p:cNvSpPr>
          <p:nvPr/>
        </p:nvSpPr>
        <p:spPr bwMode="auto">
          <a:xfrm>
            <a:off x="365760" y="6495473"/>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37" name="Title 1">
            <a:extLst>
              <a:ext uri="{FF2B5EF4-FFF2-40B4-BE49-F238E27FC236}">
                <a16:creationId xmlns:a16="http://schemas.microsoft.com/office/drawing/2014/main" id="{2B254614-3DE1-47A2-AB46-CE57DB15C92C}"/>
              </a:ext>
            </a:extLst>
          </p:cNvPr>
          <p:cNvSpPr txBox="1">
            <a:spLocks/>
          </p:cNvSpPr>
          <p:nvPr/>
        </p:nvSpPr>
        <p:spPr>
          <a:xfrm>
            <a:off x="286233" y="469794"/>
            <a:ext cx="7065912"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TABLE OF CONTENTS</a:t>
            </a:r>
          </a:p>
        </p:txBody>
      </p:sp>
      <p:sp>
        <p:nvSpPr>
          <p:cNvPr id="9" name="TextBox 8">
            <a:extLst>
              <a:ext uri="{FF2B5EF4-FFF2-40B4-BE49-F238E27FC236}">
                <a16:creationId xmlns:a16="http://schemas.microsoft.com/office/drawing/2014/main" id="{0043D12A-C475-4666-B9C0-96DEA718F2CB}"/>
              </a:ext>
            </a:extLst>
          </p:cNvPr>
          <p:cNvSpPr txBox="1"/>
          <p:nvPr/>
        </p:nvSpPr>
        <p:spPr>
          <a:xfrm>
            <a:off x="26815" y="3333703"/>
            <a:ext cx="7930917" cy="1292662"/>
          </a:xfrm>
          <a:prstGeom prst="rect">
            <a:avLst/>
          </a:prstGeom>
          <a:noFill/>
        </p:spPr>
        <p:txBody>
          <a:bodyPr wrap="square" rtlCol="0">
            <a:spAutoFit/>
          </a:bodyPr>
          <a:lstStyle/>
          <a:p>
            <a:pPr marL="914400" lvl="1" indent="-457200">
              <a:spcAft>
                <a:spcPts val="1800"/>
              </a:spcAft>
              <a:buFont typeface="+mj-lt"/>
              <a:buAutoNum type="romanUcPeriod"/>
            </a:pPr>
            <a:r>
              <a:rPr lang="en-US" sz="1600" cap="all">
                <a:solidFill>
                  <a:srgbClr val="0F2E55"/>
                </a:solidFill>
                <a:latin typeface="Poppins Medium" panose="00000600000000000000" pitchFamily="2" charset="0"/>
                <a:cs typeface="Poppins Medium" panose="00000600000000000000" pitchFamily="2" charset="0"/>
              </a:rPr>
              <a:t>INVESTMENT GRADE FIXED INCOME SMA</a:t>
            </a:r>
          </a:p>
          <a:p>
            <a:pPr marL="914400" lvl="1" indent="-457200">
              <a:spcAft>
                <a:spcPts val="1800"/>
              </a:spcAft>
              <a:buFont typeface="+mj-lt"/>
              <a:buAutoNum type="romanUcPeriod"/>
            </a:pPr>
            <a:r>
              <a:rPr lang="en-US" sz="1600" cap="all">
                <a:solidFill>
                  <a:srgbClr val="0F2E55"/>
                </a:solidFill>
                <a:latin typeface="Poppins Medium" panose="00000600000000000000" pitchFamily="2" charset="0"/>
                <a:cs typeface="Poppins Medium" panose="00000600000000000000" pitchFamily="2" charset="0"/>
              </a:rPr>
              <a:t>ETF OVERVIEWS</a:t>
            </a:r>
          </a:p>
          <a:p>
            <a:pPr marL="914400" lvl="1" indent="-457200">
              <a:spcAft>
                <a:spcPts val="1800"/>
              </a:spcAft>
              <a:buFont typeface="+mj-lt"/>
              <a:buAutoNum type="romanUcPeriod"/>
            </a:pPr>
            <a:r>
              <a:rPr lang="en-US" sz="1600" cap="all">
                <a:solidFill>
                  <a:srgbClr val="0F2E55"/>
                </a:solidFill>
                <a:latin typeface="Poppins Medium" panose="00000600000000000000" pitchFamily="2" charset="0"/>
                <a:cs typeface="Poppins Medium" panose="00000600000000000000" pitchFamily="2" charset="0"/>
              </a:rPr>
              <a:t>VERMONT INVESTMENT RESTRICTIONS FOR RRG’S</a:t>
            </a:r>
          </a:p>
        </p:txBody>
      </p:sp>
      <p:sp>
        <p:nvSpPr>
          <p:cNvPr id="8" name="Rectangle 7">
            <a:extLst>
              <a:ext uri="{FF2B5EF4-FFF2-40B4-BE49-F238E27FC236}">
                <a16:creationId xmlns:a16="http://schemas.microsoft.com/office/drawing/2014/main" id="{56321AAC-BABA-4C28-B4AC-7E81CB893AB1}"/>
              </a:ext>
            </a:extLst>
          </p:cNvPr>
          <p:cNvSpPr/>
          <p:nvPr/>
        </p:nvSpPr>
        <p:spPr bwMode="auto">
          <a:xfrm>
            <a:off x="365760" y="2721624"/>
            <a:ext cx="8409937" cy="338554"/>
          </a:xfrm>
          <a:prstGeom prst="rect">
            <a:avLst/>
          </a:prstGeom>
          <a:solidFill>
            <a:srgbClr val="106280"/>
          </a:solidFill>
        </p:spPr>
        <p:txBody>
          <a:bodyPr wrap="square" tIns="0" rIns="0" bIns="0" rtlCol="0" anchor="ctr">
            <a:noAutofit/>
          </a:bodyPr>
          <a:lstStyle/>
          <a:p>
            <a:r>
              <a:rPr lang="en-US" sz="1600">
                <a:solidFill>
                  <a:schemeClr val="bg1"/>
                </a:solidFill>
                <a:latin typeface="Poppins Light" panose="00000400000000000000" pitchFamily="2" charset="0"/>
                <a:cs typeface="Poppins Light" panose="00000400000000000000" pitchFamily="2" charset="0"/>
              </a:rPr>
              <a:t>APPENDIX</a:t>
            </a:r>
          </a:p>
        </p:txBody>
      </p:sp>
    </p:spTree>
    <p:extLst>
      <p:ext uri="{BB962C8B-B14F-4D97-AF65-F5344CB8AC3E}">
        <p14:creationId xmlns:p14="http://schemas.microsoft.com/office/powerpoint/2010/main" val="394343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CF76990-2A9F-436D-AA72-8068F7C57FA0}"/>
              </a:ext>
            </a:extLst>
          </p:cNvPr>
          <p:cNvPicPr>
            <a:picLocks noChangeAspect="1"/>
          </p:cNvPicPr>
          <p:nvPr/>
        </p:nvPicPr>
        <p:blipFill rotWithShape="1">
          <a:blip r:embed="rId3">
            <a:duotone>
              <a:prstClr val="black"/>
              <a:srgbClr val="106280">
                <a:tint val="45000"/>
                <a:satMod val="400000"/>
              </a:srgbClr>
            </a:duotone>
          </a:blip>
          <a:srcRect l="2668" t="4540"/>
          <a:stretch/>
        </p:blipFill>
        <p:spPr>
          <a:xfrm>
            <a:off x="209886" y="91498"/>
            <a:ext cx="4291184" cy="6691086"/>
          </a:xfrm>
          <a:prstGeom prst="rect">
            <a:avLst/>
          </a:prstGeom>
        </p:spPr>
      </p:pic>
      <p:sp>
        <p:nvSpPr>
          <p:cNvPr id="10" name="Rectangle: Diagonal Corners Rounded 9">
            <a:extLst>
              <a:ext uri="{FF2B5EF4-FFF2-40B4-BE49-F238E27FC236}">
                <a16:creationId xmlns:a16="http://schemas.microsoft.com/office/drawing/2014/main" id="{833DD204-95B8-4F35-B395-231EE88518F2}"/>
              </a:ext>
            </a:extLst>
          </p:cNvPr>
          <p:cNvSpPr/>
          <p:nvPr/>
        </p:nvSpPr>
        <p:spPr bwMode="auto">
          <a:xfrm rot="3027441">
            <a:off x="-786503" y="3065324"/>
            <a:ext cx="9243844" cy="622708"/>
          </a:xfrm>
          <a:custGeom>
            <a:avLst/>
            <a:gdLst>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218983 w 8664014"/>
              <a:gd name="connsiteY4" fmla="*/ 673455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9356709"/>
              <a:gd name="connsiteY0" fmla="*/ 424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336731 w 9356709"/>
              <a:gd name="connsiteY8" fmla="*/ 424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96512 w 9356709"/>
              <a:gd name="connsiteY6" fmla="*/ 676890 h 677703"/>
              <a:gd name="connsiteX7" fmla="*/ 235528 w 9356709"/>
              <a:gd name="connsiteY7" fmla="*/ 492799 h 677703"/>
              <a:gd name="connsiteX8" fmla="*/ 682481 w 9356709"/>
              <a:gd name="connsiteY8" fmla="*/ 5171 h 677703"/>
              <a:gd name="connsiteX0" fmla="*/ 585969 w 9260197"/>
              <a:gd name="connsiteY0" fmla="*/ 5171 h 677696"/>
              <a:gd name="connsiteX1" fmla="*/ 8567502 w 9260197"/>
              <a:gd name="connsiteY1" fmla="*/ 4241 h 677696"/>
              <a:gd name="connsiteX2" fmla="*/ 9260197 w 9260197"/>
              <a:gd name="connsiteY2" fmla="*/ 0 h 677696"/>
              <a:gd name="connsiteX3" fmla="*/ 8106957 w 9260197"/>
              <a:gd name="connsiteY3" fmla="*/ 338260 h 677696"/>
              <a:gd name="connsiteX4" fmla="*/ 8122471 w 9260197"/>
              <a:gd name="connsiteY4" fmla="*/ 677696 h 677696"/>
              <a:gd name="connsiteX5" fmla="*/ 28706 w 9260197"/>
              <a:gd name="connsiteY5" fmla="*/ 675752 h 677696"/>
              <a:gd name="connsiteX6" fmla="*/ 0 w 9260197"/>
              <a:gd name="connsiteY6" fmla="*/ 676890 h 677696"/>
              <a:gd name="connsiteX7" fmla="*/ 139016 w 9260197"/>
              <a:gd name="connsiteY7" fmla="*/ 492799 h 677696"/>
              <a:gd name="connsiteX8" fmla="*/ 585969 w 9260197"/>
              <a:gd name="connsiteY8" fmla="*/ 5171 h 6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60197" h="677696">
                <a:moveTo>
                  <a:pt x="585969" y="5171"/>
                </a:moveTo>
                <a:lnTo>
                  <a:pt x="8567502" y="4241"/>
                </a:lnTo>
                <a:lnTo>
                  <a:pt x="9260197" y="0"/>
                </a:lnTo>
                <a:lnTo>
                  <a:pt x="8106957" y="338260"/>
                </a:lnTo>
                <a:cubicBezTo>
                  <a:pt x="8106957" y="524231"/>
                  <a:pt x="8308442" y="677696"/>
                  <a:pt x="8122471" y="677696"/>
                </a:cubicBezTo>
                <a:lnTo>
                  <a:pt x="28706" y="675752"/>
                </a:lnTo>
                <a:lnTo>
                  <a:pt x="0" y="676890"/>
                </a:lnTo>
                <a:lnTo>
                  <a:pt x="139016" y="492799"/>
                </a:lnTo>
                <a:cubicBezTo>
                  <a:pt x="264084" y="341711"/>
                  <a:pt x="438101" y="146362"/>
                  <a:pt x="585969" y="5171"/>
                </a:cubicBezTo>
                <a:close/>
              </a:path>
            </a:pathLst>
          </a:cu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pic>
        <p:nvPicPr>
          <p:cNvPr id="14" name="Picture 13">
            <a:extLst>
              <a:ext uri="{FF2B5EF4-FFF2-40B4-BE49-F238E27FC236}">
                <a16:creationId xmlns:a16="http://schemas.microsoft.com/office/drawing/2014/main" id="{84A17D6C-76DD-49F3-BA01-7268C5F086DD}"/>
              </a:ext>
            </a:extLst>
          </p:cNvPr>
          <p:cNvPicPr>
            <a:picLocks noChangeAspect="1"/>
          </p:cNvPicPr>
          <p:nvPr/>
        </p:nvPicPr>
        <p:blipFill rotWithShape="1">
          <a:blip r:embed="rId4"/>
          <a:srcRect l="1" t="17282" r="34407" b="16123"/>
          <a:stretch/>
        </p:blipFill>
        <p:spPr>
          <a:xfrm>
            <a:off x="2641408" y="214869"/>
            <a:ext cx="6289218" cy="6465329"/>
          </a:xfrm>
          <a:prstGeom prst="rect">
            <a:avLst/>
          </a:prstGeom>
        </p:spPr>
      </p:pic>
      <p:sp>
        <p:nvSpPr>
          <p:cNvPr id="31" name="Rectangle 30">
            <a:extLst>
              <a:ext uri="{FF2B5EF4-FFF2-40B4-BE49-F238E27FC236}">
                <a16:creationId xmlns:a16="http://schemas.microsoft.com/office/drawing/2014/main" id="{E6D10223-F6D5-4585-8AA5-0A774C445C2F}"/>
              </a:ext>
            </a:extLst>
          </p:cNvPr>
          <p:cNvSpPr/>
          <p:nvPr/>
        </p:nvSpPr>
        <p:spPr bwMode="auto">
          <a:xfrm>
            <a:off x="2197100" y="647700"/>
            <a:ext cx="6808877" cy="3462905"/>
          </a:xfrm>
          <a:prstGeom prst="rect">
            <a:avLst/>
          </a:prstGeom>
          <a:solidFill>
            <a:srgbClr val="FFFFFF">
              <a:alpha val="63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32" name="Straight Connector 31">
            <a:extLst>
              <a:ext uri="{FF2B5EF4-FFF2-40B4-BE49-F238E27FC236}">
                <a16:creationId xmlns:a16="http://schemas.microsoft.com/office/drawing/2014/main" id="{EA4CEF53-EDA9-45F2-A34A-B54567D6AFE4}"/>
              </a:ext>
            </a:extLst>
          </p:cNvPr>
          <p:cNvCxnSpPr>
            <a:cxnSpLocks/>
          </p:cNvCxnSpPr>
          <p:nvPr/>
        </p:nvCxnSpPr>
        <p:spPr bwMode="auto">
          <a:xfrm>
            <a:off x="5215564" y="2492455"/>
            <a:ext cx="3566160" cy="0"/>
          </a:xfrm>
          <a:prstGeom prst="line">
            <a:avLst/>
          </a:prstGeom>
          <a:noFill/>
          <a:ln w="12700" cap="flat" cmpd="sng" algn="ctr">
            <a:solidFill>
              <a:srgbClr val="157EA3"/>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E36DFEC2-CD75-4B78-ADEB-0BF3C3230DC6}"/>
              </a:ext>
            </a:extLst>
          </p:cNvPr>
          <p:cNvCxnSpPr>
            <a:cxnSpLocks/>
          </p:cNvCxnSpPr>
          <p:nvPr/>
        </p:nvCxnSpPr>
        <p:spPr bwMode="auto">
          <a:xfrm>
            <a:off x="5220108" y="361640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29" name="Rectangle 28">
            <a:extLst>
              <a:ext uri="{FF2B5EF4-FFF2-40B4-BE49-F238E27FC236}">
                <a16:creationId xmlns:a16="http://schemas.microsoft.com/office/drawing/2014/main" id="{82FA936D-D013-48A2-B1D3-8125F0B0DA6A}"/>
              </a:ext>
            </a:extLst>
          </p:cNvPr>
          <p:cNvSpPr/>
          <p:nvPr/>
        </p:nvSpPr>
        <p:spPr bwMode="auto">
          <a:xfrm>
            <a:off x="0" y="6680199"/>
            <a:ext cx="9055100" cy="177801"/>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algn="ctr" defTabSz="806867" eaLnBrk="0" fontAlgn="base" hangingPunct="0">
              <a:spcBef>
                <a:spcPct val="50000"/>
              </a:spcBef>
              <a:spcAft>
                <a:spcPct val="0"/>
              </a:spcAft>
            </a:pPr>
            <a:endParaRPr lang="en-US" sz="882" b="1">
              <a:latin typeface="Arial" charset="0"/>
            </a:endParaRP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14191" y="1073409"/>
            <a:ext cx="4630427" cy="1091667"/>
          </a:xfrm>
          <a:prstGeom prst="rect">
            <a:avLst/>
          </a:prstGeom>
          <a:ln>
            <a:noFill/>
          </a:ln>
        </p:spPr>
      </p:pic>
      <p:sp>
        <p:nvSpPr>
          <p:cNvPr id="23" name="HUGH SANDI PETER DAVID" hidden="1">
            <a:extLst>
              <a:ext uri="{FF2B5EF4-FFF2-40B4-BE49-F238E27FC236}">
                <a16:creationId xmlns:a16="http://schemas.microsoft.com/office/drawing/2014/main" id="{DA88B559-9FFC-4B27-A0C8-BFC81CF67F49}"/>
              </a:ext>
            </a:extLst>
          </p:cNvPr>
          <p:cNvSpPr/>
          <p:nvPr/>
        </p:nvSpPr>
        <p:spPr>
          <a:xfrm>
            <a:off x="4534532" y="3860972"/>
            <a:ext cx="4328429" cy="1184940"/>
          </a:xfrm>
          <a:prstGeom prst="rect">
            <a:avLst/>
          </a:prstGeom>
        </p:spPr>
        <p:txBody>
          <a:bodyPr wrap="none">
            <a:spAutoFit/>
          </a:bodyPr>
          <a:lstStyle/>
          <a:p>
            <a:pPr marL="0" lvl="1"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HUGH BARIT </a:t>
            </a:r>
            <a:r>
              <a:rPr lang="en-US" altLang="en-US" sz="1400">
                <a:solidFill>
                  <a:srgbClr val="106280"/>
                </a:solidFill>
                <a:latin typeface="Poppins Light" panose="00000400000000000000" pitchFamily="2" charset="0"/>
                <a:cs typeface="Poppins Light" panose="00000400000000000000" pitchFamily="2" charset="0"/>
              </a:rPr>
              <a:t>| CHAIRMAN &amp; CEO</a:t>
            </a:r>
          </a:p>
          <a:p>
            <a:pPr marL="0" lvl="1"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DAVID KILBORN, CFA </a:t>
            </a:r>
            <a:r>
              <a:rPr lang="en-US" altLang="en-US" sz="1400">
                <a:solidFill>
                  <a:srgbClr val="106280"/>
                </a:solidFill>
                <a:latin typeface="Poppins Light" panose="00000400000000000000" pitchFamily="2" charset="0"/>
                <a:cs typeface="Poppins Light" panose="00000400000000000000" pitchFamily="2" charset="0"/>
              </a:rPr>
              <a:t>| CHIEF INVESTMENT OFFICER</a:t>
            </a:r>
            <a:endParaRPr lang="en-US" altLang="en-US" sz="1400">
              <a:solidFill>
                <a:srgbClr val="106280"/>
              </a:solidFill>
              <a:latin typeface="Poppins Medium" panose="00000600000000000000" pitchFamily="2" charset="0"/>
              <a:cs typeface="Poppins Medium" panose="00000600000000000000" pitchFamily="2" charset="0"/>
            </a:endParaRPr>
          </a:p>
          <a:p>
            <a:pPr marL="0" lvl="1" indent="0"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SANDI PRESCOTT </a:t>
            </a:r>
            <a:r>
              <a:rPr lang="en-US" altLang="en-US" sz="1400">
                <a:solidFill>
                  <a:srgbClr val="106280"/>
                </a:solidFill>
                <a:latin typeface="Poppins Light" panose="00000400000000000000" pitchFamily="2" charset="0"/>
                <a:cs typeface="Poppins Light" panose="00000400000000000000" pitchFamily="2" charset="0"/>
              </a:rPr>
              <a:t>| HEAD OF CLIENT SERVICE</a:t>
            </a:r>
          </a:p>
          <a:p>
            <a:pPr marL="0" lvl="1" indent="0"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PETER MILNE </a:t>
            </a:r>
            <a:r>
              <a:rPr lang="en-US" altLang="en-US" sz="1400">
                <a:solidFill>
                  <a:srgbClr val="106280"/>
                </a:solidFill>
                <a:latin typeface="Poppins Light" panose="00000400000000000000" pitchFamily="2" charset="0"/>
                <a:cs typeface="Poppins Light" panose="00000400000000000000" pitchFamily="2" charset="0"/>
              </a:rPr>
              <a:t>| HEAD OF ASSET ALLOCATION</a:t>
            </a:r>
          </a:p>
        </p:txBody>
      </p:sp>
      <p:sp>
        <p:nvSpPr>
          <p:cNvPr id="17" name="HUGH SANDI PETER DAVID" hidden="1">
            <a:extLst>
              <a:ext uri="{FF2B5EF4-FFF2-40B4-BE49-F238E27FC236}">
                <a16:creationId xmlns:a16="http://schemas.microsoft.com/office/drawing/2014/main" id="{D47FA4D9-5A5D-475F-9949-EF41E1B85A92}"/>
              </a:ext>
            </a:extLst>
          </p:cNvPr>
          <p:cNvSpPr/>
          <p:nvPr/>
        </p:nvSpPr>
        <p:spPr>
          <a:xfrm>
            <a:off x="4545354" y="3858120"/>
            <a:ext cx="4328493" cy="1184940"/>
          </a:xfrm>
          <a:prstGeom prst="rect">
            <a:avLst/>
          </a:prstGeom>
        </p:spPr>
        <p:txBody>
          <a:bodyPr wrap="none">
            <a:spAutoFit/>
          </a:bodyPr>
          <a:lstStyle/>
          <a:p>
            <a:pPr marL="0" lvl="1"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HUGH BARIT </a:t>
            </a:r>
            <a:r>
              <a:rPr lang="en-US" altLang="en-US" sz="1400">
                <a:solidFill>
                  <a:srgbClr val="106280"/>
                </a:solidFill>
                <a:latin typeface="Poppins Light" panose="00000400000000000000" pitchFamily="2" charset="0"/>
                <a:cs typeface="Poppins Light" panose="00000400000000000000" pitchFamily="2" charset="0"/>
              </a:rPr>
              <a:t>| CHAIRMAN &amp; CEO</a:t>
            </a:r>
          </a:p>
          <a:p>
            <a:pPr marL="0" lvl="1"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DAVID KILBORN, CFA </a:t>
            </a:r>
            <a:r>
              <a:rPr lang="en-US" altLang="en-US" sz="1400">
                <a:solidFill>
                  <a:srgbClr val="106280"/>
                </a:solidFill>
                <a:latin typeface="Poppins Light" panose="00000400000000000000" pitchFamily="2" charset="0"/>
                <a:cs typeface="Poppins Light" panose="00000400000000000000" pitchFamily="2" charset="0"/>
              </a:rPr>
              <a:t>| CHIEF INVESTMENT OFFICER</a:t>
            </a:r>
            <a:endParaRPr lang="en-US" altLang="en-US" sz="1400">
              <a:solidFill>
                <a:srgbClr val="106280"/>
              </a:solidFill>
              <a:latin typeface="Poppins Medium" panose="00000600000000000000" pitchFamily="2" charset="0"/>
              <a:cs typeface="Poppins Medium" panose="00000600000000000000" pitchFamily="2" charset="0"/>
            </a:endParaRPr>
          </a:p>
          <a:p>
            <a:pPr marL="0" lvl="1" indent="0" algn="r">
              <a:spcAft>
                <a:spcPts val="600"/>
              </a:spcAft>
            </a:pPr>
            <a:r>
              <a:rPr lang="en-US" altLang="en-US" sz="1400">
                <a:solidFill>
                  <a:srgbClr val="106280"/>
                </a:solidFill>
                <a:latin typeface="Poppins Medium" panose="00000600000000000000" pitchFamily="2" charset="0"/>
                <a:cs typeface="Poppins Medium" panose="00000600000000000000" pitchFamily="2" charset="0"/>
              </a:rPr>
              <a:t>PETER MILNE </a:t>
            </a:r>
            <a:r>
              <a:rPr lang="en-US" altLang="en-US" sz="1400">
                <a:solidFill>
                  <a:srgbClr val="106280"/>
                </a:solidFill>
                <a:latin typeface="Poppins Light" panose="00000400000000000000" pitchFamily="2" charset="0"/>
                <a:cs typeface="Poppins Light" panose="00000400000000000000" pitchFamily="2" charset="0"/>
              </a:rPr>
              <a:t>| HEAD OF ASSET ALLOCATION</a:t>
            </a:r>
          </a:p>
          <a:p>
            <a:pPr marL="0" lvl="1" indent="0" algn="r">
              <a:spcAft>
                <a:spcPts val="600"/>
              </a:spcAft>
            </a:pPr>
            <a:endParaRPr lang="en-US" altLang="en-US" sz="1400">
              <a:solidFill>
                <a:srgbClr val="106280"/>
              </a:solidFill>
              <a:latin typeface="Poppins Light" panose="00000400000000000000" pitchFamily="2" charset="0"/>
              <a:cs typeface="Poppins Light" panose="00000400000000000000" pitchFamily="2" charset="0"/>
            </a:endParaRPr>
          </a:p>
        </p:txBody>
      </p:sp>
      <p:sp>
        <p:nvSpPr>
          <p:cNvPr id="22" name="Rectangle 21">
            <a:extLst>
              <a:ext uri="{FF2B5EF4-FFF2-40B4-BE49-F238E27FC236}">
                <a16:creationId xmlns:a16="http://schemas.microsoft.com/office/drawing/2014/main" id="{3F2213C9-A0FE-494E-AF69-D977CFDDD7C9}"/>
              </a:ext>
            </a:extLst>
          </p:cNvPr>
          <p:cNvSpPr/>
          <p:nvPr/>
        </p:nvSpPr>
        <p:spPr bwMode="auto">
          <a:xfrm>
            <a:off x="90020" y="7157"/>
            <a:ext cx="8875059" cy="217213"/>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algn="ctr" defTabSz="806867" eaLnBrk="0" fontAlgn="base" hangingPunct="0">
              <a:spcBef>
                <a:spcPct val="50000"/>
              </a:spcBef>
              <a:spcAft>
                <a:spcPct val="0"/>
              </a:spcAft>
            </a:pPr>
            <a:endParaRPr lang="en-US" sz="882" b="1">
              <a:latin typeface="Arial" charset="0"/>
            </a:endParaRPr>
          </a:p>
        </p:txBody>
      </p:sp>
      <p:sp>
        <p:nvSpPr>
          <p:cNvPr id="30" name="Sandi Warren" hidden="1">
            <a:extLst>
              <a:ext uri="{FF2B5EF4-FFF2-40B4-BE49-F238E27FC236}">
                <a16:creationId xmlns:a16="http://schemas.microsoft.com/office/drawing/2014/main" id="{65443961-D79C-480D-9CCD-5330A824A3CA}"/>
              </a:ext>
            </a:extLst>
          </p:cNvPr>
          <p:cNvSpPr/>
          <p:nvPr/>
        </p:nvSpPr>
        <p:spPr>
          <a:xfrm>
            <a:off x="5077066" y="3887719"/>
            <a:ext cx="3797835" cy="677108"/>
          </a:xfrm>
          <a:prstGeom prst="rect">
            <a:avLst/>
          </a:prstGeom>
        </p:spPr>
        <p:txBody>
          <a:bodyPr wrap="none">
            <a:spAutoFit/>
          </a:bodyPr>
          <a:lstStyle/>
          <a:p>
            <a:pPr marL="0" lvl="1" algn="r">
              <a:spcAft>
                <a:spcPts val="1200"/>
              </a:spcAft>
            </a:pPr>
            <a:r>
              <a:rPr lang="en-US" altLang="en-US" sz="1400">
                <a:solidFill>
                  <a:srgbClr val="106280"/>
                </a:solidFill>
                <a:latin typeface="Poppins Medium" panose="00000600000000000000" pitchFamily="2" charset="0"/>
                <a:cs typeface="Poppins Medium" panose="00000600000000000000" pitchFamily="2" charset="0"/>
              </a:rPr>
              <a:t>HUGH BARIT </a:t>
            </a:r>
            <a:r>
              <a:rPr lang="en-US" altLang="en-US" sz="1400">
                <a:solidFill>
                  <a:srgbClr val="106280"/>
                </a:solidFill>
                <a:latin typeface="Poppins Light" panose="00000400000000000000" pitchFamily="2" charset="0"/>
                <a:cs typeface="Poppins Light" panose="00000400000000000000" pitchFamily="2" charset="0"/>
              </a:rPr>
              <a:t>| CHAIRMAN &amp; CEO</a:t>
            </a:r>
          </a:p>
          <a:p>
            <a:pPr marL="0" lvl="1" indent="0" algn="r">
              <a:spcAft>
                <a:spcPts val="1200"/>
              </a:spcAft>
            </a:pPr>
            <a:r>
              <a:rPr lang="en-US" altLang="en-US" sz="1400">
                <a:solidFill>
                  <a:srgbClr val="106280"/>
                </a:solidFill>
                <a:latin typeface="Poppins Medium" panose="00000600000000000000" pitchFamily="2" charset="0"/>
                <a:cs typeface="Poppins Medium" panose="00000600000000000000" pitchFamily="2" charset="0"/>
              </a:rPr>
              <a:t>PETER MILNE </a:t>
            </a:r>
            <a:r>
              <a:rPr lang="en-US" altLang="en-US" sz="1400">
                <a:solidFill>
                  <a:srgbClr val="106280"/>
                </a:solidFill>
                <a:latin typeface="Poppins Light" panose="00000400000000000000" pitchFamily="2" charset="0"/>
                <a:cs typeface="Poppins Light" panose="00000400000000000000" pitchFamily="2" charset="0"/>
              </a:rPr>
              <a:t>| HEAD OF ASSET ALLOCATION</a:t>
            </a:r>
          </a:p>
        </p:txBody>
      </p:sp>
      <p:sp>
        <p:nvSpPr>
          <p:cNvPr id="2" name="Text Box 8">
            <a:extLst>
              <a:ext uri="{FF2B5EF4-FFF2-40B4-BE49-F238E27FC236}">
                <a16:creationId xmlns:a16="http://schemas.microsoft.com/office/drawing/2014/main" id="{ECB477DB-9491-6044-993A-206890A4F3C7}"/>
              </a:ext>
            </a:extLst>
          </p:cNvPr>
          <p:cNvSpPr txBox="1">
            <a:spLocks noChangeArrowheads="1"/>
          </p:cNvSpPr>
          <p:nvPr/>
        </p:nvSpPr>
        <p:spPr bwMode="auto">
          <a:xfrm>
            <a:off x="658692" y="2621546"/>
            <a:ext cx="8127441" cy="90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nchor="ctr">
            <a:spAutoFit/>
          </a:bodyPr>
          <a:lstStyle>
            <a:lvl1pPr eaLnBrk="0" hangingPunct="0">
              <a:defRPr sz="1000" b="1">
                <a:solidFill>
                  <a:schemeClr val="tx1"/>
                </a:solidFill>
                <a:latin typeface="Arial" charset="0"/>
                <a:cs typeface="Arial" charset="0"/>
              </a:defRPr>
            </a:lvl1pPr>
            <a:lvl2pPr marL="742950" indent="-285750" eaLnBrk="0" hangingPunct="0">
              <a:defRPr sz="1000" b="1">
                <a:solidFill>
                  <a:schemeClr val="tx1"/>
                </a:solidFill>
                <a:latin typeface="Arial" charset="0"/>
                <a:cs typeface="Arial" charset="0"/>
              </a:defRPr>
            </a:lvl2pPr>
            <a:lvl3pPr marL="1143000" indent="-228600" eaLnBrk="0" hangingPunct="0">
              <a:defRPr sz="1000" b="1">
                <a:solidFill>
                  <a:schemeClr val="tx1"/>
                </a:solidFill>
                <a:latin typeface="Arial" charset="0"/>
                <a:cs typeface="Arial" charset="0"/>
              </a:defRPr>
            </a:lvl3pPr>
            <a:lvl4pPr marL="1600200" indent="-228600" eaLnBrk="0" hangingPunct="0">
              <a:defRPr sz="1000" b="1">
                <a:solidFill>
                  <a:schemeClr val="tx1"/>
                </a:solidFill>
                <a:latin typeface="Arial" charset="0"/>
                <a:cs typeface="Arial" charset="0"/>
              </a:defRPr>
            </a:lvl4pPr>
            <a:lvl5pPr marL="2057400" indent="-228600" eaLnBrk="0" hangingPunct="0">
              <a:defRPr sz="1000" b="1">
                <a:solidFill>
                  <a:schemeClr val="tx1"/>
                </a:solidFill>
                <a:latin typeface="Arial" charset="0"/>
                <a:cs typeface="Arial" charset="0"/>
              </a:defRPr>
            </a:lvl5pPr>
            <a:lvl6pPr marL="2514600" indent="-228600" eaLnBrk="0" fontAlgn="base" hangingPunct="0">
              <a:spcBef>
                <a:spcPct val="0"/>
              </a:spcBef>
              <a:spcAft>
                <a:spcPct val="0"/>
              </a:spcAft>
              <a:defRPr sz="1000" b="1">
                <a:solidFill>
                  <a:schemeClr val="tx1"/>
                </a:solidFill>
                <a:latin typeface="Arial" charset="0"/>
                <a:cs typeface="Arial" charset="0"/>
              </a:defRPr>
            </a:lvl6pPr>
            <a:lvl7pPr marL="2971800" indent="-228600" eaLnBrk="0" fontAlgn="base" hangingPunct="0">
              <a:spcBef>
                <a:spcPct val="0"/>
              </a:spcBef>
              <a:spcAft>
                <a:spcPct val="0"/>
              </a:spcAft>
              <a:defRPr sz="1000" b="1">
                <a:solidFill>
                  <a:schemeClr val="tx1"/>
                </a:solidFill>
                <a:latin typeface="Arial" charset="0"/>
                <a:cs typeface="Arial" charset="0"/>
              </a:defRPr>
            </a:lvl7pPr>
            <a:lvl8pPr marL="3429000" indent="-228600" eaLnBrk="0" fontAlgn="base" hangingPunct="0">
              <a:spcBef>
                <a:spcPct val="0"/>
              </a:spcBef>
              <a:spcAft>
                <a:spcPct val="0"/>
              </a:spcAft>
              <a:defRPr sz="1000" b="1">
                <a:solidFill>
                  <a:schemeClr val="tx1"/>
                </a:solidFill>
                <a:latin typeface="Arial" charset="0"/>
                <a:cs typeface="Arial" charset="0"/>
              </a:defRPr>
            </a:lvl8pPr>
            <a:lvl9pPr marL="3886200" indent="-228600" eaLnBrk="0" fontAlgn="base" hangingPunct="0">
              <a:spcBef>
                <a:spcPct val="0"/>
              </a:spcBef>
              <a:spcAft>
                <a:spcPct val="0"/>
              </a:spcAft>
              <a:defRPr sz="1000" b="1">
                <a:solidFill>
                  <a:schemeClr val="tx1"/>
                </a:solidFill>
                <a:latin typeface="Arial" charset="0"/>
                <a:cs typeface="Arial" charset="0"/>
              </a:defRPr>
            </a:lvl9pPr>
          </a:lstStyle>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SECTION 1</a:t>
            </a:r>
          </a:p>
          <a:p>
            <a:pPr marL="0" marR="0" lvl="1" indent="0" algn="r" defTabSz="457200" rtl="0" eaLnBrk="0" fontAlgn="auto" latinLnBrk="0" hangingPunct="0">
              <a:lnSpc>
                <a:spcPct val="100000"/>
              </a:lnSpc>
              <a:spcBef>
                <a:spcPts val="0"/>
              </a:spcBef>
              <a:spcAft>
                <a:spcPts val="0"/>
              </a:spcAft>
              <a:buClrTx/>
              <a:buSzTx/>
              <a:buFontTx/>
              <a:buNone/>
              <a:tabLst/>
              <a:defRPr/>
            </a:pPr>
            <a:endParaRPr kumimoji="0" lang="en-US" altLang="en-US" sz="1050" b="0" i="0" u="none" strike="noStrike" kern="1200" cap="none"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endParaRPr>
          </a:p>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2200" b="0" i="0" u="none" strike="noStrike" kern="1200" cap="none"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rPr>
              <a:t>MARKET UPDATE</a:t>
            </a:r>
          </a:p>
        </p:txBody>
      </p:sp>
    </p:spTree>
    <p:extLst>
      <p:ext uri="{BB962C8B-B14F-4D97-AF65-F5344CB8AC3E}">
        <p14:creationId xmlns:p14="http://schemas.microsoft.com/office/powerpoint/2010/main" val="403834260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6D1B7-8C44-3B48-5AA2-8703DE15576F}"/>
            </a:ext>
          </a:extLst>
        </p:cNvPr>
        <p:cNvGrpSpPr/>
        <p:nvPr/>
      </p:nvGrpSpPr>
      <p:grpSpPr>
        <a:xfrm>
          <a:off x="0" y="0"/>
          <a:ext cx="0" cy="0"/>
          <a:chOff x="0" y="0"/>
          <a:chExt cx="0" cy="0"/>
        </a:xfrm>
      </p:grpSpPr>
      <p:sp>
        <p:nvSpPr>
          <p:cNvPr id="31" name="Line 309">
            <a:extLst>
              <a:ext uri="{FF2B5EF4-FFF2-40B4-BE49-F238E27FC236}">
                <a16:creationId xmlns:a16="http://schemas.microsoft.com/office/drawing/2014/main" id="{F508ACDF-6C9E-245E-062E-928533D15A67}"/>
              </a:ext>
            </a:extLst>
          </p:cNvPr>
          <p:cNvSpPr>
            <a:spLocks noChangeShapeType="1"/>
          </p:cNvSpPr>
          <p:nvPr/>
        </p:nvSpPr>
        <p:spPr bwMode="auto">
          <a:xfrm>
            <a:off x="365760" y="6430852"/>
            <a:ext cx="8412480" cy="0"/>
          </a:xfrm>
          <a:prstGeom prst="line">
            <a:avLst/>
          </a:prstGeom>
          <a:noFill/>
          <a:ln w="9525">
            <a:solidFill>
              <a:srgbClr val="194160"/>
            </a:solidFill>
            <a:round/>
            <a:headEnd/>
            <a:tailEnd/>
          </a:ln>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srgbClr val="000000"/>
              </a:solidFill>
              <a:effectLst/>
              <a:uLnTx/>
              <a:uFillTx/>
              <a:latin typeface="Times New Roman"/>
              <a:ea typeface="+mn-ea"/>
              <a:cs typeface="+mn-cs"/>
            </a:endParaRPr>
          </a:p>
        </p:txBody>
      </p:sp>
      <p:sp>
        <p:nvSpPr>
          <p:cNvPr id="10" name="Slide Number Placeholder 1">
            <a:extLst>
              <a:ext uri="{FF2B5EF4-FFF2-40B4-BE49-F238E27FC236}">
                <a16:creationId xmlns:a16="http://schemas.microsoft.com/office/drawing/2014/main" id="{4F5AF295-0427-EC16-FBC1-B33CF2F6472A}"/>
              </a:ext>
            </a:extLst>
          </p:cNvPr>
          <p:cNvSpPr>
            <a:spLocks noGrp="1"/>
          </p:cNvSpPr>
          <p:nvPr>
            <p:ph type="sldNum" sz="quarter" idx="4"/>
          </p:nvPr>
        </p:nvSpPr>
        <p:spPr>
          <a:xfrm>
            <a:off x="8552919" y="6530228"/>
            <a:ext cx="514350" cy="275945"/>
          </a:xfrm>
          <a:prstGeom prst="rect">
            <a:avLst/>
          </a:prstGeom>
        </p:spPr>
        <p:txBody>
          <a:body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smtClean="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4</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2" name="Title 1">
            <a:extLst>
              <a:ext uri="{FF2B5EF4-FFF2-40B4-BE49-F238E27FC236}">
                <a16:creationId xmlns:a16="http://schemas.microsoft.com/office/drawing/2014/main" id="{D05C2730-5C93-E28C-2ADD-A18E00D181A3}"/>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marL="0" marR="0" lvl="0" indent="0" algn="l" defTabSz="1042203" rtl="0" eaLnBrk="0" fontAlgn="base" latinLnBrk="0" hangingPunct="0">
              <a:lnSpc>
                <a:spcPct val="98000"/>
              </a:lnSpc>
              <a:spcBef>
                <a:spcPct val="0"/>
              </a:spcBef>
              <a:spcAft>
                <a:spcPct val="0"/>
              </a:spcAft>
              <a:buClrTx/>
              <a:buSzTx/>
              <a:buFontTx/>
              <a:buNone/>
              <a:tabLst/>
              <a:defRPr/>
            </a:pPr>
            <a:r>
              <a:rPr kumimoji="0" lang="en-US" sz="180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rPr>
              <a:t>MARKET UPDATE</a:t>
            </a:r>
            <a:endParaRPr kumimoji="0" lang="en-US" sz="105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endParaRPr>
          </a:p>
        </p:txBody>
      </p:sp>
      <p:pic>
        <p:nvPicPr>
          <p:cNvPr id="46" name="Graphic 45" descr="Play with solid fill" hidden="1">
            <a:extLst>
              <a:ext uri="{FF2B5EF4-FFF2-40B4-BE49-F238E27FC236}">
                <a16:creationId xmlns:a16="http://schemas.microsoft.com/office/drawing/2014/main" id="{4257D91F-B7A8-4005-A5C4-E12B296A2E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54947" y="701670"/>
            <a:ext cx="914400" cy="914400"/>
          </a:xfrm>
          <a:prstGeom prst="rect">
            <a:avLst/>
          </a:prstGeom>
        </p:spPr>
      </p:pic>
      <p:sp>
        <p:nvSpPr>
          <p:cNvPr id="8" name="Rectangle 7">
            <a:extLst>
              <a:ext uri="{FF2B5EF4-FFF2-40B4-BE49-F238E27FC236}">
                <a16:creationId xmlns:a16="http://schemas.microsoft.com/office/drawing/2014/main" id="{7F57BAE4-3029-7296-43AC-CB592F2B2318}"/>
              </a:ext>
            </a:extLst>
          </p:cNvPr>
          <p:cNvSpPr/>
          <p:nvPr/>
        </p:nvSpPr>
        <p:spPr bwMode="auto">
          <a:xfrm>
            <a:off x="366583" y="825084"/>
            <a:ext cx="8412480" cy="338554"/>
          </a:xfrm>
          <a:prstGeom prst="rect">
            <a:avLst/>
          </a:prstGeom>
          <a:solidFill>
            <a:srgbClr val="106280"/>
          </a:solidFill>
        </p:spPr>
        <p:txBody>
          <a:bodyPr wrap="square"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rPr>
              <a:t>2025 HAS BEEN A WILD Ride, ONE QUARTER TO GO | </a:t>
            </a:r>
            <a:r>
              <a:rPr kumimoji="0" lang="en-US" sz="1600" b="0" i="0" u="none" strike="noStrike" kern="1200" cap="all" spc="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Summary</a:t>
            </a:r>
          </a:p>
        </p:txBody>
      </p:sp>
      <p:grpSp>
        <p:nvGrpSpPr>
          <p:cNvPr id="9" name="Group 8">
            <a:extLst>
              <a:ext uri="{FF2B5EF4-FFF2-40B4-BE49-F238E27FC236}">
                <a16:creationId xmlns:a16="http://schemas.microsoft.com/office/drawing/2014/main" id="{90ADCF32-AC77-2E88-71F2-58F01B7754E7}"/>
              </a:ext>
            </a:extLst>
          </p:cNvPr>
          <p:cNvGrpSpPr/>
          <p:nvPr/>
        </p:nvGrpSpPr>
        <p:grpSpPr>
          <a:xfrm>
            <a:off x="365760" y="1367549"/>
            <a:ext cx="8412480" cy="1051560"/>
            <a:chOff x="1661813" y="1118541"/>
            <a:chExt cx="8824370" cy="1210749"/>
          </a:xfrm>
        </p:grpSpPr>
        <p:sp>
          <p:nvSpPr>
            <p:cNvPr id="11" name="Rectangle 10">
              <a:extLst>
                <a:ext uri="{FF2B5EF4-FFF2-40B4-BE49-F238E27FC236}">
                  <a16:creationId xmlns:a16="http://schemas.microsoft.com/office/drawing/2014/main" id="{A9A0D105-D45F-C511-D1C7-48F43610671E}"/>
                </a:ext>
              </a:extLst>
            </p:cNvPr>
            <p:cNvSpPr/>
            <p:nvPr/>
          </p:nvSpPr>
          <p:spPr>
            <a:xfrm>
              <a:off x="2641725" y="1146392"/>
              <a:ext cx="7844458" cy="1115996"/>
            </a:xfrm>
            <a:prstGeom prst="rect">
              <a:avLst/>
            </a:prstGeom>
            <a:solidFill>
              <a:srgbClr val="47BDA0">
                <a:alpha val="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2" name="Google Shape;125;p17">
              <a:extLst>
                <a:ext uri="{FF2B5EF4-FFF2-40B4-BE49-F238E27FC236}">
                  <a16:creationId xmlns:a16="http://schemas.microsoft.com/office/drawing/2014/main" id="{228E0D9C-050E-F029-38FE-BC69687E30C0}"/>
                </a:ext>
              </a:extLst>
            </p:cNvPr>
            <p:cNvSpPr txBox="1">
              <a:spLocks/>
            </p:cNvSpPr>
            <p:nvPr/>
          </p:nvSpPr>
          <p:spPr>
            <a:xfrm>
              <a:off x="2969215" y="1414048"/>
              <a:ext cx="7372431" cy="669910"/>
            </a:xfrm>
            <a:prstGeom prst="rect">
              <a:avLst/>
            </a:prstGeom>
          </p:spPr>
          <p:txBody>
            <a:bodyPr spcFirstLastPara="1" wrap="square" lIns="60950" tIns="60950" rIns="60950" bIns="60950" anchor="ctr"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6204" marR="0" lvl="0" indent="0" algn="l" defTabSz="609630" rtl="0" eaLnBrk="1" fontAlgn="auto" latinLnBrk="0" hangingPunct="1">
                <a:lnSpc>
                  <a:spcPct val="100000"/>
                </a:lnSpc>
                <a:spcBef>
                  <a:spcPts val="0"/>
                </a:spcBef>
                <a:spcAft>
                  <a:spcPts val="0"/>
                </a:spcAft>
                <a:buClrTx/>
                <a:buSzPts val="1800"/>
                <a:buFont typeface="Arial" pitchFamily="34" charset="0"/>
                <a:buNone/>
                <a:tabLst/>
                <a:defRPr/>
              </a:pPr>
              <a:r>
                <a:rPr kumimoji="0" lang="en-US" sz="1800" b="0" i="0" u="none" strike="noStrike" kern="1200" cap="none" spc="0" normalizeH="0" baseline="0" noProof="0">
                  <a:ln>
                    <a:noFill/>
                  </a:ln>
                  <a:solidFill>
                    <a:srgbClr val="255D5C"/>
                  </a:solidFill>
                  <a:effectLst/>
                  <a:uLnTx/>
                  <a:uFillTx/>
                  <a:latin typeface="Poppins Medium" panose="00000600000000000000" pitchFamily="2" charset="0"/>
                  <a:ea typeface="Inter Bold" panose="020B0604020202020204" charset="0"/>
                  <a:cs typeface="Poppins Medium" panose="00000600000000000000" pitchFamily="2" charset="0"/>
                  <a:sym typeface="Lato"/>
                </a:rPr>
                <a:t>ELEVATED VOLATILITY DURING THE FIRST HALF OF 2025,           BUT GOOD MARKET OUTCOMES SINCE</a:t>
              </a:r>
            </a:p>
          </p:txBody>
        </p:sp>
        <p:sp>
          <p:nvSpPr>
            <p:cNvPr id="13" name="Google Shape;1213;p48">
              <a:extLst>
                <a:ext uri="{FF2B5EF4-FFF2-40B4-BE49-F238E27FC236}">
                  <a16:creationId xmlns:a16="http://schemas.microsoft.com/office/drawing/2014/main" id="{6DEA4D72-3B43-6CA0-3984-E693D8B37F13}"/>
                </a:ext>
              </a:extLst>
            </p:cNvPr>
            <p:cNvSpPr txBox="1"/>
            <p:nvPr/>
          </p:nvSpPr>
          <p:spPr>
            <a:xfrm>
              <a:off x="1661813" y="1118541"/>
              <a:ext cx="1210749" cy="1210749"/>
            </a:xfrm>
            <a:prstGeom prst="rect">
              <a:avLst/>
            </a:prstGeom>
            <a:gradFill rotWithShape="1">
              <a:gsLst>
                <a:gs pos="100000">
                  <a:srgbClr val="27565B"/>
                </a:gs>
                <a:gs pos="0">
                  <a:srgbClr val="47BDA0">
                    <a:alpha val="100000"/>
                  </a:srgbClr>
                </a:gs>
              </a:gsLst>
              <a:path path="circle">
                <a:fillToRect r="100000" b="100000"/>
              </a:path>
              <a:tileRect l="-100000" t="-100000"/>
            </a:gradFill>
            <a:ln>
              <a:solidFill>
                <a:schemeClr val="tx1">
                  <a:lumMod val="75000"/>
                  <a:lumOff val="25000"/>
                </a:schemeClr>
              </a:solidFill>
            </a:ln>
          </p:spPr>
          <p:txBody>
            <a:bodyPr anchor="ctr"/>
            <a:lstStyle>
              <a:defPPr>
                <a:defRPr lang="en-US"/>
              </a:defPPr>
              <a:lvl1pPr algn="ctr">
                <a:defRPr sz="2000">
                  <a:solidFill>
                    <a:schemeClr val="bg1"/>
                  </a:solidFill>
                  <a:latin typeface="Inter Bold" panose="020B0604020202020204" charset="0"/>
                  <a:ea typeface="Inter Bold" panose="020B060402020202020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Poppins SemiBold" panose="00000700000000000000" pitchFamily="2" charset="0"/>
                  <a:cs typeface="Poppins SemiBold" panose="00000700000000000000" pitchFamily="2" charset="0"/>
                  <a:sym typeface="Calibri"/>
                </a:rPr>
                <a:t>I.</a:t>
              </a:r>
            </a:p>
          </p:txBody>
        </p:sp>
      </p:grpSp>
      <p:grpSp>
        <p:nvGrpSpPr>
          <p:cNvPr id="14" name="Group 13">
            <a:extLst>
              <a:ext uri="{FF2B5EF4-FFF2-40B4-BE49-F238E27FC236}">
                <a16:creationId xmlns:a16="http://schemas.microsoft.com/office/drawing/2014/main" id="{3D1BFA44-64CC-AD4F-5BB4-DFF2410C4638}"/>
              </a:ext>
            </a:extLst>
          </p:cNvPr>
          <p:cNvGrpSpPr/>
          <p:nvPr/>
        </p:nvGrpSpPr>
        <p:grpSpPr>
          <a:xfrm>
            <a:off x="365759" y="2651574"/>
            <a:ext cx="8412480" cy="1051560"/>
            <a:chOff x="2052234" y="2345961"/>
            <a:chExt cx="8582043" cy="1210749"/>
          </a:xfrm>
        </p:grpSpPr>
        <p:sp>
          <p:nvSpPr>
            <p:cNvPr id="15" name="Rectangle 14">
              <a:extLst>
                <a:ext uri="{FF2B5EF4-FFF2-40B4-BE49-F238E27FC236}">
                  <a16:creationId xmlns:a16="http://schemas.microsoft.com/office/drawing/2014/main" id="{23E517AE-1708-C5EB-8E10-9F090D333E89}"/>
                </a:ext>
              </a:extLst>
            </p:cNvPr>
            <p:cNvSpPr/>
            <p:nvPr/>
          </p:nvSpPr>
          <p:spPr>
            <a:xfrm>
              <a:off x="2641724" y="2369240"/>
              <a:ext cx="7992553" cy="1115996"/>
            </a:xfrm>
            <a:prstGeom prst="rect">
              <a:avLst/>
            </a:prstGeom>
            <a:solidFill>
              <a:srgbClr val="3A8E8E">
                <a:alpha val="1686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6" name="Google Shape;1212;p48">
              <a:extLst>
                <a:ext uri="{FF2B5EF4-FFF2-40B4-BE49-F238E27FC236}">
                  <a16:creationId xmlns:a16="http://schemas.microsoft.com/office/drawing/2014/main" id="{0C9A3DF8-E7FD-5BB9-2E4D-34F34D4A1ABC}"/>
                </a:ext>
              </a:extLst>
            </p:cNvPr>
            <p:cNvSpPr txBox="1"/>
            <p:nvPr/>
          </p:nvSpPr>
          <p:spPr>
            <a:xfrm>
              <a:off x="2052234" y="2345961"/>
              <a:ext cx="1210749" cy="1210749"/>
            </a:xfrm>
            <a:prstGeom prst="rect">
              <a:avLst/>
            </a:prstGeom>
            <a:gradFill rotWithShape="1">
              <a:gsLst>
                <a:gs pos="6000">
                  <a:srgbClr val="47BDA0"/>
                </a:gs>
                <a:gs pos="28000">
                  <a:srgbClr val="388D7F"/>
                </a:gs>
                <a:gs pos="100000">
                  <a:srgbClr val="2B6763"/>
                </a:gs>
                <a:gs pos="54000">
                  <a:srgbClr val="2F716D"/>
                </a:gs>
              </a:gsLst>
              <a:path path="circle">
                <a:fillToRect r="100000" b="100000"/>
              </a:path>
              <a:tileRect l="-100000" t="-100000"/>
            </a:gradFill>
          </p:spPr>
          <p:txBody>
            <a:bodyPr anchor="ctr"/>
            <a:lstStyle>
              <a:defPPr>
                <a:defRPr lang="en-US"/>
              </a:defPPr>
              <a:lvl1pPr algn="ctr">
                <a:defRPr sz="2000">
                  <a:solidFill>
                    <a:schemeClr val="bg1"/>
                  </a:solidFill>
                  <a:latin typeface="Inter Bold" panose="020B0604020202020204" charset="0"/>
                  <a:ea typeface="Inter Bold" panose="020B0604020202020204" charset="0"/>
                </a:defRPr>
              </a:lvl1pPr>
            </a:lstStyle>
            <a:p>
              <a:pPr marL="288925" marR="0" lvl="0" indent="-173038"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Poppins SemiBold" panose="00000700000000000000" pitchFamily="2" charset="0"/>
                  <a:cs typeface="Poppins SemiBold" panose="00000700000000000000" pitchFamily="2" charset="0"/>
                  <a:sym typeface="Calibri"/>
                </a:rPr>
                <a:t>II.</a:t>
              </a:r>
            </a:p>
          </p:txBody>
        </p:sp>
        <p:sp>
          <p:nvSpPr>
            <p:cNvPr id="17" name="Google Shape;125;p17">
              <a:extLst>
                <a:ext uri="{FF2B5EF4-FFF2-40B4-BE49-F238E27FC236}">
                  <a16:creationId xmlns:a16="http://schemas.microsoft.com/office/drawing/2014/main" id="{B1BA3D79-1BFB-1566-31BB-4260DD1859CD}"/>
                </a:ext>
              </a:extLst>
            </p:cNvPr>
            <p:cNvSpPr txBox="1">
              <a:spLocks/>
            </p:cNvSpPr>
            <p:nvPr/>
          </p:nvSpPr>
          <p:spPr>
            <a:xfrm>
              <a:off x="3323734" y="2503341"/>
              <a:ext cx="7039521" cy="847790"/>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6"/>
                </a:buClr>
                <a:buSzPts val="18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76204" marR="0" lvl="0" indent="0" algn="l" defTabSz="609630" rtl="0" eaLnBrk="1" fontAlgn="auto" latinLnBrk="0" hangingPunct="1">
                <a:lnSpc>
                  <a:spcPct val="100000"/>
                </a:lnSpc>
                <a:spcBef>
                  <a:spcPts val="0"/>
                </a:spcBef>
                <a:spcAft>
                  <a:spcPts val="0"/>
                </a:spcAft>
                <a:buClrTx/>
                <a:buSzPts val="1800"/>
                <a:buFont typeface="Lato"/>
                <a:buNone/>
                <a:tabLst/>
                <a:defRPr/>
              </a:pPr>
              <a:r>
                <a:rPr kumimoji="0" lang="en-US" sz="1800" b="0" i="0" u="none" strike="noStrike" kern="1200" cap="none" spc="0" normalizeH="0" baseline="0" noProof="0">
                  <a:ln>
                    <a:noFill/>
                  </a:ln>
                  <a:solidFill>
                    <a:srgbClr val="255D5C"/>
                  </a:solidFill>
                  <a:effectLst/>
                  <a:uLnTx/>
                  <a:uFillTx/>
                  <a:latin typeface="Poppins Medium" panose="00000600000000000000" pitchFamily="2" charset="0"/>
                  <a:ea typeface="Inter Bold" panose="020B0604020202020204" charset="0"/>
                  <a:cs typeface="Poppins Medium" panose="00000600000000000000" pitchFamily="2" charset="0"/>
                  <a:sym typeface="Lato"/>
                </a:rPr>
                <a:t>JOB CREATION HAS SLOWED BUT FIRINGS ARE HISTORICALLY LOW AS CONSUMERS CONTINUE TO SPEND</a:t>
              </a:r>
            </a:p>
          </p:txBody>
        </p:sp>
      </p:grpSp>
      <p:grpSp>
        <p:nvGrpSpPr>
          <p:cNvPr id="18" name="Group 17">
            <a:extLst>
              <a:ext uri="{FF2B5EF4-FFF2-40B4-BE49-F238E27FC236}">
                <a16:creationId xmlns:a16="http://schemas.microsoft.com/office/drawing/2014/main" id="{3D22BBA1-CB3C-1BCA-1CC0-A12726667A28}"/>
              </a:ext>
            </a:extLst>
          </p:cNvPr>
          <p:cNvGrpSpPr/>
          <p:nvPr/>
        </p:nvGrpSpPr>
        <p:grpSpPr>
          <a:xfrm>
            <a:off x="365758" y="3931875"/>
            <a:ext cx="8412479" cy="1051560"/>
            <a:chOff x="1737359" y="3559887"/>
            <a:chExt cx="8776741" cy="1210749"/>
          </a:xfrm>
        </p:grpSpPr>
        <p:sp>
          <p:nvSpPr>
            <p:cNvPr id="19" name="Rectangle 18">
              <a:extLst>
                <a:ext uri="{FF2B5EF4-FFF2-40B4-BE49-F238E27FC236}">
                  <a16:creationId xmlns:a16="http://schemas.microsoft.com/office/drawing/2014/main" id="{E97CDEE1-EE87-83E9-492D-92A02CE57993}"/>
                </a:ext>
              </a:extLst>
            </p:cNvPr>
            <p:cNvSpPr/>
            <p:nvPr/>
          </p:nvSpPr>
          <p:spPr>
            <a:xfrm>
              <a:off x="2805923" y="3581927"/>
              <a:ext cx="7708177" cy="1115996"/>
            </a:xfrm>
            <a:prstGeom prst="rect">
              <a:avLst/>
            </a:prstGeom>
            <a:solidFill>
              <a:srgbClr val="2D6F6D">
                <a:alpha val="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0" name="Google Shape;1215;p48">
              <a:extLst>
                <a:ext uri="{FF2B5EF4-FFF2-40B4-BE49-F238E27FC236}">
                  <a16:creationId xmlns:a16="http://schemas.microsoft.com/office/drawing/2014/main" id="{90B0CD2E-12DA-8237-845E-4AD65012EAD5}"/>
                </a:ext>
              </a:extLst>
            </p:cNvPr>
            <p:cNvSpPr txBox="1"/>
            <p:nvPr/>
          </p:nvSpPr>
          <p:spPr>
            <a:xfrm>
              <a:off x="1737359" y="3559887"/>
              <a:ext cx="1210749" cy="1210749"/>
            </a:xfrm>
            <a:prstGeom prst="rect">
              <a:avLst/>
            </a:prstGeom>
            <a:gradFill rotWithShape="1">
              <a:gsLst>
                <a:gs pos="19000">
                  <a:srgbClr val="388D7F"/>
                </a:gs>
                <a:gs pos="0">
                  <a:srgbClr val="41A992"/>
                </a:gs>
                <a:gs pos="55000">
                  <a:srgbClr val="2F716D"/>
                </a:gs>
                <a:gs pos="82000">
                  <a:srgbClr val="1F3D4A">
                    <a:alpha val="100000"/>
                  </a:srgbClr>
                </a:gs>
              </a:gsLst>
              <a:path path="circle">
                <a:fillToRect r="100000" b="100000"/>
              </a:path>
              <a:tileRect l="-100000" t="-100000"/>
            </a:gradFill>
          </p:spPr>
          <p:txBody>
            <a:bodyPr anchor="ctr"/>
            <a:lstStyle>
              <a:defPPr>
                <a:defRPr lang="en-US"/>
              </a:defPPr>
              <a:lvl1pPr algn="ctr">
                <a:defRPr sz="2000">
                  <a:solidFill>
                    <a:schemeClr val="bg1"/>
                  </a:solidFill>
                  <a:latin typeface="Inter Bold" panose="020B0604020202020204" charset="0"/>
                  <a:ea typeface="Inter Bold" panose="020B0604020202020204" charset="0"/>
                </a:defRPr>
              </a:lvl1pPr>
            </a:lstStyle>
            <a:p>
              <a:pPr marL="0" marR="0" lvl="0" indent="5715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Poppins SemiBold" panose="00000700000000000000" pitchFamily="2" charset="0"/>
                  <a:cs typeface="Poppins SemiBold" panose="00000700000000000000" pitchFamily="2" charset="0"/>
                  <a:sym typeface="Calibri"/>
                </a:rPr>
                <a:t>III.</a:t>
              </a:r>
            </a:p>
          </p:txBody>
        </p:sp>
        <p:sp>
          <p:nvSpPr>
            <p:cNvPr id="21" name="Google Shape;125;p17">
              <a:extLst>
                <a:ext uri="{FF2B5EF4-FFF2-40B4-BE49-F238E27FC236}">
                  <a16:creationId xmlns:a16="http://schemas.microsoft.com/office/drawing/2014/main" id="{7A023AF1-E755-C01E-5A8C-498CAC3E5CB6}"/>
                </a:ext>
              </a:extLst>
            </p:cNvPr>
            <p:cNvSpPr txBox="1">
              <a:spLocks/>
            </p:cNvSpPr>
            <p:nvPr/>
          </p:nvSpPr>
          <p:spPr>
            <a:xfrm>
              <a:off x="3037706" y="3710145"/>
              <a:ext cx="7476394" cy="847790"/>
            </a:xfrm>
            <a:prstGeom prst="rect">
              <a:avLst/>
            </a:prstGeom>
            <a:no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6"/>
                </a:buClr>
                <a:buSzPts val="18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76204" marR="0" lvl="0" indent="0" algn="l" defTabSz="457200" rtl="0" eaLnBrk="1" fontAlgn="auto" latinLnBrk="0" hangingPunct="1">
                <a:lnSpc>
                  <a:spcPct val="100000"/>
                </a:lnSpc>
                <a:spcBef>
                  <a:spcPts val="0"/>
                </a:spcBef>
                <a:spcAft>
                  <a:spcPts val="0"/>
                </a:spcAft>
                <a:buClrTx/>
                <a:buSzPts val="1800"/>
                <a:buFont typeface="Lato"/>
                <a:buNone/>
                <a:tabLst/>
                <a:defRPr/>
              </a:pPr>
              <a:r>
                <a:rPr kumimoji="0" lang="en-US" sz="1800" b="0" i="0" u="none" strike="noStrike" kern="0" cap="none" spc="0" normalizeH="0" baseline="0" noProof="0">
                  <a:ln>
                    <a:noFill/>
                  </a:ln>
                  <a:solidFill>
                    <a:srgbClr val="1D4744"/>
                  </a:solidFill>
                  <a:effectLst/>
                  <a:uLnTx/>
                  <a:uFillTx/>
                  <a:latin typeface="Poppins Medium" panose="00000600000000000000" pitchFamily="2" charset="0"/>
                  <a:ea typeface="Lato"/>
                  <a:cs typeface="Poppins Medium" panose="00000600000000000000" pitchFamily="2" charset="0"/>
                  <a:sym typeface="Lato"/>
                </a:rPr>
                <a:t>FED EASED 25 BPS IN SEPT &amp; OCT, DEC IS A POSSIBILITY </a:t>
              </a:r>
            </a:p>
          </p:txBody>
        </p:sp>
      </p:grpSp>
      <p:grpSp>
        <p:nvGrpSpPr>
          <p:cNvPr id="22" name="Group 21">
            <a:extLst>
              <a:ext uri="{FF2B5EF4-FFF2-40B4-BE49-F238E27FC236}">
                <a16:creationId xmlns:a16="http://schemas.microsoft.com/office/drawing/2014/main" id="{F3DAF98D-0CF6-ED04-3315-3ABD4AE00A69}"/>
              </a:ext>
            </a:extLst>
          </p:cNvPr>
          <p:cNvGrpSpPr/>
          <p:nvPr/>
        </p:nvGrpSpPr>
        <p:grpSpPr>
          <a:xfrm>
            <a:off x="365759" y="5190080"/>
            <a:ext cx="8412478" cy="1051560"/>
            <a:chOff x="2052234" y="4771540"/>
            <a:chExt cx="8582044" cy="1210749"/>
          </a:xfrm>
        </p:grpSpPr>
        <p:sp>
          <p:nvSpPr>
            <p:cNvPr id="23" name="Rectangle 22">
              <a:extLst>
                <a:ext uri="{FF2B5EF4-FFF2-40B4-BE49-F238E27FC236}">
                  <a16:creationId xmlns:a16="http://schemas.microsoft.com/office/drawing/2014/main" id="{BAC4154A-D389-0208-E6A9-3A89CD34120D}"/>
                </a:ext>
              </a:extLst>
            </p:cNvPr>
            <p:cNvSpPr/>
            <p:nvPr/>
          </p:nvSpPr>
          <p:spPr>
            <a:xfrm>
              <a:off x="3120798" y="4806014"/>
              <a:ext cx="7513480" cy="1115996"/>
            </a:xfrm>
            <a:prstGeom prst="rect">
              <a:avLst/>
            </a:prstGeom>
            <a:solidFill>
              <a:srgbClr val="37957C">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4" name="Google Shape;1214;p48">
              <a:extLst>
                <a:ext uri="{FF2B5EF4-FFF2-40B4-BE49-F238E27FC236}">
                  <a16:creationId xmlns:a16="http://schemas.microsoft.com/office/drawing/2014/main" id="{160231C7-DEB4-44E8-3259-7D08DAF46583}"/>
                </a:ext>
              </a:extLst>
            </p:cNvPr>
            <p:cNvSpPr txBox="1"/>
            <p:nvPr/>
          </p:nvSpPr>
          <p:spPr>
            <a:xfrm>
              <a:off x="2052234" y="4771540"/>
              <a:ext cx="1210749" cy="1210749"/>
            </a:xfrm>
            <a:prstGeom prst="rect">
              <a:avLst/>
            </a:prstGeom>
            <a:gradFill rotWithShape="1">
              <a:gsLst>
                <a:gs pos="0">
                  <a:srgbClr val="2F716D"/>
                </a:gs>
                <a:gs pos="82000">
                  <a:srgbClr val="1F3D4A">
                    <a:alpha val="100000"/>
                  </a:srgbClr>
                </a:gs>
              </a:gsLst>
              <a:path path="circle">
                <a:fillToRect r="100000" b="100000"/>
              </a:path>
              <a:tileRect l="-100000" t="-100000"/>
            </a:gradFill>
          </p:spPr>
          <p:txBody>
            <a:bodyPr anchor="ctr"/>
            <a:lstStyle>
              <a:defPPr>
                <a:defRPr lang="en-US"/>
              </a:defPPr>
              <a:lvl1pPr algn="ctr">
                <a:defRPr sz="2000">
                  <a:solidFill>
                    <a:schemeClr val="bg1"/>
                  </a:solidFill>
                  <a:latin typeface="Inter Bold" panose="020B0604020202020204" charset="0"/>
                  <a:ea typeface="Inter Bold" panose="020B0604020202020204" charset="0"/>
                </a:defRPr>
              </a:lvl1pPr>
            </a:lstStyle>
            <a:p>
              <a:pPr marL="0" marR="0" lvl="0" indent="5715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Poppins SemiBold" panose="00000700000000000000" pitchFamily="2" charset="0"/>
                  <a:cs typeface="Poppins SemiBold" panose="00000700000000000000" pitchFamily="2" charset="0"/>
                  <a:sym typeface="Calibri"/>
                </a:rPr>
                <a:t>IV.</a:t>
              </a:r>
            </a:p>
          </p:txBody>
        </p:sp>
        <p:sp>
          <p:nvSpPr>
            <p:cNvPr id="25" name="Google Shape;125;p17">
              <a:extLst>
                <a:ext uri="{FF2B5EF4-FFF2-40B4-BE49-F238E27FC236}">
                  <a16:creationId xmlns:a16="http://schemas.microsoft.com/office/drawing/2014/main" id="{ECEC81E2-7F03-BADA-0A4E-E6413EB4D5F2}"/>
                </a:ext>
              </a:extLst>
            </p:cNvPr>
            <p:cNvSpPr txBox="1">
              <a:spLocks/>
            </p:cNvSpPr>
            <p:nvPr/>
          </p:nvSpPr>
          <p:spPr>
            <a:xfrm>
              <a:off x="3323735" y="4894177"/>
              <a:ext cx="6814972" cy="847790"/>
            </a:xfrm>
            <a:prstGeom prst="rect">
              <a:avLst/>
            </a:prstGeom>
            <a:no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6"/>
                </a:buClr>
                <a:buSzPts val="18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76204" marR="0" lvl="0" indent="0" algn="l" defTabSz="457200" rtl="0" eaLnBrk="1" fontAlgn="auto" latinLnBrk="0" hangingPunct="1">
                <a:lnSpc>
                  <a:spcPct val="100000"/>
                </a:lnSpc>
                <a:spcBef>
                  <a:spcPts val="0"/>
                </a:spcBef>
                <a:spcAft>
                  <a:spcPts val="0"/>
                </a:spcAft>
                <a:buClrTx/>
                <a:buSzPts val="1800"/>
                <a:buFont typeface="Lato"/>
                <a:buNone/>
                <a:tabLst/>
                <a:defRPr/>
              </a:pPr>
              <a:r>
                <a:rPr kumimoji="0" lang="en-US" sz="1800" b="0" i="0" u="none" strike="noStrike" kern="1200" cap="none" spc="0" normalizeH="0" baseline="0" noProof="0">
                  <a:ln>
                    <a:noFill/>
                  </a:ln>
                  <a:solidFill>
                    <a:srgbClr val="255D5C"/>
                  </a:solidFill>
                  <a:effectLst/>
                  <a:uLnTx/>
                  <a:uFillTx/>
                  <a:latin typeface="Poppins Medium" panose="00000600000000000000" pitchFamily="2" charset="0"/>
                  <a:ea typeface="Inter Bold" panose="020B0604020202020204" charset="0"/>
                  <a:cs typeface="Poppins Medium" panose="00000600000000000000" pitchFamily="2" charset="0"/>
                  <a:sym typeface="Lato"/>
                </a:rPr>
                <a:t>U.S. GOVERNMENT SHUTDOWN AS OF OCT 1</a:t>
              </a:r>
              <a:r>
                <a:rPr kumimoji="0" lang="en-US" sz="1800" b="0" i="0" u="none" strike="noStrike" kern="1200" cap="none" spc="0" normalizeH="0" baseline="30000" noProof="0">
                  <a:ln>
                    <a:noFill/>
                  </a:ln>
                  <a:solidFill>
                    <a:srgbClr val="255D5C"/>
                  </a:solidFill>
                  <a:effectLst/>
                  <a:uLnTx/>
                  <a:uFillTx/>
                  <a:latin typeface="Poppins Medium" panose="00000600000000000000" pitchFamily="2" charset="0"/>
                  <a:ea typeface="Inter Bold" panose="020B0604020202020204" charset="0"/>
                  <a:cs typeface="Poppins Medium" panose="00000600000000000000" pitchFamily="2" charset="0"/>
                  <a:sym typeface="Lato"/>
                </a:rPr>
                <a:t>ST</a:t>
              </a:r>
              <a:r>
                <a:rPr kumimoji="0" lang="en-US" sz="1800" b="0" i="0" u="none" strike="noStrike" kern="1200" cap="none" spc="0" normalizeH="0" baseline="0" noProof="0">
                  <a:ln>
                    <a:noFill/>
                  </a:ln>
                  <a:solidFill>
                    <a:srgbClr val="255D5C"/>
                  </a:solidFill>
                  <a:effectLst/>
                  <a:uLnTx/>
                  <a:uFillTx/>
                  <a:latin typeface="Poppins Medium" panose="00000600000000000000" pitchFamily="2" charset="0"/>
                  <a:ea typeface="Inter Bold" panose="020B0604020202020204" charset="0"/>
                  <a:cs typeface="Poppins Medium" panose="00000600000000000000" pitchFamily="2" charset="0"/>
                  <a:sym typeface="Lato"/>
                </a:rPr>
                <a:t> </a:t>
              </a:r>
              <a:endParaRPr kumimoji="0" lang="en-US" sz="1800" b="0" i="0" u="none" strike="noStrike" kern="0" cap="none" spc="0" normalizeH="0" baseline="0" noProof="0">
                <a:ln>
                  <a:noFill/>
                </a:ln>
                <a:solidFill>
                  <a:srgbClr val="1D4744"/>
                </a:solidFill>
                <a:effectLst/>
                <a:uLnTx/>
                <a:uFillTx/>
                <a:latin typeface="Poppins Medium" panose="00000600000000000000" pitchFamily="2" charset="0"/>
                <a:ea typeface="Lato"/>
                <a:cs typeface="Poppins Medium" panose="00000600000000000000" pitchFamily="2" charset="0"/>
                <a:sym typeface="Lato"/>
              </a:endParaRPr>
            </a:p>
          </p:txBody>
        </p:sp>
      </p:grpSp>
    </p:spTree>
    <p:extLst>
      <p:ext uri="{BB962C8B-B14F-4D97-AF65-F5344CB8AC3E}">
        <p14:creationId xmlns:p14="http://schemas.microsoft.com/office/powerpoint/2010/main" val="2282516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 name="Chart 63">
            <a:extLst>
              <a:ext uri="{FF2B5EF4-FFF2-40B4-BE49-F238E27FC236}">
                <a16:creationId xmlns:a16="http://schemas.microsoft.com/office/drawing/2014/main" id="{A190BEA2-6A0E-62A0-3CB2-DFF7ABD9D228}"/>
              </a:ext>
            </a:extLst>
          </p:cNvPr>
          <p:cNvGraphicFramePr>
            <a:graphicFrameLocks/>
          </p:cNvGraphicFramePr>
          <p:nvPr/>
        </p:nvGraphicFramePr>
        <p:xfrm>
          <a:off x="4607705" y="1588778"/>
          <a:ext cx="4160520" cy="21214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8" name="Chart 27">
            <a:extLst>
              <a:ext uri="{FF2B5EF4-FFF2-40B4-BE49-F238E27FC236}">
                <a16:creationId xmlns:a16="http://schemas.microsoft.com/office/drawing/2014/main" id="{B08DD1C7-11FD-4B9E-90B4-11374A317514}"/>
              </a:ext>
            </a:extLst>
          </p:cNvPr>
          <p:cNvGraphicFramePr>
            <a:graphicFrameLocks/>
          </p:cNvGraphicFramePr>
          <p:nvPr/>
        </p:nvGraphicFramePr>
        <p:xfrm>
          <a:off x="368377" y="1588778"/>
          <a:ext cx="4160520" cy="2121408"/>
        </p:xfrm>
        <a:graphic>
          <a:graphicData uri="http://schemas.openxmlformats.org/drawingml/2006/chart">
            <c:chart xmlns:c="http://schemas.openxmlformats.org/drawingml/2006/chart" xmlns:r="http://schemas.openxmlformats.org/officeDocument/2006/relationships" r:id="rId4"/>
          </a:graphicData>
        </a:graphic>
      </p:graphicFrame>
      <p:cxnSp>
        <p:nvCxnSpPr>
          <p:cNvPr id="2" name="Straight Connector 1">
            <a:extLst>
              <a:ext uri="{FF2B5EF4-FFF2-40B4-BE49-F238E27FC236}">
                <a16:creationId xmlns:a16="http://schemas.microsoft.com/office/drawing/2014/main" id="{1890DC7E-C7B5-40AF-8411-B6AC3D269C03}"/>
              </a:ext>
            </a:extLst>
          </p:cNvPr>
          <p:cNvCxnSpPr/>
          <p:nvPr/>
        </p:nvCxnSpPr>
        <p:spPr bwMode="auto">
          <a:xfrm>
            <a:off x="0" y="0"/>
            <a:ext cx="914400" cy="0"/>
          </a:xfrm>
          <a:prstGeom prst="line">
            <a:avLst/>
          </a:prstGeom>
          <a:no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15" name="Title 1">
            <a:extLst>
              <a:ext uri="{FF2B5EF4-FFF2-40B4-BE49-F238E27FC236}">
                <a16:creationId xmlns:a16="http://schemas.microsoft.com/office/drawing/2014/main" id="{0AAB4721-2E06-4606-AB7D-8E626C011077}"/>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marL="0" marR="0" lvl="0" indent="0" algn="l" defTabSz="1042203" rtl="0" eaLnBrk="0" fontAlgn="base" latinLnBrk="0" hangingPunct="0">
              <a:lnSpc>
                <a:spcPct val="98000"/>
              </a:lnSpc>
              <a:spcBef>
                <a:spcPct val="0"/>
              </a:spcBef>
              <a:spcAft>
                <a:spcPct val="0"/>
              </a:spcAft>
              <a:buClrTx/>
              <a:buSzTx/>
              <a:buFontTx/>
              <a:buNone/>
              <a:tabLst/>
              <a:defRPr/>
            </a:pPr>
            <a:r>
              <a:rPr kumimoji="0" lang="en-US" sz="180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rPr>
              <a:t>MARKET UPDATE</a:t>
            </a:r>
            <a:endParaRPr kumimoji="0" lang="en-US" sz="105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endParaRPr>
          </a:p>
        </p:txBody>
      </p:sp>
      <p:sp>
        <p:nvSpPr>
          <p:cNvPr id="49" name="Line 309">
            <a:extLst>
              <a:ext uri="{FF2B5EF4-FFF2-40B4-BE49-F238E27FC236}">
                <a16:creationId xmlns:a16="http://schemas.microsoft.com/office/drawing/2014/main" id="{7DA4DA23-EB0E-4493-8CF8-633FEC6C66E4}"/>
              </a:ext>
            </a:extLst>
          </p:cNvPr>
          <p:cNvSpPr>
            <a:spLocks noChangeShapeType="1"/>
          </p:cNvSpPr>
          <p:nvPr/>
        </p:nvSpPr>
        <p:spPr bwMode="auto">
          <a:xfrm>
            <a:off x="365760" y="6447963"/>
            <a:ext cx="8412480" cy="0"/>
          </a:xfrm>
          <a:prstGeom prst="line">
            <a:avLst/>
          </a:prstGeom>
          <a:noFill/>
          <a:ln w="9525">
            <a:solidFill>
              <a:srgbClr val="194160"/>
            </a:solidFill>
            <a:round/>
            <a:headEnd/>
            <a:tailEnd/>
          </a:ln>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srgbClr val="000000"/>
              </a:solidFill>
              <a:effectLst/>
              <a:uLnTx/>
              <a:uFillTx/>
              <a:latin typeface="Times New Roman"/>
              <a:ea typeface="+mn-ea"/>
              <a:cs typeface="+mn-cs"/>
            </a:endParaRPr>
          </a:p>
        </p:txBody>
      </p:sp>
      <p:sp>
        <p:nvSpPr>
          <p:cNvPr id="23" name="Rectangle 22">
            <a:extLst>
              <a:ext uri="{FF2B5EF4-FFF2-40B4-BE49-F238E27FC236}">
                <a16:creationId xmlns:a16="http://schemas.microsoft.com/office/drawing/2014/main" id="{B77D8493-2F52-428F-B742-7DB27A1EDF42}"/>
              </a:ext>
            </a:extLst>
          </p:cNvPr>
          <p:cNvSpPr/>
          <p:nvPr/>
        </p:nvSpPr>
        <p:spPr bwMode="auto">
          <a:xfrm>
            <a:off x="4608928" y="4171411"/>
            <a:ext cx="4160520" cy="2231136"/>
          </a:xfrm>
          <a:prstGeom prst="rect">
            <a:avLst/>
          </a:prstGeom>
          <a:solidFill>
            <a:srgbClr val="2B3E59"/>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287338" marR="0" lvl="1" indent="-227013" algn="l" defTabSz="1180824" rtl="0" eaLnBrk="0" fontAlgn="auto" latinLnBrk="0" hangingPunct="0">
              <a:lnSpc>
                <a:spcPct val="100000"/>
              </a:lnSpc>
              <a:spcBef>
                <a:spcPts val="0"/>
              </a:spcBef>
              <a:spcAft>
                <a:spcPts val="600"/>
              </a:spcAft>
              <a:buClr>
                <a:srgbClr val="FFFFFF"/>
              </a:buClr>
              <a:buSzPct val="100000"/>
              <a:buFont typeface="Arial" panose="020B0604020202020204" pitchFamily="34" charset="0"/>
              <a:buChar char="•"/>
              <a:tabLst>
                <a:tab pos="400050" algn="l"/>
                <a:tab pos="1200150" algn="l"/>
                <a:tab pos="2228850" algn="l"/>
                <a:tab pos="2519363" algn="l"/>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37" name="Rectangle 36">
            <a:extLst>
              <a:ext uri="{FF2B5EF4-FFF2-40B4-BE49-F238E27FC236}">
                <a16:creationId xmlns:a16="http://schemas.microsoft.com/office/drawing/2014/main" id="{C6EE7346-504A-4C10-8334-1A405D11727F}"/>
              </a:ext>
            </a:extLst>
          </p:cNvPr>
          <p:cNvSpPr/>
          <p:nvPr/>
        </p:nvSpPr>
        <p:spPr bwMode="auto">
          <a:xfrm>
            <a:off x="363122" y="825084"/>
            <a:ext cx="8412480" cy="338554"/>
          </a:xfrm>
          <a:prstGeom prst="rect">
            <a:avLst/>
          </a:prstGeom>
          <a:solidFill>
            <a:srgbClr val="106280"/>
          </a:solidFill>
        </p:spPr>
        <p:txBody>
          <a:bodyPr wrap="square"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rPr>
              <a:t>I. ELEVATED VOLATILITY DURING FIRST HALF, BUT GOOD MARKET OUTCOMES SINCE</a:t>
            </a:r>
          </a:p>
        </p:txBody>
      </p:sp>
      <p:sp>
        <p:nvSpPr>
          <p:cNvPr id="47" name="Rectangle 46">
            <a:extLst>
              <a:ext uri="{FF2B5EF4-FFF2-40B4-BE49-F238E27FC236}">
                <a16:creationId xmlns:a16="http://schemas.microsoft.com/office/drawing/2014/main" id="{E81F367A-DCA5-4020-921A-8D0CE472E109}"/>
              </a:ext>
            </a:extLst>
          </p:cNvPr>
          <p:cNvSpPr/>
          <p:nvPr/>
        </p:nvSpPr>
        <p:spPr bwMode="auto">
          <a:xfrm>
            <a:off x="363122" y="1207886"/>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4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U.S. LARGE CAP EQUITIES | SPX </a:t>
            </a:r>
            <a:r>
              <a:rPr kumimoji="0" lang="en-US" sz="1800" b="0" i="0" u="none" strike="noStrike" kern="1200" cap="none" spc="-4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1</a:t>
            </a:r>
            <a:endParaRPr kumimoji="0" lang="en-US" sz="1800" b="0" i="0" u="none" strike="noStrike" kern="1200" cap="none" spc="-40" normalizeH="0" baseline="3000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53" name="Rectangle 52">
            <a:extLst>
              <a:ext uri="{FF2B5EF4-FFF2-40B4-BE49-F238E27FC236}">
                <a16:creationId xmlns:a16="http://schemas.microsoft.com/office/drawing/2014/main" id="{9BB28BDF-ACC9-4CF8-A789-B06196B32C38}"/>
              </a:ext>
            </a:extLst>
          </p:cNvPr>
          <p:cNvSpPr/>
          <p:nvPr/>
        </p:nvSpPr>
        <p:spPr bwMode="auto">
          <a:xfrm>
            <a:off x="4612888" y="1208594"/>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4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3 MONTH BILLS &amp; 10’S</a:t>
            </a:r>
            <a:endParaRPr kumimoji="0" lang="en-US" sz="18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55" name="Rectangle 54">
            <a:extLst>
              <a:ext uri="{FF2B5EF4-FFF2-40B4-BE49-F238E27FC236}">
                <a16:creationId xmlns:a16="http://schemas.microsoft.com/office/drawing/2014/main" id="{84D005F9-1D54-4AC6-9ECC-FEF33B26664B}"/>
              </a:ext>
            </a:extLst>
          </p:cNvPr>
          <p:cNvSpPr/>
          <p:nvPr/>
        </p:nvSpPr>
        <p:spPr bwMode="auto">
          <a:xfrm>
            <a:off x="4612888" y="3775741"/>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COMMENTS</a:t>
            </a:r>
            <a:endParaRPr kumimoji="0" lang="en-US" sz="18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62" name="Rectangle 133">
            <a:extLst>
              <a:ext uri="{FF2B5EF4-FFF2-40B4-BE49-F238E27FC236}">
                <a16:creationId xmlns:a16="http://schemas.microsoft.com/office/drawing/2014/main" id="{4DC9F7D7-B7E3-482E-A7A6-AC4C9AA8FD69}"/>
              </a:ext>
            </a:extLst>
          </p:cNvPr>
          <p:cNvSpPr>
            <a:spLocks noChangeArrowheads="1"/>
          </p:cNvSpPr>
          <p:nvPr/>
        </p:nvSpPr>
        <p:spPr bwMode="auto">
          <a:xfrm>
            <a:off x="318876" y="6438978"/>
            <a:ext cx="8253623" cy="45016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89890" tIns="44945" rIns="89890" bIns="44945" anchor="t"/>
          <a:lstStyle>
            <a:lvl1pPr defTabSz="1019175" eaLnBrk="0" hangingPunct="0">
              <a:defRPr sz="1000" b="1">
                <a:solidFill>
                  <a:schemeClr val="tx1"/>
                </a:solidFill>
                <a:latin typeface="Arial" charset="0"/>
                <a:cs typeface="Arial" charset="0"/>
              </a:defRPr>
            </a:lvl1pPr>
            <a:lvl2pPr marL="742950" indent="-285750" defTabSz="1019175" eaLnBrk="0" hangingPunct="0">
              <a:defRPr sz="1000" b="1">
                <a:solidFill>
                  <a:schemeClr val="tx1"/>
                </a:solidFill>
                <a:latin typeface="Arial" charset="0"/>
                <a:cs typeface="Arial" charset="0"/>
              </a:defRPr>
            </a:lvl2pPr>
            <a:lvl3pPr marL="1143000" indent="-228600" defTabSz="1019175" eaLnBrk="0" hangingPunct="0">
              <a:defRPr sz="1000" b="1">
                <a:solidFill>
                  <a:schemeClr val="tx1"/>
                </a:solidFill>
                <a:latin typeface="Arial" charset="0"/>
                <a:cs typeface="Arial" charset="0"/>
              </a:defRPr>
            </a:lvl3pPr>
            <a:lvl4pPr marL="1600200" indent="-228600" defTabSz="1019175" eaLnBrk="0" hangingPunct="0">
              <a:defRPr sz="1000" b="1">
                <a:solidFill>
                  <a:schemeClr val="tx1"/>
                </a:solidFill>
                <a:latin typeface="Arial" charset="0"/>
                <a:cs typeface="Arial" charset="0"/>
              </a:defRPr>
            </a:lvl4pPr>
            <a:lvl5pPr marL="2057400" indent="-228600" defTabSz="1019175" eaLnBrk="0" hangingPunct="0">
              <a:defRPr sz="1000" b="1">
                <a:solidFill>
                  <a:schemeClr val="tx1"/>
                </a:solidFill>
                <a:latin typeface="Arial" charset="0"/>
                <a:cs typeface="Arial" charset="0"/>
              </a:defRPr>
            </a:lvl5pPr>
            <a:lvl6pPr marL="2514600" indent="-228600" defTabSz="1019175" eaLnBrk="0" fontAlgn="base" hangingPunct="0">
              <a:spcBef>
                <a:spcPct val="0"/>
              </a:spcBef>
              <a:spcAft>
                <a:spcPct val="0"/>
              </a:spcAft>
              <a:defRPr sz="1000" b="1">
                <a:solidFill>
                  <a:schemeClr val="tx1"/>
                </a:solidFill>
                <a:latin typeface="Arial" charset="0"/>
                <a:cs typeface="Arial" charset="0"/>
              </a:defRPr>
            </a:lvl6pPr>
            <a:lvl7pPr marL="2971800" indent="-228600" defTabSz="1019175" eaLnBrk="0" fontAlgn="base" hangingPunct="0">
              <a:spcBef>
                <a:spcPct val="0"/>
              </a:spcBef>
              <a:spcAft>
                <a:spcPct val="0"/>
              </a:spcAft>
              <a:defRPr sz="1000" b="1">
                <a:solidFill>
                  <a:schemeClr val="tx1"/>
                </a:solidFill>
                <a:latin typeface="Arial" charset="0"/>
                <a:cs typeface="Arial" charset="0"/>
              </a:defRPr>
            </a:lvl7pPr>
            <a:lvl8pPr marL="3429000" indent="-228600" defTabSz="1019175" eaLnBrk="0" fontAlgn="base" hangingPunct="0">
              <a:spcBef>
                <a:spcPct val="0"/>
              </a:spcBef>
              <a:spcAft>
                <a:spcPct val="0"/>
              </a:spcAft>
              <a:defRPr sz="1000" b="1">
                <a:solidFill>
                  <a:schemeClr val="tx1"/>
                </a:solidFill>
                <a:latin typeface="Arial" charset="0"/>
                <a:cs typeface="Arial" charset="0"/>
              </a:defRPr>
            </a:lvl8pPr>
            <a:lvl9pPr marL="3886200" indent="-228600" defTabSz="1019175" eaLnBrk="0" fontAlgn="base" hangingPunct="0">
              <a:spcBef>
                <a:spcPct val="0"/>
              </a:spcBef>
              <a:spcAft>
                <a:spcPct val="0"/>
              </a:spcAft>
              <a:defRPr sz="1000" b="1">
                <a:solidFill>
                  <a:schemeClr val="tx1"/>
                </a:solidFill>
                <a:latin typeface="Arial" charset="0"/>
                <a:cs typeface="Arial" charset="0"/>
              </a:defRPr>
            </a:lvl9pPr>
          </a:lstStyle>
          <a:p>
            <a:pPr marL="0" marR="0" lvl="0" indent="0" algn="l" defTabSz="1019175" rtl="0" eaLnBrk="1" fontAlgn="auto" latinLnBrk="0" hangingPunct="1">
              <a:lnSpc>
                <a:spcPct val="100000"/>
              </a:lnSpc>
              <a:spcBef>
                <a:spcPts val="0"/>
              </a:spcBef>
              <a:spcAft>
                <a:spcPts val="0"/>
              </a:spcAft>
              <a:buClrTx/>
              <a:buSzTx/>
              <a:buFontTx/>
              <a:buNone/>
              <a:tabLst/>
              <a:defRPr/>
            </a:pPr>
            <a:r>
              <a:rPr kumimoji="0" lang="en-US" altLang="en-US" sz="850" b="0" i="0" u="none" strike="noStrike" kern="1200" cap="none"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SOURCE: BLOOMBERG, PERFORMA | </a:t>
            </a:r>
            <a:r>
              <a:rPr kumimoji="0" lang="en-US" altLang="en-US" sz="850" b="0" i="0" u="none" strike="noStrike" kern="1200" cap="none" spc="0" normalizeH="0" baseline="30000" noProof="0">
                <a:ln>
                  <a:noFill/>
                </a:ln>
                <a:solidFill>
                  <a:srgbClr val="394849"/>
                </a:solidFill>
                <a:effectLst/>
                <a:uLnTx/>
                <a:uFillTx/>
                <a:latin typeface="Poppins" panose="00000500000000000000" pitchFamily="2" charset="0"/>
                <a:ea typeface="+mn-ea"/>
                <a:cs typeface="Poppins" panose="00000500000000000000" pitchFamily="2" charset="0"/>
              </a:rPr>
              <a:t>1 </a:t>
            </a:r>
            <a:r>
              <a:rPr kumimoji="0" lang="en-US" altLang="en-US" sz="850" b="0" i="0" u="none" strike="noStrike" kern="1200" cap="none"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S&amp;P 500 INDEX | </a:t>
            </a:r>
            <a:r>
              <a:rPr kumimoji="0" lang="en-US" sz="850" b="0" i="0" u="none" strike="noStrike" kern="1200" cap="none" spc="0" normalizeH="0" baseline="30000" noProof="0">
                <a:ln>
                  <a:noFill/>
                </a:ln>
                <a:solidFill>
                  <a:srgbClr val="394849"/>
                </a:solidFill>
                <a:effectLst/>
                <a:uLnTx/>
                <a:uFillTx/>
                <a:latin typeface="Poppins" panose="00000500000000000000" pitchFamily="2" charset="0"/>
                <a:ea typeface="+mn-ea"/>
                <a:cs typeface="Poppins" panose="00000500000000000000" pitchFamily="2" charset="0"/>
              </a:rPr>
              <a:t>2 </a:t>
            </a:r>
            <a:r>
              <a:rPr kumimoji="0" lang="en-US" altLang="en-US" sz="850" b="0" i="0" u="none" strike="noStrike" kern="1200" cap="none"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THE INTERCONTINENTAL EXCHANGE, U.S. DOLLAR INDEX | </a:t>
            </a:r>
            <a:r>
              <a:rPr kumimoji="0" lang="en-US" sz="850" b="0" i="0" u="none" strike="noStrike" kern="1200" cap="none" spc="0" normalizeH="0" baseline="30000" noProof="0">
                <a:ln>
                  <a:noFill/>
                </a:ln>
                <a:solidFill>
                  <a:srgbClr val="394849"/>
                </a:solidFill>
                <a:effectLst/>
                <a:uLnTx/>
                <a:uFillTx/>
                <a:latin typeface="Poppins" panose="00000500000000000000" pitchFamily="2" charset="0"/>
                <a:ea typeface="+mn-ea"/>
                <a:cs typeface="Poppins" panose="00000500000000000000" pitchFamily="2" charset="0"/>
              </a:rPr>
              <a:t>3 </a:t>
            </a:r>
            <a:r>
              <a:rPr kumimoji="0" lang="en-US" altLang="en-US" sz="850" b="0" i="0" u="none" strike="noStrike" kern="1200" cap="none"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BLOOMBERG U.S. CORPORATE HIGH YIELD INDEX OAS (OPTION ADJUSTED SPREAD)</a:t>
            </a:r>
          </a:p>
        </p:txBody>
      </p:sp>
      <p:cxnSp>
        <p:nvCxnSpPr>
          <p:cNvPr id="5" name="Straight Connector 4">
            <a:extLst>
              <a:ext uri="{FF2B5EF4-FFF2-40B4-BE49-F238E27FC236}">
                <a16:creationId xmlns:a16="http://schemas.microsoft.com/office/drawing/2014/main" id="{99ECFBB4-4FA4-4588-9F6C-8DEDAB4A2C36}"/>
              </a:ext>
            </a:extLst>
          </p:cNvPr>
          <p:cNvCxnSpPr/>
          <p:nvPr/>
        </p:nvCxnSpPr>
        <p:spPr bwMode="auto">
          <a:xfrm>
            <a:off x="286233" y="2031182"/>
            <a:ext cx="8487175" cy="89718"/>
          </a:xfrm>
          <a:prstGeom prst="line">
            <a:avLst/>
          </a:prstGeom>
          <a:noFill/>
          <a:ln w="12700" cap="flat" cmpd="sng" algn="ctr">
            <a:noFill/>
            <a:prstDash val="solid"/>
            <a:round/>
            <a:headEnd type="none" w="med" len="med"/>
            <a:tailEnd type="none" w="med" len="med"/>
          </a:ln>
          <a:effectLst/>
        </p:spPr>
      </p:cxnSp>
      <p:graphicFrame>
        <p:nvGraphicFramePr>
          <p:cNvPr id="4" name="WAGES CHART" hidden="1">
            <a:extLst>
              <a:ext uri="{FF2B5EF4-FFF2-40B4-BE49-F238E27FC236}">
                <a16:creationId xmlns:a16="http://schemas.microsoft.com/office/drawing/2014/main" id="{00000000-0008-0000-0500-00009E000000}"/>
              </a:ext>
            </a:extLst>
          </p:cNvPr>
          <p:cNvGraphicFramePr>
            <a:graphicFrameLocks/>
          </p:cNvGraphicFramePr>
          <p:nvPr/>
        </p:nvGraphicFramePr>
        <p:xfrm>
          <a:off x="405690" y="1597598"/>
          <a:ext cx="4160520" cy="21214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 name="Chart 19" hidden="1">
            <a:extLst>
              <a:ext uri="{FF2B5EF4-FFF2-40B4-BE49-F238E27FC236}">
                <a16:creationId xmlns:a16="http://schemas.microsoft.com/office/drawing/2014/main" id="{00000000-0008-0000-0500-000086000000}"/>
              </a:ext>
            </a:extLst>
          </p:cNvPr>
          <p:cNvGraphicFramePr>
            <a:graphicFrameLocks noGrp="1" noDrilldown="1" noMove="1" noResize="1"/>
          </p:cNvGraphicFramePr>
          <p:nvPr/>
        </p:nvGraphicFramePr>
        <p:xfrm>
          <a:off x="363122" y="4166209"/>
          <a:ext cx="4160520" cy="2203704"/>
        </p:xfrm>
        <a:graphic>
          <a:graphicData uri="http://schemas.openxmlformats.org/drawingml/2006/chart">
            <c:chart xmlns:c="http://schemas.openxmlformats.org/drawingml/2006/chart" xmlns:r="http://schemas.openxmlformats.org/officeDocument/2006/relationships" r:id="rId6"/>
          </a:graphicData>
        </a:graphic>
      </p:graphicFrame>
      <p:sp>
        <p:nvSpPr>
          <p:cNvPr id="26" name="coverup for bottom left 4" hidden="1">
            <a:extLst>
              <a:ext uri="{FF2B5EF4-FFF2-40B4-BE49-F238E27FC236}">
                <a16:creationId xmlns:a16="http://schemas.microsoft.com/office/drawing/2014/main" id="{EFFCB51B-36A6-BED2-3F6B-E3A6F0965A27}"/>
              </a:ext>
            </a:extLst>
          </p:cNvPr>
          <p:cNvSpPr/>
          <p:nvPr/>
        </p:nvSpPr>
        <p:spPr bwMode="auto">
          <a:xfrm>
            <a:off x="3594735" y="5889924"/>
            <a:ext cx="627493" cy="91440"/>
          </a:xfrm>
          <a:prstGeom prst="rect">
            <a:avLst/>
          </a:prstGeom>
          <a:solidFill>
            <a:srgbClr val="2B3E59"/>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coverup for bottom left 3" hidden="1">
            <a:extLst>
              <a:ext uri="{FF2B5EF4-FFF2-40B4-BE49-F238E27FC236}">
                <a16:creationId xmlns:a16="http://schemas.microsoft.com/office/drawing/2014/main" id="{3AE07408-156A-A2B6-CC3F-A66F0B78066F}"/>
              </a:ext>
            </a:extLst>
          </p:cNvPr>
          <p:cNvSpPr/>
          <p:nvPr/>
        </p:nvSpPr>
        <p:spPr bwMode="auto">
          <a:xfrm>
            <a:off x="2952206" y="5891609"/>
            <a:ext cx="627493" cy="91440"/>
          </a:xfrm>
          <a:prstGeom prst="rect">
            <a:avLst/>
          </a:prstGeom>
          <a:solidFill>
            <a:srgbClr val="2B3E59"/>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1" name="coverup for bottom left 2" hidden="1">
            <a:extLst>
              <a:ext uri="{FF2B5EF4-FFF2-40B4-BE49-F238E27FC236}">
                <a16:creationId xmlns:a16="http://schemas.microsoft.com/office/drawing/2014/main" id="{9EF8ADEE-6151-829A-7945-172DCB261402}"/>
              </a:ext>
            </a:extLst>
          </p:cNvPr>
          <p:cNvSpPr/>
          <p:nvPr/>
        </p:nvSpPr>
        <p:spPr bwMode="auto">
          <a:xfrm>
            <a:off x="2314365" y="5889924"/>
            <a:ext cx="627493" cy="91440"/>
          </a:xfrm>
          <a:prstGeom prst="rect">
            <a:avLst/>
          </a:prstGeom>
          <a:solidFill>
            <a:srgbClr val="2B3E59"/>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2" name="coverup for bottom left 1" hidden="1">
            <a:extLst>
              <a:ext uri="{FF2B5EF4-FFF2-40B4-BE49-F238E27FC236}">
                <a16:creationId xmlns:a16="http://schemas.microsoft.com/office/drawing/2014/main" id="{21049237-9581-F954-714E-4BAE462BBB5C}"/>
              </a:ext>
            </a:extLst>
          </p:cNvPr>
          <p:cNvSpPr/>
          <p:nvPr/>
        </p:nvSpPr>
        <p:spPr bwMode="auto">
          <a:xfrm>
            <a:off x="1668875" y="5890923"/>
            <a:ext cx="622646" cy="91440"/>
          </a:xfrm>
          <a:prstGeom prst="rect">
            <a:avLst/>
          </a:prstGeom>
          <a:solidFill>
            <a:srgbClr val="2B3E59"/>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3" name="coverup for bottom left first" hidden="1">
            <a:extLst>
              <a:ext uri="{FF2B5EF4-FFF2-40B4-BE49-F238E27FC236}">
                <a16:creationId xmlns:a16="http://schemas.microsoft.com/office/drawing/2014/main" id="{F54FB9DD-B478-42EB-4065-1D4697864285}"/>
              </a:ext>
            </a:extLst>
          </p:cNvPr>
          <p:cNvSpPr/>
          <p:nvPr/>
        </p:nvSpPr>
        <p:spPr bwMode="auto">
          <a:xfrm>
            <a:off x="1012273" y="5889924"/>
            <a:ext cx="630936" cy="91440"/>
          </a:xfrm>
          <a:prstGeom prst="rect">
            <a:avLst/>
          </a:prstGeom>
          <a:solidFill>
            <a:srgbClr val="2B3E59"/>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pic>
        <p:nvPicPr>
          <p:cNvPr id="35" name="Picture 34" hidden="1">
            <a:extLst>
              <a:ext uri="{FF2B5EF4-FFF2-40B4-BE49-F238E27FC236}">
                <a16:creationId xmlns:a16="http://schemas.microsoft.com/office/drawing/2014/main" id="{CE3AC45C-4276-4AA5-CF1D-E4F77AA82789}"/>
              </a:ext>
            </a:extLst>
          </p:cNvPr>
          <p:cNvPicPr>
            <a:picLocks noChangeAspect="1"/>
          </p:cNvPicPr>
          <p:nvPr/>
        </p:nvPicPr>
        <p:blipFill>
          <a:blip r:embed="rId7"/>
          <a:stretch>
            <a:fillRect/>
          </a:stretch>
        </p:blipFill>
        <p:spPr>
          <a:xfrm>
            <a:off x="-4325826" y="1641165"/>
            <a:ext cx="4170025" cy="2219136"/>
          </a:xfrm>
          <a:prstGeom prst="rect">
            <a:avLst/>
          </a:prstGeom>
          <a:ln>
            <a:noFill/>
          </a:ln>
        </p:spPr>
      </p:pic>
      <p:sp>
        <p:nvSpPr>
          <p:cNvPr id="54" name="Rectangle 53">
            <a:extLst>
              <a:ext uri="{FF2B5EF4-FFF2-40B4-BE49-F238E27FC236}">
                <a16:creationId xmlns:a16="http://schemas.microsoft.com/office/drawing/2014/main" id="{E9B36722-DB33-4436-B85B-1E61519D9685}"/>
              </a:ext>
            </a:extLst>
          </p:cNvPr>
          <p:cNvSpPr/>
          <p:nvPr/>
        </p:nvSpPr>
        <p:spPr bwMode="auto">
          <a:xfrm>
            <a:off x="363122" y="3775741"/>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square" lIns="0" tIns="91440" rIns="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4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HIGH YIELD CREDIT SPREADS </a:t>
            </a:r>
            <a:r>
              <a:rPr kumimoji="0" lang="en-US" sz="1800" b="0" i="0" u="none" strike="noStrike" kern="1200" cap="none" spc="-4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3</a:t>
            </a:r>
            <a:endParaRPr kumimoji="0" lang="en-US" sz="1800" b="0" i="0" u="none" strike="noStrike" kern="1200" cap="none" spc="0" normalizeH="0" baseline="3000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45" name="COMMENT BOX">
            <a:extLst>
              <a:ext uri="{FF2B5EF4-FFF2-40B4-BE49-F238E27FC236}">
                <a16:creationId xmlns:a16="http://schemas.microsoft.com/office/drawing/2014/main" id="{1737E3BF-A59C-4B3B-B309-AC4379E2C2B2}"/>
              </a:ext>
            </a:extLst>
          </p:cNvPr>
          <p:cNvSpPr txBox="1"/>
          <p:nvPr/>
        </p:nvSpPr>
        <p:spPr>
          <a:xfrm>
            <a:off x="4599012" y="4274264"/>
            <a:ext cx="4177906" cy="1931298"/>
          </a:xfrm>
          <a:prstGeom prst="rect">
            <a:avLst/>
          </a:prstGeom>
          <a:noFill/>
        </p:spPr>
        <p:txBody>
          <a:bodyPr wrap="square" rtlCol="0">
            <a:spAutoFit/>
          </a:bodyPr>
          <a:lstStyle/>
          <a:p>
            <a:pPr marL="171450" marR="0" lvl="0" indent="-171450" algn="l" defTabSz="457200" rtl="0" eaLnBrk="1" fontAlgn="t" latinLnBrk="0" hangingPunct="1">
              <a:lnSpc>
                <a:spcPct val="100000"/>
              </a:lnSpc>
              <a:spcBef>
                <a:spcPts val="300"/>
              </a:spcBef>
              <a:spcAft>
                <a:spcPts val="1200"/>
              </a:spcAft>
              <a:buClrTx/>
              <a:buSzPct val="160000"/>
              <a:buFont typeface="Arial" panose="020B0604020202020204" pitchFamily="34" charset="0"/>
              <a:buChar char="•"/>
              <a:tabLst/>
              <a:defRPr/>
            </a:pPr>
            <a:r>
              <a:rPr kumimoji="0" lang="en-US" sz="1050" b="0" i="0" u="none" strike="noStrike" kern="1200" cap="none" spc="-3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AFTER FALLING ~20% ON TARIFFS IN APRIL, RISK APPETITE HAS RETURNED IN A BIG WAY, </a:t>
            </a:r>
            <a:r>
              <a:rPr lang="en-US" sz="1050" spc="-30">
                <a:solidFill>
                  <a:srgbClr val="FFFFFF"/>
                </a:solidFill>
                <a:latin typeface="Poppins Medium" panose="00000600000000000000" pitchFamily="2" charset="0"/>
                <a:cs typeface="Poppins Medium" panose="00000600000000000000" pitchFamily="2" charset="0"/>
              </a:rPr>
              <a:t>WITH THE S&amp;P UP ALMOST 15% YTD THRU SEPT MONTH END. </a:t>
            </a:r>
          </a:p>
          <a:p>
            <a:pPr marL="171450" marR="0" lvl="0" indent="-171450" algn="l" defTabSz="457200" rtl="0" eaLnBrk="1" fontAlgn="t" latinLnBrk="0" hangingPunct="1">
              <a:lnSpc>
                <a:spcPct val="100000"/>
              </a:lnSpc>
              <a:spcBef>
                <a:spcPts val="300"/>
              </a:spcBef>
              <a:spcAft>
                <a:spcPts val="1200"/>
              </a:spcAft>
              <a:buClrTx/>
              <a:buSzPct val="160000"/>
              <a:buFont typeface="Arial" panose="020B0604020202020204" pitchFamily="34" charset="0"/>
              <a:buChar char="•"/>
              <a:tabLst/>
              <a:defRPr/>
            </a:pPr>
            <a:r>
              <a:rPr kumimoji="0" lang="en-US" sz="1050" b="0" i="0" u="none" strike="noStrike" kern="1200" cap="none" spc="-2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IT HAS BEEN A SIMILAR STORY FOR CREDIT SPREADS, WHICH HAVE SHRUGGED OFF HEIGHTENED UNCERTAINTY AND VOLATILITY</a:t>
            </a:r>
            <a:r>
              <a:rPr lang="en-US" sz="1050" spc="-20">
                <a:solidFill>
                  <a:srgbClr val="FFFFFF"/>
                </a:solidFill>
                <a:latin typeface="Poppins Medium" panose="00000600000000000000" pitchFamily="2" charset="0"/>
                <a:cs typeface="Poppins Medium" panose="00000600000000000000" pitchFamily="2" charset="0"/>
              </a:rPr>
              <a:t> AND ARE NOW BACK AT HISTORIC TIGHTS</a:t>
            </a:r>
            <a:r>
              <a:rPr kumimoji="0" lang="en-US" sz="1050" b="0" i="0" u="none" strike="noStrike" kern="1200" cap="none" spc="-2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 </a:t>
            </a:r>
          </a:p>
          <a:p>
            <a:pPr marL="171450" marR="0" lvl="0" indent="-171450" algn="l" defTabSz="457200" rtl="0" eaLnBrk="1" fontAlgn="t" latinLnBrk="0" hangingPunct="1">
              <a:lnSpc>
                <a:spcPct val="100000"/>
              </a:lnSpc>
              <a:spcBef>
                <a:spcPts val="300"/>
              </a:spcBef>
              <a:spcAft>
                <a:spcPts val="1200"/>
              </a:spcAft>
              <a:buClrTx/>
              <a:buSzPct val="160000"/>
              <a:buFont typeface="Arial" panose="020B0604020202020204" pitchFamily="34" charset="0"/>
              <a:buChar char="•"/>
              <a:tabLst/>
              <a:defRPr/>
            </a:pPr>
            <a:r>
              <a:rPr kumimoji="0" lang="en-US" sz="1050" b="0" i="0" u="none" strike="noStrike" kern="1200" cap="none" spc="-2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U.S. TREASURIES HAVE PERFORMED WELL YTD AS HAS THE S&amp;P 500.  MEANWHILE, THE U.S. DOLLAR HAS FALLEN OUT OF FAVOR, DECLINING ALMOST 10% FOR THE YEAR.</a:t>
            </a:r>
          </a:p>
        </p:txBody>
      </p:sp>
      <p:pic>
        <p:nvPicPr>
          <p:cNvPr id="7" name="Picture 6" hidden="1">
            <a:extLst>
              <a:ext uri="{FF2B5EF4-FFF2-40B4-BE49-F238E27FC236}">
                <a16:creationId xmlns:a16="http://schemas.microsoft.com/office/drawing/2014/main" id="{CD2AC0D5-B619-0FAC-8D04-2307DB46D341}"/>
              </a:ext>
            </a:extLst>
          </p:cNvPr>
          <p:cNvPicPr>
            <a:picLocks noChangeAspect="1"/>
          </p:cNvPicPr>
          <p:nvPr/>
        </p:nvPicPr>
        <p:blipFill rotWithShape="1">
          <a:blip r:embed="rId8"/>
          <a:srcRect b="5136"/>
          <a:stretch/>
        </p:blipFill>
        <p:spPr>
          <a:xfrm>
            <a:off x="280374" y="1571813"/>
            <a:ext cx="8549956" cy="4816393"/>
          </a:xfrm>
          <a:prstGeom prst="rect">
            <a:avLst/>
          </a:prstGeom>
        </p:spPr>
      </p:pic>
      <p:sp>
        <p:nvSpPr>
          <p:cNvPr id="12" name="Rectangle 11">
            <a:extLst>
              <a:ext uri="{FF2B5EF4-FFF2-40B4-BE49-F238E27FC236}">
                <a16:creationId xmlns:a16="http://schemas.microsoft.com/office/drawing/2014/main" id="{339E5871-5B19-F8DB-5408-C473BEEE7AFB}"/>
              </a:ext>
            </a:extLst>
          </p:cNvPr>
          <p:cNvSpPr/>
          <p:nvPr/>
        </p:nvSpPr>
        <p:spPr bwMode="auto">
          <a:xfrm>
            <a:off x="4620360" y="1207886"/>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4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U.S. DOLLAR INDEX | DXY </a:t>
            </a:r>
            <a:r>
              <a:rPr kumimoji="0" lang="en-US" sz="1800" b="0" i="0" u="none" strike="noStrike" kern="1200" cap="none" spc="-4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2</a:t>
            </a:r>
            <a:endParaRPr kumimoji="0" lang="en-US" sz="1800" b="0" i="0" u="none" strike="noStrike" kern="1200" cap="none" spc="0" normalizeH="0" baseline="3000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graphicFrame>
        <p:nvGraphicFramePr>
          <p:cNvPr id="27" name="OLD OBJECT CHART EXISTING HOME SALES AS OF SEPT 2024" hidden="1">
            <a:extLst>
              <a:ext uri="{FF2B5EF4-FFF2-40B4-BE49-F238E27FC236}">
                <a16:creationId xmlns:a16="http://schemas.microsoft.com/office/drawing/2014/main" id="{00000000-0008-0000-0500-000086000000}"/>
              </a:ext>
            </a:extLst>
          </p:cNvPr>
          <p:cNvGraphicFramePr>
            <a:graphicFrameLocks/>
          </p:cNvGraphicFramePr>
          <p:nvPr/>
        </p:nvGraphicFramePr>
        <p:xfrm>
          <a:off x="371801" y="4151417"/>
          <a:ext cx="4160520" cy="2203704"/>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5" name="3 MONTH 2S AND 10S CHART AS OF SEPT 2024" hidden="1">
            <a:extLst>
              <a:ext uri="{FF2B5EF4-FFF2-40B4-BE49-F238E27FC236}">
                <a16:creationId xmlns:a16="http://schemas.microsoft.com/office/drawing/2014/main" id="{A9AF12FA-42D1-0718-8981-0BB53012ECFF}"/>
              </a:ext>
            </a:extLst>
          </p:cNvPr>
          <p:cNvGraphicFramePr>
            <a:graphicFrameLocks noChangeAspect="1"/>
          </p:cNvGraphicFramePr>
          <p:nvPr/>
        </p:nvGraphicFramePr>
        <p:xfrm>
          <a:off x="4613275" y="1597025"/>
          <a:ext cx="4160838" cy="2095500"/>
        </p:xfrm>
        <a:graphic>
          <a:graphicData uri="http://schemas.openxmlformats.org/presentationml/2006/ole">
            <mc:AlternateContent xmlns:mc="http://schemas.openxmlformats.org/markup-compatibility/2006">
              <mc:Choice xmlns:v="urn:schemas-microsoft-com:vml" Requires="v">
                <p:oleObj name="Worksheet" r:id="rId10" imgW="4160307" imgH="2095154" progId="Excel.Sheet.12">
                  <p:link updateAutomatic="1"/>
                </p:oleObj>
              </mc:Choice>
              <mc:Fallback>
                <p:oleObj name="Worksheet" r:id="rId10" imgW="4160307" imgH="2095154" progId="Excel.Sheet.12">
                  <p:link updateAutomatic="1"/>
                  <p:pic>
                    <p:nvPicPr>
                      <p:cNvPr id="25" name="3 MONTH 2S AND 10S CHART AS OF SEPT 2024" hidden="1">
                        <a:extLst>
                          <a:ext uri="{FF2B5EF4-FFF2-40B4-BE49-F238E27FC236}">
                            <a16:creationId xmlns:a16="http://schemas.microsoft.com/office/drawing/2014/main" id="{A9AF12FA-42D1-0718-8981-0BB53012ECFF}"/>
                          </a:ext>
                        </a:extLst>
                      </p:cNvPr>
                      <p:cNvPicPr/>
                      <p:nvPr/>
                    </p:nvPicPr>
                    <p:blipFill>
                      <a:blip r:embed="rId11"/>
                      <a:stretch>
                        <a:fillRect/>
                      </a:stretch>
                    </p:blipFill>
                    <p:spPr>
                      <a:xfrm>
                        <a:off x="4613275" y="1597025"/>
                        <a:ext cx="4160838" cy="2095500"/>
                      </a:xfrm>
                      <a:prstGeom prst="rect">
                        <a:avLst/>
                      </a:prstGeom>
                    </p:spPr>
                  </p:pic>
                </p:oleObj>
              </mc:Fallback>
            </mc:AlternateContent>
          </a:graphicData>
        </a:graphic>
      </p:graphicFrame>
      <p:graphicFrame>
        <p:nvGraphicFramePr>
          <p:cNvPr id="11" name="CHART FOR Q1 2025" hidden="1">
            <a:extLst>
              <a:ext uri="{FF2B5EF4-FFF2-40B4-BE49-F238E27FC236}">
                <a16:creationId xmlns:a16="http://schemas.microsoft.com/office/drawing/2014/main" id="{36CD2AB5-710B-CD4A-C45F-42C1E5E7236E}"/>
              </a:ext>
            </a:extLst>
          </p:cNvPr>
          <p:cNvGraphicFramePr>
            <a:graphicFrameLocks/>
          </p:cNvGraphicFramePr>
          <p:nvPr/>
        </p:nvGraphicFramePr>
        <p:xfrm>
          <a:off x="4627978" y="1574278"/>
          <a:ext cx="4160520" cy="2121408"/>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7" name="LEGEND" hidden="1">
            <a:extLst>
              <a:ext uri="{FF2B5EF4-FFF2-40B4-BE49-F238E27FC236}">
                <a16:creationId xmlns:a16="http://schemas.microsoft.com/office/drawing/2014/main" id="{A1695510-8968-EF95-8F39-AE0DF7468AF5}"/>
              </a:ext>
            </a:extLst>
          </p:cNvPr>
          <p:cNvGraphicFramePr>
            <a:graphicFrameLocks noGrp="1"/>
          </p:cNvGraphicFramePr>
          <p:nvPr/>
        </p:nvGraphicFramePr>
        <p:xfrm>
          <a:off x="5010581" y="1699179"/>
          <a:ext cx="3527821" cy="305770"/>
        </p:xfrm>
        <a:graphic>
          <a:graphicData uri="http://schemas.openxmlformats.org/drawingml/2006/table">
            <a:tbl>
              <a:tblPr firstRow="1" bandRow="1">
                <a:tableStyleId>{5C22544A-7EE6-4342-B048-85BDC9FD1C3A}</a:tableStyleId>
              </a:tblPr>
              <a:tblGrid>
                <a:gridCol w="1701191">
                  <a:extLst>
                    <a:ext uri="{9D8B030D-6E8A-4147-A177-3AD203B41FA5}">
                      <a16:colId xmlns:a16="http://schemas.microsoft.com/office/drawing/2014/main" val="266694139"/>
                    </a:ext>
                  </a:extLst>
                </a:gridCol>
                <a:gridCol w="1826630">
                  <a:extLst>
                    <a:ext uri="{9D8B030D-6E8A-4147-A177-3AD203B41FA5}">
                      <a16:colId xmlns:a16="http://schemas.microsoft.com/office/drawing/2014/main" val="2349679202"/>
                    </a:ext>
                  </a:extLst>
                </a:gridCol>
              </a:tblGrid>
              <a:tr h="152885">
                <a:tc>
                  <a:txBody>
                    <a:bodyPr/>
                    <a:lstStyle/>
                    <a:p>
                      <a:pPr algn="l"/>
                      <a:r>
                        <a:rPr lang="en-US" sz="1000" b="0">
                          <a:solidFill>
                            <a:schemeClr val="bg1"/>
                          </a:solidFill>
                          <a:latin typeface="Poppins Medium" panose="00000600000000000000" pitchFamily="2" charset="0"/>
                          <a:cs typeface="Poppins Medium" panose="00000600000000000000" pitchFamily="2" charset="0"/>
                        </a:rPr>
                        <a:t>           U.S. RECESSION</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806867" rtl="0" eaLnBrk="1" fontAlgn="auto" latinLnBrk="0" hangingPunct="1">
                        <a:lnSpc>
                          <a:spcPct val="100000"/>
                        </a:lnSpc>
                        <a:spcBef>
                          <a:spcPts val="0"/>
                        </a:spcBef>
                        <a:spcAft>
                          <a:spcPts val="0"/>
                        </a:spcAft>
                        <a:buClrTx/>
                        <a:buSzTx/>
                        <a:buFontTx/>
                        <a:buNone/>
                        <a:tabLst/>
                        <a:defRPr/>
                      </a:pPr>
                      <a:r>
                        <a:rPr lang="en-US" sz="1000" b="0">
                          <a:solidFill>
                            <a:schemeClr val="bg1"/>
                          </a:solidFill>
                          <a:latin typeface="Poppins Medium" panose="00000600000000000000" pitchFamily="2" charset="0"/>
                          <a:cs typeface="Poppins Medium" panose="00000600000000000000" pitchFamily="2" charset="0"/>
                        </a:rPr>
                        <a:t>       3 MONTHS VS. 10 YEAR</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16930745"/>
                  </a:ext>
                </a:extLst>
              </a:tr>
              <a:tr h="152885">
                <a:tc>
                  <a:txBody>
                    <a:bodyPr/>
                    <a:lstStyle/>
                    <a:p>
                      <a:pPr algn="l"/>
                      <a:endParaRPr lang="en-US" sz="1000" b="0">
                        <a:solidFill>
                          <a:schemeClr val="bg1"/>
                        </a:solidFill>
                        <a:latin typeface="Poppins Medium" panose="00000600000000000000" pitchFamily="2" charset="0"/>
                        <a:cs typeface="Poppins Medium" panose="00000600000000000000" pitchFamily="2" charset="0"/>
                      </a:endParaRP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endParaRPr lang="en-US" sz="1000" b="0">
                        <a:solidFill>
                          <a:schemeClr val="bg1"/>
                        </a:solidFill>
                        <a:latin typeface="Poppins Medium" panose="00000600000000000000" pitchFamily="2" charset="0"/>
                        <a:cs typeface="Poppins Medium" panose="00000600000000000000" pitchFamily="2" charset="0"/>
                      </a:endParaRP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4288756"/>
                  </a:ext>
                </a:extLst>
              </a:tr>
            </a:tbl>
          </a:graphicData>
        </a:graphic>
      </p:graphicFrame>
      <p:sp>
        <p:nvSpPr>
          <p:cNvPr id="16" name="BASIS POINTS Y-AXIS 3 MONTH" hidden="1">
            <a:extLst>
              <a:ext uri="{FF2B5EF4-FFF2-40B4-BE49-F238E27FC236}">
                <a16:creationId xmlns:a16="http://schemas.microsoft.com/office/drawing/2014/main" id="{3829F475-5A38-2366-1AB7-6BDFF93C80FF}"/>
              </a:ext>
            </a:extLst>
          </p:cNvPr>
          <p:cNvSpPr txBox="1"/>
          <p:nvPr/>
        </p:nvSpPr>
        <p:spPr>
          <a:xfrm rot="16200000">
            <a:off x="4009858" y="2451366"/>
            <a:ext cx="1531620"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BASIS POINTS</a:t>
            </a:r>
            <a:endParaRPr kumimoji="0" lang="en-US" sz="950" b="0" i="0" u="none" strike="noStrike" kern="1200" cap="none" spc="0" normalizeH="0" baseline="0" noProof="0">
              <a:ln>
                <a:noFill/>
              </a:ln>
              <a:solidFill>
                <a:srgbClr val="000000"/>
              </a:solidFill>
              <a:effectLst/>
              <a:uLnTx/>
              <a:uFillTx/>
              <a:latin typeface="Times New Roman"/>
              <a:ea typeface="+mn-ea"/>
              <a:cs typeface="+mn-cs"/>
            </a:endParaRPr>
          </a:p>
        </p:txBody>
      </p:sp>
      <p:grpSp>
        <p:nvGrpSpPr>
          <p:cNvPr id="29" name="GOOD LINE CHART SAVE" hidden="1">
            <a:extLst>
              <a:ext uri="{FF2B5EF4-FFF2-40B4-BE49-F238E27FC236}">
                <a16:creationId xmlns:a16="http://schemas.microsoft.com/office/drawing/2014/main" id="{BA5B044B-6766-ABD3-420C-47E532FD079C}"/>
              </a:ext>
            </a:extLst>
          </p:cNvPr>
          <p:cNvGrpSpPr/>
          <p:nvPr/>
        </p:nvGrpSpPr>
        <p:grpSpPr>
          <a:xfrm>
            <a:off x="4627978" y="1583522"/>
            <a:ext cx="4148940" cy="2144739"/>
            <a:chOff x="4627978" y="1583522"/>
            <a:chExt cx="4148940" cy="2144739"/>
          </a:xfrm>
        </p:grpSpPr>
        <p:graphicFrame>
          <p:nvGraphicFramePr>
            <p:cNvPr id="34" name="Chart 33">
              <a:extLst>
                <a:ext uri="{FF2B5EF4-FFF2-40B4-BE49-F238E27FC236}">
                  <a16:creationId xmlns:a16="http://schemas.microsoft.com/office/drawing/2014/main" id="{741AA47B-DD54-4FEC-A0DF-9470A35C304B}"/>
                </a:ext>
              </a:extLst>
            </p:cNvPr>
            <p:cNvGraphicFramePr>
              <a:graphicFrameLocks/>
            </p:cNvGraphicFramePr>
            <p:nvPr/>
          </p:nvGraphicFramePr>
          <p:xfrm>
            <a:off x="4627978" y="1583522"/>
            <a:ext cx="4148940" cy="2144739"/>
          </p:xfrm>
          <a:graphic>
            <a:graphicData uri="http://schemas.openxmlformats.org/drawingml/2006/chart">
              <c:chart xmlns:c="http://schemas.openxmlformats.org/drawingml/2006/chart" xmlns:r="http://schemas.openxmlformats.org/officeDocument/2006/relationships" r:id="rId13"/>
            </a:graphicData>
          </a:graphic>
        </p:graphicFrame>
        <p:sp>
          <p:nvSpPr>
            <p:cNvPr id="46" name="TextBox 1">
              <a:extLst>
                <a:ext uri="{FF2B5EF4-FFF2-40B4-BE49-F238E27FC236}">
                  <a16:creationId xmlns:a16="http://schemas.microsoft.com/office/drawing/2014/main" id="{6ED3701A-ACE8-6F17-3DE6-46F37A36EF56}"/>
                </a:ext>
              </a:extLst>
            </p:cNvPr>
            <p:cNvSpPr txBox="1"/>
            <p:nvPr/>
          </p:nvSpPr>
          <p:spPr>
            <a:xfrm>
              <a:off x="7353299" y="1626951"/>
              <a:ext cx="1225296" cy="156410"/>
            </a:xfrm>
            <a:prstGeom prst="rect">
              <a:avLst/>
            </a:prstGeom>
            <a:solidFill>
              <a:srgbClr val="051925"/>
            </a:solidFill>
          </p:spPr>
          <p:txBody>
            <a:bodyPr wrap="none" tIns="0"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LATE STATUS</a:t>
              </a:r>
            </a:p>
          </p:txBody>
        </p:sp>
      </p:grpSp>
      <p:sp>
        <p:nvSpPr>
          <p:cNvPr id="65" name="Slide Number Placeholder 1">
            <a:extLst>
              <a:ext uri="{FF2B5EF4-FFF2-40B4-BE49-F238E27FC236}">
                <a16:creationId xmlns:a16="http://schemas.microsoft.com/office/drawing/2014/main" id="{7DD39237-57AE-0300-9547-DEF2C3DE004D}"/>
              </a:ext>
            </a:extLst>
          </p:cNvPr>
          <p:cNvSpPr txBox="1">
            <a:spLocks/>
          </p:cNvSpPr>
          <p:nvPr/>
        </p:nvSpPr>
        <p:spPr>
          <a:xfrm>
            <a:off x="8582659" y="6527047"/>
            <a:ext cx="514350" cy="275945"/>
          </a:xfrm>
          <a:prstGeom prst="rect">
            <a:avLst/>
          </a:prstGeom>
        </p:spPr>
        <p:txBody>
          <a:bodyPr/>
          <a:lstStyle>
            <a:defPPr>
              <a:defRPr lang="en-US"/>
            </a:defPPr>
            <a:lvl1pPr marL="0" algn="l" defTabSz="457200" rtl="0" eaLnBrk="1" latinLnBrk="0" hangingPunct="1">
              <a:defRPr sz="800" kern="1200">
                <a:solidFill>
                  <a:schemeClr val="tx1"/>
                </a:solidFill>
                <a:latin typeface="Poppins" panose="00000500000000000000" pitchFamily="2" charset="0"/>
                <a:ea typeface="+mn-ea"/>
                <a:cs typeface="Poppins" panose="00000500000000000000"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smtClean="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5</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48" name="Slide Number Placeholder 1" hidden="1">
            <a:extLst>
              <a:ext uri="{FF2B5EF4-FFF2-40B4-BE49-F238E27FC236}">
                <a16:creationId xmlns:a16="http://schemas.microsoft.com/office/drawing/2014/main" id="{3C349428-DFD3-4DD4-A839-99D2D214DCB0}"/>
              </a:ext>
            </a:extLst>
          </p:cNvPr>
          <p:cNvSpPr>
            <a:spLocks noGrp="1"/>
          </p:cNvSpPr>
          <p:nvPr>
            <p:ph type="sldNum" sz="quarter" idx="4"/>
          </p:nvPr>
        </p:nvSpPr>
        <p:spPr>
          <a:xfrm>
            <a:off x="8552919" y="6530228"/>
            <a:ext cx="514350" cy="275945"/>
          </a:xfrm>
          <a:prstGeom prst="rect">
            <a:avLst/>
          </a:prstGeom>
        </p:spPr>
        <p:txBody>
          <a:body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5</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3" name="PAGE NUMBER HIDE">
            <a:extLst>
              <a:ext uri="{FF2B5EF4-FFF2-40B4-BE49-F238E27FC236}">
                <a16:creationId xmlns:a16="http://schemas.microsoft.com/office/drawing/2014/main" id="{3506490A-3B98-47BD-9C9B-3E9AB18E50EF}"/>
              </a:ext>
            </a:extLst>
          </p:cNvPr>
          <p:cNvSpPr/>
          <p:nvPr/>
        </p:nvSpPr>
        <p:spPr bwMode="auto">
          <a:xfrm>
            <a:off x="8552919" y="6530228"/>
            <a:ext cx="272205" cy="220845"/>
          </a:xfrm>
          <a:prstGeom prst="ellipse">
            <a:avLst/>
          </a:prstGeom>
          <a:solidFill>
            <a:schemeClr val="bg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0" name="TextBox 49">
            <a:extLst>
              <a:ext uri="{FF2B5EF4-FFF2-40B4-BE49-F238E27FC236}">
                <a16:creationId xmlns:a16="http://schemas.microsoft.com/office/drawing/2014/main" id="{188DB97C-3FF2-2C57-E05C-574973EFBBFB}"/>
              </a:ext>
            </a:extLst>
          </p:cNvPr>
          <p:cNvSpPr txBox="1"/>
          <p:nvPr/>
        </p:nvSpPr>
        <p:spPr>
          <a:xfrm rot="16200000">
            <a:off x="-659219" y="2522524"/>
            <a:ext cx="2355779" cy="25391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900" b="0" i="0" u="none" strike="noStrike" kern="1200" baseline="0">
                <a:solidFill>
                  <a:prstClr val="white"/>
                </a:solidFill>
                <a:latin typeface="Poppins" panose="00000500000000000000" pitchFamily="50" charset="0"/>
                <a:ea typeface="+mn-ea"/>
                <a:cs typeface="Poppins" panose="00000500000000000000" pitchFamily="50" charset="0"/>
              </a:defRPr>
            </a:pPr>
            <a:r>
              <a:rPr kumimoji="0" lang="en-US" sz="1000" b="0" i="0" u="none" strike="noStrike" kern="1200" cap="none" spc="0" normalizeH="0" baseline="0" noProof="0">
                <a:ln>
                  <a:noFill/>
                </a:ln>
                <a:solidFill>
                  <a:srgbClr val="FFFFFF"/>
                </a:solidFill>
                <a:effectLst/>
                <a:uLnTx/>
                <a:uFillTx/>
                <a:latin typeface="Poppins" panose="00000500000000000000" pitchFamily="50" charset="0"/>
                <a:ea typeface="+mn-ea"/>
                <a:cs typeface="Poppins" panose="00000500000000000000" pitchFamily="50" charset="0"/>
              </a:rPr>
              <a:t>NORMALIZED, START DATE = 100</a:t>
            </a:r>
          </a:p>
        </p:txBody>
      </p:sp>
      <p:sp>
        <p:nvSpPr>
          <p:cNvPr id="8" name="Slide Number Placeholder 1">
            <a:extLst>
              <a:ext uri="{FF2B5EF4-FFF2-40B4-BE49-F238E27FC236}">
                <a16:creationId xmlns:a16="http://schemas.microsoft.com/office/drawing/2014/main" id="{22F50231-2528-7CDD-C469-58072A64E4E1}"/>
              </a:ext>
            </a:extLst>
          </p:cNvPr>
          <p:cNvSpPr txBox="1">
            <a:spLocks/>
          </p:cNvSpPr>
          <p:nvPr/>
        </p:nvSpPr>
        <p:spPr>
          <a:xfrm>
            <a:off x="8606259" y="6606428"/>
            <a:ext cx="514350" cy="275945"/>
          </a:xfrm>
          <a:prstGeom prst="rect">
            <a:avLst/>
          </a:prstGeom>
        </p:spPr>
        <p:txBody>
          <a:bodyPr/>
          <a:lstStyle>
            <a:defPPr>
              <a:defRPr lang="en-US"/>
            </a:defPPr>
            <a:lvl1pPr marL="0" algn="l" defTabSz="457200" rtl="0" eaLnBrk="1" latinLnBrk="0" hangingPunct="1">
              <a:defRPr sz="800" kern="1200">
                <a:solidFill>
                  <a:schemeClr val="tx1"/>
                </a:solidFill>
                <a:latin typeface="Poppins" panose="00000500000000000000" pitchFamily="2" charset="0"/>
                <a:ea typeface="+mn-ea"/>
                <a:cs typeface="Poppins" panose="00000500000000000000"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smtClean="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5</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51" name="TextBox 50">
            <a:extLst>
              <a:ext uri="{FF2B5EF4-FFF2-40B4-BE49-F238E27FC236}">
                <a16:creationId xmlns:a16="http://schemas.microsoft.com/office/drawing/2014/main" id="{DF4D74FA-182F-3E57-17FF-959BE1A2446A}"/>
              </a:ext>
            </a:extLst>
          </p:cNvPr>
          <p:cNvSpPr txBox="1"/>
          <p:nvPr/>
        </p:nvSpPr>
        <p:spPr>
          <a:xfrm rot="16200000">
            <a:off x="3726875" y="2456880"/>
            <a:ext cx="2000633" cy="25391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900" b="0" i="0" u="none" strike="noStrike" kern="1200" baseline="0">
                <a:solidFill>
                  <a:prstClr val="white"/>
                </a:solidFill>
                <a:latin typeface="Poppins" panose="00000500000000000000" pitchFamily="50" charset="0"/>
                <a:ea typeface="+mn-ea"/>
                <a:cs typeface="Poppins" panose="00000500000000000000" pitchFamily="50" charset="0"/>
              </a:defRPr>
            </a:pPr>
            <a:r>
              <a:rPr kumimoji="0" lang="en-US" sz="1000" b="0" i="0" u="none" strike="noStrike" kern="1200" cap="none" spc="0" normalizeH="0" baseline="0" noProof="0">
                <a:ln>
                  <a:noFill/>
                </a:ln>
                <a:solidFill>
                  <a:srgbClr val="FFFFFF"/>
                </a:solidFill>
                <a:effectLst/>
                <a:uLnTx/>
                <a:uFillTx/>
                <a:latin typeface="Poppins" panose="00000500000000000000" pitchFamily="50" charset="0"/>
                <a:ea typeface="+mn-ea"/>
                <a:cs typeface="Poppins" panose="00000500000000000000" pitchFamily="50" charset="0"/>
              </a:rPr>
              <a:t>INDEX</a:t>
            </a:r>
          </a:p>
        </p:txBody>
      </p:sp>
      <p:graphicFrame>
        <p:nvGraphicFramePr>
          <p:cNvPr id="70" name="Chart 69">
            <a:extLst>
              <a:ext uri="{FF2B5EF4-FFF2-40B4-BE49-F238E27FC236}">
                <a16:creationId xmlns:a16="http://schemas.microsoft.com/office/drawing/2014/main" id="{3A9B47B7-C265-2603-8373-08147482B205}"/>
              </a:ext>
            </a:extLst>
          </p:cNvPr>
          <p:cNvGraphicFramePr>
            <a:graphicFrameLocks/>
          </p:cNvGraphicFramePr>
          <p:nvPr/>
        </p:nvGraphicFramePr>
        <p:xfrm>
          <a:off x="363122" y="4164056"/>
          <a:ext cx="4160520" cy="2231136"/>
        </p:xfrm>
        <a:graphic>
          <a:graphicData uri="http://schemas.openxmlformats.org/drawingml/2006/chart">
            <c:chart xmlns:c="http://schemas.openxmlformats.org/drawingml/2006/chart" xmlns:r="http://schemas.openxmlformats.org/officeDocument/2006/relationships" r:id="rId14"/>
          </a:graphicData>
        </a:graphic>
      </p:graphicFrame>
      <p:sp>
        <p:nvSpPr>
          <p:cNvPr id="6" name="Rectangle 5">
            <a:extLst>
              <a:ext uri="{FF2B5EF4-FFF2-40B4-BE49-F238E27FC236}">
                <a16:creationId xmlns:a16="http://schemas.microsoft.com/office/drawing/2014/main" id="{70D6461D-79FC-8A19-AA5B-4C255E8E116C}"/>
              </a:ext>
            </a:extLst>
          </p:cNvPr>
          <p:cNvSpPr/>
          <p:nvPr/>
        </p:nvSpPr>
        <p:spPr bwMode="auto">
          <a:xfrm>
            <a:off x="883920" y="1746504"/>
            <a:ext cx="73152" cy="1664208"/>
          </a:xfrm>
          <a:prstGeom prst="rect">
            <a:avLst/>
          </a:prstGeom>
          <a:solidFill>
            <a:srgbClr val="2B3E59"/>
          </a:solidFill>
          <a:ln w="12700" cap="flat" cmpd="sng" algn="ctr">
            <a:noFill/>
            <a:prstDash val="solid"/>
            <a:round/>
            <a:headEnd type="none" w="med" len="med"/>
            <a:tailEnd type="none" w="med" len="med"/>
          </a:ln>
          <a:effectLst/>
        </p:spPr>
        <p:txBody>
          <a:bodyPr vert="horz" wrap="none" lIns="91440" tIns="45720" rIns="91440" bIns="45720" numCol="1" anchor="t" anchorCtr="0" compatLnSpc="1">
            <a:prstTxWarp prst="textNoShape">
              <a:avLst/>
            </a:prstTxWarp>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kern="1200"/>
          </a:p>
        </p:txBody>
      </p:sp>
      <p:sp>
        <p:nvSpPr>
          <p:cNvPr id="10" name="TextBox 9">
            <a:extLst>
              <a:ext uri="{FF2B5EF4-FFF2-40B4-BE49-F238E27FC236}">
                <a16:creationId xmlns:a16="http://schemas.microsoft.com/office/drawing/2014/main" id="{C8EE524C-7C17-A6B9-94C4-4AA53480846A}"/>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EXTERNALLY (FOOTNOTE)</a:t>
            </a:r>
          </a:p>
        </p:txBody>
      </p:sp>
    </p:spTree>
    <p:extLst>
      <p:ext uri="{BB962C8B-B14F-4D97-AF65-F5344CB8AC3E}">
        <p14:creationId xmlns:p14="http://schemas.microsoft.com/office/powerpoint/2010/main" val="2844324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50357-2418-7489-EA87-54C8D8ED5EFD}"/>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028EC570-3FE5-28B3-266A-310CB4994207}"/>
              </a:ext>
            </a:extLst>
          </p:cNvPr>
          <p:cNvCxnSpPr/>
          <p:nvPr/>
        </p:nvCxnSpPr>
        <p:spPr bwMode="auto">
          <a:xfrm>
            <a:off x="0" y="0"/>
            <a:ext cx="914400" cy="0"/>
          </a:xfrm>
          <a:prstGeom prst="line">
            <a:avLst/>
          </a:prstGeom>
          <a:no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9" name="Line 309">
            <a:extLst>
              <a:ext uri="{FF2B5EF4-FFF2-40B4-BE49-F238E27FC236}">
                <a16:creationId xmlns:a16="http://schemas.microsoft.com/office/drawing/2014/main" id="{39EBB8EF-50C4-0C8F-FC0B-A1228ACC2554}"/>
              </a:ext>
            </a:extLst>
          </p:cNvPr>
          <p:cNvSpPr>
            <a:spLocks noChangeShapeType="1"/>
          </p:cNvSpPr>
          <p:nvPr/>
        </p:nvSpPr>
        <p:spPr bwMode="auto">
          <a:xfrm>
            <a:off x="365760" y="6447963"/>
            <a:ext cx="8412480" cy="0"/>
          </a:xfrm>
          <a:prstGeom prst="line">
            <a:avLst/>
          </a:prstGeom>
          <a:noFill/>
          <a:ln w="9525">
            <a:solidFill>
              <a:srgbClr val="194160"/>
            </a:solidFill>
            <a:round/>
            <a:headEnd/>
            <a:tailEnd/>
          </a:ln>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srgbClr val="000000"/>
              </a:solidFill>
              <a:effectLst/>
              <a:uLnTx/>
              <a:uFillTx/>
              <a:latin typeface="Times New Roman"/>
              <a:ea typeface="+mn-ea"/>
              <a:cs typeface="+mn-cs"/>
            </a:endParaRPr>
          </a:p>
        </p:txBody>
      </p:sp>
      <p:sp>
        <p:nvSpPr>
          <p:cNvPr id="23" name="Rectangle 22">
            <a:extLst>
              <a:ext uri="{FF2B5EF4-FFF2-40B4-BE49-F238E27FC236}">
                <a16:creationId xmlns:a16="http://schemas.microsoft.com/office/drawing/2014/main" id="{E1E89EE1-8437-843E-0667-BF6F4AEB3BA9}"/>
              </a:ext>
            </a:extLst>
          </p:cNvPr>
          <p:cNvSpPr/>
          <p:nvPr/>
        </p:nvSpPr>
        <p:spPr bwMode="auto">
          <a:xfrm>
            <a:off x="4594854" y="4194681"/>
            <a:ext cx="4160520" cy="2167127"/>
          </a:xfrm>
          <a:prstGeom prst="rect">
            <a:avLst/>
          </a:prstGeom>
          <a:solidFill>
            <a:srgbClr val="2B3E59"/>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287338" marR="0" lvl="1" indent="-227013" algn="l" defTabSz="1180824" rtl="0" eaLnBrk="0" fontAlgn="auto" latinLnBrk="0" hangingPunct="0">
              <a:lnSpc>
                <a:spcPct val="100000"/>
              </a:lnSpc>
              <a:spcBef>
                <a:spcPts val="0"/>
              </a:spcBef>
              <a:spcAft>
                <a:spcPts val="600"/>
              </a:spcAft>
              <a:buClr>
                <a:srgbClr val="FFFFFF"/>
              </a:buClr>
              <a:buSzPct val="100000"/>
              <a:buFont typeface="Arial" panose="020B0604020202020204" pitchFamily="34" charset="0"/>
              <a:buChar char="•"/>
              <a:tabLst>
                <a:tab pos="400050" algn="l"/>
                <a:tab pos="1200150" algn="l"/>
                <a:tab pos="2228850" algn="l"/>
                <a:tab pos="2519363" algn="l"/>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grpSp>
        <p:nvGrpSpPr>
          <p:cNvPr id="40" name="Group 39">
            <a:extLst>
              <a:ext uri="{FF2B5EF4-FFF2-40B4-BE49-F238E27FC236}">
                <a16:creationId xmlns:a16="http://schemas.microsoft.com/office/drawing/2014/main" id="{32429505-5EED-AE97-7F09-79551F13EA40}"/>
              </a:ext>
            </a:extLst>
          </p:cNvPr>
          <p:cNvGrpSpPr/>
          <p:nvPr/>
        </p:nvGrpSpPr>
        <p:grpSpPr>
          <a:xfrm>
            <a:off x="1498478" y="5803017"/>
            <a:ext cx="2682623" cy="253916"/>
            <a:chOff x="4774599" y="1832455"/>
            <a:chExt cx="2682623" cy="253916"/>
          </a:xfrm>
          <a:noFill/>
        </p:grpSpPr>
        <p:sp>
          <p:nvSpPr>
            <p:cNvPr id="41" name="TextBox 40">
              <a:extLst>
                <a:ext uri="{FF2B5EF4-FFF2-40B4-BE49-F238E27FC236}">
                  <a16:creationId xmlns:a16="http://schemas.microsoft.com/office/drawing/2014/main" id="{359F0BE2-5F76-40E5-5DB3-CB3B9482CE3C}"/>
                </a:ext>
              </a:extLst>
            </p:cNvPr>
            <p:cNvSpPr txBox="1"/>
            <p:nvPr/>
          </p:nvSpPr>
          <p:spPr>
            <a:xfrm>
              <a:off x="4944996" y="1832455"/>
              <a:ext cx="2512226" cy="253916"/>
            </a:xfrm>
            <a:prstGeom prst="rect">
              <a:avLst/>
            </a:prstGeom>
            <a:grp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 CA               NY                   FL                 TX</a:t>
              </a:r>
            </a:p>
          </p:txBody>
        </p:sp>
        <p:sp>
          <p:nvSpPr>
            <p:cNvPr id="42" name="Rectangle 41">
              <a:extLst>
                <a:ext uri="{FF2B5EF4-FFF2-40B4-BE49-F238E27FC236}">
                  <a16:creationId xmlns:a16="http://schemas.microsoft.com/office/drawing/2014/main" id="{C3E39D45-29CA-DE59-53BD-BADC2F634DE0}"/>
                </a:ext>
              </a:extLst>
            </p:cNvPr>
            <p:cNvSpPr/>
            <p:nvPr/>
          </p:nvSpPr>
          <p:spPr bwMode="auto">
            <a:xfrm>
              <a:off x="4774599" y="1874400"/>
              <a:ext cx="238975" cy="127874"/>
            </a:xfrm>
            <a:prstGeom prst="rect">
              <a:avLst/>
            </a:prstGeom>
            <a:grp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Arial" charset="0"/>
                <a:ea typeface="+mn-ea"/>
                <a:cs typeface="+mn-cs"/>
              </a:endParaRPr>
            </a:p>
          </p:txBody>
        </p:sp>
      </p:grpSp>
      <p:sp>
        <p:nvSpPr>
          <p:cNvPr id="37" name="Rectangle 36">
            <a:extLst>
              <a:ext uri="{FF2B5EF4-FFF2-40B4-BE49-F238E27FC236}">
                <a16:creationId xmlns:a16="http://schemas.microsoft.com/office/drawing/2014/main" id="{828CB064-6547-C6D4-DB1F-0F2914704BFD}"/>
              </a:ext>
            </a:extLst>
          </p:cNvPr>
          <p:cNvSpPr/>
          <p:nvPr/>
        </p:nvSpPr>
        <p:spPr bwMode="auto">
          <a:xfrm>
            <a:off x="363122" y="825084"/>
            <a:ext cx="8412480" cy="338554"/>
          </a:xfrm>
          <a:prstGeom prst="rect">
            <a:avLst/>
          </a:prstGeom>
          <a:solidFill>
            <a:srgbClr val="106280"/>
          </a:solidFill>
        </p:spPr>
        <p:txBody>
          <a:bodyPr wrap="square"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rPr>
              <a:t>II. JOB CREATION HAS SLOWED BUT FIRINGS REMAIN HISTORICALLY LOW</a:t>
            </a:r>
          </a:p>
        </p:txBody>
      </p:sp>
      <p:sp>
        <p:nvSpPr>
          <p:cNvPr id="47" name="Rectangle 46">
            <a:extLst>
              <a:ext uri="{FF2B5EF4-FFF2-40B4-BE49-F238E27FC236}">
                <a16:creationId xmlns:a16="http://schemas.microsoft.com/office/drawing/2014/main" id="{EE1E3D65-62E4-FD97-A29F-7A1DCC61E2F0}"/>
              </a:ext>
            </a:extLst>
          </p:cNvPr>
          <p:cNvSpPr/>
          <p:nvPr/>
        </p:nvSpPr>
        <p:spPr bwMode="auto">
          <a:xfrm>
            <a:off x="363122" y="1208594"/>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LABOR MARKET </a:t>
            </a:r>
            <a:r>
              <a:rPr kumimoji="0" lang="en-US" sz="1800" b="0" i="0" u="none" strike="noStrike" kern="1200" cap="none"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1</a:t>
            </a:r>
            <a:endParaRPr kumimoji="0" lang="en-US" sz="1800" b="0" i="0" u="none" strike="noStrike" kern="1200" cap="none" spc="0" normalizeH="0" baseline="3000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53" name="Rectangle 52">
            <a:extLst>
              <a:ext uri="{FF2B5EF4-FFF2-40B4-BE49-F238E27FC236}">
                <a16:creationId xmlns:a16="http://schemas.microsoft.com/office/drawing/2014/main" id="{F8B27F94-660A-4191-37E9-6F90F47C59A9}"/>
              </a:ext>
            </a:extLst>
          </p:cNvPr>
          <p:cNvSpPr/>
          <p:nvPr/>
        </p:nvSpPr>
        <p:spPr bwMode="auto">
          <a:xfrm>
            <a:off x="4599426" y="1208594"/>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none" lIns="0" tIns="91440" rIns="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U.S. AIR PASSENGER TRAFFIC</a:t>
            </a:r>
            <a:r>
              <a:rPr kumimoji="0" lang="en-US" sz="1800" b="0" i="0" u="none" strike="noStrike" kern="1200" cap="none"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 2</a:t>
            </a:r>
            <a:endParaRPr kumimoji="0" lang="en-US" sz="1800" b="0" i="0" u="none" strike="noStrike" kern="1200" cap="none" spc="-6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54" name="Rectangle 53">
            <a:extLst>
              <a:ext uri="{FF2B5EF4-FFF2-40B4-BE49-F238E27FC236}">
                <a16:creationId xmlns:a16="http://schemas.microsoft.com/office/drawing/2014/main" id="{8DAC1B6A-00D0-895C-45CE-79906166536A}"/>
              </a:ext>
            </a:extLst>
          </p:cNvPr>
          <p:cNvSpPr/>
          <p:nvPr/>
        </p:nvSpPr>
        <p:spPr bwMode="auto">
          <a:xfrm>
            <a:off x="363122" y="3803889"/>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square" lIns="0" tIns="91440" rIns="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4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CONSUMER CONFIDENCE </a:t>
            </a:r>
            <a:r>
              <a:rPr kumimoji="0" lang="en-US" sz="1800" b="0" i="0" u="none" strike="noStrike" kern="1200" cap="none"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3</a:t>
            </a:r>
            <a:endParaRPr kumimoji="0" lang="en-US" sz="18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55" name="Rectangle 54">
            <a:extLst>
              <a:ext uri="{FF2B5EF4-FFF2-40B4-BE49-F238E27FC236}">
                <a16:creationId xmlns:a16="http://schemas.microsoft.com/office/drawing/2014/main" id="{51857159-0D77-5D51-30FA-AAD1DD501F6A}"/>
              </a:ext>
            </a:extLst>
          </p:cNvPr>
          <p:cNvSpPr/>
          <p:nvPr/>
        </p:nvSpPr>
        <p:spPr bwMode="auto">
          <a:xfrm>
            <a:off x="4599426" y="3803889"/>
            <a:ext cx="4160520" cy="342899"/>
          </a:xfrm>
          <a:prstGeom prst="rect">
            <a:avLst/>
          </a:prstGeom>
          <a:solidFill>
            <a:srgbClr val="5891A6"/>
          </a:solidFill>
          <a:ln w="12700" cap="flat" cmpd="sng" algn="ctr">
            <a:no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COMMENTS</a:t>
            </a:r>
            <a:endParaRPr kumimoji="0" lang="en-US" sz="18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endParaRPr>
          </a:p>
        </p:txBody>
      </p:sp>
      <p:sp>
        <p:nvSpPr>
          <p:cNvPr id="62" name="Rectangle 133">
            <a:extLst>
              <a:ext uri="{FF2B5EF4-FFF2-40B4-BE49-F238E27FC236}">
                <a16:creationId xmlns:a16="http://schemas.microsoft.com/office/drawing/2014/main" id="{B557560A-D05D-193B-95D2-38C420D387AC}"/>
              </a:ext>
            </a:extLst>
          </p:cNvPr>
          <p:cNvSpPr>
            <a:spLocks noChangeArrowheads="1"/>
          </p:cNvSpPr>
          <p:nvPr/>
        </p:nvSpPr>
        <p:spPr bwMode="auto">
          <a:xfrm>
            <a:off x="318876" y="6449138"/>
            <a:ext cx="8253623" cy="45016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89890" tIns="44945" rIns="89890" bIns="44945" anchor="t"/>
          <a:lstStyle>
            <a:lvl1pPr defTabSz="1019175" eaLnBrk="0" hangingPunct="0">
              <a:defRPr sz="1000" b="1">
                <a:solidFill>
                  <a:schemeClr val="tx1"/>
                </a:solidFill>
                <a:latin typeface="Arial" charset="0"/>
                <a:cs typeface="Arial" charset="0"/>
              </a:defRPr>
            </a:lvl1pPr>
            <a:lvl2pPr marL="742950" indent="-285750" defTabSz="1019175" eaLnBrk="0" hangingPunct="0">
              <a:defRPr sz="1000" b="1">
                <a:solidFill>
                  <a:schemeClr val="tx1"/>
                </a:solidFill>
                <a:latin typeface="Arial" charset="0"/>
                <a:cs typeface="Arial" charset="0"/>
              </a:defRPr>
            </a:lvl2pPr>
            <a:lvl3pPr marL="1143000" indent="-228600" defTabSz="1019175" eaLnBrk="0" hangingPunct="0">
              <a:defRPr sz="1000" b="1">
                <a:solidFill>
                  <a:schemeClr val="tx1"/>
                </a:solidFill>
                <a:latin typeface="Arial" charset="0"/>
                <a:cs typeface="Arial" charset="0"/>
              </a:defRPr>
            </a:lvl3pPr>
            <a:lvl4pPr marL="1600200" indent="-228600" defTabSz="1019175" eaLnBrk="0" hangingPunct="0">
              <a:defRPr sz="1000" b="1">
                <a:solidFill>
                  <a:schemeClr val="tx1"/>
                </a:solidFill>
                <a:latin typeface="Arial" charset="0"/>
                <a:cs typeface="Arial" charset="0"/>
              </a:defRPr>
            </a:lvl4pPr>
            <a:lvl5pPr marL="2057400" indent="-228600" defTabSz="1019175" eaLnBrk="0" hangingPunct="0">
              <a:defRPr sz="1000" b="1">
                <a:solidFill>
                  <a:schemeClr val="tx1"/>
                </a:solidFill>
                <a:latin typeface="Arial" charset="0"/>
                <a:cs typeface="Arial" charset="0"/>
              </a:defRPr>
            </a:lvl5pPr>
            <a:lvl6pPr marL="2514600" indent="-228600" defTabSz="1019175" eaLnBrk="0" fontAlgn="base" hangingPunct="0">
              <a:spcBef>
                <a:spcPct val="0"/>
              </a:spcBef>
              <a:spcAft>
                <a:spcPct val="0"/>
              </a:spcAft>
              <a:defRPr sz="1000" b="1">
                <a:solidFill>
                  <a:schemeClr val="tx1"/>
                </a:solidFill>
                <a:latin typeface="Arial" charset="0"/>
                <a:cs typeface="Arial" charset="0"/>
              </a:defRPr>
            </a:lvl6pPr>
            <a:lvl7pPr marL="2971800" indent="-228600" defTabSz="1019175" eaLnBrk="0" fontAlgn="base" hangingPunct="0">
              <a:spcBef>
                <a:spcPct val="0"/>
              </a:spcBef>
              <a:spcAft>
                <a:spcPct val="0"/>
              </a:spcAft>
              <a:defRPr sz="1000" b="1">
                <a:solidFill>
                  <a:schemeClr val="tx1"/>
                </a:solidFill>
                <a:latin typeface="Arial" charset="0"/>
                <a:cs typeface="Arial" charset="0"/>
              </a:defRPr>
            </a:lvl7pPr>
            <a:lvl8pPr marL="3429000" indent="-228600" defTabSz="1019175" eaLnBrk="0" fontAlgn="base" hangingPunct="0">
              <a:spcBef>
                <a:spcPct val="0"/>
              </a:spcBef>
              <a:spcAft>
                <a:spcPct val="0"/>
              </a:spcAft>
              <a:defRPr sz="1000" b="1">
                <a:solidFill>
                  <a:schemeClr val="tx1"/>
                </a:solidFill>
                <a:latin typeface="Arial" charset="0"/>
                <a:cs typeface="Arial" charset="0"/>
              </a:defRPr>
            </a:lvl8pPr>
            <a:lvl9pPr marL="3886200" indent="-228600" defTabSz="1019175" eaLnBrk="0" fontAlgn="base" hangingPunct="0">
              <a:spcBef>
                <a:spcPct val="0"/>
              </a:spcBef>
              <a:spcAft>
                <a:spcPct val="0"/>
              </a:spcAft>
              <a:defRPr sz="1000" b="1">
                <a:solidFill>
                  <a:schemeClr val="tx1"/>
                </a:solidFill>
                <a:latin typeface="Arial" charset="0"/>
                <a:cs typeface="Arial" charset="0"/>
              </a:defRPr>
            </a:lvl9pPr>
          </a:lstStyle>
          <a:p>
            <a:pPr marL="0" marR="0" lvl="0" indent="0" algn="l" defTabSz="1019175" rtl="0" eaLnBrk="1" fontAlgn="auto" latinLnBrk="0" hangingPunct="1">
              <a:lnSpc>
                <a:spcPct val="100000"/>
              </a:lnSpc>
              <a:spcBef>
                <a:spcPts val="0"/>
              </a:spcBef>
              <a:spcAft>
                <a:spcPts val="0"/>
              </a:spcAft>
              <a:buClrTx/>
              <a:buSzTx/>
              <a:buFontTx/>
              <a:buNone/>
              <a:tabLst/>
              <a:defRPr/>
            </a:pPr>
            <a:r>
              <a:rPr kumimoji="0" lang="en-US" altLang="en-US" sz="850" b="0" i="0" u="none" strike="noStrike" kern="1200" cap="none"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SOURCE: BLOOMBERG, NBER, PERFORMA | </a:t>
            </a:r>
            <a:r>
              <a:rPr kumimoji="0" lang="en-US" altLang="en-US" sz="850" b="0" i="0" u="none" strike="noStrike" kern="1200" cap="none" spc="0" normalizeH="0" baseline="30000" noProof="0">
                <a:ln>
                  <a:noFill/>
                </a:ln>
                <a:solidFill>
                  <a:srgbClr val="394849"/>
                </a:solidFill>
                <a:effectLst/>
                <a:uLnTx/>
                <a:uFillTx/>
                <a:latin typeface="Poppins" panose="00000500000000000000" pitchFamily="2" charset="0"/>
                <a:ea typeface="+mn-ea"/>
                <a:cs typeface="Poppins" panose="00000500000000000000" pitchFamily="2" charset="0"/>
              </a:rPr>
              <a:t>1 </a:t>
            </a:r>
            <a:r>
              <a:rPr kumimoji="0" lang="en-US" sz="850" b="0" i="0" u="none" strike="noStrike" kern="1200" cap="all"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BLOOMBERG, DEPARTMENT OF LABOR, BLS, PERFORMA </a:t>
            </a:r>
            <a:r>
              <a:rPr kumimoji="0" lang="en-US" altLang="en-US" sz="850" b="0" i="0" u="none" strike="noStrike" kern="1200" cap="none"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a:t>
            </a:r>
            <a:r>
              <a:rPr kumimoji="0" lang="en-US" sz="850" b="0" i="0" u="none" strike="noStrike" kern="1200" cap="all"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 </a:t>
            </a:r>
            <a:r>
              <a:rPr kumimoji="0" lang="en-US" sz="850" b="0" i="0" u="none" strike="noStrike" kern="1200" cap="all" spc="0" normalizeH="0" baseline="30000" noProof="0">
                <a:ln>
                  <a:noFill/>
                </a:ln>
                <a:solidFill>
                  <a:srgbClr val="394849"/>
                </a:solidFill>
                <a:effectLst/>
                <a:uLnTx/>
                <a:uFillTx/>
                <a:latin typeface="Poppins" panose="00000500000000000000" pitchFamily="2" charset="0"/>
                <a:ea typeface="+mn-ea"/>
                <a:cs typeface="Poppins" panose="00000500000000000000" pitchFamily="2" charset="0"/>
              </a:rPr>
              <a:t>2 </a:t>
            </a:r>
            <a:r>
              <a:rPr kumimoji="0" lang="en-US" sz="850" b="0" i="0" u="none" strike="noStrike" kern="1200" cap="all"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PERFORMA, TRANSPORTATION SECURITY ADMINISTRATION,      7-DAY MOVING AVERAGE </a:t>
            </a:r>
            <a:r>
              <a:rPr kumimoji="0" lang="en-US" sz="850" b="0" i="0" u="none" strike="noStrike" kern="1200" cap="all" spc="0" normalizeH="0" baseline="30000" noProof="0">
                <a:ln>
                  <a:noFill/>
                </a:ln>
                <a:solidFill>
                  <a:srgbClr val="394849"/>
                </a:solidFill>
                <a:effectLst/>
                <a:uLnTx/>
                <a:uFillTx/>
                <a:latin typeface="Poppins" panose="00000500000000000000" pitchFamily="2" charset="0"/>
                <a:ea typeface="+mn-ea"/>
                <a:cs typeface="Poppins" panose="00000500000000000000" pitchFamily="2" charset="0"/>
              </a:rPr>
              <a:t>3 </a:t>
            </a:r>
            <a:r>
              <a:rPr kumimoji="0" lang="en-US" altLang="en-US" sz="850" b="0" i="0" u="none" strike="noStrike" kern="1200" cap="none" spc="0" normalizeH="0" baseline="0" noProof="0">
                <a:ln>
                  <a:noFill/>
                </a:ln>
                <a:solidFill>
                  <a:srgbClr val="394849"/>
                </a:solidFill>
                <a:effectLst/>
                <a:uLnTx/>
                <a:uFillTx/>
                <a:latin typeface="Poppins" panose="00000500000000000000" pitchFamily="2" charset="0"/>
                <a:ea typeface="+mn-ea"/>
                <a:cs typeface="Poppins" panose="00000500000000000000" pitchFamily="2" charset="0"/>
              </a:rPr>
              <a:t>CONFERENCE BOARD CONSUMER CONFIDENCE, NBER, BLOOMBERG, PERFORMA</a:t>
            </a:r>
          </a:p>
        </p:txBody>
      </p:sp>
      <p:sp>
        <p:nvSpPr>
          <p:cNvPr id="69" name="Rectangle 68">
            <a:extLst>
              <a:ext uri="{FF2B5EF4-FFF2-40B4-BE49-F238E27FC236}">
                <a16:creationId xmlns:a16="http://schemas.microsoft.com/office/drawing/2014/main" id="{874698F8-9292-255D-F051-650936068B84}"/>
              </a:ext>
            </a:extLst>
          </p:cNvPr>
          <p:cNvSpPr/>
          <p:nvPr/>
        </p:nvSpPr>
        <p:spPr>
          <a:xfrm>
            <a:off x="584630" y="1630397"/>
            <a:ext cx="2321469" cy="25391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DAILY CONFIRMED CASES</a:t>
            </a:r>
            <a:r>
              <a:rPr kumimoji="0" lang="en-US" sz="1050" b="0" i="0" u="none" strike="noStrike" kern="1200" cap="none" spc="0" normalizeH="0" baseline="30000" noProof="0">
                <a:ln>
                  <a:noFill/>
                </a:ln>
                <a:solidFill>
                  <a:srgbClr val="FFFFFF"/>
                </a:solidFill>
                <a:effectLst/>
                <a:uLnTx/>
                <a:uFillTx/>
                <a:latin typeface="Poppins Medium" panose="00000600000000000000" pitchFamily="50" charset="0"/>
                <a:ea typeface="+mn-ea"/>
                <a:cs typeface="Poppins Medium" panose="00000600000000000000" pitchFamily="50" charset="0"/>
              </a:rPr>
              <a:t> 1 </a:t>
            </a:r>
            <a:r>
              <a:rPr kumimoji="0" lang="en-US" sz="1050" b="0" i="0" u="none" strike="noStrike" kern="1200" cap="none" spc="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(LHS</a:t>
            </a:r>
            <a:r>
              <a:rPr kumimoji="0" lang="en-US" sz="800" b="0" i="0" u="none" strike="noStrike" kern="1200" cap="none" spc="0" normalizeH="0" baseline="30000" noProof="0">
                <a:ln>
                  <a:noFill/>
                </a:ln>
                <a:solidFill>
                  <a:srgbClr val="FFFFFF"/>
                </a:solidFill>
                <a:effectLst/>
                <a:uLnTx/>
                <a:uFillTx/>
                <a:latin typeface="Poppins Medium" panose="00000600000000000000" pitchFamily="50" charset="0"/>
                <a:ea typeface="+mn-ea"/>
                <a:cs typeface="Poppins Medium" panose="00000600000000000000" pitchFamily="50" charset="0"/>
              </a:rPr>
              <a:t> </a:t>
            </a:r>
            <a:r>
              <a:rPr kumimoji="0" lang="en-US" sz="1050" b="0" i="0" u="none" strike="noStrike" kern="1200" cap="none" spc="0" normalizeH="0" baseline="30000" noProof="0">
                <a:ln>
                  <a:noFill/>
                </a:ln>
                <a:solidFill>
                  <a:srgbClr val="FFFFFF"/>
                </a:solidFill>
                <a:effectLst/>
                <a:uLnTx/>
                <a:uFillTx/>
                <a:latin typeface="Poppins Medium" panose="00000600000000000000" pitchFamily="50" charset="0"/>
                <a:ea typeface="+mn-ea"/>
                <a:cs typeface="Poppins Medium" panose="00000600000000000000" pitchFamily="50" charset="0"/>
              </a:rPr>
              <a:t>2</a:t>
            </a:r>
            <a:r>
              <a:rPr kumimoji="0" lang="en-US" sz="1050" b="0" i="0" u="none" strike="noStrike" kern="1200" cap="none" spc="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 </a:t>
            </a:r>
            <a:endParaRPr kumimoji="0" lang="en-US" sz="1050" b="0" i="0" u="none" strike="noStrike" kern="1200" cap="none" spc="0" normalizeH="0" baseline="0" noProof="0">
              <a:ln>
                <a:noFill/>
              </a:ln>
              <a:solidFill>
                <a:srgbClr val="000000"/>
              </a:solidFill>
              <a:effectLst/>
              <a:uLnTx/>
              <a:uFillTx/>
              <a:latin typeface="Times New Roman"/>
              <a:ea typeface="+mn-ea"/>
              <a:cs typeface="+mn-cs"/>
            </a:endParaRPr>
          </a:p>
        </p:txBody>
      </p:sp>
      <p:sp>
        <p:nvSpPr>
          <p:cNvPr id="72" name="Rectangle 71">
            <a:extLst>
              <a:ext uri="{FF2B5EF4-FFF2-40B4-BE49-F238E27FC236}">
                <a16:creationId xmlns:a16="http://schemas.microsoft.com/office/drawing/2014/main" id="{343084EB-D648-D2CB-A93A-018A13DBCAFF}"/>
              </a:ext>
            </a:extLst>
          </p:cNvPr>
          <p:cNvSpPr/>
          <p:nvPr/>
        </p:nvSpPr>
        <p:spPr>
          <a:xfrm>
            <a:off x="3006840" y="1632750"/>
            <a:ext cx="1558440" cy="25391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TSA TRAFFIC</a:t>
            </a:r>
            <a:r>
              <a:rPr kumimoji="0" lang="en-US" sz="600" b="0" i="0" u="none" strike="noStrike" kern="1200" cap="none" spc="0" normalizeH="0" baseline="30000" noProof="0">
                <a:ln>
                  <a:noFill/>
                </a:ln>
                <a:solidFill>
                  <a:srgbClr val="FFFFFF"/>
                </a:solidFill>
                <a:effectLst/>
                <a:uLnTx/>
                <a:uFillTx/>
                <a:latin typeface="Poppins Medium" panose="00000600000000000000" pitchFamily="50" charset="0"/>
                <a:ea typeface="+mn-ea"/>
                <a:cs typeface="Poppins Medium" panose="00000600000000000000" pitchFamily="50" charset="0"/>
              </a:rPr>
              <a:t> </a:t>
            </a:r>
            <a:r>
              <a:rPr kumimoji="0" lang="en-US" sz="1050" b="0" i="0" u="none" strike="noStrike" kern="1200" cap="none" spc="0" normalizeH="0" baseline="30000" noProof="0">
                <a:ln>
                  <a:noFill/>
                </a:ln>
                <a:solidFill>
                  <a:srgbClr val="FFFFFF"/>
                </a:solidFill>
                <a:effectLst/>
                <a:uLnTx/>
                <a:uFillTx/>
                <a:latin typeface="Poppins Medium" panose="00000600000000000000" pitchFamily="50" charset="0"/>
                <a:ea typeface="+mn-ea"/>
                <a:cs typeface="Poppins Medium" panose="00000600000000000000" pitchFamily="50" charset="0"/>
              </a:rPr>
              <a:t>3  </a:t>
            </a:r>
            <a:r>
              <a:rPr kumimoji="0" lang="en-US" sz="1050" b="0" i="0" u="none" strike="noStrike" kern="1200" cap="none" spc="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(RHS</a:t>
            </a:r>
            <a:r>
              <a:rPr kumimoji="0" lang="en-US" sz="300" b="0" i="0" u="none" strike="noStrike" kern="1200" cap="none" spc="0" normalizeH="0" baseline="30000" noProof="0">
                <a:ln>
                  <a:noFill/>
                </a:ln>
                <a:solidFill>
                  <a:srgbClr val="FFFFFF"/>
                </a:solidFill>
                <a:effectLst/>
                <a:uLnTx/>
                <a:uFillTx/>
                <a:latin typeface="Poppins Medium" panose="00000600000000000000" pitchFamily="50" charset="0"/>
                <a:ea typeface="+mn-ea"/>
                <a:cs typeface="Poppins Medium" panose="00000600000000000000" pitchFamily="50" charset="0"/>
              </a:rPr>
              <a:t> </a:t>
            </a:r>
            <a:r>
              <a:rPr kumimoji="0" lang="en-US" sz="1050" b="0" i="0" u="none" strike="noStrike" kern="1200" cap="none" spc="0" normalizeH="0" baseline="30000" noProof="0">
                <a:ln>
                  <a:noFill/>
                </a:ln>
                <a:solidFill>
                  <a:srgbClr val="FFFFFF"/>
                </a:solidFill>
                <a:effectLst/>
                <a:uLnTx/>
                <a:uFillTx/>
                <a:latin typeface="Poppins Medium" panose="00000600000000000000" pitchFamily="50" charset="0"/>
                <a:ea typeface="+mn-ea"/>
                <a:cs typeface="Poppins Medium" panose="00000600000000000000" pitchFamily="50" charset="0"/>
              </a:rPr>
              <a:t>2</a:t>
            </a:r>
            <a:r>
              <a:rPr kumimoji="0" lang="en-US" sz="1050" b="0" i="0" u="none" strike="noStrike" kern="1200" cap="none" spc="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 </a:t>
            </a:r>
            <a:endParaRPr kumimoji="0" lang="en-US" sz="1050" b="0" i="0" u="none" strike="noStrike" kern="1200" cap="none" spc="0" normalizeH="0" baseline="0" noProof="0">
              <a:ln>
                <a:noFill/>
              </a:ln>
              <a:solidFill>
                <a:srgbClr val="000000"/>
              </a:solidFill>
              <a:effectLst/>
              <a:uLnTx/>
              <a:uFillTx/>
              <a:latin typeface="Times New Roman"/>
              <a:ea typeface="+mn-ea"/>
              <a:cs typeface="+mn-cs"/>
            </a:endParaRPr>
          </a:p>
        </p:txBody>
      </p:sp>
      <p:graphicFrame>
        <p:nvGraphicFramePr>
          <p:cNvPr id="19" name="Chart 18" hidden="1">
            <a:extLst>
              <a:ext uri="{FF2B5EF4-FFF2-40B4-BE49-F238E27FC236}">
                <a16:creationId xmlns:a16="http://schemas.microsoft.com/office/drawing/2014/main" id="{94D32A24-0DBB-0BFA-25C2-9F608F2B7D4C}"/>
              </a:ext>
            </a:extLst>
          </p:cNvPr>
          <p:cNvGraphicFramePr>
            <a:graphicFrameLocks/>
          </p:cNvGraphicFramePr>
          <p:nvPr/>
        </p:nvGraphicFramePr>
        <p:xfrm>
          <a:off x="363122" y="1593438"/>
          <a:ext cx="4160520" cy="2121408"/>
        </p:xfrm>
        <a:graphic>
          <a:graphicData uri="http://schemas.openxmlformats.org/drawingml/2006/chart">
            <c:chart xmlns:c="http://schemas.openxmlformats.org/drawingml/2006/chart" xmlns:r="http://schemas.openxmlformats.org/officeDocument/2006/relationships" r:id="rId3"/>
          </a:graphicData>
        </a:graphic>
      </p:graphicFrame>
      <p:sp>
        <p:nvSpPr>
          <p:cNvPr id="45" name="TextBox 44">
            <a:extLst>
              <a:ext uri="{FF2B5EF4-FFF2-40B4-BE49-F238E27FC236}">
                <a16:creationId xmlns:a16="http://schemas.microsoft.com/office/drawing/2014/main" id="{A5862F30-26C2-A0E6-3505-B82FEFE559EE}"/>
              </a:ext>
            </a:extLst>
          </p:cNvPr>
          <p:cNvSpPr txBox="1"/>
          <p:nvPr/>
        </p:nvSpPr>
        <p:spPr>
          <a:xfrm>
            <a:off x="4694039" y="4212260"/>
            <a:ext cx="3973142" cy="2118529"/>
          </a:xfrm>
          <a:prstGeom prst="rect">
            <a:avLst/>
          </a:prstGeom>
          <a:noFill/>
        </p:spPr>
        <p:txBody>
          <a:bodyPr wrap="square" rtlCol="0">
            <a:spAutoFit/>
          </a:bodyPr>
          <a:lstStyle/>
          <a:p>
            <a:pPr marL="171450" marR="0" lvl="0" indent="-171450" algn="l" defTabSz="457200" rtl="0" eaLnBrk="1" fontAlgn="t" latinLnBrk="0" hangingPunct="1">
              <a:lnSpc>
                <a:spcPct val="100000"/>
              </a:lnSpc>
              <a:spcBef>
                <a:spcPts val="400"/>
              </a:spcBef>
              <a:spcAft>
                <a:spcPts val="1200"/>
              </a:spcAft>
              <a:buClrTx/>
              <a:buSzPct val="160000"/>
              <a:buFont typeface="Arial" panose="020B0604020202020204" pitchFamily="34" charset="0"/>
              <a:buChar char="•"/>
              <a:tabLst/>
              <a:defRPr/>
            </a:pPr>
            <a:r>
              <a:rPr kumimoji="0" lang="en-US" sz="105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JOB CREATION HAS SLOWED CONSIDERABLY IN RECENT MONTHS WITH THE 3-MONTH MOVING AVERAGE NOW BELOW LONG-TERM HISTORICAL AVERAGES</a:t>
            </a:r>
            <a:r>
              <a:rPr lang="en-US" sz="1050">
                <a:solidFill>
                  <a:srgbClr val="FFFFFF"/>
                </a:solidFill>
                <a:latin typeface="Poppins Medium" panose="00000600000000000000" pitchFamily="2" charset="0"/>
                <a:cs typeface="Poppins Medium" panose="00000600000000000000" pitchFamily="2" charset="0"/>
              </a:rPr>
              <a:t> AT 29K.</a:t>
            </a:r>
            <a:r>
              <a:rPr kumimoji="0" lang="en-US" sz="105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 </a:t>
            </a:r>
          </a:p>
          <a:p>
            <a:pPr marL="171450" marR="0" lvl="0" indent="-171450" algn="l" defTabSz="457200" rtl="0" eaLnBrk="1" fontAlgn="t" latinLnBrk="0" hangingPunct="1">
              <a:lnSpc>
                <a:spcPct val="100000"/>
              </a:lnSpc>
              <a:spcBef>
                <a:spcPts val="400"/>
              </a:spcBef>
              <a:spcAft>
                <a:spcPts val="1200"/>
              </a:spcAft>
              <a:buClrTx/>
              <a:buSzPct val="160000"/>
              <a:buFont typeface="Arial" panose="020B0604020202020204" pitchFamily="34" charset="0"/>
              <a:buChar char="•"/>
              <a:tabLst/>
              <a:defRPr/>
            </a:pPr>
            <a:r>
              <a:rPr kumimoji="0" lang="en-US" sz="105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INITIAL JOBLESS CLAIMS, HOWEVER, REMAIN HISTORICALLY LOW SUGGESTING THAT WE ARE NOT CURRENTLY SEEING LARGE SCALE FIRINGS. </a:t>
            </a:r>
          </a:p>
          <a:p>
            <a:pPr marL="171450" marR="0" lvl="0" indent="-171450" algn="l" defTabSz="457200" rtl="0" eaLnBrk="1" fontAlgn="t" latinLnBrk="0" hangingPunct="1">
              <a:lnSpc>
                <a:spcPct val="100000"/>
              </a:lnSpc>
              <a:spcBef>
                <a:spcPts val="400"/>
              </a:spcBef>
              <a:spcAft>
                <a:spcPts val="1200"/>
              </a:spcAft>
              <a:buClrTx/>
              <a:buSzPct val="160000"/>
              <a:buFont typeface="Arial" panose="020B0604020202020204" pitchFamily="34" charset="0"/>
              <a:buChar char="•"/>
              <a:tabLst/>
              <a:defRPr/>
            </a:pPr>
            <a:r>
              <a:rPr lang="en-US" sz="1050">
                <a:solidFill>
                  <a:srgbClr val="FFFFFF"/>
                </a:solidFill>
                <a:latin typeface="Poppins Medium" panose="00000600000000000000" pitchFamily="2" charset="0"/>
                <a:cs typeface="Poppins Medium" panose="00000600000000000000" pitchFamily="2" charset="0"/>
              </a:rPr>
              <a:t>MEANWHILE, </a:t>
            </a:r>
            <a:r>
              <a:rPr kumimoji="0" lang="en-US" sz="105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HIGH FREQUENCY DATA (LIKE TSA THROUGHPUT (ABOVE), RESTAURANT ACTIVITY AND HOTEL OCCUPANCY) REMAINS SOLID DESPITE WEAK CONSUMER CONFIDENCE DATA. </a:t>
            </a:r>
          </a:p>
        </p:txBody>
      </p:sp>
      <p:grpSp>
        <p:nvGrpSpPr>
          <p:cNvPr id="24" name="UMICHIGAN KEY COLORS" hidden="1">
            <a:extLst>
              <a:ext uri="{FF2B5EF4-FFF2-40B4-BE49-F238E27FC236}">
                <a16:creationId xmlns:a16="http://schemas.microsoft.com/office/drawing/2014/main" id="{F029D753-CBBB-6180-467D-1BFC81586B02}"/>
              </a:ext>
            </a:extLst>
          </p:cNvPr>
          <p:cNvGrpSpPr/>
          <p:nvPr/>
        </p:nvGrpSpPr>
        <p:grpSpPr>
          <a:xfrm>
            <a:off x="1158479" y="4233440"/>
            <a:ext cx="1938856" cy="230716"/>
            <a:chOff x="1158479" y="4233440"/>
            <a:chExt cx="1938856" cy="230716"/>
          </a:xfrm>
        </p:grpSpPr>
        <p:sp>
          <p:nvSpPr>
            <p:cNvPr id="51" name="Flowchart: Terminator 50">
              <a:extLst>
                <a:ext uri="{FF2B5EF4-FFF2-40B4-BE49-F238E27FC236}">
                  <a16:creationId xmlns:a16="http://schemas.microsoft.com/office/drawing/2014/main" id="{9E8972EA-908E-4D0C-C878-BA511BA5AA44}"/>
                </a:ext>
              </a:extLst>
            </p:cNvPr>
            <p:cNvSpPr/>
            <p:nvPr/>
          </p:nvSpPr>
          <p:spPr bwMode="auto">
            <a:xfrm>
              <a:off x="2914455" y="4246995"/>
              <a:ext cx="182880" cy="66675"/>
            </a:xfrm>
            <a:prstGeom prst="flowChartTerminator">
              <a:avLst/>
            </a:prstGeom>
            <a:solidFill>
              <a:schemeClr val="bg1">
                <a:lumMod val="95000"/>
              </a:schemeClr>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6" name="Flowchart: Terminator 55">
              <a:extLst>
                <a:ext uri="{FF2B5EF4-FFF2-40B4-BE49-F238E27FC236}">
                  <a16:creationId xmlns:a16="http://schemas.microsoft.com/office/drawing/2014/main" id="{018CE43D-B71F-ABC5-2B0B-3D30CDEDF4F6}"/>
                </a:ext>
              </a:extLst>
            </p:cNvPr>
            <p:cNvSpPr/>
            <p:nvPr/>
          </p:nvSpPr>
          <p:spPr bwMode="auto">
            <a:xfrm>
              <a:off x="1175768" y="4397481"/>
              <a:ext cx="182880" cy="66675"/>
            </a:xfrm>
            <a:prstGeom prst="flowChartTerminator">
              <a:avLst/>
            </a:prstGeom>
            <a:solidFill>
              <a:srgbClr val="FFB343"/>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8" name="Flowchart: Terminator 57">
              <a:extLst>
                <a:ext uri="{FF2B5EF4-FFF2-40B4-BE49-F238E27FC236}">
                  <a16:creationId xmlns:a16="http://schemas.microsoft.com/office/drawing/2014/main" id="{E01C39E6-5DD1-2953-CD3B-FC3C8EFFA7A2}"/>
                </a:ext>
              </a:extLst>
            </p:cNvPr>
            <p:cNvSpPr/>
            <p:nvPr/>
          </p:nvSpPr>
          <p:spPr bwMode="auto">
            <a:xfrm>
              <a:off x="2914455" y="4397481"/>
              <a:ext cx="182880" cy="66675"/>
            </a:xfrm>
            <a:prstGeom prst="flowChartTerminator">
              <a:avLst/>
            </a:prstGeom>
            <a:solidFill>
              <a:srgbClr val="50BCC7"/>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60" name="Rectangle 59">
              <a:extLst>
                <a:ext uri="{FF2B5EF4-FFF2-40B4-BE49-F238E27FC236}">
                  <a16:creationId xmlns:a16="http://schemas.microsoft.com/office/drawing/2014/main" id="{2E8CF2F8-7D40-6BDB-DEAE-67F3ED614F13}"/>
                </a:ext>
              </a:extLst>
            </p:cNvPr>
            <p:cNvSpPr/>
            <p:nvPr/>
          </p:nvSpPr>
          <p:spPr bwMode="auto">
            <a:xfrm>
              <a:off x="1158479" y="4233440"/>
              <a:ext cx="214037" cy="100099"/>
            </a:xfrm>
            <a:prstGeom prst="rect">
              <a:avLst/>
            </a:prstGeom>
            <a:solidFill>
              <a:srgbClr val="48738A"/>
            </a:solidFill>
            <a:ln w="3175" cap="flat" cmpd="sng" algn="ctr">
              <a:solidFill>
                <a:srgbClr val="FFFFFF">
                  <a:alpha val="92941"/>
                </a:srgb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grpSp>
      <p:sp>
        <p:nvSpPr>
          <p:cNvPr id="68" name="TextBox 67">
            <a:extLst>
              <a:ext uri="{FF2B5EF4-FFF2-40B4-BE49-F238E27FC236}">
                <a16:creationId xmlns:a16="http://schemas.microsoft.com/office/drawing/2014/main" id="{DD055759-833A-2351-4E84-3CA51F00E9CE}"/>
              </a:ext>
            </a:extLst>
          </p:cNvPr>
          <p:cNvSpPr txBox="1"/>
          <p:nvPr/>
        </p:nvSpPr>
        <p:spPr>
          <a:xfrm rot="16200000">
            <a:off x="-423874" y="5232176"/>
            <a:ext cx="1905874" cy="2308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lang="en-US" sz="1000" b="0" i="0" u="none" strike="noStrike" kern="1200" cap="all" baseline="0">
                <a:solidFill>
                  <a:srgbClr val="5891A6"/>
                </a:solidFill>
                <a:latin typeface="Poppins Medium" panose="00000600000000000000" pitchFamily="2" charset="0"/>
                <a:ea typeface="+mn-ea"/>
                <a:cs typeface="Poppins Medium" panose="00000600000000000000" pitchFamily="2" charset="0"/>
              </a:defRPr>
            </a:pPr>
            <a:r>
              <a:rPr kumimoji="0" lang="en-US" sz="9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INDEX</a:t>
            </a:r>
            <a:r>
              <a:rPr kumimoji="0" lang="en-US" sz="900" b="0" i="0" u="none" strike="noStrike" kern="1200" cap="all"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 3</a:t>
            </a:r>
            <a:endParaRPr kumimoji="0" lang="en-US" sz="400" b="0" i="0" u="none" strike="noStrike" kern="1200" cap="all"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endParaRPr>
          </a:p>
        </p:txBody>
      </p:sp>
      <p:sp>
        <p:nvSpPr>
          <p:cNvPr id="7" name="TextBox 6">
            <a:extLst>
              <a:ext uri="{FF2B5EF4-FFF2-40B4-BE49-F238E27FC236}">
                <a16:creationId xmlns:a16="http://schemas.microsoft.com/office/drawing/2014/main" id="{F2F473CD-20DF-B327-D20D-BF3364D9BA24}"/>
              </a:ext>
            </a:extLst>
          </p:cNvPr>
          <p:cNvSpPr txBox="1"/>
          <p:nvPr/>
        </p:nvSpPr>
        <p:spPr>
          <a:xfrm rot="16200000">
            <a:off x="-136366" y="2586564"/>
            <a:ext cx="1280160" cy="2308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lang="en-US" sz="1000" b="0" i="0" u="none" strike="noStrike" kern="1200" cap="all" baseline="0">
                <a:solidFill>
                  <a:srgbClr val="5891A6"/>
                </a:solidFill>
                <a:latin typeface="Poppins Medium" panose="00000600000000000000" pitchFamily="2" charset="0"/>
                <a:ea typeface="+mn-ea"/>
                <a:cs typeface="Poppins Medium" panose="00000600000000000000" pitchFamily="2" charset="0"/>
              </a:defRPr>
            </a:pPr>
            <a:r>
              <a:rPr kumimoji="0" lang="en-US" sz="9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Percent </a:t>
            </a:r>
            <a:r>
              <a:rPr kumimoji="0" lang="en-US" sz="800" b="0" i="0" u="none" strike="noStrike" kern="1200" cap="all"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1</a:t>
            </a:r>
            <a:r>
              <a:rPr kumimoji="0" lang="en-US" sz="9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 </a:t>
            </a:r>
            <a:endParaRPr kumimoji="0" lang="en-US" sz="400" b="0" i="0" u="none" strike="noStrike" kern="1200" cap="all"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endParaRPr>
          </a:p>
        </p:txBody>
      </p:sp>
      <p:grpSp>
        <p:nvGrpSpPr>
          <p:cNvPr id="8" name="Group 7" hidden="1">
            <a:extLst>
              <a:ext uri="{FF2B5EF4-FFF2-40B4-BE49-F238E27FC236}">
                <a16:creationId xmlns:a16="http://schemas.microsoft.com/office/drawing/2014/main" id="{70648541-7CB9-1FA0-11A1-4666991D3C6C}"/>
              </a:ext>
            </a:extLst>
          </p:cNvPr>
          <p:cNvGrpSpPr/>
          <p:nvPr/>
        </p:nvGrpSpPr>
        <p:grpSpPr>
          <a:xfrm>
            <a:off x="6838096" y="1667381"/>
            <a:ext cx="1586329" cy="246221"/>
            <a:chOff x="1295254" y="1826962"/>
            <a:chExt cx="1586329" cy="246221"/>
          </a:xfrm>
        </p:grpSpPr>
        <p:sp>
          <p:nvSpPr>
            <p:cNvPr id="9" name="Rectangle 8">
              <a:extLst>
                <a:ext uri="{FF2B5EF4-FFF2-40B4-BE49-F238E27FC236}">
                  <a16:creationId xmlns:a16="http://schemas.microsoft.com/office/drawing/2014/main" id="{C98F4996-5350-E7ED-658A-1CF93CCE08FA}"/>
                </a:ext>
              </a:extLst>
            </p:cNvPr>
            <p:cNvSpPr/>
            <p:nvPr/>
          </p:nvSpPr>
          <p:spPr>
            <a:xfrm>
              <a:off x="1457795" y="1826962"/>
              <a:ext cx="1423788" cy="24622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20" normalizeH="0" baseline="0" noProof="0">
                  <a:ln>
                    <a:noFill/>
                  </a:ln>
                  <a:solidFill>
                    <a:srgbClr val="FFFFFF"/>
                  </a:solidFill>
                  <a:effectLst/>
                  <a:uLnTx/>
                  <a:uFillTx/>
                  <a:latin typeface="Poppins Medium" panose="00000600000000000000" pitchFamily="50" charset="0"/>
                  <a:ea typeface="+mn-ea"/>
                  <a:cs typeface="Poppins Medium" panose="00000600000000000000" pitchFamily="50" charset="0"/>
                </a:rPr>
                <a:t>CONSUMER CREDIT</a:t>
              </a:r>
              <a:endParaRPr kumimoji="0" lang="en-US" sz="1000" b="0" i="0" u="none" strike="noStrike" kern="1200" cap="none" spc="20" normalizeH="0" baseline="30000" noProof="0">
                <a:ln>
                  <a:noFill/>
                </a:ln>
                <a:solidFill>
                  <a:srgbClr val="000000"/>
                </a:solidFill>
                <a:effectLst/>
                <a:uLnTx/>
                <a:uFillTx/>
                <a:latin typeface="Times New Roman"/>
                <a:ea typeface="+mn-ea"/>
                <a:cs typeface="+mn-cs"/>
              </a:endParaRPr>
            </a:p>
          </p:txBody>
        </p:sp>
        <p:sp>
          <p:nvSpPr>
            <p:cNvPr id="11" name="Flowchart: Terminator 10">
              <a:extLst>
                <a:ext uri="{FF2B5EF4-FFF2-40B4-BE49-F238E27FC236}">
                  <a16:creationId xmlns:a16="http://schemas.microsoft.com/office/drawing/2014/main" id="{0794CA73-144E-E55B-36CD-0F21E5D8CD58}"/>
                </a:ext>
              </a:extLst>
            </p:cNvPr>
            <p:cNvSpPr/>
            <p:nvPr/>
          </p:nvSpPr>
          <p:spPr bwMode="auto">
            <a:xfrm>
              <a:off x="1295254" y="1908158"/>
              <a:ext cx="182880" cy="66675"/>
            </a:xfrm>
            <a:prstGeom prst="flowChartTerminator">
              <a:avLst/>
            </a:prstGeom>
            <a:solidFill>
              <a:srgbClr val="C5DBDC"/>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grpSp>
      <p:sp>
        <p:nvSpPr>
          <p:cNvPr id="57" name="TextBox 56">
            <a:extLst>
              <a:ext uri="{FF2B5EF4-FFF2-40B4-BE49-F238E27FC236}">
                <a16:creationId xmlns:a16="http://schemas.microsoft.com/office/drawing/2014/main" id="{C727ECE8-770E-AC6F-FAE7-1CB0D0051F7D}"/>
              </a:ext>
            </a:extLst>
          </p:cNvPr>
          <p:cNvSpPr txBox="1"/>
          <p:nvPr/>
        </p:nvSpPr>
        <p:spPr>
          <a:xfrm rot="16200000">
            <a:off x="4080839" y="2518183"/>
            <a:ext cx="1280160" cy="2308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lang="en-US" sz="1000" b="0" i="0" u="none" strike="noStrike" kern="1200" cap="all" baseline="0">
                <a:solidFill>
                  <a:srgbClr val="5891A6"/>
                </a:solidFill>
                <a:latin typeface="Poppins Medium" panose="00000600000000000000" pitchFamily="2" charset="0"/>
                <a:ea typeface="+mn-ea"/>
                <a:cs typeface="Poppins Medium" panose="00000600000000000000" pitchFamily="2" charset="0"/>
              </a:defRPr>
            </a:pPr>
            <a:r>
              <a:rPr kumimoji="0" lang="en-US" sz="9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Billions </a:t>
            </a:r>
            <a:r>
              <a:rPr kumimoji="0" lang="en-US" sz="800" b="0" i="0" u="none" strike="noStrike" kern="1200" cap="all"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2</a:t>
            </a:r>
            <a:endParaRPr kumimoji="0" lang="en-US" sz="400" b="0" i="0" u="none" strike="noStrike" kern="1200" cap="all"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endParaRPr>
          </a:p>
        </p:txBody>
      </p:sp>
      <p:pic>
        <p:nvPicPr>
          <p:cNvPr id="12" name="Picture 11" hidden="1">
            <a:extLst>
              <a:ext uri="{FF2B5EF4-FFF2-40B4-BE49-F238E27FC236}">
                <a16:creationId xmlns:a16="http://schemas.microsoft.com/office/drawing/2014/main" id="{1609ACC0-870B-7A95-2C4A-D153BFFE7707}"/>
              </a:ext>
            </a:extLst>
          </p:cNvPr>
          <p:cNvPicPr>
            <a:picLocks noChangeAspect="1"/>
          </p:cNvPicPr>
          <p:nvPr/>
        </p:nvPicPr>
        <p:blipFill>
          <a:blip r:embed="rId4"/>
          <a:stretch>
            <a:fillRect/>
          </a:stretch>
        </p:blipFill>
        <p:spPr>
          <a:xfrm>
            <a:off x="261093" y="1551493"/>
            <a:ext cx="8537261" cy="4868272"/>
          </a:xfrm>
          <a:prstGeom prst="rect">
            <a:avLst/>
          </a:prstGeom>
        </p:spPr>
      </p:pic>
      <p:graphicFrame>
        <p:nvGraphicFramePr>
          <p:cNvPr id="17" name="Object 16" hidden="1">
            <a:extLst>
              <a:ext uri="{FF2B5EF4-FFF2-40B4-BE49-F238E27FC236}">
                <a16:creationId xmlns:a16="http://schemas.microsoft.com/office/drawing/2014/main" id="{5862A9D2-62E5-84FA-D356-420145134C74}"/>
              </a:ext>
            </a:extLst>
          </p:cNvPr>
          <p:cNvGraphicFramePr>
            <a:graphicFrameLocks noChangeAspect="1"/>
          </p:cNvGraphicFramePr>
          <p:nvPr/>
        </p:nvGraphicFramePr>
        <p:xfrm>
          <a:off x="344488" y="1619250"/>
          <a:ext cx="4167187" cy="2103438"/>
        </p:xfrm>
        <a:graphic>
          <a:graphicData uri="http://schemas.openxmlformats.org/presentationml/2006/ole">
            <mc:AlternateContent xmlns:mc="http://schemas.openxmlformats.org/markup-compatibility/2006">
              <mc:Choice xmlns:v="urn:schemas-microsoft-com:vml" Requires="v">
                <p:oleObj name="Worksheet" r:id="rId5" imgW="4167963" imgH="2102790" progId="Excel.Sheet.12">
                  <p:link updateAutomatic="1"/>
                </p:oleObj>
              </mc:Choice>
              <mc:Fallback>
                <p:oleObj name="Worksheet" r:id="rId5" imgW="4167963" imgH="2102790" progId="Excel.Sheet.12">
                  <p:link updateAutomatic="1"/>
                  <p:pic>
                    <p:nvPicPr>
                      <p:cNvPr id="17" name="Object 16" hidden="1">
                        <a:extLst>
                          <a:ext uri="{FF2B5EF4-FFF2-40B4-BE49-F238E27FC236}">
                            <a16:creationId xmlns:a16="http://schemas.microsoft.com/office/drawing/2014/main" id="{5862A9D2-62E5-84FA-D356-420145134C74}"/>
                          </a:ext>
                        </a:extLst>
                      </p:cNvPr>
                      <p:cNvPicPr/>
                      <p:nvPr/>
                    </p:nvPicPr>
                    <p:blipFill>
                      <a:blip r:embed="rId6"/>
                      <a:stretch>
                        <a:fillRect/>
                      </a:stretch>
                    </p:blipFill>
                    <p:spPr>
                      <a:xfrm>
                        <a:off x="344488" y="1619250"/>
                        <a:ext cx="4167187" cy="2103438"/>
                      </a:xfrm>
                      <a:prstGeom prst="rect">
                        <a:avLst/>
                      </a:prstGeom>
                    </p:spPr>
                  </p:pic>
                </p:oleObj>
              </mc:Fallback>
            </mc:AlternateContent>
          </a:graphicData>
        </a:graphic>
      </p:graphicFrame>
      <p:graphicFrame>
        <p:nvGraphicFramePr>
          <p:cNvPr id="20" name="UMICHIGAN CHART" hidden="1">
            <a:extLst>
              <a:ext uri="{FF2B5EF4-FFF2-40B4-BE49-F238E27FC236}">
                <a16:creationId xmlns:a16="http://schemas.microsoft.com/office/drawing/2014/main" id="{7D6B14BA-BD19-8F26-6676-CECB29316792}"/>
              </a:ext>
            </a:extLst>
          </p:cNvPr>
          <p:cNvGraphicFramePr>
            <a:graphicFrameLocks/>
          </p:cNvGraphicFramePr>
          <p:nvPr/>
        </p:nvGraphicFramePr>
        <p:xfrm>
          <a:off x="363122" y="4155447"/>
          <a:ext cx="4172447" cy="219422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 name="UMICHIGAN KEY TABLE" hidden="1">
            <a:extLst>
              <a:ext uri="{FF2B5EF4-FFF2-40B4-BE49-F238E27FC236}">
                <a16:creationId xmlns:a16="http://schemas.microsoft.com/office/drawing/2014/main" id="{E93FA9AD-A6B5-DC34-5370-A8C37A2DCB2B}"/>
              </a:ext>
            </a:extLst>
          </p:cNvPr>
          <p:cNvGraphicFramePr>
            <a:graphicFrameLocks noGrp="1"/>
          </p:cNvGraphicFramePr>
          <p:nvPr/>
        </p:nvGraphicFramePr>
        <p:xfrm>
          <a:off x="1013698" y="4213718"/>
          <a:ext cx="3527821" cy="305770"/>
        </p:xfrm>
        <a:graphic>
          <a:graphicData uri="http://schemas.openxmlformats.org/drawingml/2006/table">
            <a:tbl>
              <a:tblPr firstRow="1" bandRow="1">
                <a:tableStyleId>{5C22544A-7EE6-4342-B048-85BDC9FD1C3A}</a:tableStyleId>
              </a:tblPr>
              <a:tblGrid>
                <a:gridCol w="2100977">
                  <a:extLst>
                    <a:ext uri="{9D8B030D-6E8A-4147-A177-3AD203B41FA5}">
                      <a16:colId xmlns:a16="http://schemas.microsoft.com/office/drawing/2014/main" val="266694139"/>
                    </a:ext>
                  </a:extLst>
                </a:gridCol>
                <a:gridCol w="1426844">
                  <a:extLst>
                    <a:ext uri="{9D8B030D-6E8A-4147-A177-3AD203B41FA5}">
                      <a16:colId xmlns:a16="http://schemas.microsoft.com/office/drawing/2014/main" val="2349679202"/>
                    </a:ext>
                  </a:extLst>
                </a:gridCol>
              </a:tblGrid>
              <a:tr h="152885">
                <a:tc>
                  <a:txBody>
                    <a:bodyPr/>
                    <a:lstStyle/>
                    <a:p>
                      <a:pPr algn="l"/>
                      <a:r>
                        <a:rPr lang="en-US" sz="1000" b="0">
                          <a:solidFill>
                            <a:schemeClr val="bg1"/>
                          </a:solidFill>
                          <a:latin typeface="Poppins Medium" panose="00000600000000000000" pitchFamily="2" charset="0"/>
                          <a:cs typeface="Poppins Medium" panose="00000600000000000000" pitchFamily="2" charset="0"/>
                        </a:rPr>
                        <a:t>           U.S. RECESSION</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806867" rtl="0" eaLnBrk="1" fontAlgn="auto" latinLnBrk="0" hangingPunct="1">
                        <a:lnSpc>
                          <a:spcPct val="100000"/>
                        </a:lnSpc>
                        <a:spcBef>
                          <a:spcPts val="0"/>
                        </a:spcBef>
                        <a:spcAft>
                          <a:spcPts val="0"/>
                        </a:spcAft>
                        <a:buClrTx/>
                        <a:buSzTx/>
                        <a:buFontTx/>
                        <a:buNone/>
                        <a:tabLst/>
                        <a:defRPr/>
                      </a:pPr>
                      <a:r>
                        <a:rPr lang="en-US" sz="1000" b="0">
                          <a:solidFill>
                            <a:schemeClr val="bg1"/>
                          </a:solidFill>
                          <a:latin typeface="Poppins Medium" panose="00000600000000000000" pitchFamily="2" charset="0"/>
                          <a:cs typeface="Poppins Medium" panose="00000600000000000000" pitchFamily="2" charset="0"/>
                        </a:rPr>
                        <a:t>DURABLES</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16930745"/>
                  </a:ext>
                </a:extLst>
              </a:tr>
              <a:tr h="152885">
                <a:tc>
                  <a:txBody>
                    <a:bodyPr/>
                    <a:lstStyle/>
                    <a:p>
                      <a:pPr algn="l"/>
                      <a:r>
                        <a:rPr lang="en-US" sz="1000" b="0">
                          <a:solidFill>
                            <a:schemeClr val="bg1"/>
                          </a:solidFill>
                          <a:latin typeface="Poppins Medium" panose="00000600000000000000" pitchFamily="2" charset="0"/>
                          <a:cs typeface="Poppins Medium" panose="00000600000000000000" pitchFamily="2" charset="0"/>
                        </a:rPr>
                        <a:t>           VEHICLES</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sz="1000" b="0">
                          <a:solidFill>
                            <a:schemeClr val="bg1"/>
                          </a:solidFill>
                          <a:latin typeface="Poppins Medium" panose="00000600000000000000" pitchFamily="2" charset="0"/>
                          <a:cs typeface="Poppins Medium" panose="00000600000000000000" pitchFamily="2" charset="0"/>
                        </a:rPr>
                        <a:t>HOMES</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4288756"/>
                  </a:ext>
                </a:extLst>
              </a:tr>
            </a:tbl>
          </a:graphicData>
        </a:graphic>
      </p:graphicFrame>
      <p:sp>
        <p:nvSpPr>
          <p:cNvPr id="48" name="Slide Number Placeholder 1">
            <a:extLst>
              <a:ext uri="{FF2B5EF4-FFF2-40B4-BE49-F238E27FC236}">
                <a16:creationId xmlns:a16="http://schemas.microsoft.com/office/drawing/2014/main" id="{51502E58-8D4E-3C3B-9D21-F7411F318423}"/>
              </a:ext>
            </a:extLst>
          </p:cNvPr>
          <p:cNvSpPr>
            <a:spLocks noGrp="1"/>
          </p:cNvSpPr>
          <p:nvPr>
            <p:ph type="sldNum" sz="quarter" idx="4"/>
          </p:nvPr>
        </p:nvSpPr>
        <p:spPr>
          <a:xfrm>
            <a:off x="8552919" y="6530228"/>
            <a:ext cx="514350" cy="275945"/>
          </a:xfrm>
          <a:prstGeom prst="rect">
            <a:avLst/>
          </a:prstGeom>
        </p:spPr>
        <p:txBody>
          <a:body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6</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88" name="TextBox 87">
            <a:extLst>
              <a:ext uri="{FF2B5EF4-FFF2-40B4-BE49-F238E27FC236}">
                <a16:creationId xmlns:a16="http://schemas.microsoft.com/office/drawing/2014/main" id="{BEFA74C0-510F-A911-C9FC-71BB8A56C073}"/>
              </a:ext>
            </a:extLst>
          </p:cNvPr>
          <p:cNvSpPr txBox="1"/>
          <p:nvPr/>
        </p:nvSpPr>
        <p:spPr>
          <a:xfrm rot="16200000">
            <a:off x="-133565" y="5003911"/>
            <a:ext cx="1310344" cy="2308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lang="en-US" sz="1000" b="0" i="0" u="none" strike="noStrike" kern="1200" cap="all" baseline="0">
                <a:solidFill>
                  <a:srgbClr val="5891A6"/>
                </a:solidFill>
                <a:latin typeface="Poppins Medium" panose="00000600000000000000" pitchFamily="2" charset="0"/>
                <a:ea typeface="+mn-ea"/>
                <a:cs typeface="Poppins Medium" panose="00000600000000000000" pitchFamily="2" charset="0"/>
              </a:defRPr>
            </a:pPr>
            <a:r>
              <a:rPr kumimoji="0" lang="en-US" sz="9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 OCCUPIED </a:t>
            </a:r>
            <a:r>
              <a:rPr kumimoji="0" lang="en-US" sz="800" b="0" i="0" u="none" strike="noStrike" kern="1200" cap="all"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rPr>
              <a:t>2</a:t>
            </a:r>
            <a:endParaRPr kumimoji="0" lang="en-US" sz="400" b="0" i="0" u="none" strike="noStrike" kern="1200" cap="all" spc="0" normalizeH="0" baseline="30000" noProof="0">
              <a:ln>
                <a:noFill/>
              </a:ln>
              <a:solidFill>
                <a:srgbClr val="FFFFFF"/>
              </a:solidFill>
              <a:effectLst/>
              <a:uLnTx/>
              <a:uFillTx/>
              <a:latin typeface="Poppins Medium" panose="00000600000000000000" pitchFamily="2" charset="0"/>
              <a:ea typeface="+mn-ea"/>
              <a:cs typeface="Poppins Medium" panose="00000600000000000000" pitchFamily="2" charset="0"/>
            </a:endParaRPr>
          </a:p>
        </p:txBody>
      </p:sp>
      <p:grpSp>
        <p:nvGrpSpPr>
          <p:cNvPr id="25" name="Group 24">
            <a:extLst>
              <a:ext uri="{FF2B5EF4-FFF2-40B4-BE49-F238E27FC236}">
                <a16:creationId xmlns:a16="http://schemas.microsoft.com/office/drawing/2014/main" id="{75C22FBE-FC2B-B50A-32A8-300EECBCD193}"/>
              </a:ext>
            </a:extLst>
          </p:cNvPr>
          <p:cNvGrpSpPr/>
          <p:nvPr/>
        </p:nvGrpSpPr>
        <p:grpSpPr>
          <a:xfrm>
            <a:off x="1980581" y="4220177"/>
            <a:ext cx="1095584" cy="253916"/>
            <a:chOff x="6218666" y="1789109"/>
            <a:chExt cx="1095584" cy="253916"/>
          </a:xfrm>
        </p:grpSpPr>
        <p:sp>
          <p:nvSpPr>
            <p:cNvPr id="26" name="Rectangle 25">
              <a:extLst>
                <a:ext uri="{FF2B5EF4-FFF2-40B4-BE49-F238E27FC236}">
                  <a16:creationId xmlns:a16="http://schemas.microsoft.com/office/drawing/2014/main" id="{8E4A85F0-A1AE-9CF1-3DE9-AC9A9E686CC7}"/>
                </a:ext>
              </a:extLst>
            </p:cNvPr>
            <p:cNvSpPr/>
            <p:nvPr/>
          </p:nvSpPr>
          <p:spPr bwMode="auto">
            <a:xfrm>
              <a:off x="6218666" y="1853396"/>
              <a:ext cx="214037" cy="100099"/>
            </a:xfrm>
            <a:prstGeom prst="rect">
              <a:avLst/>
            </a:prstGeom>
            <a:solidFill>
              <a:srgbClr val="698D9D"/>
            </a:solidFill>
            <a:ln w="3175" cap="flat" cmpd="sng" algn="ctr">
              <a:solidFill>
                <a:srgbClr val="FFFFFF">
                  <a:alpha val="92941"/>
                </a:srgb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7" name="TextBox 26">
              <a:extLst>
                <a:ext uri="{FF2B5EF4-FFF2-40B4-BE49-F238E27FC236}">
                  <a16:creationId xmlns:a16="http://schemas.microsoft.com/office/drawing/2014/main" id="{0A23AA8B-FF66-5C9E-5E4C-D5CEA4E05EA6}"/>
                </a:ext>
              </a:extLst>
            </p:cNvPr>
            <p:cNvSpPr txBox="1"/>
            <p:nvPr/>
          </p:nvSpPr>
          <p:spPr>
            <a:xfrm>
              <a:off x="6414645" y="1789109"/>
              <a:ext cx="899605"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RECESSION</a:t>
              </a:r>
            </a:p>
          </p:txBody>
        </p:sp>
      </p:grpSp>
      <p:sp>
        <p:nvSpPr>
          <p:cNvPr id="3" name="PAGE NUMBER HIDE" hidden="1">
            <a:extLst>
              <a:ext uri="{FF2B5EF4-FFF2-40B4-BE49-F238E27FC236}">
                <a16:creationId xmlns:a16="http://schemas.microsoft.com/office/drawing/2014/main" id="{478C88F8-4A94-BB8C-CE7B-314E2EAE5B90}"/>
              </a:ext>
            </a:extLst>
          </p:cNvPr>
          <p:cNvSpPr/>
          <p:nvPr/>
        </p:nvSpPr>
        <p:spPr bwMode="auto">
          <a:xfrm>
            <a:off x="8552919" y="6530228"/>
            <a:ext cx="272205" cy="220845"/>
          </a:xfrm>
          <a:prstGeom prst="ellipse">
            <a:avLst/>
          </a:prstGeom>
          <a:solidFill>
            <a:schemeClr val="bg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Title 1">
            <a:extLst>
              <a:ext uri="{FF2B5EF4-FFF2-40B4-BE49-F238E27FC236}">
                <a16:creationId xmlns:a16="http://schemas.microsoft.com/office/drawing/2014/main" id="{5910FF28-C562-27F0-5C6D-11C338F5677F}"/>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marL="0" marR="0" lvl="0" indent="0" algn="l" defTabSz="1042203" rtl="0" eaLnBrk="0" fontAlgn="base" latinLnBrk="0" hangingPunct="0">
              <a:lnSpc>
                <a:spcPct val="98000"/>
              </a:lnSpc>
              <a:spcBef>
                <a:spcPct val="0"/>
              </a:spcBef>
              <a:spcAft>
                <a:spcPct val="0"/>
              </a:spcAft>
              <a:buClrTx/>
              <a:buSzTx/>
              <a:buFontTx/>
              <a:buNone/>
              <a:tabLst/>
              <a:defRPr/>
            </a:pPr>
            <a:r>
              <a:rPr kumimoji="0" lang="en-US" sz="180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rPr>
              <a:t>MARKET UPDATE</a:t>
            </a:r>
          </a:p>
        </p:txBody>
      </p:sp>
      <p:graphicFrame>
        <p:nvGraphicFramePr>
          <p:cNvPr id="31" name="Chart 30">
            <a:extLst>
              <a:ext uri="{FF2B5EF4-FFF2-40B4-BE49-F238E27FC236}">
                <a16:creationId xmlns:a16="http://schemas.microsoft.com/office/drawing/2014/main" id="{93EC793D-9A3A-0BB9-A9E6-6620D7D910E6}"/>
              </a:ext>
            </a:extLst>
          </p:cNvPr>
          <p:cNvGraphicFramePr>
            <a:graphicFrameLocks/>
          </p:cNvGraphicFramePr>
          <p:nvPr/>
        </p:nvGraphicFramePr>
        <p:xfrm>
          <a:off x="363122" y="1594056"/>
          <a:ext cx="4160520" cy="2167128"/>
        </p:xfrm>
        <a:graphic>
          <a:graphicData uri="http://schemas.openxmlformats.org/drawingml/2006/chart">
            <c:chart xmlns:c="http://schemas.openxmlformats.org/drawingml/2006/chart" xmlns:r="http://schemas.openxmlformats.org/officeDocument/2006/relationships" r:id="rId8"/>
          </a:graphicData>
        </a:graphic>
      </p:graphicFrame>
      <p:sp>
        <p:nvSpPr>
          <p:cNvPr id="33" name="TextBox 32">
            <a:extLst>
              <a:ext uri="{FF2B5EF4-FFF2-40B4-BE49-F238E27FC236}">
                <a16:creationId xmlns:a16="http://schemas.microsoft.com/office/drawing/2014/main" id="{A9EB3668-10A3-9243-BE7B-5A8DDAF182FA}"/>
              </a:ext>
            </a:extLst>
          </p:cNvPr>
          <p:cNvSpPr txBox="1"/>
          <p:nvPr/>
        </p:nvSpPr>
        <p:spPr>
          <a:xfrm rot="16200000">
            <a:off x="-820627" y="2583962"/>
            <a:ext cx="2627555" cy="2308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900" b="0" i="0" u="none" strike="noStrike" kern="1200" baseline="0">
                <a:solidFill>
                  <a:prstClr val="white"/>
                </a:solidFill>
                <a:latin typeface="Poppins" panose="00000500000000000000" pitchFamily="50" charset="0"/>
                <a:ea typeface="+mn-ea"/>
                <a:cs typeface="Poppins" panose="00000500000000000000" pitchFamily="50" charset="0"/>
              </a:defRPr>
            </a:pPr>
            <a:r>
              <a:rPr kumimoji="0" lang="en-US" sz="850" b="0" i="0" u="none" strike="noStrike" kern="1200" cap="none" spc="0" normalizeH="0" baseline="0" noProof="0">
                <a:ln>
                  <a:noFill/>
                </a:ln>
                <a:solidFill>
                  <a:srgbClr val="FFFFFF"/>
                </a:solidFill>
                <a:effectLst/>
                <a:uLnTx/>
                <a:uFillTx/>
                <a:latin typeface="Poppins" panose="00000500000000000000" pitchFamily="50" charset="0"/>
                <a:ea typeface="+mn-ea"/>
                <a:cs typeface="Poppins" panose="00000500000000000000" pitchFamily="50" charset="0"/>
              </a:rPr>
              <a:t>MONTHLY AVERAGE (THOUSANDS)</a:t>
            </a:r>
          </a:p>
        </p:txBody>
      </p:sp>
      <p:sp>
        <p:nvSpPr>
          <p:cNvPr id="43" name="TextBox 42">
            <a:extLst>
              <a:ext uri="{FF2B5EF4-FFF2-40B4-BE49-F238E27FC236}">
                <a16:creationId xmlns:a16="http://schemas.microsoft.com/office/drawing/2014/main" id="{EF165C51-A590-4B42-03CD-57B0FB9D28FA}"/>
              </a:ext>
            </a:extLst>
          </p:cNvPr>
          <p:cNvSpPr txBox="1"/>
          <p:nvPr/>
        </p:nvSpPr>
        <p:spPr>
          <a:xfrm rot="16200000">
            <a:off x="2130676" y="2569919"/>
            <a:ext cx="4572000" cy="2308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lang="en-US" sz="1000" b="0" i="0" u="none" strike="noStrike" kern="1200" cap="all" baseline="0">
                <a:solidFill>
                  <a:prstClr val="white"/>
                </a:solidFill>
                <a:latin typeface="Poppins" panose="00000500000000000000" pitchFamily="50" charset="0"/>
                <a:ea typeface="+mn-ea"/>
                <a:cs typeface="Poppins" panose="00000500000000000000" pitchFamily="50" charset="0"/>
              </a:defRPr>
            </a:pPr>
            <a:r>
              <a:rPr kumimoji="0" lang="en-US" sz="850" b="0" i="0" u="none" strike="noStrike" kern="1200" cap="all" spc="0" normalizeH="0" baseline="0" noProof="0">
                <a:ln>
                  <a:noFill/>
                </a:ln>
                <a:solidFill>
                  <a:srgbClr val="FFFFFF"/>
                </a:solidFill>
                <a:effectLst/>
                <a:uLnTx/>
                <a:uFillTx/>
                <a:latin typeface="Poppins" panose="00000500000000000000" pitchFamily="50" charset="0"/>
                <a:ea typeface="+mn-ea"/>
                <a:cs typeface="Poppins" panose="00000500000000000000" pitchFamily="50" charset="0"/>
              </a:rPr>
              <a:t>3 mo. moving avG (thousands)</a:t>
            </a:r>
          </a:p>
        </p:txBody>
      </p:sp>
      <p:grpSp>
        <p:nvGrpSpPr>
          <p:cNvPr id="44" name="Group 43">
            <a:extLst>
              <a:ext uri="{FF2B5EF4-FFF2-40B4-BE49-F238E27FC236}">
                <a16:creationId xmlns:a16="http://schemas.microsoft.com/office/drawing/2014/main" id="{065EFE9E-51D5-967D-8CFF-547B63BA4ABC}"/>
              </a:ext>
            </a:extLst>
          </p:cNvPr>
          <p:cNvGrpSpPr/>
          <p:nvPr/>
        </p:nvGrpSpPr>
        <p:grpSpPr>
          <a:xfrm>
            <a:off x="3097335" y="1967923"/>
            <a:ext cx="230833" cy="1399784"/>
            <a:chOff x="5634525" y="-1786928"/>
            <a:chExt cx="601039" cy="3644722"/>
          </a:xfrm>
        </p:grpSpPr>
        <p:sp>
          <p:nvSpPr>
            <p:cNvPr id="46" name="Rectangle: Rounded Corners 45">
              <a:extLst>
                <a:ext uri="{FF2B5EF4-FFF2-40B4-BE49-F238E27FC236}">
                  <a16:creationId xmlns:a16="http://schemas.microsoft.com/office/drawing/2014/main" id="{3EAABA14-4A42-82EC-E9E3-5E7C7F035F5E}"/>
                </a:ext>
              </a:extLst>
            </p:cNvPr>
            <p:cNvSpPr/>
            <p:nvPr/>
          </p:nvSpPr>
          <p:spPr bwMode="auto">
            <a:xfrm>
              <a:off x="5634525" y="-1786928"/>
              <a:ext cx="601039" cy="3644722"/>
            </a:xfrm>
            <a:prstGeom prst="roundRect">
              <a:avLst/>
            </a:prstGeom>
            <a:solidFill>
              <a:srgbClr val="ED7D31">
                <a:alpha val="30196"/>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0" name="TextBox 49">
              <a:extLst>
                <a:ext uri="{FF2B5EF4-FFF2-40B4-BE49-F238E27FC236}">
                  <a16:creationId xmlns:a16="http://schemas.microsoft.com/office/drawing/2014/main" id="{69DEB74B-EE08-401D-EE40-D2BD4867B2FD}"/>
                </a:ext>
              </a:extLst>
            </p:cNvPr>
            <p:cNvSpPr txBox="1"/>
            <p:nvPr/>
          </p:nvSpPr>
          <p:spPr>
            <a:xfrm rot="16200000">
              <a:off x="4123170" y="-200095"/>
              <a:ext cx="3623746" cy="48083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COVID-19 DATA </a:t>
              </a:r>
              <a:r>
                <a:rPr kumimoji="0" lang="en-US" sz="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REMOVED</a:t>
              </a:r>
              <a:r>
                <a:rPr kumimoji="0" lang="en-US" sz="5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 FOR SCALE</a:t>
              </a:r>
            </a:p>
          </p:txBody>
        </p:sp>
      </p:grpSp>
      <p:sp>
        <p:nvSpPr>
          <p:cNvPr id="29" name="Rectangle 28">
            <a:extLst>
              <a:ext uri="{FF2B5EF4-FFF2-40B4-BE49-F238E27FC236}">
                <a16:creationId xmlns:a16="http://schemas.microsoft.com/office/drawing/2014/main" id="{7C7C67CB-7A91-5F29-7CFA-B08FFCC4DAA3}"/>
              </a:ext>
            </a:extLst>
          </p:cNvPr>
          <p:cNvSpPr/>
          <p:nvPr/>
        </p:nvSpPr>
        <p:spPr bwMode="auto">
          <a:xfrm>
            <a:off x="286233" y="1550405"/>
            <a:ext cx="8552968" cy="45719"/>
          </a:xfrm>
          <a:prstGeom prst="rect">
            <a:avLst/>
          </a:prstGeom>
          <a:solidFill>
            <a:schemeClr val="bg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graphicFrame>
        <p:nvGraphicFramePr>
          <p:cNvPr id="13" name="Chart 12">
            <a:extLst>
              <a:ext uri="{FF2B5EF4-FFF2-40B4-BE49-F238E27FC236}">
                <a16:creationId xmlns:a16="http://schemas.microsoft.com/office/drawing/2014/main" id="{00000000-0008-0000-0000-00000B000000}"/>
              </a:ext>
            </a:extLst>
          </p:cNvPr>
          <p:cNvGraphicFramePr>
            <a:graphicFrameLocks noChangeAspect="1"/>
          </p:cNvGraphicFramePr>
          <p:nvPr/>
        </p:nvGraphicFramePr>
        <p:xfrm>
          <a:off x="363122" y="4194681"/>
          <a:ext cx="4167733" cy="2168897"/>
        </p:xfrm>
        <a:graphic>
          <a:graphicData uri="http://schemas.openxmlformats.org/drawingml/2006/chart">
            <c:chart xmlns:c="http://schemas.openxmlformats.org/drawingml/2006/chart" xmlns:r="http://schemas.openxmlformats.org/officeDocument/2006/relationships" r:id="rId9"/>
          </a:graphicData>
        </a:graphic>
      </p:graphicFrame>
      <p:sp>
        <p:nvSpPr>
          <p:cNvPr id="22" name="TextBox 21">
            <a:extLst>
              <a:ext uri="{FF2B5EF4-FFF2-40B4-BE49-F238E27FC236}">
                <a16:creationId xmlns:a16="http://schemas.microsoft.com/office/drawing/2014/main" id="{A27B1E15-6499-22EA-4A3D-0AA4DF34A3F3}"/>
              </a:ext>
            </a:extLst>
          </p:cNvPr>
          <p:cNvSpPr txBox="1"/>
          <p:nvPr/>
        </p:nvSpPr>
        <p:spPr>
          <a:xfrm rot="16200000">
            <a:off x="-170253" y="5162451"/>
            <a:ext cx="1310344" cy="2308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lang="en-US" sz="1000" b="0" i="0" u="none" strike="noStrike" kern="1200" cap="all" baseline="0">
                <a:solidFill>
                  <a:srgbClr val="5891A6"/>
                </a:solidFill>
                <a:latin typeface="Poppins Medium" panose="00000600000000000000" pitchFamily="2" charset="0"/>
                <a:ea typeface="+mn-ea"/>
                <a:cs typeface="Poppins Medium" panose="00000600000000000000" pitchFamily="2" charset="0"/>
              </a:defRPr>
            </a:pPr>
            <a:r>
              <a:rPr kumimoji="0" lang="en-US" sz="850" b="0" i="0" u="none" strike="noStrike" kern="1200" cap="all" spc="0" normalizeH="0" baseline="0" noProof="0">
                <a:ln>
                  <a:noFill/>
                </a:ln>
                <a:solidFill>
                  <a:srgbClr val="FFFFFF"/>
                </a:solidFill>
                <a:effectLst/>
                <a:uLnTx/>
                <a:uFillTx/>
                <a:latin typeface="Poppins" panose="00000500000000000000" pitchFamily="50" charset="0"/>
                <a:ea typeface="+mn-ea"/>
                <a:cs typeface="Poppins" panose="00000500000000000000" pitchFamily="50" charset="0"/>
              </a:rPr>
              <a:t>INDEX</a:t>
            </a:r>
          </a:p>
        </p:txBody>
      </p:sp>
      <p:pic>
        <p:nvPicPr>
          <p:cNvPr id="6" name="Picture 5">
            <a:extLst>
              <a:ext uri="{FF2B5EF4-FFF2-40B4-BE49-F238E27FC236}">
                <a16:creationId xmlns:a16="http://schemas.microsoft.com/office/drawing/2014/main" id="{583F2845-77DA-7B15-0C67-5A329DA7E8D6}"/>
              </a:ext>
            </a:extLst>
          </p:cNvPr>
          <p:cNvPicPr>
            <a:picLocks noChangeAspect="1"/>
          </p:cNvPicPr>
          <p:nvPr/>
        </p:nvPicPr>
        <p:blipFill>
          <a:blip r:embed="rId10"/>
          <a:stretch>
            <a:fillRect/>
          </a:stretch>
        </p:blipFill>
        <p:spPr>
          <a:xfrm>
            <a:off x="4588347" y="1584509"/>
            <a:ext cx="4163929" cy="2170364"/>
          </a:xfrm>
          <a:prstGeom prst="rect">
            <a:avLst/>
          </a:prstGeom>
        </p:spPr>
      </p:pic>
      <p:sp>
        <p:nvSpPr>
          <p:cNvPr id="10" name="TextBox 9">
            <a:extLst>
              <a:ext uri="{FF2B5EF4-FFF2-40B4-BE49-F238E27FC236}">
                <a16:creationId xmlns:a16="http://schemas.microsoft.com/office/drawing/2014/main" id="{5C393B67-10C8-2038-4614-C3AB75F2C12D}"/>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EXTERNALLY (FOOTNOTE)</a:t>
            </a:r>
          </a:p>
        </p:txBody>
      </p:sp>
    </p:spTree>
    <p:extLst>
      <p:ext uri="{BB962C8B-B14F-4D97-AF65-F5344CB8AC3E}">
        <p14:creationId xmlns:p14="http://schemas.microsoft.com/office/powerpoint/2010/main" val="1486915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9EB52-EA79-9ADF-7156-173C6C6128EF}"/>
            </a:ext>
          </a:extLst>
        </p:cNvPr>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AD3540B9-9F10-EF6A-75D7-9A1392B658F9}"/>
              </a:ext>
            </a:extLst>
          </p:cNvPr>
          <p:cNvSpPr/>
          <p:nvPr/>
        </p:nvSpPr>
        <p:spPr bwMode="auto">
          <a:xfrm>
            <a:off x="377042" y="3133574"/>
            <a:ext cx="6642925" cy="1359884"/>
          </a:xfrm>
          <a:prstGeom prst="roundRect">
            <a:avLst>
              <a:gd name="adj" fmla="val 0"/>
            </a:avLst>
          </a:prstGeom>
          <a:gradFill>
            <a:gsLst>
              <a:gs pos="86000">
                <a:srgbClr val="98B6B3"/>
              </a:gs>
              <a:gs pos="86000">
                <a:srgbClr val="66908C"/>
              </a:gs>
            </a:gsLst>
            <a:lin ang="5400000" scaled="0"/>
          </a:gradFill>
          <a:ln w="76200" cap="flat" cmpd="sng" algn="ctr">
            <a:noFill/>
            <a:prstDash val="solid"/>
            <a:round/>
            <a:headEnd type="none" w="med" len="med"/>
            <a:tailEnd type="none" w="med" len="med"/>
          </a:ln>
          <a:effectLst/>
        </p:spPr>
        <p:txBody>
          <a:bodyPr vert="horz" wrap="square" lIns="365760" tIns="91440" rIns="182880" bIns="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700" b="0" i="0" u="none" strike="noStrike" kern="1200" cap="none" spc="0" normalizeH="0" baseline="0" noProof="0">
              <a:ln>
                <a:noFill/>
              </a:ln>
              <a:solidFill>
                <a:srgbClr val="106280"/>
              </a:solidFill>
              <a:effectLst/>
              <a:uLnTx/>
              <a:uFillTx/>
              <a:latin typeface="Poppins" panose="00000500000000000000" pitchFamily="2" charset="0"/>
              <a:ea typeface="+mn-ea"/>
              <a:cs typeface="Poppins" panose="00000500000000000000" pitchFamily="2" charset="0"/>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700" b="0" i="0" u="none" strike="noStrike" kern="1200" cap="none" spc="0" normalizeH="0" baseline="0" noProof="0">
                <a:ln>
                  <a:noFill/>
                </a:ln>
                <a:solidFill>
                  <a:srgbClr val="106280"/>
                </a:solidFill>
                <a:effectLst/>
                <a:uLnTx/>
                <a:uFillTx/>
                <a:latin typeface="Poppins" panose="00000500000000000000" pitchFamily="2" charset="0"/>
                <a:ea typeface="+mn-ea"/>
                <a:cs typeface="Poppins" panose="00000500000000000000" pitchFamily="2" charset="0"/>
              </a:rPr>
              <a:t>	</a:t>
            </a:r>
          </a:p>
        </p:txBody>
      </p:sp>
      <p:sp>
        <p:nvSpPr>
          <p:cNvPr id="31" name="Line 309">
            <a:extLst>
              <a:ext uri="{FF2B5EF4-FFF2-40B4-BE49-F238E27FC236}">
                <a16:creationId xmlns:a16="http://schemas.microsoft.com/office/drawing/2014/main" id="{2FEEAD39-9412-38D6-82A8-C3EAAED2EE76}"/>
              </a:ext>
            </a:extLst>
          </p:cNvPr>
          <p:cNvSpPr>
            <a:spLocks noChangeShapeType="1"/>
          </p:cNvSpPr>
          <p:nvPr/>
        </p:nvSpPr>
        <p:spPr bwMode="auto">
          <a:xfrm>
            <a:off x="365760" y="6498173"/>
            <a:ext cx="8412480" cy="0"/>
          </a:xfrm>
          <a:prstGeom prst="line">
            <a:avLst/>
          </a:prstGeom>
          <a:noFill/>
          <a:ln w="9525">
            <a:solidFill>
              <a:srgbClr val="194160"/>
            </a:solidFill>
            <a:round/>
            <a:headEnd/>
            <a:tailEnd/>
          </a:ln>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srgbClr val="000000"/>
              </a:solidFill>
              <a:effectLst/>
              <a:uLnTx/>
              <a:uFillTx/>
              <a:latin typeface="Times New Roman"/>
              <a:ea typeface="+mn-ea"/>
              <a:cs typeface="+mn-cs"/>
            </a:endParaRPr>
          </a:p>
        </p:txBody>
      </p:sp>
      <p:sp>
        <p:nvSpPr>
          <p:cNvPr id="10" name="Slide Number Placeholder 1">
            <a:extLst>
              <a:ext uri="{FF2B5EF4-FFF2-40B4-BE49-F238E27FC236}">
                <a16:creationId xmlns:a16="http://schemas.microsoft.com/office/drawing/2014/main" id="{C6AD4127-8B1F-2B3D-F775-B27A21EC2466}"/>
              </a:ext>
            </a:extLst>
          </p:cNvPr>
          <p:cNvSpPr>
            <a:spLocks noGrp="1"/>
          </p:cNvSpPr>
          <p:nvPr>
            <p:ph type="sldNum" sz="quarter" idx="4"/>
          </p:nvPr>
        </p:nvSpPr>
        <p:spPr>
          <a:xfrm>
            <a:off x="8552919" y="6530228"/>
            <a:ext cx="514350" cy="275945"/>
          </a:xfrm>
          <a:prstGeom prst="rect">
            <a:avLst/>
          </a:prstGeom>
        </p:spPr>
        <p:txBody>
          <a:body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smtClean="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7</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2" name="Title 1">
            <a:extLst>
              <a:ext uri="{FF2B5EF4-FFF2-40B4-BE49-F238E27FC236}">
                <a16:creationId xmlns:a16="http://schemas.microsoft.com/office/drawing/2014/main" id="{AB5F1901-3C4F-D6C5-D1FC-8A0F107101FA}"/>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marL="0" marR="0" lvl="0" indent="0" algn="l" defTabSz="1042203" rtl="0" eaLnBrk="0" fontAlgn="base" latinLnBrk="0" hangingPunct="0">
              <a:lnSpc>
                <a:spcPct val="98000"/>
              </a:lnSpc>
              <a:spcBef>
                <a:spcPct val="0"/>
              </a:spcBef>
              <a:spcAft>
                <a:spcPct val="0"/>
              </a:spcAft>
              <a:buClrTx/>
              <a:buSzTx/>
              <a:buFontTx/>
              <a:buNone/>
              <a:tabLst/>
              <a:defRPr/>
            </a:pPr>
            <a:r>
              <a:rPr kumimoji="0" lang="en-US" sz="180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rPr>
              <a:t>MARKET UPDATE</a:t>
            </a:r>
            <a:endParaRPr kumimoji="0" lang="en-US" sz="105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endParaRPr>
          </a:p>
        </p:txBody>
      </p:sp>
      <p:pic>
        <p:nvPicPr>
          <p:cNvPr id="46" name="Graphic 45" descr="Play with solid fill" hidden="1">
            <a:extLst>
              <a:ext uri="{FF2B5EF4-FFF2-40B4-BE49-F238E27FC236}">
                <a16:creationId xmlns:a16="http://schemas.microsoft.com/office/drawing/2014/main" id="{B3ED5A95-185A-490D-4A84-6948BF5DC9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54947" y="701670"/>
            <a:ext cx="914400" cy="914400"/>
          </a:xfrm>
          <a:prstGeom prst="rect">
            <a:avLst/>
          </a:prstGeom>
        </p:spPr>
      </p:pic>
      <p:sp>
        <p:nvSpPr>
          <p:cNvPr id="57" name="Rectangle: Rounded Corners 56">
            <a:extLst>
              <a:ext uri="{FF2B5EF4-FFF2-40B4-BE49-F238E27FC236}">
                <a16:creationId xmlns:a16="http://schemas.microsoft.com/office/drawing/2014/main" id="{A738D1BA-163F-87B6-CC09-8E35E873CEB3}"/>
              </a:ext>
            </a:extLst>
          </p:cNvPr>
          <p:cNvSpPr/>
          <p:nvPr/>
        </p:nvSpPr>
        <p:spPr bwMode="auto">
          <a:xfrm>
            <a:off x="365761" y="1434303"/>
            <a:ext cx="5552235" cy="1359884"/>
          </a:xfrm>
          <a:prstGeom prst="roundRect">
            <a:avLst>
              <a:gd name="adj" fmla="val 0"/>
            </a:avLst>
          </a:prstGeom>
          <a:gradFill>
            <a:gsLst>
              <a:gs pos="86000">
                <a:srgbClr val="ADC2C7"/>
              </a:gs>
              <a:gs pos="85000">
                <a:srgbClr val="7D9FA7"/>
              </a:gs>
            </a:gsLst>
            <a:lin ang="5400000" scaled="0"/>
          </a:gradFill>
          <a:ln w="76200" cap="flat" cmpd="sng" algn="ctr">
            <a:noFill/>
            <a:prstDash val="solid"/>
            <a:round/>
            <a:headEnd type="none" w="med" len="med"/>
            <a:tailEnd type="none" w="med" len="med"/>
          </a:ln>
          <a:effectLst/>
        </p:spPr>
        <p:txBody>
          <a:bodyPr vert="horz" wrap="square" lIns="365760" tIns="91440" rIns="182880" bIns="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700" b="0" i="0" u="none" strike="noStrike" kern="1200" cap="none" spc="0" normalizeH="0" baseline="0" noProof="0">
              <a:ln>
                <a:noFill/>
              </a:ln>
              <a:solidFill>
                <a:srgbClr val="106280"/>
              </a:solidFill>
              <a:effectLst/>
              <a:uLnTx/>
              <a:uFillTx/>
              <a:latin typeface="Poppins" panose="00000500000000000000" pitchFamily="2" charset="0"/>
              <a:ea typeface="+mn-ea"/>
              <a:cs typeface="Poppins" panose="00000500000000000000" pitchFamily="2" charset="0"/>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700" b="0" i="0" u="none" strike="noStrike" kern="1200" cap="none" spc="0" normalizeH="0" baseline="0" noProof="0">
                <a:ln>
                  <a:noFill/>
                </a:ln>
                <a:solidFill>
                  <a:srgbClr val="106280"/>
                </a:solidFill>
                <a:effectLst/>
                <a:uLnTx/>
                <a:uFillTx/>
                <a:latin typeface="Poppins" panose="00000500000000000000" pitchFamily="2" charset="0"/>
                <a:ea typeface="+mn-ea"/>
                <a:cs typeface="Poppins" panose="00000500000000000000" pitchFamily="2" charset="0"/>
              </a:rPr>
              <a:t>	</a:t>
            </a:r>
          </a:p>
        </p:txBody>
      </p:sp>
      <p:sp>
        <p:nvSpPr>
          <p:cNvPr id="8" name="Rectangle 7">
            <a:extLst>
              <a:ext uri="{FF2B5EF4-FFF2-40B4-BE49-F238E27FC236}">
                <a16:creationId xmlns:a16="http://schemas.microsoft.com/office/drawing/2014/main" id="{5F54F31F-D5E7-8607-21EE-76E39A967E5B}"/>
              </a:ext>
            </a:extLst>
          </p:cNvPr>
          <p:cNvSpPr/>
          <p:nvPr/>
        </p:nvSpPr>
        <p:spPr bwMode="auto">
          <a:xfrm>
            <a:off x="366583" y="825084"/>
            <a:ext cx="8412480" cy="338554"/>
          </a:xfrm>
          <a:prstGeom prst="rect">
            <a:avLst/>
          </a:prstGeom>
          <a:solidFill>
            <a:srgbClr val="106280"/>
          </a:solidFill>
        </p:spPr>
        <p:txBody>
          <a:bodyPr wrap="square"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rPr>
              <a:t>iii. FED EASED 25 BPS IN Sept &amp; OCT, DEC IS A POSSIBILITY</a:t>
            </a:r>
          </a:p>
        </p:txBody>
      </p:sp>
      <p:sp>
        <p:nvSpPr>
          <p:cNvPr id="9" name="TextBox 8">
            <a:extLst>
              <a:ext uri="{FF2B5EF4-FFF2-40B4-BE49-F238E27FC236}">
                <a16:creationId xmlns:a16="http://schemas.microsoft.com/office/drawing/2014/main" id="{2AF7D806-D286-7A63-A723-A1DF2C7A87C3}"/>
              </a:ext>
            </a:extLst>
          </p:cNvPr>
          <p:cNvSpPr txBox="1"/>
          <p:nvPr/>
        </p:nvSpPr>
        <p:spPr>
          <a:xfrm>
            <a:off x="608493" y="1594830"/>
            <a:ext cx="2246128" cy="915635"/>
          </a:xfrm>
          <a:prstGeom prst="rect">
            <a:avLst/>
          </a:prstGeom>
          <a:noFill/>
        </p:spPr>
        <p:txBody>
          <a:bodyPr wrap="none" rtlCol="0">
            <a:spAutoFit/>
          </a:bodyPr>
          <a:lstStyle/>
          <a:p>
            <a:pPr marL="0" marR="0" lvl="0" indent="0" algn="ctr" defTabSz="457200" rtl="0" eaLnBrk="1" fontAlgn="auto" latinLnBrk="0" hangingPunct="1">
              <a:lnSpc>
                <a:spcPct val="100000"/>
              </a:lnSpc>
              <a:spcBef>
                <a:spcPts val="300"/>
              </a:spcBef>
              <a:spcAft>
                <a:spcPts val="600"/>
              </a:spcAft>
              <a:buClrTx/>
              <a:buSzTx/>
              <a:buFontTx/>
              <a:buNone/>
              <a:tabLst/>
              <a:defRPr/>
            </a:pPr>
            <a:r>
              <a:rPr kumimoji="0" lang="en-US" sz="28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2024</a:t>
            </a:r>
          </a:p>
          <a:p>
            <a:pPr marL="0" marR="0" lvl="0" indent="0" algn="ctr" defTabSz="457200" rtl="0" eaLnBrk="1" fontAlgn="auto" latinLnBrk="0" hangingPunct="1">
              <a:lnSpc>
                <a:spcPct val="100000"/>
              </a:lnSpc>
              <a:spcBef>
                <a:spcPts val="30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100 BPS OF EASING</a:t>
            </a:r>
          </a:p>
        </p:txBody>
      </p:sp>
      <p:sp>
        <p:nvSpPr>
          <p:cNvPr id="13" name="TextBox 12">
            <a:extLst>
              <a:ext uri="{FF2B5EF4-FFF2-40B4-BE49-F238E27FC236}">
                <a16:creationId xmlns:a16="http://schemas.microsoft.com/office/drawing/2014/main" id="{01FC973B-A9B0-B0FF-1D17-0A2D7F2F4751}"/>
              </a:ext>
            </a:extLst>
          </p:cNvPr>
          <p:cNvSpPr txBox="1"/>
          <p:nvPr/>
        </p:nvSpPr>
        <p:spPr>
          <a:xfrm>
            <a:off x="2931630" y="1594830"/>
            <a:ext cx="2172391" cy="915635"/>
          </a:xfrm>
          <a:prstGeom prst="rect">
            <a:avLst/>
          </a:prstGeom>
          <a:noFill/>
        </p:spPr>
        <p:txBody>
          <a:bodyPr wrap="none" rtlCol="0">
            <a:spAutoFit/>
          </a:bodyPr>
          <a:lstStyle/>
          <a:p>
            <a:pPr marL="0" marR="0" lvl="0" indent="0" algn="ctr" defTabSz="457200" rtl="0" eaLnBrk="1" fontAlgn="auto" latinLnBrk="0" hangingPunct="1">
              <a:lnSpc>
                <a:spcPct val="100000"/>
              </a:lnSpc>
              <a:spcBef>
                <a:spcPts val="300"/>
              </a:spcBef>
              <a:spcAft>
                <a:spcPts val="600"/>
              </a:spcAft>
              <a:buClrTx/>
              <a:buSzTx/>
              <a:buFontTx/>
              <a:buNone/>
              <a:tabLst/>
              <a:defRPr/>
            </a:pPr>
            <a:r>
              <a:rPr kumimoji="0" lang="en-US" sz="2800" b="0" i="0" u="none" strike="noStrike" kern="1200" cap="all"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2025</a:t>
            </a:r>
            <a:endParaRPr kumimoji="0" lang="en-US" sz="3200" b="0" i="0" u="none" strike="noStrike" kern="1200" cap="all"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a:p>
            <a:pPr marL="0" marR="0" lvl="0" indent="0" algn="ctr" defTabSz="457200" rtl="0" eaLnBrk="1" fontAlgn="auto" latinLnBrk="0" hangingPunct="1">
              <a:lnSpc>
                <a:spcPct val="100000"/>
              </a:lnSpc>
              <a:spcBef>
                <a:spcPts val="300"/>
              </a:spcBef>
              <a:spcAft>
                <a:spcPts val="0"/>
              </a:spcAft>
              <a:buClrTx/>
              <a:buSzTx/>
              <a:buFontTx/>
              <a:buNone/>
              <a:tabLst/>
              <a:defRPr/>
            </a:pPr>
            <a:r>
              <a:rPr kumimoji="0" lang="en-US" sz="1800" b="0" i="0" u="none" strike="noStrike" kern="1200" cap="all"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50 bps of easing</a:t>
            </a:r>
          </a:p>
        </p:txBody>
      </p:sp>
      <p:grpSp>
        <p:nvGrpSpPr>
          <p:cNvPr id="21" name="Group 20">
            <a:extLst>
              <a:ext uri="{FF2B5EF4-FFF2-40B4-BE49-F238E27FC236}">
                <a16:creationId xmlns:a16="http://schemas.microsoft.com/office/drawing/2014/main" id="{CEE86542-BA3D-C26B-641A-106308FCDE89}"/>
              </a:ext>
            </a:extLst>
          </p:cNvPr>
          <p:cNvGrpSpPr>
            <a:grpSpLocks noGrp="1" noUngrp="1" noRot="1" noMove="1" noResize="1"/>
          </p:cNvGrpSpPr>
          <p:nvPr/>
        </p:nvGrpSpPr>
        <p:grpSpPr>
          <a:xfrm>
            <a:off x="5122967" y="1204741"/>
            <a:ext cx="1746504" cy="1746504"/>
            <a:chOff x="7097901" y="1196485"/>
            <a:chExt cx="1758273" cy="1758273"/>
          </a:xfrm>
        </p:grpSpPr>
        <p:sp>
          <p:nvSpPr>
            <p:cNvPr id="20" name="Oval 19">
              <a:extLst>
                <a:ext uri="{FF2B5EF4-FFF2-40B4-BE49-F238E27FC236}">
                  <a16:creationId xmlns:a16="http://schemas.microsoft.com/office/drawing/2014/main" id="{891B6F64-3AE9-79ED-D5E0-5D8A335AC92E}"/>
                </a:ext>
              </a:extLst>
            </p:cNvPr>
            <p:cNvSpPr>
              <a:spLocks noGrp="1" noRot="1" noMove="1" noResize="1" noEditPoints="1" noAdjustHandles="1" noChangeArrowheads="1" noChangeShapeType="1"/>
            </p:cNvSpPr>
            <p:nvPr/>
          </p:nvSpPr>
          <p:spPr bwMode="auto">
            <a:xfrm>
              <a:off x="7097901" y="1196485"/>
              <a:ext cx="1758273" cy="1758273"/>
            </a:xfrm>
            <a:prstGeom prst="ellipse">
              <a:avLst/>
            </a:prstGeom>
            <a:solidFill>
              <a:schemeClr val="bg1">
                <a:alpha val="17000"/>
              </a:schemeClr>
            </a:solidFill>
            <a:ln w="31750" cap="flat" cmpd="sng" algn="ctr">
              <a:gradFill>
                <a:gsLst>
                  <a:gs pos="64000">
                    <a:schemeClr val="bg1">
                      <a:lumMod val="75000"/>
                    </a:schemeClr>
                  </a:gs>
                  <a:gs pos="35000">
                    <a:schemeClr val="bg1"/>
                  </a:gs>
                  <a:gs pos="0">
                    <a:srgbClr val="7F7F7F"/>
                  </a:gs>
                  <a:gs pos="100000">
                    <a:schemeClr val="bg1"/>
                  </a:gs>
                </a:gsLst>
                <a:lin ang="5400000" scaled="1"/>
              </a:gradFill>
              <a:prstDash val="solid"/>
              <a:round/>
              <a:headEnd type="none" w="med" len="med"/>
              <a:tailEnd type="none" w="med" len="med"/>
            </a:ln>
            <a:effectLst>
              <a:outerShdw blurRad="50800" dist="38100" dir="8100000" sx="104000" sy="104000" algn="tr" rotWithShape="0">
                <a:prstClr val="black">
                  <a:alpha val="19000"/>
                </a:prstClr>
              </a:outerShdw>
            </a:effectLst>
          </p:spPr>
          <p:txBody>
            <a:bodyPr vert="horz" wrap="squar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20" normalizeH="0" baseline="0" noProof="0">
                <a:ln>
                  <a:noFill/>
                </a:ln>
                <a:solidFill>
                  <a:srgbClr val="B8C7C8"/>
                </a:solidFill>
                <a:effectLst/>
                <a:uLnTx/>
                <a:uFillTx/>
                <a:latin typeface="Poppins SemiBold" panose="00000700000000000000" pitchFamily="2" charset="0"/>
                <a:ea typeface="+mn-ea"/>
                <a:cs typeface="Poppins SemiBold" panose="00000700000000000000" pitchFamily="2" charset="0"/>
              </a:endParaRPr>
            </a:p>
          </p:txBody>
        </p:sp>
        <p:sp>
          <p:nvSpPr>
            <p:cNvPr id="19" name="Oval 18">
              <a:extLst>
                <a:ext uri="{FF2B5EF4-FFF2-40B4-BE49-F238E27FC236}">
                  <a16:creationId xmlns:a16="http://schemas.microsoft.com/office/drawing/2014/main" id="{7C02F825-C5D4-2045-FB5C-D94673B27A52}"/>
                </a:ext>
              </a:extLst>
            </p:cNvPr>
            <p:cNvSpPr>
              <a:spLocks noGrp="1" noRot="1" noMove="1" noResize="1" noEditPoints="1" noAdjustHandles="1" noChangeArrowheads="1" noChangeShapeType="1"/>
            </p:cNvSpPr>
            <p:nvPr/>
          </p:nvSpPr>
          <p:spPr bwMode="auto">
            <a:xfrm>
              <a:off x="7265532" y="1375691"/>
              <a:ext cx="1399861" cy="1399861"/>
            </a:xfrm>
            <a:prstGeom prst="ellipse">
              <a:avLst/>
            </a:prstGeom>
            <a:gradFill>
              <a:gsLst>
                <a:gs pos="38000">
                  <a:srgbClr val="FFFFFF"/>
                </a:gs>
                <a:gs pos="90000">
                  <a:srgbClr val="CECFCF"/>
                </a:gs>
              </a:gsLst>
              <a:lin ang="12000000" scaled="0"/>
            </a:gradFill>
            <a:ln w="31750" cap="flat" cmpd="sng" algn="ctr">
              <a:solidFill>
                <a:schemeClr val="bg1"/>
              </a:solidFill>
              <a:prstDash val="solid"/>
              <a:round/>
              <a:headEnd type="none" w="med" len="med"/>
              <a:tailEnd type="none" w="med" len="med"/>
            </a:ln>
            <a:effectLst>
              <a:outerShdw blurRad="50800" dist="38100" dir="8100000" sx="104000" sy="104000" algn="tr" rotWithShape="0">
                <a:prstClr val="black">
                  <a:alpha val="40000"/>
                </a:prstClr>
              </a:outerShdw>
            </a:effectLst>
          </p:spPr>
          <p:txBody>
            <a:bodyPr vert="horz" wrap="squar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20" normalizeH="0" baseline="0" noProof="0">
                <a:ln>
                  <a:noFill/>
                </a:ln>
                <a:solidFill>
                  <a:srgbClr val="B8C7C8"/>
                </a:solidFill>
                <a:effectLst/>
                <a:uLnTx/>
                <a:uFillTx/>
                <a:latin typeface="Poppins SemiBold" panose="00000700000000000000" pitchFamily="2" charset="0"/>
                <a:ea typeface="+mn-ea"/>
                <a:cs typeface="Poppins SemiBold" panose="00000700000000000000" pitchFamily="2" charset="0"/>
              </a:endParaRPr>
            </a:p>
          </p:txBody>
        </p:sp>
        <p:sp>
          <p:nvSpPr>
            <p:cNvPr id="14" name="Oval 13">
              <a:extLst>
                <a:ext uri="{FF2B5EF4-FFF2-40B4-BE49-F238E27FC236}">
                  <a16:creationId xmlns:a16="http://schemas.microsoft.com/office/drawing/2014/main" id="{FCAACB4F-8B5E-0847-0FED-FDA917736B68}"/>
                </a:ext>
              </a:extLst>
            </p:cNvPr>
            <p:cNvSpPr>
              <a:spLocks noGrp="1" noRot="1" noMove="1" noResize="1" noEditPoints="1" noAdjustHandles="1" noChangeArrowheads="1" noChangeShapeType="1"/>
            </p:cNvSpPr>
            <p:nvPr/>
          </p:nvSpPr>
          <p:spPr bwMode="auto">
            <a:xfrm>
              <a:off x="7356720" y="1478308"/>
              <a:ext cx="1202247" cy="1202247"/>
            </a:xfrm>
            <a:prstGeom prst="ellipse">
              <a:avLst/>
            </a:prstGeom>
            <a:solidFill>
              <a:srgbClr val="9FB4BB"/>
            </a:solidFill>
            <a:ln w="28575" cap="flat" cmpd="sng" algn="ctr">
              <a:gradFill>
                <a:gsLst>
                  <a:gs pos="17000">
                    <a:srgbClr val="E7E7E7"/>
                  </a:gs>
                  <a:gs pos="90000">
                    <a:srgbClr val="7F7F7F"/>
                  </a:gs>
                </a:gsLst>
                <a:lin ang="600000" scaled="0"/>
              </a:gra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400" b="0" i="0" u="none" strike="noStrike" kern="1200" cap="none" spc="-2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MONETARY</a:t>
              </a:r>
            </a:p>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400" b="0" i="0" u="none" strike="noStrike" kern="1200" cap="none" spc="-2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POLICY </a:t>
              </a:r>
            </a:p>
          </p:txBody>
        </p:sp>
      </p:grpSp>
      <p:grpSp>
        <p:nvGrpSpPr>
          <p:cNvPr id="22" name="Group 21">
            <a:extLst>
              <a:ext uri="{FF2B5EF4-FFF2-40B4-BE49-F238E27FC236}">
                <a16:creationId xmlns:a16="http://schemas.microsoft.com/office/drawing/2014/main" id="{6FA7CE63-8E72-CFCC-3852-401D01B50D5A}"/>
              </a:ext>
            </a:extLst>
          </p:cNvPr>
          <p:cNvGrpSpPr>
            <a:grpSpLocks noGrp="1" noUngrp="1" noRot="1" noMove="1" noResize="1"/>
          </p:cNvGrpSpPr>
          <p:nvPr/>
        </p:nvGrpSpPr>
        <p:grpSpPr>
          <a:xfrm>
            <a:off x="6083776" y="2934664"/>
            <a:ext cx="1746504" cy="1746504"/>
            <a:chOff x="7097901" y="1196485"/>
            <a:chExt cx="1758273" cy="1758273"/>
          </a:xfrm>
        </p:grpSpPr>
        <p:sp>
          <p:nvSpPr>
            <p:cNvPr id="23" name="Oval 22">
              <a:extLst>
                <a:ext uri="{FF2B5EF4-FFF2-40B4-BE49-F238E27FC236}">
                  <a16:creationId xmlns:a16="http://schemas.microsoft.com/office/drawing/2014/main" id="{548FF23E-89CC-6956-B52F-62B25CEB01C2}"/>
                </a:ext>
              </a:extLst>
            </p:cNvPr>
            <p:cNvSpPr>
              <a:spLocks noGrp="1" noRot="1" noMove="1" noResize="1" noEditPoints="1" noAdjustHandles="1" noChangeArrowheads="1" noChangeShapeType="1"/>
            </p:cNvSpPr>
            <p:nvPr/>
          </p:nvSpPr>
          <p:spPr bwMode="auto">
            <a:xfrm>
              <a:off x="7097901" y="1196485"/>
              <a:ext cx="1758273" cy="1758273"/>
            </a:xfrm>
            <a:prstGeom prst="ellipse">
              <a:avLst/>
            </a:prstGeom>
            <a:solidFill>
              <a:schemeClr val="bg1">
                <a:alpha val="17000"/>
              </a:schemeClr>
            </a:solidFill>
            <a:ln w="31750" cap="flat" cmpd="sng" algn="ctr">
              <a:gradFill>
                <a:gsLst>
                  <a:gs pos="64000">
                    <a:schemeClr val="bg1">
                      <a:lumMod val="75000"/>
                    </a:schemeClr>
                  </a:gs>
                  <a:gs pos="35000">
                    <a:schemeClr val="bg1"/>
                  </a:gs>
                  <a:gs pos="0">
                    <a:srgbClr val="7F7F7F"/>
                  </a:gs>
                  <a:gs pos="100000">
                    <a:schemeClr val="bg1"/>
                  </a:gs>
                </a:gsLst>
                <a:lin ang="5400000" scaled="1"/>
              </a:gradFill>
              <a:prstDash val="solid"/>
              <a:round/>
              <a:headEnd type="none" w="med" len="med"/>
              <a:tailEnd type="none" w="med" len="med"/>
            </a:ln>
            <a:effectLst>
              <a:outerShdw blurRad="50800" dist="38100" dir="8100000" sx="104000" sy="104000" algn="tr" rotWithShape="0">
                <a:prstClr val="black">
                  <a:alpha val="19000"/>
                </a:prstClr>
              </a:outerShdw>
            </a:effectLst>
          </p:spPr>
          <p:txBody>
            <a:bodyPr vert="horz" wrap="squar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20" normalizeH="0" baseline="0" noProof="0">
                <a:ln>
                  <a:noFill/>
                </a:ln>
                <a:solidFill>
                  <a:srgbClr val="B8C7C8"/>
                </a:solidFill>
                <a:effectLst/>
                <a:uLnTx/>
                <a:uFillTx/>
                <a:latin typeface="Poppins SemiBold" panose="00000700000000000000" pitchFamily="2" charset="0"/>
                <a:ea typeface="+mn-ea"/>
                <a:cs typeface="Poppins SemiBold" panose="00000700000000000000" pitchFamily="2" charset="0"/>
              </a:endParaRPr>
            </a:p>
          </p:txBody>
        </p:sp>
        <p:sp>
          <p:nvSpPr>
            <p:cNvPr id="24" name="Oval 23">
              <a:extLst>
                <a:ext uri="{FF2B5EF4-FFF2-40B4-BE49-F238E27FC236}">
                  <a16:creationId xmlns:a16="http://schemas.microsoft.com/office/drawing/2014/main" id="{7D022D0F-19CA-7818-D31E-F93CD94FD05F}"/>
                </a:ext>
              </a:extLst>
            </p:cNvPr>
            <p:cNvSpPr>
              <a:spLocks noGrp="1" noRot="1" noMove="1" noResize="1" noEditPoints="1" noAdjustHandles="1" noChangeArrowheads="1" noChangeShapeType="1"/>
            </p:cNvSpPr>
            <p:nvPr/>
          </p:nvSpPr>
          <p:spPr bwMode="auto">
            <a:xfrm>
              <a:off x="7265532" y="1375691"/>
              <a:ext cx="1399861" cy="1399861"/>
            </a:xfrm>
            <a:prstGeom prst="ellipse">
              <a:avLst/>
            </a:prstGeom>
            <a:gradFill>
              <a:gsLst>
                <a:gs pos="38000">
                  <a:srgbClr val="FFFFFF"/>
                </a:gs>
                <a:gs pos="90000">
                  <a:srgbClr val="CECFCF"/>
                </a:gs>
              </a:gsLst>
              <a:lin ang="12000000" scaled="0"/>
            </a:gradFill>
            <a:ln w="31750" cap="flat" cmpd="sng" algn="ctr">
              <a:solidFill>
                <a:schemeClr val="bg1"/>
              </a:solidFill>
              <a:prstDash val="solid"/>
              <a:round/>
              <a:headEnd type="none" w="med" len="med"/>
              <a:tailEnd type="none" w="med" len="med"/>
            </a:ln>
            <a:effectLst>
              <a:outerShdw blurRad="50800" dist="38100" dir="8100000" sx="104000" sy="104000" algn="tr" rotWithShape="0">
                <a:prstClr val="black">
                  <a:alpha val="40000"/>
                </a:prstClr>
              </a:outerShdw>
            </a:effectLst>
          </p:spPr>
          <p:txBody>
            <a:bodyPr vert="horz" wrap="squar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20" normalizeH="0" baseline="0" noProof="0">
                <a:ln>
                  <a:noFill/>
                </a:ln>
                <a:solidFill>
                  <a:srgbClr val="B8C7C8"/>
                </a:solidFill>
                <a:effectLst/>
                <a:uLnTx/>
                <a:uFillTx/>
                <a:latin typeface="Poppins SemiBold" panose="00000700000000000000" pitchFamily="2" charset="0"/>
                <a:ea typeface="+mn-ea"/>
                <a:cs typeface="Poppins SemiBold" panose="00000700000000000000" pitchFamily="2" charset="0"/>
              </a:endParaRPr>
            </a:p>
          </p:txBody>
        </p:sp>
        <p:sp>
          <p:nvSpPr>
            <p:cNvPr id="25" name="Oval 24">
              <a:extLst>
                <a:ext uri="{FF2B5EF4-FFF2-40B4-BE49-F238E27FC236}">
                  <a16:creationId xmlns:a16="http://schemas.microsoft.com/office/drawing/2014/main" id="{52940354-F0CE-274B-B87E-8A7B142D59F8}"/>
                </a:ext>
              </a:extLst>
            </p:cNvPr>
            <p:cNvSpPr>
              <a:spLocks noGrp="1" noRot="1" noMove="1" noResize="1" noEditPoints="1" noAdjustHandles="1" noChangeArrowheads="1" noChangeShapeType="1"/>
            </p:cNvSpPr>
            <p:nvPr/>
          </p:nvSpPr>
          <p:spPr bwMode="auto">
            <a:xfrm>
              <a:off x="7347828" y="1459257"/>
              <a:ext cx="1234440" cy="1234440"/>
            </a:xfrm>
            <a:prstGeom prst="ellipse">
              <a:avLst/>
            </a:prstGeom>
            <a:solidFill>
              <a:srgbClr val="66908C"/>
            </a:solidFill>
            <a:ln w="28575" cap="flat" cmpd="sng" algn="ctr">
              <a:gradFill>
                <a:gsLst>
                  <a:gs pos="17000">
                    <a:srgbClr val="E7E7E7"/>
                  </a:gs>
                  <a:gs pos="90000">
                    <a:srgbClr val="7F7F7F"/>
                  </a:gs>
                </a:gsLst>
                <a:lin ang="600000" scaled="0"/>
              </a:gra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400" b="0" i="0" u="none" strike="noStrike" kern="1200" cap="none" spc="-2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LATEST FED</a:t>
              </a:r>
            </a:p>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400" b="0" i="0" u="none" strike="noStrike" kern="1200" cap="none" spc="-8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PROJECTIONS</a:t>
              </a:r>
            </a:p>
          </p:txBody>
        </p:sp>
      </p:grpSp>
      <p:sp>
        <p:nvSpPr>
          <p:cNvPr id="34" name="Rectangle: Rounded Corners 33">
            <a:extLst>
              <a:ext uri="{FF2B5EF4-FFF2-40B4-BE49-F238E27FC236}">
                <a16:creationId xmlns:a16="http://schemas.microsoft.com/office/drawing/2014/main" id="{3B628366-88F3-919A-B28B-71FACF25DB77}"/>
              </a:ext>
            </a:extLst>
          </p:cNvPr>
          <p:cNvSpPr/>
          <p:nvPr/>
        </p:nvSpPr>
        <p:spPr bwMode="auto">
          <a:xfrm>
            <a:off x="377042" y="4831504"/>
            <a:ext cx="7386727" cy="1359884"/>
          </a:xfrm>
          <a:prstGeom prst="roundRect">
            <a:avLst>
              <a:gd name="adj" fmla="val 0"/>
            </a:avLst>
          </a:prstGeom>
          <a:gradFill>
            <a:gsLst>
              <a:gs pos="85000">
                <a:srgbClr val="949494"/>
              </a:gs>
              <a:gs pos="85000">
                <a:schemeClr val="accent6">
                  <a:lumMod val="75000"/>
                </a:schemeClr>
              </a:gs>
            </a:gsLst>
            <a:lin ang="5400000" scaled="0"/>
          </a:gradFill>
          <a:ln w="76200" cap="flat" cmpd="sng" algn="ctr">
            <a:noFill/>
            <a:prstDash val="solid"/>
            <a:round/>
            <a:headEnd type="none" w="med" len="med"/>
            <a:tailEnd type="none" w="med" len="med"/>
          </a:ln>
          <a:effectLst/>
        </p:spPr>
        <p:txBody>
          <a:bodyPr vert="horz" wrap="square" lIns="365760" tIns="91440" rIns="182880" bIns="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700" b="0" i="0" u="none" strike="noStrike" kern="1200" cap="none" spc="0" normalizeH="0" baseline="0" noProof="0">
              <a:ln>
                <a:noFill/>
              </a:ln>
              <a:solidFill>
                <a:srgbClr val="106280"/>
              </a:solidFill>
              <a:effectLst/>
              <a:uLnTx/>
              <a:uFillTx/>
              <a:latin typeface="Poppins" panose="00000500000000000000" pitchFamily="2" charset="0"/>
              <a:ea typeface="+mn-ea"/>
              <a:cs typeface="Poppins" panose="00000500000000000000" pitchFamily="2" charset="0"/>
            </a:endParaRP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700" b="0" i="0" u="none" strike="noStrike" kern="1200" cap="none" spc="0" normalizeH="0" baseline="0" noProof="0">
                <a:ln>
                  <a:noFill/>
                </a:ln>
                <a:solidFill>
                  <a:srgbClr val="106280"/>
                </a:solidFill>
                <a:effectLst/>
                <a:uLnTx/>
                <a:uFillTx/>
                <a:latin typeface="Poppins" panose="00000500000000000000" pitchFamily="2" charset="0"/>
                <a:ea typeface="+mn-ea"/>
                <a:cs typeface="Poppins" panose="00000500000000000000" pitchFamily="2" charset="0"/>
              </a:rPr>
              <a:t>	</a:t>
            </a:r>
          </a:p>
        </p:txBody>
      </p:sp>
      <p:sp>
        <p:nvSpPr>
          <p:cNvPr id="12" name="TextBox 11">
            <a:extLst>
              <a:ext uri="{FF2B5EF4-FFF2-40B4-BE49-F238E27FC236}">
                <a16:creationId xmlns:a16="http://schemas.microsoft.com/office/drawing/2014/main" id="{F6105B8F-2291-D7B0-867F-6305A3FB6248}"/>
              </a:ext>
            </a:extLst>
          </p:cNvPr>
          <p:cNvSpPr txBox="1"/>
          <p:nvPr/>
        </p:nvSpPr>
        <p:spPr>
          <a:xfrm>
            <a:off x="457055" y="5136472"/>
            <a:ext cx="6446980" cy="67710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900" b="0" i="0" u="none" strike="noStrike" kern="1200" cap="all" spc="0" normalizeH="0" baseline="0" noProof="0" dirty="0">
                <a:ln>
                  <a:noFill/>
                </a:ln>
                <a:solidFill>
                  <a:srgbClr val="FFFFFF"/>
                </a:solidFill>
                <a:effectLst/>
                <a:uLnTx/>
                <a:uFillTx/>
                <a:latin typeface="Poppins Medium" panose="00000600000000000000" pitchFamily="2" charset="0"/>
                <a:ea typeface="+mn-ea"/>
                <a:cs typeface="Poppins Medium" panose="00000600000000000000" pitchFamily="2" charset="0"/>
              </a:rPr>
              <a:t>After 50 bps of easing </a:t>
            </a:r>
            <a:r>
              <a:rPr kumimoji="0" lang="en-US" sz="1900" b="0" i="0" u="none" strike="noStrike" kern="1200" cap="all" spc="0" normalizeH="0" baseline="0" noProof="0" dirty="0" err="1">
                <a:ln>
                  <a:noFill/>
                </a:ln>
                <a:solidFill>
                  <a:srgbClr val="FFFFFF"/>
                </a:solidFill>
                <a:effectLst/>
                <a:uLnTx/>
                <a:uFillTx/>
                <a:latin typeface="Poppins Medium" panose="00000600000000000000" pitchFamily="2" charset="0"/>
                <a:ea typeface="+mn-ea"/>
                <a:cs typeface="Poppins Medium" panose="00000600000000000000" pitchFamily="2" charset="0"/>
              </a:rPr>
              <a:t>ytd</a:t>
            </a:r>
            <a:r>
              <a:rPr kumimoji="0" lang="en-US" sz="1900" b="0" i="0" u="none" strike="noStrike" kern="1200" cap="all" spc="0" normalizeH="0" baseline="0" noProof="0" dirty="0">
                <a:ln>
                  <a:noFill/>
                </a:ln>
                <a:solidFill>
                  <a:srgbClr val="FFFFFF"/>
                </a:solidFill>
                <a:effectLst/>
                <a:uLnTx/>
                <a:uFillTx/>
                <a:latin typeface="Poppins Medium" panose="00000600000000000000" pitchFamily="2" charset="0"/>
                <a:ea typeface="+mn-ea"/>
                <a:cs typeface="Poppins Medium" panose="00000600000000000000" pitchFamily="2" charset="0"/>
              </a:rPr>
              <a:t>, Another 25 bps in Dec is on the table but is not currently a lock</a:t>
            </a:r>
            <a:endParaRPr kumimoji="0" lang="en-US" sz="1900" b="0" i="0" u="none" strike="noStrike" kern="1200" cap="all" spc="0" normalizeH="0" baseline="0" noProof="0" dirty="0">
              <a:ln>
                <a:noFill/>
              </a:ln>
              <a:solidFill>
                <a:srgbClr val="FFFFFF"/>
              </a:solidFill>
              <a:effectLst/>
              <a:highlight>
                <a:srgbClr val="FF0000"/>
              </a:highlight>
              <a:uLnTx/>
              <a:uFillTx/>
              <a:latin typeface="Poppins Medium" panose="00000600000000000000" pitchFamily="2" charset="0"/>
              <a:ea typeface="+mn-ea"/>
              <a:cs typeface="Poppins Medium" panose="00000600000000000000" pitchFamily="2" charset="0"/>
            </a:endParaRPr>
          </a:p>
        </p:txBody>
      </p:sp>
      <p:grpSp>
        <p:nvGrpSpPr>
          <p:cNvPr id="35" name="Group 34">
            <a:extLst>
              <a:ext uri="{FF2B5EF4-FFF2-40B4-BE49-F238E27FC236}">
                <a16:creationId xmlns:a16="http://schemas.microsoft.com/office/drawing/2014/main" id="{2C53AD29-1A4C-B09C-D9F0-662EE6050EDD}"/>
              </a:ext>
            </a:extLst>
          </p:cNvPr>
          <p:cNvGrpSpPr>
            <a:grpSpLocks noGrp="1" noUngrp="1" noRot="1" noMove="1" noResize="1"/>
          </p:cNvGrpSpPr>
          <p:nvPr/>
        </p:nvGrpSpPr>
        <p:grpSpPr>
          <a:xfrm>
            <a:off x="7019968" y="4611593"/>
            <a:ext cx="1746504" cy="1746504"/>
            <a:chOff x="7097901" y="1196485"/>
            <a:chExt cx="1758273" cy="1758273"/>
          </a:xfrm>
        </p:grpSpPr>
        <p:sp>
          <p:nvSpPr>
            <p:cNvPr id="36" name="Oval 35">
              <a:extLst>
                <a:ext uri="{FF2B5EF4-FFF2-40B4-BE49-F238E27FC236}">
                  <a16:creationId xmlns:a16="http://schemas.microsoft.com/office/drawing/2014/main" id="{2C25DAAF-F011-E813-7EE3-23F5D8E4B427}"/>
                </a:ext>
              </a:extLst>
            </p:cNvPr>
            <p:cNvSpPr>
              <a:spLocks noGrp="1" noRot="1" noMove="1" noResize="1" noEditPoints="1" noAdjustHandles="1" noChangeArrowheads="1" noChangeShapeType="1"/>
            </p:cNvSpPr>
            <p:nvPr/>
          </p:nvSpPr>
          <p:spPr bwMode="auto">
            <a:xfrm>
              <a:off x="7097901" y="1196485"/>
              <a:ext cx="1758273" cy="1758273"/>
            </a:xfrm>
            <a:prstGeom prst="ellipse">
              <a:avLst/>
            </a:prstGeom>
            <a:solidFill>
              <a:schemeClr val="bg1">
                <a:alpha val="17000"/>
              </a:schemeClr>
            </a:solidFill>
            <a:ln w="31750" cap="flat" cmpd="sng" algn="ctr">
              <a:gradFill>
                <a:gsLst>
                  <a:gs pos="64000">
                    <a:schemeClr val="bg1">
                      <a:lumMod val="75000"/>
                    </a:schemeClr>
                  </a:gs>
                  <a:gs pos="35000">
                    <a:schemeClr val="bg1"/>
                  </a:gs>
                  <a:gs pos="0">
                    <a:srgbClr val="7F7F7F"/>
                  </a:gs>
                  <a:gs pos="100000">
                    <a:schemeClr val="bg1"/>
                  </a:gs>
                </a:gsLst>
                <a:lin ang="5400000" scaled="1"/>
              </a:gradFill>
              <a:prstDash val="solid"/>
              <a:round/>
              <a:headEnd type="none" w="med" len="med"/>
              <a:tailEnd type="none" w="med" len="med"/>
            </a:ln>
            <a:effectLst>
              <a:outerShdw blurRad="50800" dist="38100" dir="8100000" sx="104000" sy="104000" algn="tr" rotWithShape="0">
                <a:prstClr val="black">
                  <a:alpha val="19000"/>
                </a:prstClr>
              </a:outerShdw>
            </a:effectLst>
          </p:spPr>
          <p:txBody>
            <a:bodyPr vert="horz" wrap="squar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20" normalizeH="0" baseline="0" noProof="0">
                <a:ln>
                  <a:noFill/>
                </a:ln>
                <a:solidFill>
                  <a:srgbClr val="B8C7C8"/>
                </a:solidFill>
                <a:effectLst/>
                <a:uLnTx/>
                <a:uFillTx/>
                <a:latin typeface="Poppins SemiBold" panose="00000700000000000000" pitchFamily="2" charset="0"/>
                <a:ea typeface="+mn-ea"/>
                <a:cs typeface="Poppins SemiBold" panose="00000700000000000000" pitchFamily="2" charset="0"/>
              </a:endParaRPr>
            </a:p>
          </p:txBody>
        </p:sp>
        <p:sp>
          <p:nvSpPr>
            <p:cNvPr id="37" name="Oval 36">
              <a:extLst>
                <a:ext uri="{FF2B5EF4-FFF2-40B4-BE49-F238E27FC236}">
                  <a16:creationId xmlns:a16="http://schemas.microsoft.com/office/drawing/2014/main" id="{084DCEE5-DF9D-963C-377F-F0062674AE49}"/>
                </a:ext>
              </a:extLst>
            </p:cNvPr>
            <p:cNvSpPr>
              <a:spLocks noGrp="1" noRot="1" noMove="1" noResize="1" noEditPoints="1" noAdjustHandles="1" noChangeArrowheads="1" noChangeShapeType="1"/>
            </p:cNvSpPr>
            <p:nvPr/>
          </p:nvSpPr>
          <p:spPr bwMode="auto">
            <a:xfrm>
              <a:off x="7265532" y="1375691"/>
              <a:ext cx="1399861" cy="1399861"/>
            </a:xfrm>
            <a:prstGeom prst="ellipse">
              <a:avLst/>
            </a:prstGeom>
            <a:gradFill>
              <a:gsLst>
                <a:gs pos="38000">
                  <a:srgbClr val="FFFFFF"/>
                </a:gs>
                <a:gs pos="90000">
                  <a:srgbClr val="CECFCF"/>
                </a:gs>
              </a:gsLst>
              <a:lin ang="12000000" scaled="0"/>
            </a:gradFill>
            <a:ln w="31750" cap="flat" cmpd="sng" algn="ctr">
              <a:solidFill>
                <a:schemeClr val="bg1"/>
              </a:solidFill>
              <a:prstDash val="solid"/>
              <a:round/>
              <a:headEnd type="none" w="med" len="med"/>
              <a:tailEnd type="none" w="med" len="med"/>
            </a:ln>
            <a:effectLst>
              <a:outerShdw blurRad="50800" dist="38100" dir="8100000" sx="104000" sy="104000" algn="tr" rotWithShape="0">
                <a:prstClr val="black">
                  <a:alpha val="40000"/>
                </a:prstClr>
              </a:outerShdw>
            </a:effectLst>
          </p:spPr>
          <p:txBody>
            <a:bodyPr vert="horz" wrap="squar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20" normalizeH="0" baseline="0" noProof="0">
                <a:ln>
                  <a:noFill/>
                </a:ln>
                <a:solidFill>
                  <a:srgbClr val="B8C7C8"/>
                </a:solidFill>
                <a:effectLst/>
                <a:uLnTx/>
                <a:uFillTx/>
                <a:latin typeface="Poppins SemiBold" panose="00000700000000000000" pitchFamily="2" charset="0"/>
                <a:ea typeface="+mn-ea"/>
                <a:cs typeface="Poppins SemiBold" panose="00000700000000000000" pitchFamily="2" charset="0"/>
              </a:endParaRPr>
            </a:p>
          </p:txBody>
        </p:sp>
        <p:sp>
          <p:nvSpPr>
            <p:cNvPr id="38" name="Oval 37">
              <a:extLst>
                <a:ext uri="{FF2B5EF4-FFF2-40B4-BE49-F238E27FC236}">
                  <a16:creationId xmlns:a16="http://schemas.microsoft.com/office/drawing/2014/main" id="{AC00AF4B-45AE-CA0B-CE28-3F547ADD5F29}"/>
                </a:ext>
              </a:extLst>
            </p:cNvPr>
            <p:cNvSpPr>
              <a:spLocks noGrp="1" noRot="1" noMove="1" noResize="1" noEditPoints="1" noAdjustHandles="1" noChangeArrowheads="1" noChangeShapeType="1"/>
            </p:cNvSpPr>
            <p:nvPr/>
          </p:nvSpPr>
          <p:spPr bwMode="auto">
            <a:xfrm>
              <a:off x="7356719" y="1478308"/>
              <a:ext cx="1202247" cy="1202247"/>
            </a:xfrm>
            <a:prstGeom prst="ellipse">
              <a:avLst/>
            </a:prstGeom>
            <a:solidFill>
              <a:srgbClr val="7F7F7F"/>
            </a:solidFill>
            <a:ln w="28575" cap="flat" cmpd="sng" algn="ctr">
              <a:gradFill>
                <a:gsLst>
                  <a:gs pos="17000">
                    <a:srgbClr val="E7E7E7"/>
                  </a:gs>
                  <a:gs pos="90000">
                    <a:srgbClr val="7F7F7F"/>
                  </a:gs>
                </a:gsLst>
                <a:lin ang="600000" scaled="0"/>
              </a:gra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400" b="0" i="0" u="none" strike="noStrike" kern="1200" cap="none" spc="-2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GOING</a:t>
              </a:r>
            </a:p>
            <a:p>
              <a:pPr marL="0" marR="0" lvl="0" indent="0" algn="ctr" defTabSz="914400" rtl="0" eaLnBrk="0" fontAlgn="base" latinLnBrk="0" hangingPunct="0">
                <a:lnSpc>
                  <a:spcPct val="100000"/>
                </a:lnSpc>
                <a:spcBef>
                  <a:spcPts val="0"/>
                </a:spcBef>
                <a:spcAft>
                  <a:spcPct val="0"/>
                </a:spcAft>
                <a:buClrTx/>
                <a:buSzTx/>
                <a:buFontTx/>
                <a:buNone/>
                <a:tabLst/>
                <a:defRPr/>
              </a:pPr>
              <a:r>
                <a:rPr kumimoji="0" lang="en-US" sz="1400" b="0" i="0" u="none" strike="noStrike" kern="1200" cap="none" spc="-2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FORWARD</a:t>
              </a:r>
            </a:p>
          </p:txBody>
        </p:sp>
      </p:grpSp>
      <p:sp>
        <p:nvSpPr>
          <p:cNvPr id="27" name="TextBox 26">
            <a:extLst>
              <a:ext uri="{FF2B5EF4-FFF2-40B4-BE49-F238E27FC236}">
                <a16:creationId xmlns:a16="http://schemas.microsoft.com/office/drawing/2014/main" id="{57F854ED-F4C4-3FBD-044B-3F5C584FBEC9}"/>
              </a:ext>
            </a:extLst>
          </p:cNvPr>
          <p:cNvSpPr txBox="1"/>
          <p:nvPr/>
        </p:nvSpPr>
        <p:spPr>
          <a:xfrm>
            <a:off x="769689" y="3220140"/>
            <a:ext cx="2470549" cy="1400383"/>
          </a:xfrm>
          <a:prstGeom prst="rect">
            <a:avLst/>
          </a:prstGeom>
          <a:noFill/>
          <a:effectLst/>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outerShdw blurRad="63500" sx="102000" sy="102000" algn="ctr" rotWithShape="0">
                    <a:prstClr val="black">
                      <a:alpha val="15000"/>
                    </a:prstClr>
                  </a:outerShdw>
                </a:effectLst>
                <a:uLnTx/>
                <a:uFillTx/>
                <a:latin typeface="Poppins SemiBold" panose="00000700000000000000" pitchFamily="2" charset="0"/>
                <a:ea typeface="+mn-ea"/>
                <a:cs typeface="Poppins SemiBold" panose="00000700000000000000" pitchFamily="2" charset="0"/>
              </a:rPr>
              <a:t>INFLATION </a:t>
            </a:r>
            <a:r>
              <a:rPr kumimoji="0" lang="en-US" sz="2000" b="0" i="0" u="none" strike="noStrike" kern="1200" cap="none" spc="0" normalizeH="0" baseline="30000" noProof="0">
                <a:ln>
                  <a:noFill/>
                </a:ln>
                <a:solidFill>
                  <a:srgbClr val="FFFFFF"/>
                </a:solidFill>
                <a:effectLst>
                  <a:outerShdw blurRad="63500" sx="102000" sy="102000" algn="ctr" rotWithShape="0">
                    <a:prstClr val="black">
                      <a:alpha val="15000"/>
                    </a:prstClr>
                  </a:outerShdw>
                </a:effectLst>
                <a:uLnTx/>
                <a:uFillTx/>
                <a:latin typeface="Poppins SemiBold" panose="00000700000000000000" pitchFamily="2" charset="0"/>
                <a:ea typeface="+mn-ea"/>
                <a:cs typeface="Poppins SemiBold" panose="00000700000000000000" pitchFamily="2" charset="0"/>
              </a:rPr>
              <a:t>1</a:t>
            </a:r>
            <a:r>
              <a:rPr kumimoji="0" lang="en-US" sz="2000" b="0" i="0" u="none" strike="noStrike" kern="1200" cap="none" spc="0" normalizeH="0" baseline="0" noProof="0">
                <a:ln>
                  <a:noFill/>
                </a:ln>
                <a:solidFill>
                  <a:srgbClr val="FFFFFF"/>
                </a:solidFill>
                <a:effectLst>
                  <a:outerShdw blurRad="63500" sx="102000" sy="102000" algn="ctr" rotWithShape="0">
                    <a:prstClr val="black">
                      <a:alpha val="15000"/>
                    </a:prstClr>
                  </a:outerShdw>
                </a:effectLst>
                <a:uLnTx/>
                <a:uFillTx/>
                <a:latin typeface="Poppins SemiBold" panose="00000700000000000000" pitchFamily="2" charset="0"/>
                <a:ea typeface="+mn-ea"/>
                <a:cs typeface="Poppins SemiBold" panose="00000700000000000000" pitchFamily="2" charset="0"/>
              </a:rPr>
              <a:t> &amp;</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rgbClr val="FFFFFF"/>
                </a:solidFill>
                <a:effectLst>
                  <a:outerShdw blurRad="63500" sx="102000" sy="102000" algn="ctr" rotWithShape="0">
                    <a:prstClr val="black">
                      <a:alpha val="15000"/>
                    </a:prstClr>
                  </a:outerShdw>
                </a:effectLst>
                <a:uLnTx/>
                <a:uFillTx/>
                <a:latin typeface="Poppins SemiBold" panose="00000700000000000000" pitchFamily="2" charset="0"/>
                <a:ea typeface="+mn-ea"/>
                <a:cs typeface="Poppins SemiBold" panose="00000700000000000000" pitchFamily="2" charset="0"/>
              </a:rPr>
              <a:t>UNEMPLOYMENT </a:t>
            </a:r>
            <a:r>
              <a:rPr kumimoji="0" lang="en-US" sz="2000" b="0" i="0" u="none" strike="noStrike" kern="1200" cap="none" spc="0" normalizeH="0" baseline="30000" noProof="0">
                <a:ln>
                  <a:noFill/>
                </a:ln>
                <a:solidFill>
                  <a:srgbClr val="FFFFFF"/>
                </a:solidFill>
                <a:effectLst>
                  <a:outerShdw blurRad="63500" sx="102000" sy="102000" algn="ctr" rotWithShape="0">
                    <a:prstClr val="black">
                      <a:alpha val="15000"/>
                    </a:prstClr>
                  </a:outerShdw>
                </a:effectLst>
                <a:uLnTx/>
                <a:uFillTx/>
                <a:latin typeface="Poppins SemiBold" panose="00000700000000000000" pitchFamily="2" charset="0"/>
                <a:ea typeface="+mn-ea"/>
                <a:cs typeface="Poppins SemiBold" panose="00000700000000000000" pitchFamily="2" charset="0"/>
              </a:rPr>
              <a:t>2</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UNCHANGED </a:t>
            </a:r>
            <a:endParaRPr kumimoji="0" lang="en-US" sz="1800" b="0" i="0" u="none" strike="noStrike" kern="1200" cap="none" spc="0" normalizeH="0" baseline="30000" noProof="0">
              <a:ln>
                <a:noFill/>
              </a:ln>
              <a:solidFill>
                <a:srgbClr val="FFFFFF"/>
              </a:solidFill>
              <a:effectLst/>
              <a:uLnTx/>
              <a:uFillTx/>
              <a:latin typeface="Poppins" panose="00000500000000000000" pitchFamily="2" charset="0"/>
              <a:ea typeface="+mn-ea"/>
              <a:cs typeface="Poppins" panose="00000500000000000000" pitchFamily="2"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srgbClr val="FFFFFF"/>
              </a:solidFill>
              <a:effectLst>
                <a:outerShdw blurRad="63500" sx="102000" sy="102000" algn="ctr" rotWithShape="0">
                  <a:prstClr val="black">
                    <a:alpha val="15000"/>
                  </a:prstClr>
                </a:outerShdw>
              </a:effectLst>
              <a:highlight>
                <a:srgbClr val="FF00FF"/>
              </a:highlight>
              <a:uLnTx/>
              <a:uFillTx/>
              <a:latin typeface="Poppins SemiBold" panose="00000700000000000000" pitchFamily="2" charset="0"/>
              <a:ea typeface="+mn-ea"/>
              <a:cs typeface="Poppins SemiBold" panose="00000700000000000000" pitchFamily="2" charset="0"/>
            </a:endParaRPr>
          </a:p>
        </p:txBody>
      </p:sp>
      <p:sp>
        <p:nvSpPr>
          <p:cNvPr id="28" name="TextBox 27">
            <a:extLst>
              <a:ext uri="{FF2B5EF4-FFF2-40B4-BE49-F238E27FC236}">
                <a16:creationId xmlns:a16="http://schemas.microsoft.com/office/drawing/2014/main" id="{5BAF7D82-CD9C-6BC3-5652-D3FDE0490D16}"/>
              </a:ext>
            </a:extLst>
          </p:cNvPr>
          <p:cNvSpPr txBox="1"/>
          <p:nvPr/>
        </p:nvSpPr>
        <p:spPr>
          <a:xfrm>
            <a:off x="4035016" y="3239937"/>
            <a:ext cx="1670649" cy="1061829"/>
          </a:xfrm>
          <a:prstGeom prst="rect">
            <a:avLst/>
          </a:prstGeom>
          <a:noFill/>
          <a:effectLst/>
        </p:spPr>
        <p:txBody>
          <a:bodyPr wrap="none" rtlCol="0">
            <a:spAutoFit/>
          </a:bodyPr>
          <a:lstStyle>
            <a:defPPr>
              <a:defRPr lang="en-US"/>
            </a:defPPr>
            <a:lvl1pPr algn="ctr">
              <a:defRPr>
                <a:solidFill>
                  <a:schemeClr val="bg1"/>
                </a:solidFill>
                <a:effectLst>
                  <a:outerShdw blurRad="63500" sx="102000" sy="102000" algn="ctr" rotWithShape="0">
                    <a:prstClr val="black">
                      <a:alpha val="15000"/>
                    </a:prstClr>
                  </a:outerShdw>
                </a:effectLst>
                <a:latin typeface="Poppins SemiBold" panose="00000700000000000000" pitchFamily="2" charset="0"/>
                <a:cs typeface="Poppins SemiBold" panose="00000700000000000000"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outerShdw blurRad="63500" sx="102000" sy="102000" algn="ctr" rotWithShape="0">
                    <a:prstClr val="black">
                      <a:alpha val="15000"/>
                    </a:prstClr>
                  </a:outerShdw>
                </a:effectLst>
                <a:uLnTx/>
                <a:uFillTx/>
                <a:latin typeface="Poppins SemiBold" panose="00000700000000000000" pitchFamily="2" charset="0"/>
                <a:ea typeface="+mn-ea"/>
                <a:cs typeface="Poppins SemiBold" panose="00000700000000000000" pitchFamily="2" charset="0"/>
              </a:rPr>
              <a:t>ECONOMIC </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rgbClr val="FFFFFF"/>
                </a:solidFill>
                <a:effectLst>
                  <a:outerShdw blurRad="63500" sx="102000" sy="102000" algn="ctr" rotWithShape="0">
                    <a:prstClr val="black">
                      <a:alpha val="15000"/>
                    </a:prstClr>
                  </a:outerShdw>
                </a:effectLst>
                <a:uLnTx/>
                <a:uFillTx/>
                <a:latin typeface="Poppins SemiBold" panose="00000700000000000000" pitchFamily="2" charset="0"/>
                <a:ea typeface="+mn-ea"/>
                <a:cs typeface="Poppins SemiBold" panose="00000700000000000000" pitchFamily="2" charset="0"/>
              </a:rPr>
              <a:t>GROWTH </a:t>
            </a:r>
            <a:r>
              <a:rPr kumimoji="0" lang="en-US" sz="2000" b="0" i="0" u="none" strike="noStrike" kern="1200" cap="none" spc="0" normalizeH="0" baseline="30000" noProof="0">
                <a:ln>
                  <a:noFill/>
                </a:ln>
                <a:solidFill>
                  <a:srgbClr val="FFFFFF"/>
                </a:solidFill>
                <a:effectLst>
                  <a:outerShdw blurRad="63500" sx="102000" sy="102000" algn="ctr" rotWithShape="0">
                    <a:prstClr val="black">
                      <a:alpha val="15000"/>
                    </a:prstClr>
                  </a:outerShdw>
                </a:effectLst>
                <a:uLnTx/>
                <a:uFillTx/>
                <a:latin typeface="Poppins SemiBold" panose="00000700000000000000" pitchFamily="2" charset="0"/>
                <a:ea typeface="+mn-ea"/>
                <a:cs typeface="Poppins SemiBold" panose="00000700000000000000" pitchFamily="2" charset="0"/>
              </a:rPr>
              <a:t>3</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outerShdw blurRad="63500" sx="102000" sy="102000" algn="ctr" rotWithShape="0">
                    <a:prstClr val="black">
                      <a:alpha val="15000"/>
                    </a:prstClr>
                  </a:outerShdw>
                </a:effectLst>
                <a:uLnTx/>
                <a:uFillTx/>
                <a:latin typeface="Poppins" panose="00000500000000000000" pitchFamily="2" charset="0"/>
                <a:ea typeface="+mn-ea"/>
                <a:cs typeface="Poppins" panose="00000500000000000000" pitchFamily="2" charset="0"/>
              </a:rPr>
              <a:t>UP </a:t>
            </a:r>
          </a:p>
        </p:txBody>
      </p:sp>
      <p:sp>
        <p:nvSpPr>
          <p:cNvPr id="3" name="TextBox 2">
            <a:extLst>
              <a:ext uri="{FF2B5EF4-FFF2-40B4-BE49-F238E27FC236}">
                <a16:creationId xmlns:a16="http://schemas.microsoft.com/office/drawing/2014/main" id="{197E5994-9091-1172-D6C0-9EF762DECFB9}"/>
              </a:ext>
            </a:extLst>
          </p:cNvPr>
          <p:cNvSpPr txBox="1"/>
          <p:nvPr/>
        </p:nvSpPr>
        <p:spPr>
          <a:xfrm>
            <a:off x="286233" y="6486929"/>
            <a:ext cx="8233410" cy="386131"/>
          </a:xfrm>
          <a:prstGeom prst="rect">
            <a:avLst/>
          </a:prstGeom>
          <a:noFill/>
        </p:spPr>
        <p:txBody>
          <a:bodyPr wrap="square">
            <a:spAutoFit/>
          </a:bodyPr>
          <a:lstStyle/>
          <a:p>
            <a:pPr marL="0" marR="0" lvl="0" indent="0" algn="l" defTabSz="457200" rtl="0" eaLnBrk="1" fontAlgn="auto" latinLnBrk="0" hangingPunct="1">
              <a:lnSpc>
                <a:spcPct val="115000"/>
              </a:lnSpc>
              <a:spcBef>
                <a:spcPts val="0"/>
              </a:spcBef>
              <a:spcAft>
                <a:spcPts val="800"/>
              </a:spcAft>
              <a:buClrTx/>
              <a:buSzTx/>
              <a:buFontTx/>
              <a:buNone/>
              <a:tabLst/>
              <a:defRPr/>
            </a:pPr>
            <a:r>
              <a:rPr kumimoji="0" lang="en-US" sz="850" b="0" i="0" u="none" strike="noStrike" kern="100" cap="none" spc="0" normalizeH="0" baseline="30000" noProof="0">
                <a:ln>
                  <a:noFill/>
                </a:ln>
                <a:solidFill>
                  <a:srgbClr val="394849"/>
                </a:solidFill>
                <a:effectLst/>
                <a:uLnTx/>
                <a:uFillTx/>
                <a:latin typeface="Poppins Light" panose="00000400000000000000" pitchFamily="2" charset="0"/>
                <a:ea typeface="Aptos" panose="020B0004020202020204" pitchFamily="34" charset="0"/>
                <a:cs typeface="Poppins Light" panose="00000400000000000000" pitchFamily="2" charset="0"/>
              </a:rPr>
              <a:t>1   </a:t>
            </a:r>
            <a:r>
              <a:rPr kumimoji="0" lang="en-US" sz="850" b="0" i="0" u="none" strike="noStrike" kern="100" cap="none" spc="0" normalizeH="0" baseline="0" noProof="0">
                <a:ln>
                  <a:noFill/>
                </a:ln>
                <a:solidFill>
                  <a:srgbClr val="394849"/>
                </a:solidFill>
                <a:effectLst/>
                <a:uLnTx/>
                <a:uFillTx/>
                <a:latin typeface="Poppins Light" panose="00000400000000000000" pitchFamily="2" charset="0"/>
                <a:ea typeface="Aptos" panose="020B0004020202020204" pitchFamily="34" charset="0"/>
                <a:cs typeface="Poppins Light" panose="00000400000000000000" pitchFamily="2" charset="0"/>
              </a:rPr>
              <a:t>YEAR OVER YEAR PCE INFLATION PROJECTION FOR JUNE &amp; SEPTEMBER 2025 WAS UNCHANGED AT 3.00%.  </a:t>
            </a:r>
            <a:r>
              <a:rPr kumimoji="0" lang="en-US" sz="850" b="0" i="0" u="none" strike="noStrike" kern="100" cap="none" spc="0" normalizeH="0" baseline="30000" noProof="0">
                <a:ln>
                  <a:noFill/>
                </a:ln>
                <a:solidFill>
                  <a:srgbClr val="394849"/>
                </a:solidFill>
                <a:effectLst/>
                <a:uLnTx/>
                <a:uFillTx/>
                <a:latin typeface="Poppins Light" panose="00000400000000000000" pitchFamily="2" charset="0"/>
                <a:ea typeface="Aptos" panose="020B0004020202020204" pitchFamily="34" charset="0"/>
                <a:cs typeface="Poppins Light" panose="00000400000000000000" pitchFamily="2" charset="0"/>
              </a:rPr>
              <a:t>2   </a:t>
            </a:r>
            <a:r>
              <a:rPr kumimoji="0" lang="en-US" sz="850" b="0" i="0" u="none" strike="noStrike" kern="100" cap="none" spc="0" normalizeH="0" baseline="0" noProof="0">
                <a:ln>
                  <a:noFill/>
                </a:ln>
                <a:solidFill>
                  <a:srgbClr val="394849"/>
                </a:solidFill>
                <a:effectLst/>
                <a:uLnTx/>
                <a:uFillTx/>
                <a:latin typeface="Poppins Light" panose="00000400000000000000" pitchFamily="2" charset="0"/>
                <a:ea typeface="Aptos" panose="020B0004020202020204" pitchFamily="34" charset="0"/>
                <a:cs typeface="Poppins Light" panose="00000400000000000000" pitchFamily="2" charset="0"/>
              </a:rPr>
              <a:t>UNEMPLOYMENT RATE FOR JUNE &amp; SEPTEMBER 2025 WAS UNCHANGED AT 4.50%.  </a:t>
            </a:r>
            <a:r>
              <a:rPr kumimoji="0" lang="en-US" sz="850" b="0" i="0" u="none" strike="noStrike" kern="100" cap="none" spc="0" normalizeH="0" baseline="30000" noProof="0">
                <a:ln>
                  <a:noFill/>
                </a:ln>
                <a:solidFill>
                  <a:srgbClr val="394849"/>
                </a:solidFill>
                <a:effectLst/>
                <a:uLnTx/>
                <a:uFillTx/>
                <a:latin typeface="Poppins Light" panose="00000400000000000000" pitchFamily="2" charset="0"/>
                <a:ea typeface="Aptos" panose="020B0004020202020204" pitchFamily="34" charset="0"/>
                <a:cs typeface="Poppins Light" panose="00000400000000000000" pitchFamily="2" charset="0"/>
              </a:rPr>
              <a:t>3</a:t>
            </a:r>
            <a:r>
              <a:rPr kumimoji="0" lang="en-US" sz="850" b="0" i="0" u="none" strike="noStrike" kern="100" cap="none" spc="0" normalizeH="0" baseline="0" noProof="0">
                <a:ln>
                  <a:noFill/>
                </a:ln>
                <a:solidFill>
                  <a:srgbClr val="394849"/>
                </a:solidFill>
                <a:effectLst/>
                <a:uLnTx/>
                <a:uFillTx/>
                <a:latin typeface="Poppins Light" panose="00000400000000000000" pitchFamily="2" charset="0"/>
                <a:ea typeface="Aptos" panose="020B0004020202020204" pitchFamily="34" charset="0"/>
                <a:cs typeface="Poppins Light" panose="00000400000000000000" pitchFamily="2" charset="0"/>
              </a:rPr>
              <a:t> CHANGE IN REAL GDP WAS REVISED HIGHER FROM 1.40% IN JUNE 2025 TO 1.60% IN SEPTEMBER 2025</a:t>
            </a:r>
          </a:p>
        </p:txBody>
      </p:sp>
      <p:sp>
        <p:nvSpPr>
          <p:cNvPr id="5" name="TextBox 4">
            <a:extLst>
              <a:ext uri="{FF2B5EF4-FFF2-40B4-BE49-F238E27FC236}">
                <a16:creationId xmlns:a16="http://schemas.microsoft.com/office/drawing/2014/main" id="{752F475E-CDD0-C3E2-4633-6C01779AEF43}"/>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EXTERNALLY (FOOTNOTE)</a:t>
            </a:r>
          </a:p>
        </p:txBody>
      </p:sp>
    </p:spTree>
    <p:extLst>
      <p:ext uri="{BB962C8B-B14F-4D97-AF65-F5344CB8AC3E}">
        <p14:creationId xmlns:p14="http://schemas.microsoft.com/office/powerpoint/2010/main" val="3867894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DCC9A-A9DD-9A57-6618-C7A9FB595F02}"/>
            </a:ext>
          </a:extLst>
        </p:cNvPr>
        <p:cNvGrpSpPr/>
        <p:nvPr/>
      </p:nvGrpSpPr>
      <p:grpSpPr>
        <a:xfrm>
          <a:off x="0" y="0"/>
          <a:ext cx="0" cy="0"/>
          <a:chOff x="0" y="0"/>
          <a:chExt cx="0" cy="0"/>
        </a:xfrm>
      </p:grpSpPr>
      <p:sp>
        <p:nvSpPr>
          <p:cNvPr id="31" name="Line 309">
            <a:extLst>
              <a:ext uri="{FF2B5EF4-FFF2-40B4-BE49-F238E27FC236}">
                <a16:creationId xmlns:a16="http://schemas.microsoft.com/office/drawing/2014/main" id="{A6153B03-E73E-43E8-4CFE-F2E64926B4E7}"/>
              </a:ext>
            </a:extLst>
          </p:cNvPr>
          <p:cNvSpPr>
            <a:spLocks noChangeShapeType="1"/>
          </p:cNvSpPr>
          <p:nvPr/>
        </p:nvSpPr>
        <p:spPr bwMode="auto">
          <a:xfrm>
            <a:off x="365760" y="6498173"/>
            <a:ext cx="8412480" cy="0"/>
          </a:xfrm>
          <a:prstGeom prst="line">
            <a:avLst/>
          </a:prstGeom>
          <a:noFill/>
          <a:ln w="9525">
            <a:solidFill>
              <a:srgbClr val="194160"/>
            </a:solidFill>
            <a:round/>
            <a:headEnd/>
            <a:tailEnd/>
          </a:ln>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srgbClr val="000000"/>
              </a:solidFill>
              <a:effectLst/>
              <a:uLnTx/>
              <a:uFillTx/>
              <a:latin typeface="Times New Roman"/>
              <a:ea typeface="+mn-ea"/>
              <a:cs typeface="+mn-cs"/>
            </a:endParaRPr>
          </a:p>
        </p:txBody>
      </p:sp>
      <p:sp>
        <p:nvSpPr>
          <p:cNvPr id="10" name="Slide Number Placeholder 1">
            <a:extLst>
              <a:ext uri="{FF2B5EF4-FFF2-40B4-BE49-F238E27FC236}">
                <a16:creationId xmlns:a16="http://schemas.microsoft.com/office/drawing/2014/main" id="{8C082042-2A14-2585-FB28-3910BD25DE05}"/>
              </a:ext>
            </a:extLst>
          </p:cNvPr>
          <p:cNvSpPr>
            <a:spLocks noGrp="1"/>
          </p:cNvSpPr>
          <p:nvPr>
            <p:ph type="sldNum" sz="quarter" idx="4"/>
          </p:nvPr>
        </p:nvSpPr>
        <p:spPr>
          <a:xfrm>
            <a:off x="8552919" y="6530228"/>
            <a:ext cx="514350" cy="275945"/>
          </a:xfrm>
          <a:prstGeom prst="rect">
            <a:avLst/>
          </a:prstGeom>
        </p:spPr>
        <p:txBody>
          <a:body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smtClean="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8</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2" name="Title 1">
            <a:extLst>
              <a:ext uri="{FF2B5EF4-FFF2-40B4-BE49-F238E27FC236}">
                <a16:creationId xmlns:a16="http://schemas.microsoft.com/office/drawing/2014/main" id="{0AC366C0-F357-2004-C1AF-ED54F795C18C}"/>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marL="0" marR="0" lvl="0" indent="0" algn="l" defTabSz="1042203" rtl="0" eaLnBrk="0" fontAlgn="base" latinLnBrk="0" hangingPunct="0">
              <a:lnSpc>
                <a:spcPct val="98000"/>
              </a:lnSpc>
              <a:spcBef>
                <a:spcPct val="0"/>
              </a:spcBef>
              <a:spcAft>
                <a:spcPct val="0"/>
              </a:spcAft>
              <a:buClrTx/>
              <a:buSzTx/>
              <a:buFontTx/>
              <a:buNone/>
              <a:tabLst/>
              <a:defRPr/>
            </a:pPr>
            <a:r>
              <a:rPr kumimoji="0" lang="en-US" sz="180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rPr>
              <a:t>MARKET UPDATE</a:t>
            </a:r>
            <a:endParaRPr kumimoji="0" lang="en-US" sz="105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endParaRPr>
          </a:p>
        </p:txBody>
      </p:sp>
      <p:pic>
        <p:nvPicPr>
          <p:cNvPr id="46" name="Graphic 45" descr="Play with solid fill" hidden="1">
            <a:extLst>
              <a:ext uri="{FF2B5EF4-FFF2-40B4-BE49-F238E27FC236}">
                <a16:creationId xmlns:a16="http://schemas.microsoft.com/office/drawing/2014/main" id="{C7F72C51-AEAF-11FE-77FD-E17AFE92BAF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54947" y="701670"/>
            <a:ext cx="914400" cy="914400"/>
          </a:xfrm>
          <a:prstGeom prst="rect">
            <a:avLst/>
          </a:prstGeom>
        </p:spPr>
      </p:pic>
      <p:sp>
        <p:nvSpPr>
          <p:cNvPr id="8" name="Rectangle 7">
            <a:extLst>
              <a:ext uri="{FF2B5EF4-FFF2-40B4-BE49-F238E27FC236}">
                <a16:creationId xmlns:a16="http://schemas.microsoft.com/office/drawing/2014/main" id="{57E445D5-B0E7-1AC8-F8C9-40E52D320845}"/>
              </a:ext>
            </a:extLst>
          </p:cNvPr>
          <p:cNvSpPr/>
          <p:nvPr/>
        </p:nvSpPr>
        <p:spPr bwMode="auto">
          <a:xfrm>
            <a:off x="366583" y="825084"/>
            <a:ext cx="8412480" cy="338554"/>
          </a:xfrm>
          <a:prstGeom prst="rect">
            <a:avLst/>
          </a:prstGeom>
          <a:solidFill>
            <a:srgbClr val="106280"/>
          </a:solidFill>
        </p:spPr>
        <p:txBody>
          <a:bodyPr wrap="square"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rPr>
              <a:t>iV. U.S. GOVERNMENT SHUTDOWN AS OF OCT 1ST </a:t>
            </a:r>
          </a:p>
        </p:txBody>
      </p:sp>
      <p:grpSp>
        <p:nvGrpSpPr>
          <p:cNvPr id="5" name="Group 4">
            <a:extLst>
              <a:ext uri="{FF2B5EF4-FFF2-40B4-BE49-F238E27FC236}">
                <a16:creationId xmlns:a16="http://schemas.microsoft.com/office/drawing/2014/main" id="{12587EBB-33D1-E6E1-6423-9A6940072927}"/>
              </a:ext>
            </a:extLst>
          </p:cNvPr>
          <p:cNvGrpSpPr/>
          <p:nvPr/>
        </p:nvGrpSpPr>
        <p:grpSpPr>
          <a:xfrm>
            <a:off x="365760" y="1398423"/>
            <a:ext cx="8412477" cy="1103327"/>
            <a:chOff x="4444823" y="3639109"/>
            <a:chExt cx="8412477" cy="996552"/>
          </a:xfrm>
        </p:grpSpPr>
        <p:sp>
          <p:nvSpPr>
            <p:cNvPr id="9" name="Rectangle: Rounded Corners 8">
              <a:extLst>
                <a:ext uri="{FF2B5EF4-FFF2-40B4-BE49-F238E27FC236}">
                  <a16:creationId xmlns:a16="http://schemas.microsoft.com/office/drawing/2014/main" id="{BBA82FBD-B063-28BC-793F-AB6621BD293F}"/>
                </a:ext>
              </a:extLst>
            </p:cNvPr>
            <p:cNvSpPr/>
            <p:nvPr/>
          </p:nvSpPr>
          <p:spPr>
            <a:xfrm>
              <a:off x="4444823" y="3639109"/>
              <a:ext cx="8412477" cy="996552"/>
            </a:xfrm>
            <a:prstGeom prst="roundRect">
              <a:avLst>
                <a:gd name="adj" fmla="val 50000"/>
              </a:avLst>
            </a:prstGeom>
            <a:solidFill>
              <a:srgbClr val="72A8A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1" name="Oval 10">
              <a:extLst>
                <a:ext uri="{FF2B5EF4-FFF2-40B4-BE49-F238E27FC236}">
                  <a16:creationId xmlns:a16="http://schemas.microsoft.com/office/drawing/2014/main" id="{FE1DE759-E8C8-1E3D-CB7B-4B3743105834}"/>
                </a:ext>
              </a:extLst>
            </p:cNvPr>
            <p:cNvSpPr/>
            <p:nvPr/>
          </p:nvSpPr>
          <p:spPr>
            <a:xfrm>
              <a:off x="4593177" y="3738807"/>
              <a:ext cx="884327" cy="801131"/>
            </a:xfrm>
            <a:prstGeom prst="ellipse">
              <a:avLst/>
            </a:prstGeom>
            <a:solidFill>
              <a:srgbClr val="E8ECEB"/>
            </a:solidFill>
            <a:ln>
              <a:noFill/>
            </a:ln>
            <a:effectLst>
              <a:outerShdw blurRad="127000" dist="76200" dir="2100000" algn="tl" rotWithShape="0">
                <a:prstClr val="black">
                  <a:alpha val="29000"/>
                </a:prstClr>
              </a:outerShdw>
            </a:effectLst>
            <a:scene3d>
              <a:camera prst="orthographicFront"/>
              <a:lightRig rig="threePt" dir="t"/>
            </a:scene3d>
            <a:sp3d>
              <a:bevelT w="31750" h="12700"/>
            </a:sp3d>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2" name="Group 11">
            <a:extLst>
              <a:ext uri="{FF2B5EF4-FFF2-40B4-BE49-F238E27FC236}">
                <a16:creationId xmlns:a16="http://schemas.microsoft.com/office/drawing/2014/main" id="{7E932E27-64EF-FB2A-EB84-25CE66D44793}"/>
              </a:ext>
            </a:extLst>
          </p:cNvPr>
          <p:cNvGrpSpPr/>
          <p:nvPr/>
        </p:nvGrpSpPr>
        <p:grpSpPr>
          <a:xfrm>
            <a:off x="365760" y="2600371"/>
            <a:ext cx="8412477" cy="1103327"/>
            <a:chOff x="4444823" y="3639109"/>
            <a:chExt cx="8412477" cy="996552"/>
          </a:xfrm>
        </p:grpSpPr>
        <p:sp>
          <p:nvSpPr>
            <p:cNvPr id="13" name="Rectangle: Rounded Corners 12">
              <a:extLst>
                <a:ext uri="{FF2B5EF4-FFF2-40B4-BE49-F238E27FC236}">
                  <a16:creationId xmlns:a16="http://schemas.microsoft.com/office/drawing/2014/main" id="{E4BE2BB9-E788-0793-497E-F689C9345BC5}"/>
                </a:ext>
              </a:extLst>
            </p:cNvPr>
            <p:cNvSpPr/>
            <p:nvPr/>
          </p:nvSpPr>
          <p:spPr>
            <a:xfrm>
              <a:off x="4444823" y="3639109"/>
              <a:ext cx="8412477" cy="996552"/>
            </a:xfrm>
            <a:prstGeom prst="roundRect">
              <a:avLst>
                <a:gd name="adj" fmla="val 50000"/>
              </a:avLst>
            </a:prstGeom>
            <a:solidFill>
              <a:srgbClr val="2184A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14" name="Oval 13">
              <a:extLst>
                <a:ext uri="{FF2B5EF4-FFF2-40B4-BE49-F238E27FC236}">
                  <a16:creationId xmlns:a16="http://schemas.microsoft.com/office/drawing/2014/main" id="{A5890201-0E4F-E796-2599-FE0F3A18A74E}"/>
                </a:ext>
              </a:extLst>
            </p:cNvPr>
            <p:cNvSpPr/>
            <p:nvPr/>
          </p:nvSpPr>
          <p:spPr>
            <a:xfrm>
              <a:off x="4593176" y="3744313"/>
              <a:ext cx="886968" cy="801131"/>
            </a:xfrm>
            <a:prstGeom prst="ellipse">
              <a:avLst/>
            </a:prstGeom>
            <a:solidFill>
              <a:srgbClr val="E8ECEB"/>
            </a:solidFill>
            <a:ln>
              <a:noFill/>
            </a:ln>
            <a:effectLst>
              <a:outerShdw blurRad="127000" dist="76200" dir="2100000" algn="tl" rotWithShape="0">
                <a:prstClr val="black">
                  <a:alpha val="29000"/>
                </a:prstClr>
              </a:outerShdw>
            </a:effectLst>
            <a:scene3d>
              <a:camera prst="orthographicFront"/>
              <a:lightRig rig="threePt" dir="t"/>
            </a:scene3d>
            <a:sp3d>
              <a:bevelT w="31750" h="12700"/>
            </a:sp3d>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19" name="Group 18">
            <a:extLst>
              <a:ext uri="{FF2B5EF4-FFF2-40B4-BE49-F238E27FC236}">
                <a16:creationId xmlns:a16="http://schemas.microsoft.com/office/drawing/2014/main" id="{19C0E94D-2226-2A7F-4571-7E1A70B0453D}"/>
              </a:ext>
            </a:extLst>
          </p:cNvPr>
          <p:cNvGrpSpPr/>
          <p:nvPr/>
        </p:nvGrpSpPr>
        <p:grpSpPr>
          <a:xfrm>
            <a:off x="365760" y="3802319"/>
            <a:ext cx="8412477" cy="1103327"/>
            <a:chOff x="4444823" y="3639109"/>
            <a:chExt cx="7047115" cy="996552"/>
          </a:xfrm>
        </p:grpSpPr>
        <p:sp>
          <p:nvSpPr>
            <p:cNvPr id="20" name="Rectangle: Rounded Corners 19">
              <a:extLst>
                <a:ext uri="{FF2B5EF4-FFF2-40B4-BE49-F238E27FC236}">
                  <a16:creationId xmlns:a16="http://schemas.microsoft.com/office/drawing/2014/main" id="{5849CAF7-7953-90E7-3821-5326AB503A9C}"/>
                </a:ext>
              </a:extLst>
            </p:cNvPr>
            <p:cNvSpPr/>
            <p:nvPr/>
          </p:nvSpPr>
          <p:spPr>
            <a:xfrm>
              <a:off x="4444823" y="3639109"/>
              <a:ext cx="7047115" cy="996552"/>
            </a:xfrm>
            <a:prstGeom prst="roundRect">
              <a:avLst>
                <a:gd name="adj" fmla="val 50000"/>
              </a:avLst>
            </a:prstGeom>
            <a:solidFill>
              <a:srgbClr val="2C566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1" name="Oval 20">
              <a:extLst>
                <a:ext uri="{FF2B5EF4-FFF2-40B4-BE49-F238E27FC236}">
                  <a16:creationId xmlns:a16="http://schemas.microsoft.com/office/drawing/2014/main" id="{67FFD89A-95BD-E0B1-5F4D-D1C9FAC55562}"/>
                </a:ext>
              </a:extLst>
            </p:cNvPr>
            <p:cNvSpPr/>
            <p:nvPr/>
          </p:nvSpPr>
          <p:spPr>
            <a:xfrm>
              <a:off x="4593176" y="3738807"/>
              <a:ext cx="743011" cy="801131"/>
            </a:xfrm>
            <a:prstGeom prst="ellipse">
              <a:avLst/>
            </a:prstGeom>
            <a:solidFill>
              <a:srgbClr val="E8ECEB"/>
            </a:solidFill>
            <a:ln>
              <a:noFill/>
            </a:ln>
            <a:effectLst>
              <a:outerShdw blurRad="127000" dist="76200" dir="2100000" algn="tl" rotWithShape="0">
                <a:prstClr val="black">
                  <a:alpha val="29000"/>
                </a:prstClr>
              </a:outerShdw>
            </a:effectLst>
            <a:scene3d>
              <a:camera prst="orthographicFront"/>
              <a:lightRig rig="threePt" dir="t"/>
            </a:scene3d>
            <a:sp3d>
              <a:bevelT w="31750" h="12700"/>
            </a:sp3d>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Times New Roman"/>
                <a:ea typeface="+mn-ea"/>
                <a:cs typeface="+mn-cs"/>
              </a:endParaRPr>
            </a:p>
          </p:txBody>
        </p:sp>
      </p:grpSp>
      <p:grpSp>
        <p:nvGrpSpPr>
          <p:cNvPr id="22" name="Group 21">
            <a:extLst>
              <a:ext uri="{FF2B5EF4-FFF2-40B4-BE49-F238E27FC236}">
                <a16:creationId xmlns:a16="http://schemas.microsoft.com/office/drawing/2014/main" id="{18CDF838-FC0B-0746-910D-FFA61C4B0517}"/>
              </a:ext>
            </a:extLst>
          </p:cNvPr>
          <p:cNvGrpSpPr/>
          <p:nvPr/>
        </p:nvGrpSpPr>
        <p:grpSpPr>
          <a:xfrm>
            <a:off x="365760" y="5004267"/>
            <a:ext cx="8412477" cy="1103327"/>
            <a:chOff x="4444823" y="3639109"/>
            <a:chExt cx="7047115" cy="996552"/>
          </a:xfrm>
        </p:grpSpPr>
        <p:sp>
          <p:nvSpPr>
            <p:cNvPr id="23" name="Rectangle: Rounded Corners 22">
              <a:extLst>
                <a:ext uri="{FF2B5EF4-FFF2-40B4-BE49-F238E27FC236}">
                  <a16:creationId xmlns:a16="http://schemas.microsoft.com/office/drawing/2014/main" id="{2D09546B-86B5-D9D0-4EFD-D7041BDD4000}"/>
                </a:ext>
              </a:extLst>
            </p:cNvPr>
            <p:cNvSpPr/>
            <p:nvPr/>
          </p:nvSpPr>
          <p:spPr>
            <a:xfrm>
              <a:off x="4444823" y="3639109"/>
              <a:ext cx="7047115" cy="996552"/>
            </a:xfrm>
            <a:prstGeom prst="roundRect">
              <a:avLst>
                <a:gd name="adj" fmla="val 50000"/>
              </a:avLst>
            </a:prstGeom>
            <a:solidFill>
              <a:srgbClr val="3F545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Times New Roman"/>
                <a:ea typeface="+mn-ea"/>
                <a:cs typeface="+mn-cs"/>
              </a:endParaRPr>
            </a:p>
          </p:txBody>
        </p:sp>
        <p:sp>
          <p:nvSpPr>
            <p:cNvPr id="24" name="Oval 23">
              <a:extLst>
                <a:ext uri="{FF2B5EF4-FFF2-40B4-BE49-F238E27FC236}">
                  <a16:creationId xmlns:a16="http://schemas.microsoft.com/office/drawing/2014/main" id="{2F09D4D7-334D-01F5-486B-9A4D153A56F9}"/>
                </a:ext>
              </a:extLst>
            </p:cNvPr>
            <p:cNvSpPr/>
            <p:nvPr/>
          </p:nvSpPr>
          <p:spPr>
            <a:xfrm>
              <a:off x="4593176" y="3738807"/>
              <a:ext cx="743011" cy="801131"/>
            </a:xfrm>
            <a:prstGeom prst="ellipse">
              <a:avLst/>
            </a:prstGeom>
            <a:solidFill>
              <a:srgbClr val="E8ECEB"/>
            </a:solidFill>
            <a:ln>
              <a:noFill/>
            </a:ln>
            <a:effectLst>
              <a:outerShdw blurRad="127000" dist="76200" dir="2100000" algn="tl" rotWithShape="0">
                <a:prstClr val="black">
                  <a:alpha val="29000"/>
                </a:prstClr>
              </a:outerShdw>
            </a:effectLst>
            <a:scene3d>
              <a:camera prst="orthographicFront"/>
              <a:lightRig rig="threePt" dir="t"/>
            </a:scene3d>
            <a:sp3d>
              <a:bevelT w="31750" h="12700"/>
            </a:sp3d>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Times New Roman"/>
                <a:ea typeface="+mn-ea"/>
                <a:cs typeface="+mn-cs"/>
              </a:endParaRPr>
            </a:p>
          </p:txBody>
        </p:sp>
      </p:grpSp>
      <p:sp>
        <p:nvSpPr>
          <p:cNvPr id="35" name="Google Shape;125;p17">
            <a:extLst>
              <a:ext uri="{FF2B5EF4-FFF2-40B4-BE49-F238E27FC236}">
                <a16:creationId xmlns:a16="http://schemas.microsoft.com/office/drawing/2014/main" id="{7BB57BF0-2896-63CC-45DA-22D66E35C7F1}"/>
              </a:ext>
            </a:extLst>
          </p:cNvPr>
          <p:cNvSpPr txBox="1">
            <a:spLocks/>
          </p:cNvSpPr>
          <p:nvPr/>
        </p:nvSpPr>
        <p:spPr>
          <a:xfrm>
            <a:off x="1612137" y="1624203"/>
            <a:ext cx="7028312" cy="581830"/>
          </a:xfrm>
          <a:prstGeom prst="rect">
            <a:avLst/>
          </a:prstGeom>
        </p:spPr>
        <p:txBody>
          <a:bodyPr spcFirstLastPara="1" wrap="square" lIns="60950" tIns="60950" rIns="60950" bIns="60950" anchor="ctr"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76204" lvl="0" indent="0" defTabSz="609630">
              <a:spcBef>
                <a:spcPts val="0"/>
              </a:spcBef>
              <a:buSzPts val="1800"/>
              <a:buNone/>
              <a:defRPr/>
            </a:pPr>
            <a:r>
              <a:rPr lang="en-US" sz="1800">
                <a:solidFill>
                  <a:schemeClr val="bg1"/>
                </a:solidFill>
                <a:latin typeface="Poppins Medium" panose="00000600000000000000" pitchFamily="2" charset="0"/>
                <a:ea typeface="Inter Bold" panose="020B0604020202020204" charset="0"/>
                <a:cs typeface="Poppins Medium" panose="00000600000000000000" pitchFamily="2" charset="0"/>
                <a:sym typeface="Lato"/>
              </a:rPr>
              <a:t>FUNDING EXPIRED ON SEPTEMBER 30</a:t>
            </a:r>
            <a:r>
              <a:rPr lang="en-US" sz="1800" baseline="30000">
                <a:solidFill>
                  <a:schemeClr val="bg1"/>
                </a:solidFill>
                <a:latin typeface="Poppins Medium" panose="00000600000000000000" pitchFamily="2" charset="0"/>
                <a:ea typeface="Inter Bold" panose="020B0604020202020204" charset="0"/>
                <a:cs typeface="Poppins Medium" panose="00000600000000000000" pitchFamily="2" charset="0"/>
                <a:sym typeface="Lato"/>
              </a:rPr>
              <a:t>TH</a:t>
            </a:r>
            <a:endParaRPr lang="en-US" sz="1800">
              <a:solidFill>
                <a:schemeClr val="bg1"/>
              </a:solidFill>
              <a:latin typeface="Poppins Medium" panose="00000600000000000000" pitchFamily="2" charset="0"/>
              <a:ea typeface="Inter Bold" panose="020B0604020202020204" charset="0"/>
              <a:cs typeface="Poppins Medium" panose="00000600000000000000" pitchFamily="2" charset="0"/>
              <a:sym typeface="Lato"/>
            </a:endParaRPr>
          </a:p>
        </p:txBody>
      </p:sp>
      <p:sp>
        <p:nvSpPr>
          <p:cNvPr id="36" name="Google Shape;125;p17">
            <a:extLst>
              <a:ext uri="{FF2B5EF4-FFF2-40B4-BE49-F238E27FC236}">
                <a16:creationId xmlns:a16="http://schemas.microsoft.com/office/drawing/2014/main" id="{AE2709E5-ECA6-653A-82A5-6461D2EDB6C3}"/>
              </a:ext>
            </a:extLst>
          </p:cNvPr>
          <p:cNvSpPr txBox="1">
            <a:spLocks/>
          </p:cNvSpPr>
          <p:nvPr/>
        </p:nvSpPr>
        <p:spPr>
          <a:xfrm>
            <a:off x="1612137" y="2827232"/>
            <a:ext cx="6526023" cy="736323"/>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6"/>
              </a:buClr>
              <a:buSzPts val="18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76204" marR="0" lvl="0" indent="0" algn="l" defTabSz="609630" rtl="0" eaLnBrk="1" fontAlgn="auto" latinLnBrk="0" hangingPunct="1">
              <a:lnSpc>
                <a:spcPct val="100000"/>
              </a:lnSpc>
              <a:spcBef>
                <a:spcPts val="0"/>
              </a:spcBef>
              <a:spcAft>
                <a:spcPts val="0"/>
              </a:spcAft>
              <a:buClrTx/>
              <a:buSzPts val="1800"/>
              <a:buFont typeface="Lato"/>
              <a:buNone/>
              <a:tabLst/>
              <a:defRPr/>
            </a:pPr>
            <a:r>
              <a:rPr lang="en-US" sz="1800">
                <a:solidFill>
                  <a:schemeClr val="bg1"/>
                </a:solidFill>
                <a:latin typeface="Poppins Medium" panose="00000600000000000000" pitchFamily="2" charset="0"/>
                <a:ea typeface="Inter Bold" panose="020B0604020202020204" charset="0"/>
                <a:cs typeface="Poppins Medium" panose="00000600000000000000" pitchFamily="2" charset="0"/>
              </a:rPr>
              <a:t>HISTORICALLY, GOVERNMENT SHUTDOWNS HAVE NOT BEEN MAJOR MACRO EVENTS</a:t>
            </a:r>
            <a:endParaRPr kumimoji="0" lang="en-US" sz="1800" b="0" i="0" u="none" strike="noStrike" kern="1200" cap="none" spc="0" normalizeH="0" baseline="0" noProof="0">
              <a:ln>
                <a:noFill/>
              </a:ln>
              <a:solidFill>
                <a:schemeClr val="bg1"/>
              </a:solidFill>
              <a:effectLst/>
              <a:uLnTx/>
              <a:uFillTx/>
              <a:latin typeface="Poppins Medium" panose="00000600000000000000" pitchFamily="2" charset="0"/>
              <a:ea typeface="Inter Bold" panose="020B0604020202020204" charset="0"/>
              <a:cs typeface="Poppins Medium" panose="00000600000000000000" pitchFamily="2" charset="0"/>
              <a:sym typeface="Lato"/>
            </a:endParaRPr>
          </a:p>
        </p:txBody>
      </p:sp>
      <p:sp>
        <p:nvSpPr>
          <p:cNvPr id="37" name="Google Shape;125;p17">
            <a:extLst>
              <a:ext uri="{FF2B5EF4-FFF2-40B4-BE49-F238E27FC236}">
                <a16:creationId xmlns:a16="http://schemas.microsoft.com/office/drawing/2014/main" id="{85169A52-1C75-570A-A5C6-1FFB714D32A8}"/>
              </a:ext>
            </a:extLst>
          </p:cNvPr>
          <p:cNvSpPr txBox="1">
            <a:spLocks/>
          </p:cNvSpPr>
          <p:nvPr/>
        </p:nvSpPr>
        <p:spPr>
          <a:xfrm>
            <a:off x="1612137" y="4000837"/>
            <a:ext cx="6680320" cy="736323"/>
          </a:xfrm>
          <a:prstGeom prst="rect">
            <a:avLst/>
          </a:prstGeom>
          <a:no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6"/>
              </a:buClr>
              <a:buSzPts val="18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76204" lvl="0" indent="0">
              <a:spcBef>
                <a:spcPts val="0"/>
              </a:spcBef>
              <a:buClrTx/>
              <a:buNone/>
              <a:defRPr/>
            </a:pPr>
            <a:r>
              <a:rPr lang="en-US" sz="1800" kern="0">
                <a:solidFill>
                  <a:schemeClr val="bg1"/>
                </a:solidFill>
                <a:latin typeface="Poppins Medium" panose="00000600000000000000" pitchFamily="2" charset="0"/>
                <a:cs typeface="Poppins Medium" panose="00000600000000000000" pitchFamily="2" charset="0"/>
              </a:rPr>
              <a:t>FURLOUGHED WORKERS EVENTUALLY RETURN TO WORK AND RECEIVE BACK PAY</a:t>
            </a:r>
          </a:p>
        </p:txBody>
      </p:sp>
      <p:sp>
        <p:nvSpPr>
          <p:cNvPr id="38" name="Google Shape;125;p17">
            <a:extLst>
              <a:ext uri="{FF2B5EF4-FFF2-40B4-BE49-F238E27FC236}">
                <a16:creationId xmlns:a16="http://schemas.microsoft.com/office/drawing/2014/main" id="{20BDEB20-631E-2390-AC4C-24F12E63C408}"/>
              </a:ext>
            </a:extLst>
          </p:cNvPr>
          <p:cNvSpPr txBox="1">
            <a:spLocks/>
          </p:cNvSpPr>
          <p:nvPr/>
        </p:nvSpPr>
        <p:spPr>
          <a:xfrm>
            <a:off x="1612137" y="5208238"/>
            <a:ext cx="6680320" cy="736323"/>
          </a:xfrm>
          <a:prstGeom prst="rect">
            <a:avLst/>
          </a:prstGeom>
          <a:noFill/>
          <a:ln>
            <a:noFill/>
          </a:ln>
        </p:spPr>
        <p:txBody>
          <a:bodyPr spcFirstLastPara="1" wrap="square" lIns="60950" tIns="60950" rIns="60950" bIns="60950"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6"/>
              </a:buClr>
              <a:buSzPts val="18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pPr marL="76204" lvl="0" indent="0">
              <a:spcBef>
                <a:spcPts val="0"/>
              </a:spcBef>
              <a:buClrTx/>
              <a:buNone/>
              <a:defRPr/>
            </a:pPr>
            <a:r>
              <a:rPr lang="en-US" sz="1800">
                <a:solidFill>
                  <a:schemeClr val="bg1"/>
                </a:solidFill>
                <a:latin typeface="Poppins Medium" panose="00000600000000000000" pitchFamily="2" charset="0"/>
                <a:ea typeface="Inter Bold" panose="020B0604020202020204" charset="0"/>
                <a:cs typeface="Poppins Medium" panose="00000600000000000000" pitchFamily="2" charset="0"/>
              </a:rPr>
              <a:t>THE DURATION OF THE SHUTDOWN MATTERS. A NOTABLE DIFFERENCE THIS TIME IS TALK OF PERMANENT LAYOFFS</a:t>
            </a:r>
            <a:endParaRPr lang="en-US" sz="1800" kern="0">
              <a:solidFill>
                <a:schemeClr val="bg1"/>
              </a:solidFill>
              <a:latin typeface="Poppins Medium" panose="00000600000000000000" pitchFamily="2" charset="0"/>
              <a:cs typeface="Poppins Medium" panose="00000600000000000000" pitchFamily="2" charset="0"/>
            </a:endParaRPr>
          </a:p>
        </p:txBody>
      </p:sp>
      <p:pic>
        <p:nvPicPr>
          <p:cNvPr id="7" name="Graphic 6" descr="Daily calendar with solid fill">
            <a:extLst>
              <a:ext uri="{FF2B5EF4-FFF2-40B4-BE49-F238E27FC236}">
                <a16:creationId xmlns:a16="http://schemas.microsoft.com/office/drawing/2014/main" id="{7F734E78-9540-219E-DF03-395E23C89E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869" y="1619427"/>
            <a:ext cx="632487" cy="632487"/>
          </a:xfrm>
          <a:prstGeom prst="rect">
            <a:avLst/>
          </a:prstGeom>
        </p:spPr>
      </p:pic>
      <p:pic>
        <p:nvPicPr>
          <p:cNvPr id="29" name="Graphic 28" descr="Stopwatch with solid fill">
            <a:extLst>
              <a:ext uri="{FF2B5EF4-FFF2-40B4-BE49-F238E27FC236}">
                <a16:creationId xmlns:a16="http://schemas.microsoft.com/office/drawing/2014/main" id="{212AFBC7-A9F9-7838-2DE3-3BCF4EF7861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784" y="5186182"/>
            <a:ext cx="709390" cy="709390"/>
          </a:xfrm>
          <a:prstGeom prst="rect">
            <a:avLst/>
          </a:prstGeom>
        </p:spPr>
      </p:pic>
      <p:grpSp>
        <p:nvGrpSpPr>
          <p:cNvPr id="55" name="Group 54">
            <a:extLst>
              <a:ext uri="{FF2B5EF4-FFF2-40B4-BE49-F238E27FC236}">
                <a16:creationId xmlns:a16="http://schemas.microsoft.com/office/drawing/2014/main" id="{CCF027D5-B129-5269-35C0-E5124E8CD149}"/>
              </a:ext>
            </a:extLst>
          </p:cNvPr>
          <p:cNvGrpSpPr/>
          <p:nvPr/>
        </p:nvGrpSpPr>
        <p:grpSpPr>
          <a:xfrm>
            <a:off x="640136" y="2833328"/>
            <a:ext cx="632281" cy="611212"/>
            <a:chOff x="-1625178" y="2414059"/>
            <a:chExt cx="773139" cy="747376"/>
          </a:xfrm>
        </p:grpSpPr>
        <p:sp>
          <p:nvSpPr>
            <p:cNvPr id="39" name="Freeform: Shape 38">
              <a:extLst>
                <a:ext uri="{FF2B5EF4-FFF2-40B4-BE49-F238E27FC236}">
                  <a16:creationId xmlns:a16="http://schemas.microsoft.com/office/drawing/2014/main" id="{A04A87BB-0C9E-9397-74A3-3C60710CA147}"/>
                </a:ext>
              </a:extLst>
            </p:cNvPr>
            <p:cNvSpPr/>
            <p:nvPr/>
          </p:nvSpPr>
          <p:spPr>
            <a:xfrm>
              <a:off x="-1625178" y="2821148"/>
              <a:ext cx="228600" cy="57150"/>
            </a:xfrm>
            <a:custGeom>
              <a:avLst/>
              <a:gdLst>
                <a:gd name="connsiteX0" fmla="*/ 228600 w 228600"/>
                <a:gd name="connsiteY0" fmla="*/ 0 h 57150"/>
                <a:gd name="connsiteX1" fmla="*/ 0 w 228600"/>
                <a:gd name="connsiteY1" fmla="*/ 0 h 57150"/>
                <a:gd name="connsiteX2" fmla="*/ 114300 w 228600"/>
                <a:gd name="connsiteY2" fmla="*/ 57150 h 57150"/>
                <a:gd name="connsiteX3" fmla="*/ 228600 w 228600"/>
                <a:gd name="connsiteY3" fmla="*/ 0 h 57150"/>
              </a:gdLst>
              <a:ahLst/>
              <a:cxnLst>
                <a:cxn ang="0">
                  <a:pos x="connsiteX0" y="connsiteY0"/>
                </a:cxn>
                <a:cxn ang="0">
                  <a:pos x="connsiteX1" y="connsiteY1"/>
                </a:cxn>
                <a:cxn ang="0">
                  <a:pos x="connsiteX2" y="connsiteY2"/>
                </a:cxn>
                <a:cxn ang="0">
                  <a:pos x="connsiteX3" y="connsiteY3"/>
                </a:cxn>
              </a:cxnLst>
              <a:rect l="l" t="t" r="r" b="b"/>
              <a:pathLst>
                <a:path w="228600" h="57150">
                  <a:moveTo>
                    <a:pt x="228600" y="0"/>
                  </a:moveTo>
                  <a:lnTo>
                    <a:pt x="0" y="0"/>
                  </a:lnTo>
                  <a:cubicBezTo>
                    <a:pt x="0" y="31432"/>
                    <a:pt x="51435" y="57150"/>
                    <a:pt x="114300" y="57150"/>
                  </a:cubicBezTo>
                  <a:cubicBezTo>
                    <a:pt x="177165" y="57150"/>
                    <a:pt x="228600" y="31432"/>
                    <a:pt x="228600" y="0"/>
                  </a:cubicBezTo>
                  <a:close/>
                </a:path>
              </a:pathLst>
            </a:custGeom>
            <a:solidFill>
              <a:srgbClr val="000000"/>
            </a:solid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33EA74E-97C8-63C4-AA77-AEBE23A0CCEE}"/>
                </a:ext>
              </a:extLst>
            </p:cNvPr>
            <p:cNvSpPr/>
            <p:nvPr/>
          </p:nvSpPr>
          <p:spPr>
            <a:xfrm>
              <a:off x="-1080639" y="2790047"/>
              <a:ext cx="228600" cy="57150"/>
            </a:xfrm>
            <a:custGeom>
              <a:avLst/>
              <a:gdLst>
                <a:gd name="connsiteX0" fmla="*/ 0 w 228600"/>
                <a:gd name="connsiteY0" fmla="*/ 0 h 57150"/>
                <a:gd name="connsiteX1" fmla="*/ 114300 w 228600"/>
                <a:gd name="connsiteY1" fmla="*/ 57150 h 57150"/>
                <a:gd name="connsiteX2" fmla="*/ 228600 w 228600"/>
                <a:gd name="connsiteY2" fmla="*/ 0 h 57150"/>
              </a:gdLst>
              <a:ahLst/>
              <a:cxnLst>
                <a:cxn ang="0">
                  <a:pos x="connsiteX0" y="connsiteY0"/>
                </a:cxn>
                <a:cxn ang="0">
                  <a:pos x="connsiteX1" y="connsiteY1"/>
                </a:cxn>
                <a:cxn ang="0">
                  <a:pos x="connsiteX2" y="connsiteY2"/>
                </a:cxn>
              </a:cxnLst>
              <a:rect l="l" t="t" r="r" b="b"/>
              <a:pathLst>
                <a:path w="228600" h="57150">
                  <a:moveTo>
                    <a:pt x="0" y="0"/>
                  </a:moveTo>
                  <a:cubicBezTo>
                    <a:pt x="0" y="31432"/>
                    <a:pt x="51435" y="57150"/>
                    <a:pt x="114300" y="57150"/>
                  </a:cubicBezTo>
                  <a:cubicBezTo>
                    <a:pt x="177165" y="57150"/>
                    <a:pt x="228600" y="31432"/>
                    <a:pt x="228600" y="0"/>
                  </a:cubicBezTo>
                  <a:close/>
                </a:path>
              </a:pathLst>
            </a:custGeom>
            <a:solidFill>
              <a:srgbClr val="000000"/>
            </a:solidFill>
            <a:ln w="9525" cap="flat">
              <a:noFill/>
              <a:prstDash val="solid"/>
              <a:miter/>
            </a:ln>
          </p:spPr>
          <p:txBody>
            <a:bodyPr rtlCol="0" anchor="ctr"/>
            <a:lstStyle/>
            <a:p>
              <a:endParaRPr lang="en-US"/>
            </a:p>
          </p:txBody>
        </p:sp>
        <p:sp>
          <p:nvSpPr>
            <p:cNvPr id="42" name="Rectangle: Rounded Corners 41">
              <a:extLst>
                <a:ext uri="{FF2B5EF4-FFF2-40B4-BE49-F238E27FC236}">
                  <a16:creationId xmlns:a16="http://schemas.microsoft.com/office/drawing/2014/main" id="{52759BDC-21E4-ED85-C901-0CD33DCA2DCB}"/>
                </a:ext>
              </a:extLst>
            </p:cNvPr>
            <p:cNvSpPr/>
            <p:nvPr/>
          </p:nvSpPr>
          <p:spPr bwMode="auto">
            <a:xfrm>
              <a:off x="-1269886" y="2414059"/>
              <a:ext cx="59803" cy="698650"/>
            </a:xfrm>
            <a:prstGeom prst="roundRect">
              <a:avLst>
                <a:gd name="adj" fmla="val 50000"/>
              </a:avLst>
            </a:prstGeom>
            <a:solidFill>
              <a:schemeClr val="tx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sp>
          <p:nvSpPr>
            <p:cNvPr id="43" name="Rectangle: Rounded Corners 42">
              <a:extLst>
                <a:ext uri="{FF2B5EF4-FFF2-40B4-BE49-F238E27FC236}">
                  <a16:creationId xmlns:a16="http://schemas.microsoft.com/office/drawing/2014/main" id="{BAFA2817-C340-D026-FF2F-631929A82FF9}"/>
                </a:ext>
              </a:extLst>
            </p:cNvPr>
            <p:cNvSpPr/>
            <p:nvPr/>
          </p:nvSpPr>
          <p:spPr bwMode="auto">
            <a:xfrm rot="5400000">
              <a:off x="-1264075" y="2971440"/>
              <a:ext cx="48181" cy="260769"/>
            </a:xfrm>
            <a:prstGeom prst="roundRect">
              <a:avLst>
                <a:gd name="adj" fmla="val 22324"/>
              </a:avLst>
            </a:prstGeom>
            <a:solidFill>
              <a:schemeClr val="tx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sp>
          <p:nvSpPr>
            <p:cNvPr id="44" name="Rectangle: Rounded Corners 43">
              <a:extLst>
                <a:ext uri="{FF2B5EF4-FFF2-40B4-BE49-F238E27FC236}">
                  <a16:creationId xmlns:a16="http://schemas.microsoft.com/office/drawing/2014/main" id="{E6B3D7B9-C786-FB46-E7CA-08BDCE5E8994}"/>
                </a:ext>
              </a:extLst>
            </p:cNvPr>
            <p:cNvSpPr/>
            <p:nvPr/>
          </p:nvSpPr>
          <p:spPr bwMode="auto">
            <a:xfrm rot="5400000">
              <a:off x="-1264075" y="2888255"/>
              <a:ext cx="48181" cy="498179"/>
            </a:xfrm>
            <a:prstGeom prst="roundRect">
              <a:avLst>
                <a:gd name="adj" fmla="val 22324"/>
              </a:avLst>
            </a:prstGeom>
            <a:solidFill>
              <a:schemeClr val="tx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sp>
          <p:nvSpPr>
            <p:cNvPr id="45" name="Rectangle: Rounded Corners 44">
              <a:extLst>
                <a:ext uri="{FF2B5EF4-FFF2-40B4-BE49-F238E27FC236}">
                  <a16:creationId xmlns:a16="http://schemas.microsoft.com/office/drawing/2014/main" id="{94C769FF-C09F-9695-E432-217C6F152B91}"/>
                </a:ext>
              </a:extLst>
            </p:cNvPr>
            <p:cNvSpPr/>
            <p:nvPr/>
          </p:nvSpPr>
          <p:spPr bwMode="auto">
            <a:xfrm rot="5157796">
              <a:off x="-1268476" y="2290816"/>
              <a:ext cx="59803" cy="640080"/>
            </a:xfrm>
            <a:prstGeom prst="roundRect">
              <a:avLst>
                <a:gd name="adj" fmla="val 50000"/>
              </a:avLst>
            </a:prstGeom>
            <a:solidFill>
              <a:schemeClr val="tx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grpSp>
          <p:nvGrpSpPr>
            <p:cNvPr id="51" name="Group 50">
              <a:extLst>
                <a:ext uri="{FF2B5EF4-FFF2-40B4-BE49-F238E27FC236}">
                  <a16:creationId xmlns:a16="http://schemas.microsoft.com/office/drawing/2014/main" id="{DE905159-BDDC-DC3D-B342-75C5E16DA1E0}"/>
                </a:ext>
              </a:extLst>
            </p:cNvPr>
            <p:cNvGrpSpPr/>
            <p:nvPr/>
          </p:nvGrpSpPr>
          <p:grpSpPr>
            <a:xfrm>
              <a:off x="-998515" y="2583625"/>
              <a:ext cx="72101" cy="215516"/>
              <a:chOff x="-967098" y="2624743"/>
              <a:chExt cx="72101" cy="215516"/>
            </a:xfrm>
            <a:solidFill>
              <a:schemeClr val="tx1"/>
            </a:solidFill>
          </p:grpSpPr>
          <p:sp>
            <p:nvSpPr>
              <p:cNvPr id="48" name="Rectangle: Rounded Corners 47">
                <a:extLst>
                  <a:ext uri="{FF2B5EF4-FFF2-40B4-BE49-F238E27FC236}">
                    <a16:creationId xmlns:a16="http://schemas.microsoft.com/office/drawing/2014/main" id="{79E950FA-225F-2E9D-B4E6-B5B1203FA4E4}"/>
                  </a:ext>
                </a:extLst>
              </p:cNvPr>
              <p:cNvSpPr/>
              <p:nvPr/>
            </p:nvSpPr>
            <p:spPr bwMode="auto">
              <a:xfrm rot="777527" flipH="1">
                <a:off x="-967098" y="2624906"/>
                <a:ext cx="27432" cy="215353"/>
              </a:xfrm>
              <a:prstGeom prst="roundRect">
                <a:avLst>
                  <a:gd name="adj" fmla="val 50000"/>
                </a:avLst>
              </a:prstGeom>
              <a:grp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sp>
            <p:nvSpPr>
              <p:cNvPr id="49" name="Rectangle: Rounded Corners 48">
                <a:extLst>
                  <a:ext uri="{FF2B5EF4-FFF2-40B4-BE49-F238E27FC236}">
                    <a16:creationId xmlns:a16="http://schemas.microsoft.com/office/drawing/2014/main" id="{28B05FE5-54E6-C861-66A0-E94E8677E65E}"/>
                  </a:ext>
                </a:extLst>
              </p:cNvPr>
              <p:cNvSpPr/>
              <p:nvPr/>
            </p:nvSpPr>
            <p:spPr bwMode="auto">
              <a:xfrm rot="20879100" flipH="1">
                <a:off x="-922429" y="2624743"/>
                <a:ext cx="27432" cy="215353"/>
              </a:xfrm>
              <a:prstGeom prst="roundRect">
                <a:avLst>
                  <a:gd name="adj" fmla="val 50000"/>
                </a:avLst>
              </a:prstGeom>
              <a:grp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grpSp>
        <p:grpSp>
          <p:nvGrpSpPr>
            <p:cNvPr id="52" name="Group 51">
              <a:extLst>
                <a:ext uri="{FF2B5EF4-FFF2-40B4-BE49-F238E27FC236}">
                  <a16:creationId xmlns:a16="http://schemas.microsoft.com/office/drawing/2014/main" id="{FB500DFF-E8C2-F11F-B351-CC2CE5690B87}"/>
                </a:ext>
              </a:extLst>
            </p:cNvPr>
            <p:cNvGrpSpPr/>
            <p:nvPr/>
          </p:nvGrpSpPr>
          <p:grpSpPr>
            <a:xfrm>
              <a:off x="-1549035" y="2623021"/>
              <a:ext cx="72567" cy="215354"/>
              <a:chOff x="-1575770" y="2603402"/>
              <a:chExt cx="72567" cy="215354"/>
            </a:xfrm>
            <a:solidFill>
              <a:schemeClr val="tx1"/>
            </a:solidFill>
          </p:grpSpPr>
          <p:sp>
            <p:nvSpPr>
              <p:cNvPr id="47" name="Rectangle: Rounded Corners 46">
                <a:extLst>
                  <a:ext uri="{FF2B5EF4-FFF2-40B4-BE49-F238E27FC236}">
                    <a16:creationId xmlns:a16="http://schemas.microsoft.com/office/drawing/2014/main" id="{1C86A8C6-A0B7-2295-06A9-DF15ACD967FC}"/>
                  </a:ext>
                </a:extLst>
              </p:cNvPr>
              <p:cNvSpPr/>
              <p:nvPr/>
            </p:nvSpPr>
            <p:spPr bwMode="auto">
              <a:xfrm rot="777527" flipH="1">
                <a:off x="-1575770" y="2603403"/>
                <a:ext cx="27432" cy="215353"/>
              </a:xfrm>
              <a:prstGeom prst="roundRect">
                <a:avLst>
                  <a:gd name="adj" fmla="val 50000"/>
                </a:avLst>
              </a:prstGeom>
              <a:grp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sp>
            <p:nvSpPr>
              <p:cNvPr id="50" name="Rectangle: Rounded Corners 49">
                <a:extLst>
                  <a:ext uri="{FF2B5EF4-FFF2-40B4-BE49-F238E27FC236}">
                    <a16:creationId xmlns:a16="http://schemas.microsoft.com/office/drawing/2014/main" id="{33690D82-D644-4C2A-605B-E43425B941C5}"/>
                  </a:ext>
                </a:extLst>
              </p:cNvPr>
              <p:cNvSpPr/>
              <p:nvPr/>
            </p:nvSpPr>
            <p:spPr bwMode="auto">
              <a:xfrm rot="20879100" flipH="1">
                <a:off x="-1530635" y="2603402"/>
                <a:ext cx="27432" cy="215353"/>
              </a:xfrm>
              <a:prstGeom prst="roundRect">
                <a:avLst>
                  <a:gd name="adj" fmla="val 50000"/>
                </a:avLst>
              </a:prstGeom>
              <a:grp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grpSp>
        <p:sp>
          <p:nvSpPr>
            <p:cNvPr id="53" name="Oval 52">
              <a:extLst>
                <a:ext uri="{FF2B5EF4-FFF2-40B4-BE49-F238E27FC236}">
                  <a16:creationId xmlns:a16="http://schemas.microsoft.com/office/drawing/2014/main" id="{4A88BAEB-056E-F382-3CFA-4D17084A1242}"/>
                </a:ext>
              </a:extLst>
            </p:cNvPr>
            <p:cNvSpPr/>
            <p:nvPr/>
          </p:nvSpPr>
          <p:spPr bwMode="auto">
            <a:xfrm>
              <a:off x="-1312494" y="2527861"/>
              <a:ext cx="145019" cy="145019"/>
            </a:xfrm>
            <a:prstGeom prst="ellipse">
              <a:avLst/>
            </a:prstGeom>
            <a:solidFill>
              <a:schemeClr val="tx1"/>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sp>
          <p:nvSpPr>
            <p:cNvPr id="54" name="Oval 53">
              <a:extLst>
                <a:ext uri="{FF2B5EF4-FFF2-40B4-BE49-F238E27FC236}">
                  <a16:creationId xmlns:a16="http://schemas.microsoft.com/office/drawing/2014/main" id="{B203B6DD-5A7A-6581-0E69-5371707FCAA7}"/>
                </a:ext>
              </a:extLst>
            </p:cNvPr>
            <p:cNvSpPr/>
            <p:nvPr/>
          </p:nvSpPr>
          <p:spPr bwMode="auto">
            <a:xfrm rot="1233873">
              <a:off x="-1272460" y="2566948"/>
              <a:ext cx="64008" cy="64008"/>
            </a:xfrm>
            <a:prstGeom prst="ellipse">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50000"/>
                </a:spcBef>
                <a:spcAft>
                  <a:spcPct val="0"/>
                </a:spcAft>
                <a:buClrTx/>
                <a:buSzTx/>
                <a:buFontTx/>
                <a:buNone/>
                <a:tabLst/>
              </a:pPr>
              <a:endParaRPr kumimoji="0" lang="en-US" sz="1000" b="1" i="0" u="none" strike="noStrike" cap="none" normalizeH="0" baseline="0">
                <a:ln>
                  <a:noFill/>
                </a:ln>
                <a:solidFill>
                  <a:schemeClr val="tx1"/>
                </a:solidFill>
                <a:effectLst/>
                <a:latin typeface="Arial" charset="0"/>
              </a:endParaRPr>
            </a:p>
          </p:txBody>
        </p:sp>
      </p:grpSp>
      <p:grpSp>
        <p:nvGrpSpPr>
          <p:cNvPr id="58" name="Group 57">
            <a:extLst>
              <a:ext uri="{FF2B5EF4-FFF2-40B4-BE49-F238E27FC236}">
                <a16:creationId xmlns:a16="http://schemas.microsoft.com/office/drawing/2014/main" id="{B25D1AF7-83A8-9D9E-A51C-35EC2D27EA89}"/>
              </a:ext>
            </a:extLst>
          </p:cNvPr>
          <p:cNvGrpSpPr/>
          <p:nvPr/>
        </p:nvGrpSpPr>
        <p:grpSpPr>
          <a:xfrm>
            <a:off x="640136" y="4020793"/>
            <a:ext cx="666378" cy="666378"/>
            <a:chOff x="-890278" y="3886200"/>
            <a:chExt cx="914400" cy="914400"/>
          </a:xfrm>
        </p:grpSpPr>
        <p:pic>
          <p:nvPicPr>
            <p:cNvPr id="16" name="Graphic 15" descr="Run with solid fill">
              <a:extLst>
                <a:ext uri="{FF2B5EF4-FFF2-40B4-BE49-F238E27FC236}">
                  <a16:creationId xmlns:a16="http://schemas.microsoft.com/office/drawing/2014/main" id="{7A7BCB19-FB79-6BE6-F100-8E847552F8E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0278" y="3886200"/>
              <a:ext cx="914400" cy="914400"/>
            </a:xfrm>
            <a:prstGeom prst="rect">
              <a:avLst/>
            </a:prstGeom>
          </p:spPr>
        </p:pic>
        <p:pic>
          <p:nvPicPr>
            <p:cNvPr id="57" name="Graphic 56" descr="Briefcase with solid fill">
              <a:extLst>
                <a:ext uri="{FF2B5EF4-FFF2-40B4-BE49-F238E27FC236}">
                  <a16:creationId xmlns:a16="http://schemas.microsoft.com/office/drawing/2014/main" id="{BF0F663E-B2C8-E745-7CA4-90377D09E9B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328116">
              <a:off x="-770002" y="4207644"/>
              <a:ext cx="245102" cy="245102"/>
            </a:xfrm>
            <a:prstGeom prst="rect">
              <a:avLst/>
            </a:prstGeom>
          </p:spPr>
        </p:pic>
      </p:grpSp>
    </p:spTree>
    <p:extLst>
      <p:ext uri="{BB962C8B-B14F-4D97-AF65-F5344CB8AC3E}">
        <p14:creationId xmlns:p14="http://schemas.microsoft.com/office/powerpoint/2010/main" val="3562129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BC1DC93-5CEB-E1E6-2316-EDF6420E21A6}"/>
              </a:ext>
            </a:extLst>
          </p:cNvPr>
          <p:cNvSpPr/>
          <p:nvPr/>
        </p:nvSpPr>
        <p:spPr bwMode="auto">
          <a:xfrm>
            <a:off x="374464" y="1257834"/>
            <a:ext cx="8412480" cy="5136478"/>
          </a:xfrm>
          <a:prstGeom prst="rect">
            <a:avLst/>
          </a:prstGeom>
          <a:solidFill>
            <a:srgbClr val="E8EDF0"/>
          </a:solidFill>
        </p:spPr>
        <p:txBody>
          <a:bodyPr wrap="square"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endParaRPr>
          </a:p>
        </p:txBody>
      </p:sp>
      <p:sp>
        <p:nvSpPr>
          <p:cNvPr id="34" name="Rectangle: Rounded Corners 29">
            <a:extLst>
              <a:ext uri="{FF2B5EF4-FFF2-40B4-BE49-F238E27FC236}">
                <a16:creationId xmlns:a16="http://schemas.microsoft.com/office/drawing/2014/main" id="{84587B71-E57B-01E6-0A6F-94EFFF573F57}"/>
              </a:ext>
            </a:extLst>
          </p:cNvPr>
          <p:cNvSpPr/>
          <p:nvPr/>
        </p:nvSpPr>
        <p:spPr bwMode="auto">
          <a:xfrm>
            <a:off x="1361056" y="1537390"/>
            <a:ext cx="7271430" cy="2150745"/>
          </a:xfrm>
          <a:custGeom>
            <a:avLst/>
            <a:gdLst>
              <a:gd name="connsiteX0" fmla="*/ 0 w 6257966"/>
              <a:gd name="connsiteY0" fmla="*/ 0 h 2294251"/>
              <a:gd name="connsiteX1" fmla="*/ 0 w 6257966"/>
              <a:gd name="connsiteY1" fmla="*/ 0 h 2294251"/>
              <a:gd name="connsiteX2" fmla="*/ 6257966 w 6257966"/>
              <a:gd name="connsiteY2" fmla="*/ 0 h 2294251"/>
              <a:gd name="connsiteX3" fmla="*/ 6257966 w 6257966"/>
              <a:gd name="connsiteY3" fmla="*/ 0 h 2294251"/>
              <a:gd name="connsiteX4" fmla="*/ 6257966 w 6257966"/>
              <a:gd name="connsiteY4" fmla="*/ 2294251 h 2294251"/>
              <a:gd name="connsiteX5" fmla="*/ 6257966 w 6257966"/>
              <a:gd name="connsiteY5" fmla="*/ 2294251 h 2294251"/>
              <a:gd name="connsiteX6" fmla="*/ 0 w 6257966"/>
              <a:gd name="connsiteY6" fmla="*/ 2294251 h 2294251"/>
              <a:gd name="connsiteX7" fmla="*/ 0 w 6257966"/>
              <a:gd name="connsiteY7" fmla="*/ 2294251 h 2294251"/>
              <a:gd name="connsiteX8" fmla="*/ 0 w 6257966"/>
              <a:gd name="connsiteY8" fmla="*/ 0 h 2294251"/>
              <a:gd name="connsiteX0" fmla="*/ 0 w 6257966"/>
              <a:gd name="connsiteY0" fmla="*/ 0 h 2294251"/>
              <a:gd name="connsiteX1" fmla="*/ 0 w 6257966"/>
              <a:gd name="connsiteY1" fmla="*/ 0 h 2294251"/>
              <a:gd name="connsiteX2" fmla="*/ 6257966 w 6257966"/>
              <a:gd name="connsiteY2" fmla="*/ 0 h 2294251"/>
              <a:gd name="connsiteX3" fmla="*/ 6257966 w 6257966"/>
              <a:gd name="connsiteY3" fmla="*/ 0 h 2294251"/>
              <a:gd name="connsiteX4" fmla="*/ 6247406 w 6257966"/>
              <a:gd name="connsiteY4" fmla="*/ 1045296 h 2294251"/>
              <a:gd name="connsiteX5" fmla="*/ 6257966 w 6257966"/>
              <a:gd name="connsiteY5" fmla="*/ 2294251 h 2294251"/>
              <a:gd name="connsiteX6" fmla="*/ 6257966 w 6257966"/>
              <a:gd name="connsiteY6" fmla="*/ 2294251 h 2294251"/>
              <a:gd name="connsiteX7" fmla="*/ 0 w 6257966"/>
              <a:gd name="connsiteY7" fmla="*/ 2294251 h 2294251"/>
              <a:gd name="connsiteX8" fmla="*/ 0 w 6257966"/>
              <a:gd name="connsiteY8" fmla="*/ 2294251 h 2294251"/>
              <a:gd name="connsiteX9" fmla="*/ 0 w 6257966"/>
              <a:gd name="connsiteY9" fmla="*/ 0 h 2294251"/>
              <a:gd name="connsiteX0" fmla="*/ 0 w 6948446"/>
              <a:gd name="connsiteY0" fmla="*/ 0 h 2294251"/>
              <a:gd name="connsiteX1" fmla="*/ 0 w 6948446"/>
              <a:gd name="connsiteY1" fmla="*/ 0 h 2294251"/>
              <a:gd name="connsiteX2" fmla="*/ 6257966 w 6948446"/>
              <a:gd name="connsiteY2" fmla="*/ 0 h 2294251"/>
              <a:gd name="connsiteX3" fmla="*/ 6257966 w 6948446"/>
              <a:gd name="connsiteY3" fmla="*/ 0 h 2294251"/>
              <a:gd name="connsiteX4" fmla="*/ 6948446 w 6948446"/>
              <a:gd name="connsiteY4" fmla="*/ 1052916 h 2294251"/>
              <a:gd name="connsiteX5" fmla="*/ 6257966 w 6948446"/>
              <a:gd name="connsiteY5" fmla="*/ 2294251 h 2294251"/>
              <a:gd name="connsiteX6" fmla="*/ 6257966 w 6948446"/>
              <a:gd name="connsiteY6" fmla="*/ 2294251 h 2294251"/>
              <a:gd name="connsiteX7" fmla="*/ 0 w 6948446"/>
              <a:gd name="connsiteY7" fmla="*/ 2294251 h 2294251"/>
              <a:gd name="connsiteX8" fmla="*/ 0 w 6948446"/>
              <a:gd name="connsiteY8" fmla="*/ 2294251 h 2294251"/>
              <a:gd name="connsiteX9" fmla="*/ 0 w 6948446"/>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02935 h 2294251"/>
              <a:gd name="connsiteX5" fmla="*/ 6257966 w 6940110"/>
              <a:gd name="connsiteY5" fmla="*/ 2294251 h 2294251"/>
              <a:gd name="connsiteX6" fmla="*/ 6257966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32487 h 2294251"/>
              <a:gd name="connsiteX5" fmla="*/ 6257966 w 6940110"/>
              <a:gd name="connsiteY5" fmla="*/ 2294251 h 2294251"/>
              <a:gd name="connsiteX6" fmla="*/ 6257966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32487 h 2294251"/>
              <a:gd name="connsiteX5" fmla="*/ 6257966 w 6940110"/>
              <a:gd name="connsiteY5" fmla="*/ 2294251 h 2294251"/>
              <a:gd name="connsiteX6" fmla="*/ 6298123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391792"/>
              <a:gd name="connsiteX1" fmla="*/ 0 w 6940110"/>
              <a:gd name="connsiteY1" fmla="*/ 0 h 2391792"/>
              <a:gd name="connsiteX2" fmla="*/ 6257966 w 6940110"/>
              <a:gd name="connsiteY2" fmla="*/ 0 h 2391792"/>
              <a:gd name="connsiteX3" fmla="*/ 6257966 w 6940110"/>
              <a:gd name="connsiteY3" fmla="*/ 0 h 2391792"/>
              <a:gd name="connsiteX4" fmla="*/ 6940110 w 6940110"/>
              <a:gd name="connsiteY4" fmla="*/ 1132487 h 2391792"/>
              <a:gd name="connsiteX5" fmla="*/ 6257966 w 6940110"/>
              <a:gd name="connsiteY5" fmla="*/ 2294251 h 2391792"/>
              <a:gd name="connsiteX6" fmla="*/ 6288084 w 6940110"/>
              <a:gd name="connsiteY6" fmla="*/ 2391792 h 2391792"/>
              <a:gd name="connsiteX7" fmla="*/ 0 w 6940110"/>
              <a:gd name="connsiteY7" fmla="*/ 2294251 h 2391792"/>
              <a:gd name="connsiteX8" fmla="*/ 0 w 6940110"/>
              <a:gd name="connsiteY8" fmla="*/ 2294251 h 2391792"/>
              <a:gd name="connsiteX9" fmla="*/ 0 w 6940110"/>
              <a:gd name="connsiteY9" fmla="*/ 0 h 2391792"/>
              <a:gd name="connsiteX0" fmla="*/ 0 w 6940110"/>
              <a:gd name="connsiteY0" fmla="*/ 0 h 2391792"/>
              <a:gd name="connsiteX1" fmla="*/ 0 w 6940110"/>
              <a:gd name="connsiteY1" fmla="*/ 0 h 2391792"/>
              <a:gd name="connsiteX2" fmla="*/ 6257966 w 6940110"/>
              <a:gd name="connsiteY2" fmla="*/ 0 h 2391792"/>
              <a:gd name="connsiteX3" fmla="*/ 6257966 w 6940110"/>
              <a:gd name="connsiteY3" fmla="*/ 0 h 2391792"/>
              <a:gd name="connsiteX4" fmla="*/ 6940110 w 6940110"/>
              <a:gd name="connsiteY4" fmla="*/ 1132487 h 2391792"/>
              <a:gd name="connsiteX5" fmla="*/ 6298123 w 6940110"/>
              <a:gd name="connsiteY5" fmla="*/ 2294251 h 2391792"/>
              <a:gd name="connsiteX6" fmla="*/ 6288084 w 6940110"/>
              <a:gd name="connsiteY6" fmla="*/ 2391792 h 2391792"/>
              <a:gd name="connsiteX7" fmla="*/ 0 w 6940110"/>
              <a:gd name="connsiteY7" fmla="*/ 2294251 h 2391792"/>
              <a:gd name="connsiteX8" fmla="*/ 0 w 6940110"/>
              <a:gd name="connsiteY8" fmla="*/ 2294251 h 2391792"/>
              <a:gd name="connsiteX9" fmla="*/ 0 w 6940110"/>
              <a:gd name="connsiteY9" fmla="*/ 0 h 2391792"/>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32487 h 2294251"/>
              <a:gd name="connsiteX5" fmla="*/ 6298123 w 6940110"/>
              <a:gd name="connsiteY5" fmla="*/ 2294251 h 2294251"/>
              <a:gd name="connsiteX6" fmla="*/ 6303143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80555 w 6940110"/>
              <a:gd name="connsiteY3" fmla="*/ 0 h 2294251"/>
              <a:gd name="connsiteX4" fmla="*/ 6940110 w 6940110"/>
              <a:gd name="connsiteY4" fmla="*/ 1132487 h 2294251"/>
              <a:gd name="connsiteX5" fmla="*/ 6298123 w 6940110"/>
              <a:gd name="connsiteY5" fmla="*/ 2294251 h 2294251"/>
              <a:gd name="connsiteX6" fmla="*/ 6303143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40110" h="2294251">
                <a:moveTo>
                  <a:pt x="0" y="0"/>
                </a:moveTo>
                <a:lnTo>
                  <a:pt x="0" y="0"/>
                </a:lnTo>
                <a:lnTo>
                  <a:pt x="6257966" y="0"/>
                </a:lnTo>
                <a:lnTo>
                  <a:pt x="6280555" y="0"/>
                </a:lnTo>
                <a:lnTo>
                  <a:pt x="6940110" y="1132487"/>
                </a:lnTo>
                <a:lnTo>
                  <a:pt x="6298123" y="2294251"/>
                </a:lnTo>
                <a:lnTo>
                  <a:pt x="6303143" y="2294251"/>
                </a:lnTo>
                <a:lnTo>
                  <a:pt x="0" y="2294251"/>
                </a:lnTo>
                <a:lnTo>
                  <a:pt x="0" y="2294251"/>
                </a:lnTo>
                <a:lnTo>
                  <a:pt x="0" y="0"/>
                </a:lnTo>
                <a:close/>
              </a:path>
            </a:pathLst>
          </a:custGeom>
          <a:noFill/>
          <a:ln w="47625" cap="flat" cmpd="sng" algn="ctr">
            <a:solidFill>
              <a:srgbClr val="5A9C86"/>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798513" marR="0" lvl="0" indent="-171450" algn="l" defTabSz="4572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all"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p:txBody>
      </p:sp>
      <p:sp>
        <p:nvSpPr>
          <p:cNvPr id="31" name="Line 309">
            <a:extLst>
              <a:ext uri="{FF2B5EF4-FFF2-40B4-BE49-F238E27FC236}">
                <a16:creationId xmlns:a16="http://schemas.microsoft.com/office/drawing/2014/main" id="{F7900D17-5979-4CCA-81E2-08E62A80E77E}"/>
              </a:ext>
            </a:extLst>
          </p:cNvPr>
          <p:cNvSpPr>
            <a:spLocks noChangeShapeType="1"/>
          </p:cNvSpPr>
          <p:nvPr/>
        </p:nvSpPr>
        <p:spPr bwMode="auto">
          <a:xfrm>
            <a:off x="365760" y="6530228"/>
            <a:ext cx="8412480" cy="0"/>
          </a:xfrm>
          <a:prstGeom prst="line">
            <a:avLst/>
          </a:prstGeom>
          <a:noFill/>
          <a:ln w="9525">
            <a:solidFill>
              <a:srgbClr val="194160"/>
            </a:solidFill>
            <a:round/>
            <a:headEnd/>
            <a:tailEnd/>
          </a:ln>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srgbClr val="000000"/>
              </a:solidFill>
              <a:effectLst/>
              <a:uLnTx/>
              <a:uFillTx/>
              <a:latin typeface="Times New Roman"/>
              <a:ea typeface="+mn-ea"/>
              <a:cs typeface="+mn-cs"/>
            </a:endParaRPr>
          </a:p>
        </p:txBody>
      </p:sp>
      <p:sp>
        <p:nvSpPr>
          <p:cNvPr id="10" name="Slide Number Placeholder 1">
            <a:extLst>
              <a:ext uri="{FF2B5EF4-FFF2-40B4-BE49-F238E27FC236}">
                <a16:creationId xmlns:a16="http://schemas.microsoft.com/office/drawing/2014/main" id="{A9DE95F4-8632-49A9-873E-B3338F7380EA}"/>
              </a:ext>
            </a:extLst>
          </p:cNvPr>
          <p:cNvSpPr>
            <a:spLocks noGrp="1"/>
          </p:cNvSpPr>
          <p:nvPr>
            <p:ph type="sldNum" sz="quarter" idx="4"/>
          </p:nvPr>
        </p:nvSpPr>
        <p:spPr>
          <a:xfrm>
            <a:off x="8552919" y="6530228"/>
            <a:ext cx="514350" cy="275945"/>
          </a:xfrm>
          <a:prstGeom prst="rect">
            <a:avLst/>
          </a:prstGeom>
        </p:spPr>
        <p:txBody>
          <a:body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smtClean="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9</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sp>
        <p:nvSpPr>
          <p:cNvPr id="14" name="Rectangle 13">
            <a:extLst>
              <a:ext uri="{FF2B5EF4-FFF2-40B4-BE49-F238E27FC236}">
                <a16:creationId xmlns:a16="http://schemas.microsoft.com/office/drawing/2014/main" id="{B6BD9B6F-B89F-135B-024F-964892E54616}"/>
              </a:ext>
            </a:extLst>
          </p:cNvPr>
          <p:cNvSpPr/>
          <p:nvPr/>
        </p:nvSpPr>
        <p:spPr bwMode="auto">
          <a:xfrm>
            <a:off x="366583" y="825084"/>
            <a:ext cx="8412480" cy="338554"/>
          </a:xfrm>
          <a:prstGeom prst="rect">
            <a:avLst/>
          </a:prstGeom>
          <a:solidFill>
            <a:srgbClr val="106280"/>
          </a:solidFill>
        </p:spPr>
        <p:txBody>
          <a:bodyPr wrap="square"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rPr>
              <a:t>Summary</a:t>
            </a:r>
            <a:endParaRPr kumimoji="0" lang="en-US" sz="16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endParaRPr>
          </a:p>
        </p:txBody>
      </p:sp>
      <p:sp>
        <p:nvSpPr>
          <p:cNvPr id="2" name="Title 1">
            <a:extLst>
              <a:ext uri="{FF2B5EF4-FFF2-40B4-BE49-F238E27FC236}">
                <a16:creationId xmlns:a16="http://schemas.microsoft.com/office/drawing/2014/main" id="{D2E78857-43E9-B895-2774-840E7B1A63C6}"/>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marL="0" marR="0" lvl="0" indent="0" algn="l" defTabSz="1042203" rtl="0" eaLnBrk="0" fontAlgn="base" latinLnBrk="0" hangingPunct="0">
              <a:lnSpc>
                <a:spcPct val="98000"/>
              </a:lnSpc>
              <a:spcBef>
                <a:spcPct val="0"/>
              </a:spcBef>
              <a:spcAft>
                <a:spcPct val="0"/>
              </a:spcAft>
              <a:buClrTx/>
              <a:buSzTx/>
              <a:buFontTx/>
              <a:buNone/>
              <a:tabLst/>
              <a:defRPr/>
            </a:pPr>
            <a:r>
              <a:rPr kumimoji="0" lang="en-US" sz="180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rPr>
              <a:t>MARKET UPDATE</a:t>
            </a:r>
            <a:endParaRPr kumimoji="0" lang="en-US" sz="105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endParaRPr>
          </a:p>
        </p:txBody>
      </p:sp>
      <p:sp>
        <p:nvSpPr>
          <p:cNvPr id="30" name="Rectangle: Rounded Corners 29">
            <a:extLst>
              <a:ext uri="{FF2B5EF4-FFF2-40B4-BE49-F238E27FC236}">
                <a16:creationId xmlns:a16="http://schemas.microsoft.com/office/drawing/2014/main" id="{137111B3-697F-D6FC-FA85-B62D75267238}"/>
              </a:ext>
            </a:extLst>
          </p:cNvPr>
          <p:cNvSpPr/>
          <p:nvPr/>
        </p:nvSpPr>
        <p:spPr bwMode="auto">
          <a:xfrm>
            <a:off x="2178723" y="1654629"/>
            <a:ext cx="6223597" cy="1893070"/>
          </a:xfrm>
          <a:custGeom>
            <a:avLst/>
            <a:gdLst>
              <a:gd name="connsiteX0" fmla="*/ 0 w 6257966"/>
              <a:gd name="connsiteY0" fmla="*/ 0 h 2294251"/>
              <a:gd name="connsiteX1" fmla="*/ 0 w 6257966"/>
              <a:gd name="connsiteY1" fmla="*/ 0 h 2294251"/>
              <a:gd name="connsiteX2" fmla="*/ 6257966 w 6257966"/>
              <a:gd name="connsiteY2" fmla="*/ 0 h 2294251"/>
              <a:gd name="connsiteX3" fmla="*/ 6257966 w 6257966"/>
              <a:gd name="connsiteY3" fmla="*/ 0 h 2294251"/>
              <a:gd name="connsiteX4" fmla="*/ 6257966 w 6257966"/>
              <a:gd name="connsiteY4" fmla="*/ 2294251 h 2294251"/>
              <a:gd name="connsiteX5" fmla="*/ 6257966 w 6257966"/>
              <a:gd name="connsiteY5" fmla="*/ 2294251 h 2294251"/>
              <a:gd name="connsiteX6" fmla="*/ 0 w 6257966"/>
              <a:gd name="connsiteY6" fmla="*/ 2294251 h 2294251"/>
              <a:gd name="connsiteX7" fmla="*/ 0 w 6257966"/>
              <a:gd name="connsiteY7" fmla="*/ 2294251 h 2294251"/>
              <a:gd name="connsiteX8" fmla="*/ 0 w 6257966"/>
              <a:gd name="connsiteY8" fmla="*/ 0 h 2294251"/>
              <a:gd name="connsiteX0" fmla="*/ 0 w 6257966"/>
              <a:gd name="connsiteY0" fmla="*/ 0 h 2294251"/>
              <a:gd name="connsiteX1" fmla="*/ 0 w 6257966"/>
              <a:gd name="connsiteY1" fmla="*/ 0 h 2294251"/>
              <a:gd name="connsiteX2" fmla="*/ 6257966 w 6257966"/>
              <a:gd name="connsiteY2" fmla="*/ 0 h 2294251"/>
              <a:gd name="connsiteX3" fmla="*/ 6257966 w 6257966"/>
              <a:gd name="connsiteY3" fmla="*/ 0 h 2294251"/>
              <a:gd name="connsiteX4" fmla="*/ 6247406 w 6257966"/>
              <a:gd name="connsiteY4" fmla="*/ 1045296 h 2294251"/>
              <a:gd name="connsiteX5" fmla="*/ 6257966 w 6257966"/>
              <a:gd name="connsiteY5" fmla="*/ 2294251 h 2294251"/>
              <a:gd name="connsiteX6" fmla="*/ 6257966 w 6257966"/>
              <a:gd name="connsiteY6" fmla="*/ 2294251 h 2294251"/>
              <a:gd name="connsiteX7" fmla="*/ 0 w 6257966"/>
              <a:gd name="connsiteY7" fmla="*/ 2294251 h 2294251"/>
              <a:gd name="connsiteX8" fmla="*/ 0 w 6257966"/>
              <a:gd name="connsiteY8" fmla="*/ 2294251 h 2294251"/>
              <a:gd name="connsiteX9" fmla="*/ 0 w 6257966"/>
              <a:gd name="connsiteY9" fmla="*/ 0 h 2294251"/>
              <a:gd name="connsiteX0" fmla="*/ 0 w 6948446"/>
              <a:gd name="connsiteY0" fmla="*/ 0 h 2294251"/>
              <a:gd name="connsiteX1" fmla="*/ 0 w 6948446"/>
              <a:gd name="connsiteY1" fmla="*/ 0 h 2294251"/>
              <a:gd name="connsiteX2" fmla="*/ 6257966 w 6948446"/>
              <a:gd name="connsiteY2" fmla="*/ 0 h 2294251"/>
              <a:gd name="connsiteX3" fmla="*/ 6257966 w 6948446"/>
              <a:gd name="connsiteY3" fmla="*/ 0 h 2294251"/>
              <a:gd name="connsiteX4" fmla="*/ 6948446 w 6948446"/>
              <a:gd name="connsiteY4" fmla="*/ 1052916 h 2294251"/>
              <a:gd name="connsiteX5" fmla="*/ 6257966 w 6948446"/>
              <a:gd name="connsiteY5" fmla="*/ 2294251 h 2294251"/>
              <a:gd name="connsiteX6" fmla="*/ 6257966 w 6948446"/>
              <a:gd name="connsiteY6" fmla="*/ 2294251 h 2294251"/>
              <a:gd name="connsiteX7" fmla="*/ 0 w 6948446"/>
              <a:gd name="connsiteY7" fmla="*/ 2294251 h 2294251"/>
              <a:gd name="connsiteX8" fmla="*/ 0 w 6948446"/>
              <a:gd name="connsiteY8" fmla="*/ 2294251 h 2294251"/>
              <a:gd name="connsiteX9" fmla="*/ 0 w 6948446"/>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02935 h 2294251"/>
              <a:gd name="connsiteX5" fmla="*/ 6257966 w 6940110"/>
              <a:gd name="connsiteY5" fmla="*/ 2294251 h 2294251"/>
              <a:gd name="connsiteX6" fmla="*/ 6257966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32487 h 2294251"/>
              <a:gd name="connsiteX5" fmla="*/ 6257966 w 6940110"/>
              <a:gd name="connsiteY5" fmla="*/ 2294251 h 2294251"/>
              <a:gd name="connsiteX6" fmla="*/ 6257966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40110" h="2294251">
                <a:moveTo>
                  <a:pt x="0" y="0"/>
                </a:moveTo>
                <a:lnTo>
                  <a:pt x="0" y="0"/>
                </a:lnTo>
                <a:lnTo>
                  <a:pt x="6257966" y="0"/>
                </a:lnTo>
                <a:lnTo>
                  <a:pt x="6257966" y="0"/>
                </a:lnTo>
                <a:lnTo>
                  <a:pt x="6940110" y="1132487"/>
                </a:lnTo>
                <a:lnTo>
                  <a:pt x="6257966" y="2294251"/>
                </a:lnTo>
                <a:lnTo>
                  <a:pt x="6257966" y="2294251"/>
                </a:lnTo>
                <a:lnTo>
                  <a:pt x="0" y="2294251"/>
                </a:lnTo>
                <a:lnTo>
                  <a:pt x="0" y="2294251"/>
                </a:lnTo>
                <a:lnTo>
                  <a:pt x="0" y="0"/>
                </a:lnTo>
                <a:close/>
              </a:path>
            </a:pathLst>
          </a:custGeom>
          <a:solidFill>
            <a:schemeClr val="bg1"/>
          </a:solidFill>
          <a:ln w="12700" cap="flat" cmpd="sng" algn="ctr">
            <a:noFill/>
            <a:prstDash val="solid"/>
            <a:round/>
            <a:headEnd type="none" w="med" len="med"/>
            <a:tailEnd type="none" w="med" len="med"/>
          </a:ln>
          <a:effectLst>
            <a:outerShdw blurRad="215900" sx="106000" sy="106000" algn="ctr" rotWithShape="0">
              <a:prstClr val="black">
                <a:alpha val="22000"/>
              </a:prstClr>
            </a:outerShdw>
          </a:effectLst>
        </p:spPr>
        <p:txBody>
          <a:bodyPr vert="horz" wrap="square" lIns="91440" tIns="45720" rIns="91440" bIns="45720" numCol="1" rtlCol="0" anchor="ctr" anchorCtr="0" compatLnSpc="1">
            <a:prstTxWarp prst="textNoShape">
              <a:avLst/>
            </a:prstTxWarp>
            <a:noAutofit/>
          </a:bodyPr>
          <a:lstStyle/>
          <a:p>
            <a:pPr marL="798513" marR="0" lvl="0" indent="-171450" algn="l" defTabSz="4572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all"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p:txBody>
      </p:sp>
      <p:sp>
        <p:nvSpPr>
          <p:cNvPr id="33" name="TextBox 32">
            <a:extLst>
              <a:ext uri="{FF2B5EF4-FFF2-40B4-BE49-F238E27FC236}">
                <a16:creationId xmlns:a16="http://schemas.microsoft.com/office/drawing/2014/main" id="{864C0AEC-0647-63CF-A35B-A48CAF511914}"/>
              </a:ext>
            </a:extLst>
          </p:cNvPr>
          <p:cNvSpPr txBox="1"/>
          <p:nvPr/>
        </p:nvSpPr>
        <p:spPr>
          <a:xfrm>
            <a:off x="2112946" y="1825816"/>
            <a:ext cx="6095662" cy="1454244"/>
          </a:xfrm>
          <a:prstGeom prst="rect">
            <a:avLst/>
          </a:prstGeom>
          <a:noFill/>
        </p:spPr>
        <p:txBody>
          <a:bodyPr wrap="square">
            <a:spAutoFit/>
          </a:bodyPr>
          <a:lstStyle/>
          <a:p>
            <a:pPr marL="798513"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altLang="en-US" sz="1370" b="0" i="0" u="none" strike="noStrike" kern="1200" cap="all"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Uncertainty </a:t>
            </a:r>
            <a:r>
              <a:rPr lang="en-US" altLang="en-US" sz="1370" cap="all">
                <a:solidFill>
                  <a:srgbClr val="106280"/>
                </a:solidFill>
                <a:latin typeface="Poppins Medium" panose="00000600000000000000" pitchFamily="2" charset="0"/>
                <a:cs typeface="Poppins Medium" panose="00000600000000000000" pitchFamily="2" charset="0"/>
              </a:rPr>
              <a:t>HAS </a:t>
            </a:r>
            <a:r>
              <a:rPr kumimoji="0" lang="en-US" altLang="en-US" sz="1370" b="0" i="0" u="none" strike="noStrike" kern="1200" cap="all"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weighed on economic activity</a:t>
            </a:r>
          </a:p>
          <a:p>
            <a:pPr marL="798513"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altLang="en-US" sz="1370" b="0" i="0" u="none" strike="noStrike" kern="1200" cap="all"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however, AFTER THE INITIAL TARIFF RELATED VOLATILITY, MARKETS HAVE PREFORMED QUITE WELL YTD</a:t>
            </a:r>
          </a:p>
          <a:p>
            <a:pPr marL="798513"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altLang="en-US" sz="1370" b="0" i="0" u="none" strike="noStrike" kern="1200" cap="all"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JOB CREATION HAS SLOWED BUT FIRINGS ARE HISTORICALLY LOW AS CONSUMERS CONTINUE TO SPEND</a:t>
            </a:r>
          </a:p>
        </p:txBody>
      </p:sp>
      <p:sp>
        <p:nvSpPr>
          <p:cNvPr id="3" name="Oval 2">
            <a:extLst>
              <a:ext uri="{FF2B5EF4-FFF2-40B4-BE49-F238E27FC236}">
                <a16:creationId xmlns:a16="http://schemas.microsoft.com/office/drawing/2014/main" id="{2D8B3D91-F761-A4F1-15BB-DBE4F6519843}"/>
              </a:ext>
            </a:extLst>
          </p:cNvPr>
          <p:cNvSpPr/>
          <p:nvPr/>
        </p:nvSpPr>
        <p:spPr bwMode="auto">
          <a:xfrm>
            <a:off x="447764" y="1425332"/>
            <a:ext cx="2308872" cy="2308872"/>
          </a:xfrm>
          <a:prstGeom prst="ellipse">
            <a:avLst/>
          </a:prstGeom>
          <a:solidFill>
            <a:schemeClr val="bg1">
              <a:lumMod val="95000"/>
            </a:schemeClr>
          </a:solidFill>
          <a:ln w="12700" cap="flat" cmpd="sng" algn="ctr">
            <a:noFill/>
            <a:prstDash val="solid"/>
            <a:round/>
            <a:headEnd type="none" w="med" len="med"/>
            <a:tailEnd type="none" w="med" len="med"/>
          </a:ln>
          <a:effectLst>
            <a:outerShdw blurRad="241300" dist="38100" dir="8100000" sx="112000" sy="112000" algn="tr" rotWithShape="0">
              <a:prstClr val="black">
                <a:alpha val="16000"/>
              </a:prstClr>
            </a:outerShdw>
          </a:effectLst>
          <a:scene3d>
            <a:camera prst="orthographicFront"/>
            <a:lightRig rig="threePt" dir="t">
              <a:rot lat="0" lon="0" rev="10200000"/>
            </a:lightRig>
          </a:scene3d>
          <a:sp3d extrusionH="215900">
            <a:bevelT w="114300" h="19050" prst="angle"/>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TextBox 8">
            <a:extLst>
              <a:ext uri="{FF2B5EF4-FFF2-40B4-BE49-F238E27FC236}">
                <a16:creationId xmlns:a16="http://schemas.microsoft.com/office/drawing/2014/main" id="{7093FC2A-C055-8AC8-36AC-438E4AA824DC}"/>
              </a:ext>
            </a:extLst>
          </p:cNvPr>
          <p:cNvSpPr txBox="1"/>
          <p:nvPr/>
        </p:nvSpPr>
        <p:spPr>
          <a:xfrm>
            <a:off x="509557" y="2256603"/>
            <a:ext cx="2221863" cy="6463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all" spc="0" normalizeH="0" baseline="0" noProof="0">
                <a:ln>
                  <a:noFill/>
                </a:ln>
                <a:solidFill>
                  <a:srgbClr val="5A9C86"/>
                </a:solidFill>
                <a:effectLst/>
                <a:uLnTx/>
                <a:uFillTx/>
                <a:latin typeface="Poppins SemiBold" panose="00000700000000000000" pitchFamily="2" charset="0"/>
                <a:ea typeface="+mn-ea"/>
                <a:cs typeface="Poppins SemiBold" panose="00000700000000000000" pitchFamily="2" charset="0"/>
              </a:rPr>
              <a:t>WHERE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all" spc="0" normalizeH="0" baseline="0" noProof="0">
                <a:ln>
                  <a:noFill/>
                </a:ln>
                <a:solidFill>
                  <a:srgbClr val="5A9C86"/>
                </a:solidFill>
                <a:effectLst/>
                <a:uLnTx/>
                <a:uFillTx/>
                <a:latin typeface="Poppins SemiBold" panose="00000700000000000000" pitchFamily="2" charset="0"/>
                <a:ea typeface="+mn-ea"/>
                <a:cs typeface="Poppins SemiBold" panose="00000700000000000000" pitchFamily="2" charset="0"/>
              </a:rPr>
              <a:t>We are</a:t>
            </a:r>
          </a:p>
        </p:txBody>
      </p:sp>
      <p:sp>
        <p:nvSpPr>
          <p:cNvPr id="35" name="Rectangle: Rounded Corners 29">
            <a:extLst>
              <a:ext uri="{FF2B5EF4-FFF2-40B4-BE49-F238E27FC236}">
                <a16:creationId xmlns:a16="http://schemas.microsoft.com/office/drawing/2014/main" id="{2B2E2E02-48A6-3756-2ACA-356A56FD5208}"/>
              </a:ext>
            </a:extLst>
          </p:cNvPr>
          <p:cNvSpPr/>
          <p:nvPr/>
        </p:nvSpPr>
        <p:spPr bwMode="auto">
          <a:xfrm rot="10800000">
            <a:off x="493317" y="3943064"/>
            <a:ext cx="7023613" cy="2150745"/>
          </a:xfrm>
          <a:custGeom>
            <a:avLst/>
            <a:gdLst>
              <a:gd name="connsiteX0" fmla="*/ 0 w 6257966"/>
              <a:gd name="connsiteY0" fmla="*/ 0 h 2294251"/>
              <a:gd name="connsiteX1" fmla="*/ 0 w 6257966"/>
              <a:gd name="connsiteY1" fmla="*/ 0 h 2294251"/>
              <a:gd name="connsiteX2" fmla="*/ 6257966 w 6257966"/>
              <a:gd name="connsiteY2" fmla="*/ 0 h 2294251"/>
              <a:gd name="connsiteX3" fmla="*/ 6257966 w 6257966"/>
              <a:gd name="connsiteY3" fmla="*/ 0 h 2294251"/>
              <a:gd name="connsiteX4" fmla="*/ 6257966 w 6257966"/>
              <a:gd name="connsiteY4" fmla="*/ 2294251 h 2294251"/>
              <a:gd name="connsiteX5" fmla="*/ 6257966 w 6257966"/>
              <a:gd name="connsiteY5" fmla="*/ 2294251 h 2294251"/>
              <a:gd name="connsiteX6" fmla="*/ 0 w 6257966"/>
              <a:gd name="connsiteY6" fmla="*/ 2294251 h 2294251"/>
              <a:gd name="connsiteX7" fmla="*/ 0 w 6257966"/>
              <a:gd name="connsiteY7" fmla="*/ 2294251 h 2294251"/>
              <a:gd name="connsiteX8" fmla="*/ 0 w 6257966"/>
              <a:gd name="connsiteY8" fmla="*/ 0 h 2294251"/>
              <a:gd name="connsiteX0" fmla="*/ 0 w 6257966"/>
              <a:gd name="connsiteY0" fmla="*/ 0 h 2294251"/>
              <a:gd name="connsiteX1" fmla="*/ 0 w 6257966"/>
              <a:gd name="connsiteY1" fmla="*/ 0 h 2294251"/>
              <a:gd name="connsiteX2" fmla="*/ 6257966 w 6257966"/>
              <a:gd name="connsiteY2" fmla="*/ 0 h 2294251"/>
              <a:gd name="connsiteX3" fmla="*/ 6257966 w 6257966"/>
              <a:gd name="connsiteY3" fmla="*/ 0 h 2294251"/>
              <a:gd name="connsiteX4" fmla="*/ 6247406 w 6257966"/>
              <a:gd name="connsiteY4" fmla="*/ 1045296 h 2294251"/>
              <a:gd name="connsiteX5" fmla="*/ 6257966 w 6257966"/>
              <a:gd name="connsiteY5" fmla="*/ 2294251 h 2294251"/>
              <a:gd name="connsiteX6" fmla="*/ 6257966 w 6257966"/>
              <a:gd name="connsiteY6" fmla="*/ 2294251 h 2294251"/>
              <a:gd name="connsiteX7" fmla="*/ 0 w 6257966"/>
              <a:gd name="connsiteY7" fmla="*/ 2294251 h 2294251"/>
              <a:gd name="connsiteX8" fmla="*/ 0 w 6257966"/>
              <a:gd name="connsiteY8" fmla="*/ 2294251 h 2294251"/>
              <a:gd name="connsiteX9" fmla="*/ 0 w 6257966"/>
              <a:gd name="connsiteY9" fmla="*/ 0 h 2294251"/>
              <a:gd name="connsiteX0" fmla="*/ 0 w 6948446"/>
              <a:gd name="connsiteY0" fmla="*/ 0 h 2294251"/>
              <a:gd name="connsiteX1" fmla="*/ 0 w 6948446"/>
              <a:gd name="connsiteY1" fmla="*/ 0 h 2294251"/>
              <a:gd name="connsiteX2" fmla="*/ 6257966 w 6948446"/>
              <a:gd name="connsiteY2" fmla="*/ 0 h 2294251"/>
              <a:gd name="connsiteX3" fmla="*/ 6257966 w 6948446"/>
              <a:gd name="connsiteY3" fmla="*/ 0 h 2294251"/>
              <a:gd name="connsiteX4" fmla="*/ 6948446 w 6948446"/>
              <a:gd name="connsiteY4" fmla="*/ 1052916 h 2294251"/>
              <a:gd name="connsiteX5" fmla="*/ 6257966 w 6948446"/>
              <a:gd name="connsiteY5" fmla="*/ 2294251 h 2294251"/>
              <a:gd name="connsiteX6" fmla="*/ 6257966 w 6948446"/>
              <a:gd name="connsiteY6" fmla="*/ 2294251 h 2294251"/>
              <a:gd name="connsiteX7" fmla="*/ 0 w 6948446"/>
              <a:gd name="connsiteY7" fmla="*/ 2294251 h 2294251"/>
              <a:gd name="connsiteX8" fmla="*/ 0 w 6948446"/>
              <a:gd name="connsiteY8" fmla="*/ 2294251 h 2294251"/>
              <a:gd name="connsiteX9" fmla="*/ 0 w 6948446"/>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02935 h 2294251"/>
              <a:gd name="connsiteX5" fmla="*/ 6257966 w 6940110"/>
              <a:gd name="connsiteY5" fmla="*/ 2294251 h 2294251"/>
              <a:gd name="connsiteX6" fmla="*/ 6257966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32487 h 2294251"/>
              <a:gd name="connsiteX5" fmla="*/ 6257966 w 6940110"/>
              <a:gd name="connsiteY5" fmla="*/ 2294251 h 2294251"/>
              <a:gd name="connsiteX6" fmla="*/ 6257966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32487 h 2294251"/>
              <a:gd name="connsiteX5" fmla="*/ 6257966 w 6940110"/>
              <a:gd name="connsiteY5" fmla="*/ 2294251 h 2294251"/>
              <a:gd name="connsiteX6" fmla="*/ 6298123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391792"/>
              <a:gd name="connsiteX1" fmla="*/ 0 w 6940110"/>
              <a:gd name="connsiteY1" fmla="*/ 0 h 2391792"/>
              <a:gd name="connsiteX2" fmla="*/ 6257966 w 6940110"/>
              <a:gd name="connsiteY2" fmla="*/ 0 h 2391792"/>
              <a:gd name="connsiteX3" fmla="*/ 6257966 w 6940110"/>
              <a:gd name="connsiteY3" fmla="*/ 0 h 2391792"/>
              <a:gd name="connsiteX4" fmla="*/ 6940110 w 6940110"/>
              <a:gd name="connsiteY4" fmla="*/ 1132487 h 2391792"/>
              <a:gd name="connsiteX5" fmla="*/ 6257966 w 6940110"/>
              <a:gd name="connsiteY5" fmla="*/ 2294251 h 2391792"/>
              <a:gd name="connsiteX6" fmla="*/ 6288084 w 6940110"/>
              <a:gd name="connsiteY6" fmla="*/ 2391792 h 2391792"/>
              <a:gd name="connsiteX7" fmla="*/ 0 w 6940110"/>
              <a:gd name="connsiteY7" fmla="*/ 2294251 h 2391792"/>
              <a:gd name="connsiteX8" fmla="*/ 0 w 6940110"/>
              <a:gd name="connsiteY8" fmla="*/ 2294251 h 2391792"/>
              <a:gd name="connsiteX9" fmla="*/ 0 w 6940110"/>
              <a:gd name="connsiteY9" fmla="*/ 0 h 2391792"/>
              <a:gd name="connsiteX0" fmla="*/ 0 w 6940110"/>
              <a:gd name="connsiteY0" fmla="*/ 0 h 2391792"/>
              <a:gd name="connsiteX1" fmla="*/ 0 w 6940110"/>
              <a:gd name="connsiteY1" fmla="*/ 0 h 2391792"/>
              <a:gd name="connsiteX2" fmla="*/ 6257966 w 6940110"/>
              <a:gd name="connsiteY2" fmla="*/ 0 h 2391792"/>
              <a:gd name="connsiteX3" fmla="*/ 6257966 w 6940110"/>
              <a:gd name="connsiteY3" fmla="*/ 0 h 2391792"/>
              <a:gd name="connsiteX4" fmla="*/ 6940110 w 6940110"/>
              <a:gd name="connsiteY4" fmla="*/ 1132487 h 2391792"/>
              <a:gd name="connsiteX5" fmla="*/ 6298123 w 6940110"/>
              <a:gd name="connsiteY5" fmla="*/ 2294251 h 2391792"/>
              <a:gd name="connsiteX6" fmla="*/ 6288084 w 6940110"/>
              <a:gd name="connsiteY6" fmla="*/ 2391792 h 2391792"/>
              <a:gd name="connsiteX7" fmla="*/ 0 w 6940110"/>
              <a:gd name="connsiteY7" fmla="*/ 2294251 h 2391792"/>
              <a:gd name="connsiteX8" fmla="*/ 0 w 6940110"/>
              <a:gd name="connsiteY8" fmla="*/ 2294251 h 2391792"/>
              <a:gd name="connsiteX9" fmla="*/ 0 w 6940110"/>
              <a:gd name="connsiteY9" fmla="*/ 0 h 2391792"/>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32487 h 2294251"/>
              <a:gd name="connsiteX5" fmla="*/ 6298123 w 6940110"/>
              <a:gd name="connsiteY5" fmla="*/ 2294251 h 2294251"/>
              <a:gd name="connsiteX6" fmla="*/ 6303143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40110" h="2294251">
                <a:moveTo>
                  <a:pt x="0" y="0"/>
                </a:moveTo>
                <a:lnTo>
                  <a:pt x="0" y="0"/>
                </a:lnTo>
                <a:lnTo>
                  <a:pt x="6257966" y="0"/>
                </a:lnTo>
                <a:lnTo>
                  <a:pt x="6257966" y="0"/>
                </a:lnTo>
                <a:lnTo>
                  <a:pt x="6940110" y="1132487"/>
                </a:lnTo>
                <a:lnTo>
                  <a:pt x="6298123" y="2294251"/>
                </a:lnTo>
                <a:lnTo>
                  <a:pt x="6303143" y="2294251"/>
                </a:lnTo>
                <a:lnTo>
                  <a:pt x="0" y="2294251"/>
                </a:lnTo>
                <a:lnTo>
                  <a:pt x="0" y="2294251"/>
                </a:lnTo>
                <a:lnTo>
                  <a:pt x="0" y="0"/>
                </a:lnTo>
                <a:close/>
              </a:path>
            </a:pathLst>
          </a:custGeom>
          <a:noFill/>
          <a:ln w="47625" cap="flat" cmpd="sng" algn="ctr">
            <a:solidFill>
              <a:srgbClr val="744440">
                <a:alpha val="69020"/>
              </a:srgb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798513" marR="0" lvl="0" indent="-171450" algn="l" defTabSz="4572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all"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p:txBody>
      </p:sp>
      <p:sp>
        <p:nvSpPr>
          <p:cNvPr id="36" name="Rectangle: Rounded Corners 29">
            <a:extLst>
              <a:ext uri="{FF2B5EF4-FFF2-40B4-BE49-F238E27FC236}">
                <a16:creationId xmlns:a16="http://schemas.microsoft.com/office/drawing/2014/main" id="{224FC634-069E-7E37-956E-A763E96A9163}"/>
              </a:ext>
            </a:extLst>
          </p:cNvPr>
          <p:cNvSpPr/>
          <p:nvPr/>
        </p:nvSpPr>
        <p:spPr bwMode="auto">
          <a:xfrm rot="10800000">
            <a:off x="685889" y="4085278"/>
            <a:ext cx="6011491" cy="1893070"/>
          </a:xfrm>
          <a:custGeom>
            <a:avLst/>
            <a:gdLst>
              <a:gd name="connsiteX0" fmla="*/ 0 w 6257966"/>
              <a:gd name="connsiteY0" fmla="*/ 0 h 2294251"/>
              <a:gd name="connsiteX1" fmla="*/ 0 w 6257966"/>
              <a:gd name="connsiteY1" fmla="*/ 0 h 2294251"/>
              <a:gd name="connsiteX2" fmla="*/ 6257966 w 6257966"/>
              <a:gd name="connsiteY2" fmla="*/ 0 h 2294251"/>
              <a:gd name="connsiteX3" fmla="*/ 6257966 w 6257966"/>
              <a:gd name="connsiteY3" fmla="*/ 0 h 2294251"/>
              <a:gd name="connsiteX4" fmla="*/ 6257966 w 6257966"/>
              <a:gd name="connsiteY4" fmla="*/ 2294251 h 2294251"/>
              <a:gd name="connsiteX5" fmla="*/ 6257966 w 6257966"/>
              <a:gd name="connsiteY5" fmla="*/ 2294251 h 2294251"/>
              <a:gd name="connsiteX6" fmla="*/ 0 w 6257966"/>
              <a:gd name="connsiteY6" fmla="*/ 2294251 h 2294251"/>
              <a:gd name="connsiteX7" fmla="*/ 0 w 6257966"/>
              <a:gd name="connsiteY7" fmla="*/ 2294251 h 2294251"/>
              <a:gd name="connsiteX8" fmla="*/ 0 w 6257966"/>
              <a:gd name="connsiteY8" fmla="*/ 0 h 2294251"/>
              <a:gd name="connsiteX0" fmla="*/ 0 w 6257966"/>
              <a:gd name="connsiteY0" fmla="*/ 0 h 2294251"/>
              <a:gd name="connsiteX1" fmla="*/ 0 w 6257966"/>
              <a:gd name="connsiteY1" fmla="*/ 0 h 2294251"/>
              <a:gd name="connsiteX2" fmla="*/ 6257966 w 6257966"/>
              <a:gd name="connsiteY2" fmla="*/ 0 h 2294251"/>
              <a:gd name="connsiteX3" fmla="*/ 6257966 w 6257966"/>
              <a:gd name="connsiteY3" fmla="*/ 0 h 2294251"/>
              <a:gd name="connsiteX4" fmla="*/ 6247406 w 6257966"/>
              <a:gd name="connsiteY4" fmla="*/ 1045296 h 2294251"/>
              <a:gd name="connsiteX5" fmla="*/ 6257966 w 6257966"/>
              <a:gd name="connsiteY5" fmla="*/ 2294251 h 2294251"/>
              <a:gd name="connsiteX6" fmla="*/ 6257966 w 6257966"/>
              <a:gd name="connsiteY6" fmla="*/ 2294251 h 2294251"/>
              <a:gd name="connsiteX7" fmla="*/ 0 w 6257966"/>
              <a:gd name="connsiteY7" fmla="*/ 2294251 h 2294251"/>
              <a:gd name="connsiteX8" fmla="*/ 0 w 6257966"/>
              <a:gd name="connsiteY8" fmla="*/ 2294251 h 2294251"/>
              <a:gd name="connsiteX9" fmla="*/ 0 w 6257966"/>
              <a:gd name="connsiteY9" fmla="*/ 0 h 2294251"/>
              <a:gd name="connsiteX0" fmla="*/ 0 w 6948446"/>
              <a:gd name="connsiteY0" fmla="*/ 0 h 2294251"/>
              <a:gd name="connsiteX1" fmla="*/ 0 w 6948446"/>
              <a:gd name="connsiteY1" fmla="*/ 0 h 2294251"/>
              <a:gd name="connsiteX2" fmla="*/ 6257966 w 6948446"/>
              <a:gd name="connsiteY2" fmla="*/ 0 h 2294251"/>
              <a:gd name="connsiteX3" fmla="*/ 6257966 w 6948446"/>
              <a:gd name="connsiteY3" fmla="*/ 0 h 2294251"/>
              <a:gd name="connsiteX4" fmla="*/ 6948446 w 6948446"/>
              <a:gd name="connsiteY4" fmla="*/ 1052916 h 2294251"/>
              <a:gd name="connsiteX5" fmla="*/ 6257966 w 6948446"/>
              <a:gd name="connsiteY5" fmla="*/ 2294251 h 2294251"/>
              <a:gd name="connsiteX6" fmla="*/ 6257966 w 6948446"/>
              <a:gd name="connsiteY6" fmla="*/ 2294251 h 2294251"/>
              <a:gd name="connsiteX7" fmla="*/ 0 w 6948446"/>
              <a:gd name="connsiteY7" fmla="*/ 2294251 h 2294251"/>
              <a:gd name="connsiteX8" fmla="*/ 0 w 6948446"/>
              <a:gd name="connsiteY8" fmla="*/ 2294251 h 2294251"/>
              <a:gd name="connsiteX9" fmla="*/ 0 w 6948446"/>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02935 h 2294251"/>
              <a:gd name="connsiteX5" fmla="*/ 6257966 w 6940110"/>
              <a:gd name="connsiteY5" fmla="*/ 2294251 h 2294251"/>
              <a:gd name="connsiteX6" fmla="*/ 6257966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 name="connsiteX0" fmla="*/ 0 w 6940110"/>
              <a:gd name="connsiteY0" fmla="*/ 0 h 2294251"/>
              <a:gd name="connsiteX1" fmla="*/ 0 w 6940110"/>
              <a:gd name="connsiteY1" fmla="*/ 0 h 2294251"/>
              <a:gd name="connsiteX2" fmla="*/ 6257966 w 6940110"/>
              <a:gd name="connsiteY2" fmla="*/ 0 h 2294251"/>
              <a:gd name="connsiteX3" fmla="*/ 6257966 w 6940110"/>
              <a:gd name="connsiteY3" fmla="*/ 0 h 2294251"/>
              <a:gd name="connsiteX4" fmla="*/ 6940110 w 6940110"/>
              <a:gd name="connsiteY4" fmla="*/ 1132487 h 2294251"/>
              <a:gd name="connsiteX5" fmla="*/ 6257966 w 6940110"/>
              <a:gd name="connsiteY5" fmla="*/ 2294251 h 2294251"/>
              <a:gd name="connsiteX6" fmla="*/ 6257966 w 6940110"/>
              <a:gd name="connsiteY6" fmla="*/ 2294251 h 2294251"/>
              <a:gd name="connsiteX7" fmla="*/ 0 w 6940110"/>
              <a:gd name="connsiteY7" fmla="*/ 2294251 h 2294251"/>
              <a:gd name="connsiteX8" fmla="*/ 0 w 6940110"/>
              <a:gd name="connsiteY8" fmla="*/ 2294251 h 2294251"/>
              <a:gd name="connsiteX9" fmla="*/ 0 w 6940110"/>
              <a:gd name="connsiteY9" fmla="*/ 0 h 229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40110" h="2294251">
                <a:moveTo>
                  <a:pt x="0" y="0"/>
                </a:moveTo>
                <a:lnTo>
                  <a:pt x="0" y="0"/>
                </a:lnTo>
                <a:lnTo>
                  <a:pt x="6257966" y="0"/>
                </a:lnTo>
                <a:lnTo>
                  <a:pt x="6257966" y="0"/>
                </a:lnTo>
                <a:lnTo>
                  <a:pt x="6940110" y="1132487"/>
                </a:lnTo>
                <a:lnTo>
                  <a:pt x="6257966" y="2294251"/>
                </a:lnTo>
                <a:lnTo>
                  <a:pt x="6257966" y="2294251"/>
                </a:lnTo>
                <a:lnTo>
                  <a:pt x="0" y="2294251"/>
                </a:lnTo>
                <a:lnTo>
                  <a:pt x="0" y="2294251"/>
                </a:lnTo>
                <a:lnTo>
                  <a:pt x="0" y="0"/>
                </a:lnTo>
                <a:close/>
              </a:path>
            </a:pathLst>
          </a:custGeom>
          <a:solidFill>
            <a:srgbClr val="5C8B9A"/>
          </a:solidFill>
          <a:ln w="12700" cap="flat" cmpd="sng" algn="ctr">
            <a:noFill/>
            <a:prstDash val="solid"/>
            <a:round/>
            <a:headEnd type="none" w="med" len="med"/>
            <a:tailEnd type="none" w="med" len="med"/>
          </a:ln>
          <a:effectLst>
            <a:outerShdw blurRad="63500" sx="105000" sy="105000" algn="ctr" rotWithShape="0">
              <a:prstClr val="black">
                <a:alpha val="26000"/>
              </a:prstClr>
            </a:outerShdw>
          </a:effectLst>
        </p:spPr>
        <p:txBody>
          <a:bodyPr vert="horz" wrap="square" lIns="91440" tIns="45720" rIns="91440" bIns="45720" numCol="1" rtlCol="0" anchor="ctr" anchorCtr="0" compatLnSpc="1">
            <a:prstTxWarp prst="textNoShape">
              <a:avLst/>
            </a:prstTxWarp>
            <a:noAutofit/>
          </a:bodyPr>
          <a:lstStyle/>
          <a:p>
            <a:pPr marL="798513" marR="0" lvl="0" indent="-171450" algn="l" defTabSz="4572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all"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p:txBody>
      </p:sp>
      <p:sp>
        <p:nvSpPr>
          <p:cNvPr id="37" name="Rectangle: Rounded Corners 36">
            <a:extLst>
              <a:ext uri="{FF2B5EF4-FFF2-40B4-BE49-F238E27FC236}">
                <a16:creationId xmlns:a16="http://schemas.microsoft.com/office/drawing/2014/main" id="{F467D02C-2A30-D438-D827-DBF97E7F6A81}"/>
              </a:ext>
            </a:extLst>
          </p:cNvPr>
          <p:cNvSpPr/>
          <p:nvPr/>
        </p:nvSpPr>
        <p:spPr bwMode="auto">
          <a:xfrm flipH="1">
            <a:off x="1237587" y="4120475"/>
            <a:ext cx="5320851" cy="2077986"/>
          </a:xfrm>
          <a:prstGeom prst="roundRect">
            <a:avLst>
              <a:gd name="adj" fmla="val 0"/>
            </a:avLst>
          </a:prstGeom>
          <a:noFill/>
          <a:ln w="12700" cap="flat" cmpd="sng" algn="ctr">
            <a:noFill/>
            <a:prstDash val="solid"/>
            <a:round/>
            <a:headEnd type="none" w="med" len="med"/>
            <a:tailEnd type="none" w="med" len="med"/>
          </a:ln>
          <a:effectLst/>
        </p:spPr>
        <p:txBody>
          <a:bodyPr vert="horz" wrap="square" lIns="91440" tIns="45720" rIns="640080" bIns="45720" numCol="1" rtlCol="0" anchor="ctr" anchorCtr="0" compatLnSpc="1">
            <a:prstTxWarp prst="textNoShape">
              <a:avLst/>
            </a:prstTxWarp>
            <a:noAutofit/>
          </a:bodyPr>
          <a:lstStyle/>
          <a:p>
            <a:pPr marL="128588" marR="0" lvl="0" indent="-128588" algn="l" defTabSz="3429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US" altLang="en-US" sz="13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THE IMPACT OF TARIFFS ON INFLATION </a:t>
            </a:r>
          </a:p>
          <a:p>
            <a:pPr marL="128588" marR="0" lvl="0" indent="-128588" algn="l" defTabSz="342900" rtl="0" eaLnBrk="1" fontAlgn="auto" latinLnBrk="0" hangingPunct="1">
              <a:lnSpc>
                <a:spcPct val="100000"/>
              </a:lnSpc>
              <a:spcBef>
                <a:spcPts val="0"/>
              </a:spcBef>
              <a:spcAft>
                <a:spcPts val="500"/>
              </a:spcAft>
              <a:buClrTx/>
              <a:buSzTx/>
              <a:buFont typeface="Arial" panose="020B0604020202020204" pitchFamily="34" charset="0"/>
              <a:buChar char="•"/>
              <a:tabLst/>
              <a:defRPr/>
            </a:pPr>
            <a:r>
              <a:rPr lang="en-US" altLang="en-US" sz="1300" cap="all">
                <a:solidFill>
                  <a:srgbClr val="FFFFFF"/>
                </a:solidFill>
                <a:latin typeface="Poppins Medium" panose="00000600000000000000" pitchFamily="2" charset="0"/>
                <a:cs typeface="Poppins Medium" panose="00000600000000000000" pitchFamily="2" charset="0"/>
              </a:rPr>
              <a:t>OIL PRICES</a:t>
            </a:r>
            <a:endParaRPr kumimoji="0" lang="en-US" altLang="en-US" sz="13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endParaRPr>
          </a:p>
          <a:p>
            <a:pPr marL="128588" marR="0" lvl="0" indent="-128588" algn="l" defTabSz="3429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US" altLang="en-US" sz="13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Labor market data remains key</a:t>
            </a:r>
          </a:p>
          <a:p>
            <a:pPr marL="128588" marR="0" lvl="0" indent="-128588" algn="l" defTabSz="3429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US" altLang="en-US" sz="13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evidence of slowing </a:t>
            </a:r>
            <a:r>
              <a:rPr kumimoji="0" lang="en-US" altLang="en-US" sz="1300" b="0" i="0" u="none" strike="noStrike" kern="1200" cap="all" spc="0" normalizeH="0" baseline="0" noProof="0" err="1">
                <a:ln>
                  <a:noFill/>
                </a:ln>
                <a:solidFill>
                  <a:srgbClr val="FFFFFF"/>
                </a:solidFill>
                <a:effectLst/>
                <a:uLnTx/>
                <a:uFillTx/>
                <a:latin typeface="Poppins Medium" panose="00000600000000000000" pitchFamily="2" charset="0"/>
                <a:ea typeface="+mn-ea"/>
                <a:cs typeface="Poppins Medium" panose="00000600000000000000" pitchFamily="2" charset="0"/>
              </a:rPr>
              <a:t>u.s.</a:t>
            </a:r>
            <a:r>
              <a:rPr kumimoji="0" lang="en-US" altLang="en-US" sz="13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 consumer DEMAND</a:t>
            </a:r>
          </a:p>
          <a:p>
            <a:pPr marL="128588" marR="0" lvl="0" indent="-128588" algn="l" defTabSz="342900" rtl="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US" altLang="en-US" sz="13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Delinquency rates for signs of consumer stress</a:t>
            </a:r>
          </a:p>
          <a:p>
            <a:pPr marL="128588" marR="0" lvl="0" indent="-128588" algn="l" defTabSz="342900" rtl="0" eaLnBrk="1" fontAlgn="auto" latinLnBrk="0" hangingPunct="1">
              <a:lnSpc>
                <a:spcPct val="100000"/>
              </a:lnSpc>
              <a:spcBef>
                <a:spcPts val="0"/>
              </a:spcBef>
              <a:spcAft>
                <a:spcPts val="500"/>
              </a:spcAft>
              <a:buClrTx/>
              <a:buSzTx/>
              <a:buFont typeface="Arial" panose="020B0604020202020204" pitchFamily="34" charset="0"/>
              <a:buChar char="•"/>
              <a:tabLst/>
              <a:defRPr/>
            </a:pPr>
            <a:r>
              <a:rPr lang="en-US" altLang="en-US" sz="1300" cap="all">
                <a:solidFill>
                  <a:srgbClr val="FFFFFF"/>
                </a:solidFill>
                <a:latin typeface="Poppins Medium" panose="00000600000000000000" pitchFamily="2" charset="0"/>
                <a:cs typeface="Poppins Medium" panose="00000600000000000000" pitchFamily="2" charset="0"/>
              </a:rPr>
              <a:t>GOVERNMENT SHUTDOWN</a:t>
            </a:r>
            <a:endParaRPr kumimoji="0" lang="en-US" altLang="en-US" sz="1300" b="0" i="0" u="none" strike="noStrike" kern="1200" cap="all"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highlight>
                  <a:srgbClr val="FF00FF"/>
                </a:highlight>
                <a:uLnTx/>
                <a:uFillTx/>
                <a:latin typeface="-apple-system"/>
                <a:ea typeface="+mn-ea"/>
                <a:cs typeface="+mn-cs"/>
              </a:rPr>
              <a:t> </a:t>
            </a:r>
            <a:endParaRPr kumimoji="0" lang="en-US" altLang="en-US" sz="1300" b="0" i="0" u="none" strike="noStrike" kern="1200" cap="all" spc="0" normalizeH="0" baseline="0" noProof="0">
              <a:ln>
                <a:noFill/>
              </a:ln>
              <a:solidFill>
                <a:srgbClr val="FFFFFF"/>
              </a:solidFill>
              <a:effectLst/>
              <a:highlight>
                <a:srgbClr val="FF00FF"/>
              </a:highlight>
              <a:uLnTx/>
              <a:uFillTx/>
              <a:latin typeface="Poppins Medium" panose="00000600000000000000" pitchFamily="2" charset="0"/>
              <a:ea typeface="+mn-ea"/>
              <a:cs typeface="Poppins Medium" panose="00000600000000000000" pitchFamily="2" charset="0"/>
            </a:endParaRPr>
          </a:p>
        </p:txBody>
      </p:sp>
      <p:sp>
        <p:nvSpPr>
          <p:cNvPr id="5" name="Oval 4">
            <a:extLst>
              <a:ext uri="{FF2B5EF4-FFF2-40B4-BE49-F238E27FC236}">
                <a16:creationId xmlns:a16="http://schemas.microsoft.com/office/drawing/2014/main" id="{4F07217A-35A9-239B-FB00-0315DCB95D66}"/>
              </a:ext>
            </a:extLst>
          </p:cNvPr>
          <p:cNvSpPr/>
          <p:nvPr/>
        </p:nvSpPr>
        <p:spPr bwMode="auto">
          <a:xfrm>
            <a:off x="6205523" y="3843078"/>
            <a:ext cx="2395728" cy="2395728"/>
          </a:xfrm>
          <a:prstGeom prst="ellipse">
            <a:avLst/>
          </a:prstGeom>
          <a:solidFill>
            <a:srgbClr val="5C8B9A"/>
          </a:solidFill>
          <a:ln w="12700" cap="flat" cmpd="sng" algn="ctr">
            <a:noFill/>
            <a:prstDash val="solid"/>
            <a:round/>
            <a:headEnd type="none" w="med" len="med"/>
            <a:tailEnd type="none" w="med" len="med"/>
          </a:ln>
          <a:effectLst>
            <a:outerShdw blurRad="241300" dist="38100" dir="8100000" sx="112000" sy="112000" algn="tr" rotWithShape="0">
              <a:prstClr val="black">
                <a:alpha val="16000"/>
              </a:prstClr>
            </a:outerShdw>
          </a:effectLst>
          <a:scene3d>
            <a:camera prst="orthographicFront"/>
            <a:lightRig rig="threePt" dir="t">
              <a:rot lat="0" lon="0" rev="10200000"/>
            </a:lightRig>
          </a:scene3d>
          <a:sp3d extrusionH="215900">
            <a:bevelT w="114300" h="19050" prst="angle"/>
          </a:sp3d>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17" name="TextBox 16">
            <a:extLst>
              <a:ext uri="{FF2B5EF4-FFF2-40B4-BE49-F238E27FC236}">
                <a16:creationId xmlns:a16="http://schemas.microsoft.com/office/drawing/2014/main" id="{D3724580-1C31-E8F8-9E33-963F587189BB}"/>
              </a:ext>
            </a:extLst>
          </p:cNvPr>
          <p:cNvSpPr txBox="1"/>
          <p:nvPr/>
        </p:nvSpPr>
        <p:spPr>
          <a:xfrm>
            <a:off x="6558438" y="4755358"/>
            <a:ext cx="1650170" cy="64633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all"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THINGS TO WATCH</a:t>
            </a:r>
            <a:endParaRPr kumimoji="0" lang="en-US" altLang="en-US" sz="1400" b="0" i="0" u="none" strike="noStrike" kern="1200" cap="all"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Tree>
    <p:extLst>
      <p:ext uri="{BB962C8B-B14F-4D97-AF65-F5344CB8AC3E}">
        <p14:creationId xmlns:p14="http://schemas.microsoft.com/office/powerpoint/2010/main" val="1725740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CF76990-2A9F-436D-AA72-8068F7C57FA0}"/>
              </a:ext>
            </a:extLst>
          </p:cNvPr>
          <p:cNvPicPr>
            <a:picLocks noChangeAspect="1"/>
          </p:cNvPicPr>
          <p:nvPr/>
        </p:nvPicPr>
        <p:blipFill rotWithShape="1">
          <a:blip r:embed="rId3">
            <a:duotone>
              <a:prstClr val="black"/>
              <a:srgbClr val="106280">
                <a:tint val="45000"/>
                <a:satMod val="400000"/>
              </a:srgbClr>
            </a:duotone>
          </a:blip>
          <a:srcRect l="2668" t="4540"/>
          <a:stretch/>
        </p:blipFill>
        <p:spPr>
          <a:xfrm>
            <a:off x="209886" y="91498"/>
            <a:ext cx="4291184" cy="6691086"/>
          </a:xfrm>
          <a:prstGeom prst="rect">
            <a:avLst/>
          </a:prstGeom>
        </p:spPr>
      </p:pic>
      <p:sp>
        <p:nvSpPr>
          <p:cNvPr id="10" name="Rectangle: Diagonal Corners Rounded 9">
            <a:extLst>
              <a:ext uri="{FF2B5EF4-FFF2-40B4-BE49-F238E27FC236}">
                <a16:creationId xmlns:a16="http://schemas.microsoft.com/office/drawing/2014/main" id="{833DD204-95B8-4F35-B395-231EE88518F2}"/>
              </a:ext>
            </a:extLst>
          </p:cNvPr>
          <p:cNvSpPr/>
          <p:nvPr/>
        </p:nvSpPr>
        <p:spPr bwMode="auto">
          <a:xfrm rot="3027441">
            <a:off x="-786503" y="3065324"/>
            <a:ext cx="9243844" cy="622708"/>
          </a:xfrm>
          <a:custGeom>
            <a:avLst/>
            <a:gdLst>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218983 w 8664014"/>
              <a:gd name="connsiteY4" fmla="*/ 673455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9356709"/>
              <a:gd name="connsiteY0" fmla="*/ 424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336731 w 9356709"/>
              <a:gd name="connsiteY8" fmla="*/ 424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96512 w 9356709"/>
              <a:gd name="connsiteY6" fmla="*/ 676890 h 677703"/>
              <a:gd name="connsiteX7" fmla="*/ 235528 w 9356709"/>
              <a:gd name="connsiteY7" fmla="*/ 492799 h 677703"/>
              <a:gd name="connsiteX8" fmla="*/ 682481 w 9356709"/>
              <a:gd name="connsiteY8" fmla="*/ 5171 h 677703"/>
              <a:gd name="connsiteX0" fmla="*/ 585969 w 9260197"/>
              <a:gd name="connsiteY0" fmla="*/ 5171 h 677696"/>
              <a:gd name="connsiteX1" fmla="*/ 8567502 w 9260197"/>
              <a:gd name="connsiteY1" fmla="*/ 4241 h 677696"/>
              <a:gd name="connsiteX2" fmla="*/ 9260197 w 9260197"/>
              <a:gd name="connsiteY2" fmla="*/ 0 h 677696"/>
              <a:gd name="connsiteX3" fmla="*/ 8106957 w 9260197"/>
              <a:gd name="connsiteY3" fmla="*/ 338260 h 677696"/>
              <a:gd name="connsiteX4" fmla="*/ 8122471 w 9260197"/>
              <a:gd name="connsiteY4" fmla="*/ 677696 h 677696"/>
              <a:gd name="connsiteX5" fmla="*/ 28706 w 9260197"/>
              <a:gd name="connsiteY5" fmla="*/ 675752 h 677696"/>
              <a:gd name="connsiteX6" fmla="*/ 0 w 9260197"/>
              <a:gd name="connsiteY6" fmla="*/ 676890 h 677696"/>
              <a:gd name="connsiteX7" fmla="*/ 139016 w 9260197"/>
              <a:gd name="connsiteY7" fmla="*/ 492799 h 677696"/>
              <a:gd name="connsiteX8" fmla="*/ 585969 w 9260197"/>
              <a:gd name="connsiteY8" fmla="*/ 5171 h 6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60197" h="677696">
                <a:moveTo>
                  <a:pt x="585969" y="5171"/>
                </a:moveTo>
                <a:lnTo>
                  <a:pt x="8567502" y="4241"/>
                </a:lnTo>
                <a:lnTo>
                  <a:pt x="9260197" y="0"/>
                </a:lnTo>
                <a:lnTo>
                  <a:pt x="8106957" y="338260"/>
                </a:lnTo>
                <a:cubicBezTo>
                  <a:pt x="8106957" y="524231"/>
                  <a:pt x="8308442" y="677696"/>
                  <a:pt x="8122471" y="677696"/>
                </a:cubicBezTo>
                <a:lnTo>
                  <a:pt x="28706" y="675752"/>
                </a:lnTo>
                <a:lnTo>
                  <a:pt x="0" y="676890"/>
                </a:lnTo>
                <a:lnTo>
                  <a:pt x="139016" y="492799"/>
                </a:lnTo>
                <a:cubicBezTo>
                  <a:pt x="264084" y="341711"/>
                  <a:pt x="438101" y="146362"/>
                  <a:pt x="585969" y="5171"/>
                </a:cubicBezTo>
                <a:close/>
              </a:path>
            </a:pathLst>
          </a:cu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pic>
        <p:nvPicPr>
          <p:cNvPr id="14" name="Picture 13">
            <a:extLst>
              <a:ext uri="{FF2B5EF4-FFF2-40B4-BE49-F238E27FC236}">
                <a16:creationId xmlns:a16="http://schemas.microsoft.com/office/drawing/2014/main" id="{84A17D6C-76DD-49F3-BA01-7268C5F086DD}"/>
              </a:ext>
            </a:extLst>
          </p:cNvPr>
          <p:cNvPicPr>
            <a:picLocks noChangeAspect="1"/>
          </p:cNvPicPr>
          <p:nvPr/>
        </p:nvPicPr>
        <p:blipFill rotWithShape="1">
          <a:blip r:embed="rId4"/>
          <a:srcRect l="1" t="17282" r="34407" b="16123"/>
          <a:stretch/>
        </p:blipFill>
        <p:spPr>
          <a:xfrm>
            <a:off x="2641408" y="214869"/>
            <a:ext cx="6289218" cy="6465329"/>
          </a:xfrm>
          <a:prstGeom prst="rect">
            <a:avLst/>
          </a:prstGeom>
        </p:spPr>
      </p:pic>
      <p:sp>
        <p:nvSpPr>
          <p:cNvPr id="31" name="Rectangle 30">
            <a:extLst>
              <a:ext uri="{FF2B5EF4-FFF2-40B4-BE49-F238E27FC236}">
                <a16:creationId xmlns:a16="http://schemas.microsoft.com/office/drawing/2014/main" id="{E6D10223-F6D5-4585-8AA5-0A774C445C2F}"/>
              </a:ext>
            </a:extLst>
          </p:cNvPr>
          <p:cNvSpPr/>
          <p:nvPr/>
        </p:nvSpPr>
        <p:spPr bwMode="auto">
          <a:xfrm>
            <a:off x="2197100" y="647700"/>
            <a:ext cx="6808877" cy="3462905"/>
          </a:xfrm>
          <a:prstGeom prst="rect">
            <a:avLst/>
          </a:prstGeom>
          <a:solidFill>
            <a:srgbClr val="FFFFFF">
              <a:alpha val="63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32" name="Straight Connector 31">
            <a:extLst>
              <a:ext uri="{FF2B5EF4-FFF2-40B4-BE49-F238E27FC236}">
                <a16:creationId xmlns:a16="http://schemas.microsoft.com/office/drawing/2014/main" id="{EA4CEF53-EDA9-45F2-A34A-B54567D6AFE4}"/>
              </a:ext>
            </a:extLst>
          </p:cNvPr>
          <p:cNvCxnSpPr>
            <a:cxnSpLocks/>
          </p:cNvCxnSpPr>
          <p:nvPr/>
        </p:nvCxnSpPr>
        <p:spPr bwMode="auto">
          <a:xfrm>
            <a:off x="5215564" y="249245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33" name="Text Box 8">
            <a:extLst>
              <a:ext uri="{FF2B5EF4-FFF2-40B4-BE49-F238E27FC236}">
                <a16:creationId xmlns:a16="http://schemas.microsoft.com/office/drawing/2014/main" id="{2A868375-88A9-44C6-AAEF-7F1D1FD15A25}"/>
              </a:ext>
            </a:extLst>
          </p:cNvPr>
          <p:cNvSpPr txBox="1">
            <a:spLocks noChangeArrowheads="1"/>
          </p:cNvSpPr>
          <p:nvPr/>
        </p:nvSpPr>
        <p:spPr bwMode="auto">
          <a:xfrm>
            <a:off x="658692" y="2628056"/>
            <a:ext cx="8127441" cy="8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nchor="ctr">
            <a:spAutoFit/>
          </a:bodyPr>
          <a:lstStyle>
            <a:lvl1pPr eaLnBrk="0" hangingPunct="0">
              <a:defRPr sz="1000" b="1">
                <a:solidFill>
                  <a:schemeClr val="tx1"/>
                </a:solidFill>
                <a:latin typeface="Arial" charset="0"/>
                <a:cs typeface="Arial" charset="0"/>
              </a:defRPr>
            </a:lvl1pPr>
            <a:lvl2pPr marL="742950" indent="-285750" eaLnBrk="0" hangingPunct="0">
              <a:defRPr sz="1000" b="1">
                <a:solidFill>
                  <a:schemeClr val="tx1"/>
                </a:solidFill>
                <a:latin typeface="Arial" charset="0"/>
                <a:cs typeface="Arial" charset="0"/>
              </a:defRPr>
            </a:lvl2pPr>
            <a:lvl3pPr marL="1143000" indent="-228600" eaLnBrk="0" hangingPunct="0">
              <a:defRPr sz="1000" b="1">
                <a:solidFill>
                  <a:schemeClr val="tx1"/>
                </a:solidFill>
                <a:latin typeface="Arial" charset="0"/>
                <a:cs typeface="Arial" charset="0"/>
              </a:defRPr>
            </a:lvl3pPr>
            <a:lvl4pPr marL="1600200" indent="-228600" eaLnBrk="0" hangingPunct="0">
              <a:defRPr sz="1000" b="1">
                <a:solidFill>
                  <a:schemeClr val="tx1"/>
                </a:solidFill>
                <a:latin typeface="Arial" charset="0"/>
                <a:cs typeface="Arial" charset="0"/>
              </a:defRPr>
            </a:lvl4pPr>
            <a:lvl5pPr marL="2057400" indent="-228600" eaLnBrk="0" hangingPunct="0">
              <a:defRPr sz="1000" b="1">
                <a:solidFill>
                  <a:schemeClr val="tx1"/>
                </a:solidFill>
                <a:latin typeface="Arial" charset="0"/>
                <a:cs typeface="Arial" charset="0"/>
              </a:defRPr>
            </a:lvl5pPr>
            <a:lvl6pPr marL="2514600" indent="-228600" eaLnBrk="0" fontAlgn="base" hangingPunct="0">
              <a:spcBef>
                <a:spcPct val="0"/>
              </a:spcBef>
              <a:spcAft>
                <a:spcPct val="0"/>
              </a:spcAft>
              <a:defRPr sz="1000" b="1">
                <a:solidFill>
                  <a:schemeClr val="tx1"/>
                </a:solidFill>
                <a:latin typeface="Arial" charset="0"/>
                <a:cs typeface="Arial" charset="0"/>
              </a:defRPr>
            </a:lvl6pPr>
            <a:lvl7pPr marL="2971800" indent="-228600" eaLnBrk="0" fontAlgn="base" hangingPunct="0">
              <a:spcBef>
                <a:spcPct val="0"/>
              </a:spcBef>
              <a:spcAft>
                <a:spcPct val="0"/>
              </a:spcAft>
              <a:defRPr sz="1000" b="1">
                <a:solidFill>
                  <a:schemeClr val="tx1"/>
                </a:solidFill>
                <a:latin typeface="Arial" charset="0"/>
                <a:cs typeface="Arial" charset="0"/>
              </a:defRPr>
            </a:lvl7pPr>
            <a:lvl8pPr marL="3429000" indent="-228600" eaLnBrk="0" fontAlgn="base" hangingPunct="0">
              <a:spcBef>
                <a:spcPct val="0"/>
              </a:spcBef>
              <a:spcAft>
                <a:spcPct val="0"/>
              </a:spcAft>
              <a:defRPr sz="1000" b="1">
                <a:solidFill>
                  <a:schemeClr val="tx1"/>
                </a:solidFill>
                <a:latin typeface="Arial" charset="0"/>
                <a:cs typeface="Arial" charset="0"/>
              </a:defRPr>
            </a:lvl8pPr>
            <a:lvl9pPr marL="3886200" indent="-228600" eaLnBrk="0" fontAlgn="base" hangingPunct="0">
              <a:spcBef>
                <a:spcPct val="0"/>
              </a:spcBef>
              <a:spcAft>
                <a:spcPct val="0"/>
              </a:spcAft>
              <a:defRPr sz="1000" b="1">
                <a:solidFill>
                  <a:schemeClr val="tx1"/>
                </a:solidFill>
                <a:latin typeface="Arial" charset="0"/>
                <a:cs typeface="Arial" charset="0"/>
              </a:defRPr>
            </a:lvl9pPr>
          </a:lstStyle>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SECTION 2</a:t>
            </a:r>
          </a:p>
          <a:p>
            <a:pPr marL="0" marR="0" lvl="1" indent="0" algn="r" defTabSz="457200" rtl="0" eaLnBrk="0" fontAlgn="auto" latinLnBrk="0" hangingPunct="0">
              <a:lnSpc>
                <a:spcPct val="100000"/>
              </a:lnSpc>
              <a:spcBef>
                <a:spcPts val="0"/>
              </a:spcBef>
              <a:spcAft>
                <a:spcPts val="0"/>
              </a:spcAft>
              <a:buClrTx/>
              <a:buSzTx/>
              <a:buFontTx/>
              <a:buNone/>
              <a:tabLst/>
              <a:defRPr/>
            </a:pPr>
            <a:endParaRPr kumimoji="0" lang="en-US" altLang="en-US" sz="1050" b="0" i="0" u="none" strike="noStrike" kern="1200" cap="none"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endParaRPr>
          </a:p>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2200" b="0" i="0" u="none" strike="noStrike" kern="1200" cap="none"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rPr>
              <a:t>INVESTMENT REPORT</a:t>
            </a:r>
          </a:p>
        </p:txBody>
      </p:sp>
      <p:cxnSp>
        <p:nvCxnSpPr>
          <p:cNvPr id="34" name="Straight Connector 33">
            <a:extLst>
              <a:ext uri="{FF2B5EF4-FFF2-40B4-BE49-F238E27FC236}">
                <a16:creationId xmlns:a16="http://schemas.microsoft.com/office/drawing/2014/main" id="{E36DFEC2-CD75-4B78-ADEB-0BF3C3230DC6}"/>
              </a:ext>
            </a:extLst>
          </p:cNvPr>
          <p:cNvCxnSpPr>
            <a:cxnSpLocks/>
          </p:cNvCxnSpPr>
          <p:nvPr/>
        </p:nvCxnSpPr>
        <p:spPr bwMode="auto">
          <a:xfrm>
            <a:off x="5220108" y="361640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29" name="Rectangle 28">
            <a:extLst>
              <a:ext uri="{FF2B5EF4-FFF2-40B4-BE49-F238E27FC236}">
                <a16:creationId xmlns:a16="http://schemas.microsoft.com/office/drawing/2014/main" id="{82FA936D-D013-48A2-B1D3-8125F0B0DA6A}"/>
              </a:ext>
            </a:extLst>
          </p:cNvPr>
          <p:cNvSpPr/>
          <p:nvPr/>
        </p:nvSpPr>
        <p:spPr bwMode="auto">
          <a:xfrm>
            <a:off x="0" y="6680199"/>
            <a:ext cx="9055100" cy="177801"/>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14191" y="1073409"/>
            <a:ext cx="4630427" cy="1091667"/>
          </a:xfrm>
          <a:prstGeom prst="rect">
            <a:avLst/>
          </a:prstGeom>
          <a:ln>
            <a:noFill/>
          </a:ln>
        </p:spPr>
      </p:pic>
      <p:sp>
        <p:nvSpPr>
          <p:cNvPr id="23" name="HUGH SANDI PETER DAVID" hidden="1">
            <a:extLst>
              <a:ext uri="{FF2B5EF4-FFF2-40B4-BE49-F238E27FC236}">
                <a16:creationId xmlns:a16="http://schemas.microsoft.com/office/drawing/2014/main" id="{DA88B559-9FFC-4B27-A0C8-BFC81CF67F49}"/>
              </a:ext>
            </a:extLst>
          </p:cNvPr>
          <p:cNvSpPr/>
          <p:nvPr/>
        </p:nvSpPr>
        <p:spPr>
          <a:xfrm>
            <a:off x="4534532" y="3860972"/>
            <a:ext cx="4328429"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SANDI PRESCOTT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CLIENT SERVICE</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sp>
        <p:nvSpPr>
          <p:cNvPr id="17" name="HUGH SANDI PETER DAVID" hidden="1">
            <a:extLst>
              <a:ext uri="{FF2B5EF4-FFF2-40B4-BE49-F238E27FC236}">
                <a16:creationId xmlns:a16="http://schemas.microsoft.com/office/drawing/2014/main" id="{D47FA4D9-5A5D-475F-9949-EF41E1B85A92}"/>
              </a:ext>
            </a:extLst>
          </p:cNvPr>
          <p:cNvSpPr/>
          <p:nvPr/>
        </p:nvSpPr>
        <p:spPr>
          <a:xfrm>
            <a:off x="4545354" y="3858120"/>
            <a:ext cx="4328493"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a:p>
            <a:pPr marL="0" marR="0" lvl="1" indent="0" algn="r" defTabSz="457200" rtl="0" eaLnBrk="1" fontAlgn="auto" latinLnBrk="0" hangingPunct="1">
              <a:lnSpc>
                <a:spcPct val="100000"/>
              </a:lnSpc>
              <a:spcBef>
                <a:spcPts val="0"/>
              </a:spcBef>
              <a:spcAft>
                <a:spcPts val="600"/>
              </a:spcAft>
              <a:buClrTx/>
              <a:buSzTx/>
              <a:buFontTx/>
              <a:buNone/>
              <a:tabLst/>
              <a:defRPr/>
            </a:pPr>
            <a:endPar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endParaRPr>
          </a:p>
        </p:txBody>
      </p:sp>
      <p:sp>
        <p:nvSpPr>
          <p:cNvPr id="22" name="Rectangle 21">
            <a:extLst>
              <a:ext uri="{FF2B5EF4-FFF2-40B4-BE49-F238E27FC236}">
                <a16:creationId xmlns:a16="http://schemas.microsoft.com/office/drawing/2014/main" id="{3F2213C9-A0FE-494E-AF69-D977CFDDD7C9}"/>
              </a:ext>
            </a:extLst>
          </p:cNvPr>
          <p:cNvSpPr/>
          <p:nvPr/>
        </p:nvSpPr>
        <p:spPr bwMode="auto">
          <a:xfrm>
            <a:off x="90020" y="7157"/>
            <a:ext cx="8875059" cy="217213"/>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Sandi Warren" hidden="1">
            <a:extLst>
              <a:ext uri="{FF2B5EF4-FFF2-40B4-BE49-F238E27FC236}">
                <a16:creationId xmlns:a16="http://schemas.microsoft.com/office/drawing/2014/main" id="{65443961-D79C-480D-9CCD-5330A824A3CA}"/>
              </a:ext>
            </a:extLst>
          </p:cNvPr>
          <p:cNvSpPr/>
          <p:nvPr/>
        </p:nvSpPr>
        <p:spPr>
          <a:xfrm>
            <a:off x="5077066" y="3887719"/>
            <a:ext cx="3797835" cy="677108"/>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spTree>
    <p:extLst>
      <p:ext uri="{BB962C8B-B14F-4D97-AF65-F5344CB8AC3E}">
        <p14:creationId xmlns:p14="http://schemas.microsoft.com/office/powerpoint/2010/main" val="165777825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0AAB4721-2E06-4606-AB7D-8E626C011077}"/>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marL="0" marR="0" lvl="0" indent="0" algn="l" defTabSz="1042203" rtl="0" eaLnBrk="0" fontAlgn="base" latinLnBrk="0" hangingPunct="0">
              <a:lnSpc>
                <a:spcPct val="98000"/>
              </a:lnSpc>
              <a:spcBef>
                <a:spcPct val="0"/>
              </a:spcBef>
              <a:spcAft>
                <a:spcPct val="0"/>
              </a:spcAft>
              <a:buClrTx/>
              <a:buSzTx/>
              <a:buFontTx/>
              <a:buNone/>
              <a:tabLst/>
              <a:defRPr/>
            </a:pPr>
            <a:r>
              <a:rPr kumimoji="0" lang="en-US" sz="180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rPr>
              <a:t>INVESTMENT REPORT</a:t>
            </a:r>
            <a:endParaRPr kumimoji="0" lang="en-US" sz="1050" b="0" i="0" u="none" strike="noStrike" kern="1200" cap="none" spc="0" normalizeH="0" baseline="0" noProof="0">
              <a:ln>
                <a:noFill/>
              </a:ln>
              <a:solidFill>
                <a:srgbClr val="0F2E55"/>
              </a:solidFill>
              <a:effectLst/>
              <a:uLnTx/>
              <a:uFillTx/>
              <a:latin typeface="Poppins SemiBold" panose="00000700000000000000" pitchFamily="2" charset="0"/>
              <a:ea typeface="+mj-ea"/>
              <a:cs typeface="Poppins SemiBold" panose="00000700000000000000" pitchFamily="2" charset="0"/>
            </a:endParaRPr>
          </a:p>
        </p:txBody>
      </p:sp>
      <p:sp>
        <p:nvSpPr>
          <p:cNvPr id="49" name="Line 309">
            <a:extLst>
              <a:ext uri="{FF2B5EF4-FFF2-40B4-BE49-F238E27FC236}">
                <a16:creationId xmlns:a16="http://schemas.microsoft.com/office/drawing/2014/main" id="{7DA4DA23-EB0E-4493-8CF8-633FEC6C66E4}"/>
              </a:ext>
            </a:extLst>
          </p:cNvPr>
          <p:cNvSpPr>
            <a:spLocks noChangeShapeType="1"/>
          </p:cNvSpPr>
          <p:nvPr/>
        </p:nvSpPr>
        <p:spPr bwMode="auto">
          <a:xfrm>
            <a:off x="365760" y="6568857"/>
            <a:ext cx="8412480" cy="0"/>
          </a:xfrm>
          <a:prstGeom prst="line">
            <a:avLst/>
          </a:prstGeom>
          <a:noFill/>
          <a:ln w="9525">
            <a:solidFill>
              <a:srgbClr val="194160"/>
            </a:solidFill>
            <a:round/>
            <a:headEnd/>
            <a:tailEnd/>
          </a:ln>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srgbClr val="000000"/>
              </a:solidFill>
              <a:effectLst/>
              <a:uLnTx/>
              <a:uFillTx/>
              <a:latin typeface="Times New Roman"/>
              <a:ea typeface="+mn-ea"/>
              <a:cs typeface="+mn-cs"/>
            </a:endParaRPr>
          </a:p>
        </p:txBody>
      </p:sp>
      <p:graphicFrame>
        <p:nvGraphicFramePr>
          <p:cNvPr id="7" name="Table 6" hidden="1">
            <a:extLst>
              <a:ext uri="{FF2B5EF4-FFF2-40B4-BE49-F238E27FC236}">
                <a16:creationId xmlns:a16="http://schemas.microsoft.com/office/drawing/2014/main" id="{DE52C60A-BCD0-410D-881F-55A5982C4776}"/>
              </a:ext>
            </a:extLst>
          </p:cNvPr>
          <p:cNvGraphicFramePr>
            <a:graphicFrameLocks noGrp="1"/>
          </p:cNvGraphicFramePr>
          <p:nvPr/>
        </p:nvGraphicFramePr>
        <p:xfrm>
          <a:off x="479913" y="4355708"/>
          <a:ext cx="8289618" cy="1803270"/>
        </p:xfrm>
        <a:graphic>
          <a:graphicData uri="http://schemas.openxmlformats.org/drawingml/2006/table">
            <a:tbl>
              <a:tblPr bandRow="1"/>
              <a:tblGrid>
                <a:gridCol w="2902008">
                  <a:extLst>
                    <a:ext uri="{9D8B030D-6E8A-4147-A177-3AD203B41FA5}">
                      <a16:colId xmlns:a16="http://schemas.microsoft.com/office/drawing/2014/main" val="1659302878"/>
                    </a:ext>
                  </a:extLst>
                </a:gridCol>
                <a:gridCol w="1714307">
                  <a:extLst>
                    <a:ext uri="{9D8B030D-6E8A-4147-A177-3AD203B41FA5}">
                      <a16:colId xmlns:a16="http://schemas.microsoft.com/office/drawing/2014/main" val="565340420"/>
                    </a:ext>
                  </a:extLst>
                </a:gridCol>
                <a:gridCol w="1861896">
                  <a:extLst>
                    <a:ext uri="{9D8B030D-6E8A-4147-A177-3AD203B41FA5}">
                      <a16:colId xmlns:a16="http://schemas.microsoft.com/office/drawing/2014/main" val="3184479537"/>
                    </a:ext>
                  </a:extLst>
                </a:gridCol>
                <a:gridCol w="1811407">
                  <a:extLst>
                    <a:ext uri="{9D8B030D-6E8A-4147-A177-3AD203B41FA5}">
                      <a16:colId xmlns:a16="http://schemas.microsoft.com/office/drawing/2014/main" val="3605267649"/>
                    </a:ext>
                  </a:extLst>
                </a:gridCol>
              </a:tblGrid>
              <a:tr h="629388">
                <a:tc>
                  <a:txBody>
                    <a:bodyPr/>
                    <a:lstStyle/>
                    <a:p>
                      <a:pPr algn="ctr" rtl="0" fontAlgn="ctr"/>
                      <a:r>
                        <a:rPr lang="en-US" sz="1100" b="0" i="0" u="none" strike="noStrike">
                          <a:solidFill>
                            <a:srgbClr val="FFFFFF"/>
                          </a:solidFill>
                          <a:effectLst/>
                          <a:latin typeface="Poppins" panose="00000500000000000000" pitchFamily="2" charset="0"/>
                        </a:rPr>
                        <a:t>DESCRIPTION</a:t>
                      </a:r>
                    </a:p>
                  </a:txBody>
                  <a:tcPr marL="9525" marR="9525" marT="9525"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57383"/>
                    </a:solidFill>
                  </a:tcPr>
                </a:tc>
                <a:tc>
                  <a:txBody>
                    <a:bodyPr/>
                    <a:lstStyle/>
                    <a:p>
                      <a:pPr algn="ctr" rtl="0" fontAlgn="ctr"/>
                      <a:r>
                        <a:rPr lang="en-US" sz="1100" b="0" i="0" u="none" strike="noStrike">
                          <a:solidFill>
                            <a:srgbClr val="FFFFFF"/>
                          </a:solidFill>
                          <a:effectLst/>
                          <a:latin typeface="Poppins" panose="00000500000000000000" pitchFamily="2" charset="0"/>
                        </a:rPr>
                        <a:t>MARKET VALUE</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57383"/>
                    </a:solidFill>
                  </a:tcPr>
                </a:tc>
                <a:tc>
                  <a:txBody>
                    <a:bodyPr/>
                    <a:lstStyle/>
                    <a:p>
                      <a:pPr algn="ctr" rtl="0" fontAlgn="ctr"/>
                      <a:r>
                        <a:rPr lang="en-US" sz="1100" b="0" i="0" u="none" strike="noStrike">
                          <a:solidFill>
                            <a:srgbClr val="FFFFFF"/>
                          </a:solidFill>
                          <a:effectLst/>
                          <a:latin typeface="Poppins" panose="00000500000000000000" pitchFamily="2" charset="0"/>
                        </a:rPr>
                        <a:t>TARGET ALLOCATION</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57383"/>
                    </a:solidFill>
                  </a:tcPr>
                </a:tc>
                <a:tc>
                  <a:txBody>
                    <a:bodyPr/>
                    <a:lstStyle/>
                    <a:p>
                      <a:pPr algn="ctr" rtl="0" fontAlgn="ctr"/>
                      <a:r>
                        <a:rPr lang="en-US" sz="1100" b="0" i="0" u="none" strike="noStrike">
                          <a:solidFill>
                            <a:srgbClr val="FFFFFF"/>
                          </a:solidFill>
                          <a:effectLst/>
                          <a:latin typeface="Poppins" panose="00000500000000000000" pitchFamily="2" charset="0"/>
                        </a:rPr>
                        <a:t>ACTUAL ALLOCATION</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57383"/>
                    </a:solidFill>
                  </a:tcPr>
                </a:tc>
                <a:extLst>
                  <a:ext uri="{0D108BD9-81ED-4DB2-BD59-A6C34878D82A}">
                    <a16:rowId xmlns:a16="http://schemas.microsoft.com/office/drawing/2014/main" val="2310573187"/>
                  </a:ext>
                </a:extLst>
              </a:tr>
              <a:tr h="195647">
                <a:tc>
                  <a:txBody>
                    <a:bodyPr/>
                    <a:lstStyle/>
                    <a:p>
                      <a:pPr algn="l" rtl="0" fontAlgn="b"/>
                      <a:r>
                        <a:rPr lang="en-US" sz="1100" b="0" i="0" u="none" strike="noStrike">
                          <a:solidFill>
                            <a:srgbClr val="000000"/>
                          </a:solidFill>
                          <a:effectLst/>
                          <a:latin typeface="Poppins Medium" panose="00000600000000000000" pitchFamily="2" charset="0"/>
                        </a:rPr>
                        <a:t>PERFORMA LIQUID ASSETS FUND</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$4,152,286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20.0%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20.0%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9730133"/>
                  </a:ext>
                </a:extLst>
              </a:tr>
              <a:tr h="195647">
                <a:tc>
                  <a:txBody>
                    <a:bodyPr/>
                    <a:lstStyle/>
                    <a:p>
                      <a:pPr algn="l" rtl="0" fontAlgn="b"/>
                      <a:r>
                        <a:rPr lang="en-US" sz="1100" b="0" i="0" u="none" strike="noStrike">
                          <a:solidFill>
                            <a:srgbClr val="000000"/>
                          </a:solidFill>
                          <a:effectLst/>
                          <a:latin typeface="Poppins Medium" panose="00000600000000000000" pitchFamily="2" charset="0"/>
                        </a:rPr>
                        <a:t>PERFORMA INTERNATIONAL BOND FUND</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$5,288,637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20.0%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25.5%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2337438"/>
                  </a:ext>
                </a:extLst>
              </a:tr>
              <a:tr h="195647">
                <a:tc>
                  <a:txBody>
                    <a:bodyPr/>
                    <a:lstStyle/>
                    <a:p>
                      <a:pPr algn="l" rtl="0" fontAlgn="b"/>
                      <a:r>
                        <a:rPr lang="en-US" sz="1100" b="0" i="0" u="none" strike="noStrike">
                          <a:solidFill>
                            <a:srgbClr val="000000"/>
                          </a:solidFill>
                          <a:effectLst/>
                          <a:latin typeface="Poppins Medium" panose="00000600000000000000" pitchFamily="2" charset="0"/>
                        </a:rPr>
                        <a:t>PERFORMA HIGH YIELD FUND</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$4,156,280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20.0%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20.0%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4106372"/>
                  </a:ext>
                </a:extLst>
              </a:tr>
              <a:tr h="195647">
                <a:tc>
                  <a:txBody>
                    <a:bodyPr/>
                    <a:lstStyle/>
                    <a:p>
                      <a:pPr algn="l" rtl="0" fontAlgn="b"/>
                      <a:r>
                        <a:rPr lang="en-US" sz="1100" b="0" i="0" u="none" strike="noStrike">
                          <a:solidFill>
                            <a:srgbClr val="000000"/>
                          </a:solidFill>
                          <a:effectLst/>
                          <a:latin typeface="Poppins Medium" panose="00000600000000000000" pitchFamily="2" charset="0"/>
                        </a:rPr>
                        <a:t>ORBIS GLOBAL EQUITY  FUND</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$3,795,512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20.0%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18.3%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929730"/>
                  </a:ext>
                </a:extLst>
              </a:tr>
              <a:tr h="195647">
                <a:tc>
                  <a:txBody>
                    <a:bodyPr/>
                    <a:lstStyle/>
                    <a:p>
                      <a:pPr algn="l" rtl="0" fontAlgn="b"/>
                      <a:r>
                        <a:rPr lang="en-US" sz="1100" b="0" i="0" u="none" strike="noStrike">
                          <a:solidFill>
                            <a:srgbClr val="000000"/>
                          </a:solidFill>
                          <a:effectLst/>
                          <a:latin typeface="Poppins Medium" panose="00000600000000000000" pitchFamily="2" charset="0"/>
                        </a:rPr>
                        <a:t>ORBIS OPTIMAL (US$) FUND</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$3,341,307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20.0%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panose="00000500000000000000" pitchFamily="2" charset="0"/>
                        </a:rPr>
                        <a:t>16.1%</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758527"/>
                  </a:ext>
                </a:extLst>
              </a:tr>
              <a:tr h="195647">
                <a:tc>
                  <a:txBody>
                    <a:bodyPr/>
                    <a:lstStyle/>
                    <a:p>
                      <a:pPr algn="l" rtl="0" fontAlgn="b"/>
                      <a:r>
                        <a:rPr lang="en-US" sz="1100" b="0" i="0" u="none" strike="noStrike">
                          <a:solidFill>
                            <a:srgbClr val="000000"/>
                          </a:solidFill>
                          <a:effectLst/>
                          <a:latin typeface="Poppins SemiBold" panose="00000700000000000000" pitchFamily="2" charset="0"/>
                          <a:cs typeface="Poppins SemiBold" panose="00000700000000000000" pitchFamily="2" charset="0"/>
                        </a:rPr>
                        <a:t>TOTAL</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SemiBold" panose="00000700000000000000" pitchFamily="2" charset="0"/>
                          <a:cs typeface="Poppins SemiBold" panose="00000700000000000000" pitchFamily="2" charset="0"/>
                        </a:rPr>
                        <a:t>$20,734,021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SemiBold" panose="00000700000000000000" pitchFamily="2" charset="0"/>
                          <a:cs typeface="Poppins SemiBold" panose="00000700000000000000" pitchFamily="2" charset="0"/>
                        </a:rPr>
                        <a:t>100.0%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100" b="0" i="0" u="none" strike="noStrike">
                          <a:solidFill>
                            <a:srgbClr val="000000"/>
                          </a:solidFill>
                          <a:effectLst/>
                          <a:latin typeface="Poppins SemiBold" panose="00000700000000000000" pitchFamily="2" charset="0"/>
                          <a:cs typeface="Poppins SemiBold" panose="00000700000000000000" pitchFamily="2" charset="0"/>
                        </a:rPr>
                        <a:t>100.0%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5221370"/>
                  </a:ext>
                </a:extLst>
              </a:tr>
            </a:tbl>
          </a:graphicData>
        </a:graphic>
      </p:graphicFrame>
      <p:sp>
        <p:nvSpPr>
          <p:cNvPr id="17" name="Rectangle 16">
            <a:extLst>
              <a:ext uri="{FF2B5EF4-FFF2-40B4-BE49-F238E27FC236}">
                <a16:creationId xmlns:a16="http://schemas.microsoft.com/office/drawing/2014/main" id="{762434C8-FA6F-443C-A850-B089F84340EC}"/>
              </a:ext>
            </a:extLst>
          </p:cNvPr>
          <p:cNvSpPr/>
          <p:nvPr/>
        </p:nvSpPr>
        <p:spPr bwMode="auto">
          <a:xfrm>
            <a:off x="365760" y="82254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rPr>
              <a:t>ASSET ALLOCATION | </a:t>
            </a:r>
            <a:r>
              <a:rPr kumimoji="0" lang="en-US" sz="1600" b="0"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10-27-2025</a:t>
            </a:r>
          </a:p>
        </p:txBody>
      </p:sp>
      <p:graphicFrame>
        <p:nvGraphicFramePr>
          <p:cNvPr id="11" name="Chart 10" hidden="1">
            <a:extLst>
              <a:ext uri="{FF2B5EF4-FFF2-40B4-BE49-F238E27FC236}">
                <a16:creationId xmlns:a16="http://schemas.microsoft.com/office/drawing/2014/main" id="{B62AFAF8-FD5B-4DAE-9A02-CF231B3332D1}"/>
              </a:ext>
            </a:extLst>
          </p:cNvPr>
          <p:cNvGraphicFramePr>
            <a:graphicFrameLocks/>
          </p:cNvGraphicFramePr>
          <p:nvPr/>
        </p:nvGraphicFramePr>
        <p:xfrm>
          <a:off x="-239985" y="1101712"/>
          <a:ext cx="9194763" cy="32349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OMPLEX CHART DONT IGNORE" hidden="1">
            <a:extLst>
              <a:ext uri="{FF2B5EF4-FFF2-40B4-BE49-F238E27FC236}">
                <a16:creationId xmlns:a16="http://schemas.microsoft.com/office/drawing/2014/main" id="{E12A4E3B-EF7E-4A97-B299-6EB95460CB24}"/>
              </a:ext>
            </a:extLst>
          </p:cNvPr>
          <p:cNvGraphicFramePr>
            <a:graphicFrameLocks/>
          </p:cNvGraphicFramePr>
          <p:nvPr/>
        </p:nvGraphicFramePr>
        <p:xfrm>
          <a:off x="876979" y="994361"/>
          <a:ext cx="7675940" cy="3438525"/>
        </p:xfrm>
        <a:graphic>
          <a:graphicData uri="http://schemas.openxmlformats.org/drawingml/2006/chart">
            <c:chart xmlns:c="http://schemas.openxmlformats.org/drawingml/2006/chart" xmlns:r="http://schemas.openxmlformats.org/officeDocument/2006/relationships" r:id="rId4"/>
          </a:graphicData>
        </a:graphic>
      </p:graphicFrame>
      <p:sp>
        <p:nvSpPr>
          <p:cNvPr id="12" name="Rectangle 11" hidden="1">
            <a:extLst>
              <a:ext uri="{FF2B5EF4-FFF2-40B4-BE49-F238E27FC236}">
                <a16:creationId xmlns:a16="http://schemas.microsoft.com/office/drawing/2014/main" id="{5B54F64E-2491-45CC-8E5F-EE2ABAB9A26F}"/>
              </a:ext>
            </a:extLst>
          </p:cNvPr>
          <p:cNvSpPr/>
          <p:nvPr/>
        </p:nvSpPr>
        <p:spPr>
          <a:xfrm>
            <a:off x="5220918" y="2425082"/>
            <a:ext cx="1039066" cy="64120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PERFORMA</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EQUITY FUND</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rPr>
              <a:t>16.5%</a:t>
            </a:r>
          </a:p>
        </p:txBody>
      </p:sp>
      <p:graphicFrame>
        <p:nvGraphicFramePr>
          <p:cNvPr id="2" name="cape 21 client table" hidden="1">
            <a:extLst>
              <a:ext uri="{FF2B5EF4-FFF2-40B4-BE49-F238E27FC236}">
                <a16:creationId xmlns:a16="http://schemas.microsoft.com/office/drawing/2014/main" id="{82EE7B13-9C18-43A2-86A0-1B55013188EA}"/>
              </a:ext>
            </a:extLst>
          </p:cNvPr>
          <p:cNvGraphicFramePr>
            <a:graphicFrameLocks noGrp="1"/>
          </p:cNvGraphicFramePr>
          <p:nvPr/>
        </p:nvGraphicFramePr>
        <p:xfrm>
          <a:off x="415923" y="4497774"/>
          <a:ext cx="8362317" cy="2170426"/>
        </p:xfrm>
        <a:graphic>
          <a:graphicData uri="http://schemas.openxmlformats.org/drawingml/2006/table">
            <a:tbl>
              <a:tblPr/>
              <a:tblGrid>
                <a:gridCol w="4190381">
                  <a:extLst>
                    <a:ext uri="{9D8B030D-6E8A-4147-A177-3AD203B41FA5}">
                      <a16:colId xmlns:a16="http://schemas.microsoft.com/office/drawing/2014/main" val="1651901034"/>
                    </a:ext>
                  </a:extLst>
                </a:gridCol>
                <a:gridCol w="44450">
                  <a:extLst>
                    <a:ext uri="{9D8B030D-6E8A-4147-A177-3AD203B41FA5}">
                      <a16:colId xmlns:a16="http://schemas.microsoft.com/office/drawing/2014/main" val="278052996"/>
                    </a:ext>
                  </a:extLst>
                </a:gridCol>
                <a:gridCol w="1305545">
                  <a:extLst>
                    <a:ext uri="{9D8B030D-6E8A-4147-A177-3AD203B41FA5}">
                      <a16:colId xmlns:a16="http://schemas.microsoft.com/office/drawing/2014/main" val="1102828258"/>
                    </a:ext>
                  </a:extLst>
                </a:gridCol>
                <a:gridCol w="1505801">
                  <a:extLst>
                    <a:ext uri="{9D8B030D-6E8A-4147-A177-3AD203B41FA5}">
                      <a16:colId xmlns:a16="http://schemas.microsoft.com/office/drawing/2014/main" val="4149517966"/>
                    </a:ext>
                  </a:extLst>
                </a:gridCol>
                <a:gridCol w="1316140">
                  <a:extLst>
                    <a:ext uri="{9D8B030D-6E8A-4147-A177-3AD203B41FA5}">
                      <a16:colId xmlns:a16="http://schemas.microsoft.com/office/drawing/2014/main" val="368813467"/>
                    </a:ext>
                  </a:extLst>
                </a:gridCol>
              </a:tblGrid>
              <a:tr h="413482">
                <a:tc gridSpan="2">
                  <a:txBody>
                    <a:bodyPr/>
                    <a:lstStyle/>
                    <a:p>
                      <a:pPr algn="l" rtl="0" fontAlgn="ctr"/>
                      <a:r>
                        <a:rPr lang="en-US" sz="1200" b="0" i="0" u="none" strike="noStrike">
                          <a:solidFill>
                            <a:srgbClr val="FFFFFF"/>
                          </a:solidFill>
                          <a:effectLst/>
                          <a:latin typeface="Poppins" panose="00000500000000000000" pitchFamily="2" charset="0"/>
                          <a:cs typeface="Poppins" panose="00000500000000000000" pitchFamily="2" charset="0"/>
                        </a:rPr>
                        <a:t>  STRATEGY</a:t>
                      </a:r>
                    </a:p>
                  </a:txBody>
                  <a:tcPr marL="6776" marR="6776" marT="6776"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hMerge="1">
                  <a:txBody>
                    <a:bodyPr/>
                    <a:lstStyle/>
                    <a:p>
                      <a:pPr algn="ctr" rtl="0" fontAlgn="ctr"/>
                      <a:endParaRPr lang="en-US" sz="1200" b="0" i="0" u="none" strike="noStrike">
                        <a:solidFill>
                          <a:srgbClr val="FFFFFF"/>
                        </a:solidFill>
                        <a:effectLst/>
                        <a:latin typeface="Poppins" panose="00000500000000000000" pitchFamily="2" charset="0"/>
                        <a:cs typeface="Poppins" panose="00000500000000000000" pitchFamily="2" charset="0"/>
                      </a:endParaRPr>
                    </a:p>
                  </a:txBody>
                  <a:tcPr marL="6776" marR="6776" marT="6776"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cs typeface="Poppins" panose="00000500000000000000" pitchFamily="2" charset="0"/>
                        </a:rPr>
                        <a:t>MARKET VALUE</a:t>
                      </a:r>
                    </a:p>
                  </a:txBody>
                  <a:tcPr marL="6776" marR="6776" marT="6776"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cs typeface="Poppins" panose="00000500000000000000" pitchFamily="2" charset="0"/>
                        </a:rPr>
                        <a:t>TARGET ALLOCATION</a:t>
                      </a:r>
                    </a:p>
                  </a:txBody>
                  <a:tcPr marL="6776" marR="6776" marT="6776"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cs typeface="Poppins" panose="00000500000000000000" pitchFamily="2" charset="0"/>
                        </a:rPr>
                        <a:t>ACTUAL ALLOCATION</a:t>
                      </a:r>
                    </a:p>
                  </a:txBody>
                  <a:tcPr marL="6776" marR="6776" marT="6776"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extLst>
                  <a:ext uri="{0D108BD9-81ED-4DB2-BD59-A6C34878D82A}">
                    <a16:rowId xmlns:a16="http://schemas.microsoft.com/office/drawing/2014/main" val="4246795837"/>
                  </a:ext>
                </a:extLst>
              </a:tr>
              <a:tr h="250992">
                <a:tc gridSpan="2">
                  <a:txBody>
                    <a:bodyPr/>
                    <a:lstStyle/>
                    <a:p>
                      <a:pPr algn="l" rtl="0" fontAlgn="ctr"/>
                      <a:r>
                        <a:rPr lang="en-US" sz="1200" b="0" i="0" u="none" strike="noStrike">
                          <a:solidFill>
                            <a:srgbClr val="000000"/>
                          </a:solidFill>
                          <a:effectLst/>
                          <a:latin typeface="Poppins" panose="00000500000000000000" pitchFamily="2" charset="0"/>
                          <a:cs typeface="Poppins" panose="00000500000000000000" pitchFamily="2" charset="0"/>
                        </a:rPr>
                        <a:t>PERFORMA LIQUID ASSETS FUND</a:t>
                      </a:r>
                    </a:p>
                  </a:txBody>
                  <a:tcPr marR="0" marT="0" marB="0" anchor="ctr">
                    <a:lnL>
                      <a:noFill/>
                    </a:lnL>
                    <a:lnR>
                      <a:noFill/>
                    </a:lnR>
                    <a:lnT>
                      <a:noFill/>
                    </a:lnT>
                    <a:lnB w="12700" cap="flat" cmpd="sng" algn="ctr">
                      <a:solidFill>
                        <a:srgbClr val="A6A6A6"/>
                      </a:solidFill>
                      <a:prstDash val="solid"/>
                      <a:round/>
                      <a:headEnd type="none" w="med" len="med"/>
                      <a:tailEnd type="none" w="med" len="med"/>
                    </a:lnB>
                  </a:tcPr>
                </a:tc>
                <a:tc hMerge="1">
                  <a:txBody>
                    <a:bodyPr/>
                    <a:lstStyle/>
                    <a:p>
                      <a:endParaRPr lang="en-US"/>
                    </a:p>
                  </a:txBody>
                  <a:tcPr>
                    <a:lnL>
                      <a:noFill/>
                    </a:lnL>
                    <a:lnR>
                      <a:noFill/>
                    </a:lnR>
                    <a:lnT>
                      <a:noFill/>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panose="00000500000000000000" pitchFamily="2" charset="0"/>
                        </a:rPr>
                        <a:t>$432,382</a:t>
                      </a:r>
                    </a:p>
                  </a:txBody>
                  <a:tcPr marL="9525" marR="9525" marT="9525" marB="0" anchor="ctr">
                    <a:lnL>
                      <a:noFill/>
                    </a:lnL>
                    <a:lnR>
                      <a:noFill/>
                    </a:lnR>
                    <a:lnT>
                      <a:noFill/>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0.0%</a:t>
                      </a:r>
                    </a:p>
                  </a:txBody>
                  <a:tcPr marL="9525" marR="9525" marT="9525" marB="0" anchor="ctr">
                    <a:lnL>
                      <a:noFill/>
                    </a:lnL>
                    <a:lnR>
                      <a:noFill/>
                    </a:lnR>
                    <a:lnT>
                      <a:noFill/>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1.0%</a:t>
                      </a:r>
                    </a:p>
                  </a:txBody>
                  <a:tcPr marL="9525" marR="9525" marT="9525" marB="0" anchor="ctr">
                    <a:lnL>
                      <a:noFill/>
                    </a:lnL>
                    <a:lnR>
                      <a:noFill/>
                    </a:lnR>
                    <a:lnT>
                      <a:noFill/>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862753533"/>
                  </a:ext>
                </a:extLst>
              </a:tr>
              <a:tr h="250992">
                <a:tc gridSpan="2">
                  <a:txBody>
                    <a:bodyPr/>
                    <a:lstStyle/>
                    <a:p>
                      <a:pPr algn="l" rtl="0" fontAlgn="ctr"/>
                      <a:r>
                        <a:rPr lang="en-US" sz="1200" b="0" i="0" u="none" strike="noStrike">
                          <a:solidFill>
                            <a:srgbClr val="000000"/>
                          </a:solidFill>
                          <a:effectLst/>
                          <a:latin typeface="Poppins" panose="00000500000000000000" pitchFamily="2" charset="0"/>
                          <a:cs typeface="Poppins" panose="00000500000000000000" pitchFamily="2" charset="0"/>
                        </a:rPr>
                        <a:t>PERFORMA INTERMEDIATE BOND FUND</a:t>
                      </a:r>
                    </a:p>
                  </a:txBody>
                  <a:tcPr marR="0" marT="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hMerge="1">
                  <a:txBody>
                    <a:bodyPr/>
                    <a:lstStyle/>
                    <a:p>
                      <a:endParaRPr lang="en-US"/>
                    </a:p>
                  </a:txBody>
                  <a:tcP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panose="00000500000000000000" pitchFamily="2" charset="0"/>
                        </a:rPr>
                        <a:t>$19,425,236</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50.0%</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45.4%</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923188195"/>
                  </a:ext>
                </a:extLst>
              </a:tr>
              <a:tr h="250992">
                <a:tc gridSpan="2">
                  <a:txBody>
                    <a:bodyPr/>
                    <a:lstStyle/>
                    <a:p>
                      <a:pPr algn="l" rtl="0" fontAlgn="ctr"/>
                      <a:r>
                        <a:rPr lang="en-US" sz="1200" b="0" i="0" u="none" strike="noStrike">
                          <a:solidFill>
                            <a:srgbClr val="000000"/>
                          </a:solidFill>
                          <a:effectLst/>
                          <a:latin typeface="Poppins" panose="00000500000000000000" pitchFamily="2" charset="0"/>
                          <a:cs typeface="Poppins" panose="00000500000000000000" pitchFamily="2" charset="0"/>
                        </a:rPr>
                        <a:t>PERFORMA HIGH YIELD FUND</a:t>
                      </a:r>
                    </a:p>
                  </a:txBody>
                  <a:tcPr marR="0" marT="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hMerge="1">
                  <a:txBody>
                    <a:bodyPr/>
                    <a:lstStyle/>
                    <a:p>
                      <a:endParaRPr lang="en-US"/>
                    </a:p>
                  </a:txBody>
                  <a:tcP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panose="00000500000000000000" pitchFamily="2" charset="0"/>
                        </a:rPr>
                        <a:t>$6,312,842</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15.0%</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14.8%</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2465896985"/>
                  </a:ext>
                </a:extLst>
              </a:tr>
              <a:tr h="250992">
                <a:tc gridSpan="2">
                  <a:txBody>
                    <a:bodyPr/>
                    <a:lstStyle/>
                    <a:p>
                      <a:pPr algn="l" rtl="0" fontAlgn="ctr"/>
                      <a:r>
                        <a:rPr lang="en-US" sz="1200" b="0" i="0" u="none" strike="noStrike">
                          <a:solidFill>
                            <a:srgbClr val="000000"/>
                          </a:solidFill>
                          <a:effectLst/>
                          <a:latin typeface="Poppins" panose="00000500000000000000" pitchFamily="2" charset="0"/>
                          <a:cs typeface="Poppins" panose="00000500000000000000" pitchFamily="2" charset="0"/>
                        </a:rPr>
                        <a:t>PERFORMA EQUITY FUND</a:t>
                      </a:r>
                    </a:p>
                  </a:txBody>
                  <a:tcPr marR="0" marT="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hMerge="1">
                  <a:txBody>
                    <a:bodyPr/>
                    <a:lstStyle/>
                    <a:p>
                      <a:endParaRPr lang="en-US"/>
                    </a:p>
                  </a:txBody>
                  <a:tcP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panose="00000500000000000000" pitchFamily="2" charset="0"/>
                        </a:rPr>
                        <a:t>$8,837,158</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17.5%</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20.7%</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576347767"/>
                  </a:ext>
                </a:extLst>
              </a:tr>
              <a:tr h="250992">
                <a:tc gridSpan="2">
                  <a:txBody>
                    <a:bodyPr/>
                    <a:lstStyle/>
                    <a:p>
                      <a:pPr algn="l" rtl="0" fontAlgn="ctr"/>
                      <a:r>
                        <a:rPr lang="en-US" sz="1200" b="0" i="0" u="none" strike="noStrike">
                          <a:solidFill>
                            <a:srgbClr val="000000"/>
                          </a:solidFill>
                          <a:effectLst/>
                          <a:latin typeface="Poppins" panose="00000500000000000000" pitchFamily="2" charset="0"/>
                          <a:cs typeface="Poppins" panose="00000500000000000000" pitchFamily="2" charset="0"/>
                        </a:rPr>
                        <a:t>PERFORMA INTERNATIONAL EQUITY FUND</a:t>
                      </a:r>
                    </a:p>
                  </a:txBody>
                  <a:tcPr marR="0" marT="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hMerge="1">
                  <a:txBody>
                    <a:bodyPr/>
                    <a:lstStyle/>
                    <a:p>
                      <a:endParaRPr lang="en-US"/>
                    </a:p>
                  </a:txBody>
                  <a:tcP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panose="00000500000000000000" pitchFamily="2" charset="0"/>
                        </a:rPr>
                        <a:t>$7,767,292</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17.5%</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Poppins" panose="00000500000000000000" pitchFamily="2" charset="0"/>
                        </a:rPr>
                        <a:t>18.2%</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4280679464"/>
                  </a:ext>
                </a:extLst>
              </a:tr>
              <a:tr h="250992">
                <a:tc>
                  <a:txBody>
                    <a:bodyPr/>
                    <a:lstStyle/>
                    <a:p>
                      <a:pPr algn="l" rtl="0" fontAlgn="b"/>
                      <a:r>
                        <a:rPr lang="en-US" sz="1200" b="0" i="0" u="none" strike="noStrike">
                          <a:solidFill>
                            <a:srgbClr val="000000"/>
                          </a:solidFill>
                          <a:effectLst/>
                          <a:latin typeface="Poppins SemiBold" panose="00000700000000000000" pitchFamily="2" charset="0"/>
                          <a:cs typeface="Poppins SemiBold" panose="00000700000000000000" pitchFamily="2" charset="0"/>
                        </a:rPr>
                        <a:t>TOTAL</a:t>
                      </a:r>
                    </a:p>
                  </a:txBody>
                  <a:tcPr marL="85725" marR="0" marT="0" marB="0" anchor="b">
                    <a:lnL>
                      <a:noFill/>
                    </a:lnL>
                    <a:lnR>
                      <a:noFill/>
                    </a:lnR>
                    <a:lnT w="12700" cap="flat" cmpd="sng" algn="ctr">
                      <a:solidFill>
                        <a:srgbClr val="A6A6A6"/>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ctr"/>
                      <a:r>
                        <a:rPr lang="en-US" sz="1200" b="0" i="0" u="none" strike="noStrike">
                          <a:solidFill>
                            <a:srgbClr val="000000"/>
                          </a:solidFill>
                          <a:effectLst/>
                          <a:latin typeface="Poppins SemiBold" panose="00000700000000000000" pitchFamily="2" charset="0"/>
                          <a:cs typeface="Poppins SemiBold" panose="00000700000000000000" pitchFamily="2" charset="0"/>
                        </a:rPr>
                        <a:t> </a:t>
                      </a:r>
                    </a:p>
                  </a:txBody>
                  <a:tcPr marL="0" marR="0" marT="0" marB="0" anchor="ctr">
                    <a:lnL>
                      <a:noFill/>
                    </a:lnL>
                    <a:lnR>
                      <a:noFill/>
                    </a:lnR>
                    <a:lnT w="12700" cap="flat" cmpd="sng" algn="ctr">
                      <a:solidFill>
                        <a:srgbClr val="A6A6A6"/>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r>
                        <a:rPr lang="en-US" sz="1200" b="1" i="0" u="none" strike="noStrike">
                          <a:solidFill>
                            <a:srgbClr val="000000"/>
                          </a:solidFill>
                          <a:effectLst/>
                          <a:latin typeface="Poppins SemiBold" panose="00000700000000000000" pitchFamily="2" charset="0"/>
                          <a:cs typeface="Poppins SemiBold" panose="00000700000000000000" pitchFamily="2" charset="0"/>
                        </a:rPr>
                        <a:t>$42,774,909</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r>
                        <a:rPr lang="en-US" sz="1200" b="1" i="0" u="none" strike="noStrike">
                          <a:solidFill>
                            <a:srgbClr val="000000"/>
                          </a:solidFill>
                          <a:effectLst/>
                          <a:latin typeface="Poppins SemiBold" panose="00000700000000000000" pitchFamily="2" charset="0"/>
                          <a:cs typeface="Poppins SemiBold" panose="00000700000000000000" pitchFamily="2" charset="0"/>
                        </a:rPr>
                        <a:t>100.0%</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r>
                        <a:rPr lang="en-US" sz="1200" b="1" i="0" u="none" strike="noStrike">
                          <a:solidFill>
                            <a:srgbClr val="000000"/>
                          </a:solidFill>
                          <a:effectLst/>
                          <a:latin typeface="Poppins SemiBold" panose="00000700000000000000" pitchFamily="2" charset="0"/>
                          <a:cs typeface="Poppins SemiBold" panose="00000700000000000000" pitchFamily="2" charset="0"/>
                        </a:rPr>
                        <a:t>100.0%</a:t>
                      </a:r>
                    </a:p>
                  </a:txBody>
                  <a:tcPr marL="9525" marR="9525" marT="9525" marB="0" anchor="ctr">
                    <a:lnL>
                      <a:noFill/>
                    </a:lnL>
                    <a:lnR>
                      <a:noFill/>
                    </a:lnR>
                    <a:lnT w="12700" cap="flat" cmpd="sng" algn="ctr">
                      <a:solidFill>
                        <a:srgbClr val="A6A6A6"/>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366317543"/>
                  </a:ext>
                </a:extLst>
              </a:tr>
              <a:tr h="250992">
                <a:tc>
                  <a:txBody>
                    <a:bodyPr/>
                    <a:lstStyle/>
                    <a:p>
                      <a:pPr algn="l" rtl="0" fontAlgn="b"/>
                      <a:endParaRPr lang="en-US" sz="1100" b="0" i="0" u="none" strike="noStrike">
                        <a:solidFill>
                          <a:srgbClr val="000000"/>
                        </a:solidFill>
                        <a:effectLst/>
                        <a:latin typeface="Poppins SemiBold" panose="00000700000000000000" pitchFamily="2" charset="0"/>
                      </a:endParaRPr>
                    </a:p>
                  </a:txBody>
                  <a:tcPr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endParaRPr lang="en-US" sz="1200" b="0" i="0" u="none" strike="noStrike">
                        <a:solidFill>
                          <a:srgbClr val="000000"/>
                        </a:solidFill>
                        <a:effectLst/>
                        <a:latin typeface="Poppins SemiBold" panose="00000700000000000000" pitchFamily="2"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endParaRPr lang="en-US" sz="1200" b="0" i="0" u="none" strike="noStrike">
                        <a:solidFill>
                          <a:srgbClr val="000000"/>
                        </a:solidFill>
                        <a:effectLst/>
                        <a:latin typeface="Poppins SemiBold" panose="00000700000000000000" pitchFamily="2"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endParaRPr lang="en-US" sz="1200" b="0" i="0" u="none" strike="noStrike">
                        <a:solidFill>
                          <a:srgbClr val="000000"/>
                        </a:solidFill>
                        <a:effectLst/>
                        <a:latin typeface="Poppins SemiBold" panose="00000700000000000000" pitchFamily="2"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endParaRPr lang="en-US" sz="1200" b="0" i="0" u="none" strike="noStrike">
                        <a:solidFill>
                          <a:srgbClr val="000000"/>
                        </a:solidFill>
                        <a:effectLst/>
                        <a:latin typeface="Poppins SemiBold" panose="00000700000000000000" pitchFamily="2"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2177693"/>
                  </a:ext>
                </a:extLst>
              </a:tr>
            </a:tbl>
          </a:graphicData>
        </a:graphic>
      </p:graphicFrame>
      <p:pic>
        <p:nvPicPr>
          <p:cNvPr id="14" name="Picture 13">
            <a:extLst>
              <a:ext uri="{FF2B5EF4-FFF2-40B4-BE49-F238E27FC236}">
                <a16:creationId xmlns:a16="http://schemas.microsoft.com/office/drawing/2014/main" id="{0835F644-FF24-4BA1-8AD7-5422C4B6E3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31521" y="257666"/>
            <a:ext cx="1363905" cy="308884"/>
          </a:xfrm>
          <a:prstGeom prst="rect">
            <a:avLst/>
          </a:prstGeom>
        </p:spPr>
      </p:pic>
      <p:sp>
        <p:nvSpPr>
          <p:cNvPr id="16" name="Line 309">
            <a:extLst>
              <a:ext uri="{FF2B5EF4-FFF2-40B4-BE49-F238E27FC236}">
                <a16:creationId xmlns:a16="http://schemas.microsoft.com/office/drawing/2014/main" id="{404A5DC7-AFF2-45AD-9F8B-4E4D51E20857}"/>
              </a:ext>
            </a:extLst>
          </p:cNvPr>
          <p:cNvSpPr>
            <a:spLocks noChangeShapeType="1"/>
          </p:cNvSpPr>
          <p:nvPr/>
        </p:nvSpPr>
        <p:spPr bwMode="auto">
          <a:xfrm>
            <a:off x="365760" y="760700"/>
            <a:ext cx="8412480" cy="0"/>
          </a:xfrm>
          <a:prstGeom prst="line">
            <a:avLst/>
          </a:prstGeom>
          <a:noFill/>
          <a:ln w="19050">
            <a:solidFill>
              <a:srgbClr val="194160"/>
            </a:solidFill>
            <a:round/>
            <a:headEnd/>
            <a:tailEnd/>
          </a:ln>
        </p:spPr>
        <p:txBody>
          <a:bodyPr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srgbClr val="000000"/>
              </a:solidFill>
              <a:effectLst/>
              <a:uLnTx/>
              <a:uFillTx/>
              <a:latin typeface="Times New Roman"/>
              <a:ea typeface="+mn-ea"/>
              <a:cs typeface="+mn-cs"/>
            </a:endParaRPr>
          </a:p>
        </p:txBody>
      </p:sp>
      <p:graphicFrame>
        <p:nvGraphicFramePr>
          <p:cNvPr id="19" name="cape 21 client pie chart" hidden="1">
            <a:extLst>
              <a:ext uri="{FF2B5EF4-FFF2-40B4-BE49-F238E27FC236}">
                <a16:creationId xmlns:a16="http://schemas.microsoft.com/office/drawing/2014/main" id="{E12A4E3B-EF7E-4A97-B299-6EB95460CB24}"/>
              </a:ext>
            </a:extLst>
          </p:cNvPr>
          <p:cNvGraphicFramePr>
            <a:graphicFrameLocks/>
          </p:cNvGraphicFramePr>
          <p:nvPr/>
        </p:nvGraphicFramePr>
        <p:xfrm>
          <a:off x="749301" y="1163639"/>
          <a:ext cx="7112000" cy="343376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 name="Chart 19" hidden="1">
            <a:extLst>
              <a:ext uri="{FF2B5EF4-FFF2-40B4-BE49-F238E27FC236}">
                <a16:creationId xmlns:a16="http://schemas.microsoft.com/office/drawing/2014/main" id="{29280F78-2524-45C9-BE0A-1C9A9F00C92E}"/>
              </a:ext>
            </a:extLst>
          </p:cNvPr>
          <p:cNvGraphicFramePr>
            <a:graphicFrameLocks/>
          </p:cNvGraphicFramePr>
          <p:nvPr/>
        </p:nvGraphicFramePr>
        <p:xfrm>
          <a:off x="759111" y="3367281"/>
          <a:ext cx="7675940" cy="343852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2" name="Chart 21" hidden="1">
            <a:extLst>
              <a:ext uri="{FF2B5EF4-FFF2-40B4-BE49-F238E27FC236}">
                <a16:creationId xmlns:a16="http://schemas.microsoft.com/office/drawing/2014/main" id="{B62AFAF8-FD5B-4DAE-9A02-CF231B3332D1}"/>
              </a:ext>
            </a:extLst>
          </p:cNvPr>
          <p:cNvGraphicFramePr>
            <a:graphicFrameLocks/>
          </p:cNvGraphicFramePr>
          <p:nvPr>
            <p:extLst>
              <p:ext uri="{D42A27DB-BD31-4B8C-83A1-F6EECF244321}">
                <p14:modId xmlns:p14="http://schemas.microsoft.com/office/powerpoint/2010/main" val="3552464928"/>
              </p:ext>
            </p:extLst>
          </p:nvPr>
        </p:nvGraphicFramePr>
        <p:xfrm>
          <a:off x="16161" y="1055385"/>
          <a:ext cx="9127839" cy="3461693"/>
        </p:xfrm>
        <a:graphic>
          <a:graphicData uri="http://schemas.openxmlformats.org/drawingml/2006/chart">
            <c:chart xmlns:c="http://schemas.openxmlformats.org/drawingml/2006/chart" xmlns:r="http://schemas.openxmlformats.org/officeDocument/2006/relationships" r:id="rId8"/>
          </a:graphicData>
        </a:graphic>
      </p:graphicFrame>
      <p:sp>
        <p:nvSpPr>
          <p:cNvPr id="26" name="Slide Number Placeholder 1">
            <a:extLst>
              <a:ext uri="{FF2B5EF4-FFF2-40B4-BE49-F238E27FC236}">
                <a16:creationId xmlns:a16="http://schemas.microsoft.com/office/drawing/2014/main" id="{D9A77339-518C-4C42-AD36-7237C3028B70}"/>
              </a:ext>
            </a:extLst>
          </p:cNvPr>
          <p:cNvSpPr>
            <a:spLocks noGrp="1"/>
          </p:cNvSpPr>
          <p:nvPr>
            <p:ph type="sldNum" sz="quarter" idx="4"/>
          </p:nvPr>
        </p:nvSpPr>
        <p:spPr>
          <a:xfrm>
            <a:off x="8590627" y="6605644"/>
            <a:ext cx="514350" cy="275945"/>
          </a:xfrm>
          <a:prstGeom prst="rect">
            <a:avLst/>
          </a:prstGeom>
        </p:spPr>
        <p:txBody>
          <a:bodyPr/>
          <a:lstStyle/>
          <a:p>
            <a:pPr marL="0" marR="0" lvl="0" indent="0" algn="l" defTabSz="806867" rtl="0" eaLnBrk="1" fontAlgn="base" latinLnBrk="0" hangingPunct="1">
              <a:lnSpc>
                <a:spcPct val="100000"/>
              </a:lnSpc>
              <a:spcBef>
                <a:spcPct val="0"/>
              </a:spcBef>
              <a:spcAft>
                <a:spcPct val="0"/>
              </a:spcAft>
              <a:buClrTx/>
              <a:buSzTx/>
              <a:buFontTx/>
              <a:buNone/>
              <a:tabLst/>
              <a:defRPr/>
            </a:pPr>
            <a:fld id="{1F3AF4E7-7E42-4609-9D36-1FCB1339153A}" type="slidenum">
              <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rPr>
              <a:pPr marL="0" marR="0" lvl="0" indent="0" algn="l" defTabSz="806867" rtl="0" eaLnBrk="1" fontAlgn="base" latinLnBrk="0" hangingPunct="1">
                <a:lnSpc>
                  <a:spcPct val="100000"/>
                </a:lnSpc>
                <a:spcBef>
                  <a:spcPct val="0"/>
                </a:spcBef>
                <a:spcAft>
                  <a:spcPct val="0"/>
                </a:spcAft>
                <a:buClrTx/>
                <a:buSzTx/>
                <a:buFontTx/>
                <a:buNone/>
                <a:tabLst/>
                <a:defRPr/>
              </a:pPr>
              <a:t>11</a:t>
            </a:fld>
            <a:endParaRPr kumimoji="0" lang="en-US" sz="882"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endParaRPr>
          </a:p>
        </p:txBody>
      </p:sp>
      <p:graphicFrame>
        <p:nvGraphicFramePr>
          <p:cNvPr id="21" name="Chart 20" hidden="1">
            <a:extLst>
              <a:ext uri="{FF2B5EF4-FFF2-40B4-BE49-F238E27FC236}">
                <a16:creationId xmlns:a16="http://schemas.microsoft.com/office/drawing/2014/main" id="{044916B4-1D48-4E18-BB12-AB1F52708E8E}"/>
              </a:ext>
            </a:extLst>
          </p:cNvPr>
          <p:cNvGraphicFramePr>
            <a:graphicFrameLocks/>
          </p:cNvGraphicFramePr>
          <p:nvPr>
            <p:extLst>
              <p:ext uri="{D42A27DB-BD31-4B8C-83A1-F6EECF244321}">
                <p14:modId xmlns:p14="http://schemas.microsoft.com/office/powerpoint/2010/main" val="3384727901"/>
              </p:ext>
            </p:extLst>
          </p:nvPr>
        </p:nvGraphicFramePr>
        <p:xfrm>
          <a:off x="-1638006" y="1103963"/>
          <a:ext cx="10734590" cy="322878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4" name="JANUARY 2022 PIE CHART" hidden="1">
            <a:extLst>
              <a:ext uri="{FF2B5EF4-FFF2-40B4-BE49-F238E27FC236}">
                <a16:creationId xmlns:a16="http://schemas.microsoft.com/office/drawing/2014/main" id="{044916B4-1D48-4E18-BB12-AB1F52708E8E}"/>
              </a:ext>
            </a:extLst>
          </p:cNvPr>
          <p:cNvGraphicFramePr>
            <a:graphicFrameLocks/>
          </p:cNvGraphicFramePr>
          <p:nvPr>
            <p:extLst>
              <p:ext uri="{D42A27DB-BD31-4B8C-83A1-F6EECF244321}">
                <p14:modId xmlns:p14="http://schemas.microsoft.com/office/powerpoint/2010/main" val="660576492"/>
              </p:ext>
            </p:extLst>
          </p:nvPr>
        </p:nvGraphicFramePr>
        <p:xfrm>
          <a:off x="-1490791" y="1102106"/>
          <a:ext cx="10734590" cy="342900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5" name="Table 4" hidden="1">
            <a:extLst>
              <a:ext uri="{FF2B5EF4-FFF2-40B4-BE49-F238E27FC236}">
                <a16:creationId xmlns:a16="http://schemas.microsoft.com/office/drawing/2014/main" id="{123B3A71-A35E-41E3-89FD-7C64C9F55DE0}"/>
              </a:ext>
            </a:extLst>
          </p:cNvPr>
          <p:cNvGraphicFramePr>
            <a:graphicFrameLocks noGrp="1"/>
          </p:cNvGraphicFramePr>
          <p:nvPr>
            <p:extLst>
              <p:ext uri="{D42A27DB-BD31-4B8C-83A1-F6EECF244321}">
                <p14:modId xmlns:p14="http://schemas.microsoft.com/office/powerpoint/2010/main" val="3937307348"/>
              </p:ext>
            </p:extLst>
          </p:nvPr>
        </p:nvGraphicFramePr>
        <p:xfrm>
          <a:off x="397612" y="4066692"/>
          <a:ext cx="8412482" cy="2321514"/>
        </p:xfrm>
        <a:graphic>
          <a:graphicData uri="http://schemas.openxmlformats.org/drawingml/2006/table">
            <a:tbl>
              <a:tblPr/>
              <a:tblGrid>
                <a:gridCol w="4302207">
                  <a:extLst>
                    <a:ext uri="{9D8B030D-6E8A-4147-A177-3AD203B41FA5}">
                      <a16:colId xmlns:a16="http://schemas.microsoft.com/office/drawing/2014/main" val="2386195978"/>
                    </a:ext>
                  </a:extLst>
                </a:gridCol>
                <a:gridCol w="1297858">
                  <a:extLst>
                    <a:ext uri="{9D8B030D-6E8A-4147-A177-3AD203B41FA5}">
                      <a16:colId xmlns:a16="http://schemas.microsoft.com/office/drawing/2014/main" val="3489078541"/>
                    </a:ext>
                  </a:extLst>
                </a:gridCol>
                <a:gridCol w="1602688">
                  <a:extLst>
                    <a:ext uri="{9D8B030D-6E8A-4147-A177-3AD203B41FA5}">
                      <a16:colId xmlns:a16="http://schemas.microsoft.com/office/drawing/2014/main" val="2234769937"/>
                    </a:ext>
                  </a:extLst>
                </a:gridCol>
                <a:gridCol w="1209729">
                  <a:extLst>
                    <a:ext uri="{9D8B030D-6E8A-4147-A177-3AD203B41FA5}">
                      <a16:colId xmlns:a16="http://schemas.microsoft.com/office/drawing/2014/main" val="1715412048"/>
                    </a:ext>
                  </a:extLst>
                </a:gridCol>
              </a:tblGrid>
              <a:tr h="258480">
                <a:tc>
                  <a:txBody>
                    <a:bodyPr/>
                    <a:lstStyle/>
                    <a:p>
                      <a:pPr algn="ctr" rtl="0" fontAlgn="ctr"/>
                      <a:r>
                        <a:rPr lang="en-US" sz="1100" b="0" i="0" u="none" strike="noStrike">
                          <a:solidFill>
                            <a:srgbClr val="FFFFFF"/>
                          </a:solidFill>
                          <a:effectLst/>
                          <a:latin typeface="Poppins" panose="00000500000000000000" pitchFamily="2" charset="0"/>
                        </a:rPr>
                        <a:t>STRATEGY</a:t>
                      </a:r>
                    </a:p>
                  </a:txBody>
                  <a:tcPr marL="7410" marR="7410" marT="741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100" b="0" i="0" u="none" strike="noStrike">
                          <a:solidFill>
                            <a:srgbClr val="FFFFFF"/>
                          </a:solidFill>
                          <a:effectLst/>
                          <a:latin typeface="Poppins" panose="00000500000000000000" pitchFamily="2" charset="0"/>
                        </a:rPr>
                        <a:t>MARKET VALUE</a:t>
                      </a:r>
                    </a:p>
                  </a:txBody>
                  <a:tcPr marL="7410" marR="7410" marT="741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100" b="0" i="0" u="none" strike="noStrike">
                          <a:solidFill>
                            <a:srgbClr val="FFFFFF"/>
                          </a:solidFill>
                          <a:effectLst/>
                          <a:latin typeface="Poppins" panose="00000500000000000000" pitchFamily="2" charset="0"/>
                        </a:rPr>
                        <a:t>ACTUAL ALLOCATION</a:t>
                      </a:r>
                    </a:p>
                  </a:txBody>
                  <a:tcPr marL="7410" marR="7410" marT="741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100" b="0" i="0" u="none" strike="noStrike">
                          <a:solidFill>
                            <a:srgbClr val="FFFFFF"/>
                          </a:solidFill>
                          <a:effectLst/>
                          <a:latin typeface="Poppins" panose="00000500000000000000" pitchFamily="2" charset="0"/>
                        </a:rPr>
                        <a:t>TARGET RANGE</a:t>
                      </a:r>
                    </a:p>
                  </a:txBody>
                  <a:tcPr marL="7410" marR="7410" marT="741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extLst>
                  <a:ext uri="{0D108BD9-81ED-4DB2-BD59-A6C34878D82A}">
                    <a16:rowId xmlns:a16="http://schemas.microsoft.com/office/drawing/2014/main" val="2237111664"/>
                  </a:ext>
                </a:extLst>
              </a:tr>
              <a:tr h="176409">
                <a:tc>
                  <a:txBody>
                    <a:bodyPr/>
                    <a:lstStyle/>
                    <a:p>
                      <a:pPr algn="l" rtl="0" fontAlgn="b"/>
                      <a:r>
                        <a:rPr lang="en-US" sz="1100" b="0" i="0" u="none" strike="noStrike">
                          <a:solidFill>
                            <a:srgbClr val="000000"/>
                          </a:solidFill>
                          <a:effectLst/>
                          <a:latin typeface="Poppins SemiBold" panose="00000700000000000000" pitchFamily="2" charset="0"/>
                        </a:rPr>
                        <a:t> CASH </a:t>
                      </a:r>
                      <a:r>
                        <a:rPr lang="en-US" sz="1100" b="0" i="0" u="none" strike="noStrike" baseline="30000">
                          <a:solidFill>
                            <a:srgbClr val="000000"/>
                          </a:solidFill>
                          <a:effectLst/>
                          <a:latin typeface="Poppins SemiBold" panose="00000700000000000000" pitchFamily="2" charset="0"/>
                        </a:rPr>
                        <a:t>1</a:t>
                      </a:r>
                      <a:endParaRPr lang="en-US" sz="1100" b="0" i="0" u="none" strike="noStrike">
                        <a:solidFill>
                          <a:srgbClr val="000000"/>
                        </a:solidFill>
                        <a:effectLst/>
                        <a:latin typeface="Poppins SemiBold" panose="00000700000000000000" pitchFamily="2" charset="0"/>
                      </a:endParaRPr>
                    </a:p>
                  </a:txBody>
                  <a:tcPr marL="7410" marR="7410" marT="7410" marB="0" anchor="b">
                    <a:lnL>
                      <a:noFill/>
                    </a:lnL>
                    <a:lnR>
                      <a:noFill/>
                    </a:lnR>
                    <a:lnT>
                      <a:noFill/>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$16,102 </a:t>
                      </a:r>
                    </a:p>
                  </a:txBody>
                  <a:tcPr marL="7410" marR="7410" marT="7410" marB="0" anchor="b">
                    <a:lnL>
                      <a:noFill/>
                    </a:lnL>
                    <a:lnR>
                      <a:noFill/>
                    </a:lnR>
                    <a:lnT>
                      <a:noFill/>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0.1%</a:t>
                      </a:r>
                    </a:p>
                  </a:txBody>
                  <a:tcPr marL="7410" marR="7410" marT="7410" marB="0" anchor="b">
                    <a:lnL>
                      <a:noFill/>
                    </a:lnL>
                    <a:lnR>
                      <a:noFill/>
                    </a:lnR>
                    <a:lnT>
                      <a:noFill/>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410" marR="7410" marT="7410" marB="0" anchor="b">
                    <a:lnL>
                      <a:noFill/>
                    </a:lnL>
                    <a:lnR>
                      <a:noFill/>
                    </a:lnR>
                    <a:lnT>
                      <a:noFill/>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2596866532"/>
                  </a:ext>
                </a:extLst>
              </a:tr>
              <a:tr h="176409">
                <a:tc>
                  <a:txBody>
                    <a:bodyPr/>
                    <a:lstStyle/>
                    <a:p>
                      <a:pPr algn="l" rtl="0" fontAlgn="b"/>
                      <a:r>
                        <a:rPr lang="en-US" sz="1100" b="0" i="0" u="none" strike="noStrike">
                          <a:solidFill>
                            <a:srgbClr val="000000"/>
                          </a:solidFill>
                          <a:effectLst/>
                          <a:latin typeface="Poppins SemiBold" panose="00000700000000000000" pitchFamily="2" charset="0"/>
                        </a:rPr>
                        <a:t> INVESTMENT GRADE BONDS SEPARATE ACCOUNT </a:t>
                      </a:r>
                      <a:r>
                        <a:rPr lang="en-US" sz="1100" b="0" i="0" u="none" strike="noStrike" baseline="30000">
                          <a:solidFill>
                            <a:srgbClr val="000000"/>
                          </a:solidFill>
                          <a:effectLst/>
                          <a:latin typeface="Poppins SemiBold" panose="00000700000000000000" pitchFamily="2" charset="0"/>
                        </a:rPr>
                        <a:t>2</a:t>
                      </a:r>
                      <a:endParaRPr lang="en-US" sz="1100" b="0" i="0" u="none" strike="noStrike">
                        <a:solidFill>
                          <a:srgbClr val="000000"/>
                        </a:solidFill>
                        <a:effectLst/>
                        <a:latin typeface="Poppins SemiBold" panose="00000700000000000000" pitchFamily="2" charset="0"/>
                      </a:endParaRP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$12,043,633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60.0%</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  55% - 80%</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027961667"/>
                  </a:ext>
                </a:extLst>
              </a:tr>
              <a:tr h="176409">
                <a:tc>
                  <a:txBody>
                    <a:bodyPr/>
                    <a:lstStyle/>
                    <a:p>
                      <a:pPr algn="l" rtl="0" fontAlgn="b"/>
                      <a:r>
                        <a:rPr lang="en-US" sz="1100" b="0" i="0" u="none" strike="noStrike">
                          <a:solidFill>
                            <a:srgbClr val="000000"/>
                          </a:solidFill>
                          <a:effectLst/>
                          <a:latin typeface="Poppins SemiBold" panose="00000700000000000000" pitchFamily="2" charset="0"/>
                        </a:rPr>
                        <a:t> HIGH YIELD BONDS</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$3,648,570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18.2%</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  5% - 20%</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236834695"/>
                  </a:ext>
                </a:extLst>
              </a:tr>
              <a:tr h="162281">
                <a:tc>
                  <a:txBody>
                    <a:bodyPr/>
                    <a:lstStyle/>
                    <a:p>
                      <a:pPr algn="l" rtl="0" fontAlgn="b"/>
                      <a:r>
                        <a:rPr lang="en-US" sz="1050" b="0" i="1" u="none" strike="noStrike">
                          <a:solidFill>
                            <a:srgbClr val="000000"/>
                          </a:solidFill>
                          <a:effectLst/>
                          <a:latin typeface="Poppins" panose="00000500000000000000" pitchFamily="2" charset="0"/>
                        </a:rPr>
                        <a:t>        </a:t>
                      </a:r>
                      <a:r>
                        <a:rPr lang="en-US" sz="1050" b="0" i="1" u="none" strike="noStrike">
                          <a:solidFill>
                            <a:srgbClr val="000000"/>
                          </a:solidFill>
                          <a:effectLst/>
                          <a:latin typeface="Wingdings" panose="05000000000000000000" pitchFamily="2" charset="2"/>
                        </a:rPr>
                        <a:t>à</a:t>
                      </a:r>
                      <a:r>
                        <a:rPr lang="en-US" sz="1050" b="0" i="1" u="none" strike="noStrike">
                          <a:solidFill>
                            <a:srgbClr val="000000"/>
                          </a:solidFill>
                          <a:effectLst/>
                          <a:latin typeface="Poppins" panose="00000500000000000000" pitchFamily="2" charset="0"/>
                        </a:rPr>
                        <a:t> XTRACKERS HIGH YIELD CORPORATE BOND ETF</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$1,738,663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8.7%</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2030273268"/>
                  </a:ext>
                </a:extLst>
              </a:tr>
              <a:tr h="162281">
                <a:tc>
                  <a:txBody>
                    <a:bodyPr/>
                    <a:lstStyle/>
                    <a:p>
                      <a:pPr algn="l" rtl="0" fontAlgn="b"/>
                      <a:r>
                        <a:rPr lang="en-US" sz="1050" b="0" i="1" u="none" strike="noStrike">
                          <a:solidFill>
                            <a:srgbClr val="000000"/>
                          </a:solidFill>
                          <a:effectLst/>
                          <a:latin typeface="Poppins" panose="00000500000000000000" pitchFamily="2" charset="0"/>
                        </a:rPr>
                        <a:t>        </a:t>
                      </a:r>
                      <a:r>
                        <a:rPr lang="en-US" sz="1050" b="0" i="1" u="none" strike="noStrike">
                          <a:solidFill>
                            <a:srgbClr val="000000"/>
                          </a:solidFill>
                          <a:effectLst/>
                          <a:latin typeface="Wingdings" panose="05000000000000000000" pitchFamily="2" charset="2"/>
                        </a:rPr>
                        <a:t>à</a:t>
                      </a:r>
                      <a:r>
                        <a:rPr lang="en-US" sz="1050" b="0" i="1" u="none" strike="noStrike">
                          <a:solidFill>
                            <a:srgbClr val="000000"/>
                          </a:solidFill>
                          <a:effectLst/>
                          <a:latin typeface="Poppins" panose="00000500000000000000" pitchFamily="2" charset="0"/>
                        </a:rPr>
                        <a:t> VANECK FALLEN ANGEL HIGH YIELD BOND ETF</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$1,909,908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9.5%</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781342324"/>
                  </a:ext>
                </a:extLst>
              </a:tr>
              <a:tr h="176409">
                <a:tc>
                  <a:txBody>
                    <a:bodyPr/>
                    <a:lstStyle/>
                    <a:p>
                      <a:pPr algn="l" rtl="0" fontAlgn="b"/>
                      <a:r>
                        <a:rPr lang="en-US" sz="1100" b="0" i="0" u="none" strike="noStrike">
                          <a:solidFill>
                            <a:srgbClr val="000000"/>
                          </a:solidFill>
                          <a:effectLst/>
                          <a:latin typeface="Poppins SemiBold" panose="00000700000000000000" pitchFamily="2" charset="0"/>
                        </a:rPr>
                        <a:t> EQUITIES</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$4,214,297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21.0%</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  15% - 25%</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405246768"/>
                  </a:ext>
                </a:extLst>
              </a:tr>
              <a:tr h="162281">
                <a:tc>
                  <a:txBody>
                    <a:bodyPr/>
                    <a:lstStyle/>
                    <a:p>
                      <a:pPr algn="l" rtl="0" fontAlgn="b"/>
                      <a:r>
                        <a:rPr lang="pt-BR" sz="1050" b="0" i="1" u="none" strike="noStrike">
                          <a:solidFill>
                            <a:srgbClr val="000000"/>
                          </a:solidFill>
                          <a:effectLst/>
                          <a:latin typeface="Poppins" panose="00000500000000000000" pitchFamily="2" charset="0"/>
                        </a:rPr>
                        <a:t>        </a:t>
                      </a:r>
                      <a:r>
                        <a:rPr lang="pt-BR" sz="1050" b="0" i="1" u="none" strike="noStrike">
                          <a:solidFill>
                            <a:srgbClr val="000000"/>
                          </a:solidFill>
                          <a:effectLst/>
                          <a:latin typeface="Wingdings" panose="05000000000000000000" pitchFamily="2" charset="2"/>
                        </a:rPr>
                        <a:t>à</a:t>
                      </a:r>
                      <a:r>
                        <a:rPr lang="pt-BR" sz="1050" b="0" i="1" u="none" strike="noStrike">
                          <a:solidFill>
                            <a:srgbClr val="000000"/>
                          </a:solidFill>
                          <a:effectLst/>
                          <a:latin typeface="Poppins" panose="00000500000000000000" pitchFamily="2" charset="0"/>
                        </a:rPr>
                        <a:t> VANGUARD S&amp;P 500 ETF</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$1,728,811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8.6%</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2919567473"/>
                  </a:ext>
                </a:extLst>
              </a:tr>
              <a:tr h="162281">
                <a:tc>
                  <a:txBody>
                    <a:bodyPr/>
                    <a:lstStyle/>
                    <a:p>
                      <a:pPr algn="l" rtl="0" fontAlgn="b"/>
                      <a:r>
                        <a:rPr lang="en-US" sz="1050" b="0" i="1" u="none" strike="noStrike">
                          <a:solidFill>
                            <a:srgbClr val="000000"/>
                          </a:solidFill>
                          <a:effectLst/>
                          <a:latin typeface="Poppins" panose="00000500000000000000" pitchFamily="2" charset="0"/>
                        </a:rPr>
                        <a:t>        </a:t>
                      </a:r>
                      <a:r>
                        <a:rPr lang="en-US" sz="1050" b="0" i="1" u="none" strike="noStrike">
                          <a:solidFill>
                            <a:srgbClr val="000000"/>
                          </a:solidFill>
                          <a:effectLst/>
                          <a:latin typeface="Wingdings" panose="05000000000000000000" pitchFamily="2" charset="2"/>
                        </a:rPr>
                        <a:t>à</a:t>
                      </a:r>
                      <a:r>
                        <a:rPr lang="en-US" sz="1050" b="0" i="1" u="none" strike="noStrike">
                          <a:solidFill>
                            <a:srgbClr val="000000"/>
                          </a:solidFill>
                          <a:effectLst/>
                          <a:latin typeface="Poppins" panose="00000500000000000000" pitchFamily="2" charset="0"/>
                        </a:rPr>
                        <a:t> VANGUARD MID-CAP ETF</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$1,724,737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8.6%</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4135571132"/>
                  </a:ext>
                </a:extLst>
              </a:tr>
              <a:tr h="162281">
                <a:tc>
                  <a:txBody>
                    <a:bodyPr/>
                    <a:lstStyle/>
                    <a:p>
                      <a:pPr algn="l" rtl="0" fontAlgn="b"/>
                      <a:r>
                        <a:rPr lang="en-US" sz="1050" b="0" i="1" u="none" strike="noStrike">
                          <a:solidFill>
                            <a:srgbClr val="000000"/>
                          </a:solidFill>
                          <a:effectLst/>
                          <a:latin typeface="Poppins" panose="00000500000000000000" pitchFamily="2" charset="0"/>
                        </a:rPr>
                        <a:t>        </a:t>
                      </a:r>
                      <a:r>
                        <a:rPr lang="en-US" sz="1050" b="0" i="1" u="none" strike="noStrike">
                          <a:solidFill>
                            <a:srgbClr val="000000"/>
                          </a:solidFill>
                          <a:effectLst/>
                          <a:latin typeface="Wingdings" panose="05000000000000000000" pitchFamily="2" charset="2"/>
                        </a:rPr>
                        <a:t>à</a:t>
                      </a:r>
                      <a:r>
                        <a:rPr lang="en-US" sz="1050" b="0" i="1" u="none" strike="noStrike">
                          <a:solidFill>
                            <a:srgbClr val="000000"/>
                          </a:solidFill>
                          <a:effectLst/>
                          <a:latin typeface="Poppins" panose="00000500000000000000" pitchFamily="2" charset="0"/>
                        </a:rPr>
                        <a:t> ISHARES CORE S&amp;P SMALL-CAP ETF</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$760,750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3.8%</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571587706"/>
                  </a:ext>
                </a:extLst>
              </a:tr>
              <a:tr h="176409">
                <a:tc>
                  <a:txBody>
                    <a:bodyPr/>
                    <a:lstStyle/>
                    <a:p>
                      <a:pPr algn="l" rtl="0" fontAlgn="b"/>
                      <a:r>
                        <a:rPr lang="en-US" sz="1100" b="0" i="0" u="none" strike="noStrike">
                          <a:solidFill>
                            <a:srgbClr val="000000"/>
                          </a:solidFill>
                          <a:effectLst/>
                          <a:latin typeface="Poppins SemiBold" panose="00000700000000000000" pitchFamily="2" charset="0"/>
                        </a:rPr>
                        <a:t> MUTUAL FUNDS</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$155,330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0" u="none" strike="noStrike">
                          <a:solidFill>
                            <a:srgbClr val="000000"/>
                          </a:solidFill>
                          <a:effectLst/>
                          <a:latin typeface="Poppins SemiBold" panose="00000700000000000000" pitchFamily="2" charset="0"/>
                        </a:rPr>
                        <a:t>0.8%</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2681317818"/>
                  </a:ext>
                </a:extLst>
              </a:tr>
              <a:tr h="162281">
                <a:tc>
                  <a:txBody>
                    <a:bodyPr/>
                    <a:lstStyle/>
                    <a:p>
                      <a:pPr algn="l" rtl="0" fontAlgn="b"/>
                      <a:r>
                        <a:rPr lang="en-US" sz="1050" b="0" i="1" u="none" strike="noStrike">
                          <a:solidFill>
                            <a:srgbClr val="000000"/>
                          </a:solidFill>
                          <a:effectLst/>
                          <a:latin typeface="Poppins" panose="00000500000000000000" pitchFamily="2" charset="0"/>
                        </a:rPr>
                        <a:t>        </a:t>
                      </a:r>
                      <a:r>
                        <a:rPr lang="en-US" sz="1050" b="0" i="1" u="none" strike="noStrike">
                          <a:solidFill>
                            <a:srgbClr val="000000"/>
                          </a:solidFill>
                          <a:effectLst/>
                          <a:latin typeface="Wingdings" panose="05000000000000000000" pitchFamily="2" charset="2"/>
                        </a:rPr>
                        <a:t>à </a:t>
                      </a:r>
                      <a:r>
                        <a:rPr lang="en-US" sz="1050" b="0" i="1" u="none" strike="noStrike">
                          <a:solidFill>
                            <a:srgbClr val="000000"/>
                          </a:solidFill>
                          <a:effectLst/>
                          <a:latin typeface="Poppins" panose="00000500000000000000" pitchFamily="2" charset="0"/>
                        </a:rPr>
                        <a:t>FIRST AMERICAN TREASURY OBLIGATIONS FUND</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$155,330 </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0.8%</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050" b="0" i="1" u="none" strike="noStrike">
                          <a:solidFill>
                            <a:srgbClr val="000000"/>
                          </a:solidFill>
                          <a:effectLst/>
                          <a:latin typeface="Poppins" panose="00000500000000000000" pitchFamily="2" charset="0"/>
                        </a:rPr>
                        <a:t>---</a:t>
                      </a:r>
                    </a:p>
                  </a:txBody>
                  <a:tcPr marL="7410" marR="7410" marT="741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149449020"/>
                  </a:ext>
                </a:extLst>
              </a:tr>
              <a:tr h="176409">
                <a:tc>
                  <a:txBody>
                    <a:bodyPr/>
                    <a:lstStyle/>
                    <a:p>
                      <a:pPr algn="l" rtl="0" fontAlgn="b"/>
                      <a:r>
                        <a:rPr lang="en-US" sz="1100" b="0" i="0" u="none" strike="noStrike">
                          <a:solidFill>
                            <a:srgbClr val="000000"/>
                          </a:solidFill>
                          <a:effectLst/>
                          <a:latin typeface="Poppins SemiBold" panose="00000700000000000000" pitchFamily="2" charset="0"/>
                        </a:rPr>
                        <a:t>TOTAL</a:t>
                      </a:r>
                    </a:p>
                  </a:txBody>
                  <a:tcPr marL="7410" marR="7410" marT="7410" marB="0" anchor="b">
                    <a:lnL>
                      <a:noFill/>
                    </a:lnL>
                    <a:lnR>
                      <a:noFill/>
                    </a:lnR>
                    <a:lnT w="12700" cap="flat" cmpd="sng" algn="ctr">
                      <a:solidFill>
                        <a:srgbClr val="A6A6A6"/>
                      </a:solidFill>
                      <a:prstDash val="solid"/>
                      <a:round/>
                      <a:headEnd type="none" w="med" len="med"/>
                      <a:tailEnd type="none" w="med" len="med"/>
                    </a:lnT>
                    <a:lnB>
                      <a:noFill/>
                    </a:lnB>
                  </a:tcPr>
                </a:tc>
                <a:tc>
                  <a:txBody>
                    <a:bodyPr/>
                    <a:lstStyle/>
                    <a:p>
                      <a:pPr algn="ctr" rtl="0" fontAlgn="b"/>
                      <a:r>
                        <a:rPr lang="en-US" sz="1100" b="0" i="0" u="none" strike="noStrike">
                          <a:solidFill>
                            <a:srgbClr val="000000"/>
                          </a:solidFill>
                          <a:effectLst/>
                          <a:latin typeface="Poppins SemiBold" panose="00000700000000000000" pitchFamily="2" charset="0"/>
                        </a:rPr>
                        <a:t>$20,077,933 </a:t>
                      </a:r>
                    </a:p>
                  </a:txBody>
                  <a:tcPr marL="7410" marR="7410" marT="7410" marB="0" anchor="b">
                    <a:lnL>
                      <a:noFill/>
                    </a:lnL>
                    <a:lnR>
                      <a:noFill/>
                    </a:lnR>
                    <a:lnT w="12700" cap="flat" cmpd="sng" algn="ctr">
                      <a:solidFill>
                        <a:srgbClr val="A6A6A6"/>
                      </a:solidFill>
                      <a:prstDash val="solid"/>
                      <a:round/>
                      <a:headEnd type="none" w="med" len="med"/>
                      <a:tailEnd type="none" w="med" len="med"/>
                    </a:lnT>
                    <a:lnB>
                      <a:noFill/>
                    </a:lnB>
                  </a:tcPr>
                </a:tc>
                <a:tc>
                  <a:txBody>
                    <a:bodyPr/>
                    <a:lstStyle/>
                    <a:p>
                      <a:pPr algn="ctr" rtl="0" fontAlgn="b"/>
                      <a:r>
                        <a:rPr lang="en-US" sz="1100" b="0" i="0" u="none" strike="noStrike">
                          <a:solidFill>
                            <a:srgbClr val="000000"/>
                          </a:solidFill>
                          <a:effectLst/>
                          <a:latin typeface="Poppins SemiBold" panose="00000700000000000000" pitchFamily="2" charset="0"/>
                        </a:rPr>
                        <a:t>100.0%</a:t>
                      </a:r>
                    </a:p>
                  </a:txBody>
                  <a:tcPr marL="7410" marR="7410" marT="7410" marB="0" anchor="b">
                    <a:lnL>
                      <a:noFill/>
                    </a:lnL>
                    <a:lnR>
                      <a:noFill/>
                    </a:lnR>
                    <a:lnT w="12700" cap="flat" cmpd="sng" algn="ctr">
                      <a:solidFill>
                        <a:srgbClr val="A6A6A6"/>
                      </a:solidFill>
                      <a:prstDash val="solid"/>
                      <a:round/>
                      <a:headEnd type="none" w="med" len="med"/>
                      <a:tailEnd type="none" w="med" len="med"/>
                    </a:lnT>
                    <a:lnB>
                      <a:noFill/>
                    </a:lnB>
                  </a:tcPr>
                </a:tc>
                <a:tc>
                  <a:txBody>
                    <a:bodyPr/>
                    <a:lstStyle/>
                    <a:p>
                      <a:pPr algn="ctr" rtl="0" fontAlgn="b"/>
                      <a:r>
                        <a:rPr lang="en-US" sz="1100" b="0" i="0" u="none" strike="noStrike">
                          <a:solidFill>
                            <a:srgbClr val="000000"/>
                          </a:solidFill>
                          <a:effectLst/>
                          <a:latin typeface="Poppins SemiBold" panose="00000700000000000000" pitchFamily="2" charset="0"/>
                        </a:rPr>
                        <a:t> ---</a:t>
                      </a:r>
                    </a:p>
                  </a:txBody>
                  <a:tcPr marL="7410" marR="7410" marT="7410" marB="0" anchor="b">
                    <a:lnL>
                      <a:noFill/>
                    </a:lnL>
                    <a:lnR>
                      <a:noFill/>
                    </a:lnR>
                    <a:lnT w="12700" cap="flat" cmpd="sng" algn="ctr">
                      <a:solidFill>
                        <a:srgbClr val="A6A6A6"/>
                      </a:solidFill>
                      <a:prstDash val="solid"/>
                      <a:round/>
                      <a:headEnd type="none" w="med" len="med"/>
                      <a:tailEnd type="none" w="med" len="med"/>
                    </a:lnT>
                    <a:lnB>
                      <a:noFill/>
                    </a:lnB>
                  </a:tcPr>
                </a:tc>
                <a:extLst>
                  <a:ext uri="{0D108BD9-81ED-4DB2-BD59-A6C34878D82A}">
                    <a16:rowId xmlns:a16="http://schemas.microsoft.com/office/drawing/2014/main" val="1228615155"/>
                  </a:ext>
                </a:extLst>
              </a:tr>
            </a:tbl>
          </a:graphicData>
        </a:graphic>
      </p:graphicFrame>
      <p:graphicFrame>
        <p:nvGraphicFramePr>
          <p:cNvPr id="27" name="Chart 26" hidden="1">
            <a:extLst>
              <a:ext uri="{FF2B5EF4-FFF2-40B4-BE49-F238E27FC236}">
                <a16:creationId xmlns:a16="http://schemas.microsoft.com/office/drawing/2014/main" id="{A2C5EF19-4B2D-4CF5-9B90-3FA7D83A342D}"/>
              </a:ext>
            </a:extLst>
          </p:cNvPr>
          <p:cNvGraphicFramePr>
            <a:graphicFrameLocks/>
          </p:cNvGraphicFramePr>
          <p:nvPr>
            <p:extLst>
              <p:ext uri="{D42A27DB-BD31-4B8C-83A1-F6EECF244321}">
                <p14:modId xmlns:p14="http://schemas.microsoft.com/office/powerpoint/2010/main" val="1618278757"/>
              </p:ext>
            </p:extLst>
          </p:nvPr>
        </p:nvGraphicFramePr>
        <p:xfrm>
          <a:off x="-1590590" y="1172295"/>
          <a:ext cx="10734590" cy="3429001"/>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3" name="ORIGINAL AUGUST W BNCHMK TG" hidden="1">
            <a:extLst>
              <a:ext uri="{FF2B5EF4-FFF2-40B4-BE49-F238E27FC236}">
                <a16:creationId xmlns:a16="http://schemas.microsoft.com/office/drawing/2014/main" id="{CBDAE0EB-ED82-4E3F-84E2-E3F7C07E13B2}"/>
              </a:ext>
            </a:extLst>
          </p:cNvPr>
          <p:cNvGraphicFramePr>
            <a:graphicFrameLocks noGrp="1"/>
          </p:cNvGraphicFramePr>
          <p:nvPr>
            <p:extLst>
              <p:ext uri="{D42A27DB-BD31-4B8C-83A1-F6EECF244321}">
                <p14:modId xmlns:p14="http://schemas.microsoft.com/office/powerpoint/2010/main" val="2345440021"/>
              </p:ext>
            </p:extLst>
          </p:nvPr>
        </p:nvGraphicFramePr>
        <p:xfrm>
          <a:off x="365760" y="4372764"/>
          <a:ext cx="8544966" cy="2151865"/>
        </p:xfrm>
        <a:graphic>
          <a:graphicData uri="http://schemas.openxmlformats.org/drawingml/2006/table">
            <a:tbl>
              <a:tblPr/>
              <a:tblGrid>
                <a:gridCol w="3798087">
                  <a:extLst>
                    <a:ext uri="{9D8B030D-6E8A-4147-A177-3AD203B41FA5}">
                      <a16:colId xmlns:a16="http://schemas.microsoft.com/office/drawing/2014/main" val="4141239875"/>
                    </a:ext>
                  </a:extLst>
                </a:gridCol>
                <a:gridCol w="1237095">
                  <a:extLst>
                    <a:ext uri="{9D8B030D-6E8A-4147-A177-3AD203B41FA5}">
                      <a16:colId xmlns:a16="http://schemas.microsoft.com/office/drawing/2014/main" val="146247995"/>
                    </a:ext>
                  </a:extLst>
                </a:gridCol>
                <a:gridCol w="1213503">
                  <a:extLst>
                    <a:ext uri="{9D8B030D-6E8A-4147-A177-3AD203B41FA5}">
                      <a16:colId xmlns:a16="http://schemas.microsoft.com/office/drawing/2014/main" val="4278554380"/>
                    </a:ext>
                  </a:extLst>
                </a:gridCol>
                <a:gridCol w="1145136">
                  <a:extLst>
                    <a:ext uri="{9D8B030D-6E8A-4147-A177-3AD203B41FA5}">
                      <a16:colId xmlns:a16="http://schemas.microsoft.com/office/drawing/2014/main" val="1815862167"/>
                    </a:ext>
                  </a:extLst>
                </a:gridCol>
                <a:gridCol w="1151145">
                  <a:extLst>
                    <a:ext uri="{9D8B030D-6E8A-4147-A177-3AD203B41FA5}">
                      <a16:colId xmlns:a16="http://schemas.microsoft.com/office/drawing/2014/main" val="2779343819"/>
                    </a:ext>
                  </a:extLst>
                </a:gridCol>
              </a:tblGrid>
              <a:tr h="399400">
                <a:tc>
                  <a:txBody>
                    <a:bodyPr/>
                    <a:lstStyle/>
                    <a:p>
                      <a:pPr algn="ctr" rtl="0" fontAlgn="ctr"/>
                      <a:r>
                        <a:rPr lang="en-US" sz="1200" b="0" i="0" u="none" strike="noStrike">
                          <a:solidFill>
                            <a:srgbClr val="FFFFFF"/>
                          </a:solidFill>
                          <a:effectLst/>
                          <a:latin typeface="Poppins" panose="00000500000000000000" pitchFamily="2" charset="0"/>
                        </a:rPr>
                        <a:t>STRATEGY</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rPr>
                        <a:t>MARKET </a:t>
                      </a:r>
                    </a:p>
                    <a:p>
                      <a:pPr algn="ctr" rtl="0" fontAlgn="ctr"/>
                      <a:r>
                        <a:rPr lang="en-US" sz="1200" b="0" i="0" u="none" strike="noStrike">
                          <a:solidFill>
                            <a:srgbClr val="FFFFFF"/>
                          </a:solidFill>
                          <a:effectLst/>
                          <a:latin typeface="Poppins" panose="00000500000000000000" pitchFamily="2" charset="0"/>
                        </a:rPr>
                        <a:t>VALUE</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rPr>
                        <a:t>ACTUAL ALLOCATION</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rPr>
                        <a:t>BENCHMARK</a:t>
                      </a:r>
                    </a:p>
                    <a:p>
                      <a:pPr algn="ctr" rtl="0" fontAlgn="ctr"/>
                      <a:r>
                        <a:rPr lang="en-US" sz="1200" b="0" i="0" u="none" strike="noStrike">
                          <a:solidFill>
                            <a:srgbClr val="FFFFFF"/>
                          </a:solidFill>
                          <a:effectLst/>
                          <a:latin typeface="Poppins" panose="00000500000000000000" pitchFamily="2" charset="0"/>
                        </a:rPr>
                        <a:t>TARGET</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rPr>
                        <a:t>TARGET </a:t>
                      </a:r>
                    </a:p>
                    <a:p>
                      <a:pPr algn="ctr" rtl="0" fontAlgn="ctr"/>
                      <a:r>
                        <a:rPr lang="en-US" sz="1200" b="0" i="0" u="none" strike="noStrike">
                          <a:solidFill>
                            <a:srgbClr val="FFFFFF"/>
                          </a:solidFill>
                          <a:effectLst/>
                          <a:latin typeface="Poppins" panose="00000500000000000000" pitchFamily="2" charset="0"/>
                        </a:rPr>
                        <a:t>RANGE</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extLst>
                  <a:ext uri="{0D108BD9-81ED-4DB2-BD59-A6C34878D82A}">
                    <a16:rowId xmlns:a16="http://schemas.microsoft.com/office/drawing/2014/main" val="3949040717"/>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CASH &amp;  INVESTMENT GRADE BONDS</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$56,366,317 </a:t>
                      </a:r>
                    </a:p>
                  </a:txBody>
                  <a:tcPr marL="7620" marR="7620" marT="7620"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64.6%</a:t>
                      </a:r>
                    </a:p>
                  </a:txBody>
                  <a:tcPr marL="7620" marR="7620" marT="7620"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$56,366,317 </a:t>
                      </a:r>
                    </a:p>
                  </a:txBody>
                  <a:tcPr marL="7620" marR="7620" marT="7620"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  55% - 80%</a:t>
                      </a:r>
                    </a:p>
                  </a:txBody>
                  <a:tcPr marL="7620" marR="7620" marT="7620"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475043024"/>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HIGH YIELD BONDS</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$16,191,849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18.6%</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$16,191,849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  5% - 20%</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780276897"/>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XTRACKERS HIGH YIELD CORPORATE BOND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$7,641,578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8.8%</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$7,641,578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1094128980"/>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VANECK FALLEN ANGEL HIGH YIELD BOND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$8,550,272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9.8%</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$8,550,272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3673707844"/>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EQUITIES</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$14,656,125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16.8%</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$14,656,125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  15% - 25%</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380642247"/>
                  </a:ext>
                </a:extLst>
              </a:tr>
              <a:tr h="187473">
                <a:tc>
                  <a:txBody>
                    <a:bodyPr/>
                    <a:lstStyle/>
                    <a:p>
                      <a:pPr algn="l" rtl="0" fontAlgn="b"/>
                      <a:r>
                        <a:rPr lang="pt-BR" sz="1100" b="0" i="1" u="none" strike="noStrike">
                          <a:solidFill>
                            <a:srgbClr val="000000"/>
                          </a:solidFill>
                          <a:effectLst/>
                          <a:latin typeface="Poppins" panose="00000500000000000000" pitchFamily="2" charset="0"/>
                        </a:rPr>
                        <a:t>        </a:t>
                      </a:r>
                      <a:r>
                        <a:rPr lang="pt-BR" sz="1100" b="0" i="1" u="none" strike="noStrike">
                          <a:solidFill>
                            <a:srgbClr val="000000"/>
                          </a:solidFill>
                          <a:effectLst/>
                          <a:latin typeface="Wingdings" panose="05000000000000000000" pitchFamily="2" charset="2"/>
                        </a:rPr>
                        <a:t>à</a:t>
                      </a:r>
                      <a:r>
                        <a:rPr lang="pt-BR" sz="1100" b="0" i="1" u="none" strike="noStrike">
                          <a:solidFill>
                            <a:srgbClr val="000000"/>
                          </a:solidFill>
                          <a:effectLst/>
                          <a:latin typeface="Poppins" panose="00000500000000000000" pitchFamily="2" charset="0"/>
                        </a:rPr>
                        <a:t> VANGUARD S&amp;P 500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$3,847,574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4.4%</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$3,847,574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1901160617"/>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VANGUARD MID-CAP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$7,235,999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8.3%</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$7,235,999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4041257072"/>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ISHARES CORE S&amp;P SMALL-CAP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$3,572,552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4.1%</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$3,572,552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3995560675"/>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TOTAL</a:t>
                      </a:r>
                    </a:p>
                  </a:txBody>
                  <a:tcPr marL="7620" marR="7620" marT="7620" marB="0" anchor="ctr">
                    <a:lnL>
                      <a:noFill/>
                    </a:lnL>
                    <a:lnR>
                      <a:noFill/>
                    </a:lnR>
                    <a:lnT w="12700" cap="flat" cmpd="sng" algn="ctr">
                      <a:solidFill>
                        <a:srgbClr val="A6A6A6"/>
                      </a:solidFill>
                      <a:prstDash val="solid"/>
                      <a:round/>
                      <a:headEnd type="none" w="med" len="med"/>
                      <a:tailEnd type="none" w="med" len="med"/>
                    </a:lnT>
                    <a:lnB>
                      <a:noFill/>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$87,214,291 </a:t>
                      </a:r>
                    </a:p>
                  </a:txBody>
                  <a:tcPr marL="7620" marR="7620" marT="7620" marB="0" anchor="b">
                    <a:lnL>
                      <a:noFill/>
                    </a:lnL>
                    <a:lnR>
                      <a:noFill/>
                    </a:lnR>
                    <a:lnT w="12700" cap="flat" cmpd="sng" algn="ctr">
                      <a:solidFill>
                        <a:srgbClr val="A6A6A6"/>
                      </a:solidFill>
                      <a:prstDash val="solid"/>
                      <a:round/>
                      <a:headEnd type="none" w="med" len="med"/>
                      <a:tailEnd type="none" w="med" len="med"/>
                    </a:lnT>
                    <a:lnB>
                      <a:noFill/>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100.0%</a:t>
                      </a:r>
                    </a:p>
                  </a:txBody>
                  <a:tcPr marL="7620" marR="7620" marT="7620" marB="0" anchor="b">
                    <a:lnL>
                      <a:noFill/>
                    </a:lnL>
                    <a:lnR>
                      <a:noFill/>
                    </a:lnR>
                    <a:lnT w="12700" cap="flat" cmpd="sng" algn="ctr">
                      <a:solidFill>
                        <a:srgbClr val="A6A6A6"/>
                      </a:solidFill>
                      <a:prstDash val="solid"/>
                      <a:round/>
                      <a:headEnd type="none" w="med" len="med"/>
                      <a:tailEnd type="none" w="med" len="med"/>
                    </a:lnT>
                    <a:lnB>
                      <a:noFill/>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$87,214,291 </a:t>
                      </a:r>
                    </a:p>
                  </a:txBody>
                  <a:tcPr marL="7620" marR="7620" marT="7620" marB="0" anchor="b">
                    <a:lnL>
                      <a:noFill/>
                    </a:lnL>
                    <a:lnR>
                      <a:noFill/>
                    </a:lnR>
                    <a:lnT w="12700" cap="flat" cmpd="sng" algn="ctr">
                      <a:solidFill>
                        <a:srgbClr val="A6A6A6"/>
                      </a:solidFill>
                      <a:prstDash val="solid"/>
                      <a:round/>
                      <a:headEnd type="none" w="med" len="med"/>
                      <a:tailEnd type="none" w="med" len="med"/>
                    </a:lnT>
                    <a:lnB>
                      <a:noFill/>
                    </a:lnB>
                    <a:solidFill>
                      <a:schemeClr val="bg1"/>
                    </a:solidFill>
                  </a:tcPr>
                </a:tc>
                <a:tc>
                  <a:txBody>
                    <a:bodyPr/>
                    <a:lstStyle/>
                    <a:p>
                      <a:pPr algn="ctr" rtl="0" fontAlgn="b"/>
                      <a:r>
                        <a:rPr lang="en-US" sz="1200" b="0" i="0" u="none" strike="noStrike">
                          <a:solidFill>
                            <a:srgbClr val="000000"/>
                          </a:solidFill>
                          <a:effectLst/>
                          <a:latin typeface="Poppins SemiBold" panose="00000700000000000000" pitchFamily="2" charset="0"/>
                        </a:rPr>
                        <a:t> ---</a:t>
                      </a:r>
                    </a:p>
                  </a:txBody>
                  <a:tcPr marL="7620" marR="7620" marT="7620" marB="0" anchor="b">
                    <a:lnL>
                      <a:noFill/>
                    </a:lnL>
                    <a:lnR>
                      <a:noFill/>
                    </a:lnR>
                    <a:lnT w="12700" cap="flat" cmpd="sng" algn="ctr">
                      <a:solidFill>
                        <a:srgbClr val="A6A6A6"/>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896603383"/>
                  </a:ext>
                </a:extLst>
              </a:tr>
            </a:tbl>
          </a:graphicData>
        </a:graphic>
      </p:graphicFrame>
      <p:graphicFrame>
        <p:nvGraphicFramePr>
          <p:cNvPr id="18" name="Table 17">
            <a:extLst>
              <a:ext uri="{FF2B5EF4-FFF2-40B4-BE49-F238E27FC236}">
                <a16:creationId xmlns:a16="http://schemas.microsoft.com/office/drawing/2014/main" id="{1F04137B-2509-DD49-15FD-D184414CC774}"/>
              </a:ext>
            </a:extLst>
          </p:cNvPr>
          <p:cNvGraphicFramePr>
            <a:graphicFrameLocks noGrp="1"/>
          </p:cNvGraphicFramePr>
          <p:nvPr>
            <p:extLst>
              <p:ext uri="{D42A27DB-BD31-4B8C-83A1-F6EECF244321}">
                <p14:modId xmlns:p14="http://schemas.microsoft.com/office/powerpoint/2010/main" val="1028854519"/>
              </p:ext>
            </p:extLst>
          </p:nvPr>
        </p:nvGraphicFramePr>
        <p:xfrm>
          <a:off x="365760" y="4363620"/>
          <a:ext cx="8412479" cy="2151865"/>
        </p:xfrm>
        <a:graphic>
          <a:graphicData uri="http://schemas.openxmlformats.org/drawingml/2006/table">
            <a:tbl>
              <a:tblPr/>
              <a:tblGrid>
                <a:gridCol w="3739199">
                  <a:extLst>
                    <a:ext uri="{9D8B030D-6E8A-4147-A177-3AD203B41FA5}">
                      <a16:colId xmlns:a16="http://schemas.microsoft.com/office/drawing/2014/main" val="4141239875"/>
                    </a:ext>
                  </a:extLst>
                </a:gridCol>
                <a:gridCol w="1217914">
                  <a:extLst>
                    <a:ext uri="{9D8B030D-6E8A-4147-A177-3AD203B41FA5}">
                      <a16:colId xmlns:a16="http://schemas.microsoft.com/office/drawing/2014/main" val="146247995"/>
                    </a:ext>
                  </a:extLst>
                </a:gridCol>
                <a:gridCol w="1023063">
                  <a:extLst>
                    <a:ext uri="{9D8B030D-6E8A-4147-A177-3AD203B41FA5}">
                      <a16:colId xmlns:a16="http://schemas.microsoft.com/office/drawing/2014/main" val="4278554380"/>
                    </a:ext>
                  </a:extLst>
                </a:gridCol>
                <a:gridCol w="1103376">
                  <a:extLst>
                    <a:ext uri="{9D8B030D-6E8A-4147-A177-3AD203B41FA5}">
                      <a16:colId xmlns:a16="http://schemas.microsoft.com/office/drawing/2014/main" val="1815862167"/>
                    </a:ext>
                  </a:extLst>
                </a:gridCol>
                <a:gridCol w="1328927">
                  <a:extLst>
                    <a:ext uri="{9D8B030D-6E8A-4147-A177-3AD203B41FA5}">
                      <a16:colId xmlns:a16="http://schemas.microsoft.com/office/drawing/2014/main" val="2779343819"/>
                    </a:ext>
                  </a:extLst>
                </a:gridCol>
              </a:tblGrid>
              <a:tr h="399400">
                <a:tc>
                  <a:txBody>
                    <a:bodyPr/>
                    <a:lstStyle/>
                    <a:p>
                      <a:pPr algn="ctr" rtl="0" fontAlgn="ctr"/>
                      <a:r>
                        <a:rPr lang="en-US" sz="1200" b="0" i="0" u="none" strike="noStrike">
                          <a:solidFill>
                            <a:srgbClr val="FFFFFF"/>
                          </a:solidFill>
                          <a:effectLst/>
                          <a:latin typeface="Poppins" panose="00000500000000000000" pitchFamily="2" charset="0"/>
                        </a:rPr>
                        <a:t>STRATEGY</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rPr>
                        <a:t>MARKET </a:t>
                      </a:r>
                    </a:p>
                    <a:p>
                      <a:pPr algn="ctr" rtl="0" fontAlgn="ctr"/>
                      <a:r>
                        <a:rPr lang="en-US" sz="1200" b="0" i="0" u="none" strike="noStrike">
                          <a:solidFill>
                            <a:srgbClr val="FFFFFF"/>
                          </a:solidFill>
                          <a:effectLst/>
                          <a:latin typeface="Poppins" panose="00000500000000000000" pitchFamily="2" charset="0"/>
                        </a:rPr>
                        <a:t>VALUE</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dirty="0">
                          <a:solidFill>
                            <a:srgbClr val="FFFFFF"/>
                          </a:solidFill>
                          <a:effectLst/>
                          <a:latin typeface="Poppins" panose="00000500000000000000" pitchFamily="2" charset="0"/>
                        </a:rPr>
                        <a:t>BENCHMARK</a:t>
                      </a:r>
                    </a:p>
                    <a:p>
                      <a:pPr algn="ctr" rtl="0" fontAlgn="ctr"/>
                      <a:r>
                        <a:rPr lang="en-US" sz="1200" b="0" i="0" u="none" strike="noStrike" dirty="0">
                          <a:solidFill>
                            <a:srgbClr val="FFFFFF"/>
                          </a:solidFill>
                          <a:effectLst/>
                          <a:latin typeface="Poppins" panose="00000500000000000000" pitchFamily="2" charset="0"/>
                        </a:rPr>
                        <a:t>TARGET</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FFFFFF"/>
                          </a:solidFill>
                          <a:effectLst/>
                          <a:latin typeface="Poppins" panose="00000500000000000000" pitchFamily="2" charset="0"/>
                        </a:rPr>
                        <a:t>ACTUAL ALLOCATION</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buNone/>
                      </a:pPr>
                      <a:r>
                        <a:rPr lang="en-US" sz="1200" b="0" i="0" u="none" strike="noStrike">
                          <a:solidFill>
                            <a:srgbClr val="FFFFFF"/>
                          </a:solidFill>
                          <a:effectLst/>
                          <a:latin typeface="Poppins" panose="00000500000000000000" pitchFamily="2" charset="0"/>
                        </a:rPr>
                        <a:t>UNREALIZED NET GAIN/LOSS</a:t>
                      </a:r>
                    </a:p>
                  </a:txBody>
                  <a:tcPr marL="0" marR="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extLst>
                  <a:ext uri="{0D108BD9-81ED-4DB2-BD59-A6C34878D82A}">
                    <a16:rowId xmlns:a16="http://schemas.microsoft.com/office/drawing/2014/main" val="3949040717"/>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CASH &amp; INVESTMENT GRADE BONDS</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200" b="0" i="0" u="none" strike="noStrike" kern="1200">
                          <a:solidFill>
                            <a:srgbClr val="000000"/>
                          </a:solidFill>
                          <a:effectLst/>
                          <a:latin typeface="Poppins SemiBold" panose="00000700000000000000" pitchFamily="2" charset="0"/>
                          <a:ea typeface="+mn-ea"/>
                          <a:cs typeface="+mn-cs"/>
                        </a:rPr>
                        <a:t>$113,609,348 </a:t>
                      </a: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200" b="0" i="0" u="none" strike="noStrike" kern="1200" dirty="0">
                          <a:solidFill>
                            <a:srgbClr val="000000"/>
                          </a:solidFill>
                          <a:effectLst/>
                          <a:latin typeface="Poppins SemiBold" panose="00000700000000000000" pitchFamily="2" charset="0"/>
                          <a:ea typeface="+mn-ea"/>
                          <a:cs typeface="+mn-cs"/>
                        </a:rPr>
                        <a:t>65.0%</a:t>
                      </a: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200" b="0" i="0" u="none" strike="noStrike" kern="1200" dirty="0">
                          <a:solidFill>
                            <a:srgbClr val="000000"/>
                          </a:solidFill>
                          <a:effectLst/>
                          <a:latin typeface="Poppins SemiBold" panose="00000700000000000000" pitchFamily="2" charset="0"/>
                          <a:ea typeface="+mn-ea"/>
                          <a:cs typeface="+mn-cs"/>
                        </a:rPr>
                        <a:t>64.7%</a:t>
                      </a: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200" b="0" i="0" u="none" strike="noStrike" kern="1200">
                          <a:solidFill>
                            <a:srgbClr val="000000"/>
                          </a:solidFill>
                          <a:effectLst/>
                          <a:latin typeface="Poppins SemiBold" panose="00000700000000000000" pitchFamily="2" charset="0"/>
                          <a:ea typeface="+mn-ea"/>
                          <a:cs typeface="+mn-cs"/>
                        </a:rPr>
                        <a:t>$1,297,790 </a:t>
                      </a: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475043024"/>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HIGH YIELD BONDS</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200" b="0" i="0" u="none" strike="noStrike" kern="1200">
                          <a:solidFill>
                            <a:srgbClr val="000000"/>
                          </a:solidFill>
                          <a:effectLst/>
                          <a:latin typeface="Poppins SemiBold" panose="00000700000000000000" pitchFamily="2" charset="0"/>
                          <a:ea typeface="+mn-ea"/>
                          <a:cs typeface="+mn-cs"/>
                        </a:rPr>
                        <a:t>$17,257,899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200" b="0" i="0" u="none" strike="noStrike" kern="1200">
                          <a:solidFill>
                            <a:srgbClr val="000000"/>
                          </a:solidFill>
                          <a:effectLst/>
                          <a:latin typeface="Poppins SemiBold" panose="00000700000000000000" pitchFamily="2" charset="0"/>
                          <a:ea typeface="+mn-ea"/>
                          <a:cs typeface="+mn-cs"/>
                        </a:rPr>
                        <a:t>10.0%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200" b="0" i="0" u="none" strike="noStrike" kern="1200">
                          <a:solidFill>
                            <a:srgbClr val="000000"/>
                          </a:solidFill>
                          <a:effectLst/>
                          <a:latin typeface="Poppins SemiBold" panose="00000700000000000000" pitchFamily="2" charset="0"/>
                          <a:ea typeface="+mn-ea"/>
                          <a:cs typeface="+mn-cs"/>
                        </a:rPr>
                        <a:t>9.8%</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200" b="0" i="0" u="none" strike="noStrike" kern="1200">
                          <a:solidFill>
                            <a:srgbClr val="000000"/>
                          </a:solidFill>
                          <a:effectLst/>
                          <a:latin typeface="Poppins SemiBold" panose="00000700000000000000" pitchFamily="2" charset="0"/>
                          <a:ea typeface="+mn-ea"/>
                          <a:cs typeface="+mn-cs"/>
                        </a:rPr>
                        <a:t>$620,506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780276897"/>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XTRACKERS HIGH YIELD CORPORATE BOND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$13,829,525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8.0%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7.9%</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$520,388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1094128980"/>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VANECK FALLEN ANGEL HIGH YIELD BOND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$3,428,374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2.0%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2.0%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$100,118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3673707844"/>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EQUITIES</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marL="0" algn="ctr" defTabSz="806867" rtl="0" eaLnBrk="1" fontAlgn="b" latinLnBrk="0" hangingPunct="1">
                        <a:buNone/>
                      </a:pPr>
                      <a:r>
                        <a:rPr lang="en-US" sz="1200" b="0" i="0" u="none" strike="noStrike" kern="1200">
                          <a:solidFill>
                            <a:srgbClr val="000000"/>
                          </a:solidFill>
                          <a:effectLst/>
                          <a:latin typeface="Poppins SemiBold" panose="00000700000000000000" pitchFamily="2" charset="0"/>
                          <a:ea typeface="+mn-ea"/>
                          <a:cs typeface="+mn-cs"/>
                        </a:rPr>
                        <a:t>$44,776,605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marL="0" algn="ctr" defTabSz="806867" rtl="0" eaLnBrk="1" fontAlgn="b" latinLnBrk="0" hangingPunct="1">
                        <a:buNone/>
                      </a:pPr>
                      <a:r>
                        <a:rPr lang="en-US" sz="1200" b="0" i="0" u="none" strike="noStrike" kern="1200">
                          <a:solidFill>
                            <a:srgbClr val="000000"/>
                          </a:solidFill>
                          <a:effectLst/>
                          <a:latin typeface="Poppins SemiBold" panose="00000700000000000000" pitchFamily="2" charset="0"/>
                          <a:ea typeface="+mn-ea"/>
                          <a:cs typeface="+mn-cs"/>
                        </a:rPr>
                        <a:t>25.0%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marL="0" algn="ctr" defTabSz="806867" rtl="0" eaLnBrk="1" fontAlgn="b" latinLnBrk="0" hangingPunct="1">
                        <a:buNone/>
                      </a:pPr>
                      <a:r>
                        <a:rPr lang="en-US" sz="1200" b="0" i="0" u="none" strike="noStrike" kern="1200">
                          <a:solidFill>
                            <a:srgbClr val="000000"/>
                          </a:solidFill>
                          <a:effectLst/>
                          <a:latin typeface="Poppins SemiBold" panose="00000700000000000000" pitchFamily="2" charset="0"/>
                          <a:ea typeface="+mn-ea"/>
                          <a:cs typeface="+mn-cs"/>
                        </a:rPr>
                        <a:t>25.5%</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marL="0" algn="ctr" defTabSz="806867" rtl="0" eaLnBrk="1" fontAlgn="b" latinLnBrk="0" hangingPunct="1">
                        <a:buNone/>
                      </a:pPr>
                      <a:r>
                        <a:rPr lang="en-US" sz="1200" b="0" i="0" u="none" strike="noStrike" kern="1200">
                          <a:solidFill>
                            <a:srgbClr val="000000"/>
                          </a:solidFill>
                          <a:effectLst/>
                          <a:latin typeface="Poppins SemiBold" panose="00000700000000000000" pitchFamily="2" charset="0"/>
                          <a:ea typeface="+mn-ea"/>
                          <a:cs typeface="+mn-cs"/>
                        </a:rPr>
                        <a:t>$9,037,079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380642247"/>
                  </a:ext>
                </a:extLst>
              </a:tr>
              <a:tr h="187473">
                <a:tc>
                  <a:txBody>
                    <a:bodyPr/>
                    <a:lstStyle/>
                    <a:p>
                      <a:pPr algn="l" rtl="0" fontAlgn="b"/>
                      <a:r>
                        <a:rPr lang="pt-BR" sz="1100" b="0" i="1" u="none" strike="noStrike" dirty="0">
                          <a:solidFill>
                            <a:srgbClr val="000000"/>
                          </a:solidFill>
                          <a:effectLst/>
                          <a:latin typeface="Poppins" panose="00000500000000000000" pitchFamily="2" charset="0"/>
                        </a:rPr>
                        <a:t>        </a:t>
                      </a:r>
                      <a:r>
                        <a:rPr lang="pt-BR" sz="1100" b="0" i="1" u="none" strike="noStrike" dirty="0">
                          <a:solidFill>
                            <a:srgbClr val="000000"/>
                          </a:solidFill>
                          <a:effectLst/>
                          <a:latin typeface="Wingdings" panose="05000000000000000000" pitchFamily="2" charset="2"/>
                        </a:rPr>
                        <a:t>à</a:t>
                      </a:r>
                      <a:r>
                        <a:rPr lang="pt-BR" sz="1100" b="0" i="1" u="none" strike="noStrike" dirty="0">
                          <a:solidFill>
                            <a:srgbClr val="000000"/>
                          </a:solidFill>
                          <a:effectLst/>
                          <a:latin typeface="Poppins" panose="00000500000000000000" pitchFamily="2" charset="0"/>
                        </a:rPr>
                        <a:t> VANGUARD S&amp;P 500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$18,195,030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10.0%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10.4%</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$4,540,415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1901160617"/>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VANGUARD MID-CAP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$17,523,189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10.0%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10.0%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$3,302,800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4041257072"/>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ISHARES CORE S&amp;P SMALL-CAP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$9,058,386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5.0%</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5.2%</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tc>
                  <a:txBody>
                    <a:bodyPr/>
                    <a:lstStyle/>
                    <a:p>
                      <a:pPr algn="ctr" fontAlgn="b">
                        <a:buNone/>
                      </a:pPr>
                      <a:r>
                        <a:rPr lang="en-US" sz="1100" b="0" i="1" u="none" strike="noStrike" kern="1200">
                          <a:solidFill>
                            <a:srgbClr val="000000"/>
                          </a:solidFill>
                          <a:effectLst/>
                          <a:latin typeface="Poppins" panose="00000500000000000000" pitchFamily="2" charset="0"/>
                          <a:ea typeface="+mn-ea"/>
                          <a:cs typeface="+mn-cs"/>
                        </a:rPr>
                        <a:t>$1,193,864 </a:t>
                      </a:r>
                    </a:p>
                  </a:txBody>
                  <a:tcPr marL="9525" marR="9525" marT="9525"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chemeClr val="bg1"/>
                    </a:solidFill>
                  </a:tcPr>
                </a:tc>
                <a:extLst>
                  <a:ext uri="{0D108BD9-81ED-4DB2-BD59-A6C34878D82A}">
                    <a16:rowId xmlns:a16="http://schemas.microsoft.com/office/drawing/2014/main" val="3995560675"/>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TOTAL</a:t>
                      </a:r>
                    </a:p>
                  </a:txBody>
                  <a:tcPr marL="7620" marR="7620" marT="7620" marB="0" anchor="ctr">
                    <a:lnL>
                      <a:noFill/>
                    </a:lnL>
                    <a:lnR>
                      <a:noFill/>
                    </a:lnR>
                    <a:lnT w="12700" cap="flat" cmpd="sng" algn="ctr">
                      <a:solidFill>
                        <a:srgbClr val="A6A6A6"/>
                      </a:solidFill>
                      <a:prstDash val="solid"/>
                      <a:round/>
                      <a:headEnd type="none" w="med" len="med"/>
                      <a:tailEnd type="none" w="med" len="med"/>
                    </a:lnT>
                    <a:lnB>
                      <a:noFill/>
                    </a:lnB>
                    <a:solidFill>
                      <a:schemeClr val="bg1"/>
                    </a:solidFill>
                  </a:tcPr>
                </a:tc>
                <a:tc>
                  <a:txBody>
                    <a:bodyPr/>
                    <a:lstStyle/>
                    <a:p>
                      <a:pPr algn="ctr" fontAlgn="b">
                        <a:buNone/>
                      </a:pPr>
                      <a:r>
                        <a:rPr lang="en-US" sz="1200" b="0" i="0" u="none" strike="noStrike" kern="1200">
                          <a:solidFill>
                            <a:srgbClr val="000000"/>
                          </a:solidFill>
                          <a:effectLst/>
                          <a:latin typeface="Poppins SemiBold" panose="00000700000000000000" pitchFamily="2" charset="0"/>
                          <a:ea typeface="+mn-ea"/>
                          <a:cs typeface="+mn-cs"/>
                        </a:rPr>
                        <a:t>$175,643,852 </a:t>
                      </a:r>
                    </a:p>
                  </a:txBody>
                  <a:tcPr marL="9525" marR="9525" marT="9525" marB="0" anchor="b">
                    <a:lnL>
                      <a:noFill/>
                    </a:lnL>
                    <a:lnR>
                      <a:noFill/>
                    </a:lnR>
                    <a:lnT w="12700" cap="flat" cmpd="sng" algn="ctr">
                      <a:solidFill>
                        <a:srgbClr val="A6A6A6"/>
                      </a:solidFill>
                      <a:prstDash val="solid"/>
                      <a:round/>
                      <a:headEnd type="none" w="med" len="med"/>
                      <a:tailEnd type="none" w="med" len="med"/>
                    </a:lnT>
                    <a:lnB>
                      <a:noFill/>
                    </a:lnB>
                    <a:solidFill>
                      <a:schemeClr val="bg1"/>
                    </a:solidFill>
                  </a:tcPr>
                </a:tc>
                <a:tc>
                  <a:txBody>
                    <a:bodyPr/>
                    <a:lstStyle/>
                    <a:p>
                      <a:pPr algn="ctr" fontAlgn="b">
                        <a:buNone/>
                      </a:pPr>
                      <a:r>
                        <a:rPr lang="en-US" sz="1200" b="0" i="0" u="none" strike="noStrike" kern="1200" dirty="0">
                          <a:solidFill>
                            <a:srgbClr val="000000"/>
                          </a:solidFill>
                          <a:effectLst/>
                          <a:latin typeface="Poppins SemiBold" panose="00000700000000000000" pitchFamily="2" charset="0"/>
                          <a:ea typeface="+mn-ea"/>
                          <a:cs typeface="+mn-cs"/>
                        </a:rPr>
                        <a:t>100.0%</a:t>
                      </a:r>
                    </a:p>
                  </a:txBody>
                  <a:tcPr marL="9525" marR="9525" marT="9525" marB="0" anchor="b">
                    <a:lnL>
                      <a:noFill/>
                    </a:lnL>
                    <a:lnR>
                      <a:noFill/>
                    </a:lnR>
                    <a:lnT w="12700" cap="flat" cmpd="sng" algn="ctr">
                      <a:solidFill>
                        <a:srgbClr val="A6A6A6"/>
                      </a:solidFill>
                      <a:prstDash val="solid"/>
                      <a:round/>
                      <a:headEnd type="none" w="med" len="med"/>
                      <a:tailEnd type="none" w="med" len="med"/>
                    </a:lnT>
                    <a:lnB>
                      <a:noFill/>
                    </a:lnB>
                    <a:solidFill>
                      <a:schemeClr val="bg1"/>
                    </a:solidFill>
                  </a:tcPr>
                </a:tc>
                <a:tc>
                  <a:txBody>
                    <a:bodyPr/>
                    <a:lstStyle/>
                    <a:p>
                      <a:pPr algn="ctr" fontAlgn="b">
                        <a:buNone/>
                      </a:pPr>
                      <a:r>
                        <a:rPr lang="en-US" sz="1200" b="0" i="0" u="none" strike="noStrike" kern="1200" dirty="0">
                          <a:solidFill>
                            <a:srgbClr val="000000"/>
                          </a:solidFill>
                          <a:effectLst/>
                          <a:latin typeface="Poppins SemiBold" panose="00000700000000000000" pitchFamily="2" charset="0"/>
                          <a:ea typeface="+mn-ea"/>
                          <a:cs typeface="+mn-cs"/>
                        </a:rPr>
                        <a:t>100.0%</a:t>
                      </a:r>
                    </a:p>
                  </a:txBody>
                  <a:tcPr marL="9525" marR="9525" marT="9525" marB="0" anchor="b">
                    <a:lnL>
                      <a:noFill/>
                    </a:lnL>
                    <a:lnR>
                      <a:noFill/>
                    </a:lnR>
                    <a:lnT w="12700" cap="flat" cmpd="sng" algn="ctr">
                      <a:solidFill>
                        <a:srgbClr val="A6A6A6"/>
                      </a:solidFill>
                      <a:prstDash val="solid"/>
                      <a:round/>
                      <a:headEnd type="none" w="med" len="med"/>
                      <a:tailEnd type="none" w="med" len="med"/>
                    </a:lnT>
                    <a:lnB>
                      <a:noFill/>
                    </a:lnB>
                    <a:solidFill>
                      <a:schemeClr val="bg1"/>
                    </a:solidFill>
                  </a:tcPr>
                </a:tc>
                <a:tc>
                  <a:txBody>
                    <a:bodyPr/>
                    <a:lstStyle/>
                    <a:p>
                      <a:pPr algn="ctr" fontAlgn="b">
                        <a:buNone/>
                      </a:pPr>
                      <a:r>
                        <a:rPr lang="en-US" sz="1200" b="0" i="0" u="none" strike="noStrike" kern="1200" dirty="0">
                          <a:solidFill>
                            <a:srgbClr val="000000"/>
                          </a:solidFill>
                          <a:effectLst/>
                          <a:latin typeface="Poppins SemiBold" panose="00000700000000000000" pitchFamily="2" charset="0"/>
                          <a:ea typeface="+mn-ea"/>
                          <a:cs typeface="+mn-cs"/>
                        </a:rPr>
                        <a:t>$10,955,375</a:t>
                      </a:r>
                    </a:p>
                  </a:txBody>
                  <a:tcPr marL="9525" marR="9525" marT="9525" marB="0" anchor="b">
                    <a:lnL>
                      <a:noFill/>
                    </a:lnL>
                    <a:lnR>
                      <a:noFill/>
                    </a:lnR>
                    <a:lnT w="12700" cap="flat" cmpd="sng" algn="ctr">
                      <a:solidFill>
                        <a:srgbClr val="A6A6A6"/>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896603383"/>
                  </a:ext>
                </a:extLst>
              </a:tr>
            </a:tbl>
          </a:graphicData>
        </a:graphic>
      </p:graphicFrame>
      <p:graphicFrame>
        <p:nvGraphicFramePr>
          <p:cNvPr id="10" name="Original CRRG April Data table" hidden="1">
            <a:extLst>
              <a:ext uri="{FF2B5EF4-FFF2-40B4-BE49-F238E27FC236}">
                <a16:creationId xmlns:a16="http://schemas.microsoft.com/office/drawing/2014/main" id="{270CB844-E6D0-48C7-88FB-6B9E600FA9E6}"/>
              </a:ext>
            </a:extLst>
          </p:cNvPr>
          <p:cNvGraphicFramePr>
            <a:graphicFrameLocks noGrp="1"/>
          </p:cNvGraphicFramePr>
          <p:nvPr>
            <p:extLst>
              <p:ext uri="{D42A27DB-BD31-4B8C-83A1-F6EECF244321}">
                <p14:modId xmlns:p14="http://schemas.microsoft.com/office/powerpoint/2010/main" val="2516528136"/>
              </p:ext>
            </p:extLst>
          </p:nvPr>
        </p:nvGraphicFramePr>
        <p:xfrm>
          <a:off x="793777" y="1739195"/>
          <a:ext cx="8412480" cy="2151865"/>
        </p:xfrm>
        <a:graphic>
          <a:graphicData uri="http://schemas.openxmlformats.org/drawingml/2006/table">
            <a:tbl>
              <a:tblPr/>
              <a:tblGrid>
                <a:gridCol w="4041069">
                  <a:extLst>
                    <a:ext uri="{9D8B030D-6E8A-4147-A177-3AD203B41FA5}">
                      <a16:colId xmlns:a16="http://schemas.microsoft.com/office/drawing/2014/main" val="4141239875"/>
                    </a:ext>
                  </a:extLst>
                </a:gridCol>
                <a:gridCol w="1434710">
                  <a:extLst>
                    <a:ext uri="{9D8B030D-6E8A-4147-A177-3AD203B41FA5}">
                      <a16:colId xmlns:a16="http://schemas.microsoft.com/office/drawing/2014/main" val="146247995"/>
                    </a:ext>
                  </a:extLst>
                </a:gridCol>
                <a:gridCol w="1632599">
                  <a:extLst>
                    <a:ext uri="{9D8B030D-6E8A-4147-A177-3AD203B41FA5}">
                      <a16:colId xmlns:a16="http://schemas.microsoft.com/office/drawing/2014/main" val="1815862167"/>
                    </a:ext>
                  </a:extLst>
                </a:gridCol>
                <a:gridCol w="1304102">
                  <a:extLst>
                    <a:ext uri="{9D8B030D-6E8A-4147-A177-3AD203B41FA5}">
                      <a16:colId xmlns:a16="http://schemas.microsoft.com/office/drawing/2014/main" val="2779343819"/>
                    </a:ext>
                  </a:extLst>
                </a:gridCol>
              </a:tblGrid>
              <a:tr h="399400">
                <a:tc>
                  <a:txBody>
                    <a:bodyPr/>
                    <a:lstStyle/>
                    <a:p>
                      <a:pPr algn="ctr" rtl="0" fontAlgn="ctr"/>
                      <a:r>
                        <a:rPr lang="en-US" sz="1200" b="0" i="0" u="none" strike="noStrike">
                          <a:solidFill>
                            <a:srgbClr val="FFFFFF"/>
                          </a:solidFill>
                          <a:effectLst/>
                          <a:latin typeface="Poppins" panose="00000500000000000000" pitchFamily="2" charset="0"/>
                        </a:rPr>
                        <a:t>STRATEGY</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rPr>
                        <a:t>MARKET VALUE</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rPr>
                        <a:t>ACTUAL ALLOCATION</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tc>
                  <a:txBody>
                    <a:bodyPr/>
                    <a:lstStyle/>
                    <a:p>
                      <a:pPr algn="ctr" rtl="0" fontAlgn="ctr"/>
                      <a:r>
                        <a:rPr lang="en-US" sz="1200" b="0" i="0" u="none" strike="noStrike">
                          <a:solidFill>
                            <a:srgbClr val="FFFFFF"/>
                          </a:solidFill>
                          <a:effectLst/>
                          <a:latin typeface="Poppins" panose="00000500000000000000" pitchFamily="2" charset="0"/>
                        </a:rPr>
                        <a:t>TARGET RANGE</a:t>
                      </a:r>
                    </a:p>
                  </a:txBody>
                  <a:tcPr marL="7620" marR="7620" marT="762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a:noFill/>
                    </a:lnT>
                    <a:lnB>
                      <a:noFill/>
                    </a:lnB>
                    <a:solidFill>
                      <a:srgbClr val="457383"/>
                    </a:solidFill>
                  </a:tcPr>
                </a:tc>
                <a:extLst>
                  <a:ext uri="{0D108BD9-81ED-4DB2-BD59-A6C34878D82A}">
                    <a16:rowId xmlns:a16="http://schemas.microsoft.com/office/drawing/2014/main" val="3949040717"/>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CASH &amp;  INVESTMENT GRADE BONDS</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$54,126,076 </a:t>
                      </a:r>
                    </a:p>
                  </a:txBody>
                  <a:tcPr marL="7620" marR="7620" marT="7620"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62.5%</a:t>
                      </a:r>
                    </a:p>
                  </a:txBody>
                  <a:tcPr marL="7620" marR="7620" marT="7620"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  55% - 80%</a:t>
                      </a:r>
                    </a:p>
                  </a:txBody>
                  <a:tcPr marL="7620" marR="7620" marT="7620" marB="0" anchor="b">
                    <a:lnL>
                      <a:noFill/>
                    </a:lnL>
                    <a:lnR>
                      <a:noFill/>
                    </a:lnR>
                    <a:lnT w="12700" cap="flat" cmpd="sng" algn="ctr">
                      <a:no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475043024"/>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HIGH YIELD BONDS</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$15,643,418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18.1%</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  5% - 20%</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780276897"/>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XTRACKERS HIGH YIELD CORPORATE BOND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$7,534,286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8.7%</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094128980"/>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VANECK FALLEN ANGEL HIGH YIELD BOND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$8,109,133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9.4%</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673707844"/>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EQUITIES</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$16,877,406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19.5%</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200" b="0" i="0" u="none" strike="noStrike">
                          <a:solidFill>
                            <a:srgbClr val="000000"/>
                          </a:solidFill>
                          <a:effectLst/>
                          <a:latin typeface="Poppins SemiBold" panose="00000700000000000000" pitchFamily="2" charset="0"/>
                        </a:rPr>
                        <a:t>  15% - 25%</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80642247"/>
                  </a:ext>
                </a:extLst>
              </a:tr>
              <a:tr h="187473">
                <a:tc>
                  <a:txBody>
                    <a:bodyPr/>
                    <a:lstStyle/>
                    <a:p>
                      <a:pPr algn="l" rtl="0" fontAlgn="b"/>
                      <a:r>
                        <a:rPr lang="pt-BR" sz="1100" b="0" i="1" u="none" strike="noStrike">
                          <a:solidFill>
                            <a:srgbClr val="000000"/>
                          </a:solidFill>
                          <a:effectLst/>
                          <a:latin typeface="Poppins" panose="00000500000000000000" pitchFamily="2" charset="0"/>
                        </a:rPr>
                        <a:t>        </a:t>
                      </a:r>
                      <a:r>
                        <a:rPr lang="pt-BR" sz="1100" b="0" i="1" u="none" strike="noStrike">
                          <a:solidFill>
                            <a:srgbClr val="000000"/>
                          </a:solidFill>
                          <a:effectLst/>
                          <a:latin typeface="Wingdings" panose="05000000000000000000" pitchFamily="2" charset="2"/>
                        </a:rPr>
                        <a:t>à</a:t>
                      </a:r>
                      <a:r>
                        <a:rPr lang="pt-BR" sz="1100" b="0" i="1" u="none" strike="noStrike">
                          <a:solidFill>
                            <a:srgbClr val="000000"/>
                          </a:solidFill>
                          <a:effectLst/>
                          <a:latin typeface="Poppins" panose="00000500000000000000" pitchFamily="2" charset="0"/>
                        </a:rPr>
                        <a:t> VANGUARD S&amp;P 500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$6,942,613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8.0%</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901160617"/>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VANGUARD MID-CAP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$6,564,799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7.6%</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4041257072"/>
                  </a:ext>
                </a:extLst>
              </a:tr>
              <a:tr h="187473">
                <a:tc>
                  <a:txBody>
                    <a:bodyPr/>
                    <a:lstStyle/>
                    <a:p>
                      <a:pPr algn="l" rtl="0" fontAlgn="b"/>
                      <a:r>
                        <a:rPr lang="en-US" sz="1100" b="0" i="1" u="none" strike="noStrike">
                          <a:solidFill>
                            <a:srgbClr val="000000"/>
                          </a:solidFill>
                          <a:effectLst/>
                          <a:latin typeface="Poppins" panose="00000500000000000000" pitchFamily="2" charset="0"/>
                        </a:rPr>
                        <a:t>        </a:t>
                      </a:r>
                      <a:r>
                        <a:rPr lang="en-US" sz="1100" b="0" i="1" u="none" strike="noStrike">
                          <a:solidFill>
                            <a:srgbClr val="000000"/>
                          </a:solidFill>
                          <a:effectLst/>
                          <a:latin typeface="Wingdings" panose="05000000000000000000" pitchFamily="2" charset="2"/>
                        </a:rPr>
                        <a:t>à</a:t>
                      </a:r>
                      <a:r>
                        <a:rPr lang="en-US" sz="1100" b="0" i="1" u="none" strike="noStrike">
                          <a:solidFill>
                            <a:srgbClr val="000000"/>
                          </a:solidFill>
                          <a:effectLst/>
                          <a:latin typeface="Poppins" panose="00000500000000000000" pitchFamily="2" charset="0"/>
                        </a:rPr>
                        <a:t> ISHARES CORE S&amp;P SMALL-CAP ETF</a:t>
                      </a:r>
                    </a:p>
                  </a:txBody>
                  <a:tcPr marL="7620" marR="7620" marT="762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$3,369,994 </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3.9%</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ctr" rtl="0" fontAlgn="b"/>
                      <a:r>
                        <a:rPr lang="en-US" sz="1100" b="0" i="1" u="none" strike="noStrike">
                          <a:solidFill>
                            <a:srgbClr val="000000"/>
                          </a:solidFill>
                          <a:effectLst/>
                          <a:latin typeface="Poppins" panose="00000500000000000000" pitchFamily="2" charset="0"/>
                        </a:rPr>
                        <a:t>---</a:t>
                      </a:r>
                    </a:p>
                  </a:txBody>
                  <a:tcPr marL="7620" marR="7620" marT="7620" marB="0" anchor="b">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995560675"/>
                  </a:ext>
                </a:extLst>
              </a:tr>
              <a:tr h="203775">
                <a:tc>
                  <a:txBody>
                    <a:bodyPr/>
                    <a:lstStyle/>
                    <a:p>
                      <a:pPr algn="l" rtl="0" fontAlgn="b"/>
                      <a:r>
                        <a:rPr lang="en-US" sz="1200" b="0" i="0" u="none" strike="noStrike">
                          <a:solidFill>
                            <a:srgbClr val="000000"/>
                          </a:solidFill>
                          <a:effectLst/>
                          <a:latin typeface="Poppins SemiBold" panose="00000700000000000000" pitchFamily="2" charset="0"/>
                        </a:rPr>
                        <a:t> TOTAL</a:t>
                      </a:r>
                    </a:p>
                  </a:txBody>
                  <a:tcPr marL="7620" marR="7620" marT="7620" marB="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ctr" rtl="0" fontAlgn="b"/>
                      <a:r>
                        <a:rPr lang="en-US" sz="1200" b="0" i="0" u="none" strike="noStrike">
                          <a:solidFill>
                            <a:srgbClr val="000000"/>
                          </a:solidFill>
                          <a:effectLst/>
                          <a:latin typeface="Poppins SemiBold" panose="00000700000000000000" pitchFamily="2" charset="0"/>
                        </a:rPr>
                        <a:t>$86,646,900 </a:t>
                      </a:r>
                    </a:p>
                  </a:txBody>
                  <a:tcPr marL="7620" marR="7620" marT="7620" marB="0" anchor="b">
                    <a:lnL>
                      <a:noFill/>
                    </a:lnL>
                    <a:lnR>
                      <a:noFill/>
                    </a:lnR>
                    <a:lnT w="12700" cap="flat" cmpd="sng" algn="ctr">
                      <a:solidFill>
                        <a:srgbClr val="A6A6A6"/>
                      </a:solidFill>
                      <a:prstDash val="solid"/>
                      <a:round/>
                      <a:headEnd type="none" w="med" len="med"/>
                      <a:tailEnd type="none" w="med" len="med"/>
                    </a:lnT>
                    <a:lnB>
                      <a:noFill/>
                    </a:lnB>
                  </a:tcPr>
                </a:tc>
                <a:tc>
                  <a:txBody>
                    <a:bodyPr/>
                    <a:lstStyle/>
                    <a:p>
                      <a:pPr algn="ctr" rtl="0" fontAlgn="b"/>
                      <a:r>
                        <a:rPr lang="en-US" sz="1200" b="0" i="0" u="none" strike="noStrike">
                          <a:solidFill>
                            <a:srgbClr val="000000"/>
                          </a:solidFill>
                          <a:effectLst/>
                          <a:latin typeface="Poppins SemiBold" panose="00000700000000000000" pitchFamily="2" charset="0"/>
                        </a:rPr>
                        <a:t>100.0%</a:t>
                      </a:r>
                    </a:p>
                  </a:txBody>
                  <a:tcPr marL="7620" marR="7620" marT="7620" marB="0" anchor="b">
                    <a:lnL>
                      <a:noFill/>
                    </a:lnL>
                    <a:lnR>
                      <a:noFill/>
                    </a:lnR>
                    <a:lnT w="12700" cap="flat" cmpd="sng" algn="ctr">
                      <a:solidFill>
                        <a:srgbClr val="A6A6A6"/>
                      </a:solidFill>
                      <a:prstDash val="solid"/>
                      <a:round/>
                      <a:headEnd type="none" w="med" len="med"/>
                      <a:tailEnd type="none" w="med" len="med"/>
                    </a:lnT>
                    <a:lnB>
                      <a:noFill/>
                    </a:lnB>
                  </a:tcPr>
                </a:tc>
                <a:tc>
                  <a:txBody>
                    <a:bodyPr/>
                    <a:lstStyle/>
                    <a:p>
                      <a:pPr algn="ctr" rtl="0" fontAlgn="b"/>
                      <a:r>
                        <a:rPr lang="en-US" sz="1200" b="0" i="0" u="none" strike="noStrike">
                          <a:solidFill>
                            <a:srgbClr val="000000"/>
                          </a:solidFill>
                          <a:effectLst/>
                          <a:latin typeface="Poppins SemiBold" panose="00000700000000000000" pitchFamily="2" charset="0"/>
                        </a:rPr>
                        <a:t> ---</a:t>
                      </a:r>
                    </a:p>
                  </a:txBody>
                  <a:tcPr marL="7620" marR="7620" marT="7620" marB="0" anchor="b">
                    <a:lnL>
                      <a:noFill/>
                    </a:lnL>
                    <a:lnR>
                      <a:noFill/>
                    </a:lnR>
                    <a:lnT w="12700" cap="flat" cmpd="sng" algn="ctr">
                      <a:solidFill>
                        <a:srgbClr val="A6A6A6"/>
                      </a:solidFill>
                      <a:prstDash val="solid"/>
                      <a:round/>
                      <a:headEnd type="none" w="med" len="med"/>
                      <a:tailEnd type="none" w="med" len="med"/>
                    </a:lnT>
                    <a:lnB>
                      <a:noFill/>
                    </a:lnB>
                  </a:tcPr>
                </a:tc>
                <a:extLst>
                  <a:ext uri="{0D108BD9-81ED-4DB2-BD59-A6C34878D82A}">
                    <a16:rowId xmlns:a16="http://schemas.microsoft.com/office/drawing/2014/main" val="896603383"/>
                  </a:ext>
                </a:extLst>
              </a:tr>
            </a:tbl>
          </a:graphicData>
        </a:graphic>
      </p:graphicFrame>
      <p:graphicFrame>
        <p:nvGraphicFramePr>
          <p:cNvPr id="3" name="Chart 2" hidden="1">
            <a:extLst>
              <a:ext uri="{FF2B5EF4-FFF2-40B4-BE49-F238E27FC236}">
                <a16:creationId xmlns:a16="http://schemas.microsoft.com/office/drawing/2014/main" id="{B1BFF588-0823-4C16-AD2A-A8EA2B9ECAD0}"/>
              </a:ext>
            </a:extLst>
          </p:cNvPr>
          <p:cNvGraphicFramePr>
            <a:graphicFrameLocks/>
          </p:cNvGraphicFramePr>
          <p:nvPr>
            <p:extLst>
              <p:ext uri="{D42A27DB-BD31-4B8C-83A1-F6EECF244321}">
                <p14:modId xmlns:p14="http://schemas.microsoft.com/office/powerpoint/2010/main" val="354653375"/>
              </p:ext>
            </p:extLst>
          </p:nvPr>
        </p:nvGraphicFramePr>
        <p:xfrm>
          <a:off x="-641022" y="1222941"/>
          <a:ext cx="11647355" cy="3392041"/>
        </p:xfrm>
        <a:graphic>
          <a:graphicData uri="http://schemas.openxmlformats.org/drawingml/2006/chart">
            <c:chart xmlns:c="http://schemas.openxmlformats.org/drawingml/2006/chart" xmlns:r="http://schemas.openxmlformats.org/officeDocument/2006/relationships" r:id="rId12"/>
          </a:graphicData>
        </a:graphic>
      </p:graphicFrame>
      <p:sp>
        <p:nvSpPr>
          <p:cNvPr id="4" name="TextBox 3" hidden="1">
            <a:extLst>
              <a:ext uri="{FF2B5EF4-FFF2-40B4-BE49-F238E27FC236}">
                <a16:creationId xmlns:a16="http://schemas.microsoft.com/office/drawing/2014/main" id="{6BBF3BBF-0600-0C15-11D4-5DCA3F837C95}"/>
              </a:ext>
            </a:extLst>
          </p:cNvPr>
          <p:cNvSpPr txBox="1"/>
          <p:nvPr/>
        </p:nvSpPr>
        <p:spPr>
          <a:xfrm>
            <a:off x="365760" y="1256455"/>
            <a:ext cx="1484061" cy="3054682"/>
          </a:xfrm>
          <a:prstGeom prst="rect">
            <a:avLst/>
          </a:prstGeom>
          <a:solidFill>
            <a:srgbClr val="394849"/>
          </a:solidFill>
        </p:spPr>
        <p:txBody>
          <a:bodyPr wrap="square" rtlCol="0">
            <a:spAutoFit/>
          </a:bodyPr>
          <a:lstStyle/>
          <a:p>
            <a:pPr algn="ctr">
              <a:spcAft>
                <a:spcPts val="300"/>
              </a:spcAft>
            </a:pPr>
            <a:r>
              <a:rPr lang="en-US" sz="1000" u="sng">
                <a:solidFill>
                  <a:schemeClr val="bg1"/>
                </a:solidFill>
                <a:highlight>
                  <a:srgbClr val="FF0000"/>
                </a:highlight>
                <a:latin typeface="Poppins SemiBold" panose="00000700000000000000" pitchFamily="2" charset="0"/>
                <a:cs typeface="Poppins SemiBold" panose="00000700000000000000" pitchFamily="2" charset="0"/>
              </a:rPr>
              <a:t>PROPOSED CHANGE</a:t>
            </a:r>
          </a:p>
          <a:p>
            <a:pPr algn="ctr"/>
            <a:r>
              <a:rPr lang="en-US" sz="1000">
                <a:solidFill>
                  <a:schemeClr val="bg1"/>
                </a:solidFill>
                <a:highlight>
                  <a:srgbClr val="FF0000"/>
                </a:highlight>
                <a:latin typeface="Poppins Medium" panose="00000600000000000000" pitchFamily="2" charset="0"/>
                <a:cs typeface="Poppins Medium" panose="00000600000000000000" pitchFamily="2" charset="0"/>
              </a:rPr>
              <a:t>FALLEN ANGEL ETF (ANGL) WAS DOWNGRADED FROM NAIC 3 TO NAIC 4</a:t>
            </a:r>
          </a:p>
          <a:p>
            <a:pPr algn="ctr"/>
            <a:endParaRPr lang="en-US" sz="1000">
              <a:solidFill>
                <a:schemeClr val="bg1"/>
              </a:solidFill>
              <a:highlight>
                <a:srgbClr val="FF0000"/>
              </a:highlight>
              <a:latin typeface="Poppins Medium" panose="00000600000000000000" pitchFamily="2" charset="0"/>
              <a:cs typeface="Poppins Medium" panose="00000600000000000000" pitchFamily="2" charset="0"/>
            </a:endParaRPr>
          </a:p>
          <a:p>
            <a:pPr algn="ctr"/>
            <a:r>
              <a:rPr lang="en-US" sz="1000">
                <a:solidFill>
                  <a:schemeClr val="bg1"/>
                </a:solidFill>
                <a:highlight>
                  <a:srgbClr val="FF0000"/>
                </a:highlight>
                <a:latin typeface="Poppins Medium" panose="00000600000000000000" pitchFamily="2" charset="0"/>
                <a:cs typeface="Poppins Medium" panose="00000600000000000000" pitchFamily="2" charset="0"/>
              </a:rPr>
              <a:t>OVER THE 10% NAIC 4 LIMIT &amp; HAVEN’T FOUND  A REPLACEMENT WE ARE COMFORTABLE WITH</a:t>
            </a:r>
          </a:p>
          <a:p>
            <a:pPr algn="ctr"/>
            <a:endParaRPr lang="en-US" sz="1000">
              <a:solidFill>
                <a:schemeClr val="bg1"/>
              </a:solidFill>
              <a:highlight>
                <a:srgbClr val="FF0000"/>
              </a:highlight>
              <a:latin typeface="Poppins Medium" panose="00000600000000000000" pitchFamily="2" charset="0"/>
              <a:cs typeface="Poppins Medium" panose="00000600000000000000" pitchFamily="2" charset="0"/>
            </a:endParaRPr>
          </a:p>
          <a:p>
            <a:pPr algn="ctr"/>
            <a:r>
              <a:rPr lang="en-US" sz="1000">
                <a:solidFill>
                  <a:schemeClr val="bg1"/>
                </a:solidFill>
                <a:highlight>
                  <a:srgbClr val="FF0000"/>
                </a:highlight>
                <a:latin typeface="Poppins Medium" panose="00000600000000000000" pitchFamily="2" charset="0"/>
                <a:cs typeface="Poppins Medium" panose="00000600000000000000" pitchFamily="2" charset="0"/>
              </a:rPr>
              <a:t>SELL ANGL TO INCREASE EQUITY &amp; INVESTMENT GRADE TARGETS TO 24% &amp; 66%, RESPECTIVELY</a:t>
            </a:r>
          </a:p>
        </p:txBody>
      </p:sp>
      <p:sp>
        <p:nvSpPr>
          <p:cNvPr id="25" name="Rectangle 24" hidden="1">
            <a:extLst>
              <a:ext uri="{FF2B5EF4-FFF2-40B4-BE49-F238E27FC236}">
                <a16:creationId xmlns:a16="http://schemas.microsoft.com/office/drawing/2014/main" id="{2AF25F27-3301-0628-0C7E-C65E5CCA7843}"/>
              </a:ext>
            </a:extLst>
          </p:cNvPr>
          <p:cNvSpPr/>
          <p:nvPr/>
        </p:nvSpPr>
        <p:spPr bwMode="auto">
          <a:xfrm>
            <a:off x="4796548" y="131643"/>
            <a:ext cx="3801809" cy="338554"/>
          </a:xfrm>
          <a:prstGeom prst="rect">
            <a:avLst/>
          </a:prstGeom>
          <a:solidFill>
            <a:srgbClr val="FF0000"/>
          </a:solidFill>
          <a:ln w="28575">
            <a:solidFill>
              <a:schemeClr val="accent1"/>
            </a:solidFill>
          </a:ln>
        </p:spPr>
        <p:txBody>
          <a:bodyPr wrap="square" tIns="274320" rIns="0" bIns="45720" rtlCol="0" anchor="b">
            <a:noAutofit/>
          </a:bodyPr>
          <a:lstStyle/>
          <a:p>
            <a:pPr algn="ctr"/>
            <a:r>
              <a:rPr lang="en-US" sz="2000">
                <a:solidFill>
                  <a:schemeClr val="bg1"/>
                </a:solidFill>
                <a:latin typeface="Poppins SemiBold" panose="00000700000000000000" pitchFamily="2" charset="0"/>
                <a:cs typeface="Poppins SemiBold" panose="00000700000000000000" pitchFamily="2" charset="0"/>
              </a:rPr>
              <a:t>RED TEXT NEEDS REVIEW</a:t>
            </a:r>
          </a:p>
        </p:txBody>
      </p:sp>
      <p:graphicFrame>
        <p:nvGraphicFramePr>
          <p:cNvPr id="6" name="Chart 5">
            <a:extLst>
              <a:ext uri="{FF2B5EF4-FFF2-40B4-BE49-F238E27FC236}">
                <a16:creationId xmlns:a16="http://schemas.microsoft.com/office/drawing/2014/main" id="{B1BFF588-0823-4C16-AD2A-A8EA2B9ECAD0}"/>
              </a:ext>
            </a:extLst>
          </p:cNvPr>
          <p:cNvGraphicFramePr>
            <a:graphicFrameLocks/>
          </p:cNvGraphicFramePr>
          <p:nvPr>
            <p:extLst>
              <p:ext uri="{D42A27DB-BD31-4B8C-83A1-F6EECF244321}">
                <p14:modId xmlns:p14="http://schemas.microsoft.com/office/powerpoint/2010/main" val="3377295177"/>
              </p:ext>
            </p:extLst>
          </p:nvPr>
        </p:nvGraphicFramePr>
        <p:xfrm>
          <a:off x="-3475889" y="1040078"/>
          <a:ext cx="13828577" cy="3753750"/>
        </p:xfrm>
        <a:graphic>
          <a:graphicData uri="http://schemas.openxmlformats.org/drawingml/2006/chart">
            <c:chart xmlns:c="http://schemas.openxmlformats.org/drawingml/2006/chart" xmlns:r="http://schemas.openxmlformats.org/officeDocument/2006/relationships" r:id="rId13"/>
          </a:graphicData>
        </a:graphic>
      </p:graphicFrame>
      <p:sp>
        <p:nvSpPr>
          <p:cNvPr id="23" name="TextBox 22">
            <a:extLst>
              <a:ext uri="{FF2B5EF4-FFF2-40B4-BE49-F238E27FC236}">
                <a16:creationId xmlns:a16="http://schemas.microsoft.com/office/drawing/2014/main" id="{0EC181A6-71D1-CB06-EEEB-C1F63BB93926}"/>
              </a:ext>
            </a:extLst>
          </p:cNvPr>
          <p:cNvSpPr txBox="1"/>
          <p:nvPr/>
        </p:nvSpPr>
        <p:spPr>
          <a:xfrm>
            <a:off x="9317255" y="539015"/>
            <a:ext cx="3599848" cy="1200329"/>
          </a:xfrm>
          <a:prstGeom prst="rect">
            <a:avLst/>
          </a:prstGeom>
          <a:solidFill>
            <a:srgbClr val="92D050"/>
          </a:solidFill>
        </p:spPr>
        <p:txBody>
          <a:bodyPr wrap="square" rtlCol="0">
            <a:spAutoFit/>
          </a:bodyPr>
          <a:lstStyle/>
          <a:p>
            <a:r>
              <a:rPr lang="en-US" dirty="0"/>
              <a:t>SOURCED VIA “ALLOCATION VS GUIDELINES” SECTION OF BOARD REPORT IN CLEARWATER</a:t>
            </a:r>
          </a:p>
        </p:txBody>
      </p:sp>
    </p:spTree>
    <p:extLst>
      <p:ext uri="{BB962C8B-B14F-4D97-AF65-F5344CB8AC3E}">
        <p14:creationId xmlns:p14="http://schemas.microsoft.com/office/powerpoint/2010/main" val="3031741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62434C8-FA6F-443C-A850-B089F84340EC}"/>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Bef>
                <a:spcPct val="50000"/>
              </a:spcBef>
              <a:spcAft>
                <a:spcPct val="0"/>
              </a:spcAft>
            </a:pPr>
            <a:r>
              <a:rPr lang="en-US" sz="1600">
                <a:solidFill>
                  <a:schemeClr val="bg1"/>
                </a:solidFill>
                <a:latin typeface="Poppins Light" panose="00000400000000000000" pitchFamily="2" charset="0"/>
                <a:cs typeface="Poppins Light" panose="00000400000000000000" pitchFamily="2" charset="0"/>
              </a:rPr>
              <a:t>PERFORMANCE | </a:t>
            </a:r>
            <a:r>
              <a:rPr lang="en-US" sz="1600">
                <a:solidFill>
                  <a:schemeClr val="bg1"/>
                </a:solidFill>
                <a:latin typeface="Poppins Medium" panose="00000600000000000000" pitchFamily="2" charset="0"/>
                <a:cs typeface="Poppins Medium" panose="00000600000000000000" pitchFamily="2" charset="0"/>
              </a:rPr>
              <a:t>10-27-2025¹</a:t>
            </a:r>
          </a:p>
        </p:txBody>
      </p:sp>
      <p:sp>
        <p:nvSpPr>
          <p:cNvPr id="15" name="Title 1">
            <a:extLst>
              <a:ext uri="{FF2B5EF4-FFF2-40B4-BE49-F238E27FC236}">
                <a16:creationId xmlns:a16="http://schemas.microsoft.com/office/drawing/2014/main" id="{0AAB4721-2E06-4606-AB7D-8E626C011077}"/>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a:latin typeface="Poppins SemiBold" panose="00000700000000000000" pitchFamily="2" charset="0"/>
                <a:cs typeface="Poppins SemiBold" panose="00000700000000000000" pitchFamily="2" charset="0"/>
              </a:rPr>
              <a:t>INVESTMENT REPORT</a:t>
            </a:r>
            <a:endParaRPr lang="en-US" sz="1050">
              <a:latin typeface="Poppins SemiBold" panose="00000700000000000000" pitchFamily="2" charset="0"/>
              <a:cs typeface="Poppins SemiBold" panose="00000700000000000000" pitchFamily="2" charset="0"/>
            </a:endParaRPr>
          </a:p>
        </p:txBody>
      </p:sp>
      <p:sp>
        <p:nvSpPr>
          <p:cNvPr id="13" name="Line 309">
            <a:extLst>
              <a:ext uri="{FF2B5EF4-FFF2-40B4-BE49-F238E27FC236}">
                <a16:creationId xmlns:a16="http://schemas.microsoft.com/office/drawing/2014/main" id="{3E20422E-92DA-483E-B5ED-A9619DE7BE41}"/>
              </a:ext>
            </a:extLst>
          </p:cNvPr>
          <p:cNvSpPr>
            <a:spLocks noChangeShapeType="1"/>
          </p:cNvSpPr>
          <p:nvPr/>
        </p:nvSpPr>
        <p:spPr bwMode="auto">
          <a:xfrm>
            <a:off x="365760" y="6417432"/>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9" name="Slide Number Placeholder 1">
            <a:extLst>
              <a:ext uri="{FF2B5EF4-FFF2-40B4-BE49-F238E27FC236}">
                <a16:creationId xmlns:a16="http://schemas.microsoft.com/office/drawing/2014/main" id="{DEFE4B05-8CD1-457D-BCF8-34E509752B77}"/>
              </a:ext>
            </a:extLst>
          </p:cNvPr>
          <p:cNvSpPr>
            <a:spLocks noGrp="1"/>
          </p:cNvSpPr>
          <p:nvPr>
            <p:ph type="sldNum" sz="quarter" idx="4"/>
          </p:nvPr>
        </p:nvSpPr>
        <p:spPr>
          <a:xfrm>
            <a:off x="8599574" y="6577767"/>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12</a:t>
            </a:fld>
            <a:endParaRPr lang="en-US" sz="882">
              <a:solidFill>
                <a:srgbClr val="000000"/>
              </a:solidFill>
            </a:endParaRPr>
          </a:p>
        </p:txBody>
      </p:sp>
      <p:sp>
        <p:nvSpPr>
          <p:cNvPr id="21" name="Rectangle 20">
            <a:extLst>
              <a:ext uri="{FF2B5EF4-FFF2-40B4-BE49-F238E27FC236}">
                <a16:creationId xmlns:a16="http://schemas.microsoft.com/office/drawing/2014/main" id="{B3864A92-8C78-4820-B45D-B68F746B3727}"/>
              </a:ext>
            </a:extLst>
          </p:cNvPr>
          <p:cNvSpPr/>
          <p:nvPr/>
        </p:nvSpPr>
        <p:spPr>
          <a:xfrm>
            <a:off x="286389" y="6487366"/>
            <a:ext cx="8313185" cy="341632"/>
          </a:xfrm>
          <a:prstGeom prst="rect">
            <a:avLst/>
          </a:prstGeom>
          <a:noFill/>
          <a:ln>
            <a:noFill/>
          </a:ln>
        </p:spPr>
        <p:txBody>
          <a:bodyPr wrap="square" lIns="91440" tIns="45720" rIns="91440" bIns="45720" anchor="t">
            <a:spAutoFit/>
          </a:bodyPr>
          <a:lstStyle/>
          <a:p>
            <a:pPr algn="just" defTabSz="447675">
              <a:lnSpc>
                <a:spcPct val="90000"/>
              </a:lnSpc>
              <a:defRPr/>
            </a:pPr>
            <a:r>
              <a:rPr lang="en-US" sz="900" cap="all">
                <a:solidFill>
                  <a:srgbClr val="394849"/>
                </a:solidFill>
                <a:latin typeface="Poppins Light"/>
                <a:cs typeface="Poppins Light"/>
              </a:rPr>
              <a:t>¹ October 2025 performance is preliminary and does not include THE PERFORMA oversight fee.</a:t>
            </a:r>
          </a:p>
          <a:p>
            <a:pPr algn="just" defTabSz="447675">
              <a:lnSpc>
                <a:spcPct val="90000"/>
              </a:lnSpc>
              <a:defRPr/>
            </a:pPr>
            <a:r>
              <a:rPr lang="en-US" sz="900" cap="all">
                <a:solidFill>
                  <a:srgbClr val="394849"/>
                </a:solidFill>
                <a:latin typeface="Poppins Light"/>
                <a:cs typeface="Poppins Light"/>
              </a:rPr>
              <a:t>PLEASE SEE PERFORMANCE DISCLOSURE ON PAGE 27 OF THIS PRESENTATION.</a:t>
            </a:r>
            <a:endParaRPr lang="en-US" sz="2000">
              <a:solidFill>
                <a:srgbClr val="394849"/>
              </a:solidFill>
            </a:endParaRPr>
          </a:p>
        </p:txBody>
      </p:sp>
      <p:graphicFrame>
        <p:nvGraphicFramePr>
          <p:cNvPr id="6" name="Chart 5" hidden="1">
            <a:extLst>
              <a:ext uri="{FF2B5EF4-FFF2-40B4-BE49-F238E27FC236}">
                <a16:creationId xmlns:a16="http://schemas.microsoft.com/office/drawing/2014/main" id="{00000000-0008-0000-0600-000007000000}"/>
              </a:ext>
            </a:extLst>
          </p:cNvPr>
          <p:cNvGraphicFramePr>
            <a:graphicFrameLocks/>
          </p:cNvGraphicFramePr>
          <p:nvPr>
            <p:extLst>
              <p:ext uri="{D42A27DB-BD31-4B8C-83A1-F6EECF244321}">
                <p14:modId xmlns:p14="http://schemas.microsoft.com/office/powerpoint/2010/main" val="3733120901"/>
              </p:ext>
            </p:extLst>
          </p:nvPr>
        </p:nvGraphicFramePr>
        <p:xfrm>
          <a:off x="374536" y="3600856"/>
          <a:ext cx="8482213" cy="274309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00000000-0008-0000-0600-000007000000}"/>
              </a:ext>
            </a:extLst>
          </p:cNvPr>
          <p:cNvGraphicFramePr>
            <a:graphicFrameLocks/>
          </p:cNvGraphicFramePr>
          <p:nvPr>
            <p:extLst>
              <p:ext uri="{D42A27DB-BD31-4B8C-83A1-F6EECF244321}">
                <p14:modId xmlns:p14="http://schemas.microsoft.com/office/powerpoint/2010/main" val="1752204620"/>
              </p:ext>
            </p:extLst>
          </p:nvPr>
        </p:nvGraphicFramePr>
        <p:xfrm>
          <a:off x="365760" y="1293271"/>
          <a:ext cx="8412480" cy="5113928"/>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595AF5E1-A609-0E2F-BA2B-E768343E8C26}"/>
              </a:ext>
            </a:extLst>
          </p:cNvPr>
          <p:cNvSpPr txBox="1"/>
          <p:nvPr/>
        </p:nvSpPr>
        <p:spPr>
          <a:xfrm>
            <a:off x="9317255" y="539015"/>
            <a:ext cx="3599848" cy="923330"/>
          </a:xfrm>
          <a:prstGeom prst="rect">
            <a:avLst/>
          </a:prstGeom>
          <a:solidFill>
            <a:srgbClr val="92D050"/>
          </a:solidFill>
        </p:spPr>
        <p:txBody>
          <a:bodyPr wrap="square" rtlCol="0">
            <a:spAutoFit/>
          </a:bodyPr>
          <a:lstStyle/>
          <a:p>
            <a:r>
              <a:rPr lang="en-US" dirty="0"/>
              <a:t>SOURCED VIA PERIOD PERFORMANCE GROSS &amp; NET REPORT IN CLEARWATER</a:t>
            </a:r>
          </a:p>
        </p:txBody>
      </p:sp>
    </p:spTree>
    <p:extLst>
      <p:ext uri="{BB962C8B-B14F-4D97-AF65-F5344CB8AC3E}">
        <p14:creationId xmlns:p14="http://schemas.microsoft.com/office/powerpoint/2010/main" val="2329207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0AAB4721-2E06-4606-AB7D-8E626C011077}"/>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INVESTMENT REPORT</a:t>
            </a:r>
          </a:p>
        </p:txBody>
      </p:sp>
      <p:sp>
        <p:nvSpPr>
          <p:cNvPr id="48" name="Slide Number Placeholder 1">
            <a:extLst>
              <a:ext uri="{FF2B5EF4-FFF2-40B4-BE49-F238E27FC236}">
                <a16:creationId xmlns:a16="http://schemas.microsoft.com/office/drawing/2014/main" id="{3C349428-DFD3-4DD4-A839-99D2D214DCB0}"/>
              </a:ext>
            </a:extLst>
          </p:cNvPr>
          <p:cNvSpPr>
            <a:spLocks noGrp="1"/>
          </p:cNvSpPr>
          <p:nvPr>
            <p:ph type="sldNum" sz="quarter" idx="4"/>
          </p:nvPr>
        </p:nvSpPr>
        <p:spPr>
          <a:xfrm>
            <a:off x="8552919" y="6548516"/>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13</a:t>
            </a:fld>
            <a:endParaRPr lang="en-US" sz="882">
              <a:solidFill>
                <a:srgbClr val="000000"/>
              </a:solidFill>
            </a:endParaRPr>
          </a:p>
        </p:txBody>
      </p:sp>
      <p:sp>
        <p:nvSpPr>
          <p:cNvPr id="49" name="Line 309">
            <a:extLst>
              <a:ext uri="{FF2B5EF4-FFF2-40B4-BE49-F238E27FC236}">
                <a16:creationId xmlns:a16="http://schemas.microsoft.com/office/drawing/2014/main" id="{7DA4DA23-EB0E-4493-8CF8-633FEC6C66E4}"/>
              </a:ext>
            </a:extLst>
          </p:cNvPr>
          <p:cNvSpPr>
            <a:spLocks noChangeShapeType="1"/>
          </p:cNvSpPr>
          <p:nvPr/>
        </p:nvSpPr>
        <p:spPr bwMode="auto">
          <a:xfrm>
            <a:off x="365760" y="6498503"/>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graphicFrame>
        <p:nvGraphicFramePr>
          <p:cNvPr id="6" name="Table 5" hidden="1">
            <a:extLst>
              <a:ext uri="{FF2B5EF4-FFF2-40B4-BE49-F238E27FC236}">
                <a16:creationId xmlns:a16="http://schemas.microsoft.com/office/drawing/2014/main" id="{FFEDF3B6-CC6F-417C-AF5C-6FF9FE91BBBA}"/>
              </a:ext>
            </a:extLst>
          </p:cNvPr>
          <p:cNvGraphicFramePr>
            <a:graphicFrameLocks noGrp="1"/>
          </p:cNvGraphicFramePr>
          <p:nvPr/>
        </p:nvGraphicFramePr>
        <p:xfrm>
          <a:off x="421627" y="4600623"/>
          <a:ext cx="8372174" cy="1861681"/>
        </p:xfrm>
        <a:graphic>
          <a:graphicData uri="http://schemas.openxmlformats.org/drawingml/2006/table">
            <a:tbl>
              <a:tblPr firstRow="1" bandRow="1">
                <a:tableStyleId>{2D5ABB26-0587-4C30-8999-92F81FD0307C}</a:tableStyleId>
              </a:tblPr>
              <a:tblGrid>
                <a:gridCol w="6415401">
                  <a:extLst>
                    <a:ext uri="{9D8B030D-6E8A-4147-A177-3AD203B41FA5}">
                      <a16:colId xmlns:a16="http://schemas.microsoft.com/office/drawing/2014/main" val="20000"/>
                    </a:ext>
                  </a:extLst>
                </a:gridCol>
                <a:gridCol w="1956773">
                  <a:extLst>
                    <a:ext uri="{9D8B030D-6E8A-4147-A177-3AD203B41FA5}">
                      <a16:colId xmlns:a16="http://schemas.microsoft.com/office/drawing/2014/main" val="20001"/>
                    </a:ext>
                  </a:extLst>
                </a:gridCol>
              </a:tblGrid>
              <a:tr h="260305">
                <a:tc gridSpan="2">
                  <a:txBody>
                    <a:bodyPr/>
                    <a:lstStyle/>
                    <a:p>
                      <a:pPr marL="50800">
                        <a:lnSpc>
                          <a:spcPct val="100000"/>
                        </a:lnSpc>
                        <a:spcBef>
                          <a:spcPts val="600"/>
                        </a:spcBef>
                      </a:pPr>
                      <a:r>
                        <a:rPr lang="en-US" sz="1100" b="0">
                          <a:solidFill>
                            <a:schemeClr val="bg1"/>
                          </a:solidFill>
                          <a:latin typeface="Poppins Light" panose="00000400000000000000" pitchFamily="2" charset="0"/>
                          <a:cs typeface="Poppins Light" panose="00000400000000000000" pitchFamily="2" charset="0"/>
                        </a:rPr>
                        <a:t>TOTAL PORTFOLIO | </a:t>
                      </a:r>
                      <a:r>
                        <a:rPr lang="en-US" sz="1100" b="0">
                          <a:solidFill>
                            <a:schemeClr val="bg1"/>
                          </a:solidFill>
                          <a:latin typeface="Poppins Medium" panose="00000600000000000000" pitchFamily="2" charset="0"/>
                          <a:cs typeface="Poppins Medium" panose="00000600000000000000" pitchFamily="2" charset="0"/>
                        </a:rPr>
                        <a:t>PERFORMANCE</a:t>
                      </a:r>
                      <a:r>
                        <a:rPr lang="en-US" sz="1100" b="0" spc="-100">
                          <a:solidFill>
                            <a:schemeClr val="bg1"/>
                          </a:solidFill>
                          <a:latin typeface="Poppins Medium" panose="00000600000000000000" pitchFamily="2" charset="0"/>
                          <a:cs typeface="Poppins Medium" panose="00000600000000000000" pitchFamily="2" charset="0"/>
                        </a:rPr>
                        <a:t> </a:t>
                      </a:r>
                      <a:r>
                        <a:rPr lang="en-US" sz="1100" b="0">
                          <a:solidFill>
                            <a:schemeClr val="bg1"/>
                          </a:solidFill>
                          <a:latin typeface="Poppins Medium" panose="00000600000000000000" pitchFamily="2" charset="0"/>
                          <a:cs typeface="Poppins Medium" panose="00000600000000000000" pitchFamily="2" charset="0"/>
                        </a:rPr>
                        <a:t>REVIEW</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a:p>
                  </a:txBody>
                  <a:tcPr marL="0" marR="0" marT="0" marB="0"/>
                </a:tc>
                <a:extLst>
                  <a:ext uri="{0D108BD9-81ED-4DB2-BD59-A6C34878D82A}">
                    <a16:rowId xmlns:a16="http://schemas.microsoft.com/office/drawing/2014/main" val="10000"/>
                  </a:ext>
                </a:extLst>
              </a:tr>
              <a:tr h="200172">
                <a:tc>
                  <a:txBody>
                    <a:bodyPr/>
                    <a:lstStyle/>
                    <a:p>
                      <a:pPr marL="31750">
                        <a:lnSpc>
                          <a:spcPct val="100000"/>
                        </a:lnSpc>
                        <a:spcBef>
                          <a:spcPts val="50"/>
                        </a:spcBef>
                      </a:pPr>
                      <a:r>
                        <a:rPr lang="en-US" sz="1050">
                          <a:latin typeface="Poppins" panose="00000500000000000000" pitchFamily="2" charset="0"/>
                          <a:cs typeface="Poppins" panose="00000500000000000000" pitchFamily="2" charset="0"/>
                        </a:rPr>
                        <a:t> BEGINNING MARKET VALUE +</a:t>
                      </a:r>
                      <a:r>
                        <a:rPr lang="en-US" sz="1050" spc="-100">
                          <a:latin typeface="Poppins" panose="00000500000000000000" pitchFamily="2" charset="0"/>
                          <a:cs typeface="Poppins" panose="00000500000000000000" pitchFamily="2" charset="0"/>
                        </a:rPr>
                        <a:t> </a:t>
                      </a:r>
                      <a:r>
                        <a:rPr lang="en-US" sz="1050">
                          <a:latin typeface="Poppins" panose="00000500000000000000" pitchFamily="2" charset="0"/>
                          <a:cs typeface="Poppins" panose="00000500000000000000" pitchFamily="2" charset="0"/>
                        </a:rPr>
                        <a:t>ACCRUED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en-US" sz="1050" b="0" i="0" u="none" strike="noStrike">
                          <a:solidFill>
                            <a:srgbClr val="000000"/>
                          </a:solidFill>
                          <a:effectLst/>
                          <a:latin typeface="Poppins" panose="00000500000000000000" pitchFamily="2" charset="0"/>
                        </a:rPr>
                        <a:t>$18,418,029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200172">
                <a:tc>
                  <a:txBody>
                    <a:bodyPr/>
                    <a:lstStyle/>
                    <a:p>
                      <a:pPr marL="31750">
                        <a:lnSpc>
                          <a:spcPct val="100000"/>
                        </a:lnSpc>
                        <a:spcBef>
                          <a:spcPts val="50"/>
                        </a:spcBef>
                      </a:pPr>
                      <a:r>
                        <a:rPr lang="en-US" sz="1050">
                          <a:latin typeface="Poppins" panose="00000500000000000000" pitchFamily="2" charset="0"/>
                          <a:cs typeface="Poppins" panose="00000500000000000000" pitchFamily="2" charset="0"/>
                        </a:rPr>
                        <a:t> TRANSFERS</a:t>
                      </a:r>
                      <a:r>
                        <a:rPr lang="en-US" sz="1050" spc="-100">
                          <a:latin typeface="Poppins" panose="00000500000000000000" pitchFamily="2" charset="0"/>
                          <a:cs typeface="Poppins" panose="00000500000000000000" pitchFamily="2" charset="0"/>
                        </a:rPr>
                        <a:t> </a:t>
                      </a:r>
                      <a:r>
                        <a:rPr lang="en-US" sz="1050">
                          <a:latin typeface="Poppins" panose="00000500000000000000" pitchFamily="2" charset="0"/>
                          <a:cs typeface="Poppins" panose="00000500000000000000" pitchFamily="2" charset="0"/>
                        </a:rPr>
                        <a:t>IN/OUT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en-US" sz="1050" b="0" i="0" u="none" strike="noStrike">
                          <a:solidFill>
                            <a:srgbClr val="000000"/>
                          </a:solidFill>
                          <a:effectLst/>
                          <a:latin typeface="Poppins" panose="00000500000000000000" pitchFamily="2" charset="0"/>
                        </a:rPr>
                        <a:t>$2,486,110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200172">
                <a:tc>
                  <a:txBody>
                    <a:bodyPr/>
                    <a:lstStyle/>
                    <a:p>
                      <a:pPr marL="31750">
                        <a:lnSpc>
                          <a:spcPct val="100000"/>
                        </a:lnSpc>
                        <a:spcBef>
                          <a:spcPts val="50"/>
                        </a:spcBef>
                      </a:pPr>
                      <a:r>
                        <a:rPr lang="en-US" sz="1050">
                          <a:latin typeface="Poppins" panose="00000500000000000000" pitchFamily="2" charset="0"/>
                          <a:cs typeface="Poppins" panose="00000500000000000000" pitchFamily="2" charset="0"/>
                        </a:rPr>
                        <a:t> INTEREST</a:t>
                      </a:r>
                      <a:r>
                        <a:rPr lang="en-US" sz="1050" spc="-100">
                          <a:latin typeface="Poppins" panose="00000500000000000000" pitchFamily="2" charset="0"/>
                          <a:cs typeface="Poppins" panose="00000500000000000000" pitchFamily="2" charset="0"/>
                        </a:rPr>
                        <a:t> </a:t>
                      </a:r>
                      <a:r>
                        <a:rPr lang="en-US" sz="1050">
                          <a:latin typeface="Poppins" panose="00000500000000000000" pitchFamily="2" charset="0"/>
                          <a:cs typeface="Poppins" panose="00000500000000000000" pitchFamily="2" charset="0"/>
                        </a:rPr>
                        <a:t>INCOME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en-US" sz="1050" b="0" i="0" u="none" strike="noStrike">
                          <a:solidFill>
                            <a:srgbClr val="000000"/>
                          </a:solidFill>
                          <a:effectLst/>
                          <a:latin typeface="Poppins" panose="00000500000000000000" pitchFamily="2" charset="0"/>
                        </a:rPr>
                        <a:t>$93,229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200172">
                <a:tc>
                  <a:txBody>
                    <a:bodyPr/>
                    <a:lstStyle/>
                    <a:p>
                      <a:pPr marL="31750">
                        <a:lnSpc>
                          <a:spcPct val="100000"/>
                        </a:lnSpc>
                        <a:spcBef>
                          <a:spcPts val="50"/>
                        </a:spcBef>
                      </a:pPr>
                      <a:r>
                        <a:rPr lang="en-US" sz="1050">
                          <a:latin typeface="Poppins" panose="00000500000000000000" pitchFamily="2" charset="0"/>
                          <a:cs typeface="Poppins" panose="00000500000000000000" pitchFamily="2" charset="0"/>
                        </a:rPr>
                        <a:t> MISC INCOME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en-US" sz="1050" b="0" i="0" u="none" strike="noStrike">
                          <a:solidFill>
                            <a:srgbClr val="000000"/>
                          </a:solidFill>
                          <a:effectLst/>
                          <a:latin typeface="Poppins" panose="00000500000000000000" pitchFamily="2"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81151045"/>
                  </a:ext>
                </a:extLst>
              </a:tr>
              <a:tr h="200172">
                <a:tc>
                  <a:txBody>
                    <a:bodyPr/>
                    <a:lstStyle/>
                    <a:p>
                      <a:pPr marL="31750">
                        <a:lnSpc>
                          <a:spcPct val="100000"/>
                        </a:lnSpc>
                        <a:spcBef>
                          <a:spcPts val="50"/>
                        </a:spcBef>
                      </a:pPr>
                      <a:r>
                        <a:rPr lang="en-US" sz="1050">
                          <a:latin typeface="Poppins" panose="00000500000000000000" pitchFamily="2" charset="0"/>
                          <a:cs typeface="Poppins" panose="00000500000000000000" pitchFamily="2" charset="0"/>
                        </a:rPr>
                        <a:t> EXPENSES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en-US" sz="1050" b="0" i="0" u="none" strike="noStrike">
                          <a:solidFill>
                            <a:srgbClr val="000000"/>
                          </a:solidFill>
                          <a:effectLst/>
                          <a:latin typeface="Poppins" panose="00000500000000000000" pitchFamily="2" charset="0"/>
                        </a:rPr>
                        <a:t>-$42,797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8351467"/>
                  </a:ext>
                </a:extLst>
              </a:tr>
              <a:tr h="200172">
                <a:tc>
                  <a:txBody>
                    <a:bodyPr/>
                    <a:lstStyle/>
                    <a:p>
                      <a:pPr marL="31750">
                        <a:lnSpc>
                          <a:spcPct val="100000"/>
                        </a:lnSpc>
                        <a:spcBef>
                          <a:spcPts val="50"/>
                        </a:spcBef>
                      </a:pPr>
                      <a:r>
                        <a:rPr lang="en-US" sz="1050">
                          <a:latin typeface="Poppins" panose="00000500000000000000" pitchFamily="2" charset="0"/>
                          <a:cs typeface="Poppins" panose="00000500000000000000" pitchFamily="2" charset="0"/>
                        </a:rPr>
                        <a:t> NET REALIZED</a:t>
                      </a:r>
                      <a:r>
                        <a:rPr lang="en-US" sz="1050" spc="-100">
                          <a:latin typeface="Poppins" panose="00000500000000000000" pitchFamily="2" charset="0"/>
                          <a:cs typeface="Poppins" panose="00000500000000000000" pitchFamily="2" charset="0"/>
                        </a:rPr>
                        <a:t> </a:t>
                      </a:r>
                      <a:r>
                        <a:rPr lang="en-US" sz="1050">
                          <a:latin typeface="Poppins" panose="00000500000000000000" pitchFamily="2" charset="0"/>
                          <a:cs typeface="Poppins" panose="00000500000000000000" pitchFamily="2" charset="0"/>
                        </a:rPr>
                        <a:t>GAIN/LOSS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en-US" sz="1050" b="0" i="0" u="none" strike="noStrike">
                          <a:solidFill>
                            <a:srgbClr val="000000"/>
                          </a:solidFill>
                          <a:effectLst/>
                          <a:latin typeface="Poppins" panose="00000500000000000000" pitchFamily="2" charset="0"/>
                        </a:rPr>
                        <a:t>$41,682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r h="200172">
                <a:tc>
                  <a:txBody>
                    <a:bodyPr/>
                    <a:lstStyle/>
                    <a:p>
                      <a:pPr marL="31750">
                        <a:lnSpc>
                          <a:spcPct val="100000"/>
                        </a:lnSpc>
                        <a:spcBef>
                          <a:spcPts val="50"/>
                        </a:spcBef>
                      </a:pPr>
                      <a:r>
                        <a:rPr lang="en-US" sz="1050">
                          <a:latin typeface="Poppins" panose="00000500000000000000" pitchFamily="2" charset="0"/>
                          <a:cs typeface="Poppins" panose="00000500000000000000" pitchFamily="2" charset="0"/>
                        </a:rPr>
                        <a:t> BASE CHANGE IN NET UNREALIZED</a:t>
                      </a:r>
                      <a:r>
                        <a:rPr lang="en-US" sz="1050" spc="-100">
                          <a:latin typeface="Poppins" panose="00000500000000000000" pitchFamily="2" charset="0"/>
                          <a:cs typeface="Poppins" panose="00000500000000000000" pitchFamily="2" charset="0"/>
                        </a:rPr>
                        <a:t> </a:t>
                      </a:r>
                      <a:r>
                        <a:rPr lang="en-US" sz="1050">
                          <a:latin typeface="Poppins" panose="00000500000000000000" pitchFamily="2" charset="0"/>
                          <a:cs typeface="Poppins" panose="00000500000000000000" pitchFamily="2" charset="0"/>
                        </a:rPr>
                        <a:t>GAIN/LOSS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en-US" sz="1050" b="0" i="0" u="none" strike="noStrike">
                          <a:solidFill>
                            <a:srgbClr val="000000"/>
                          </a:solidFill>
                          <a:effectLst/>
                          <a:latin typeface="Poppins" panose="00000500000000000000" pitchFamily="2" charset="0"/>
                        </a:rPr>
                        <a:t>-$262,230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8"/>
                  </a:ext>
                </a:extLst>
              </a:tr>
              <a:tr h="200172">
                <a:tc>
                  <a:txBody>
                    <a:bodyPr/>
                    <a:lstStyle/>
                    <a:p>
                      <a:pPr marL="31750">
                        <a:lnSpc>
                          <a:spcPct val="100000"/>
                        </a:lnSpc>
                        <a:spcBef>
                          <a:spcPts val="50"/>
                        </a:spcBef>
                      </a:pPr>
                      <a:r>
                        <a:rPr lang="en-US" sz="1050">
                          <a:latin typeface="Poppins" panose="00000500000000000000" pitchFamily="2" charset="0"/>
                          <a:cs typeface="Poppins" panose="00000500000000000000" pitchFamily="2" charset="0"/>
                        </a:rPr>
                        <a:t> ENDING MARKET VALUE +</a:t>
                      </a:r>
                      <a:r>
                        <a:rPr lang="en-US" sz="1050" spc="-100">
                          <a:latin typeface="Poppins" panose="00000500000000000000" pitchFamily="2" charset="0"/>
                          <a:cs typeface="Poppins" panose="00000500000000000000" pitchFamily="2" charset="0"/>
                        </a:rPr>
                        <a:t> </a:t>
                      </a:r>
                      <a:r>
                        <a:rPr lang="en-US" sz="1050">
                          <a:latin typeface="Poppins" panose="00000500000000000000" pitchFamily="2" charset="0"/>
                          <a:cs typeface="Poppins" panose="00000500000000000000" pitchFamily="2" charset="0"/>
                        </a:rPr>
                        <a:t>ACCRUED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r>
                        <a:rPr lang="en-US" sz="1050" b="0" i="0" u="none" strike="noStrike">
                          <a:solidFill>
                            <a:srgbClr val="000000"/>
                          </a:solidFill>
                          <a:effectLst/>
                          <a:latin typeface="Poppins" panose="00000500000000000000" pitchFamily="2" charset="0"/>
                        </a:rPr>
                        <a:t>$20,734,021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9"/>
                  </a:ext>
                </a:extLst>
              </a:tr>
            </a:tbl>
          </a:graphicData>
        </a:graphic>
      </p:graphicFrame>
      <p:graphicFrame>
        <p:nvGraphicFramePr>
          <p:cNvPr id="9" name="Chart 8" hidden="1">
            <a:extLst>
              <a:ext uri="{FF2B5EF4-FFF2-40B4-BE49-F238E27FC236}">
                <a16:creationId xmlns:a16="http://schemas.microsoft.com/office/drawing/2014/main" id="{6C27BA53-10EC-644C-877C-5F1F96FE19EA}"/>
              </a:ext>
            </a:extLst>
          </p:cNvPr>
          <p:cNvGraphicFramePr>
            <a:graphicFrameLocks/>
          </p:cNvGraphicFramePr>
          <p:nvPr/>
        </p:nvGraphicFramePr>
        <p:xfrm>
          <a:off x="300939" y="1158789"/>
          <a:ext cx="8386344" cy="334887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JOHNS 2-15 TABLE" hidden="1">
            <a:extLst>
              <a:ext uri="{FF2B5EF4-FFF2-40B4-BE49-F238E27FC236}">
                <a16:creationId xmlns:a16="http://schemas.microsoft.com/office/drawing/2014/main" id="{705C01A2-28B7-4328-AE4C-54BFF4E7B169}"/>
              </a:ext>
            </a:extLst>
          </p:cNvPr>
          <p:cNvGraphicFramePr>
            <a:graphicFrameLocks noGrp="1"/>
          </p:cNvGraphicFramePr>
          <p:nvPr>
            <p:extLst>
              <p:ext uri="{D42A27DB-BD31-4B8C-83A1-F6EECF244321}">
                <p14:modId xmlns:p14="http://schemas.microsoft.com/office/powerpoint/2010/main" val="1838472574"/>
              </p:ext>
            </p:extLst>
          </p:nvPr>
        </p:nvGraphicFramePr>
        <p:xfrm>
          <a:off x="371475" y="4611421"/>
          <a:ext cx="8412480" cy="1828800"/>
        </p:xfrm>
        <a:graphic>
          <a:graphicData uri="http://schemas.openxmlformats.org/drawingml/2006/table">
            <a:tbl>
              <a:tblPr/>
              <a:tblGrid>
                <a:gridCol w="5039552">
                  <a:extLst>
                    <a:ext uri="{9D8B030D-6E8A-4147-A177-3AD203B41FA5}">
                      <a16:colId xmlns:a16="http://schemas.microsoft.com/office/drawing/2014/main" val="863969281"/>
                    </a:ext>
                  </a:extLst>
                </a:gridCol>
                <a:gridCol w="3372928">
                  <a:extLst>
                    <a:ext uri="{9D8B030D-6E8A-4147-A177-3AD203B41FA5}">
                      <a16:colId xmlns:a16="http://schemas.microsoft.com/office/drawing/2014/main" val="756402785"/>
                    </a:ext>
                  </a:extLst>
                </a:gridCol>
              </a:tblGrid>
              <a:tr h="182880">
                <a:tc gridSpan="2">
                  <a:txBody>
                    <a:bodyPr/>
                    <a:lstStyle/>
                    <a:p>
                      <a:pPr algn="l" rtl="0" fontAlgn="ctr"/>
                      <a:r>
                        <a:rPr lang="en-US" sz="1100" b="0" i="0" u="none" strike="noStrike" kern="1200">
                          <a:solidFill>
                            <a:srgbClr val="FFFFFF"/>
                          </a:solidFill>
                          <a:effectLst/>
                          <a:latin typeface="Poppins SemiBold" panose="00000700000000000000" pitchFamily="2" charset="0"/>
                          <a:ea typeface="+mn-ea"/>
                          <a:cs typeface="Poppins SemiBold" panose="00000700000000000000" pitchFamily="2" charset="0"/>
                        </a:rPr>
                        <a:t> PORTFOLIO </a:t>
                      </a:r>
                      <a:r>
                        <a:rPr lang="en-US" sz="1100" b="0" i="0" u="none" strike="noStrike">
                          <a:solidFill>
                            <a:srgbClr val="FFFFFF"/>
                          </a:solidFill>
                          <a:effectLst/>
                          <a:latin typeface="Poppins SemiBold" panose="00000700000000000000" pitchFamily="2" charset="0"/>
                          <a:cs typeface="Poppins SemiBold" panose="00000700000000000000" pitchFamily="2" charset="0"/>
                        </a:rPr>
                        <a:t>ROLLFORWARD</a:t>
                      </a:r>
                    </a:p>
                  </a:txBody>
                  <a:tcPr marL="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A4256"/>
                    </a:solidFill>
                  </a:tcPr>
                </a:tc>
                <a:tc hMerge="1">
                  <a:txBody>
                    <a:bodyPr/>
                    <a:lstStyle/>
                    <a:p>
                      <a:endParaRPr lang="en-US"/>
                    </a:p>
                  </a:txBody>
                  <a:tcPr/>
                </a:tc>
                <a:extLst>
                  <a:ext uri="{0D108BD9-81ED-4DB2-BD59-A6C34878D82A}">
                    <a16:rowId xmlns:a16="http://schemas.microsoft.com/office/drawing/2014/main" val="775352023"/>
                  </a:ext>
                </a:extLst>
              </a:tr>
              <a:tr h="182880">
                <a:tc>
                  <a:txBody>
                    <a:bodyPr/>
                    <a:lstStyle/>
                    <a:p>
                      <a:pPr algn="l" rtl="0" fontAlgn="ctr"/>
                      <a:r>
                        <a:rPr lang="en-US" sz="1050" b="0" i="0" u="none" strike="noStrike">
                          <a:solidFill>
                            <a:srgbClr val="000000"/>
                          </a:solidFill>
                          <a:effectLst/>
                          <a:latin typeface="Poppins" panose="00000500000000000000" pitchFamily="2" charset="0"/>
                        </a:rPr>
                        <a:t> BEGINNING MARKET VALUE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panose="00000500000000000000" pitchFamily="2" charset="0"/>
                        </a:rPr>
                        <a:t>$77,680,573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050927357"/>
                  </a:ext>
                </a:extLst>
              </a:tr>
              <a:tr h="182880">
                <a:tc>
                  <a:txBody>
                    <a:bodyPr/>
                    <a:lstStyle/>
                    <a:p>
                      <a:pPr algn="l" rtl="0" fontAlgn="ctr"/>
                      <a:r>
                        <a:rPr lang="en-US" sz="900" b="0" i="0" u="none" strike="noStrike" cap="all" baseline="0">
                          <a:solidFill>
                            <a:srgbClr val="000000"/>
                          </a:solidFill>
                          <a:effectLst/>
                          <a:latin typeface="Poppins" panose="00000500000000000000" pitchFamily="2" charset="0"/>
                        </a:rPr>
                        <a:t>     Contributions (Q1/Q2 2023)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900" b="0" i="0" u="none" strike="noStrike" kern="1200" cap="all" baseline="0">
                          <a:solidFill>
                            <a:srgbClr val="000000"/>
                          </a:solidFill>
                          <a:effectLst/>
                          <a:latin typeface="Poppins" panose="00000500000000000000" pitchFamily="2" charset="0"/>
                          <a:ea typeface="+mn-ea"/>
                          <a:cs typeface="+mn-cs"/>
                        </a:rPr>
                        <a:t>$8,800,000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4466204"/>
                  </a:ext>
                </a:extLst>
              </a:tr>
              <a:tr h="182880">
                <a:tc>
                  <a:txBody>
                    <a:bodyPr/>
                    <a:lstStyle/>
                    <a:p>
                      <a:pPr algn="l" rtl="0" fontAlgn="ctr"/>
                      <a:r>
                        <a:rPr lang="en-US" sz="900" b="0" i="0" u="none" strike="noStrike" cap="all" baseline="0">
                          <a:solidFill>
                            <a:srgbClr val="000000"/>
                          </a:solidFill>
                          <a:effectLst/>
                          <a:latin typeface="Poppins" panose="00000500000000000000" pitchFamily="2" charset="0"/>
                        </a:rPr>
                        <a:t>     Withdrawals (Q4 2023/Jan 2024)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900" b="0" i="0" u="none" strike="noStrike" kern="1200" cap="all" baseline="0">
                          <a:solidFill>
                            <a:srgbClr val="000000"/>
                          </a:solidFill>
                          <a:effectLst/>
                          <a:latin typeface="Poppins" panose="00000500000000000000" pitchFamily="2" charset="0"/>
                          <a:ea typeface="+mn-ea"/>
                          <a:cs typeface="+mn-cs"/>
                        </a:rPr>
                        <a:t>-$9,000,000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8297975"/>
                  </a:ext>
                </a:extLst>
              </a:tr>
              <a:tr h="182880">
                <a:tc>
                  <a:txBody>
                    <a:bodyPr/>
                    <a:lstStyle/>
                    <a:p>
                      <a:pPr algn="l" rtl="0" fontAlgn="ctr"/>
                      <a:r>
                        <a:rPr lang="en-US" sz="1050" b="0" i="0" u="none" strike="noStrike">
                          <a:solidFill>
                            <a:srgbClr val="000000"/>
                          </a:solidFill>
                          <a:effectLst/>
                          <a:latin typeface="Poppins" panose="00000500000000000000" pitchFamily="2" charset="0"/>
                        </a:rPr>
                        <a:t>NET TRANSFERS IN/OUT</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panose="00000500000000000000" pitchFamily="2" charset="0"/>
                        </a:rPr>
                        <a:t>-$200,000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65670542"/>
                  </a:ext>
                </a:extLst>
              </a:tr>
              <a:tr h="182880">
                <a:tc>
                  <a:txBody>
                    <a:bodyPr/>
                    <a:lstStyle/>
                    <a:p>
                      <a:pPr algn="l" rtl="0" fontAlgn="ctr"/>
                      <a:r>
                        <a:rPr lang="en-US" sz="1050" b="0" i="0" u="none" strike="noStrike">
                          <a:solidFill>
                            <a:srgbClr val="000000"/>
                          </a:solidFill>
                          <a:effectLst/>
                          <a:latin typeface="Poppins" panose="00000500000000000000" pitchFamily="2" charset="0"/>
                        </a:rPr>
                        <a:t> INCOME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panose="00000500000000000000" pitchFamily="2" charset="0"/>
                        </a:rPr>
                        <a:t>$3,146,276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957876097"/>
                  </a:ext>
                </a:extLst>
              </a:tr>
              <a:tr h="182880">
                <a:tc>
                  <a:txBody>
                    <a:bodyPr/>
                    <a:lstStyle/>
                    <a:p>
                      <a:pPr algn="l" rtl="0" fontAlgn="ctr"/>
                      <a:r>
                        <a:rPr lang="en-US" sz="1050" b="0" i="0" u="none" strike="noStrike">
                          <a:solidFill>
                            <a:srgbClr val="000000"/>
                          </a:solidFill>
                          <a:effectLst/>
                          <a:latin typeface="Poppins" panose="00000500000000000000" pitchFamily="2" charset="0"/>
                        </a:rPr>
                        <a:t> EXPENSE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panose="00000500000000000000" pitchFamily="2" charset="0"/>
                        </a:rPr>
                        <a:t>-$22,463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12056307"/>
                  </a:ext>
                </a:extLst>
              </a:tr>
              <a:tr h="182880">
                <a:tc>
                  <a:txBody>
                    <a:bodyPr/>
                    <a:lstStyle/>
                    <a:p>
                      <a:pPr algn="l" rtl="0" fontAlgn="ctr"/>
                      <a:r>
                        <a:rPr lang="en-US" sz="1050" b="0" i="0" u="none" strike="noStrike">
                          <a:solidFill>
                            <a:srgbClr val="000000"/>
                          </a:solidFill>
                          <a:effectLst/>
                          <a:latin typeface="Poppins" panose="00000500000000000000" pitchFamily="2" charset="0"/>
                        </a:rPr>
                        <a:t> NET REALIZED GAIN/LOSS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panose="00000500000000000000" pitchFamily="2" charset="0"/>
                        </a:rPr>
                        <a:t>-$67,521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857032297"/>
                  </a:ext>
                </a:extLst>
              </a:tr>
              <a:tr h="182880">
                <a:tc>
                  <a:txBody>
                    <a:bodyPr/>
                    <a:lstStyle/>
                    <a:p>
                      <a:pPr algn="l" rtl="0" fontAlgn="ctr"/>
                      <a:r>
                        <a:rPr lang="en-US" sz="1050" b="0" i="0" u="none" strike="noStrike">
                          <a:solidFill>
                            <a:srgbClr val="000000"/>
                          </a:solidFill>
                          <a:effectLst/>
                          <a:latin typeface="Poppins" panose="00000500000000000000" pitchFamily="2" charset="0"/>
                        </a:rPr>
                        <a:t> CHANGE IN NET UNREALIZED GAIN/LOSS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panose="00000500000000000000" pitchFamily="2" charset="0"/>
                        </a:rPr>
                        <a:t>$1,753,511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930652916"/>
                  </a:ext>
                </a:extLst>
              </a:tr>
              <a:tr h="182880">
                <a:tc>
                  <a:txBody>
                    <a:bodyPr/>
                    <a:lstStyle/>
                    <a:p>
                      <a:pPr algn="l" rtl="0" fontAlgn="ctr"/>
                      <a:r>
                        <a:rPr lang="en-US" sz="1050" b="0" i="0" u="none" strike="noStrike">
                          <a:solidFill>
                            <a:srgbClr val="000000"/>
                          </a:solidFill>
                          <a:effectLst/>
                          <a:latin typeface="Poppins SemiBold" panose="00000700000000000000" pitchFamily="2" charset="0"/>
                        </a:rPr>
                        <a:t> ENDING MARKET VALUE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SemiBold" panose="00000700000000000000" pitchFamily="2" charset="0"/>
                        </a:rPr>
                        <a:t>$82,290,376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935569806"/>
                  </a:ext>
                </a:extLst>
              </a:tr>
            </a:tbl>
          </a:graphicData>
        </a:graphic>
      </p:graphicFrame>
      <p:graphicFrame>
        <p:nvGraphicFramePr>
          <p:cNvPr id="7" name="Table 6">
            <a:extLst>
              <a:ext uri="{FF2B5EF4-FFF2-40B4-BE49-F238E27FC236}">
                <a16:creationId xmlns:a16="http://schemas.microsoft.com/office/drawing/2014/main" id="{827A4EAF-8430-B156-6C92-706AD98B3720}"/>
              </a:ext>
            </a:extLst>
          </p:cNvPr>
          <p:cNvGraphicFramePr>
            <a:graphicFrameLocks noGrp="1"/>
          </p:cNvGraphicFramePr>
          <p:nvPr>
            <p:extLst>
              <p:ext uri="{D42A27DB-BD31-4B8C-83A1-F6EECF244321}">
                <p14:modId xmlns:p14="http://schemas.microsoft.com/office/powerpoint/2010/main" val="3972769652"/>
              </p:ext>
            </p:extLst>
          </p:nvPr>
        </p:nvGraphicFramePr>
        <p:xfrm>
          <a:off x="365760" y="4686315"/>
          <a:ext cx="8412480" cy="1626699"/>
        </p:xfrm>
        <a:graphic>
          <a:graphicData uri="http://schemas.openxmlformats.org/drawingml/2006/table">
            <a:tbl>
              <a:tblPr/>
              <a:tblGrid>
                <a:gridCol w="4051092">
                  <a:extLst>
                    <a:ext uri="{9D8B030D-6E8A-4147-A177-3AD203B41FA5}">
                      <a16:colId xmlns:a16="http://schemas.microsoft.com/office/drawing/2014/main" val="2626227984"/>
                    </a:ext>
                  </a:extLst>
                </a:gridCol>
                <a:gridCol w="4361388">
                  <a:extLst>
                    <a:ext uri="{9D8B030D-6E8A-4147-A177-3AD203B41FA5}">
                      <a16:colId xmlns:a16="http://schemas.microsoft.com/office/drawing/2014/main" val="56603809"/>
                    </a:ext>
                  </a:extLst>
                </a:gridCol>
              </a:tblGrid>
              <a:tr h="215247">
                <a:tc gridSpan="2">
                  <a:txBody>
                    <a:bodyPr/>
                    <a:lstStyle/>
                    <a:p>
                      <a:pPr algn="l" rtl="0" fontAlgn="ctr"/>
                      <a:r>
                        <a:rPr lang="en-US" sz="1100" b="0" i="0" u="none" strike="noStrike">
                          <a:solidFill>
                            <a:srgbClr val="FFFFFF"/>
                          </a:solidFill>
                          <a:effectLst/>
                          <a:latin typeface="Poppins Light" panose="00000400000000000000" pitchFamily="2" charset="0"/>
                        </a:rPr>
                        <a:t> TOTAL PORTFOLIO | </a:t>
                      </a:r>
                      <a:r>
                        <a:rPr lang="en-US" sz="1100" b="0" i="0" u="none" strike="noStrike">
                          <a:solidFill>
                            <a:srgbClr val="FFFFFF"/>
                          </a:solidFill>
                          <a:effectLst/>
                          <a:latin typeface="Poppins Medium" panose="00000600000000000000" pitchFamily="2" charset="0"/>
                        </a:rPr>
                        <a:t>PERFORMANCE REVIEW</a:t>
                      </a:r>
                      <a:endParaRPr lang="en-US" sz="1100" b="0" i="0" u="none" strike="noStrike">
                        <a:solidFill>
                          <a:srgbClr val="FFFFFF"/>
                        </a:solidFill>
                        <a:effectLst/>
                        <a:latin typeface="Poppins Light" panose="00000400000000000000" pitchFamily="2"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06280"/>
                    </a:solidFill>
                  </a:tcPr>
                </a:tc>
                <a:tc hMerge="1">
                  <a:txBody>
                    <a:bodyPr/>
                    <a:lstStyle/>
                    <a:p>
                      <a:endParaRPr lang="en-US"/>
                    </a:p>
                  </a:txBody>
                  <a:tcPr/>
                </a:tc>
                <a:extLst>
                  <a:ext uri="{0D108BD9-81ED-4DB2-BD59-A6C34878D82A}">
                    <a16:rowId xmlns:a16="http://schemas.microsoft.com/office/drawing/2014/main" val="3365843733"/>
                  </a:ext>
                </a:extLst>
              </a:tr>
              <a:tr h="201636">
                <a:tc>
                  <a:txBody>
                    <a:bodyPr/>
                    <a:lstStyle/>
                    <a:p>
                      <a:pPr algn="l" rtl="0" fontAlgn="ctr"/>
                      <a:r>
                        <a:rPr lang="en-US" sz="1050" b="0" i="0" u="none" strike="noStrike">
                          <a:solidFill>
                            <a:srgbClr val="000000"/>
                          </a:solidFill>
                          <a:effectLst/>
                          <a:latin typeface="Poppins" panose="00000500000000000000" pitchFamily="2" charset="0"/>
                        </a:rPr>
                        <a:t> BEGINNING MARKET VALUE </a:t>
                      </a:r>
                    </a:p>
                  </a:txBody>
                  <a:tcPr marL="18288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50" b="0" i="0" u="none" strike="noStrike" kern="1200">
                          <a:solidFill>
                            <a:srgbClr val="000000"/>
                          </a:solidFill>
                          <a:effectLst/>
                          <a:latin typeface="Poppins" panose="00000500000000000000" pitchFamily="2" charset="0"/>
                          <a:ea typeface="+mn-ea"/>
                          <a:cs typeface="+mn-cs"/>
                        </a:rPr>
                        <a:t>$99,743,733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765741418"/>
                  </a:ext>
                </a:extLst>
              </a:tr>
              <a:tr h="201636">
                <a:tc>
                  <a:txBody>
                    <a:bodyPr/>
                    <a:lstStyle/>
                    <a:p>
                      <a:pPr algn="l" rtl="0" fontAlgn="ctr"/>
                      <a:r>
                        <a:rPr lang="en-US" sz="1050" b="0" i="0" u="none" strike="noStrike">
                          <a:solidFill>
                            <a:srgbClr val="000000"/>
                          </a:solidFill>
                          <a:effectLst/>
                          <a:latin typeface="Poppins" panose="00000500000000000000" pitchFamily="2" charset="0"/>
                        </a:rPr>
                        <a:t> NET TRANSFERS IN/OUT</a:t>
                      </a:r>
                    </a:p>
                  </a:txBody>
                  <a:tcPr marL="18288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buNone/>
                      </a:pPr>
                      <a:r>
                        <a:rPr lang="en-US" sz="1050" b="0" i="0" u="none" strike="noStrike" kern="1200">
                          <a:solidFill>
                            <a:srgbClr val="000000"/>
                          </a:solidFill>
                          <a:effectLst/>
                          <a:latin typeface="Poppins" panose="00000500000000000000" pitchFamily="2" charset="0"/>
                          <a:ea typeface="+mn-ea"/>
                          <a:cs typeface="+mn-cs"/>
                        </a:rPr>
                        <a:t>$62,850,000</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3730965"/>
                  </a:ext>
                </a:extLst>
              </a:tr>
              <a:tr h="201636">
                <a:tc>
                  <a:txBody>
                    <a:bodyPr/>
                    <a:lstStyle/>
                    <a:p>
                      <a:pPr algn="l" rtl="0" fontAlgn="ctr"/>
                      <a:r>
                        <a:rPr lang="en-US" sz="1050" b="0" i="0" u="none" strike="noStrike">
                          <a:solidFill>
                            <a:srgbClr val="000000"/>
                          </a:solidFill>
                          <a:effectLst/>
                          <a:latin typeface="Poppins" panose="00000500000000000000" pitchFamily="2" charset="0"/>
                        </a:rPr>
                        <a:t> INCOME</a:t>
                      </a:r>
                    </a:p>
                  </a:txBody>
                  <a:tcPr marL="18288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50" b="0" i="0" u="none" strike="noStrike" kern="1200">
                          <a:solidFill>
                            <a:srgbClr val="000000"/>
                          </a:solidFill>
                          <a:effectLst/>
                          <a:latin typeface="Poppins" panose="00000500000000000000" pitchFamily="2" charset="0"/>
                          <a:ea typeface="+mn-ea"/>
                          <a:cs typeface="+mn-cs"/>
                        </a:rPr>
                        <a:t>$5,477,205</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924857951"/>
                  </a:ext>
                </a:extLst>
              </a:tr>
              <a:tr h="201636">
                <a:tc>
                  <a:txBody>
                    <a:bodyPr/>
                    <a:lstStyle/>
                    <a:p>
                      <a:pPr algn="l" rtl="0" fontAlgn="ctr"/>
                      <a:r>
                        <a:rPr lang="en-US" sz="1050" b="0" i="0" u="none" strike="noStrike">
                          <a:solidFill>
                            <a:srgbClr val="000000"/>
                          </a:solidFill>
                          <a:effectLst/>
                          <a:latin typeface="Poppins" panose="00000500000000000000" pitchFamily="2" charset="0"/>
                        </a:rPr>
                        <a:t> EXPENSES</a:t>
                      </a:r>
                    </a:p>
                  </a:txBody>
                  <a:tcPr marL="18288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50" b="0" i="0" u="none" strike="noStrike" kern="1200">
                          <a:solidFill>
                            <a:srgbClr val="000000"/>
                          </a:solidFill>
                          <a:effectLst/>
                          <a:latin typeface="Poppins" panose="00000500000000000000" pitchFamily="2" charset="0"/>
                          <a:ea typeface="+mn-ea"/>
                          <a:cs typeface="+mn-cs"/>
                        </a:rPr>
                        <a:t>-$27,828</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998048"/>
                  </a:ext>
                </a:extLst>
              </a:tr>
              <a:tr h="201636">
                <a:tc>
                  <a:txBody>
                    <a:bodyPr/>
                    <a:lstStyle/>
                    <a:p>
                      <a:pPr algn="l" rtl="0" fontAlgn="ctr"/>
                      <a:r>
                        <a:rPr lang="en-US" sz="1050" b="0" i="0" u="none" strike="noStrike">
                          <a:solidFill>
                            <a:srgbClr val="000000"/>
                          </a:solidFill>
                          <a:effectLst/>
                          <a:latin typeface="Poppins" panose="00000500000000000000" pitchFamily="2" charset="0"/>
                        </a:rPr>
                        <a:t> NET REALIZED GAIN/LOSS</a:t>
                      </a:r>
                    </a:p>
                  </a:txBody>
                  <a:tcPr marL="18288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50" b="0" i="0" u="none" strike="noStrike" kern="1200">
                          <a:solidFill>
                            <a:srgbClr val="000000"/>
                          </a:solidFill>
                          <a:effectLst/>
                          <a:latin typeface="Poppins" panose="00000500000000000000" pitchFamily="2" charset="0"/>
                          <a:ea typeface="+mn-ea"/>
                          <a:cs typeface="+mn-cs"/>
                        </a:rPr>
                        <a:t>-$19,331</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631461342"/>
                  </a:ext>
                </a:extLst>
              </a:tr>
              <a:tr h="201636">
                <a:tc>
                  <a:txBody>
                    <a:bodyPr/>
                    <a:lstStyle/>
                    <a:p>
                      <a:pPr algn="l" rtl="0" fontAlgn="ctr"/>
                      <a:r>
                        <a:rPr lang="en-US" sz="1050" b="0" i="0" u="none" strike="noStrike">
                          <a:solidFill>
                            <a:srgbClr val="000000"/>
                          </a:solidFill>
                          <a:effectLst/>
                          <a:latin typeface="Poppins" panose="00000500000000000000" pitchFamily="2" charset="0"/>
                        </a:rPr>
                        <a:t> CHANGE IN NET UNREALIZED GAIN/LOSS</a:t>
                      </a:r>
                    </a:p>
                  </a:txBody>
                  <a:tcPr marL="18288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50" b="0" i="0" u="none" strike="noStrike" kern="1200">
                          <a:solidFill>
                            <a:srgbClr val="000000"/>
                          </a:solidFill>
                          <a:effectLst/>
                          <a:latin typeface="Poppins" panose="00000500000000000000" pitchFamily="2" charset="0"/>
                          <a:ea typeface="+mn-ea"/>
                          <a:cs typeface="+mn-cs"/>
                        </a:rPr>
                        <a:t>$7,620,073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908088082"/>
                  </a:ext>
                </a:extLst>
              </a:tr>
              <a:tr h="201636">
                <a:tc>
                  <a:txBody>
                    <a:bodyPr/>
                    <a:lstStyle/>
                    <a:p>
                      <a:pPr algn="l" rtl="0" fontAlgn="ctr"/>
                      <a:r>
                        <a:rPr lang="en-US" sz="1050" b="0" i="0" u="none" strike="noStrike">
                          <a:solidFill>
                            <a:srgbClr val="000000"/>
                          </a:solidFill>
                          <a:effectLst/>
                          <a:latin typeface="Poppins SemiBold" panose="00000700000000000000" pitchFamily="2" charset="0"/>
                        </a:rPr>
                        <a:t> </a:t>
                      </a:r>
                      <a:r>
                        <a:rPr lang="en-US" sz="1050" b="0" i="0" u="none" strike="noStrike" kern="1200">
                          <a:solidFill>
                            <a:srgbClr val="000000"/>
                          </a:solidFill>
                          <a:effectLst/>
                          <a:latin typeface="Poppins SemiBold" panose="00000700000000000000" pitchFamily="2" charset="0"/>
                          <a:ea typeface="+mn-ea"/>
                          <a:cs typeface="+mn-cs"/>
                        </a:rPr>
                        <a:t>ENDING</a:t>
                      </a:r>
                      <a:r>
                        <a:rPr lang="en-US" sz="1050" b="0" i="0" u="none" strike="noStrike">
                          <a:solidFill>
                            <a:srgbClr val="000000"/>
                          </a:solidFill>
                          <a:effectLst/>
                          <a:latin typeface="Poppins SemiBold" panose="00000700000000000000" pitchFamily="2" charset="0"/>
                        </a:rPr>
                        <a:t> MARKET VALUE</a:t>
                      </a:r>
                    </a:p>
                  </a:txBody>
                  <a:tcPr marL="18288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50" b="0" i="0" u="none" strike="noStrike" kern="1200">
                          <a:solidFill>
                            <a:srgbClr val="000000"/>
                          </a:solidFill>
                          <a:effectLst/>
                          <a:latin typeface="Poppins SemiBold" panose="00000700000000000000" pitchFamily="2" charset="0"/>
                          <a:ea typeface="+mn-ea"/>
                          <a:cs typeface="+mn-cs"/>
                        </a:rPr>
                        <a:t>$175,643,852</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14290403"/>
                  </a:ext>
                </a:extLst>
              </a:tr>
            </a:tbl>
          </a:graphicData>
        </a:graphic>
      </p:graphicFrame>
      <p:graphicFrame>
        <p:nvGraphicFramePr>
          <p:cNvPr id="2" name="Table 1" hidden="1">
            <a:extLst>
              <a:ext uri="{FF2B5EF4-FFF2-40B4-BE49-F238E27FC236}">
                <a16:creationId xmlns:a16="http://schemas.microsoft.com/office/drawing/2014/main" id="{97015A44-BE6D-2E33-04AF-29A1EB4046E7}"/>
              </a:ext>
            </a:extLst>
          </p:cNvPr>
          <p:cNvGraphicFramePr>
            <a:graphicFrameLocks noGrp="1"/>
          </p:cNvGraphicFramePr>
          <p:nvPr>
            <p:extLst>
              <p:ext uri="{D42A27DB-BD31-4B8C-83A1-F6EECF244321}">
                <p14:modId xmlns:p14="http://schemas.microsoft.com/office/powerpoint/2010/main" val="2548789570"/>
              </p:ext>
            </p:extLst>
          </p:nvPr>
        </p:nvGraphicFramePr>
        <p:xfrm>
          <a:off x="365761" y="4363728"/>
          <a:ext cx="8412479" cy="1878414"/>
        </p:xfrm>
        <a:graphic>
          <a:graphicData uri="http://schemas.openxmlformats.org/drawingml/2006/table">
            <a:tbl>
              <a:tblPr/>
              <a:tblGrid>
                <a:gridCol w="5160799">
                  <a:extLst>
                    <a:ext uri="{9D8B030D-6E8A-4147-A177-3AD203B41FA5}">
                      <a16:colId xmlns:a16="http://schemas.microsoft.com/office/drawing/2014/main" val="3097247051"/>
                    </a:ext>
                  </a:extLst>
                </a:gridCol>
                <a:gridCol w="3251680">
                  <a:extLst>
                    <a:ext uri="{9D8B030D-6E8A-4147-A177-3AD203B41FA5}">
                      <a16:colId xmlns:a16="http://schemas.microsoft.com/office/drawing/2014/main" val="2573655554"/>
                    </a:ext>
                  </a:extLst>
                </a:gridCol>
              </a:tblGrid>
              <a:tr h="191320">
                <a:tc gridSpan="2">
                  <a:txBody>
                    <a:bodyPr/>
                    <a:lstStyle/>
                    <a:p>
                      <a:pPr marL="0" marR="0" lvl="0" indent="0" algn="l" defTabSz="806867" rtl="0" eaLnBrk="1" fontAlgn="ctr" latinLnBrk="0" hangingPunct="1">
                        <a:lnSpc>
                          <a:spcPct val="100000"/>
                        </a:lnSpc>
                        <a:spcBef>
                          <a:spcPts val="0"/>
                        </a:spcBef>
                        <a:spcAft>
                          <a:spcPts val="0"/>
                        </a:spcAft>
                        <a:buClrTx/>
                        <a:buSzTx/>
                        <a:buFontTx/>
                        <a:buNone/>
                        <a:tabLst/>
                        <a:defRPr/>
                      </a:pPr>
                      <a:r>
                        <a:rPr lang="en-US" sz="1100" b="0" i="0" u="none" strike="noStrike" kern="1200">
                          <a:solidFill>
                            <a:srgbClr val="FFFFFF"/>
                          </a:solidFill>
                          <a:effectLst/>
                          <a:latin typeface="Poppins SemiBold" panose="00000700000000000000" pitchFamily="2" charset="0"/>
                          <a:ea typeface="+mn-ea"/>
                          <a:cs typeface="Poppins SemiBold" panose="00000700000000000000" pitchFamily="2" charset="0"/>
                        </a:rPr>
                        <a:t>PORTFOLIO </a:t>
                      </a:r>
                      <a:r>
                        <a:rPr lang="en-US" sz="1100" b="0" i="0" u="none" strike="noStrike">
                          <a:solidFill>
                            <a:srgbClr val="FFFFFF"/>
                          </a:solidFill>
                          <a:effectLst/>
                          <a:latin typeface="Poppins SemiBold" panose="00000700000000000000" pitchFamily="2" charset="0"/>
                          <a:cs typeface="Poppins SemiBold" panose="00000700000000000000" pitchFamily="2" charset="0"/>
                        </a:rPr>
                        <a:t>ROLL FORWARD</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A4256"/>
                    </a:solidFill>
                  </a:tcPr>
                </a:tc>
                <a:tc hMerge="1">
                  <a:txBody>
                    <a:bodyPr/>
                    <a:lstStyle/>
                    <a:p>
                      <a:pPr algn="ctr" rtl="0" fontAlgn="ctr"/>
                      <a:endParaRPr lang="en-US" sz="1050" b="0" i="0" u="none" strike="noStrike">
                        <a:solidFill>
                          <a:srgbClr val="000000"/>
                        </a:solidFill>
                        <a:effectLst/>
                        <a:latin typeface="Poppins Medium" panose="00000600000000000000" pitchFamily="2" charset="0"/>
                      </a:endParaR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A4256"/>
                    </a:solidFill>
                  </a:tcPr>
                </a:tc>
                <a:extLst>
                  <a:ext uri="{0D108BD9-81ED-4DB2-BD59-A6C34878D82A}">
                    <a16:rowId xmlns:a16="http://schemas.microsoft.com/office/drawing/2014/main" val="3722839043"/>
                  </a:ext>
                </a:extLst>
              </a:tr>
              <a:tr h="191320">
                <a:tc>
                  <a:txBody>
                    <a:bodyPr/>
                    <a:lstStyle/>
                    <a:p>
                      <a:pPr algn="l" rtl="0" fontAlgn="ctr"/>
                      <a:r>
                        <a:rPr lang="en-US" sz="1050" b="0" i="0" u="none" strike="noStrike">
                          <a:solidFill>
                            <a:srgbClr val="000000"/>
                          </a:solidFill>
                          <a:effectLst/>
                          <a:latin typeface="Poppins Medium" panose="00000600000000000000" pitchFamily="2" charset="0"/>
                        </a:rPr>
                        <a:t>BEGINNING MARKET VALUE </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Medium" panose="00000600000000000000" pitchFamily="2" charset="0"/>
                        </a:rPr>
                        <a:t>$84,571,688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008232"/>
                  </a:ext>
                </a:extLst>
              </a:tr>
              <a:tr h="191320">
                <a:tc>
                  <a:txBody>
                    <a:bodyPr/>
                    <a:lstStyle/>
                    <a:p>
                      <a:pPr algn="l" rtl="0" fontAlgn="ctr"/>
                      <a:r>
                        <a:rPr lang="en-US" sz="1050" b="0" i="0" u="none" strike="noStrike">
                          <a:solidFill>
                            <a:srgbClr val="000000"/>
                          </a:solidFill>
                          <a:effectLst/>
                          <a:latin typeface="Poppins Medium" panose="00000600000000000000" pitchFamily="2" charset="0"/>
                        </a:rPr>
                        <a:t>NET TRANSFERS IN/OUT</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algn="ctr" rtl="0" fontAlgn="ctr"/>
                      <a:r>
                        <a:rPr lang="en-US" sz="1050" b="0" i="0" u="none" strike="noStrike">
                          <a:solidFill>
                            <a:srgbClr val="000000"/>
                          </a:solidFill>
                          <a:effectLst/>
                          <a:latin typeface="Poppins Medium" panose="00000600000000000000" pitchFamily="2" charset="0"/>
                        </a:rPr>
                        <a:t>-$7,950,000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341427237"/>
                  </a:ext>
                </a:extLst>
              </a:tr>
              <a:tr h="173927">
                <a:tc>
                  <a:txBody>
                    <a:bodyPr/>
                    <a:lstStyle/>
                    <a:p>
                      <a:pPr algn="l" rtl="0" fontAlgn="ctr"/>
                      <a:r>
                        <a:rPr lang="en-US" sz="900" b="0" i="1" u="none" strike="noStrike">
                          <a:solidFill>
                            <a:srgbClr val="595959"/>
                          </a:solidFill>
                          <a:effectLst/>
                          <a:latin typeface="Poppins" panose="00000500000000000000" pitchFamily="2" charset="0"/>
                        </a:rPr>
                        <a:t>CONTRIBUTIONS (Q2 2023)</a:t>
                      </a:r>
                    </a:p>
                  </a:txBody>
                  <a:tcPr marL="36576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algn="ctr" rtl="0" fontAlgn="ctr"/>
                      <a:r>
                        <a:rPr lang="en-US" sz="900" b="0" i="1" u="none" strike="noStrike">
                          <a:solidFill>
                            <a:srgbClr val="595959"/>
                          </a:solidFill>
                          <a:effectLst/>
                          <a:latin typeface="Poppins" panose="00000500000000000000" pitchFamily="2" charset="0"/>
                        </a:rPr>
                        <a:t>$1,800,000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3705475691"/>
                  </a:ext>
                </a:extLst>
              </a:tr>
              <a:tr h="173927">
                <a:tc>
                  <a:txBody>
                    <a:bodyPr/>
                    <a:lstStyle/>
                    <a:p>
                      <a:pPr algn="l" rtl="0" fontAlgn="ctr"/>
                      <a:r>
                        <a:rPr lang="en-US" sz="900" b="0" i="1" u="none" strike="noStrike">
                          <a:solidFill>
                            <a:srgbClr val="595959"/>
                          </a:solidFill>
                          <a:effectLst/>
                          <a:latin typeface="Poppins" panose="00000500000000000000" pitchFamily="2" charset="0"/>
                        </a:rPr>
                        <a:t>WITHDRAWALS (Q4 2023/Q1 2024)</a:t>
                      </a:r>
                    </a:p>
                  </a:txBody>
                  <a:tcPr marL="36576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tc>
                  <a:txBody>
                    <a:bodyPr/>
                    <a:lstStyle/>
                    <a:p>
                      <a:pPr algn="ctr" rtl="0" fontAlgn="ctr"/>
                      <a:r>
                        <a:rPr lang="en-US" sz="900" b="0" i="1" u="none" strike="noStrike">
                          <a:solidFill>
                            <a:srgbClr val="595959"/>
                          </a:solidFill>
                          <a:effectLst/>
                          <a:latin typeface="Poppins" panose="00000500000000000000" pitchFamily="2" charset="0"/>
                        </a:rPr>
                        <a:t>-$9,750,000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4105764978"/>
                  </a:ext>
                </a:extLst>
              </a:tr>
              <a:tr h="191320">
                <a:tc>
                  <a:txBody>
                    <a:bodyPr/>
                    <a:lstStyle/>
                    <a:p>
                      <a:pPr algn="l" rtl="0" fontAlgn="ctr"/>
                      <a:r>
                        <a:rPr lang="en-US" sz="1050" b="0" i="0" u="none" strike="noStrike">
                          <a:solidFill>
                            <a:srgbClr val="000000"/>
                          </a:solidFill>
                          <a:effectLst/>
                          <a:latin typeface="Poppins Medium" panose="00000600000000000000" pitchFamily="2" charset="0"/>
                        </a:rPr>
                        <a:t>INCOME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Medium" panose="00000600000000000000" pitchFamily="2" charset="0"/>
                        </a:rPr>
                        <a:t>$3,211,564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995634548"/>
                  </a:ext>
                </a:extLst>
              </a:tr>
              <a:tr h="191320">
                <a:tc>
                  <a:txBody>
                    <a:bodyPr/>
                    <a:lstStyle/>
                    <a:p>
                      <a:pPr algn="l" rtl="0" fontAlgn="ctr"/>
                      <a:r>
                        <a:rPr lang="en-US" sz="1050" b="0" i="0" u="none" strike="noStrike">
                          <a:solidFill>
                            <a:srgbClr val="000000"/>
                          </a:solidFill>
                          <a:effectLst/>
                          <a:latin typeface="Poppins Medium" panose="00000600000000000000" pitchFamily="2" charset="0"/>
                        </a:rPr>
                        <a:t> EXPENSE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Medium" panose="00000600000000000000" pitchFamily="2" charset="0"/>
                        </a:rPr>
                        <a:t>-$22,463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02430801"/>
                  </a:ext>
                </a:extLst>
              </a:tr>
              <a:tr h="191320">
                <a:tc>
                  <a:txBody>
                    <a:bodyPr/>
                    <a:lstStyle/>
                    <a:p>
                      <a:pPr algn="l" rtl="0" fontAlgn="ctr"/>
                      <a:r>
                        <a:rPr lang="en-US" sz="1050" b="0" i="0" u="none" strike="noStrike">
                          <a:solidFill>
                            <a:srgbClr val="000000"/>
                          </a:solidFill>
                          <a:effectLst/>
                          <a:latin typeface="Poppins Medium" panose="00000600000000000000" pitchFamily="2" charset="0"/>
                        </a:rPr>
                        <a:t> NET REALIZED GAIN/LOSS</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Medium" panose="00000600000000000000" pitchFamily="2" charset="0"/>
                        </a:rPr>
                        <a:t>-$42,288</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505043941"/>
                  </a:ext>
                </a:extLst>
              </a:tr>
              <a:tr h="191320">
                <a:tc>
                  <a:txBody>
                    <a:bodyPr/>
                    <a:lstStyle/>
                    <a:p>
                      <a:pPr algn="l" rtl="0" fontAlgn="ctr"/>
                      <a:r>
                        <a:rPr lang="en-US" sz="1050" b="0" i="0" u="none" strike="noStrike">
                          <a:solidFill>
                            <a:srgbClr val="000000"/>
                          </a:solidFill>
                          <a:effectLst/>
                          <a:latin typeface="Poppins Medium" panose="00000600000000000000" pitchFamily="2" charset="0"/>
                        </a:rPr>
                        <a:t> CHANGE IN NET UNREALIZED GAIN/LOSS</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en-US" sz="1050" b="0" i="0" u="none" strike="noStrike">
                          <a:solidFill>
                            <a:srgbClr val="000000"/>
                          </a:solidFill>
                          <a:effectLst/>
                          <a:latin typeface="Poppins Medium" panose="00000600000000000000" pitchFamily="2" charset="0"/>
                        </a:rPr>
                        <a:t>$3,185,832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896548258"/>
                  </a:ext>
                </a:extLst>
              </a:tr>
              <a:tr h="191320">
                <a:tc>
                  <a:txBody>
                    <a:bodyPr/>
                    <a:lstStyle/>
                    <a:p>
                      <a:pPr algn="l" rtl="0" fontAlgn="ctr"/>
                      <a:r>
                        <a:rPr lang="en-US" sz="1050" b="0" i="0" u="none" strike="noStrike">
                          <a:solidFill>
                            <a:srgbClr val="000000"/>
                          </a:solidFill>
                          <a:effectLst/>
                          <a:latin typeface="Poppins SemiBold" panose="00000700000000000000" pitchFamily="2" charset="0"/>
                        </a:rPr>
                        <a:t> ENDING MARKET VALUE</a:t>
                      </a:r>
                    </a:p>
                  </a:txBody>
                  <a:tcPr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CFCF"/>
                    </a:solidFill>
                  </a:tcPr>
                </a:tc>
                <a:tc>
                  <a:txBody>
                    <a:bodyPr/>
                    <a:lstStyle/>
                    <a:p>
                      <a:pPr algn="ctr" rtl="0" fontAlgn="ctr"/>
                      <a:r>
                        <a:rPr lang="en-US" sz="1050" b="0" i="0" u="none" strike="noStrike">
                          <a:solidFill>
                            <a:srgbClr val="000000"/>
                          </a:solidFill>
                          <a:effectLst/>
                          <a:latin typeface="Poppins SemiBold" panose="00000700000000000000" pitchFamily="2" charset="0"/>
                        </a:rPr>
                        <a:t>$82,954,333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FCFCF"/>
                    </a:solidFill>
                  </a:tcPr>
                </a:tc>
                <a:extLst>
                  <a:ext uri="{0D108BD9-81ED-4DB2-BD59-A6C34878D82A}">
                    <a16:rowId xmlns:a16="http://schemas.microsoft.com/office/drawing/2014/main" val="435246980"/>
                  </a:ext>
                </a:extLst>
              </a:tr>
            </a:tbl>
          </a:graphicData>
        </a:graphic>
      </p:graphicFrame>
      <p:sp>
        <p:nvSpPr>
          <p:cNvPr id="17" name="Rectangle 16">
            <a:extLst>
              <a:ext uri="{FF2B5EF4-FFF2-40B4-BE49-F238E27FC236}">
                <a16:creationId xmlns:a16="http://schemas.microsoft.com/office/drawing/2014/main" id="{762434C8-FA6F-443C-A850-B089F84340EC}"/>
              </a:ext>
            </a:extLst>
          </p:cNvPr>
          <p:cNvSpPr/>
          <p:nvPr/>
        </p:nvSpPr>
        <p:spPr bwMode="auto">
          <a:xfrm>
            <a:off x="365760"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Bef>
                <a:spcPct val="50000"/>
              </a:spcBef>
              <a:spcAft>
                <a:spcPct val="0"/>
              </a:spcAft>
            </a:pPr>
            <a:r>
              <a:rPr lang="en-US" sz="1600">
                <a:solidFill>
                  <a:schemeClr val="bg1"/>
                </a:solidFill>
                <a:latin typeface="Poppins Light" panose="00000400000000000000" pitchFamily="2" charset="0"/>
                <a:cs typeface="Poppins Light" panose="00000400000000000000" pitchFamily="2" charset="0"/>
              </a:rPr>
              <a:t>PORTFOLIO ROLL FORWARD | </a:t>
            </a:r>
            <a:r>
              <a:rPr lang="en-US" sz="1600">
                <a:solidFill>
                  <a:schemeClr val="bg1"/>
                </a:solidFill>
                <a:latin typeface="Poppins Medium" panose="00000600000000000000" pitchFamily="2" charset="0"/>
                <a:cs typeface="Poppins Medium" panose="00000600000000000000" pitchFamily="2" charset="0"/>
              </a:rPr>
              <a:t>TRAILING 12 MONTHS THROUGH 10-27-2025</a:t>
            </a:r>
          </a:p>
        </p:txBody>
      </p:sp>
      <p:sp>
        <p:nvSpPr>
          <p:cNvPr id="5" name="TextBox 4">
            <a:extLst>
              <a:ext uri="{FF2B5EF4-FFF2-40B4-BE49-F238E27FC236}">
                <a16:creationId xmlns:a16="http://schemas.microsoft.com/office/drawing/2014/main" id="{356F8252-19FB-2445-65BD-B2987CC3265E}"/>
              </a:ext>
            </a:extLst>
          </p:cNvPr>
          <p:cNvSpPr txBox="1"/>
          <p:nvPr/>
        </p:nvSpPr>
        <p:spPr>
          <a:xfrm>
            <a:off x="9311640" y="1163638"/>
            <a:ext cx="4572000" cy="3970318"/>
          </a:xfrm>
          <a:prstGeom prst="rect">
            <a:avLst/>
          </a:prstGeom>
          <a:solidFill>
            <a:srgbClr val="FF0000"/>
          </a:solidFill>
        </p:spPr>
        <p:txBody>
          <a:bodyPr wrap="square">
            <a:spAutoFit/>
          </a:bodyPr>
          <a:lstStyle/>
          <a:p>
            <a:pPr marL="0" marR="0">
              <a:buNone/>
            </a:pPr>
            <a:r>
              <a:rPr lang="en-US" sz="1800" dirty="0">
                <a:solidFill>
                  <a:schemeClr val="bg1"/>
                </a:solidFill>
                <a:effectLst/>
                <a:latin typeface="Aptos" panose="020B0004020202020204" pitchFamily="34" charset="0"/>
                <a:ea typeface="Aptos" panose="020B0004020202020204" pitchFamily="34" charset="0"/>
                <a:cs typeface="Aptos" panose="020B0004020202020204" pitchFamily="34" charset="0"/>
              </a:rPr>
              <a:t>Regarding the contributions and withdrawals, if you run the C&amp;W report in CW and then sort by “Transaction Type”, you should then be able to pull just the “Cash Transfers” which are the true dollars coming into or out of the portfolio at the </a:t>
            </a:r>
            <a:r>
              <a:rPr lang="en-US" sz="1800" dirty="0" err="1">
                <a:solidFill>
                  <a:schemeClr val="bg1"/>
                </a:solidFill>
                <a:effectLst/>
                <a:latin typeface="Aptos" panose="020B0004020202020204" pitchFamily="34" charset="0"/>
                <a:ea typeface="Aptos" panose="020B0004020202020204" pitchFamily="34" charset="0"/>
                <a:cs typeface="Aptos" panose="020B0004020202020204" pitchFamily="34" charset="0"/>
              </a:rPr>
              <a:t>agg</a:t>
            </a:r>
            <a:r>
              <a:rPr lang="en-US" sz="1800" dirty="0">
                <a:solidFill>
                  <a:schemeClr val="bg1"/>
                </a:solidFill>
                <a:effectLst/>
                <a:latin typeface="Aptos" panose="020B0004020202020204" pitchFamily="34" charset="0"/>
                <a:ea typeface="Aptos" panose="020B0004020202020204" pitchFamily="34" charset="0"/>
                <a:cs typeface="Aptos" panose="020B0004020202020204" pitchFamily="34" charset="0"/>
              </a:rPr>
              <a:t> level (see attached).  Any fee related activity will be under the “custody fees” (hopefully) and anything that is just transfers between sub-accounts will show under “wire transfers”.  Hope this helps going forward where we need to break out the gross contributions and withdrawals on the </a:t>
            </a:r>
            <a:r>
              <a:rPr lang="en-US" sz="1800" dirty="0" err="1">
                <a:solidFill>
                  <a:schemeClr val="bg1"/>
                </a:solidFill>
                <a:effectLst/>
                <a:latin typeface="Aptos" panose="020B0004020202020204" pitchFamily="34" charset="0"/>
                <a:ea typeface="Aptos" panose="020B0004020202020204" pitchFamily="34" charset="0"/>
                <a:cs typeface="Aptos" panose="020B0004020202020204" pitchFamily="34" charset="0"/>
              </a:rPr>
              <a:t>rollforward</a:t>
            </a:r>
            <a:r>
              <a:rPr lang="en-US" sz="1800" dirty="0">
                <a:solidFill>
                  <a:schemeClr val="bg1"/>
                </a:solidFill>
                <a:effectLst/>
                <a:latin typeface="Aptos" panose="020B0004020202020204" pitchFamily="34" charset="0"/>
                <a:ea typeface="Aptos" panose="020B0004020202020204" pitchFamily="34" charset="0"/>
                <a:cs typeface="Aptos" panose="020B0004020202020204" pitchFamily="34" charset="0"/>
              </a:rPr>
              <a:t>.</a:t>
            </a:r>
            <a:endParaRPr lang="en-US" sz="14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p:txBody>
      </p:sp>
      <p:graphicFrame>
        <p:nvGraphicFramePr>
          <p:cNvPr id="8" name="Chart 7">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169480816"/>
              </p:ext>
            </p:extLst>
          </p:nvPr>
        </p:nvGraphicFramePr>
        <p:xfrm>
          <a:off x="365761" y="1238445"/>
          <a:ext cx="8585122" cy="3447868"/>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F5F2180D-DACD-1C5D-171E-29B3A7E4D271}"/>
              </a:ext>
            </a:extLst>
          </p:cNvPr>
          <p:cNvSpPr txBox="1"/>
          <p:nvPr/>
        </p:nvSpPr>
        <p:spPr>
          <a:xfrm>
            <a:off x="9317255" y="539015"/>
            <a:ext cx="3599848" cy="923330"/>
          </a:xfrm>
          <a:prstGeom prst="rect">
            <a:avLst/>
          </a:prstGeom>
          <a:solidFill>
            <a:srgbClr val="92D050"/>
          </a:solidFill>
        </p:spPr>
        <p:txBody>
          <a:bodyPr wrap="square" rtlCol="0">
            <a:spAutoFit/>
          </a:bodyPr>
          <a:lstStyle/>
          <a:p>
            <a:r>
              <a:rPr lang="en-US" dirty="0"/>
              <a:t>SOURCED VIA PORTFOLIO ROLLFORWARD REPORT IN CLEARWATER</a:t>
            </a:r>
          </a:p>
        </p:txBody>
      </p:sp>
    </p:spTree>
    <p:extLst>
      <p:ext uri="{BB962C8B-B14F-4D97-AF65-F5344CB8AC3E}">
        <p14:creationId xmlns:p14="http://schemas.microsoft.com/office/powerpoint/2010/main" val="4187766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CF76990-2A9F-436D-AA72-8068F7C57FA0}"/>
              </a:ext>
            </a:extLst>
          </p:cNvPr>
          <p:cNvPicPr>
            <a:picLocks noChangeAspect="1"/>
          </p:cNvPicPr>
          <p:nvPr/>
        </p:nvPicPr>
        <p:blipFill rotWithShape="1">
          <a:blip r:embed="rId3">
            <a:duotone>
              <a:prstClr val="black"/>
              <a:srgbClr val="106280">
                <a:tint val="45000"/>
                <a:satMod val="400000"/>
              </a:srgbClr>
            </a:duotone>
          </a:blip>
          <a:srcRect l="2668" t="4540"/>
          <a:stretch/>
        </p:blipFill>
        <p:spPr>
          <a:xfrm>
            <a:off x="209886" y="91498"/>
            <a:ext cx="4291184" cy="6691086"/>
          </a:xfrm>
          <a:prstGeom prst="rect">
            <a:avLst/>
          </a:prstGeom>
        </p:spPr>
      </p:pic>
      <p:sp>
        <p:nvSpPr>
          <p:cNvPr id="10" name="Rectangle: Diagonal Corners Rounded 9">
            <a:extLst>
              <a:ext uri="{FF2B5EF4-FFF2-40B4-BE49-F238E27FC236}">
                <a16:creationId xmlns:a16="http://schemas.microsoft.com/office/drawing/2014/main" id="{833DD204-95B8-4F35-B395-231EE88518F2}"/>
              </a:ext>
            </a:extLst>
          </p:cNvPr>
          <p:cNvSpPr/>
          <p:nvPr/>
        </p:nvSpPr>
        <p:spPr bwMode="auto">
          <a:xfrm rot="3027441">
            <a:off x="-786503" y="3065324"/>
            <a:ext cx="9243844" cy="622708"/>
          </a:xfrm>
          <a:custGeom>
            <a:avLst/>
            <a:gdLst>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218983 w 8664014"/>
              <a:gd name="connsiteY4" fmla="*/ 673455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9356709"/>
              <a:gd name="connsiteY0" fmla="*/ 424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336731 w 9356709"/>
              <a:gd name="connsiteY8" fmla="*/ 424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96512 w 9356709"/>
              <a:gd name="connsiteY6" fmla="*/ 676890 h 677703"/>
              <a:gd name="connsiteX7" fmla="*/ 235528 w 9356709"/>
              <a:gd name="connsiteY7" fmla="*/ 492799 h 677703"/>
              <a:gd name="connsiteX8" fmla="*/ 682481 w 9356709"/>
              <a:gd name="connsiteY8" fmla="*/ 5171 h 677703"/>
              <a:gd name="connsiteX0" fmla="*/ 585969 w 9260197"/>
              <a:gd name="connsiteY0" fmla="*/ 5171 h 677696"/>
              <a:gd name="connsiteX1" fmla="*/ 8567502 w 9260197"/>
              <a:gd name="connsiteY1" fmla="*/ 4241 h 677696"/>
              <a:gd name="connsiteX2" fmla="*/ 9260197 w 9260197"/>
              <a:gd name="connsiteY2" fmla="*/ 0 h 677696"/>
              <a:gd name="connsiteX3" fmla="*/ 8106957 w 9260197"/>
              <a:gd name="connsiteY3" fmla="*/ 338260 h 677696"/>
              <a:gd name="connsiteX4" fmla="*/ 8122471 w 9260197"/>
              <a:gd name="connsiteY4" fmla="*/ 677696 h 677696"/>
              <a:gd name="connsiteX5" fmla="*/ 28706 w 9260197"/>
              <a:gd name="connsiteY5" fmla="*/ 675752 h 677696"/>
              <a:gd name="connsiteX6" fmla="*/ 0 w 9260197"/>
              <a:gd name="connsiteY6" fmla="*/ 676890 h 677696"/>
              <a:gd name="connsiteX7" fmla="*/ 139016 w 9260197"/>
              <a:gd name="connsiteY7" fmla="*/ 492799 h 677696"/>
              <a:gd name="connsiteX8" fmla="*/ 585969 w 9260197"/>
              <a:gd name="connsiteY8" fmla="*/ 5171 h 6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60197" h="677696">
                <a:moveTo>
                  <a:pt x="585969" y="5171"/>
                </a:moveTo>
                <a:lnTo>
                  <a:pt x="8567502" y="4241"/>
                </a:lnTo>
                <a:lnTo>
                  <a:pt x="9260197" y="0"/>
                </a:lnTo>
                <a:lnTo>
                  <a:pt x="8106957" y="338260"/>
                </a:lnTo>
                <a:cubicBezTo>
                  <a:pt x="8106957" y="524231"/>
                  <a:pt x="8308442" y="677696"/>
                  <a:pt x="8122471" y="677696"/>
                </a:cubicBezTo>
                <a:lnTo>
                  <a:pt x="28706" y="675752"/>
                </a:lnTo>
                <a:lnTo>
                  <a:pt x="0" y="676890"/>
                </a:lnTo>
                <a:lnTo>
                  <a:pt x="139016" y="492799"/>
                </a:lnTo>
                <a:cubicBezTo>
                  <a:pt x="264084" y="341711"/>
                  <a:pt x="438101" y="146362"/>
                  <a:pt x="585969" y="5171"/>
                </a:cubicBezTo>
                <a:close/>
              </a:path>
            </a:pathLst>
          </a:cu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pic>
        <p:nvPicPr>
          <p:cNvPr id="14" name="Picture 13">
            <a:extLst>
              <a:ext uri="{FF2B5EF4-FFF2-40B4-BE49-F238E27FC236}">
                <a16:creationId xmlns:a16="http://schemas.microsoft.com/office/drawing/2014/main" id="{84A17D6C-76DD-49F3-BA01-7268C5F086DD}"/>
              </a:ext>
            </a:extLst>
          </p:cNvPr>
          <p:cNvPicPr>
            <a:picLocks noChangeAspect="1"/>
          </p:cNvPicPr>
          <p:nvPr/>
        </p:nvPicPr>
        <p:blipFill rotWithShape="1">
          <a:blip r:embed="rId4"/>
          <a:srcRect l="1" t="17282" r="34407" b="16123"/>
          <a:stretch/>
        </p:blipFill>
        <p:spPr>
          <a:xfrm>
            <a:off x="2641408" y="214869"/>
            <a:ext cx="6289218" cy="6465329"/>
          </a:xfrm>
          <a:prstGeom prst="rect">
            <a:avLst/>
          </a:prstGeom>
        </p:spPr>
      </p:pic>
      <p:sp>
        <p:nvSpPr>
          <p:cNvPr id="31" name="Rectangle 30">
            <a:extLst>
              <a:ext uri="{FF2B5EF4-FFF2-40B4-BE49-F238E27FC236}">
                <a16:creationId xmlns:a16="http://schemas.microsoft.com/office/drawing/2014/main" id="{E6D10223-F6D5-4585-8AA5-0A774C445C2F}"/>
              </a:ext>
            </a:extLst>
          </p:cNvPr>
          <p:cNvSpPr/>
          <p:nvPr/>
        </p:nvSpPr>
        <p:spPr bwMode="auto">
          <a:xfrm>
            <a:off x="2197100" y="647700"/>
            <a:ext cx="6808877" cy="3462905"/>
          </a:xfrm>
          <a:prstGeom prst="rect">
            <a:avLst/>
          </a:prstGeom>
          <a:solidFill>
            <a:srgbClr val="FFFFFF">
              <a:alpha val="63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32" name="Straight Connector 31">
            <a:extLst>
              <a:ext uri="{FF2B5EF4-FFF2-40B4-BE49-F238E27FC236}">
                <a16:creationId xmlns:a16="http://schemas.microsoft.com/office/drawing/2014/main" id="{EA4CEF53-EDA9-45F2-A34A-B54567D6AFE4}"/>
              </a:ext>
            </a:extLst>
          </p:cNvPr>
          <p:cNvCxnSpPr>
            <a:cxnSpLocks/>
          </p:cNvCxnSpPr>
          <p:nvPr/>
        </p:nvCxnSpPr>
        <p:spPr bwMode="auto">
          <a:xfrm>
            <a:off x="5215564" y="249245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33" name="Text Box 8">
            <a:extLst>
              <a:ext uri="{FF2B5EF4-FFF2-40B4-BE49-F238E27FC236}">
                <a16:creationId xmlns:a16="http://schemas.microsoft.com/office/drawing/2014/main" id="{2A868375-88A9-44C6-AAEF-7F1D1FD15A25}"/>
              </a:ext>
            </a:extLst>
          </p:cNvPr>
          <p:cNvSpPr txBox="1">
            <a:spLocks noChangeArrowheads="1"/>
          </p:cNvSpPr>
          <p:nvPr/>
        </p:nvSpPr>
        <p:spPr bwMode="auto">
          <a:xfrm>
            <a:off x="658692" y="2628056"/>
            <a:ext cx="8127441" cy="8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nchor="ctr">
            <a:spAutoFit/>
          </a:bodyPr>
          <a:lstStyle>
            <a:lvl1pPr eaLnBrk="0" hangingPunct="0">
              <a:defRPr sz="1000" b="1">
                <a:solidFill>
                  <a:schemeClr val="tx1"/>
                </a:solidFill>
                <a:latin typeface="Arial" charset="0"/>
                <a:cs typeface="Arial" charset="0"/>
              </a:defRPr>
            </a:lvl1pPr>
            <a:lvl2pPr marL="742950" indent="-285750" eaLnBrk="0" hangingPunct="0">
              <a:defRPr sz="1000" b="1">
                <a:solidFill>
                  <a:schemeClr val="tx1"/>
                </a:solidFill>
                <a:latin typeface="Arial" charset="0"/>
                <a:cs typeface="Arial" charset="0"/>
              </a:defRPr>
            </a:lvl2pPr>
            <a:lvl3pPr marL="1143000" indent="-228600" eaLnBrk="0" hangingPunct="0">
              <a:defRPr sz="1000" b="1">
                <a:solidFill>
                  <a:schemeClr val="tx1"/>
                </a:solidFill>
                <a:latin typeface="Arial" charset="0"/>
                <a:cs typeface="Arial" charset="0"/>
              </a:defRPr>
            </a:lvl3pPr>
            <a:lvl4pPr marL="1600200" indent="-228600" eaLnBrk="0" hangingPunct="0">
              <a:defRPr sz="1000" b="1">
                <a:solidFill>
                  <a:schemeClr val="tx1"/>
                </a:solidFill>
                <a:latin typeface="Arial" charset="0"/>
                <a:cs typeface="Arial" charset="0"/>
              </a:defRPr>
            </a:lvl4pPr>
            <a:lvl5pPr marL="2057400" indent="-228600" eaLnBrk="0" hangingPunct="0">
              <a:defRPr sz="1000" b="1">
                <a:solidFill>
                  <a:schemeClr val="tx1"/>
                </a:solidFill>
                <a:latin typeface="Arial" charset="0"/>
                <a:cs typeface="Arial" charset="0"/>
              </a:defRPr>
            </a:lvl5pPr>
            <a:lvl6pPr marL="2514600" indent="-228600" eaLnBrk="0" fontAlgn="base" hangingPunct="0">
              <a:spcBef>
                <a:spcPct val="0"/>
              </a:spcBef>
              <a:spcAft>
                <a:spcPct val="0"/>
              </a:spcAft>
              <a:defRPr sz="1000" b="1">
                <a:solidFill>
                  <a:schemeClr val="tx1"/>
                </a:solidFill>
                <a:latin typeface="Arial" charset="0"/>
                <a:cs typeface="Arial" charset="0"/>
              </a:defRPr>
            </a:lvl6pPr>
            <a:lvl7pPr marL="2971800" indent="-228600" eaLnBrk="0" fontAlgn="base" hangingPunct="0">
              <a:spcBef>
                <a:spcPct val="0"/>
              </a:spcBef>
              <a:spcAft>
                <a:spcPct val="0"/>
              </a:spcAft>
              <a:defRPr sz="1000" b="1">
                <a:solidFill>
                  <a:schemeClr val="tx1"/>
                </a:solidFill>
                <a:latin typeface="Arial" charset="0"/>
                <a:cs typeface="Arial" charset="0"/>
              </a:defRPr>
            </a:lvl7pPr>
            <a:lvl8pPr marL="3429000" indent="-228600" eaLnBrk="0" fontAlgn="base" hangingPunct="0">
              <a:spcBef>
                <a:spcPct val="0"/>
              </a:spcBef>
              <a:spcAft>
                <a:spcPct val="0"/>
              </a:spcAft>
              <a:defRPr sz="1000" b="1">
                <a:solidFill>
                  <a:schemeClr val="tx1"/>
                </a:solidFill>
                <a:latin typeface="Arial" charset="0"/>
                <a:cs typeface="Arial" charset="0"/>
              </a:defRPr>
            </a:lvl8pPr>
            <a:lvl9pPr marL="3886200" indent="-228600" eaLnBrk="0" fontAlgn="base" hangingPunct="0">
              <a:spcBef>
                <a:spcPct val="0"/>
              </a:spcBef>
              <a:spcAft>
                <a:spcPct val="0"/>
              </a:spcAft>
              <a:defRPr sz="1000" b="1">
                <a:solidFill>
                  <a:schemeClr val="tx1"/>
                </a:solidFill>
                <a:latin typeface="Arial" charset="0"/>
                <a:cs typeface="Arial" charset="0"/>
              </a:defRPr>
            </a:lvl9pPr>
          </a:lstStyle>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1800" b="0" i="0" u="none" strike="noStrike" kern="1200" cap="all"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Appendix i</a:t>
            </a:r>
          </a:p>
          <a:p>
            <a:pPr marL="0" marR="0" lvl="1" indent="0" algn="r" defTabSz="457200" rtl="0" eaLnBrk="0" fontAlgn="auto" latinLnBrk="0" hangingPunct="0">
              <a:lnSpc>
                <a:spcPct val="100000"/>
              </a:lnSpc>
              <a:spcBef>
                <a:spcPts val="0"/>
              </a:spcBef>
              <a:spcAft>
                <a:spcPts val="0"/>
              </a:spcAft>
              <a:buClrTx/>
              <a:buSzTx/>
              <a:buFontTx/>
              <a:buNone/>
              <a:tabLst/>
              <a:defRPr/>
            </a:pPr>
            <a:endParaRPr kumimoji="0" lang="en-US" altLang="en-US" sz="1050" b="0" i="0" u="none" strike="noStrike" kern="1200" cap="all"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endParaRPr>
          </a:p>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2100" b="0" i="0" u="none" strike="noStrike" kern="1200" cap="all"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rPr>
              <a:t>Investment Grade Fixed Income SMA </a:t>
            </a:r>
          </a:p>
        </p:txBody>
      </p:sp>
      <p:cxnSp>
        <p:nvCxnSpPr>
          <p:cNvPr id="34" name="Straight Connector 33">
            <a:extLst>
              <a:ext uri="{FF2B5EF4-FFF2-40B4-BE49-F238E27FC236}">
                <a16:creationId xmlns:a16="http://schemas.microsoft.com/office/drawing/2014/main" id="{E36DFEC2-CD75-4B78-ADEB-0BF3C3230DC6}"/>
              </a:ext>
            </a:extLst>
          </p:cNvPr>
          <p:cNvCxnSpPr>
            <a:cxnSpLocks/>
          </p:cNvCxnSpPr>
          <p:nvPr/>
        </p:nvCxnSpPr>
        <p:spPr bwMode="auto">
          <a:xfrm>
            <a:off x="5220108" y="361640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29" name="Rectangle 28">
            <a:extLst>
              <a:ext uri="{FF2B5EF4-FFF2-40B4-BE49-F238E27FC236}">
                <a16:creationId xmlns:a16="http://schemas.microsoft.com/office/drawing/2014/main" id="{82FA936D-D013-48A2-B1D3-8125F0B0DA6A}"/>
              </a:ext>
            </a:extLst>
          </p:cNvPr>
          <p:cNvSpPr/>
          <p:nvPr/>
        </p:nvSpPr>
        <p:spPr bwMode="auto">
          <a:xfrm>
            <a:off x="0" y="6680199"/>
            <a:ext cx="9055100" cy="177801"/>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14191" y="1073409"/>
            <a:ext cx="4630427" cy="1091667"/>
          </a:xfrm>
          <a:prstGeom prst="rect">
            <a:avLst/>
          </a:prstGeom>
          <a:ln>
            <a:noFill/>
          </a:ln>
        </p:spPr>
      </p:pic>
      <p:sp>
        <p:nvSpPr>
          <p:cNvPr id="23" name="HUGH SANDI PETER DAVID" hidden="1">
            <a:extLst>
              <a:ext uri="{FF2B5EF4-FFF2-40B4-BE49-F238E27FC236}">
                <a16:creationId xmlns:a16="http://schemas.microsoft.com/office/drawing/2014/main" id="{DA88B559-9FFC-4B27-A0C8-BFC81CF67F49}"/>
              </a:ext>
            </a:extLst>
          </p:cNvPr>
          <p:cNvSpPr/>
          <p:nvPr/>
        </p:nvSpPr>
        <p:spPr>
          <a:xfrm>
            <a:off x="4534532" y="3860972"/>
            <a:ext cx="4328429"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SANDI PRESCOTT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CLIENT SERVICE</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sp>
        <p:nvSpPr>
          <p:cNvPr id="17" name="HUGH SANDI PETER DAVID" hidden="1">
            <a:extLst>
              <a:ext uri="{FF2B5EF4-FFF2-40B4-BE49-F238E27FC236}">
                <a16:creationId xmlns:a16="http://schemas.microsoft.com/office/drawing/2014/main" id="{D47FA4D9-5A5D-475F-9949-EF41E1B85A92}"/>
              </a:ext>
            </a:extLst>
          </p:cNvPr>
          <p:cNvSpPr/>
          <p:nvPr/>
        </p:nvSpPr>
        <p:spPr>
          <a:xfrm>
            <a:off x="4545354" y="3858120"/>
            <a:ext cx="4328493"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a:p>
            <a:pPr marL="0" marR="0" lvl="1" indent="0" algn="r" defTabSz="457200" rtl="0" eaLnBrk="1" fontAlgn="auto" latinLnBrk="0" hangingPunct="1">
              <a:lnSpc>
                <a:spcPct val="100000"/>
              </a:lnSpc>
              <a:spcBef>
                <a:spcPts val="0"/>
              </a:spcBef>
              <a:spcAft>
                <a:spcPts val="600"/>
              </a:spcAft>
              <a:buClrTx/>
              <a:buSzTx/>
              <a:buFontTx/>
              <a:buNone/>
              <a:tabLst/>
              <a:defRPr/>
            </a:pPr>
            <a:endPar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endParaRPr>
          </a:p>
        </p:txBody>
      </p:sp>
      <p:sp>
        <p:nvSpPr>
          <p:cNvPr id="22" name="Rectangle 21">
            <a:extLst>
              <a:ext uri="{FF2B5EF4-FFF2-40B4-BE49-F238E27FC236}">
                <a16:creationId xmlns:a16="http://schemas.microsoft.com/office/drawing/2014/main" id="{3F2213C9-A0FE-494E-AF69-D977CFDDD7C9}"/>
              </a:ext>
            </a:extLst>
          </p:cNvPr>
          <p:cNvSpPr/>
          <p:nvPr/>
        </p:nvSpPr>
        <p:spPr bwMode="auto">
          <a:xfrm>
            <a:off x="90020" y="7157"/>
            <a:ext cx="8875059" cy="217213"/>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Sandi Warren" hidden="1">
            <a:extLst>
              <a:ext uri="{FF2B5EF4-FFF2-40B4-BE49-F238E27FC236}">
                <a16:creationId xmlns:a16="http://schemas.microsoft.com/office/drawing/2014/main" id="{65443961-D79C-480D-9CCD-5330A824A3CA}"/>
              </a:ext>
            </a:extLst>
          </p:cNvPr>
          <p:cNvSpPr/>
          <p:nvPr/>
        </p:nvSpPr>
        <p:spPr>
          <a:xfrm>
            <a:off x="5077066" y="3887719"/>
            <a:ext cx="3797835" cy="677108"/>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spTree>
    <p:extLst>
      <p:ext uri="{BB962C8B-B14F-4D97-AF65-F5344CB8AC3E}">
        <p14:creationId xmlns:p14="http://schemas.microsoft.com/office/powerpoint/2010/main" val="194601949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BE3CB085-B1B5-4853-B67D-1D7B4DB20476}"/>
              </a:ext>
            </a:extLst>
          </p:cNvPr>
          <p:cNvSpPr/>
          <p:nvPr/>
        </p:nvSpPr>
        <p:spPr>
          <a:xfrm>
            <a:off x="269399" y="6435767"/>
            <a:ext cx="8321297" cy="342786"/>
          </a:xfrm>
          <a:prstGeom prst="rect">
            <a:avLst/>
          </a:prstGeom>
        </p:spPr>
        <p:txBody>
          <a:bodyPr wrap="square">
            <a:spAutoFit/>
          </a:bodyPr>
          <a:lstStyle/>
          <a:p>
            <a:pPr algn="just" defTabSz="806867" fontAlgn="base">
              <a:lnSpc>
                <a:spcPct val="90000"/>
              </a:lnSpc>
              <a:spcBef>
                <a:spcPct val="0"/>
              </a:spcBef>
            </a:pPr>
            <a:r>
              <a:rPr lang="en-US" sz="900" spc="-20">
                <a:solidFill>
                  <a:srgbClr val="394849"/>
                </a:solidFill>
                <a:latin typeface="Poppins Light" panose="00000400000000000000" pitchFamily="2" charset="0"/>
                <a:cs typeface="Poppins Light" panose="00000400000000000000" pitchFamily="2" charset="0"/>
              </a:rPr>
              <a:t>COLUMNS MAY NOT SUM TO TOTAL DUE TO ROUNDING. </a:t>
            </a:r>
            <a:r>
              <a:rPr lang="en-US" sz="900" spc="-20" baseline="30000">
                <a:solidFill>
                  <a:srgbClr val="394849"/>
                </a:solidFill>
                <a:latin typeface="Poppins Light" panose="00000400000000000000" pitchFamily="2" charset="0"/>
                <a:cs typeface="Poppins Light" panose="00000400000000000000" pitchFamily="2" charset="0"/>
              </a:rPr>
              <a:t>1</a:t>
            </a:r>
            <a:r>
              <a:rPr lang="en-US" sz="900" spc="-20">
                <a:solidFill>
                  <a:srgbClr val="394849"/>
                </a:solidFill>
                <a:latin typeface="Poppins Light" panose="00000400000000000000" pitchFamily="2" charset="0"/>
                <a:cs typeface="Poppins Light" panose="00000400000000000000" pitchFamily="2" charset="0"/>
              </a:rPr>
              <a:t> BLOOMBERG INTERMEDIATE U.S. GOVERNMENT/CREDIT INDEX. </a:t>
            </a:r>
            <a:r>
              <a:rPr lang="en-US" sz="900" spc="-20" baseline="30000">
                <a:solidFill>
                  <a:srgbClr val="394849"/>
                </a:solidFill>
                <a:latin typeface="Poppins Light" panose="00000400000000000000" pitchFamily="2" charset="0"/>
                <a:cs typeface="Poppins Light" panose="00000400000000000000" pitchFamily="2" charset="0"/>
              </a:rPr>
              <a:t>2 </a:t>
            </a:r>
            <a:r>
              <a:rPr lang="en-US" sz="900" spc="-20">
                <a:solidFill>
                  <a:srgbClr val="394849"/>
                </a:solidFill>
                <a:latin typeface="Poppins Light" panose="00000400000000000000" pitchFamily="2" charset="0"/>
                <a:cs typeface="Poppins Light" panose="00000400000000000000" pitchFamily="2" charset="0"/>
              </a:rPr>
              <a:t>STRUCTURED PRODUCT INCLUDES ASSET-BACKED SECURITIES (ABS), COMMERCIAL MORTGAGE-BACKED SECURITIES (CMBS) AND RESIDENTIAL MORTGAGE-BACKED SECURITIES (RMBS).  </a:t>
            </a:r>
          </a:p>
        </p:txBody>
      </p:sp>
      <p:graphicFrame>
        <p:nvGraphicFramePr>
          <p:cNvPr id="16" name="Table 15">
            <a:extLst>
              <a:ext uri="{FF2B5EF4-FFF2-40B4-BE49-F238E27FC236}">
                <a16:creationId xmlns:a16="http://schemas.microsoft.com/office/drawing/2014/main" id="{2490F163-D98F-40CA-A530-BF8CC4E363D7}"/>
              </a:ext>
            </a:extLst>
          </p:cNvPr>
          <p:cNvGraphicFramePr>
            <a:graphicFrameLocks noGrp="1"/>
          </p:cNvGraphicFramePr>
          <p:nvPr>
            <p:extLst>
              <p:ext uri="{D42A27DB-BD31-4B8C-83A1-F6EECF244321}">
                <p14:modId xmlns:p14="http://schemas.microsoft.com/office/powerpoint/2010/main" val="4144507734"/>
              </p:ext>
            </p:extLst>
          </p:nvPr>
        </p:nvGraphicFramePr>
        <p:xfrm>
          <a:off x="366583" y="1209228"/>
          <a:ext cx="8412480" cy="1799712"/>
        </p:xfrm>
        <a:graphic>
          <a:graphicData uri="http://schemas.openxmlformats.org/drawingml/2006/table">
            <a:tbl>
              <a:tblPr bandRow="1">
                <a:tableStyleId>{93296810-A885-4BE3-A3E7-6D5BEEA58F35}</a:tableStyleId>
              </a:tblPr>
              <a:tblGrid>
                <a:gridCol w="2694117">
                  <a:extLst>
                    <a:ext uri="{9D8B030D-6E8A-4147-A177-3AD203B41FA5}">
                      <a16:colId xmlns:a16="http://schemas.microsoft.com/office/drawing/2014/main" val="20000"/>
                    </a:ext>
                  </a:extLst>
                </a:gridCol>
                <a:gridCol w="3173946">
                  <a:extLst>
                    <a:ext uri="{9D8B030D-6E8A-4147-A177-3AD203B41FA5}">
                      <a16:colId xmlns:a16="http://schemas.microsoft.com/office/drawing/2014/main" val="20001"/>
                    </a:ext>
                  </a:extLst>
                </a:gridCol>
                <a:gridCol w="2544417">
                  <a:extLst>
                    <a:ext uri="{9D8B030D-6E8A-4147-A177-3AD203B41FA5}">
                      <a16:colId xmlns:a16="http://schemas.microsoft.com/office/drawing/2014/main" val="20002"/>
                    </a:ext>
                  </a:extLst>
                </a:gridCol>
              </a:tblGrid>
              <a:tr h="358287">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baseline="0">
                          <a:solidFill>
                            <a:schemeClr val="bg1"/>
                          </a:solidFill>
                          <a:latin typeface="Poppins" panose="00000500000000000000" pitchFamily="2" charset="0"/>
                          <a:cs typeface="Poppins" panose="00000500000000000000" pitchFamily="2" charset="0"/>
                        </a:rPr>
                        <a:t>SUMMARY STATISTICS</a:t>
                      </a:r>
                      <a:endParaRPr lang="en-US" sz="1600" b="0">
                        <a:solidFill>
                          <a:schemeClr val="bg1"/>
                        </a:solidFill>
                        <a:latin typeface="Poppins" panose="00000500000000000000" pitchFamily="2" charset="0"/>
                        <a:cs typeface="Poppins" panose="00000500000000000000" pitchFamily="2" charset="0"/>
                      </a:endParaRPr>
                    </a:p>
                  </a:txBody>
                  <a:tcPr marL="80682" marR="80682" marT="40341" marB="4034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1">
                        <a:solidFill>
                          <a:schemeClr val="bg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tx1">
                        <a:lumMod val="75000"/>
                        <a:lumOff val="25000"/>
                      </a:schemeClr>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1">
                        <a:solidFill>
                          <a:schemeClr val="bg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10000"/>
                  </a:ext>
                </a:extLst>
              </a:tr>
              <a:tr h="288285">
                <a:tc>
                  <a:txBody>
                    <a:bodyPr/>
                    <a:lstStyle/>
                    <a:p>
                      <a:pPr marL="0" algn="ctr" defTabSz="914400" rtl="0" eaLnBrk="1" fontAlgn="ctr" latinLnBrk="0" hangingPunct="1"/>
                      <a:r>
                        <a:rPr lang="en-US" sz="1400" b="0" i="0" u="none" strike="noStrike" kern="1200" baseline="30000">
                          <a:solidFill>
                            <a:srgbClr val="5490A6"/>
                          </a:solidFill>
                          <a:effectLst/>
                          <a:latin typeface="Poppins" panose="00000500000000000000" pitchFamily="2" charset="0"/>
                          <a:ea typeface="+mn-ea"/>
                          <a:cs typeface="Poppins" panose="00000500000000000000" pitchFamily="2" charset="0"/>
                        </a:rPr>
                        <a:t>MARKET VALUE: $12,210,793</a:t>
                      </a:r>
                    </a:p>
                  </a:txBody>
                  <a:tcPr marL="8404" marR="8404"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marL="0" algn="ctr" defTabSz="914400" rtl="0" eaLnBrk="1" fontAlgn="ctr" latinLnBrk="0" hangingPunct="1"/>
                      <a:r>
                        <a:rPr lang="en-US" sz="1400" b="0" i="0" u="none" strike="noStrike" kern="1200">
                          <a:solidFill>
                            <a:schemeClr val="bg1"/>
                          </a:solidFill>
                          <a:effectLst/>
                          <a:latin typeface="Poppins" panose="00000500000000000000" pitchFamily="2" charset="0"/>
                          <a:ea typeface="+mn-ea"/>
                          <a:cs typeface="Poppins" panose="00000500000000000000" pitchFamily="2" charset="0"/>
                        </a:rPr>
                        <a:t>PORTFOLIO </a:t>
                      </a:r>
                      <a:r>
                        <a:rPr lang="en-US" sz="1400" b="0" i="0" u="none" strike="noStrike" kern="1200" baseline="30000">
                          <a:solidFill>
                            <a:schemeClr val="bg1"/>
                          </a:solidFill>
                          <a:effectLst/>
                          <a:latin typeface="Poppins" panose="00000500000000000000" pitchFamily="2" charset="0"/>
                          <a:ea typeface="+mn-ea"/>
                          <a:cs typeface="Poppins" panose="00000500000000000000" pitchFamily="2" charset="0"/>
                        </a:rPr>
                        <a:t>   </a:t>
                      </a:r>
                    </a:p>
                  </a:txBody>
                  <a:tcPr marL="8404" marR="8404"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marL="0" algn="l" defTabSz="914400" rtl="0" eaLnBrk="1" fontAlgn="ctr" latinLnBrk="0" hangingPunct="1"/>
                      <a:r>
                        <a:rPr lang="en-US" sz="1400" b="0" i="0" u="none" strike="noStrike" kern="1200" baseline="0">
                          <a:solidFill>
                            <a:schemeClr val="bg1"/>
                          </a:solidFill>
                          <a:effectLst/>
                          <a:latin typeface="Poppins" panose="00000500000000000000" pitchFamily="2" charset="0"/>
                          <a:ea typeface="+mn-ea"/>
                          <a:cs typeface="Poppins" panose="00000500000000000000" pitchFamily="2" charset="0"/>
                        </a:rPr>
                        <a:t>                     INDEX </a:t>
                      </a:r>
                      <a:r>
                        <a:rPr lang="en-US" sz="1400" b="0" i="0" u="none" strike="noStrike" kern="1200" baseline="30000">
                          <a:solidFill>
                            <a:schemeClr val="bg1"/>
                          </a:solidFill>
                          <a:effectLst/>
                          <a:latin typeface="Poppins" panose="00000500000000000000" pitchFamily="2" charset="0"/>
                          <a:ea typeface="+mn-ea"/>
                          <a:cs typeface="Poppins" panose="00000500000000000000" pitchFamily="2" charset="0"/>
                        </a:rPr>
                        <a:t>1</a:t>
                      </a:r>
                    </a:p>
                  </a:txBody>
                  <a:tcPr marL="8404" marR="8404"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1"/>
                  </a:ext>
                </a:extLst>
              </a:tr>
              <a:tr h="288285">
                <a:tc>
                  <a:txBody>
                    <a:bodyPr/>
                    <a:lstStyle/>
                    <a:p>
                      <a:pPr marL="114300" indent="0" algn="l" defTabSz="806867" rtl="0" eaLnBrk="1" fontAlgn="b" latinLnBrk="0" hangingPunct="1"/>
                      <a:r>
                        <a:rPr lang="en-US" sz="1400" b="0" i="0" u="none" strike="noStrike" kern="1200">
                          <a:solidFill>
                            <a:schemeClr val="tx1"/>
                          </a:solidFill>
                          <a:effectLst/>
                          <a:latin typeface="Poppins" panose="00000500000000000000" pitchFamily="2" charset="0"/>
                          <a:ea typeface="+mn-ea"/>
                          <a:cs typeface="Poppins" panose="00000500000000000000" pitchFamily="2" charset="0"/>
                        </a:rPr>
                        <a:t>CREDIT QUALITY</a:t>
                      </a:r>
                    </a:p>
                  </a:txBody>
                  <a:tcPr marL="8404" marR="8404" marT="840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400" b="0" i="0" u="none" strike="noStrike">
                          <a:solidFill>
                            <a:srgbClr val="000000"/>
                          </a:solidFill>
                          <a:effectLst/>
                          <a:latin typeface="Poppins" panose="00000500000000000000" pitchFamily="2" charset="0"/>
                        </a:rPr>
                        <a:t>AA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400" b="0" i="0" u="none" strike="noStrike">
                          <a:solidFill>
                            <a:srgbClr val="000000"/>
                          </a:solidFill>
                          <a:effectLst/>
                          <a:latin typeface="Poppins" panose="00000500000000000000" pitchFamily="2" charset="0"/>
                        </a:rPr>
                        <a:t>AA/AA-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285">
                <a:tc>
                  <a:txBody>
                    <a:bodyPr/>
                    <a:lstStyle/>
                    <a:p>
                      <a:pPr marL="114300" marR="0" indent="0" algn="l" defTabSz="806867" rtl="0" eaLnBrk="1" fontAlgn="b" latinLnBrk="0" hangingPunct="1">
                        <a:lnSpc>
                          <a:spcPct val="100000"/>
                        </a:lnSpc>
                        <a:spcBef>
                          <a:spcPts val="0"/>
                        </a:spcBef>
                        <a:spcAft>
                          <a:spcPts val="0"/>
                        </a:spcAft>
                        <a:buClrTx/>
                        <a:buSzTx/>
                        <a:buFontTx/>
                        <a:buNone/>
                        <a:tabLst/>
                        <a:defRPr/>
                      </a:pPr>
                      <a:r>
                        <a:rPr lang="en-US" sz="1400" b="0" i="0" u="none" strike="noStrike" kern="1200">
                          <a:solidFill>
                            <a:schemeClr val="tx1"/>
                          </a:solidFill>
                          <a:effectLst/>
                          <a:latin typeface="Poppins" panose="00000500000000000000" pitchFamily="2" charset="0"/>
                          <a:ea typeface="+mn-ea"/>
                          <a:cs typeface="Poppins" panose="00000500000000000000" pitchFamily="2" charset="0"/>
                        </a:rPr>
                        <a:t>YIELD TO MATURITY</a:t>
                      </a:r>
                    </a:p>
                  </a:txBody>
                  <a:tcPr marL="8404" marR="8404" marT="840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400" b="0" i="0" u="none" strike="noStrike">
                          <a:solidFill>
                            <a:srgbClr val="000000"/>
                          </a:solidFill>
                          <a:effectLst/>
                          <a:latin typeface="Poppins" panose="00000500000000000000" pitchFamily="2" charset="0"/>
                        </a:rPr>
                        <a:t>3.96%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400" b="0" i="0" u="none" strike="noStrike">
                          <a:solidFill>
                            <a:srgbClr val="000000"/>
                          </a:solidFill>
                          <a:effectLst/>
                          <a:latin typeface="Poppins" panose="00000500000000000000" pitchFamily="2" charset="0"/>
                        </a:rPr>
                        <a:t>3.97%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8285">
                <a:tc>
                  <a:txBody>
                    <a:bodyPr/>
                    <a:lstStyle/>
                    <a:p>
                      <a:pPr marL="114300" marR="0" indent="0" algn="l" defTabSz="806867" rtl="0" eaLnBrk="1" fontAlgn="b" latinLnBrk="0" hangingPunct="1">
                        <a:lnSpc>
                          <a:spcPct val="100000"/>
                        </a:lnSpc>
                        <a:spcBef>
                          <a:spcPts val="0"/>
                        </a:spcBef>
                        <a:spcAft>
                          <a:spcPts val="0"/>
                        </a:spcAft>
                        <a:buClrTx/>
                        <a:buSzTx/>
                        <a:buFontTx/>
                        <a:buNone/>
                        <a:tabLst/>
                        <a:defRPr/>
                      </a:pPr>
                      <a:r>
                        <a:rPr lang="en-US" sz="1400" b="0" i="0" u="none" strike="noStrike" kern="1200">
                          <a:solidFill>
                            <a:schemeClr val="tx1"/>
                          </a:solidFill>
                          <a:effectLst/>
                          <a:latin typeface="Poppins" panose="00000500000000000000" pitchFamily="2" charset="0"/>
                          <a:ea typeface="+mn-ea"/>
                          <a:cs typeface="Poppins" panose="00000500000000000000" pitchFamily="2" charset="0"/>
                        </a:rPr>
                        <a:t>AVERAGE DURATION</a:t>
                      </a:r>
                    </a:p>
                  </a:txBody>
                  <a:tcPr marL="8404" marR="8404" marT="840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400" b="0" i="0" u="none" strike="noStrike">
                          <a:solidFill>
                            <a:srgbClr val="000000"/>
                          </a:solidFill>
                          <a:effectLst/>
                          <a:latin typeface="Poppins" panose="00000500000000000000" pitchFamily="2" charset="0"/>
                        </a:rPr>
                        <a:t>3.75 YEARS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400" b="0" i="0" u="none" strike="noStrike">
                          <a:solidFill>
                            <a:srgbClr val="000000"/>
                          </a:solidFill>
                          <a:effectLst/>
                          <a:latin typeface="Poppins" panose="00000500000000000000" pitchFamily="2" charset="0"/>
                        </a:rPr>
                        <a:t>3.76 YEARS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8285">
                <a:tc>
                  <a:txBody>
                    <a:bodyPr/>
                    <a:lstStyle/>
                    <a:p>
                      <a:pPr marL="114300" marR="0" lvl="0" indent="0" algn="l" defTabSz="806867" rtl="0" eaLnBrk="1" fontAlgn="b" latinLnBrk="0" hangingPunct="1">
                        <a:lnSpc>
                          <a:spcPct val="100000"/>
                        </a:lnSpc>
                        <a:spcBef>
                          <a:spcPts val="0"/>
                        </a:spcBef>
                        <a:spcAft>
                          <a:spcPts val="0"/>
                        </a:spcAft>
                        <a:buClrTx/>
                        <a:buSzTx/>
                        <a:buFontTx/>
                        <a:buNone/>
                        <a:tabLst/>
                        <a:defRPr/>
                      </a:pPr>
                      <a:r>
                        <a:rPr lang="en-US" sz="1400" b="0" i="0" u="none" strike="noStrike" kern="1200">
                          <a:solidFill>
                            <a:schemeClr val="tx1"/>
                          </a:solidFill>
                          <a:effectLst/>
                          <a:latin typeface="Poppins" panose="00000500000000000000" pitchFamily="2" charset="0"/>
                          <a:ea typeface="+mn-ea"/>
                          <a:cs typeface="Poppins" panose="00000500000000000000" pitchFamily="2" charset="0"/>
                        </a:rPr>
                        <a:t># HOLDINGS</a:t>
                      </a:r>
                    </a:p>
                  </a:txBody>
                  <a:tcPr marL="8404" marR="8404" marT="8404"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400" b="0" i="0" u="none" strike="noStrike">
                          <a:solidFill>
                            <a:srgbClr val="000000"/>
                          </a:solidFill>
                          <a:effectLst/>
                          <a:latin typeface="Poppins" panose="00000500000000000000" pitchFamily="2" charset="0"/>
                        </a:rPr>
                        <a:t>112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400" b="0" i="0" u="none" strike="noStrike">
                          <a:solidFill>
                            <a:srgbClr val="000000"/>
                          </a:solidFill>
                          <a:effectLst/>
                          <a:latin typeface="Poppins" panose="00000500000000000000" pitchFamily="2" charset="0"/>
                        </a:rPr>
                        <a:t>6,426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487494"/>
                  </a:ext>
                </a:extLst>
              </a:tr>
            </a:tbl>
          </a:graphicData>
        </a:graphic>
      </p:graphicFrame>
      <p:sp>
        <p:nvSpPr>
          <p:cNvPr id="19" name="Line 309">
            <a:extLst>
              <a:ext uri="{FF2B5EF4-FFF2-40B4-BE49-F238E27FC236}">
                <a16:creationId xmlns:a16="http://schemas.microsoft.com/office/drawing/2014/main" id="{98F8349E-8725-4637-AE22-811CFA363338}"/>
              </a:ext>
            </a:extLst>
          </p:cNvPr>
          <p:cNvSpPr>
            <a:spLocks noChangeShapeType="1"/>
          </p:cNvSpPr>
          <p:nvPr/>
        </p:nvSpPr>
        <p:spPr bwMode="auto">
          <a:xfrm>
            <a:off x="365760" y="6373141"/>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graphicFrame>
        <p:nvGraphicFramePr>
          <p:cNvPr id="24" name="Table 23">
            <a:extLst>
              <a:ext uri="{FF2B5EF4-FFF2-40B4-BE49-F238E27FC236}">
                <a16:creationId xmlns:a16="http://schemas.microsoft.com/office/drawing/2014/main" id="{8650B23A-8015-4EA5-AAB8-2ECDEB89E62F}"/>
              </a:ext>
            </a:extLst>
          </p:cNvPr>
          <p:cNvGraphicFramePr>
            <a:graphicFrameLocks noGrp="1"/>
          </p:cNvGraphicFramePr>
          <p:nvPr>
            <p:extLst>
              <p:ext uri="{D42A27DB-BD31-4B8C-83A1-F6EECF244321}">
                <p14:modId xmlns:p14="http://schemas.microsoft.com/office/powerpoint/2010/main" val="2211084992"/>
              </p:ext>
            </p:extLst>
          </p:nvPr>
        </p:nvGraphicFramePr>
        <p:xfrm>
          <a:off x="365760" y="3209730"/>
          <a:ext cx="4434731" cy="2970015"/>
        </p:xfrm>
        <a:graphic>
          <a:graphicData uri="http://schemas.openxmlformats.org/drawingml/2006/table">
            <a:tbl>
              <a:tblPr bandRow="1">
                <a:tableStyleId>{93296810-A885-4BE3-A3E7-6D5BEEA58F35}</a:tableStyleId>
              </a:tblPr>
              <a:tblGrid>
                <a:gridCol w="2189163">
                  <a:extLst>
                    <a:ext uri="{9D8B030D-6E8A-4147-A177-3AD203B41FA5}">
                      <a16:colId xmlns:a16="http://schemas.microsoft.com/office/drawing/2014/main" val="20000"/>
                    </a:ext>
                  </a:extLst>
                </a:gridCol>
                <a:gridCol w="1242636">
                  <a:extLst>
                    <a:ext uri="{9D8B030D-6E8A-4147-A177-3AD203B41FA5}">
                      <a16:colId xmlns:a16="http://schemas.microsoft.com/office/drawing/2014/main" val="20001"/>
                    </a:ext>
                  </a:extLst>
                </a:gridCol>
                <a:gridCol w="1002932">
                  <a:extLst>
                    <a:ext uri="{9D8B030D-6E8A-4147-A177-3AD203B41FA5}">
                      <a16:colId xmlns:a16="http://schemas.microsoft.com/office/drawing/2014/main" val="20002"/>
                    </a:ext>
                  </a:extLst>
                </a:gridCol>
              </a:tblGrid>
              <a:tr h="432522">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baseline="0">
                          <a:solidFill>
                            <a:schemeClr val="bg1"/>
                          </a:solidFill>
                          <a:latin typeface="Poppins"/>
                          <a:cs typeface="Poppins" panose="00000500000000000000" pitchFamily="2" charset="0"/>
                        </a:rPr>
                        <a:t>SECTOR ALLOCATION</a:t>
                      </a:r>
                      <a:endParaRPr lang="en-US" sz="1600" b="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1">
                        <a:solidFill>
                          <a:schemeClr val="bg1"/>
                        </a:solidFill>
                        <a:latin typeface="Calibri" panose="020F050202020403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tx1">
                        <a:lumMod val="75000"/>
                        <a:lumOff val="25000"/>
                      </a:schemeClr>
                    </a:solidFill>
                  </a:tcPr>
                </a:tc>
                <a:tc hMerge="1">
                  <a:txBody>
                    <a:bodyPr/>
                    <a:lstStyle/>
                    <a:p>
                      <a:endParaRPr lang="en-US"/>
                    </a:p>
                  </a:txBody>
                  <a:tcPr/>
                </a:tc>
                <a:extLst>
                  <a:ext uri="{0D108BD9-81ED-4DB2-BD59-A6C34878D82A}">
                    <a16:rowId xmlns:a16="http://schemas.microsoft.com/office/drawing/2014/main" val="10000"/>
                  </a:ext>
                </a:extLst>
              </a:tr>
              <a:tr h="392732">
                <a:tc>
                  <a:txBody>
                    <a:bodyPr/>
                    <a:lstStyle/>
                    <a:p>
                      <a:pPr marL="0" marR="0" indent="0" algn="r" rtl="0" eaLnBrk="1" fontAlgn="ctr" latinLnBrk="0" hangingPunct="1">
                        <a:lnSpc>
                          <a:spcPct val="100000"/>
                        </a:lnSpc>
                        <a:spcBef>
                          <a:spcPts val="0"/>
                        </a:spcBef>
                        <a:spcAft>
                          <a:spcPts val="0"/>
                        </a:spcAft>
                        <a:buFontTx/>
                        <a:buNone/>
                      </a:pPr>
                      <a:r>
                        <a:rPr lang="en-US" sz="1400" b="0" i="0" u="none" strike="noStrike" kern="1200" baseline="30000">
                          <a:solidFill>
                            <a:schemeClr val="bg1"/>
                          </a:solidFill>
                          <a:effectLst/>
                          <a:latin typeface="Poppins"/>
                          <a:ea typeface="+mn-ea"/>
                          <a:cs typeface="Poppins" panose="00000500000000000000" pitchFamily="2" charset="0"/>
                        </a:rPr>
                        <a:t> </a:t>
                      </a:r>
                      <a:endParaRPr lang="en-US" sz="1400" b="0" i="0" u="none" strike="noStrike" kern="1200">
                        <a:solidFill>
                          <a:schemeClr val="bg1"/>
                        </a:solidFill>
                        <a:effectLst/>
                        <a:latin typeface="Poppins" panose="00000500000000000000" pitchFamily="2" charset="0"/>
                        <a:ea typeface="+mn-ea"/>
                        <a:cs typeface="Poppins" panose="00000500000000000000" pitchFamily="2" charset="0"/>
                      </a:endParaRPr>
                    </a:p>
                  </a:txBody>
                  <a:tcPr marL="8404" marR="155448"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kern="1200">
                          <a:solidFill>
                            <a:schemeClr val="bg1"/>
                          </a:solidFill>
                          <a:effectLst/>
                          <a:latin typeface="Poppins"/>
                          <a:ea typeface="+mn-ea"/>
                          <a:cs typeface="Poppins" panose="00000500000000000000" pitchFamily="2" charset="0"/>
                        </a:rPr>
                        <a:t> PORTFOLIO</a:t>
                      </a:r>
                      <a:endParaRPr lang="en-US" sz="1400" b="0" i="0" u="none" strike="noStrike" kern="1200">
                        <a:solidFill>
                          <a:schemeClr val="bg1"/>
                        </a:solidFill>
                        <a:effectLst/>
                        <a:latin typeface="Poppins" panose="00000500000000000000" pitchFamily="2" charset="0"/>
                        <a:ea typeface="+mn-ea"/>
                        <a:cs typeface="Poppins" panose="00000500000000000000" pitchFamily="2" charset="0"/>
                      </a:endParaRPr>
                    </a:p>
                  </a:txBody>
                  <a:tcPr marL="8404" marR="155448"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kern="1200" baseline="0">
                          <a:solidFill>
                            <a:schemeClr val="bg1"/>
                          </a:solidFill>
                          <a:effectLst/>
                          <a:latin typeface="Poppins" panose="00000500000000000000" pitchFamily="2" charset="0"/>
                          <a:ea typeface="+mn-ea"/>
                          <a:cs typeface="Poppins" panose="00000500000000000000" pitchFamily="2" charset="0"/>
                        </a:rPr>
                        <a:t>    INDEX</a:t>
                      </a:r>
                      <a:r>
                        <a:rPr lang="en-US" sz="1400" b="0" i="0" u="none" strike="noStrike" kern="1200" baseline="30000">
                          <a:solidFill>
                            <a:schemeClr val="bg1"/>
                          </a:solidFill>
                          <a:effectLst/>
                          <a:latin typeface="Poppins" panose="00000500000000000000" pitchFamily="2" charset="0"/>
                          <a:ea typeface="+mn-ea"/>
                          <a:cs typeface="Poppins" panose="00000500000000000000" pitchFamily="2" charset="0"/>
                        </a:rPr>
                        <a:t> 1</a:t>
                      </a:r>
                      <a:endParaRPr lang="en-US" sz="1400" b="0" i="0" u="none" strike="noStrike" kern="1200">
                        <a:solidFill>
                          <a:schemeClr val="bg1"/>
                        </a:solidFill>
                        <a:effectLst/>
                        <a:latin typeface="Poppins" panose="00000500000000000000" pitchFamily="2" charset="0"/>
                        <a:ea typeface="+mn-ea"/>
                        <a:cs typeface="Poppins" panose="00000500000000000000" pitchFamily="2" charset="0"/>
                      </a:endParaRPr>
                    </a:p>
                  </a:txBody>
                  <a:tcPr marL="8404"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2"/>
                  </a:ext>
                </a:extLst>
              </a:tr>
              <a:tr h="311042">
                <a:tc>
                  <a:txBody>
                    <a:bodyPr/>
                    <a:lstStyle/>
                    <a:p>
                      <a:pPr algn="l" rtl="0" fontAlgn="ctr"/>
                      <a:r>
                        <a:rPr lang="en-US" sz="1400" b="0" i="0" u="none" strike="noStrike">
                          <a:solidFill>
                            <a:schemeClr val="tx1"/>
                          </a:solidFill>
                          <a:effectLst/>
                          <a:latin typeface="Poppins" panose="00000500000000000000" pitchFamily="2" charset="0"/>
                        </a:rPr>
                        <a:t>  U.S. TREASURY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59.8%</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64.9%</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11042">
                <a:tc>
                  <a:txBody>
                    <a:bodyPr/>
                    <a:lstStyle/>
                    <a:p>
                      <a:pPr algn="l" rtl="0" fontAlgn="ctr"/>
                      <a:r>
                        <a:rPr lang="en-US" sz="1400" b="0" i="0" u="none" strike="noStrike">
                          <a:solidFill>
                            <a:schemeClr val="tx1"/>
                          </a:solidFill>
                          <a:effectLst/>
                          <a:latin typeface="Poppins" panose="00000500000000000000" pitchFamily="2" charset="0"/>
                        </a:rPr>
                        <a:t>  U.S. MBS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11042">
                <a:tc>
                  <a:txBody>
                    <a:bodyPr/>
                    <a:lstStyle/>
                    <a:p>
                      <a:pPr algn="l" rtl="0" fontAlgn="ctr"/>
                      <a:r>
                        <a:rPr lang="en-US" sz="1400" b="0" i="0" u="none" strike="noStrike">
                          <a:solidFill>
                            <a:schemeClr val="tx1"/>
                          </a:solidFill>
                          <a:effectLst/>
                          <a:latin typeface="Poppins" panose="00000500000000000000" pitchFamily="2" charset="0"/>
                        </a:rPr>
                        <a:t>  GOV'T RELATED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0.4%</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6.0%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11042">
                <a:tc>
                  <a:txBody>
                    <a:bodyPr/>
                    <a:lstStyle/>
                    <a:p>
                      <a:pPr algn="l" rtl="0" fontAlgn="ctr"/>
                      <a:r>
                        <a:rPr lang="en-US" sz="1400" b="0" i="0" u="none" strike="noStrike">
                          <a:solidFill>
                            <a:schemeClr val="tx1"/>
                          </a:solidFill>
                          <a:effectLst/>
                          <a:latin typeface="Poppins" panose="00000500000000000000" pitchFamily="2" charset="0"/>
                        </a:rPr>
                        <a:t>  CORPORATE CREDIT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33.7%</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29.0%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11042">
                <a:tc>
                  <a:txBody>
                    <a:bodyPr/>
                    <a:lstStyle/>
                    <a:p>
                      <a:pPr algn="l" rtl="0" fontAlgn="ctr"/>
                      <a:r>
                        <a:rPr lang="en-US" sz="1400" b="0" i="0" u="none" strike="noStrike" spc="-30">
                          <a:solidFill>
                            <a:schemeClr val="tx1"/>
                          </a:solidFill>
                          <a:effectLst/>
                          <a:latin typeface="Poppins" panose="00000500000000000000" pitchFamily="2" charset="0"/>
                        </a:rPr>
                        <a:t>  STRUCTURED PRODUCT </a:t>
                      </a:r>
                      <a:r>
                        <a:rPr lang="en-US" sz="1400" b="0" i="0" u="none" strike="noStrike" spc="-30" baseline="30000">
                          <a:solidFill>
                            <a:schemeClr val="tx1"/>
                          </a:solidFill>
                          <a:effectLst/>
                          <a:latin typeface="Poppins" panose="00000500000000000000" pitchFamily="2" charset="0"/>
                        </a:rPr>
                        <a:t>2</a:t>
                      </a:r>
                      <a:endParaRPr lang="en-US" sz="1400" b="0" i="0" u="none" strike="noStrike" spc="-30">
                        <a:solidFill>
                          <a:schemeClr val="tx1"/>
                        </a:solidFill>
                        <a:effectLst/>
                        <a:latin typeface="Poppins" panose="00000500000000000000" pitchFamily="2"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4.1%</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11042">
                <a:tc>
                  <a:txBody>
                    <a:bodyPr/>
                    <a:lstStyle/>
                    <a:p>
                      <a:pPr algn="l" rtl="0" fontAlgn="ctr"/>
                      <a:r>
                        <a:rPr lang="en-US" sz="1400" b="0" i="0" u="none" strike="noStrike">
                          <a:solidFill>
                            <a:schemeClr val="tx1"/>
                          </a:solidFill>
                          <a:effectLst/>
                          <a:latin typeface="Poppins" panose="00000500000000000000" pitchFamily="2" charset="0"/>
                        </a:rPr>
                        <a:t>  CASH</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2.0%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8526872"/>
                  </a:ext>
                </a:extLst>
              </a:tr>
              <a:tr h="278509">
                <a:tc>
                  <a:txBody>
                    <a:bodyPr/>
                    <a:lstStyle/>
                    <a:p>
                      <a:pPr marL="0" algn="l" defTabSz="806867" rtl="0" eaLnBrk="1" fontAlgn="b" latinLnBrk="0" hangingPunct="1">
                        <a:lnSpc>
                          <a:spcPts val="1200"/>
                        </a:lnSpc>
                      </a:pPr>
                      <a:r>
                        <a:rPr lang="en-US" sz="1400" b="0" i="0" u="none" strike="noStrike" kern="1200">
                          <a:solidFill>
                            <a:schemeClr val="tx1"/>
                          </a:solidFill>
                          <a:effectLst/>
                          <a:latin typeface="Poppins SemiBold" panose="00000700000000000000" pitchFamily="50" charset="0"/>
                          <a:ea typeface="+mn-ea"/>
                          <a:cs typeface="Poppins SemiBold" panose="00000700000000000000" pitchFamily="50" charset="0"/>
                        </a:rPr>
                        <a:t>  TOTAL</a:t>
                      </a:r>
                    </a:p>
                  </a:txBody>
                  <a:tcPr marL="9144" marR="9144" marT="9144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SemiBold" panose="00000700000000000000" pitchFamily="2" charset="0"/>
                        </a:rPr>
                        <a:t>100.0%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SemiBold" panose="00000700000000000000" pitchFamily="2" charset="0"/>
                        </a:rPr>
                        <a:t>100.0%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20157"/>
                  </a:ext>
                </a:extLst>
              </a:tr>
            </a:tbl>
          </a:graphicData>
        </a:graphic>
      </p:graphicFrame>
      <p:graphicFrame>
        <p:nvGraphicFramePr>
          <p:cNvPr id="3" name="Object 2" hidden="1">
            <a:extLst>
              <a:ext uri="{FF2B5EF4-FFF2-40B4-BE49-F238E27FC236}">
                <a16:creationId xmlns:a16="http://schemas.microsoft.com/office/drawing/2014/main" id="{626AB503-7590-44C4-81A2-85A26C4D0DB5}"/>
              </a:ext>
            </a:extLst>
          </p:cNvPr>
          <p:cNvGraphicFramePr>
            <a:graphicFrameLocks noChangeAspect="1"/>
          </p:cNvGraphicFramePr>
          <p:nvPr/>
        </p:nvGraphicFramePr>
        <p:xfrm>
          <a:off x="3425456" y="1861696"/>
          <a:ext cx="5271735" cy="1114425"/>
        </p:xfrm>
        <a:graphic>
          <a:graphicData uri="http://schemas.openxmlformats.org/presentationml/2006/ole">
            <mc:AlternateContent xmlns:mc="http://schemas.openxmlformats.org/markup-compatibility/2006">
              <mc:Choice xmlns:v="urn:schemas-microsoft-com:vml" Requires="v">
                <p:oleObj name="Worksheet" r:id="rId3" imgW="5334000" imgH="1114365" progId="Excel.Sheet.12">
                  <p:link updateAutomatic="1"/>
                </p:oleObj>
              </mc:Choice>
              <mc:Fallback>
                <p:oleObj name="Worksheet" r:id="rId3" imgW="5334000" imgH="1114365" progId="Excel.Sheet.12">
                  <p:link updateAutomatic="1"/>
                  <p:pic>
                    <p:nvPicPr>
                      <p:cNvPr id="3" name="Object 2" hidden="1">
                        <a:extLst>
                          <a:ext uri="{FF2B5EF4-FFF2-40B4-BE49-F238E27FC236}">
                            <a16:creationId xmlns:a16="http://schemas.microsoft.com/office/drawing/2014/main" id="{626AB503-7590-44C4-81A2-85A26C4D0DB5}"/>
                          </a:ext>
                        </a:extLst>
                      </p:cNvPr>
                      <p:cNvPicPr/>
                      <p:nvPr/>
                    </p:nvPicPr>
                    <p:blipFill>
                      <a:blip r:embed="rId4"/>
                      <a:stretch>
                        <a:fillRect/>
                      </a:stretch>
                    </p:blipFill>
                    <p:spPr>
                      <a:xfrm>
                        <a:off x="3425456" y="1861696"/>
                        <a:ext cx="5271735" cy="1114425"/>
                      </a:xfrm>
                      <a:prstGeom prst="rect">
                        <a:avLst/>
                      </a:prstGeom>
                    </p:spPr>
                  </p:pic>
                </p:oleObj>
              </mc:Fallback>
            </mc:AlternateContent>
          </a:graphicData>
        </a:graphic>
      </p:graphicFrame>
      <p:graphicFrame>
        <p:nvGraphicFramePr>
          <p:cNvPr id="4" name="Object 3" hidden="1">
            <a:extLst>
              <a:ext uri="{FF2B5EF4-FFF2-40B4-BE49-F238E27FC236}">
                <a16:creationId xmlns:a16="http://schemas.microsoft.com/office/drawing/2014/main" id="{8044D710-6605-4B2C-9B1B-0E2506F431AE}"/>
              </a:ext>
            </a:extLst>
          </p:cNvPr>
          <p:cNvGraphicFramePr>
            <a:graphicFrameLocks noChangeAspect="1"/>
          </p:cNvGraphicFramePr>
          <p:nvPr/>
        </p:nvGraphicFramePr>
        <p:xfrm>
          <a:off x="2872292" y="3807198"/>
          <a:ext cx="2040947" cy="1901156"/>
        </p:xfrm>
        <a:graphic>
          <a:graphicData uri="http://schemas.openxmlformats.org/presentationml/2006/ole">
            <mc:AlternateContent xmlns:mc="http://schemas.openxmlformats.org/markup-compatibility/2006">
              <mc:Choice xmlns:v="urn:schemas-microsoft-com:vml" Requires="v">
                <p:oleObj name="Worksheet" r:id="rId5" imgW="2085908" imgH="1943060" progId="Excel.Sheet.12">
                  <p:link updateAutomatic="1"/>
                </p:oleObj>
              </mc:Choice>
              <mc:Fallback>
                <p:oleObj name="Worksheet" r:id="rId5" imgW="2085908" imgH="1943060" progId="Excel.Sheet.12">
                  <p:link updateAutomatic="1"/>
                  <p:pic>
                    <p:nvPicPr>
                      <p:cNvPr id="4" name="Object 3" hidden="1">
                        <a:extLst>
                          <a:ext uri="{FF2B5EF4-FFF2-40B4-BE49-F238E27FC236}">
                            <a16:creationId xmlns:a16="http://schemas.microsoft.com/office/drawing/2014/main" id="{8044D710-6605-4B2C-9B1B-0E2506F431AE}"/>
                          </a:ext>
                        </a:extLst>
                      </p:cNvPr>
                      <p:cNvPicPr/>
                      <p:nvPr/>
                    </p:nvPicPr>
                    <p:blipFill>
                      <a:blip r:embed="rId6"/>
                      <a:stretch>
                        <a:fillRect/>
                      </a:stretch>
                    </p:blipFill>
                    <p:spPr>
                      <a:xfrm>
                        <a:off x="2872292" y="3807198"/>
                        <a:ext cx="2040947" cy="1901156"/>
                      </a:xfrm>
                      <a:prstGeom prst="rect">
                        <a:avLst/>
                      </a:prstGeom>
                    </p:spPr>
                  </p:pic>
                </p:oleObj>
              </mc:Fallback>
            </mc:AlternateContent>
          </a:graphicData>
        </a:graphic>
      </p:graphicFrame>
      <p:pic>
        <p:nvPicPr>
          <p:cNvPr id="20" name="Picture 19" hidden="1">
            <a:extLst>
              <a:ext uri="{FF2B5EF4-FFF2-40B4-BE49-F238E27FC236}">
                <a16:creationId xmlns:a16="http://schemas.microsoft.com/office/drawing/2014/main" id="{9417125D-40A0-4557-8A32-5252A72DBD96}"/>
              </a:ext>
            </a:extLst>
          </p:cNvPr>
          <p:cNvPicPr>
            <a:picLocks noChangeAspect="1"/>
          </p:cNvPicPr>
          <p:nvPr/>
        </p:nvPicPr>
        <p:blipFill>
          <a:blip r:embed="rId7"/>
          <a:stretch>
            <a:fillRect/>
          </a:stretch>
        </p:blipFill>
        <p:spPr>
          <a:xfrm>
            <a:off x="9067269" y="3367980"/>
            <a:ext cx="4772025" cy="2457450"/>
          </a:xfrm>
          <a:prstGeom prst="rect">
            <a:avLst/>
          </a:prstGeom>
        </p:spPr>
      </p:pic>
      <p:pic>
        <p:nvPicPr>
          <p:cNvPr id="21" name="Picture 20" hidden="1">
            <a:extLst>
              <a:ext uri="{FF2B5EF4-FFF2-40B4-BE49-F238E27FC236}">
                <a16:creationId xmlns:a16="http://schemas.microsoft.com/office/drawing/2014/main" id="{3482462A-63DF-4C20-B243-74590DDC38D6}"/>
              </a:ext>
            </a:extLst>
          </p:cNvPr>
          <p:cNvPicPr>
            <a:picLocks noChangeAspect="1"/>
          </p:cNvPicPr>
          <p:nvPr/>
        </p:nvPicPr>
        <p:blipFill>
          <a:blip r:embed="rId8"/>
          <a:stretch>
            <a:fillRect/>
          </a:stretch>
        </p:blipFill>
        <p:spPr>
          <a:xfrm>
            <a:off x="8855801" y="1032570"/>
            <a:ext cx="4781550" cy="2276475"/>
          </a:xfrm>
          <a:prstGeom prst="rect">
            <a:avLst/>
          </a:prstGeom>
        </p:spPr>
      </p:pic>
      <p:sp>
        <p:nvSpPr>
          <p:cNvPr id="22" name="Slide Number Placeholder 1">
            <a:extLst>
              <a:ext uri="{FF2B5EF4-FFF2-40B4-BE49-F238E27FC236}">
                <a16:creationId xmlns:a16="http://schemas.microsoft.com/office/drawing/2014/main" id="{5E328ACC-C83A-4277-9E21-26D65E3AFFCB}"/>
              </a:ext>
            </a:extLst>
          </p:cNvPr>
          <p:cNvSpPr>
            <a:spLocks noGrp="1"/>
          </p:cNvSpPr>
          <p:nvPr>
            <p:ph type="sldNum" sz="quarter" idx="4"/>
          </p:nvPr>
        </p:nvSpPr>
        <p:spPr>
          <a:xfrm>
            <a:off x="8599574"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15</a:t>
            </a:fld>
            <a:endParaRPr lang="en-US" sz="882">
              <a:solidFill>
                <a:srgbClr val="000000"/>
              </a:solidFill>
            </a:endParaRPr>
          </a:p>
        </p:txBody>
      </p:sp>
      <p:sp>
        <p:nvSpPr>
          <p:cNvPr id="2" name="Title 1">
            <a:extLst>
              <a:ext uri="{FF2B5EF4-FFF2-40B4-BE49-F238E27FC236}">
                <a16:creationId xmlns:a16="http://schemas.microsoft.com/office/drawing/2014/main" id="{48C13EBF-D4E9-EF6D-892B-F4ADF0FB86F1}"/>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Investment Grade Fixed Income SMA </a:t>
            </a:r>
          </a:p>
        </p:txBody>
      </p:sp>
      <p:graphicFrame>
        <p:nvGraphicFramePr>
          <p:cNvPr id="7" name="Table 6">
            <a:extLst>
              <a:ext uri="{FF2B5EF4-FFF2-40B4-BE49-F238E27FC236}">
                <a16:creationId xmlns:a16="http://schemas.microsoft.com/office/drawing/2014/main" id="{F3AB3A33-6527-2DBA-CE54-5E02A0116E4C}"/>
              </a:ext>
            </a:extLst>
          </p:cNvPr>
          <p:cNvGraphicFramePr>
            <a:graphicFrameLocks noGrp="1"/>
          </p:cNvGraphicFramePr>
          <p:nvPr>
            <p:extLst>
              <p:ext uri="{D42A27DB-BD31-4B8C-83A1-F6EECF244321}">
                <p14:modId xmlns:p14="http://schemas.microsoft.com/office/powerpoint/2010/main" val="4084907041"/>
              </p:ext>
            </p:extLst>
          </p:nvPr>
        </p:nvGraphicFramePr>
        <p:xfrm>
          <a:off x="4871959" y="3209730"/>
          <a:ext cx="3906281" cy="2970015"/>
        </p:xfrm>
        <a:graphic>
          <a:graphicData uri="http://schemas.openxmlformats.org/drawingml/2006/table">
            <a:tbl>
              <a:tblPr bandRow="1">
                <a:tableStyleId>{93296810-A885-4BE3-A3E7-6D5BEEA58F35}</a:tableStyleId>
              </a:tblPr>
              <a:tblGrid>
                <a:gridCol w="1621938">
                  <a:extLst>
                    <a:ext uri="{9D8B030D-6E8A-4147-A177-3AD203B41FA5}">
                      <a16:colId xmlns:a16="http://schemas.microsoft.com/office/drawing/2014/main" val="20000"/>
                    </a:ext>
                  </a:extLst>
                </a:gridCol>
                <a:gridCol w="1400922">
                  <a:extLst>
                    <a:ext uri="{9D8B030D-6E8A-4147-A177-3AD203B41FA5}">
                      <a16:colId xmlns:a16="http://schemas.microsoft.com/office/drawing/2014/main" val="20001"/>
                    </a:ext>
                  </a:extLst>
                </a:gridCol>
                <a:gridCol w="883421">
                  <a:extLst>
                    <a:ext uri="{9D8B030D-6E8A-4147-A177-3AD203B41FA5}">
                      <a16:colId xmlns:a16="http://schemas.microsoft.com/office/drawing/2014/main" val="20002"/>
                    </a:ext>
                  </a:extLst>
                </a:gridCol>
              </a:tblGrid>
              <a:tr h="432522">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baseline="0">
                          <a:solidFill>
                            <a:schemeClr val="bg1"/>
                          </a:solidFill>
                          <a:latin typeface="Poppins"/>
                          <a:cs typeface="Poppins" panose="00000500000000000000" pitchFamily="2" charset="0"/>
                        </a:rPr>
                        <a:t>CREDIT QUALITY ALLOCATION</a:t>
                      </a:r>
                      <a:endParaRPr lang="en-US" sz="1600" b="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1">
                        <a:solidFill>
                          <a:schemeClr val="bg1"/>
                        </a:solidFill>
                        <a:latin typeface="Calibri" panose="020F050202020403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tx1">
                        <a:lumMod val="75000"/>
                        <a:lumOff val="25000"/>
                      </a:schemeClr>
                    </a:solidFill>
                  </a:tcPr>
                </a:tc>
                <a:tc hMerge="1">
                  <a:txBody>
                    <a:bodyPr/>
                    <a:lstStyle/>
                    <a:p>
                      <a:endParaRPr lang="en-US"/>
                    </a:p>
                  </a:txBody>
                  <a:tcPr/>
                </a:tc>
                <a:extLst>
                  <a:ext uri="{0D108BD9-81ED-4DB2-BD59-A6C34878D82A}">
                    <a16:rowId xmlns:a16="http://schemas.microsoft.com/office/drawing/2014/main" val="10000"/>
                  </a:ext>
                </a:extLst>
              </a:tr>
              <a:tr h="392732">
                <a:tc>
                  <a:txBody>
                    <a:bodyPr/>
                    <a:lstStyle/>
                    <a:p>
                      <a:pPr marL="0" marR="0" indent="0" algn="r" rtl="0" eaLnBrk="1" fontAlgn="ctr" latinLnBrk="0" hangingPunct="1">
                        <a:lnSpc>
                          <a:spcPct val="100000"/>
                        </a:lnSpc>
                        <a:spcBef>
                          <a:spcPts val="0"/>
                        </a:spcBef>
                        <a:spcAft>
                          <a:spcPts val="0"/>
                        </a:spcAft>
                        <a:buFontTx/>
                        <a:buNone/>
                      </a:pPr>
                      <a:r>
                        <a:rPr lang="en-US" sz="1400" b="0" i="0" u="none" strike="noStrike" kern="1200" baseline="30000">
                          <a:solidFill>
                            <a:schemeClr val="bg1"/>
                          </a:solidFill>
                          <a:effectLst/>
                          <a:latin typeface="Poppins"/>
                          <a:ea typeface="+mn-ea"/>
                          <a:cs typeface="Poppins" panose="00000500000000000000" pitchFamily="2" charset="0"/>
                        </a:rPr>
                        <a:t> </a:t>
                      </a:r>
                      <a:endParaRPr lang="en-US" sz="1400" b="0" i="0" u="none" strike="noStrike" kern="1200">
                        <a:solidFill>
                          <a:schemeClr val="bg1"/>
                        </a:solidFill>
                        <a:effectLst/>
                        <a:latin typeface="Poppins" panose="00000500000000000000" pitchFamily="2" charset="0"/>
                        <a:ea typeface="+mn-ea"/>
                        <a:cs typeface="Poppins" panose="00000500000000000000" pitchFamily="2" charset="0"/>
                      </a:endParaRPr>
                    </a:p>
                  </a:txBody>
                  <a:tcPr marL="8404" marR="155448"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marL="0" marR="0" indent="0" algn="r" defTabSz="914400" rtl="0" eaLnBrk="1" fontAlgn="ctr" latinLnBrk="0" hangingPunct="1">
                        <a:lnSpc>
                          <a:spcPct val="100000"/>
                        </a:lnSpc>
                        <a:spcBef>
                          <a:spcPts val="0"/>
                        </a:spcBef>
                        <a:spcAft>
                          <a:spcPts val="0"/>
                        </a:spcAft>
                        <a:buClrTx/>
                        <a:buSzTx/>
                        <a:buFontTx/>
                        <a:buNone/>
                        <a:tabLst/>
                        <a:defRPr/>
                      </a:pPr>
                      <a:r>
                        <a:rPr lang="en-US" sz="1400" b="0" i="0" u="none" strike="noStrike" kern="1200">
                          <a:solidFill>
                            <a:schemeClr val="bg1"/>
                          </a:solidFill>
                          <a:effectLst/>
                          <a:latin typeface="Poppins"/>
                          <a:ea typeface="+mn-ea"/>
                          <a:cs typeface="Poppins" panose="00000500000000000000" pitchFamily="2" charset="0"/>
                        </a:rPr>
                        <a:t> PORTFOLIO</a:t>
                      </a:r>
                      <a:endParaRPr lang="en-US" sz="1400" b="0" i="0" u="none" strike="noStrike" kern="1200">
                        <a:solidFill>
                          <a:schemeClr val="bg1"/>
                        </a:solidFill>
                        <a:effectLst/>
                        <a:latin typeface="Poppins" panose="00000500000000000000" pitchFamily="2" charset="0"/>
                        <a:ea typeface="+mn-ea"/>
                        <a:cs typeface="Poppins" panose="00000500000000000000" pitchFamily="2" charset="0"/>
                      </a:endParaRPr>
                    </a:p>
                  </a:txBody>
                  <a:tcPr marL="8404" marR="155448"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kern="1200" baseline="0">
                          <a:solidFill>
                            <a:schemeClr val="bg1"/>
                          </a:solidFill>
                          <a:effectLst/>
                          <a:latin typeface="Poppins" panose="00000500000000000000" pitchFamily="2" charset="0"/>
                          <a:ea typeface="+mn-ea"/>
                          <a:cs typeface="Poppins" panose="00000500000000000000" pitchFamily="2" charset="0"/>
                        </a:rPr>
                        <a:t>    INDEX</a:t>
                      </a:r>
                      <a:r>
                        <a:rPr lang="en-US" sz="1400" b="0" i="0" u="none" strike="noStrike" kern="1200" baseline="30000">
                          <a:solidFill>
                            <a:schemeClr val="bg1"/>
                          </a:solidFill>
                          <a:effectLst/>
                          <a:latin typeface="Poppins" panose="00000500000000000000" pitchFamily="2" charset="0"/>
                          <a:ea typeface="+mn-ea"/>
                          <a:cs typeface="Poppins" panose="00000500000000000000" pitchFamily="2" charset="0"/>
                        </a:rPr>
                        <a:t> 1</a:t>
                      </a:r>
                      <a:endParaRPr lang="en-US" sz="1400" b="0" i="0" u="none" strike="noStrike" kern="1200">
                        <a:solidFill>
                          <a:schemeClr val="bg1"/>
                        </a:solidFill>
                        <a:effectLst/>
                        <a:latin typeface="Poppins" panose="00000500000000000000" pitchFamily="2" charset="0"/>
                        <a:ea typeface="+mn-ea"/>
                        <a:cs typeface="Poppins" panose="00000500000000000000" pitchFamily="2" charset="0"/>
                      </a:endParaRPr>
                    </a:p>
                  </a:txBody>
                  <a:tcPr marL="8404"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2"/>
                  </a:ext>
                </a:extLst>
              </a:tr>
              <a:tr h="311042">
                <a:tc>
                  <a:txBody>
                    <a:bodyPr/>
                    <a:lstStyle/>
                    <a:p>
                      <a:pPr algn="l" rtl="0" fontAlgn="ctr"/>
                      <a:r>
                        <a:rPr lang="en-US" sz="1400" b="0" i="0" u="none" strike="noStrike">
                          <a:solidFill>
                            <a:schemeClr val="tx1"/>
                          </a:solidFill>
                          <a:effectLst/>
                          <a:latin typeface="Poppins" panose="00000500000000000000" pitchFamily="2" charset="0"/>
                        </a:rPr>
                        <a:t>AAA</a:t>
                      </a:r>
                    </a:p>
                  </a:txBody>
                  <a:tcPr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4.1%</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3.0%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11042">
                <a:tc>
                  <a:txBody>
                    <a:bodyPr/>
                    <a:lstStyle/>
                    <a:p>
                      <a:pPr algn="l" rtl="0" fontAlgn="ctr"/>
                      <a:r>
                        <a:rPr lang="en-US" sz="1400" b="0" i="0" u="none" strike="noStrike">
                          <a:solidFill>
                            <a:schemeClr val="tx1"/>
                          </a:solidFill>
                          <a:effectLst/>
                          <a:latin typeface="Poppins" panose="00000500000000000000" pitchFamily="2" charset="0"/>
                        </a:rPr>
                        <a:t>AA</a:t>
                      </a:r>
                    </a:p>
                  </a:txBody>
                  <a:tcPr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67.7%</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68.6%</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11042">
                <a:tc>
                  <a:txBody>
                    <a:bodyPr/>
                    <a:lstStyle/>
                    <a:p>
                      <a:pPr algn="l" rtl="0" fontAlgn="ctr"/>
                      <a:r>
                        <a:rPr lang="en-US" sz="1400" b="0" i="0" u="none" strike="noStrike">
                          <a:solidFill>
                            <a:schemeClr val="tx1"/>
                          </a:solidFill>
                          <a:effectLst/>
                          <a:latin typeface="Poppins" panose="00000500000000000000" pitchFamily="2" charset="0"/>
                        </a:rPr>
                        <a:t>A</a:t>
                      </a:r>
                    </a:p>
                  </a:txBody>
                  <a:tcPr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19.0%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14.0%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11042">
                <a:tc>
                  <a:txBody>
                    <a:bodyPr/>
                    <a:lstStyle/>
                    <a:p>
                      <a:pPr algn="l" rtl="0" fontAlgn="ctr"/>
                      <a:r>
                        <a:rPr lang="en-US" sz="1400" b="0" i="0" u="none" strike="noStrike">
                          <a:solidFill>
                            <a:schemeClr val="tx1"/>
                          </a:solidFill>
                          <a:effectLst/>
                          <a:latin typeface="Poppins" panose="00000500000000000000" pitchFamily="2" charset="0"/>
                        </a:rPr>
                        <a:t>BBB</a:t>
                      </a:r>
                    </a:p>
                  </a:txBody>
                  <a:tcPr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7.2%</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14.4%</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11042">
                <a:tc>
                  <a:txBody>
                    <a:bodyPr/>
                    <a:lstStyle/>
                    <a:p>
                      <a:pPr algn="l" rtl="0" fontAlgn="ctr"/>
                      <a:r>
                        <a:rPr lang="en-US" sz="1400" b="0" i="0" u="none" strike="noStrike">
                          <a:solidFill>
                            <a:schemeClr val="tx1"/>
                          </a:solidFill>
                          <a:effectLst/>
                          <a:latin typeface="Poppins" panose="00000500000000000000" pitchFamily="2" charset="0"/>
                        </a:rPr>
                        <a:t>BB &amp; BELOW</a:t>
                      </a:r>
                      <a:endParaRPr lang="en-US" sz="1400" b="0" i="0" u="none" strike="noStrike" baseline="30000">
                        <a:solidFill>
                          <a:schemeClr val="tx1"/>
                        </a:solidFill>
                        <a:effectLst/>
                        <a:latin typeface="Poppins" panose="00000500000000000000" pitchFamily="2" charset="0"/>
                      </a:endParaRPr>
                    </a:p>
                  </a:txBody>
                  <a:tcPr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11042">
                <a:tc>
                  <a:txBody>
                    <a:bodyPr/>
                    <a:lstStyle/>
                    <a:p>
                      <a:pPr algn="l" rtl="0" fontAlgn="ctr"/>
                      <a:r>
                        <a:rPr lang="en-US" sz="1400" b="0" i="0" u="none" strike="noStrike">
                          <a:solidFill>
                            <a:schemeClr val="tx1"/>
                          </a:solidFill>
                          <a:effectLst/>
                          <a:latin typeface="Poppins" panose="00000500000000000000" pitchFamily="2" charset="0"/>
                        </a:rPr>
                        <a:t>CASH</a:t>
                      </a:r>
                    </a:p>
                  </a:txBody>
                  <a:tcPr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2.0%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panose="00000500000000000000" pitchFamily="2" charset="0"/>
                        </a:rPr>
                        <a:t>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8526872"/>
                  </a:ext>
                </a:extLst>
              </a:tr>
              <a:tr h="278509">
                <a:tc>
                  <a:txBody>
                    <a:bodyPr/>
                    <a:lstStyle/>
                    <a:p>
                      <a:pPr marL="0" algn="l" defTabSz="806867" rtl="0" eaLnBrk="1" fontAlgn="b" latinLnBrk="0" hangingPunct="1">
                        <a:lnSpc>
                          <a:spcPts val="1200"/>
                        </a:lnSpc>
                      </a:pPr>
                      <a:r>
                        <a:rPr lang="en-US" sz="1400" b="0" i="0" u="none" strike="noStrike" kern="1200">
                          <a:solidFill>
                            <a:schemeClr val="tx1"/>
                          </a:solidFill>
                          <a:effectLst/>
                          <a:latin typeface="Poppins SemiBold" panose="00000700000000000000" pitchFamily="50" charset="0"/>
                          <a:ea typeface="+mn-ea"/>
                          <a:cs typeface="Poppins SemiBold" panose="00000700000000000000" pitchFamily="50" charset="0"/>
                        </a:rPr>
                        <a:t>  TOTAL</a:t>
                      </a:r>
                    </a:p>
                  </a:txBody>
                  <a:tcPr marL="9144" marR="9144" marT="9144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SemiBold" panose="00000700000000000000" pitchFamily="2" charset="0"/>
                        </a:rPr>
                        <a:t>100.0%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1400" b="0" i="0" u="none" strike="noStrike">
                          <a:solidFill>
                            <a:srgbClr val="000000"/>
                          </a:solidFill>
                          <a:effectLst/>
                          <a:latin typeface="Poppins SemiBold" panose="00000700000000000000" pitchFamily="2" charset="0"/>
                        </a:rPr>
                        <a:t>100.0%</a:t>
                      </a:r>
                    </a:p>
                  </a:txBody>
                  <a:tcPr marL="0" marR="1828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20157"/>
                  </a:ext>
                </a:extLst>
              </a:tr>
            </a:tbl>
          </a:graphicData>
        </a:graphic>
      </p:graphicFrame>
      <p:sp>
        <p:nvSpPr>
          <p:cNvPr id="5" name="Rectangle 4">
            <a:extLst>
              <a:ext uri="{FF2B5EF4-FFF2-40B4-BE49-F238E27FC236}">
                <a16:creationId xmlns:a16="http://schemas.microsoft.com/office/drawing/2014/main" id="{081D8EA4-4031-F855-80B8-5DB8E5626387}"/>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defTabSz="914400" eaLnBrk="0" fontAlgn="base" hangingPunct="0">
              <a:spcBef>
                <a:spcPct val="50000"/>
              </a:spcBef>
              <a:spcAft>
                <a:spcPct val="0"/>
              </a:spcAft>
            </a:pPr>
            <a:r>
              <a:rPr lang="en-US" sz="1600">
                <a:solidFill>
                  <a:schemeClr val="bg1"/>
                </a:solidFill>
                <a:latin typeface="Poppins Light" panose="00000400000000000000" pitchFamily="2" charset="0"/>
                <a:cs typeface="Poppins Light" panose="00000400000000000000" pitchFamily="2" charset="0"/>
              </a:rPr>
              <a:t>STATISTICS |</a:t>
            </a:r>
            <a:r>
              <a:rPr lang="en-US" sz="1600">
                <a:solidFill>
                  <a:schemeClr val="bg1"/>
                </a:solidFill>
                <a:latin typeface="Poppins" panose="00000500000000000000" pitchFamily="50" charset="0"/>
                <a:cs typeface="Poppins" panose="00000500000000000000" pitchFamily="50" charset="0"/>
              </a:rPr>
              <a:t> </a:t>
            </a:r>
            <a:r>
              <a:rPr lang="en-US" sz="1600">
                <a:solidFill>
                  <a:schemeClr val="bg1"/>
                </a:solidFill>
                <a:latin typeface="Poppins Medium" panose="00000600000000000000" pitchFamily="50" charset="0"/>
                <a:cs typeface="Poppins Medium" panose="00000600000000000000" pitchFamily="50" charset="0"/>
              </a:rPr>
              <a:t>9-30-2025</a:t>
            </a:r>
            <a:endParaRPr lang="en-US" sz="1600">
              <a:solidFill>
                <a:schemeClr val="bg1"/>
              </a:solidFill>
              <a:latin typeface="Poppins Medium" panose="00000600000000000000" pitchFamily="2" charset="0"/>
              <a:cs typeface="Poppins Medium" panose="00000600000000000000" pitchFamily="2" charset="0"/>
            </a:endParaRPr>
          </a:p>
        </p:txBody>
      </p:sp>
      <p:sp>
        <p:nvSpPr>
          <p:cNvPr id="6" name="TextBox 5">
            <a:extLst>
              <a:ext uri="{FF2B5EF4-FFF2-40B4-BE49-F238E27FC236}">
                <a16:creationId xmlns:a16="http://schemas.microsoft.com/office/drawing/2014/main" id="{13FAB5BA-8D48-E245-E287-E80D22DE55FD}"/>
              </a:ext>
            </a:extLst>
          </p:cNvPr>
          <p:cNvSpPr txBox="1"/>
          <p:nvPr/>
        </p:nvSpPr>
        <p:spPr>
          <a:xfrm>
            <a:off x="9317254" y="539015"/>
            <a:ext cx="3808195" cy="1754326"/>
          </a:xfrm>
          <a:prstGeom prst="rect">
            <a:avLst/>
          </a:prstGeom>
          <a:solidFill>
            <a:srgbClr val="92D050"/>
          </a:solidFill>
        </p:spPr>
        <p:txBody>
          <a:bodyPr wrap="square" rtlCol="0">
            <a:spAutoFit/>
          </a:bodyPr>
          <a:lstStyle/>
          <a:p>
            <a:r>
              <a:rPr lang="en-US" dirty="0"/>
              <a:t>SOURCED VIA CLEARWATER PAPER STATEMENTS AND “ACCOUNT CHARACTERISTICS”/ “ASSET ALLOCATION” SECTION OF SMA FFS REPORT IN CLEARWATER</a:t>
            </a:r>
          </a:p>
        </p:txBody>
      </p:sp>
    </p:spTree>
    <p:extLst>
      <p:ext uri="{BB962C8B-B14F-4D97-AF65-F5344CB8AC3E}">
        <p14:creationId xmlns:p14="http://schemas.microsoft.com/office/powerpoint/2010/main" val="318434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hidden="1">
            <a:extLst>
              <a:ext uri="{FF2B5EF4-FFF2-40B4-BE49-F238E27FC236}">
                <a16:creationId xmlns:a16="http://schemas.microsoft.com/office/drawing/2014/main" id="{C0F231DE-C335-492A-9541-9151FD97525B}"/>
              </a:ext>
            </a:extLst>
          </p:cNvPr>
          <p:cNvGraphicFramePr>
            <a:graphicFrameLocks noGrp="1"/>
          </p:cNvGraphicFramePr>
          <p:nvPr>
            <p:extLst>
              <p:ext uri="{D42A27DB-BD31-4B8C-83A1-F6EECF244321}">
                <p14:modId xmlns:p14="http://schemas.microsoft.com/office/powerpoint/2010/main" val="585252578"/>
              </p:ext>
            </p:extLst>
          </p:nvPr>
        </p:nvGraphicFramePr>
        <p:xfrm>
          <a:off x="376270" y="1229477"/>
          <a:ext cx="8412480" cy="4907045"/>
        </p:xfrm>
        <a:graphic>
          <a:graphicData uri="http://schemas.openxmlformats.org/drawingml/2006/table">
            <a:tbl>
              <a:tblPr firstRow="1" firstCol="1" bandRow="1">
                <a:tableStyleId>{00A15C55-8517-42AA-B614-E9B94910E393}</a:tableStyleId>
              </a:tblPr>
              <a:tblGrid>
                <a:gridCol w="4435302">
                  <a:extLst>
                    <a:ext uri="{9D8B030D-6E8A-4147-A177-3AD203B41FA5}">
                      <a16:colId xmlns:a16="http://schemas.microsoft.com/office/drawing/2014/main" val="20000"/>
                    </a:ext>
                  </a:extLst>
                </a:gridCol>
                <a:gridCol w="716006">
                  <a:extLst>
                    <a:ext uri="{9D8B030D-6E8A-4147-A177-3AD203B41FA5}">
                      <a16:colId xmlns:a16="http://schemas.microsoft.com/office/drawing/2014/main" val="829460701"/>
                    </a:ext>
                  </a:extLst>
                </a:gridCol>
                <a:gridCol w="662528">
                  <a:extLst>
                    <a:ext uri="{9D8B030D-6E8A-4147-A177-3AD203B41FA5}">
                      <a16:colId xmlns:a16="http://schemas.microsoft.com/office/drawing/2014/main" val="20001"/>
                    </a:ext>
                  </a:extLst>
                </a:gridCol>
                <a:gridCol w="698653">
                  <a:extLst>
                    <a:ext uri="{9D8B030D-6E8A-4147-A177-3AD203B41FA5}">
                      <a16:colId xmlns:a16="http://schemas.microsoft.com/office/drawing/2014/main" val="20002"/>
                    </a:ext>
                  </a:extLst>
                </a:gridCol>
                <a:gridCol w="727765">
                  <a:extLst>
                    <a:ext uri="{9D8B030D-6E8A-4147-A177-3AD203B41FA5}">
                      <a16:colId xmlns:a16="http://schemas.microsoft.com/office/drawing/2014/main" val="20003"/>
                    </a:ext>
                  </a:extLst>
                </a:gridCol>
                <a:gridCol w="1172226">
                  <a:extLst>
                    <a:ext uri="{9D8B030D-6E8A-4147-A177-3AD203B41FA5}">
                      <a16:colId xmlns:a16="http://schemas.microsoft.com/office/drawing/2014/main" val="20005"/>
                    </a:ext>
                  </a:extLst>
                </a:gridCol>
              </a:tblGrid>
              <a:tr h="170623">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kumimoji="0" lang="en-US" altLang="en-US" sz="1100" b="0" i="0" u="none" strike="noStrike" kern="1200" cap="none" spc="0" normalizeH="0" baseline="0" noProof="0">
                          <a:ln>
                            <a:noFill/>
                          </a:ln>
                          <a:solidFill>
                            <a:schemeClr val="bg1"/>
                          </a:solidFill>
                          <a:effectLst/>
                          <a:uLnTx/>
                          <a:uFillTx/>
                          <a:latin typeface="Poppins SemiBold" panose="00000700000000000000" pitchFamily="2" charset="0"/>
                          <a:ea typeface="+mn-ea"/>
                          <a:cs typeface="Poppins SemiBold" panose="00000700000000000000" pitchFamily="2" charset="0"/>
                        </a:rPr>
                        <a:t>KENWOOD INSURANCE COMPANY</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effectLst/>
                          <a:latin typeface="Poppins SemiBold" panose="00000700000000000000" pitchFamily="2" charset="0"/>
                          <a:ea typeface="Times New Roman" panose="02020603050405020304" pitchFamily="18" charset="0"/>
                          <a:cs typeface="Poppins SemiBold" panose="00000700000000000000" pitchFamily="2" charset="0"/>
                        </a:rPr>
                        <a:t>Mtd</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effectLst/>
                          <a:latin typeface="Poppins SemiBold" panose="00000700000000000000" pitchFamily="2" charset="0"/>
                          <a:cs typeface="Poppins SemiBold" panose="00000700000000000000" pitchFamily="2" charset="0"/>
                        </a:rPr>
                        <a:t>Ytd</a:t>
                      </a:r>
                      <a:endParaRPr lang="en-US" sz="1100" b="0" cap="a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effectLst/>
                          <a:latin typeface="Poppins SemiBold" panose="00000700000000000000" pitchFamily="2" charset="0"/>
                          <a:cs typeface="Poppins SemiBold" panose="00000700000000000000" pitchFamily="2" charset="0"/>
                        </a:rPr>
                        <a:t>1 yr</a:t>
                      </a:r>
                      <a:endParaRPr lang="en-US" sz="1100" b="0" cap="a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effectLst/>
                          <a:latin typeface="Poppins SemiBold" panose="00000700000000000000" pitchFamily="2" charset="0"/>
                          <a:cs typeface="Poppins SemiBold" panose="00000700000000000000" pitchFamily="2" charset="0"/>
                        </a:rPr>
                        <a:t>3 yr</a:t>
                      </a:r>
                      <a:endParaRPr lang="en-US" sz="1100" b="0" cap="a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cap="all">
                          <a:effectLst/>
                          <a:latin typeface="Poppins SemiBold" panose="00000700000000000000" pitchFamily="2" charset="0"/>
                          <a:cs typeface="Poppins SemiBold" panose="00000700000000000000" pitchFamily="2" charset="0"/>
                        </a:rPr>
                        <a:t>INCEPTION </a:t>
                      </a:r>
                      <a:r>
                        <a:rPr lang="en-US" sz="1100" b="0" cap="all" baseline="30000">
                          <a:effectLst/>
                          <a:latin typeface="Poppins SemiBold" panose="00000700000000000000" pitchFamily="2" charset="0"/>
                          <a:cs typeface="Poppins SemiBold" panose="00000700000000000000" pitchFamily="2" charset="0"/>
                        </a:rPr>
                        <a:t>1</a:t>
                      </a: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extLst>
                  <a:ext uri="{0D108BD9-81ED-4DB2-BD59-A6C34878D82A}">
                    <a16:rowId xmlns:a16="http://schemas.microsoft.com/office/drawing/2014/main" val="10000"/>
                  </a:ext>
                </a:extLst>
              </a:tr>
              <a:tr h="1682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cap="all">
                          <a:solidFill>
                            <a:schemeClr val="tx1"/>
                          </a:solidFill>
                          <a:effectLst/>
                          <a:latin typeface="Poppins SemiBold" panose="00000700000000000000" pitchFamily="2" charset="0"/>
                          <a:ea typeface="Times New Roman" panose="02020603050405020304" pitchFamily="18" charset="0"/>
                          <a:cs typeface="Poppins SemiBold" panose="00000700000000000000" pitchFamily="2" charset="0"/>
                        </a:rPr>
                        <a:t>PORTFOLIO (NET)</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2.86%</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4.79%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11.23%</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3.97%</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5.52%</a:t>
                      </a:r>
                    </a:p>
                  </a:txBody>
                  <a:tcPr marL="3810" marR="3810" marT="381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682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cap="all">
                          <a:solidFill>
                            <a:schemeClr val="tx1"/>
                          </a:solidFill>
                          <a:effectLst/>
                          <a:latin typeface="Poppins" panose="00000500000000000000" pitchFamily="2" charset="0"/>
                          <a:ea typeface="Times New Roman" panose="02020603050405020304" pitchFamily="18" charset="0"/>
                          <a:cs typeface="Poppins" panose="00000500000000000000" pitchFamily="2" charset="0"/>
                        </a:rPr>
                        <a:t>INDEX</a:t>
                      </a:r>
                      <a:endParaRPr lang="en-US" sz="1050" b="0" cap="all" baseline="30000">
                        <a:solidFill>
                          <a:schemeClr val="tx1"/>
                        </a:solidFill>
                        <a:effectLst/>
                        <a:latin typeface="Poppins" panose="00000500000000000000" pitchFamily="2" charset="0"/>
                        <a:ea typeface="Times New Roman" panose="02020603050405020304" pitchFamily="18" charset="0"/>
                        <a:cs typeface="Poppins" panose="00000500000000000000"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2.81%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5.34%</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11.27%</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7.03%</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4.93%</a:t>
                      </a:r>
                    </a:p>
                  </a:txBody>
                  <a:tcPr marL="3810" marR="3810" marT="381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8377">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100" b="0" kern="1200" cap="all">
                          <a:solidFill>
                            <a:schemeClr val="bg1"/>
                          </a:solidFill>
                          <a:effectLst/>
                          <a:latin typeface="Poppins SemiBold" panose="00000700000000000000" pitchFamily="2" charset="0"/>
                          <a:cs typeface="Poppins SemiBold" panose="00000700000000000000" pitchFamily="2" charset="0"/>
                        </a:rPr>
                        <a:t>PERFORMA LIQUID ASSETS FUND </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rPr>
                        <a:t>Mtd</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Ytd</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1 yr</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3 yr</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cap="all">
                          <a:solidFill>
                            <a:schemeClr val="bg1"/>
                          </a:solidFill>
                          <a:effectLst/>
                          <a:latin typeface="Poppins SemiBold" panose="00000700000000000000" pitchFamily="2" charset="0"/>
                          <a:cs typeface="Poppins SemiBold" panose="00000700000000000000" pitchFamily="2" charset="0"/>
                        </a:rPr>
                        <a:t>INCEPTION </a:t>
                      </a:r>
                      <a:r>
                        <a:rPr lang="en-US" sz="1100" b="0" cap="all" baseline="30000">
                          <a:solidFill>
                            <a:schemeClr val="bg1"/>
                          </a:solidFill>
                          <a:effectLst/>
                          <a:latin typeface="Poppins SemiBold" panose="00000700000000000000" pitchFamily="2" charset="0"/>
                          <a:cs typeface="Poppins SemiBold" panose="00000700000000000000" pitchFamily="2" charset="0"/>
                        </a:rPr>
                        <a:t>2</a:t>
                      </a:r>
                      <a:endParaRPr lang="en-US" sz="1100" b="0" cap="all">
                        <a:solidFill>
                          <a:schemeClr val="bg1"/>
                        </a:solidFill>
                        <a:effectLst/>
                        <a:latin typeface="Poppins SemiBold" panose="00000700000000000000" pitchFamily="2"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extLst>
                  <a:ext uri="{0D108BD9-81ED-4DB2-BD59-A6C34878D82A}">
                    <a16:rowId xmlns:a16="http://schemas.microsoft.com/office/drawing/2014/main" val="3243756791"/>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(GROSS)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0.01%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0.73%</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1.14%</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1.86%</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cap="all">
                          <a:solidFill>
                            <a:schemeClr val="tx1"/>
                          </a:solidFill>
                          <a:effectLst/>
                          <a:latin typeface="Poppins SemiBold" panose="00000700000000000000" pitchFamily="2" charset="0"/>
                          <a:cs typeface="Poppins SemiBold" panose="00000700000000000000" pitchFamily="2" charset="0"/>
                        </a:rPr>
                        <a:t>2.36%</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7901791"/>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(NET)</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0.01%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0.70%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1.11%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1.78%</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cap="all">
                          <a:solidFill>
                            <a:schemeClr val="tx1"/>
                          </a:solidFill>
                          <a:effectLst/>
                          <a:latin typeface="Poppins SemiBold" panose="00000700000000000000" pitchFamily="2" charset="0"/>
                          <a:cs typeface="Poppins SemiBold" panose="00000700000000000000" pitchFamily="2" charset="0"/>
                        </a:rPr>
                        <a:t>2.11%</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1759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cap="all">
                          <a:solidFill>
                            <a:schemeClr val="tx1"/>
                          </a:solidFill>
                          <a:effectLst/>
                          <a:latin typeface="Poppins" panose="00000500000000000000" pitchFamily="2" charset="0"/>
                          <a:ea typeface="Times New Roman" panose="02020603050405020304" pitchFamily="18" charset="0"/>
                          <a:cs typeface="Poppins" panose="00000500000000000000" pitchFamily="2" charset="0"/>
                        </a:rPr>
                        <a:t>ice bofa 0-3 month u.s. treasury bill index</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0.00%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0.52%</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0.87%</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1.59%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Medium" panose="00000600000000000000" pitchFamily="2" charset="0"/>
                          <a:ea typeface="+mn-ea"/>
                          <a:cs typeface="+mn-cs"/>
                        </a:rPr>
                        <a:t>2.04%</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178377">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100" b="0" kern="1200" cap="all">
                          <a:solidFill>
                            <a:schemeClr val="bg1"/>
                          </a:solidFill>
                          <a:effectLst/>
                          <a:latin typeface="Poppins SemiBold" panose="00000700000000000000" pitchFamily="2" charset="0"/>
                          <a:ea typeface="+mn-ea"/>
                          <a:cs typeface="Poppins SemiBold" panose="00000700000000000000" pitchFamily="2" charset="0"/>
                        </a:rPr>
                        <a:t>PERFORMA INTERNATIONAL BOND FUND </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kern="120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rPr>
                        <a:t>Mtd</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kern="1200" cap="all">
                          <a:solidFill>
                            <a:schemeClr val="bg1"/>
                          </a:solidFill>
                          <a:effectLst/>
                          <a:latin typeface="Poppins SemiBold" panose="00000700000000000000" pitchFamily="2" charset="0"/>
                          <a:cs typeface="Poppins SemiBold" panose="00000700000000000000" pitchFamily="2" charset="0"/>
                        </a:rPr>
                        <a:t>Ytd</a:t>
                      </a:r>
                      <a:endParaRPr lang="en-US" sz="1100" b="0" kern="120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kern="1200" cap="all">
                          <a:solidFill>
                            <a:schemeClr val="bg1"/>
                          </a:solidFill>
                          <a:effectLst/>
                          <a:latin typeface="Poppins SemiBold" panose="00000700000000000000" pitchFamily="2" charset="0"/>
                          <a:cs typeface="Poppins SemiBold" panose="00000700000000000000" pitchFamily="2" charset="0"/>
                        </a:rPr>
                        <a:t>1 yr</a:t>
                      </a:r>
                      <a:endParaRPr lang="en-US" sz="1100" b="0" kern="120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kern="1200" cap="all">
                          <a:solidFill>
                            <a:schemeClr val="bg1"/>
                          </a:solidFill>
                          <a:effectLst/>
                          <a:latin typeface="Poppins SemiBold" panose="00000700000000000000" pitchFamily="2" charset="0"/>
                          <a:cs typeface="Poppins SemiBold" panose="00000700000000000000" pitchFamily="2" charset="0"/>
                        </a:rPr>
                        <a:t>3 yr</a:t>
                      </a:r>
                      <a:endParaRPr lang="en-US" sz="1100" b="0" kern="120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cap="all">
                          <a:solidFill>
                            <a:schemeClr val="bg1"/>
                          </a:solidFill>
                          <a:effectLst/>
                          <a:latin typeface="Poppins SemiBold" panose="00000700000000000000" pitchFamily="2" charset="0"/>
                          <a:cs typeface="Poppins SemiBold" panose="00000700000000000000" pitchFamily="2" charset="0"/>
                        </a:rPr>
                        <a:t>10 YEARS</a:t>
                      </a: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extLst>
                  <a:ext uri="{0D108BD9-81ED-4DB2-BD59-A6C34878D82A}">
                    <a16:rowId xmlns:a16="http://schemas.microsoft.com/office/drawing/2014/main" val="1899757212"/>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(GROSS)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0.02%</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4.68%</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4.82%</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3.75%</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2.86%</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6392982"/>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(NET)</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0.01%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4.58%</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4.70%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3.65%</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2.53%</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2158260"/>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panose="00000500000000000000" pitchFamily="2" charset="0"/>
                          <a:cs typeface="Poppins" panose="00000500000000000000" pitchFamily="2" charset="0"/>
                        </a:rPr>
                        <a:t>BLOOMBERG BARCLAYS 1-5 YEAR U.S. GOVT/CREDIT INDEX</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0.04%</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4.40%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4.90%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3.49%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2.06%</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3899038"/>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panose="00000500000000000000" pitchFamily="2" charset="0"/>
                          <a:cs typeface="Poppins" panose="00000500000000000000" pitchFamily="2" charset="0"/>
                        </a:rPr>
                        <a:t>BLOOMBERG BARCLAYS INTERM. U.S. GOVT/CREDIT INDEX</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0.08%</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6.01%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6.47%</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4.38%</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2.85%</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21335"/>
                  </a:ext>
                </a:extLst>
              </a:tr>
              <a:tr h="178377">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100" b="0" kern="1200" cap="all">
                          <a:solidFill>
                            <a:schemeClr val="bg1"/>
                          </a:solidFill>
                          <a:effectLst/>
                          <a:latin typeface="Poppins SemiBold" panose="00000700000000000000" pitchFamily="2" charset="0"/>
                          <a:ea typeface="+mn-ea"/>
                          <a:cs typeface="Poppins SemiBold" panose="00000700000000000000" pitchFamily="2" charset="0"/>
                        </a:rPr>
                        <a:t>PERFORMA HIGH YIELD FUND </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rPr>
                        <a:t>Mtd</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Ytd</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1 yr</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3 yr</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cap="all">
                          <a:solidFill>
                            <a:schemeClr val="bg1"/>
                          </a:solidFill>
                          <a:effectLst/>
                          <a:latin typeface="Poppins SemiBold" panose="00000700000000000000" pitchFamily="2" charset="0"/>
                          <a:cs typeface="Poppins SemiBold" panose="00000700000000000000" pitchFamily="2" charset="0"/>
                        </a:rPr>
                        <a:t>INCEPTION </a:t>
                      </a:r>
                      <a:r>
                        <a:rPr lang="en-US" sz="1100" b="0" cap="all" baseline="30000">
                          <a:solidFill>
                            <a:schemeClr val="bg1"/>
                          </a:solidFill>
                          <a:effectLst/>
                          <a:latin typeface="Poppins SemiBold" panose="00000700000000000000" pitchFamily="2" charset="0"/>
                          <a:cs typeface="Poppins SemiBold" panose="00000700000000000000" pitchFamily="2" charset="0"/>
                        </a:rPr>
                        <a:t>3</a:t>
                      </a: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extLst>
                  <a:ext uri="{0D108BD9-81ED-4DB2-BD59-A6C34878D82A}">
                    <a16:rowId xmlns:a16="http://schemas.microsoft.com/office/drawing/2014/main" val="1694871512"/>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(GROSS)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1.68%</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2.52%</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4.80%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4.22%</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5.92%</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0516447"/>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(NET)</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1.67%</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2.11%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4.27%</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3.69%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5.15%</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298167"/>
                  </a:ext>
                </a:extLst>
              </a:tr>
              <a:tr h="1759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cap="all">
                          <a:solidFill>
                            <a:schemeClr val="tx1"/>
                          </a:solidFill>
                          <a:effectLst/>
                          <a:latin typeface="Poppins" panose="00000500000000000000" pitchFamily="2" charset="0"/>
                          <a:ea typeface="Times New Roman" panose="02020603050405020304" pitchFamily="18" charset="0"/>
                          <a:cs typeface="Poppins" panose="00000500000000000000" pitchFamily="2" charset="0"/>
                        </a:rPr>
                        <a:t>Ice bofa blended High yield index</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1.49%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1.06%</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3.77%</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4.23%</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5.86%</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1185706"/>
                  </a:ext>
                </a:extLst>
              </a:tr>
              <a:tr h="194753">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100" b="0" kern="1200" cap="all">
                          <a:solidFill>
                            <a:schemeClr val="bg1"/>
                          </a:solidFill>
                          <a:effectLst/>
                          <a:latin typeface="Poppins SemiBold" panose="00000700000000000000" pitchFamily="2" charset="0"/>
                          <a:ea typeface="+mn-ea"/>
                          <a:cs typeface="Poppins SemiBold" panose="00000700000000000000" pitchFamily="2" charset="0"/>
                        </a:rPr>
                        <a:t>PERFORMA EQUITY FUND</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rPr>
                        <a:t>Mtd</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Ytd</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1 yr</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3 yr</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cap="all">
                          <a:solidFill>
                            <a:schemeClr val="bg1"/>
                          </a:solidFill>
                          <a:effectLst/>
                          <a:latin typeface="Poppins SemiBold" panose="00000700000000000000" pitchFamily="2" charset="0"/>
                          <a:cs typeface="Poppins SemiBold" panose="00000700000000000000" pitchFamily="2" charset="0"/>
                        </a:rPr>
                        <a:t>INCEPTION </a:t>
                      </a:r>
                      <a:r>
                        <a:rPr lang="en-US" sz="1100" b="0" cap="all" baseline="30000">
                          <a:solidFill>
                            <a:schemeClr val="bg1"/>
                          </a:solidFill>
                          <a:effectLst/>
                          <a:latin typeface="Poppins SemiBold" panose="00000700000000000000" pitchFamily="2" charset="0"/>
                          <a:cs typeface="Poppins SemiBold" panose="00000700000000000000" pitchFamily="2" charset="0"/>
                        </a:rPr>
                        <a:t>4</a:t>
                      </a: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extLst>
                  <a:ext uri="{0D108BD9-81ED-4DB2-BD59-A6C34878D82A}">
                    <a16:rowId xmlns:a16="http://schemas.microsoft.com/office/drawing/2014/main" val="1461554899"/>
                  </a:ext>
                </a:extLst>
              </a:tr>
              <a:tr h="199177">
                <a:tc>
                  <a:txBody>
                    <a:bodyPr/>
                    <a:lstStyle/>
                    <a:p>
                      <a:pPr marL="0" marR="0" lvl="0" indent="60325" algn="l" defTabSz="806867" rtl="0" eaLnBrk="1" fontAlgn="b"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ea typeface="+mn-ea"/>
                          <a:cs typeface="Poppins SemiBold" panose="00000700000000000000" pitchFamily="2" charset="0"/>
                        </a:rPr>
                        <a:t>FUND (GROSS)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5.70%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4.65%</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15.64%</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8.00%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8.41%</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061820"/>
                  </a:ext>
                </a:extLst>
              </a:tr>
              <a:tr h="175935">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(NET)</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5.69%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4.13%</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14.93%</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7.48%</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7.80%</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5724002"/>
                  </a:ext>
                </a:extLst>
              </a:tr>
              <a:tr h="1759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cap="all">
                          <a:solidFill>
                            <a:schemeClr val="tx1"/>
                          </a:solidFill>
                          <a:effectLst/>
                          <a:latin typeface="Poppins" panose="00000500000000000000" pitchFamily="2" charset="0"/>
                          <a:ea typeface="Times New Roman" panose="02020603050405020304" pitchFamily="18" charset="0"/>
                          <a:cs typeface="Poppins" panose="00000500000000000000" pitchFamily="2" charset="0"/>
                        </a:rPr>
                        <a:t>U.S. EQUITY BLENDED BROAD MARKET INDEX</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5.41%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2.01%</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11.55%</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8.19%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Medium" panose="00000600000000000000" pitchFamily="2" charset="0"/>
                          <a:ea typeface="+mn-ea"/>
                          <a:cs typeface="+mn-cs"/>
                        </a:rPr>
                        <a:t>9.06%</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8152998"/>
                  </a:ext>
                </a:extLst>
              </a:tr>
              <a:tr h="178377">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100" b="0" kern="1200" cap="all">
                          <a:solidFill>
                            <a:schemeClr val="bg1"/>
                          </a:solidFill>
                          <a:effectLst/>
                          <a:latin typeface="Poppins SemiBold" panose="00000700000000000000" pitchFamily="2" charset="0"/>
                          <a:ea typeface="+mn-ea"/>
                          <a:cs typeface="Poppins SemiBold" panose="00000700000000000000" pitchFamily="2" charset="0"/>
                        </a:rPr>
                        <a:t>ORBIS GLOBAL EQUITY FUND  </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rPr>
                        <a:t>Mtd</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Ytd</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1 yr</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3 yr</a:t>
                      </a:r>
                      <a:endParaRPr lang="en-US" sz="1100" b="0" cap="all">
                        <a:solidFill>
                          <a:schemeClr val="bg1"/>
                        </a:solidFill>
                        <a:effectLst/>
                        <a:latin typeface="Poppins SemiBold" panose="00000700000000000000" pitchFamily="2" charset="0"/>
                        <a:ea typeface="Times New Roman" panose="02020603050405020304" pitchFamily="18"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cap="all">
                          <a:solidFill>
                            <a:schemeClr val="bg1"/>
                          </a:solidFill>
                          <a:effectLst/>
                          <a:latin typeface="Poppins SemiBold" panose="00000700000000000000" pitchFamily="2" charset="0"/>
                          <a:cs typeface="Poppins SemiBold" panose="00000700000000000000" pitchFamily="2" charset="0"/>
                        </a:rPr>
                        <a:t>INCEPTION </a:t>
                      </a:r>
                      <a:r>
                        <a:rPr lang="en-US" sz="1100" b="0" cap="all" baseline="30000">
                          <a:solidFill>
                            <a:schemeClr val="bg1"/>
                          </a:solidFill>
                          <a:effectLst/>
                          <a:latin typeface="Poppins SemiBold" panose="00000700000000000000" pitchFamily="2" charset="0"/>
                          <a:cs typeface="Poppins SemiBold" panose="00000700000000000000" pitchFamily="2" charset="0"/>
                        </a:rPr>
                        <a:t>5 </a:t>
                      </a:r>
                      <a:endParaRPr lang="en-US" sz="1100" b="0" cap="all">
                        <a:solidFill>
                          <a:schemeClr val="bg1"/>
                        </a:solidFill>
                        <a:effectLst/>
                        <a:latin typeface="Poppins SemiBold" panose="00000700000000000000" pitchFamily="2" charset="0"/>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F2E55"/>
                    </a:solidFill>
                  </a:tcPr>
                </a:tc>
                <a:extLst>
                  <a:ext uri="{0D108BD9-81ED-4DB2-BD59-A6C34878D82A}">
                    <a16:rowId xmlns:a16="http://schemas.microsoft.com/office/drawing/2014/main" val="3587048129"/>
                  </a:ext>
                </a:extLst>
              </a:tr>
              <a:tr h="64079">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(GROSS)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3.90%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1.40%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13.70%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2.40%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11.00% </a:t>
                      </a:r>
                    </a:p>
                  </a:txBody>
                  <a:tcPr marL="3810" marR="3810" marT="381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907523"/>
                  </a:ext>
                </a:extLst>
              </a:tr>
              <a:tr h="170623">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FUND (NET)</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3.90%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1.40%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13.70%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2.80%</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kern="1200">
                          <a:solidFill>
                            <a:schemeClr val="dk1"/>
                          </a:solidFill>
                          <a:effectLst/>
                          <a:latin typeface="Poppins SemiBold" panose="00000700000000000000" pitchFamily="2" charset="0"/>
                          <a:ea typeface="+mn-ea"/>
                          <a:cs typeface="+mn-cs"/>
                        </a:rPr>
                        <a:t>9.20%</a:t>
                      </a:r>
                    </a:p>
                  </a:txBody>
                  <a:tcPr marL="3810" marR="3810" marT="381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6015631"/>
                  </a:ext>
                </a:extLst>
              </a:tr>
              <a:tr h="1642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cap="all">
                          <a:solidFill>
                            <a:schemeClr val="tx1"/>
                          </a:solidFill>
                          <a:effectLst/>
                          <a:latin typeface="Poppins" panose="00000500000000000000" pitchFamily="2" charset="0"/>
                          <a:ea typeface="Times New Roman" panose="02020603050405020304" pitchFamily="18" charset="0"/>
                          <a:cs typeface="Poppins" panose="00000500000000000000" pitchFamily="2" charset="0"/>
                        </a:rPr>
                        <a:t>MSCI WORLD Index</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50" b="0" i="0" u="none" strike="noStrike" kern="1200">
                          <a:solidFill>
                            <a:schemeClr val="dk1"/>
                          </a:solidFill>
                          <a:effectLst/>
                          <a:latin typeface="Poppins Medium" panose="00000600000000000000" pitchFamily="2" charset="0"/>
                          <a:ea typeface="+mn-ea"/>
                          <a:cs typeface="+mn-cs"/>
                        </a:rPr>
                        <a:t>3.70%</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50" b="0" i="0" u="none" strike="noStrike" kern="1200">
                          <a:solidFill>
                            <a:schemeClr val="dk1"/>
                          </a:solidFill>
                          <a:effectLst/>
                          <a:latin typeface="Poppins Medium" panose="00000600000000000000" pitchFamily="2" charset="0"/>
                          <a:ea typeface="+mn-ea"/>
                          <a:cs typeface="+mn-cs"/>
                        </a:rPr>
                        <a:t>5.50%</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50" b="0" i="0" u="none" strike="noStrike" kern="1200">
                          <a:solidFill>
                            <a:schemeClr val="dk1"/>
                          </a:solidFill>
                          <a:effectLst/>
                          <a:latin typeface="Poppins Medium" panose="00000600000000000000" pitchFamily="2" charset="0"/>
                          <a:ea typeface="+mn-ea"/>
                          <a:cs typeface="+mn-cs"/>
                        </a:rPr>
                        <a:t>14.70%</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50" b="0" i="0" u="none" strike="noStrike" kern="1200">
                          <a:solidFill>
                            <a:schemeClr val="dk1"/>
                          </a:solidFill>
                          <a:effectLst/>
                          <a:latin typeface="Poppins Medium" panose="00000600000000000000" pitchFamily="2" charset="0"/>
                          <a:ea typeface="+mn-ea"/>
                          <a:cs typeface="+mn-cs"/>
                        </a:rPr>
                        <a:t>8.50%</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50" b="0" i="0" u="none" strike="noStrike" kern="1200">
                          <a:solidFill>
                            <a:schemeClr val="dk1"/>
                          </a:solidFill>
                          <a:effectLst/>
                          <a:latin typeface="Poppins Medium" panose="00000600000000000000" pitchFamily="2" charset="0"/>
                          <a:ea typeface="+mn-ea"/>
                          <a:cs typeface="+mn-cs"/>
                        </a:rPr>
                        <a:t>7.50%</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757918"/>
                  </a:ext>
                </a:extLst>
              </a:tr>
              <a:tr h="178377">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100" b="0" kern="1200" cap="all">
                          <a:solidFill>
                            <a:schemeClr val="bg1"/>
                          </a:solidFill>
                          <a:effectLst/>
                          <a:latin typeface="Poppins SemiBold" panose="00000700000000000000" pitchFamily="2" charset="0"/>
                          <a:ea typeface="+mn-ea"/>
                          <a:cs typeface="Poppins SemiBold" panose="00000700000000000000" pitchFamily="2" charset="0"/>
                        </a:rPr>
                        <a:t>William blair elkins growth strategy</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ea typeface="+mn-ea"/>
                          <a:cs typeface="Poppins SemiBold" panose="00000700000000000000" pitchFamily="2" charset="0"/>
                        </a:rPr>
                        <a:t>Mtd</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Ytd</a:t>
                      </a:r>
                      <a:endParaRPr lang="en-US" sz="1100" b="0" cap="all">
                        <a:solidFill>
                          <a:schemeClr val="bg1"/>
                        </a:solidFill>
                        <a:effectLst/>
                        <a:latin typeface="Poppins SemiBold" panose="00000700000000000000" pitchFamily="2" charset="0"/>
                        <a:ea typeface="+mn-ea"/>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1 yr</a:t>
                      </a:r>
                      <a:endParaRPr lang="en-US" sz="1100" b="0" cap="all">
                        <a:solidFill>
                          <a:schemeClr val="bg1"/>
                        </a:solidFill>
                        <a:effectLst/>
                        <a:latin typeface="Poppins SemiBold" panose="00000700000000000000" pitchFamily="2" charset="0"/>
                        <a:ea typeface="+mn-ea"/>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algn="ctr">
                        <a:spcBef>
                          <a:spcPts val="0"/>
                        </a:spcBef>
                        <a:spcAft>
                          <a:spcPts val="0"/>
                        </a:spcAft>
                      </a:pPr>
                      <a:r>
                        <a:rPr lang="en-US" sz="1100" b="0" cap="all">
                          <a:solidFill>
                            <a:schemeClr val="bg1"/>
                          </a:solidFill>
                          <a:effectLst/>
                          <a:latin typeface="Poppins SemiBold" panose="00000700000000000000" pitchFamily="2" charset="0"/>
                          <a:cs typeface="Poppins SemiBold" panose="00000700000000000000" pitchFamily="2" charset="0"/>
                        </a:rPr>
                        <a:t>3 yr</a:t>
                      </a:r>
                      <a:endParaRPr lang="en-US" sz="1100" b="0" cap="all">
                        <a:solidFill>
                          <a:schemeClr val="bg1"/>
                        </a:solidFill>
                        <a:effectLst/>
                        <a:latin typeface="Poppins SemiBold" panose="00000700000000000000" pitchFamily="2" charset="0"/>
                        <a:ea typeface="+mn-ea"/>
                        <a:cs typeface="Poppins SemiBold" panose="000007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cap="all">
                          <a:solidFill>
                            <a:schemeClr val="bg1"/>
                          </a:solidFill>
                          <a:effectLst/>
                          <a:latin typeface="Poppins SemiBold" panose="00000700000000000000" pitchFamily="2" charset="0"/>
                          <a:cs typeface="Poppins SemiBold" panose="00000700000000000000" pitchFamily="2" charset="0"/>
                        </a:rPr>
                        <a:t>INCEPTION </a:t>
                      </a:r>
                      <a:r>
                        <a:rPr lang="en-US" sz="1100" b="0" cap="all" baseline="30000">
                          <a:solidFill>
                            <a:schemeClr val="bg1"/>
                          </a:solidFill>
                          <a:effectLst/>
                          <a:latin typeface="Poppins SemiBold" panose="00000700000000000000" pitchFamily="2" charset="0"/>
                          <a:cs typeface="Poppins SemiBold" panose="00000700000000000000" pitchFamily="2" charset="0"/>
                        </a:rPr>
                        <a:t>6</a:t>
                      </a: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57640064"/>
                  </a:ext>
                </a:extLst>
              </a:tr>
              <a:tr h="168048">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STRATEGY (GROSS)</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6.19%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57.14%</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64.60%</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63.98%</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0084191"/>
                  </a:ext>
                </a:extLst>
              </a:tr>
              <a:tr h="168048">
                <a:tc>
                  <a:txBody>
                    <a:bodyPr/>
                    <a:lstStyle/>
                    <a:p>
                      <a:pPr marL="0" marR="0" lvl="0" indent="60325" algn="l" defTabSz="914400" rtl="0" eaLnBrk="1" fontAlgn="auto" latinLnBrk="0" hangingPunct="1">
                        <a:lnSpc>
                          <a:spcPct val="100000"/>
                        </a:lnSpc>
                        <a:spcBef>
                          <a:spcPts val="0"/>
                        </a:spcBef>
                        <a:spcAft>
                          <a:spcPts val="0"/>
                        </a:spcAft>
                        <a:buClrTx/>
                        <a:buSzTx/>
                        <a:buFontTx/>
                        <a:buNone/>
                        <a:tabLst/>
                        <a:defRPr/>
                      </a:pPr>
                      <a:r>
                        <a:rPr lang="en-US" sz="1050" b="0" kern="1200" cap="all">
                          <a:solidFill>
                            <a:schemeClr val="tx1"/>
                          </a:solidFill>
                          <a:effectLst/>
                          <a:latin typeface="Poppins SemiBold" panose="00000700000000000000" pitchFamily="2" charset="0"/>
                          <a:cs typeface="Poppins SemiBold" panose="00000700000000000000" pitchFamily="2" charset="0"/>
                        </a:rPr>
                        <a:t>STRATEGY (NET)</a:t>
                      </a:r>
                    </a:p>
                  </a:txBody>
                  <a:tcPr marL="7620" marR="7620" marT="762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6.19%</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56.45%</a:t>
                      </a:r>
                    </a:p>
                  </a:txBody>
                  <a:tcPr marL="3810" marR="3810" marT="381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63.65%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806867" rtl="0" eaLnBrk="1" fontAlgn="b" latinLnBrk="0" hangingPunct="1"/>
                      <a:r>
                        <a:rPr lang="en-US" sz="1050" b="0" i="0" u="none" strike="noStrike" kern="1200">
                          <a:solidFill>
                            <a:schemeClr val="dk1"/>
                          </a:solidFill>
                          <a:effectLst/>
                          <a:latin typeface="Poppins SemiBold" panose="00000700000000000000" pitchFamily="2" charset="0"/>
                          <a:ea typeface="+mn-ea"/>
                          <a:cs typeface="+mn-cs"/>
                        </a:rPr>
                        <a:t>63.05%</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9823030"/>
                  </a:ext>
                </a:extLst>
              </a:tr>
              <a:tr h="1642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cap="all">
                          <a:solidFill>
                            <a:schemeClr val="tx1"/>
                          </a:solidFill>
                          <a:effectLst/>
                          <a:latin typeface="Poppins" panose="00000500000000000000" pitchFamily="2" charset="0"/>
                          <a:ea typeface="Times New Roman" panose="02020603050405020304" pitchFamily="18" charset="0"/>
                          <a:cs typeface="Poppins" panose="00000500000000000000" pitchFamily="2" charset="0"/>
                        </a:rPr>
                        <a:t>RUSSELL 3000 GROWTH Index</a:t>
                      </a: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50" b="0" i="0" u="none" strike="noStrike">
                          <a:effectLst/>
                          <a:latin typeface="Poppins Medium" panose="00000600000000000000" pitchFamily="2" charset="0"/>
                          <a:cs typeface="Poppins Medium" panose="00000600000000000000" pitchFamily="2" charset="0"/>
                        </a:rPr>
                        <a:t>4.88%</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50" b="0" i="0" u="none" strike="noStrike">
                          <a:effectLst/>
                          <a:latin typeface="Poppins Medium" panose="00000600000000000000" pitchFamily="2" charset="0"/>
                          <a:cs typeface="Poppins Medium" panose="00000600000000000000" pitchFamily="2" charset="0"/>
                        </a:rPr>
                        <a:t>29.01%</a:t>
                      </a:r>
                    </a:p>
                  </a:txBody>
                  <a:tcPr marL="3810" marR="3810" marT="381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cap="all">
                          <a:solidFill>
                            <a:schemeClr val="tx1"/>
                          </a:solidFill>
                          <a:effectLst/>
                          <a:latin typeface="Poppins Medium" panose="00000600000000000000" pitchFamily="2" charset="0"/>
                          <a:cs typeface="Poppins Medium" panose="00000600000000000000" pitchFamily="2" charset="0"/>
                        </a:rPr>
                        <a:t>42.05%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050" b="0" i="0" u="none" strike="noStrike" cap="all">
                          <a:solidFill>
                            <a:schemeClr val="tx1"/>
                          </a:solidFill>
                          <a:effectLst/>
                          <a:latin typeface="Poppins Medium" panose="00000600000000000000" pitchFamily="2" charset="0"/>
                          <a:cs typeface="Poppins Medium" panose="00000600000000000000" pitchFamily="2" charset="0"/>
                        </a:rPr>
                        <a:t>-</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50" b="0" i="0" u="none" strike="noStrike">
                          <a:effectLst/>
                          <a:latin typeface="Poppins Medium" panose="00000600000000000000" pitchFamily="2" charset="0"/>
                          <a:cs typeface="Poppins Medium" panose="00000600000000000000" pitchFamily="2" charset="0"/>
                        </a:rPr>
                        <a:t>43.51%</a:t>
                      </a:r>
                    </a:p>
                  </a:txBody>
                  <a:tcPr marL="3810" marR="3810" marT="381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463698"/>
                  </a:ext>
                </a:extLst>
              </a:tr>
            </a:tbl>
          </a:graphicData>
        </a:graphic>
      </p:graphicFrame>
      <p:sp>
        <p:nvSpPr>
          <p:cNvPr id="15" name="Title 1">
            <a:extLst>
              <a:ext uri="{FF2B5EF4-FFF2-40B4-BE49-F238E27FC236}">
                <a16:creationId xmlns:a16="http://schemas.microsoft.com/office/drawing/2014/main" id="{0AAB4721-2E06-4606-AB7D-8E626C011077}"/>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Investment Grade Fixed Income SMA </a:t>
            </a:r>
          </a:p>
        </p:txBody>
      </p:sp>
      <p:sp>
        <p:nvSpPr>
          <p:cNvPr id="13" name="Line 309">
            <a:extLst>
              <a:ext uri="{FF2B5EF4-FFF2-40B4-BE49-F238E27FC236}">
                <a16:creationId xmlns:a16="http://schemas.microsoft.com/office/drawing/2014/main" id="{3E20422E-92DA-483E-B5ED-A9619DE7BE41}"/>
              </a:ext>
            </a:extLst>
          </p:cNvPr>
          <p:cNvSpPr>
            <a:spLocks noChangeShapeType="1"/>
          </p:cNvSpPr>
          <p:nvPr/>
        </p:nvSpPr>
        <p:spPr bwMode="auto">
          <a:xfrm>
            <a:off x="365760" y="5912360"/>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9" name="Slide Number Placeholder 1">
            <a:extLst>
              <a:ext uri="{FF2B5EF4-FFF2-40B4-BE49-F238E27FC236}">
                <a16:creationId xmlns:a16="http://schemas.microsoft.com/office/drawing/2014/main" id="{DEFE4B05-8CD1-457D-BCF8-34E509752B77}"/>
              </a:ext>
            </a:extLst>
          </p:cNvPr>
          <p:cNvSpPr>
            <a:spLocks noGrp="1"/>
          </p:cNvSpPr>
          <p:nvPr>
            <p:ph type="sldNum" sz="quarter" idx="4"/>
          </p:nvPr>
        </p:nvSpPr>
        <p:spPr>
          <a:xfrm>
            <a:off x="8599574" y="6471235"/>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16</a:t>
            </a:fld>
            <a:endParaRPr lang="en-US" sz="882">
              <a:solidFill>
                <a:srgbClr val="000000"/>
              </a:solidFill>
            </a:endParaRPr>
          </a:p>
        </p:txBody>
      </p:sp>
      <p:graphicFrame>
        <p:nvGraphicFramePr>
          <p:cNvPr id="16" name="Chart 15" hidden="1">
            <a:extLst>
              <a:ext uri="{FF2B5EF4-FFF2-40B4-BE49-F238E27FC236}">
                <a16:creationId xmlns:a16="http://schemas.microsoft.com/office/drawing/2014/main" id="{BF94BDA6-B920-489C-8BEA-3047A54AFB29}"/>
              </a:ext>
            </a:extLst>
          </p:cNvPr>
          <p:cNvGraphicFramePr>
            <a:graphicFrameLocks/>
          </p:cNvGraphicFramePr>
          <p:nvPr/>
        </p:nvGraphicFramePr>
        <p:xfrm>
          <a:off x="365760" y="1456889"/>
          <a:ext cx="8412480" cy="394422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hidden="1">
            <a:extLst>
              <a:ext uri="{FF2B5EF4-FFF2-40B4-BE49-F238E27FC236}">
                <a16:creationId xmlns:a16="http://schemas.microsoft.com/office/drawing/2014/main" id="{BF94BDA6-B920-489C-8BEA-3047A54AFB29}"/>
              </a:ext>
            </a:extLst>
          </p:cNvPr>
          <p:cNvGraphicFramePr>
            <a:graphicFrameLocks/>
          </p:cNvGraphicFramePr>
          <p:nvPr/>
        </p:nvGraphicFramePr>
        <p:xfrm>
          <a:off x="328624" y="1254739"/>
          <a:ext cx="8412480" cy="43485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hidden="1">
            <a:extLst>
              <a:ext uri="{FF2B5EF4-FFF2-40B4-BE49-F238E27FC236}">
                <a16:creationId xmlns:a16="http://schemas.microsoft.com/office/drawing/2014/main" id="{00000000-0008-0000-0600-000007000000}"/>
              </a:ext>
            </a:extLst>
          </p:cNvPr>
          <p:cNvGraphicFramePr>
            <a:graphicFrameLocks/>
          </p:cNvGraphicFramePr>
          <p:nvPr/>
        </p:nvGraphicFramePr>
        <p:xfrm>
          <a:off x="365760" y="1271639"/>
          <a:ext cx="8412479" cy="400792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 name="Chart 19" hidden="1">
            <a:extLst>
              <a:ext uri="{FF2B5EF4-FFF2-40B4-BE49-F238E27FC236}">
                <a16:creationId xmlns:a16="http://schemas.microsoft.com/office/drawing/2014/main" id="{00000000-0008-0000-0600-000007000000}"/>
              </a:ext>
            </a:extLst>
          </p:cNvPr>
          <p:cNvGraphicFramePr>
            <a:graphicFrameLocks/>
          </p:cNvGraphicFramePr>
          <p:nvPr/>
        </p:nvGraphicFramePr>
        <p:xfrm>
          <a:off x="365760" y="1369621"/>
          <a:ext cx="8412480" cy="3906159"/>
        </p:xfrm>
        <a:graphic>
          <a:graphicData uri="http://schemas.openxmlformats.org/drawingml/2006/chart">
            <c:chart xmlns:c="http://schemas.openxmlformats.org/drawingml/2006/chart" xmlns:r="http://schemas.openxmlformats.org/officeDocument/2006/relationships" r:id="rId6"/>
          </a:graphicData>
        </a:graphic>
      </p:graphicFrame>
      <p:sp>
        <p:nvSpPr>
          <p:cNvPr id="21" name="Rectangle 20">
            <a:extLst>
              <a:ext uri="{FF2B5EF4-FFF2-40B4-BE49-F238E27FC236}">
                <a16:creationId xmlns:a16="http://schemas.microsoft.com/office/drawing/2014/main" id="{B3864A92-8C78-4820-B45D-B68F746B3727}"/>
              </a:ext>
            </a:extLst>
          </p:cNvPr>
          <p:cNvSpPr/>
          <p:nvPr/>
        </p:nvSpPr>
        <p:spPr>
          <a:xfrm>
            <a:off x="286233" y="5963520"/>
            <a:ext cx="8253761" cy="872098"/>
          </a:xfrm>
          <a:prstGeom prst="rect">
            <a:avLst/>
          </a:prstGeom>
          <a:noFill/>
          <a:ln>
            <a:noFill/>
          </a:ln>
        </p:spPr>
        <p:txBody>
          <a:bodyPr wrap="square" lIns="91440" tIns="45720" rIns="91440" bIns="45720" anchor="t">
            <a:spAutoFit/>
          </a:bodyPr>
          <a:lstStyle/>
          <a:p>
            <a:pPr algn="just" defTabSz="447675">
              <a:lnSpc>
                <a:spcPct val="90000"/>
              </a:lnSpc>
              <a:spcBef>
                <a:spcPct val="50000"/>
              </a:spcBef>
              <a:defRPr/>
            </a:pPr>
            <a:r>
              <a:rPr lang="en-US" sz="900" cap="all">
                <a:solidFill>
                  <a:srgbClr val="394849"/>
                </a:solidFill>
                <a:latin typeface="Poppins Light"/>
                <a:cs typeface="Poppins Light"/>
              </a:rPr>
              <a:t>¹October 2025 performance is preliminary and does not include THE PERFORMA oversight fee. </a:t>
            </a:r>
            <a:r>
              <a:rPr kumimoji="0" lang="en-US" sz="850" b="0" i="0" u="none" strike="noStrike" kern="1200" cap="all" spc="0" normalizeH="0" baseline="0" noProof="0">
                <a:ln>
                  <a:noFill/>
                </a:ln>
                <a:solidFill>
                  <a:srgbClr val="394849"/>
                </a:solidFill>
                <a:effectLst/>
                <a:uLnTx/>
                <a:uFillTx/>
                <a:latin typeface="Poppins Light"/>
                <a:ea typeface="+mn-ea"/>
                <a:cs typeface="Poppins Light" panose="00000400000000000000" pitchFamily="2" charset="0"/>
              </a:rPr>
              <a:t>Gross &amp; net returns include the deduction of Trading expenses and reinvestment of income and dividends. Gross returns do not reflect the deduction of Performa's advisory fee, custody fees or other expenses. NET RETURNS REFLECT THE DEDUCTION OF ADVISORY FEES INVOICED TO THE CLIENT AND PAID TO PERFORMA ON A QUARTERLY BASIS. RETURNS FOR PERIODS GREATER THAN ONE YEAR HAVE BEEN ANNUALIZED. past performance is no guarantee of future results.</a:t>
            </a:r>
          </a:p>
          <a:p>
            <a:pPr marL="0" marR="0" lvl="0" indent="0" algn="just" defTabSz="447675" rtl="0" eaLnBrk="1" fontAlgn="auto" latinLnBrk="0" hangingPunct="1">
              <a:lnSpc>
                <a:spcPct val="90000"/>
              </a:lnSpc>
              <a:spcBef>
                <a:spcPct val="50000"/>
              </a:spcBef>
              <a:spcAft>
                <a:spcPts val="0"/>
              </a:spcAft>
              <a:buClrTx/>
              <a:buSzTx/>
              <a:buFontTx/>
              <a:buNone/>
              <a:tabLst/>
              <a:defRPr/>
            </a:pPr>
            <a:r>
              <a:rPr kumimoji="0" lang="en-US" sz="850" b="0" i="0" u="none" strike="noStrike" kern="1200" cap="all" spc="0" normalizeH="0" baseline="0" noProof="0">
                <a:ln>
                  <a:noFill/>
                </a:ln>
                <a:solidFill>
                  <a:srgbClr val="394849"/>
                </a:solidFill>
                <a:effectLst/>
                <a:uLnTx/>
                <a:uFillTx/>
                <a:latin typeface="Poppins Light"/>
                <a:ea typeface="+mn-ea"/>
                <a:cs typeface="Poppins Light" panose="00000400000000000000" pitchFamily="2" charset="0"/>
              </a:rPr>
              <a:t>INDEX: FROM INCEPTION (6/7/2021) THROUGH 6/30/2021, the index consisted of 100% ICE BofA 0-3 Month U.S. Treasury Bill Index. FROM 7/1/2021 THROUGH THE PRESENT, THE INDEX </a:t>
            </a:r>
            <a:r>
              <a:rPr lang="en-US" sz="850" cap="all" err="1">
                <a:solidFill>
                  <a:srgbClr val="394849"/>
                </a:solidFill>
                <a:latin typeface="Poppins Light"/>
                <a:cs typeface="Poppins Light" panose="00000400000000000000" pitchFamily="2" charset="0"/>
              </a:rPr>
              <a:t>i</a:t>
            </a:r>
            <a:r>
              <a:rPr kumimoji="0" lang="en-US" sz="850" b="0" i="0" u="none" strike="noStrike" kern="1200" cap="all" spc="0" normalizeH="0" baseline="0" noProof="0">
                <a:ln>
                  <a:noFill/>
                </a:ln>
                <a:solidFill>
                  <a:srgbClr val="394849"/>
                </a:solidFill>
                <a:effectLst/>
                <a:uLnTx/>
                <a:uFillTx/>
                <a:latin typeface="Poppins Light"/>
                <a:ea typeface="+mn-ea"/>
                <a:cs typeface="Poppins Light" panose="00000400000000000000" pitchFamily="2" charset="0"/>
              </a:rPr>
              <a:t>S COMPRISED OF 100% BLOOMBERG INTERMEDIATE U.S. GOVERNMENT/CREDIT INDEX.</a:t>
            </a:r>
            <a:endParaRPr lang="en-US" sz="850" cap="all" spc="-20">
              <a:solidFill>
                <a:srgbClr val="394849"/>
              </a:solidFill>
              <a:latin typeface="Poppins Light"/>
              <a:cs typeface="Poppins Light" panose="00000400000000000000" pitchFamily="2" charset="0"/>
            </a:endParaRPr>
          </a:p>
        </p:txBody>
      </p:sp>
      <p:graphicFrame>
        <p:nvGraphicFramePr>
          <p:cNvPr id="22" name="Chart 21" hidden="1">
            <a:extLst>
              <a:ext uri="{FF2B5EF4-FFF2-40B4-BE49-F238E27FC236}">
                <a16:creationId xmlns:a16="http://schemas.microsoft.com/office/drawing/2014/main" id="{00000000-0008-0000-0600-000007000000}"/>
              </a:ext>
            </a:extLst>
          </p:cNvPr>
          <p:cNvGraphicFramePr>
            <a:graphicFrameLocks/>
          </p:cNvGraphicFramePr>
          <p:nvPr>
            <p:extLst>
              <p:ext uri="{D42A27DB-BD31-4B8C-83A1-F6EECF244321}">
                <p14:modId xmlns:p14="http://schemas.microsoft.com/office/powerpoint/2010/main" val="3274884228"/>
              </p:ext>
            </p:extLst>
          </p:nvPr>
        </p:nvGraphicFramePr>
        <p:xfrm>
          <a:off x="365759" y="1163638"/>
          <a:ext cx="8412479" cy="452694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 name="preadjustment june 2022" hidden="1">
            <a:extLst>
              <a:ext uri="{FF2B5EF4-FFF2-40B4-BE49-F238E27FC236}">
                <a16:creationId xmlns:a16="http://schemas.microsoft.com/office/drawing/2014/main" id="{00000000-0008-0000-0600-000007000000}"/>
              </a:ext>
            </a:extLst>
          </p:cNvPr>
          <p:cNvGraphicFramePr>
            <a:graphicFrameLocks/>
          </p:cNvGraphicFramePr>
          <p:nvPr>
            <p:extLst>
              <p:ext uri="{D42A27DB-BD31-4B8C-83A1-F6EECF244321}">
                <p14:modId xmlns:p14="http://schemas.microsoft.com/office/powerpoint/2010/main" val="3469744125"/>
              </p:ext>
            </p:extLst>
          </p:nvPr>
        </p:nvGraphicFramePr>
        <p:xfrm>
          <a:off x="365569" y="1129466"/>
          <a:ext cx="8581786" cy="4358911"/>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4" name="Chart 13" hidden="1">
            <a:extLst>
              <a:ext uri="{FF2B5EF4-FFF2-40B4-BE49-F238E27FC236}">
                <a16:creationId xmlns:a16="http://schemas.microsoft.com/office/drawing/2014/main" id="{00000000-0008-0000-0600-000007000000}"/>
              </a:ext>
            </a:extLst>
          </p:cNvPr>
          <p:cNvGraphicFramePr>
            <a:graphicFrameLocks/>
          </p:cNvGraphicFramePr>
          <p:nvPr>
            <p:extLst>
              <p:ext uri="{D42A27DB-BD31-4B8C-83A1-F6EECF244321}">
                <p14:modId xmlns:p14="http://schemas.microsoft.com/office/powerpoint/2010/main" val="1330706318"/>
              </p:ext>
            </p:extLst>
          </p:nvPr>
        </p:nvGraphicFramePr>
        <p:xfrm>
          <a:off x="365568" y="1176310"/>
          <a:ext cx="8412479" cy="4270759"/>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 name="Chart 2" hidden="1">
            <a:extLst>
              <a:ext uri="{FF2B5EF4-FFF2-40B4-BE49-F238E27FC236}">
                <a16:creationId xmlns:a16="http://schemas.microsoft.com/office/drawing/2014/main" id="{41AB1C11-2F04-44C5-8E50-977FE0354472}"/>
              </a:ext>
            </a:extLst>
          </p:cNvPr>
          <p:cNvGraphicFramePr>
            <a:graphicFrameLocks/>
          </p:cNvGraphicFramePr>
          <p:nvPr>
            <p:extLst>
              <p:ext uri="{D42A27DB-BD31-4B8C-83A1-F6EECF244321}">
                <p14:modId xmlns:p14="http://schemas.microsoft.com/office/powerpoint/2010/main" val="960397341"/>
              </p:ext>
            </p:extLst>
          </p:nvPr>
        </p:nvGraphicFramePr>
        <p:xfrm>
          <a:off x="364114" y="1296207"/>
          <a:ext cx="8412480" cy="4614968"/>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4" name="Chart 3" hidden="1">
            <a:extLst>
              <a:ext uri="{FF2B5EF4-FFF2-40B4-BE49-F238E27FC236}">
                <a16:creationId xmlns:a16="http://schemas.microsoft.com/office/drawing/2014/main" id="{710A40BC-DEB7-4CA5-9B5E-2BD4496FE8A7}"/>
              </a:ext>
            </a:extLst>
          </p:cNvPr>
          <p:cNvGraphicFramePr>
            <a:graphicFrameLocks/>
          </p:cNvGraphicFramePr>
          <p:nvPr>
            <p:extLst>
              <p:ext uri="{D42A27DB-BD31-4B8C-83A1-F6EECF244321}">
                <p14:modId xmlns:p14="http://schemas.microsoft.com/office/powerpoint/2010/main" val="575539165"/>
              </p:ext>
            </p:extLst>
          </p:nvPr>
        </p:nvGraphicFramePr>
        <p:xfrm>
          <a:off x="365761" y="1219404"/>
          <a:ext cx="8412480" cy="4647348"/>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5" name="Chart 4" hidden="1">
            <a:extLst>
              <a:ext uri="{FF2B5EF4-FFF2-40B4-BE49-F238E27FC236}">
                <a16:creationId xmlns:a16="http://schemas.microsoft.com/office/drawing/2014/main" id="{00000000-0008-0000-0600-000007000000}"/>
              </a:ext>
            </a:extLst>
          </p:cNvPr>
          <p:cNvGraphicFramePr>
            <a:graphicFrameLocks/>
          </p:cNvGraphicFramePr>
          <p:nvPr>
            <p:extLst>
              <p:ext uri="{D42A27DB-BD31-4B8C-83A1-F6EECF244321}">
                <p14:modId xmlns:p14="http://schemas.microsoft.com/office/powerpoint/2010/main" val="1177954093"/>
              </p:ext>
            </p:extLst>
          </p:nvPr>
        </p:nvGraphicFramePr>
        <p:xfrm>
          <a:off x="365759" y="1238444"/>
          <a:ext cx="8412481" cy="4491788"/>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7" name="Chart 6">
            <a:extLst>
              <a:ext uri="{FF2B5EF4-FFF2-40B4-BE49-F238E27FC236}">
                <a16:creationId xmlns:a16="http://schemas.microsoft.com/office/drawing/2014/main" id="{00000000-0008-0000-0600-000007000000}"/>
              </a:ext>
            </a:extLst>
          </p:cNvPr>
          <p:cNvGraphicFramePr>
            <a:graphicFrameLocks/>
          </p:cNvGraphicFramePr>
          <p:nvPr>
            <p:extLst>
              <p:ext uri="{D42A27DB-BD31-4B8C-83A1-F6EECF244321}">
                <p14:modId xmlns:p14="http://schemas.microsoft.com/office/powerpoint/2010/main" val="1553339733"/>
              </p:ext>
            </p:extLst>
          </p:nvPr>
        </p:nvGraphicFramePr>
        <p:xfrm>
          <a:off x="286232" y="1238444"/>
          <a:ext cx="8492007" cy="4622750"/>
        </p:xfrm>
        <a:graphic>
          <a:graphicData uri="http://schemas.openxmlformats.org/drawingml/2006/chart">
            <c:chart xmlns:c="http://schemas.openxmlformats.org/drawingml/2006/chart" xmlns:r="http://schemas.openxmlformats.org/officeDocument/2006/relationships" r:id="rId13"/>
          </a:graphicData>
        </a:graphic>
      </p:graphicFrame>
      <p:sp>
        <p:nvSpPr>
          <p:cNvPr id="11" name="Rectangle 10">
            <a:extLst>
              <a:ext uri="{FF2B5EF4-FFF2-40B4-BE49-F238E27FC236}">
                <a16:creationId xmlns:a16="http://schemas.microsoft.com/office/drawing/2014/main" id="{89B5800D-4C1B-FB75-5C14-1DA31D4D2935}"/>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Bef>
                <a:spcPct val="50000"/>
              </a:spcBef>
              <a:spcAft>
                <a:spcPct val="0"/>
              </a:spcAft>
            </a:pPr>
            <a:r>
              <a:rPr lang="en-US" sz="1600" dirty="0">
                <a:solidFill>
                  <a:schemeClr val="bg1"/>
                </a:solidFill>
                <a:latin typeface="Poppins Light" panose="00000400000000000000" pitchFamily="2" charset="0"/>
                <a:cs typeface="Poppins Light" panose="00000400000000000000" pitchFamily="2" charset="0"/>
              </a:rPr>
              <a:t>PERFORMANCE | </a:t>
            </a:r>
            <a:r>
              <a:rPr lang="en-US" sz="1600" dirty="0">
                <a:solidFill>
                  <a:schemeClr val="bg1"/>
                </a:solidFill>
                <a:latin typeface="Poppins Medium" panose="00000600000000000000" pitchFamily="2" charset="0"/>
                <a:cs typeface="Poppins Medium" panose="00000600000000000000" pitchFamily="2" charset="0"/>
              </a:rPr>
              <a:t>10-27-2025¹</a:t>
            </a:r>
          </a:p>
        </p:txBody>
      </p:sp>
      <p:sp>
        <p:nvSpPr>
          <p:cNvPr id="2" name="TextBox 1">
            <a:extLst>
              <a:ext uri="{FF2B5EF4-FFF2-40B4-BE49-F238E27FC236}">
                <a16:creationId xmlns:a16="http://schemas.microsoft.com/office/drawing/2014/main" id="{4CE20446-CACF-0387-8CA7-4BC2DADC9E8D}"/>
              </a:ext>
            </a:extLst>
          </p:cNvPr>
          <p:cNvSpPr txBox="1"/>
          <p:nvPr/>
        </p:nvSpPr>
        <p:spPr>
          <a:xfrm>
            <a:off x="9317255" y="539015"/>
            <a:ext cx="3599848" cy="923330"/>
          </a:xfrm>
          <a:prstGeom prst="rect">
            <a:avLst/>
          </a:prstGeom>
          <a:solidFill>
            <a:srgbClr val="92D050"/>
          </a:solidFill>
        </p:spPr>
        <p:txBody>
          <a:bodyPr wrap="square" rtlCol="0">
            <a:spAutoFit/>
          </a:bodyPr>
          <a:lstStyle/>
          <a:p>
            <a:r>
              <a:rPr lang="en-US" dirty="0"/>
              <a:t>SOURCED VIA PERIOD PERFORMANCE GROSS &amp; NET REPORT IN CLEARWATER</a:t>
            </a:r>
          </a:p>
        </p:txBody>
      </p:sp>
    </p:spTree>
    <p:extLst>
      <p:ext uri="{BB962C8B-B14F-4D97-AF65-F5344CB8AC3E}">
        <p14:creationId xmlns:p14="http://schemas.microsoft.com/office/powerpoint/2010/main" val="1298154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C74A6E8-DA09-423C-8A0E-D467587A941B}"/>
              </a:ext>
            </a:extLst>
          </p:cNvPr>
          <p:cNvGraphicFramePr>
            <a:graphicFrameLocks noGrp="1"/>
          </p:cNvGraphicFramePr>
          <p:nvPr/>
        </p:nvGraphicFramePr>
        <p:xfrm>
          <a:off x="365759" y="2359185"/>
          <a:ext cx="8412480" cy="338328"/>
        </p:xfrm>
        <a:graphic>
          <a:graphicData uri="http://schemas.openxmlformats.org/drawingml/2006/table">
            <a:tbl>
              <a:tblPr firstRow="1" bandRow="1">
                <a:tableStyleId>{5C22544A-7EE6-4342-B048-85BDC9FD1C3A}</a:tableStyleId>
              </a:tblPr>
              <a:tblGrid>
                <a:gridCol w="8412480">
                  <a:extLst>
                    <a:ext uri="{9D8B030D-6E8A-4147-A177-3AD203B41FA5}">
                      <a16:colId xmlns:a16="http://schemas.microsoft.com/office/drawing/2014/main" val="3591868916"/>
                    </a:ext>
                  </a:extLst>
                </a:gridCol>
              </a:tblGrid>
              <a:tr h="338328">
                <a:tc>
                  <a:txBody>
                    <a:bodyPr/>
                    <a:lstStyle/>
                    <a:p>
                      <a:pPr algn="l"/>
                      <a:r>
                        <a:rPr lang="en-US" sz="1500" b="0">
                          <a:latin typeface="Poppins Medium" panose="00000600000000000000" pitchFamily="2" charset="0"/>
                          <a:cs typeface="Poppins Medium" panose="00000600000000000000" pitchFamily="2" charset="0"/>
                        </a:rPr>
                        <a:t>PERFORMANCE COMMENTARY</a:t>
                      </a:r>
                      <a:endParaRPr lang="en-US" sz="1500" b="0">
                        <a:latin typeface="Poppins" panose="00000500000000000000" pitchFamily="2" charset="0"/>
                        <a:cs typeface="Poppins" panose="00000500000000000000" pitchFamily="2"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106280"/>
                    </a:solidFill>
                  </a:tcPr>
                </a:tc>
                <a:extLst>
                  <a:ext uri="{0D108BD9-81ED-4DB2-BD59-A6C34878D82A}">
                    <a16:rowId xmlns:a16="http://schemas.microsoft.com/office/drawing/2014/main" val="2521040899"/>
                  </a:ext>
                </a:extLst>
              </a:tr>
            </a:tbl>
          </a:graphicData>
        </a:graphic>
      </p:graphicFrame>
      <p:sp>
        <p:nvSpPr>
          <p:cNvPr id="48" name="Slide Number Placeholder 1">
            <a:extLst>
              <a:ext uri="{FF2B5EF4-FFF2-40B4-BE49-F238E27FC236}">
                <a16:creationId xmlns:a16="http://schemas.microsoft.com/office/drawing/2014/main" id="{3C349428-DFD3-4DD4-A839-99D2D214DCB0}"/>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17</a:t>
            </a:fld>
            <a:endParaRPr lang="en-US" sz="882">
              <a:solidFill>
                <a:srgbClr val="000000"/>
              </a:solidFill>
            </a:endParaRPr>
          </a:p>
        </p:txBody>
      </p:sp>
      <p:graphicFrame>
        <p:nvGraphicFramePr>
          <p:cNvPr id="9" name="Table 8">
            <a:extLst>
              <a:ext uri="{FF2B5EF4-FFF2-40B4-BE49-F238E27FC236}">
                <a16:creationId xmlns:a16="http://schemas.microsoft.com/office/drawing/2014/main" id="{BF346E85-BD35-4EFA-ABEC-C602F6934691}"/>
              </a:ext>
            </a:extLst>
          </p:cNvPr>
          <p:cNvGraphicFramePr>
            <a:graphicFrameLocks noGrp="1"/>
          </p:cNvGraphicFramePr>
          <p:nvPr/>
        </p:nvGraphicFramePr>
        <p:xfrm>
          <a:off x="4611070" y="1202532"/>
          <a:ext cx="4172766" cy="1128581"/>
        </p:xfrm>
        <a:graphic>
          <a:graphicData uri="http://schemas.openxmlformats.org/drawingml/2006/table">
            <a:tbl>
              <a:tblPr bandRow="1">
                <a:tableStyleId>{93296810-A885-4BE3-A3E7-6D5BEEA58F35}</a:tableStyleId>
              </a:tblPr>
              <a:tblGrid>
                <a:gridCol w="2820979">
                  <a:extLst>
                    <a:ext uri="{9D8B030D-6E8A-4147-A177-3AD203B41FA5}">
                      <a16:colId xmlns:a16="http://schemas.microsoft.com/office/drawing/2014/main" val="20000"/>
                    </a:ext>
                  </a:extLst>
                </a:gridCol>
                <a:gridCol w="1351787">
                  <a:extLst>
                    <a:ext uri="{9D8B030D-6E8A-4147-A177-3AD203B41FA5}">
                      <a16:colId xmlns:a16="http://schemas.microsoft.com/office/drawing/2014/main" val="20006"/>
                    </a:ext>
                  </a:extLst>
                </a:gridCol>
              </a:tblGrid>
              <a:tr h="225253">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SOURCES OF RELATIVE PERFORMANCE</a:t>
                      </a:r>
                      <a:endParaRPr lang="en-US" sz="1200" b="0">
                        <a:solidFill>
                          <a:schemeClr val="bg1"/>
                        </a:solidFill>
                        <a:latin typeface="Poppins" panose="00000500000000000000" pitchFamily="2" charset="0"/>
                        <a:cs typeface="Poppins" panose="00000500000000000000" pitchFamily="2" charset="0"/>
                      </a:endParaRPr>
                    </a:p>
                  </a:txBody>
                  <a:tcPr marL="77919" marR="7791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8A3A4"/>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b="1">
                        <a:solidFill>
                          <a:schemeClr val="bg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F2E55"/>
                    </a:solidFill>
                  </a:tcPr>
                </a:tc>
                <a:extLst>
                  <a:ext uri="{0D108BD9-81ED-4DB2-BD59-A6C34878D82A}">
                    <a16:rowId xmlns:a16="http://schemas.microsoft.com/office/drawing/2014/main" val="10000"/>
                  </a:ext>
                </a:extLst>
              </a:tr>
              <a:tr h="223909">
                <a:tc>
                  <a:txBody>
                    <a:bodyPr/>
                    <a:lstStyle/>
                    <a:p>
                      <a:pPr marL="114300" indent="0" algn="l" fontAlgn="b"/>
                      <a:r>
                        <a:rPr lang="en-US" sz="1200" b="0" i="0" u="none" strike="noStrike" baseline="0">
                          <a:solidFill>
                            <a:schemeClr val="accent2">
                              <a:lumMod val="50000"/>
                            </a:schemeClr>
                          </a:solidFill>
                          <a:effectLst/>
                          <a:latin typeface="Poppins" panose="00000500000000000000" pitchFamily="2" charset="0"/>
                          <a:cs typeface="Poppins" panose="00000500000000000000" pitchFamily="2" charset="0"/>
                        </a:rPr>
                        <a:t>DURATION/YIELD CURVE</a:t>
                      </a:r>
                      <a:endParaRPr lang="en-US" sz="1200" b="0" i="0" u="none" strike="noStrike" baseline="30000">
                        <a:solidFill>
                          <a:schemeClr val="accent2">
                            <a:lumMod val="50000"/>
                          </a:schemeClr>
                        </a:solidFill>
                        <a:effectLst/>
                        <a:latin typeface="Poppins" panose="00000500000000000000" pitchFamily="2" charset="0"/>
                        <a:cs typeface="Poppins" panose="00000500000000000000" pitchFamily="2" charset="0"/>
                      </a:endParaRPr>
                    </a:p>
                  </a:txBody>
                  <a:tcPr marL="9477" marR="9477"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accent2">
                              <a:lumMod val="50000"/>
                            </a:schemeClr>
                          </a:solidFill>
                          <a:effectLst/>
                          <a:latin typeface="Poppins" panose="00000500000000000000" pitchFamily="2" charset="0"/>
                          <a:ea typeface="+mn-ea"/>
                          <a:cs typeface="Poppins" panose="00000500000000000000" pitchFamily="2" charset="0"/>
                        </a:rPr>
                        <a:t>-0.07%</a:t>
                      </a:r>
                      <a:endParaRPr lang="en-US" sz="1200" b="1" i="0" u="none" strike="noStrike" kern="1200">
                        <a:solidFill>
                          <a:srgbClr val="FF0000"/>
                        </a:solidFill>
                        <a:effectLst/>
                        <a:latin typeface="Poppins" panose="00000500000000000000" pitchFamily="2" charset="0"/>
                        <a:ea typeface="+mn-ea"/>
                        <a:cs typeface="Poppins" panose="00000500000000000000" pitchFamily="2" charset="0"/>
                      </a:endParaRPr>
                    </a:p>
                  </a:txBody>
                  <a:tcPr marL="11121" marR="182880" marT="1112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6473">
                <a:tc>
                  <a:txBody>
                    <a:bodyPr/>
                    <a:lstStyle/>
                    <a:p>
                      <a:pPr marL="114300" marR="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accent2">
                              <a:lumMod val="50000"/>
                            </a:schemeClr>
                          </a:solidFill>
                          <a:effectLst/>
                          <a:latin typeface="Poppins" panose="00000500000000000000" pitchFamily="2" charset="0"/>
                          <a:cs typeface="Poppins" panose="00000500000000000000" pitchFamily="2" charset="0"/>
                        </a:rPr>
                        <a:t>SECTOR ALLOCATION</a:t>
                      </a:r>
                    </a:p>
                  </a:txBody>
                  <a:tcPr marL="9477" marR="9477"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8738" marR="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accent2">
                              <a:lumMod val="50000"/>
                            </a:schemeClr>
                          </a:solidFill>
                          <a:effectLst/>
                          <a:latin typeface="Poppins" panose="00000500000000000000" pitchFamily="2" charset="0"/>
                          <a:ea typeface="+mn-ea"/>
                          <a:cs typeface="Poppins" panose="00000500000000000000" pitchFamily="2" charset="0"/>
                        </a:rPr>
                        <a:t>0.02%</a:t>
                      </a:r>
                    </a:p>
                  </a:txBody>
                  <a:tcPr marL="11121" marR="182880" marT="1112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26473">
                <a:tc>
                  <a:txBody>
                    <a:bodyPr/>
                    <a:lstStyle/>
                    <a:p>
                      <a:pPr marL="114300" marR="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accent2">
                              <a:lumMod val="50000"/>
                            </a:schemeClr>
                          </a:solidFill>
                          <a:effectLst/>
                          <a:latin typeface="Poppins" panose="00000500000000000000" pitchFamily="2" charset="0"/>
                          <a:cs typeface="Poppins" panose="00000500000000000000" pitchFamily="2" charset="0"/>
                        </a:rPr>
                        <a:t>SECURITY</a:t>
                      </a:r>
                      <a:r>
                        <a:rPr lang="en-US" sz="1200" b="0" i="0" u="none" strike="noStrike" baseline="0">
                          <a:solidFill>
                            <a:schemeClr val="accent2">
                              <a:lumMod val="50000"/>
                            </a:schemeClr>
                          </a:solidFill>
                          <a:effectLst/>
                          <a:latin typeface="Poppins" panose="00000500000000000000" pitchFamily="2" charset="0"/>
                          <a:cs typeface="Poppins" panose="00000500000000000000" pitchFamily="2" charset="0"/>
                        </a:rPr>
                        <a:t> SELECTION</a:t>
                      </a:r>
                      <a:endParaRPr lang="en-US" sz="1200" b="0" i="0" u="none" strike="noStrike">
                        <a:solidFill>
                          <a:schemeClr val="accent2">
                            <a:lumMod val="50000"/>
                          </a:schemeClr>
                        </a:solidFill>
                        <a:effectLst/>
                        <a:latin typeface="Poppins" panose="00000500000000000000" pitchFamily="2" charset="0"/>
                        <a:cs typeface="Poppins" panose="00000500000000000000" pitchFamily="2" charset="0"/>
                      </a:endParaRPr>
                    </a:p>
                  </a:txBody>
                  <a:tcPr marL="9477" marR="9477"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accent2">
                              <a:lumMod val="50000"/>
                            </a:schemeClr>
                          </a:solidFill>
                          <a:effectLst/>
                          <a:latin typeface="Poppins" panose="00000500000000000000" pitchFamily="2" charset="0"/>
                          <a:ea typeface="+mn-ea"/>
                          <a:cs typeface="Poppins" panose="00000500000000000000" pitchFamily="2" charset="0"/>
                        </a:rPr>
                        <a:t>0.11%</a:t>
                      </a:r>
                      <a:endParaRPr lang="en-US" sz="1200" b="1" i="0" u="none" strike="noStrike" kern="1200">
                        <a:solidFill>
                          <a:srgbClr val="FF0000"/>
                        </a:solidFill>
                        <a:effectLst/>
                        <a:latin typeface="Poppins" panose="00000500000000000000" pitchFamily="2" charset="0"/>
                        <a:ea typeface="+mn-ea"/>
                        <a:cs typeface="Poppins" panose="00000500000000000000" pitchFamily="2" charset="0"/>
                      </a:endParaRPr>
                    </a:p>
                  </a:txBody>
                  <a:tcPr marL="11121" marR="182880" marT="11121"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6473">
                <a:tc>
                  <a:txBody>
                    <a:bodyPr/>
                    <a:lstStyle/>
                    <a:p>
                      <a:pPr marL="114300" marR="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Poppins Medium" panose="00000600000000000000" pitchFamily="2" charset="0"/>
                          <a:cs typeface="Poppins Medium" panose="00000600000000000000" pitchFamily="2" charset="0"/>
                        </a:rPr>
                        <a:t>RELATIVE</a:t>
                      </a:r>
                      <a:r>
                        <a:rPr lang="en-US" sz="1200" b="0" i="0" u="none" strike="noStrike" baseline="0">
                          <a:solidFill>
                            <a:schemeClr val="tx1"/>
                          </a:solidFill>
                          <a:effectLst/>
                          <a:latin typeface="Poppins Medium" panose="00000600000000000000" pitchFamily="2" charset="0"/>
                          <a:cs typeface="Poppins Medium" panose="00000600000000000000" pitchFamily="2" charset="0"/>
                        </a:rPr>
                        <a:t> PERFORMANCE (GROSS)</a:t>
                      </a:r>
                      <a:endParaRPr lang="en-US" sz="1200" b="0" i="0" u="none" strike="noStrike">
                        <a:solidFill>
                          <a:schemeClr val="tx1"/>
                        </a:solidFill>
                        <a:effectLst/>
                        <a:latin typeface="Poppins Medium" panose="00000600000000000000" pitchFamily="2" charset="0"/>
                        <a:cs typeface="Poppins Medium" panose="00000600000000000000" pitchFamily="2" charset="0"/>
                      </a:endParaRPr>
                    </a:p>
                  </a:txBody>
                  <a:tcPr marL="9477" marR="9477"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Poppins Medium" panose="00000600000000000000" pitchFamily="2" charset="0"/>
                          <a:ea typeface="+mn-ea"/>
                          <a:cs typeface="Poppins Medium" panose="00000600000000000000" pitchFamily="2" charset="0"/>
                        </a:rPr>
                        <a:t>0.06%</a:t>
                      </a:r>
                    </a:p>
                  </a:txBody>
                  <a:tcPr marL="9477" marR="182880"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22" name="Line 309">
            <a:extLst>
              <a:ext uri="{FF2B5EF4-FFF2-40B4-BE49-F238E27FC236}">
                <a16:creationId xmlns:a16="http://schemas.microsoft.com/office/drawing/2014/main" id="{C8875FC6-4A75-417A-993D-B79EDED4B8F2}"/>
              </a:ext>
            </a:extLst>
          </p:cNvPr>
          <p:cNvSpPr>
            <a:spLocks noChangeShapeType="1"/>
          </p:cNvSpPr>
          <p:nvPr/>
        </p:nvSpPr>
        <p:spPr bwMode="auto">
          <a:xfrm>
            <a:off x="365760" y="6536924"/>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graphicFrame>
        <p:nvGraphicFramePr>
          <p:cNvPr id="26" name="Table 25">
            <a:extLst>
              <a:ext uri="{FF2B5EF4-FFF2-40B4-BE49-F238E27FC236}">
                <a16:creationId xmlns:a16="http://schemas.microsoft.com/office/drawing/2014/main" id="{5DE06C15-C6F8-4D1E-B51F-DDF9294FEE5A}"/>
              </a:ext>
            </a:extLst>
          </p:cNvPr>
          <p:cNvGraphicFramePr>
            <a:graphicFrameLocks noGrp="1"/>
          </p:cNvGraphicFramePr>
          <p:nvPr/>
        </p:nvGraphicFramePr>
        <p:xfrm>
          <a:off x="360164" y="1202532"/>
          <a:ext cx="4172766" cy="1131145"/>
        </p:xfrm>
        <a:graphic>
          <a:graphicData uri="http://schemas.openxmlformats.org/drawingml/2006/table">
            <a:tbl>
              <a:tblPr bandRow="1">
                <a:tableStyleId>{93296810-A885-4BE3-A3E7-6D5BEEA58F35}</a:tableStyleId>
              </a:tblPr>
              <a:tblGrid>
                <a:gridCol w="2820979">
                  <a:extLst>
                    <a:ext uri="{9D8B030D-6E8A-4147-A177-3AD203B41FA5}">
                      <a16:colId xmlns:a16="http://schemas.microsoft.com/office/drawing/2014/main" val="20000"/>
                    </a:ext>
                  </a:extLst>
                </a:gridCol>
                <a:gridCol w="1351787">
                  <a:extLst>
                    <a:ext uri="{9D8B030D-6E8A-4147-A177-3AD203B41FA5}">
                      <a16:colId xmlns:a16="http://schemas.microsoft.com/office/drawing/2014/main" val="20006"/>
                    </a:ext>
                  </a:extLst>
                </a:gridCol>
              </a:tblGrid>
              <a:tr h="225253">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YTD SEPTEMBER 2025 PERFORMANCE</a:t>
                      </a:r>
                      <a:endParaRPr lang="en-US" sz="1200" b="0">
                        <a:solidFill>
                          <a:schemeClr val="bg1"/>
                        </a:solidFill>
                        <a:latin typeface="Poppins" panose="00000500000000000000" pitchFamily="2" charset="0"/>
                        <a:cs typeface="Poppins" panose="00000500000000000000" pitchFamily="2" charset="0"/>
                      </a:endParaRPr>
                    </a:p>
                  </a:txBody>
                  <a:tcPr marL="77919" marR="7791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8A3A4"/>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b="1">
                        <a:solidFill>
                          <a:schemeClr val="bg1"/>
                        </a:solidFill>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F2E55"/>
                    </a:solidFill>
                  </a:tcPr>
                </a:tc>
                <a:extLst>
                  <a:ext uri="{0D108BD9-81ED-4DB2-BD59-A6C34878D82A}">
                    <a16:rowId xmlns:a16="http://schemas.microsoft.com/office/drawing/2014/main" val="10000"/>
                  </a:ext>
                </a:extLst>
              </a:tr>
              <a:tr h="226473">
                <a:tc>
                  <a:txBody>
                    <a:bodyPr/>
                    <a:lstStyle/>
                    <a:p>
                      <a:pPr marL="114300" indent="0" algn="l" fontAlgn="b"/>
                      <a:r>
                        <a:rPr lang="en-US" sz="1200" b="0" i="0" u="none" strike="noStrike">
                          <a:solidFill>
                            <a:schemeClr val="accent2">
                              <a:lumMod val="50000"/>
                            </a:schemeClr>
                          </a:solidFill>
                          <a:effectLst/>
                          <a:latin typeface="Poppins" panose="00000500000000000000" pitchFamily="2" charset="0"/>
                          <a:cs typeface="Poppins" panose="00000500000000000000" pitchFamily="2" charset="0"/>
                        </a:rPr>
                        <a:t>PORTFOLIO (GROSS)</a:t>
                      </a:r>
                      <a:endParaRPr lang="en-US" sz="1200" b="0" i="0" u="none" strike="noStrike" baseline="30000">
                        <a:solidFill>
                          <a:schemeClr val="accent2">
                            <a:lumMod val="50000"/>
                          </a:schemeClr>
                        </a:solidFill>
                        <a:effectLst/>
                        <a:latin typeface="Poppins" panose="00000500000000000000" pitchFamily="2" charset="0"/>
                        <a:cs typeface="Poppins" panose="00000500000000000000" pitchFamily="2" charset="0"/>
                      </a:endParaRPr>
                    </a:p>
                  </a:txBody>
                  <a:tcPr marL="9477" marR="9477"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1200" b="0" i="0" u="none" strike="noStrike">
                          <a:solidFill>
                            <a:srgbClr val="4D4D4D"/>
                          </a:solidFill>
                          <a:effectLst/>
                          <a:latin typeface="Poppins" panose="00000500000000000000" pitchFamily="2" charset="0"/>
                        </a:rPr>
                        <a:t>5.76%</a:t>
                      </a:r>
                    </a:p>
                  </a:txBody>
                  <a:tcPr marL="9525" marR="182880"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26473">
                <a:tc>
                  <a:txBody>
                    <a:bodyPr/>
                    <a:lstStyle/>
                    <a:p>
                      <a:pPr marL="11430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accent2">
                              <a:lumMod val="50000"/>
                            </a:schemeClr>
                          </a:solidFill>
                          <a:effectLst/>
                          <a:latin typeface="Poppins" panose="00000500000000000000" pitchFamily="2" charset="0"/>
                          <a:cs typeface="Poppins" panose="00000500000000000000" pitchFamily="2" charset="0"/>
                        </a:rPr>
                        <a:t>PORTFOLIO (NET)</a:t>
                      </a:r>
                      <a:endParaRPr lang="en-US" sz="1200" b="0" i="0" u="none" strike="noStrike" baseline="30000">
                        <a:solidFill>
                          <a:schemeClr val="accent2">
                            <a:lumMod val="50000"/>
                          </a:schemeClr>
                        </a:solidFill>
                        <a:effectLst/>
                        <a:latin typeface="Poppins" panose="00000500000000000000" pitchFamily="2" charset="0"/>
                        <a:cs typeface="Poppins" panose="00000500000000000000" pitchFamily="2" charset="0"/>
                      </a:endParaRPr>
                    </a:p>
                  </a:txBody>
                  <a:tcPr marL="9477" marR="9477"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1200" b="0" i="0" u="none" strike="noStrike">
                          <a:solidFill>
                            <a:srgbClr val="4D4D4D"/>
                          </a:solidFill>
                          <a:effectLst/>
                          <a:latin typeface="Poppins" panose="00000500000000000000" pitchFamily="2" charset="0"/>
                        </a:rPr>
                        <a:t>5.59%</a:t>
                      </a:r>
                    </a:p>
                  </a:txBody>
                  <a:tcPr marL="9525" marR="182880"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26473">
                <a:tc>
                  <a:txBody>
                    <a:bodyPr/>
                    <a:lstStyle/>
                    <a:p>
                      <a:pPr marL="114300" marR="0" indent="0" algn="l"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accent2">
                              <a:lumMod val="50000"/>
                            </a:schemeClr>
                          </a:solidFill>
                          <a:effectLst/>
                          <a:latin typeface="Poppins" panose="00000500000000000000" pitchFamily="2" charset="0"/>
                          <a:cs typeface="Poppins" panose="00000500000000000000" pitchFamily="2" charset="0"/>
                        </a:rPr>
                        <a:t>INDEX</a:t>
                      </a:r>
                    </a:p>
                  </a:txBody>
                  <a:tcPr marL="9477" marR="9477"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sz="1200" b="0" i="0" u="none" strike="noStrike">
                          <a:solidFill>
                            <a:srgbClr val="4D4D4D"/>
                          </a:solidFill>
                          <a:effectLst/>
                          <a:latin typeface="Poppins" panose="00000500000000000000" pitchFamily="2" charset="0"/>
                        </a:rPr>
                        <a:t>5.70%</a:t>
                      </a:r>
                    </a:p>
                  </a:txBody>
                  <a:tcPr marL="9525" marR="182880"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6473">
                <a:tc>
                  <a:txBody>
                    <a:bodyPr/>
                    <a:lstStyle/>
                    <a:p>
                      <a:pPr marL="11430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Poppins Medium" panose="00000600000000000000" pitchFamily="2" charset="0"/>
                          <a:ea typeface="+mn-ea"/>
                          <a:cs typeface="Poppins Medium" panose="00000600000000000000" pitchFamily="2" charset="0"/>
                        </a:rPr>
                        <a:t>RELATIVE PERFORMANCE (GROSS)</a:t>
                      </a:r>
                    </a:p>
                  </a:txBody>
                  <a:tcPr marL="9477" marR="9477" marT="947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sz="1200" b="0" i="0" u="none" strike="noStrike">
                          <a:solidFill>
                            <a:srgbClr val="000000"/>
                          </a:solidFill>
                          <a:effectLst/>
                          <a:latin typeface="Poppins Medium" panose="00000600000000000000" pitchFamily="2" charset="0"/>
                        </a:rPr>
                        <a:t>0.06%</a:t>
                      </a:r>
                    </a:p>
                  </a:txBody>
                  <a:tcPr marL="9525" marR="182880"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accent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25" name="Rectangle 24">
            <a:extLst>
              <a:ext uri="{FF2B5EF4-FFF2-40B4-BE49-F238E27FC236}">
                <a16:creationId xmlns:a16="http://schemas.microsoft.com/office/drawing/2014/main" id="{F4EC7990-77E2-4249-8152-D01E3E1876CD}"/>
              </a:ext>
            </a:extLst>
          </p:cNvPr>
          <p:cNvSpPr/>
          <p:nvPr/>
        </p:nvSpPr>
        <p:spPr>
          <a:xfrm>
            <a:off x="274666" y="6575506"/>
            <a:ext cx="8185263" cy="211596"/>
          </a:xfrm>
          <a:prstGeom prst="rect">
            <a:avLst/>
          </a:prstGeom>
          <a:noFill/>
          <a:ln>
            <a:noFill/>
          </a:ln>
        </p:spPr>
        <p:txBody>
          <a:bodyPr wrap="square">
            <a:spAutoFit/>
          </a:bodyPr>
          <a:lstStyle/>
          <a:p>
            <a:pPr algn="just">
              <a:lnSpc>
                <a:spcPts val="900"/>
              </a:lnSpc>
              <a:spcBef>
                <a:spcPct val="50000"/>
              </a:spcBef>
            </a:pPr>
            <a:r>
              <a:rPr lang="en-US" sz="850">
                <a:solidFill>
                  <a:srgbClr val="0C2836"/>
                </a:solidFill>
                <a:latin typeface="Poppins Light" panose="00000400000000000000" pitchFamily="2" charset="0"/>
                <a:cs typeface="Poppins Light" panose="00000400000000000000" pitchFamily="2" charset="0"/>
              </a:rPr>
              <a:t>INDEX: BLOOMBERG INTERMEDIATE U.S. GOVERNMENT/CREDIT INDEX. </a:t>
            </a:r>
          </a:p>
        </p:txBody>
      </p:sp>
      <p:sp>
        <p:nvSpPr>
          <p:cNvPr id="24" name="Rectangle 23">
            <a:extLst>
              <a:ext uri="{FF2B5EF4-FFF2-40B4-BE49-F238E27FC236}">
                <a16:creationId xmlns:a16="http://schemas.microsoft.com/office/drawing/2014/main" id="{E933F5D9-D073-42F0-8710-A72FF45F8D85}"/>
              </a:ext>
            </a:extLst>
          </p:cNvPr>
          <p:cNvSpPr/>
          <p:nvPr/>
        </p:nvSpPr>
        <p:spPr bwMode="auto">
          <a:xfrm>
            <a:off x="366583" y="825084"/>
            <a:ext cx="8412480" cy="338554"/>
          </a:xfrm>
          <a:prstGeom prst="rect">
            <a:avLst/>
          </a:prstGeom>
          <a:solidFill>
            <a:srgbClr val="106280"/>
          </a:solidFill>
        </p:spPr>
        <p:txBody>
          <a:bodyPr wrap="square" tIns="274320" rIns="0" bIns="45720" rtlCol="0" anchor="b">
            <a:noAutofit/>
          </a:bodyPr>
          <a:lstStyle/>
          <a:p>
            <a:r>
              <a:rPr lang="en-US" sz="1600">
                <a:solidFill>
                  <a:schemeClr val="bg1"/>
                </a:solidFill>
                <a:latin typeface="Poppins Light" panose="00000400000000000000" pitchFamily="2" charset="0"/>
                <a:cs typeface="Poppins Light" panose="00000400000000000000" pitchFamily="2" charset="0"/>
              </a:rPr>
              <a:t>PERFORMANCE ATTRIBUTION</a:t>
            </a:r>
            <a:r>
              <a:rPr lang="en-US" sz="1600">
                <a:solidFill>
                  <a:schemeClr val="bg1"/>
                </a:solidFill>
                <a:latin typeface="Poppins" panose="00000500000000000000" pitchFamily="2" charset="0"/>
                <a:cs typeface="Poppins" panose="00000500000000000000" pitchFamily="2" charset="0"/>
              </a:rPr>
              <a:t> | </a:t>
            </a:r>
            <a:r>
              <a:rPr lang="en-US" sz="1600">
                <a:solidFill>
                  <a:schemeClr val="bg1"/>
                </a:solidFill>
                <a:latin typeface="Poppins Medium" panose="00000600000000000000" pitchFamily="50" charset="0"/>
                <a:cs typeface="Poppins Medium" panose="00000600000000000000" pitchFamily="50" charset="0"/>
              </a:rPr>
              <a:t>YTD</a:t>
            </a:r>
            <a:r>
              <a:rPr lang="en-US" sz="1600">
                <a:solidFill>
                  <a:schemeClr val="bg1"/>
                </a:solidFill>
                <a:latin typeface="Poppins" panose="00000500000000000000" pitchFamily="2" charset="0"/>
                <a:cs typeface="Poppins" panose="00000500000000000000" pitchFamily="2" charset="0"/>
              </a:rPr>
              <a:t> </a:t>
            </a:r>
            <a:r>
              <a:rPr lang="en-US" sz="1600">
                <a:solidFill>
                  <a:schemeClr val="bg1"/>
                </a:solidFill>
                <a:latin typeface="Poppins Medium" panose="00000600000000000000" pitchFamily="2" charset="0"/>
                <a:cs typeface="Poppins Medium" panose="00000600000000000000" pitchFamily="2" charset="0"/>
              </a:rPr>
              <a:t>| 9-30-2025</a:t>
            </a:r>
          </a:p>
        </p:txBody>
      </p:sp>
      <p:grpSp>
        <p:nvGrpSpPr>
          <p:cNvPr id="2" name="Group 1">
            <a:extLst>
              <a:ext uri="{FF2B5EF4-FFF2-40B4-BE49-F238E27FC236}">
                <a16:creationId xmlns:a16="http://schemas.microsoft.com/office/drawing/2014/main" id="{89F17C01-8BA4-AB1E-6207-7AD072C841D7}"/>
              </a:ext>
            </a:extLst>
          </p:cNvPr>
          <p:cNvGrpSpPr/>
          <p:nvPr/>
        </p:nvGrpSpPr>
        <p:grpSpPr>
          <a:xfrm>
            <a:off x="360164" y="4035012"/>
            <a:ext cx="2617022" cy="365760"/>
            <a:chOff x="421341" y="4260369"/>
            <a:chExt cx="2624643" cy="365760"/>
          </a:xfrm>
        </p:grpSpPr>
        <p:sp>
          <p:nvSpPr>
            <p:cNvPr id="4" name="Rectangle 3">
              <a:extLst>
                <a:ext uri="{FF2B5EF4-FFF2-40B4-BE49-F238E27FC236}">
                  <a16:creationId xmlns:a16="http://schemas.microsoft.com/office/drawing/2014/main" id="{E69767E0-1D7A-5FB9-0715-C17AFD470E61}"/>
                </a:ext>
              </a:extLst>
            </p:cNvPr>
            <p:cNvSpPr/>
            <p:nvPr/>
          </p:nvSpPr>
          <p:spPr bwMode="auto">
            <a:xfrm>
              <a:off x="895798" y="4294094"/>
              <a:ext cx="2150186" cy="313765"/>
            </a:xfrm>
            <a:prstGeom prst="rect">
              <a:avLst/>
            </a:prstGeom>
            <a:solidFill>
              <a:srgbClr val="88A3A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r" defTabSz="914400" rtl="0" eaLnBrk="0" fontAlgn="base" latinLnBrk="0" hangingPunct="0">
                <a:lnSpc>
                  <a:spcPct val="100000"/>
                </a:lnSpc>
                <a:spcBef>
                  <a:spcPct val="50000"/>
                </a:spcBef>
                <a:spcAft>
                  <a:spcPct val="0"/>
                </a:spcAft>
                <a:buClrTx/>
                <a:buSzTx/>
                <a:buFontTx/>
                <a:buNone/>
                <a:tabLst/>
              </a:pPr>
              <a:r>
                <a:rPr lang="en-US" sz="1100">
                  <a:solidFill>
                    <a:schemeClr val="bg1"/>
                  </a:solidFill>
                  <a:latin typeface="Poppins Medium" panose="00000600000000000000" pitchFamily="2" charset="0"/>
                  <a:cs typeface="Poppins Medium" panose="00000600000000000000" pitchFamily="2" charset="0"/>
                </a:rPr>
                <a:t>SECTOR ALLOCATION    </a:t>
              </a:r>
              <a:endParaRPr kumimoji="0" lang="en-US" sz="1100" i="0" u="none" strike="noStrike" cap="none" normalizeH="0" baseline="0">
                <a:ln>
                  <a:noFill/>
                </a:ln>
                <a:solidFill>
                  <a:schemeClr val="bg1"/>
                </a:solidFill>
                <a:effectLst/>
                <a:latin typeface="Poppins Medium" panose="00000600000000000000" pitchFamily="2" charset="0"/>
                <a:cs typeface="Poppins Medium" panose="00000600000000000000" pitchFamily="2" charset="0"/>
              </a:endParaRPr>
            </a:p>
          </p:txBody>
        </p:sp>
        <p:sp>
          <p:nvSpPr>
            <p:cNvPr id="5" name="Flowchart: Display 4">
              <a:extLst>
                <a:ext uri="{FF2B5EF4-FFF2-40B4-BE49-F238E27FC236}">
                  <a16:creationId xmlns:a16="http://schemas.microsoft.com/office/drawing/2014/main" id="{93CD08C9-F7C2-8803-0C67-8C1FE44F40EF}"/>
                </a:ext>
              </a:extLst>
            </p:cNvPr>
            <p:cNvSpPr/>
            <p:nvPr/>
          </p:nvSpPr>
          <p:spPr bwMode="auto">
            <a:xfrm flipH="1">
              <a:off x="421341" y="4260369"/>
              <a:ext cx="822960" cy="365760"/>
            </a:xfrm>
            <a:prstGeom prst="flowChartDisplay">
              <a:avLst/>
            </a:prstGeom>
            <a:solidFill>
              <a:srgbClr val="E6E6E6"/>
            </a:solidFill>
            <a:ln w="28575" cap="flat" cmpd="sng" algn="ctr">
              <a:solidFill>
                <a:srgbClr val="88A3A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eaLnBrk="0" fontAlgn="base" hangingPunct="0">
                <a:spcBef>
                  <a:spcPct val="50000"/>
                </a:spcBef>
                <a:spcAft>
                  <a:spcPct val="0"/>
                </a:spcAft>
              </a:pPr>
              <a:r>
                <a:rPr lang="en-US" sz="1100">
                  <a:solidFill>
                    <a:srgbClr val="00B050"/>
                  </a:solidFill>
                  <a:latin typeface="Poppins Medium" panose="00000600000000000000" pitchFamily="2" charset="0"/>
                  <a:cs typeface="Poppins Medium" panose="00000600000000000000" pitchFamily="2" charset="0"/>
                </a:rPr>
                <a:t>0.02%</a:t>
              </a:r>
              <a:endParaRPr lang="en-US" sz="1100">
                <a:solidFill>
                  <a:srgbClr val="FF0000"/>
                </a:solidFill>
                <a:latin typeface="Poppins Medium" panose="00000600000000000000" pitchFamily="2" charset="0"/>
                <a:cs typeface="Poppins Medium" panose="00000600000000000000" pitchFamily="2" charset="0"/>
              </a:endParaRPr>
            </a:p>
          </p:txBody>
        </p:sp>
      </p:grpSp>
      <p:grpSp>
        <p:nvGrpSpPr>
          <p:cNvPr id="6" name="Group 5">
            <a:extLst>
              <a:ext uri="{FF2B5EF4-FFF2-40B4-BE49-F238E27FC236}">
                <a16:creationId xmlns:a16="http://schemas.microsoft.com/office/drawing/2014/main" id="{7E3931C5-9E44-BE9D-4637-04202DF96230}"/>
              </a:ext>
            </a:extLst>
          </p:cNvPr>
          <p:cNvGrpSpPr/>
          <p:nvPr/>
        </p:nvGrpSpPr>
        <p:grpSpPr>
          <a:xfrm>
            <a:off x="374255" y="5438311"/>
            <a:ext cx="2617023" cy="365760"/>
            <a:chOff x="421341" y="5351929"/>
            <a:chExt cx="2587994" cy="365760"/>
          </a:xfrm>
        </p:grpSpPr>
        <p:sp>
          <p:nvSpPr>
            <p:cNvPr id="8" name="Rectangle 7">
              <a:extLst>
                <a:ext uri="{FF2B5EF4-FFF2-40B4-BE49-F238E27FC236}">
                  <a16:creationId xmlns:a16="http://schemas.microsoft.com/office/drawing/2014/main" id="{7AAB7DE7-34B6-E969-F18A-8901C92F8B76}"/>
                </a:ext>
              </a:extLst>
            </p:cNvPr>
            <p:cNvSpPr/>
            <p:nvPr/>
          </p:nvSpPr>
          <p:spPr bwMode="auto">
            <a:xfrm>
              <a:off x="812982" y="5396752"/>
              <a:ext cx="2196353" cy="313765"/>
            </a:xfrm>
            <a:prstGeom prst="rect">
              <a:avLst/>
            </a:prstGeom>
            <a:solidFill>
              <a:srgbClr val="88A3A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r" defTabSz="914400" rtl="0" eaLnBrk="0" fontAlgn="base" latinLnBrk="0" hangingPunct="0">
                <a:lnSpc>
                  <a:spcPct val="100000"/>
                </a:lnSpc>
                <a:spcBef>
                  <a:spcPct val="50000"/>
                </a:spcBef>
                <a:spcAft>
                  <a:spcPct val="0"/>
                </a:spcAft>
                <a:buClrTx/>
                <a:buSzTx/>
                <a:buFontTx/>
                <a:buNone/>
                <a:tabLst/>
              </a:pPr>
              <a:r>
                <a:rPr lang="en-US" sz="1100">
                  <a:solidFill>
                    <a:schemeClr val="bg1"/>
                  </a:solidFill>
                  <a:latin typeface="Poppins Medium" panose="00000600000000000000" pitchFamily="2" charset="0"/>
                  <a:cs typeface="Poppins Medium" panose="00000600000000000000" pitchFamily="2" charset="0"/>
                </a:rPr>
                <a:t>SECURITY SELECTION     </a:t>
              </a:r>
              <a:endParaRPr kumimoji="0" lang="en-US" sz="1100" i="0" u="none" strike="noStrike" cap="none" normalizeH="0" baseline="0">
                <a:ln>
                  <a:noFill/>
                </a:ln>
                <a:solidFill>
                  <a:schemeClr val="bg1"/>
                </a:solidFill>
                <a:effectLst/>
                <a:latin typeface="Poppins Medium" panose="00000600000000000000" pitchFamily="2" charset="0"/>
                <a:cs typeface="Poppins Medium" panose="00000600000000000000" pitchFamily="2" charset="0"/>
              </a:endParaRPr>
            </a:p>
          </p:txBody>
        </p:sp>
        <p:sp>
          <p:nvSpPr>
            <p:cNvPr id="10" name="Flowchart: Display 9">
              <a:extLst>
                <a:ext uri="{FF2B5EF4-FFF2-40B4-BE49-F238E27FC236}">
                  <a16:creationId xmlns:a16="http://schemas.microsoft.com/office/drawing/2014/main" id="{88E3CE0D-039D-6958-66E2-0DDFDC4E59B0}"/>
                </a:ext>
              </a:extLst>
            </p:cNvPr>
            <p:cNvSpPr/>
            <p:nvPr/>
          </p:nvSpPr>
          <p:spPr bwMode="auto">
            <a:xfrm flipH="1">
              <a:off x="421341" y="5351929"/>
              <a:ext cx="822960" cy="365760"/>
            </a:xfrm>
            <a:prstGeom prst="flowChartDisplay">
              <a:avLst/>
            </a:prstGeom>
            <a:solidFill>
              <a:srgbClr val="E6E6E6"/>
            </a:solidFill>
            <a:ln w="28575" cap="flat" cmpd="sng" algn="ctr">
              <a:solidFill>
                <a:srgbClr val="88A3A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eaLnBrk="0" fontAlgn="base" hangingPunct="0">
                <a:spcBef>
                  <a:spcPct val="50000"/>
                </a:spcBef>
                <a:spcAft>
                  <a:spcPct val="0"/>
                </a:spcAft>
              </a:pPr>
              <a:r>
                <a:rPr lang="en-US" sz="1100">
                  <a:solidFill>
                    <a:srgbClr val="00B050"/>
                  </a:solidFill>
                  <a:latin typeface="Poppins Medium" panose="00000600000000000000" pitchFamily="2" charset="0"/>
                  <a:cs typeface="Poppins Medium" panose="00000600000000000000" pitchFamily="2" charset="0"/>
                </a:rPr>
                <a:t>0.11%</a:t>
              </a:r>
              <a:endParaRPr lang="en-US" sz="1100">
                <a:solidFill>
                  <a:srgbClr val="FF0000"/>
                </a:solidFill>
                <a:latin typeface="Poppins Medium" panose="00000600000000000000" pitchFamily="2" charset="0"/>
                <a:cs typeface="Poppins Medium" panose="00000600000000000000" pitchFamily="2" charset="0"/>
              </a:endParaRPr>
            </a:p>
          </p:txBody>
        </p:sp>
      </p:grpSp>
      <p:grpSp>
        <p:nvGrpSpPr>
          <p:cNvPr id="11" name="Group 10">
            <a:extLst>
              <a:ext uri="{FF2B5EF4-FFF2-40B4-BE49-F238E27FC236}">
                <a16:creationId xmlns:a16="http://schemas.microsoft.com/office/drawing/2014/main" id="{5E62200D-CDFF-39AE-FD94-1360765262BC}"/>
              </a:ext>
            </a:extLst>
          </p:cNvPr>
          <p:cNvGrpSpPr/>
          <p:nvPr/>
        </p:nvGrpSpPr>
        <p:grpSpPr>
          <a:xfrm>
            <a:off x="374256" y="2771532"/>
            <a:ext cx="2617022" cy="365760"/>
            <a:chOff x="421341" y="3296157"/>
            <a:chExt cx="2617022" cy="365760"/>
          </a:xfrm>
        </p:grpSpPr>
        <p:sp>
          <p:nvSpPr>
            <p:cNvPr id="12" name="Rectangle 11">
              <a:extLst>
                <a:ext uri="{FF2B5EF4-FFF2-40B4-BE49-F238E27FC236}">
                  <a16:creationId xmlns:a16="http://schemas.microsoft.com/office/drawing/2014/main" id="{72BBB287-459E-8452-0C3D-D46DB1D10916}"/>
                </a:ext>
              </a:extLst>
            </p:cNvPr>
            <p:cNvSpPr/>
            <p:nvPr/>
          </p:nvSpPr>
          <p:spPr bwMode="auto">
            <a:xfrm>
              <a:off x="985445" y="3318658"/>
              <a:ext cx="2052918" cy="313765"/>
            </a:xfrm>
            <a:prstGeom prst="rect">
              <a:avLst/>
            </a:prstGeom>
            <a:solidFill>
              <a:srgbClr val="88A3A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marL="0" marR="0" indent="0" algn="r" defTabSz="914400" rtl="0" eaLnBrk="0" fontAlgn="base" latinLnBrk="0" hangingPunct="0">
                <a:lnSpc>
                  <a:spcPct val="100000"/>
                </a:lnSpc>
                <a:spcBef>
                  <a:spcPct val="50000"/>
                </a:spcBef>
                <a:spcAft>
                  <a:spcPct val="0"/>
                </a:spcAft>
                <a:buClrTx/>
                <a:buSzTx/>
                <a:buFontTx/>
                <a:buNone/>
                <a:tabLst/>
              </a:pPr>
              <a:r>
                <a:rPr lang="en-US" sz="1100">
                  <a:solidFill>
                    <a:schemeClr val="bg1"/>
                  </a:solidFill>
                  <a:latin typeface="Poppins Medium" panose="00000600000000000000" pitchFamily="2" charset="0"/>
                  <a:cs typeface="Poppins Medium" panose="00000600000000000000" pitchFamily="2" charset="0"/>
                </a:rPr>
                <a:t>DURATION/YIELD CURVE </a:t>
              </a:r>
              <a:endParaRPr kumimoji="0" lang="en-US" sz="1100" i="0" u="none" strike="noStrike" cap="none" normalizeH="0" baseline="0">
                <a:ln>
                  <a:noFill/>
                </a:ln>
                <a:solidFill>
                  <a:schemeClr val="bg1"/>
                </a:solidFill>
                <a:effectLst/>
                <a:latin typeface="Poppins Medium" panose="00000600000000000000" pitchFamily="2" charset="0"/>
                <a:cs typeface="Poppins Medium" panose="00000600000000000000" pitchFamily="2" charset="0"/>
              </a:endParaRPr>
            </a:p>
          </p:txBody>
        </p:sp>
        <p:sp>
          <p:nvSpPr>
            <p:cNvPr id="13" name="Flowchart: Display 12">
              <a:extLst>
                <a:ext uri="{FF2B5EF4-FFF2-40B4-BE49-F238E27FC236}">
                  <a16:creationId xmlns:a16="http://schemas.microsoft.com/office/drawing/2014/main" id="{7A53F6C9-B468-9FAD-9E93-27B3F72DF773}"/>
                </a:ext>
              </a:extLst>
            </p:cNvPr>
            <p:cNvSpPr/>
            <p:nvPr/>
          </p:nvSpPr>
          <p:spPr bwMode="auto">
            <a:xfrm flipH="1">
              <a:off x="421341" y="3296157"/>
              <a:ext cx="822960" cy="365760"/>
            </a:xfrm>
            <a:prstGeom prst="flowChartDisplay">
              <a:avLst/>
            </a:prstGeom>
            <a:solidFill>
              <a:srgbClr val="E6E6E6"/>
            </a:solidFill>
            <a:ln w="28575" cap="flat" cmpd="sng" algn="ctr">
              <a:solidFill>
                <a:srgbClr val="88A3A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algn="ctr" defTabSz="914400" eaLnBrk="0" fontAlgn="base" hangingPunct="0">
                <a:spcBef>
                  <a:spcPct val="50000"/>
                </a:spcBef>
                <a:spcAft>
                  <a:spcPct val="0"/>
                </a:spcAft>
              </a:pPr>
              <a:r>
                <a:rPr lang="en-US" sz="1100">
                  <a:solidFill>
                    <a:srgbClr val="FF0000"/>
                  </a:solidFill>
                  <a:latin typeface="Poppins Medium" panose="00000600000000000000" pitchFamily="2" charset="0"/>
                  <a:cs typeface="Poppins Medium" panose="00000600000000000000" pitchFamily="2" charset="0"/>
                </a:rPr>
                <a:t>-0.07%</a:t>
              </a:r>
            </a:p>
          </p:txBody>
        </p:sp>
      </p:grpSp>
      <p:sp>
        <p:nvSpPr>
          <p:cNvPr id="14" name="TextBox 13">
            <a:extLst>
              <a:ext uri="{FF2B5EF4-FFF2-40B4-BE49-F238E27FC236}">
                <a16:creationId xmlns:a16="http://schemas.microsoft.com/office/drawing/2014/main" id="{AE338EEE-703B-51E3-DCBF-B0E8A6774889}"/>
              </a:ext>
            </a:extLst>
          </p:cNvPr>
          <p:cNvSpPr txBox="1">
            <a:spLocks noChangeAspect="1"/>
          </p:cNvSpPr>
          <p:nvPr/>
        </p:nvSpPr>
        <p:spPr>
          <a:xfrm>
            <a:off x="374255" y="3166544"/>
            <a:ext cx="8541145" cy="828069"/>
          </a:xfrm>
          <a:prstGeom prst="rect">
            <a:avLst/>
          </a:prstGeom>
          <a:noFill/>
        </p:spPr>
        <p:txBody>
          <a:bodyPr wrap="square" rtlCol="0">
            <a:noAutofit/>
          </a:bodyPr>
          <a:lstStyle>
            <a:defPPr>
              <a:defRPr lang="en-US"/>
            </a:defPPr>
            <a:lvl1pPr lvl="0" defTabSz="806867">
              <a:defRPr sz="1150">
                <a:latin typeface="Poppins" panose="00000500000000000000" pitchFamily="2" charset="0"/>
                <a:cs typeface="Poppins" panose="00000500000000000000" pitchFamily="2" charset="0"/>
              </a:defRPr>
            </a:lvl1pPr>
          </a:lstStyle>
          <a:p>
            <a:r>
              <a:rPr lang="en-US" sz="1000" spc="-10">
                <a:ea typeface="Aptos" panose="020B0004020202020204" pitchFamily="34" charset="0"/>
              </a:rPr>
              <a:t>TARIFF-RELATED VOLATILITY CONTINUED TO EASE THROUGHOUT Q3. ALTHOUGH INFLATION REMAINED PERSISTENT, THE FEDERAL OPEN MARKET COMMITTEE (FOMC) FOCUSED ON DETERIORATING EMPLOYMENT DATA AND, AS EXPECTED, REDUCED THE OVERNIGHT BORROWING RATE BY           -25 BASIS POINTS (BPS). YEAR-TO-DATE, YIELDS ARE LOWER ACROSS THE CURVE, WITH THE 2-YEAR U.S. TREASURY YIELD DOWN -63 BPS TO 3.61%. THE 10-YEAR U.S. TREASURY YIELD HAS FALLEN -42 BPS TO YIELD 4.15%. THE PORTFOLIO REMAINS NEUTRAL DURATION RELATIVE TO ITS INDEX BUT POSITIONING ALONG THE CURVE PROVED TO BE A SLIGHT HEADWIND FOR THE PERIOD, DETRACTING -7 BPS.</a:t>
            </a:r>
          </a:p>
        </p:txBody>
      </p:sp>
      <p:sp>
        <p:nvSpPr>
          <p:cNvPr id="15" name="TextBox 14">
            <a:extLst>
              <a:ext uri="{FF2B5EF4-FFF2-40B4-BE49-F238E27FC236}">
                <a16:creationId xmlns:a16="http://schemas.microsoft.com/office/drawing/2014/main" id="{89FC2EB2-CA3D-C49C-B9B7-CC51C47D9B7F}"/>
              </a:ext>
            </a:extLst>
          </p:cNvPr>
          <p:cNvSpPr txBox="1"/>
          <p:nvPr/>
        </p:nvSpPr>
        <p:spPr>
          <a:xfrm>
            <a:off x="374255" y="4416725"/>
            <a:ext cx="8412478" cy="767667"/>
          </a:xfrm>
          <a:prstGeom prst="rect">
            <a:avLst/>
          </a:prstGeom>
          <a:noFill/>
        </p:spPr>
        <p:txBody>
          <a:bodyPr wrap="square" rtlCol="0">
            <a:noAutofit/>
          </a:bodyPr>
          <a:lstStyle>
            <a:defPPr>
              <a:defRPr lang="en-US"/>
            </a:defPPr>
            <a:lvl1pPr lvl="0" defTabSz="806867">
              <a:defRPr sz="1150">
                <a:latin typeface="Poppins" panose="00000500000000000000" pitchFamily="2" charset="0"/>
                <a:cs typeface="Poppins" panose="00000500000000000000" pitchFamily="2" charset="0"/>
              </a:defRPr>
            </a:lvl1pPr>
          </a:lstStyle>
          <a:p>
            <a:pPr lvl="0" algn="just" defTabSz="914400">
              <a:defRPr/>
            </a:pPr>
            <a:r>
              <a:rPr lang="en-US" sz="1000" spc="-20">
                <a:latin typeface="Poppins"/>
                <a:cs typeface="Poppins"/>
              </a:rPr>
              <a:t>THE PORTFOLIO’S OVERWEIGHT TO SPREAD PRODUCT (CORPORATE CREDIT AND STRUCTURED PRODUCTS) RELATIVE TO U.S. TREASURIES COMBINED TO ADD 2 BPS AS INTEREST RATES FELL AND CORPORATE CREDIT SPREADS TIGHTENED -7 BPS ON THE YEAR TO AN OAS (OPTION-ADJUSTED SPREAD) OF 70 BPS. ALL SECTORS IN THE INDEX WERE AT A GAIN FOR THE YEAR. SOVEREIGNS (8.77%) AND FINANCIALS (6.75%) LED SECTOR GAINS, WHILE AGENCIES (5.07%) AND U.S. TREASURIES (5.30%) LAGGED THE MOST. THE PORTFOLIO’S UNDERWEIGHT TO U.S. TREASURIES    (2 BPS) AND OVERWEIGHT TO INDUSTRIALS (3 BPS) CONTRIBUTED THE MOST, WHILE AVOIDING SOVEREIGNS COUPLED WITH AN UNDERWEIGHT </a:t>
            </a:r>
            <a:r>
              <a:rPr lang="en-US" sz="1000" spc="-10"/>
              <a:t>TO UTILITIES AND FINANCIALS COMBINED TO DETRACT 3 BPS.</a:t>
            </a:r>
          </a:p>
        </p:txBody>
      </p:sp>
      <p:sp>
        <p:nvSpPr>
          <p:cNvPr id="16" name="TextBox 15">
            <a:extLst>
              <a:ext uri="{FF2B5EF4-FFF2-40B4-BE49-F238E27FC236}">
                <a16:creationId xmlns:a16="http://schemas.microsoft.com/office/drawing/2014/main" id="{D6E58EDC-5E31-19AE-48BA-4D7737903EE5}"/>
              </a:ext>
            </a:extLst>
          </p:cNvPr>
          <p:cNvSpPr txBox="1"/>
          <p:nvPr/>
        </p:nvSpPr>
        <p:spPr>
          <a:xfrm>
            <a:off x="365759" y="5818757"/>
            <a:ext cx="8395829" cy="538750"/>
          </a:xfrm>
          <a:prstGeom prst="rect">
            <a:avLst/>
          </a:prstGeom>
          <a:noFill/>
        </p:spPr>
        <p:txBody>
          <a:bodyPr wrap="square" lIns="91440" tIns="45720" rIns="91440" bIns="45720" rtlCol="0" anchor="t">
            <a:noAutofit/>
          </a:bodyPr>
          <a:lstStyle>
            <a:defPPr>
              <a:defRPr lang="en-US"/>
            </a:defPPr>
            <a:lvl1pPr lvl="0" defTabSz="806867">
              <a:defRPr sz="1150">
                <a:latin typeface="Poppins" panose="00000500000000000000" pitchFamily="2" charset="0"/>
                <a:cs typeface="Poppins" panose="00000500000000000000" pitchFamily="2" charset="0"/>
              </a:defRPr>
            </a:lvl1pPr>
          </a:lstStyle>
          <a:p>
            <a:pPr algn="just" defTabSz="914400">
              <a:defRPr/>
            </a:pPr>
            <a:r>
              <a:rPr lang="en-US" sz="1000">
                <a:latin typeface="Poppins"/>
                <a:cs typeface="Poppins"/>
              </a:rPr>
              <a:t>U.S. TREASURIES MADE-UP ~58% OF THE PORTFOLIO AND RETURNED 5.93% FOR THE PERIOD, OUTPERFORMING INDEX PEERS (5.30%) BY 63 BPS, COLLECTIVELY ADDING 18 BPS TO SECURITY SELECTION. FINANCIALS DETRACTED THE MOST FROM SELECTION (-7 BPS) WITH SEVERAL NAMES COSTING -1 BP EACH, INCLUDING BANK OF AMERICA, UNITED HEALTH, COREBRIDGE, BERKSHIRE HATHAWAY, STATE STREET CORP AND JP MORGAN BONDS. </a:t>
            </a:r>
          </a:p>
        </p:txBody>
      </p:sp>
      <p:sp>
        <p:nvSpPr>
          <p:cNvPr id="20" name="Title 1">
            <a:extLst>
              <a:ext uri="{FF2B5EF4-FFF2-40B4-BE49-F238E27FC236}">
                <a16:creationId xmlns:a16="http://schemas.microsoft.com/office/drawing/2014/main" id="{8B8DFFFD-B480-3E37-D7D5-9CB47F71DF6B}"/>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Investment Grade Fixed Income SMA </a:t>
            </a:r>
          </a:p>
        </p:txBody>
      </p:sp>
      <p:sp>
        <p:nvSpPr>
          <p:cNvPr id="3" name="TextBox 2">
            <a:extLst>
              <a:ext uri="{FF2B5EF4-FFF2-40B4-BE49-F238E27FC236}">
                <a16:creationId xmlns:a16="http://schemas.microsoft.com/office/drawing/2014/main" id="{11C9CCDB-6287-B789-9131-FE4999CA6437}"/>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VIA BLOOMBERG AND CLEARWATER</a:t>
            </a:r>
          </a:p>
        </p:txBody>
      </p:sp>
    </p:spTree>
    <p:extLst>
      <p:ext uri="{BB962C8B-B14F-4D97-AF65-F5344CB8AC3E}">
        <p14:creationId xmlns:p14="http://schemas.microsoft.com/office/powerpoint/2010/main" val="488298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CF76990-2A9F-436D-AA72-8068F7C57FA0}"/>
              </a:ext>
            </a:extLst>
          </p:cNvPr>
          <p:cNvPicPr>
            <a:picLocks noChangeAspect="1"/>
          </p:cNvPicPr>
          <p:nvPr/>
        </p:nvPicPr>
        <p:blipFill rotWithShape="1">
          <a:blip r:embed="rId3">
            <a:duotone>
              <a:prstClr val="black"/>
              <a:srgbClr val="106280">
                <a:tint val="45000"/>
                <a:satMod val="400000"/>
              </a:srgbClr>
            </a:duotone>
          </a:blip>
          <a:srcRect l="2668" t="4540"/>
          <a:stretch/>
        </p:blipFill>
        <p:spPr>
          <a:xfrm>
            <a:off x="209886" y="91498"/>
            <a:ext cx="4291184" cy="6691086"/>
          </a:xfrm>
          <a:prstGeom prst="rect">
            <a:avLst/>
          </a:prstGeom>
        </p:spPr>
      </p:pic>
      <p:sp>
        <p:nvSpPr>
          <p:cNvPr id="10" name="Rectangle: Diagonal Corners Rounded 9">
            <a:extLst>
              <a:ext uri="{FF2B5EF4-FFF2-40B4-BE49-F238E27FC236}">
                <a16:creationId xmlns:a16="http://schemas.microsoft.com/office/drawing/2014/main" id="{833DD204-95B8-4F35-B395-231EE88518F2}"/>
              </a:ext>
            </a:extLst>
          </p:cNvPr>
          <p:cNvSpPr/>
          <p:nvPr/>
        </p:nvSpPr>
        <p:spPr bwMode="auto">
          <a:xfrm rot="3027441">
            <a:off x="-786503" y="3065324"/>
            <a:ext cx="9243844" cy="622708"/>
          </a:xfrm>
          <a:custGeom>
            <a:avLst/>
            <a:gdLst>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218983 w 8664014"/>
              <a:gd name="connsiteY4" fmla="*/ 673455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9356709"/>
              <a:gd name="connsiteY0" fmla="*/ 424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336731 w 9356709"/>
              <a:gd name="connsiteY8" fmla="*/ 424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96512 w 9356709"/>
              <a:gd name="connsiteY6" fmla="*/ 676890 h 677703"/>
              <a:gd name="connsiteX7" fmla="*/ 235528 w 9356709"/>
              <a:gd name="connsiteY7" fmla="*/ 492799 h 677703"/>
              <a:gd name="connsiteX8" fmla="*/ 682481 w 9356709"/>
              <a:gd name="connsiteY8" fmla="*/ 5171 h 677703"/>
              <a:gd name="connsiteX0" fmla="*/ 585969 w 9260197"/>
              <a:gd name="connsiteY0" fmla="*/ 5171 h 677696"/>
              <a:gd name="connsiteX1" fmla="*/ 8567502 w 9260197"/>
              <a:gd name="connsiteY1" fmla="*/ 4241 h 677696"/>
              <a:gd name="connsiteX2" fmla="*/ 9260197 w 9260197"/>
              <a:gd name="connsiteY2" fmla="*/ 0 h 677696"/>
              <a:gd name="connsiteX3" fmla="*/ 8106957 w 9260197"/>
              <a:gd name="connsiteY3" fmla="*/ 338260 h 677696"/>
              <a:gd name="connsiteX4" fmla="*/ 8122471 w 9260197"/>
              <a:gd name="connsiteY4" fmla="*/ 677696 h 677696"/>
              <a:gd name="connsiteX5" fmla="*/ 28706 w 9260197"/>
              <a:gd name="connsiteY5" fmla="*/ 675752 h 677696"/>
              <a:gd name="connsiteX6" fmla="*/ 0 w 9260197"/>
              <a:gd name="connsiteY6" fmla="*/ 676890 h 677696"/>
              <a:gd name="connsiteX7" fmla="*/ 139016 w 9260197"/>
              <a:gd name="connsiteY7" fmla="*/ 492799 h 677696"/>
              <a:gd name="connsiteX8" fmla="*/ 585969 w 9260197"/>
              <a:gd name="connsiteY8" fmla="*/ 5171 h 6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60197" h="677696">
                <a:moveTo>
                  <a:pt x="585969" y="5171"/>
                </a:moveTo>
                <a:lnTo>
                  <a:pt x="8567502" y="4241"/>
                </a:lnTo>
                <a:lnTo>
                  <a:pt x="9260197" y="0"/>
                </a:lnTo>
                <a:lnTo>
                  <a:pt x="8106957" y="338260"/>
                </a:lnTo>
                <a:cubicBezTo>
                  <a:pt x="8106957" y="524231"/>
                  <a:pt x="8308442" y="677696"/>
                  <a:pt x="8122471" y="677696"/>
                </a:cubicBezTo>
                <a:lnTo>
                  <a:pt x="28706" y="675752"/>
                </a:lnTo>
                <a:lnTo>
                  <a:pt x="0" y="676890"/>
                </a:lnTo>
                <a:lnTo>
                  <a:pt x="139016" y="492799"/>
                </a:lnTo>
                <a:cubicBezTo>
                  <a:pt x="264084" y="341711"/>
                  <a:pt x="438101" y="146362"/>
                  <a:pt x="585969" y="5171"/>
                </a:cubicBezTo>
                <a:close/>
              </a:path>
            </a:pathLst>
          </a:cu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pic>
        <p:nvPicPr>
          <p:cNvPr id="14" name="Picture 13">
            <a:extLst>
              <a:ext uri="{FF2B5EF4-FFF2-40B4-BE49-F238E27FC236}">
                <a16:creationId xmlns:a16="http://schemas.microsoft.com/office/drawing/2014/main" id="{84A17D6C-76DD-49F3-BA01-7268C5F086DD}"/>
              </a:ext>
            </a:extLst>
          </p:cNvPr>
          <p:cNvPicPr>
            <a:picLocks noChangeAspect="1"/>
          </p:cNvPicPr>
          <p:nvPr/>
        </p:nvPicPr>
        <p:blipFill rotWithShape="1">
          <a:blip r:embed="rId4"/>
          <a:srcRect l="1" t="17282" r="34407" b="16123"/>
          <a:stretch/>
        </p:blipFill>
        <p:spPr>
          <a:xfrm>
            <a:off x="2641408" y="214869"/>
            <a:ext cx="6289218" cy="6465329"/>
          </a:xfrm>
          <a:prstGeom prst="rect">
            <a:avLst/>
          </a:prstGeom>
        </p:spPr>
      </p:pic>
      <p:sp>
        <p:nvSpPr>
          <p:cNvPr id="31" name="Rectangle 30">
            <a:extLst>
              <a:ext uri="{FF2B5EF4-FFF2-40B4-BE49-F238E27FC236}">
                <a16:creationId xmlns:a16="http://schemas.microsoft.com/office/drawing/2014/main" id="{E6D10223-F6D5-4585-8AA5-0A774C445C2F}"/>
              </a:ext>
            </a:extLst>
          </p:cNvPr>
          <p:cNvSpPr/>
          <p:nvPr/>
        </p:nvSpPr>
        <p:spPr bwMode="auto">
          <a:xfrm>
            <a:off x="2197100" y="647700"/>
            <a:ext cx="6808877" cy="3462905"/>
          </a:xfrm>
          <a:prstGeom prst="rect">
            <a:avLst/>
          </a:prstGeom>
          <a:solidFill>
            <a:srgbClr val="FFFFFF">
              <a:alpha val="63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32" name="Straight Connector 31">
            <a:extLst>
              <a:ext uri="{FF2B5EF4-FFF2-40B4-BE49-F238E27FC236}">
                <a16:creationId xmlns:a16="http://schemas.microsoft.com/office/drawing/2014/main" id="{EA4CEF53-EDA9-45F2-A34A-B54567D6AFE4}"/>
              </a:ext>
            </a:extLst>
          </p:cNvPr>
          <p:cNvCxnSpPr>
            <a:cxnSpLocks/>
          </p:cNvCxnSpPr>
          <p:nvPr/>
        </p:nvCxnSpPr>
        <p:spPr bwMode="auto">
          <a:xfrm>
            <a:off x="5215564" y="249245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33" name="Text Box 8">
            <a:extLst>
              <a:ext uri="{FF2B5EF4-FFF2-40B4-BE49-F238E27FC236}">
                <a16:creationId xmlns:a16="http://schemas.microsoft.com/office/drawing/2014/main" id="{2A868375-88A9-44C6-AAEF-7F1D1FD15A25}"/>
              </a:ext>
            </a:extLst>
          </p:cNvPr>
          <p:cNvSpPr txBox="1">
            <a:spLocks noChangeArrowheads="1"/>
          </p:cNvSpPr>
          <p:nvPr/>
        </p:nvSpPr>
        <p:spPr bwMode="auto">
          <a:xfrm>
            <a:off x="658692" y="2628056"/>
            <a:ext cx="8127441" cy="8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nchor="ctr">
            <a:spAutoFit/>
          </a:bodyPr>
          <a:lstStyle>
            <a:lvl1pPr eaLnBrk="0" hangingPunct="0">
              <a:defRPr sz="1000" b="1">
                <a:solidFill>
                  <a:schemeClr val="tx1"/>
                </a:solidFill>
                <a:latin typeface="Arial" charset="0"/>
                <a:cs typeface="Arial" charset="0"/>
              </a:defRPr>
            </a:lvl1pPr>
            <a:lvl2pPr marL="742950" indent="-285750" eaLnBrk="0" hangingPunct="0">
              <a:defRPr sz="1000" b="1">
                <a:solidFill>
                  <a:schemeClr val="tx1"/>
                </a:solidFill>
                <a:latin typeface="Arial" charset="0"/>
                <a:cs typeface="Arial" charset="0"/>
              </a:defRPr>
            </a:lvl2pPr>
            <a:lvl3pPr marL="1143000" indent="-228600" eaLnBrk="0" hangingPunct="0">
              <a:defRPr sz="1000" b="1">
                <a:solidFill>
                  <a:schemeClr val="tx1"/>
                </a:solidFill>
                <a:latin typeface="Arial" charset="0"/>
                <a:cs typeface="Arial" charset="0"/>
              </a:defRPr>
            </a:lvl3pPr>
            <a:lvl4pPr marL="1600200" indent="-228600" eaLnBrk="0" hangingPunct="0">
              <a:defRPr sz="1000" b="1">
                <a:solidFill>
                  <a:schemeClr val="tx1"/>
                </a:solidFill>
                <a:latin typeface="Arial" charset="0"/>
                <a:cs typeface="Arial" charset="0"/>
              </a:defRPr>
            </a:lvl4pPr>
            <a:lvl5pPr marL="2057400" indent="-228600" eaLnBrk="0" hangingPunct="0">
              <a:defRPr sz="1000" b="1">
                <a:solidFill>
                  <a:schemeClr val="tx1"/>
                </a:solidFill>
                <a:latin typeface="Arial" charset="0"/>
                <a:cs typeface="Arial" charset="0"/>
              </a:defRPr>
            </a:lvl5pPr>
            <a:lvl6pPr marL="2514600" indent="-228600" eaLnBrk="0" fontAlgn="base" hangingPunct="0">
              <a:spcBef>
                <a:spcPct val="0"/>
              </a:spcBef>
              <a:spcAft>
                <a:spcPct val="0"/>
              </a:spcAft>
              <a:defRPr sz="1000" b="1">
                <a:solidFill>
                  <a:schemeClr val="tx1"/>
                </a:solidFill>
                <a:latin typeface="Arial" charset="0"/>
                <a:cs typeface="Arial" charset="0"/>
              </a:defRPr>
            </a:lvl6pPr>
            <a:lvl7pPr marL="2971800" indent="-228600" eaLnBrk="0" fontAlgn="base" hangingPunct="0">
              <a:spcBef>
                <a:spcPct val="0"/>
              </a:spcBef>
              <a:spcAft>
                <a:spcPct val="0"/>
              </a:spcAft>
              <a:defRPr sz="1000" b="1">
                <a:solidFill>
                  <a:schemeClr val="tx1"/>
                </a:solidFill>
                <a:latin typeface="Arial" charset="0"/>
                <a:cs typeface="Arial" charset="0"/>
              </a:defRPr>
            </a:lvl7pPr>
            <a:lvl8pPr marL="3429000" indent="-228600" eaLnBrk="0" fontAlgn="base" hangingPunct="0">
              <a:spcBef>
                <a:spcPct val="0"/>
              </a:spcBef>
              <a:spcAft>
                <a:spcPct val="0"/>
              </a:spcAft>
              <a:defRPr sz="1000" b="1">
                <a:solidFill>
                  <a:schemeClr val="tx1"/>
                </a:solidFill>
                <a:latin typeface="Arial" charset="0"/>
                <a:cs typeface="Arial" charset="0"/>
              </a:defRPr>
            </a:lvl8pPr>
            <a:lvl9pPr marL="3886200" indent="-228600" eaLnBrk="0" fontAlgn="base" hangingPunct="0">
              <a:spcBef>
                <a:spcPct val="0"/>
              </a:spcBef>
              <a:spcAft>
                <a:spcPct val="0"/>
              </a:spcAft>
              <a:defRPr sz="1000" b="1">
                <a:solidFill>
                  <a:schemeClr val="tx1"/>
                </a:solidFill>
                <a:latin typeface="Arial" charset="0"/>
                <a:cs typeface="Arial" charset="0"/>
              </a:defRPr>
            </a:lvl9pPr>
          </a:lstStyle>
          <a:p>
            <a:pPr marL="0" marR="0" lvl="1" indent="0" algn="r" defTabSz="457200" rtl="0" eaLnBrk="0" fontAlgn="auto" latinLnBrk="0" hangingPunct="0">
              <a:lnSpc>
                <a:spcPct val="100000"/>
              </a:lnSpc>
              <a:spcBef>
                <a:spcPts val="0"/>
              </a:spcBef>
              <a:spcAft>
                <a:spcPts val="0"/>
              </a:spcAft>
              <a:buClrTx/>
              <a:buSzTx/>
              <a:buFontTx/>
              <a:buNone/>
              <a:tabLst/>
              <a:defRPr/>
            </a:pPr>
            <a:r>
              <a:rPr lang="en-US" altLang="en-US" sz="1800" b="0">
                <a:solidFill>
                  <a:srgbClr val="106280"/>
                </a:solidFill>
                <a:latin typeface="Poppins Light" panose="00000400000000000000" pitchFamily="2" charset="0"/>
                <a:cs typeface="Poppins Light" panose="00000400000000000000" pitchFamily="2" charset="0"/>
              </a:rPr>
              <a:t>APPENDIX II</a:t>
            </a:r>
            <a:endParaRPr kumimoji="0" lang="en-US" altLang="en-US" sz="18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endParaRPr>
          </a:p>
          <a:p>
            <a:pPr marL="0" marR="0" lvl="1" indent="0" algn="r" defTabSz="457200" rtl="0" eaLnBrk="0" fontAlgn="auto" latinLnBrk="0" hangingPunct="0">
              <a:lnSpc>
                <a:spcPct val="100000"/>
              </a:lnSpc>
              <a:spcBef>
                <a:spcPts val="0"/>
              </a:spcBef>
              <a:spcAft>
                <a:spcPts val="0"/>
              </a:spcAft>
              <a:buClrTx/>
              <a:buSzTx/>
              <a:buFontTx/>
              <a:buNone/>
              <a:tabLst/>
              <a:defRPr/>
            </a:pPr>
            <a:endParaRPr kumimoji="0" lang="en-US" altLang="en-US" sz="1050" b="0" i="0" u="none" strike="noStrike" kern="1200" cap="none"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endParaRPr>
          </a:p>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2200" b="0" i="0" u="none" strike="noStrike" kern="1200" cap="none"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rPr>
              <a:t>ETF OVERVIEWS</a:t>
            </a:r>
          </a:p>
        </p:txBody>
      </p:sp>
      <p:cxnSp>
        <p:nvCxnSpPr>
          <p:cNvPr id="34" name="Straight Connector 33">
            <a:extLst>
              <a:ext uri="{FF2B5EF4-FFF2-40B4-BE49-F238E27FC236}">
                <a16:creationId xmlns:a16="http://schemas.microsoft.com/office/drawing/2014/main" id="{E36DFEC2-CD75-4B78-ADEB-0BF3C3230DC6}"/>
              </a:ext>
            </a:extLst>
          </p:cNvPr>
          <p:cNvCxnSpPr>
            <a:cxnSpLocks/>
          </p:cNvCxnSpPr>
          <p:nvPr/>
        </p:nvCxnSpPr>
        <p:spPr bwMode="auto">
          <a:xfrm>
            <a:off x="5220108" y="361640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29" name="Rectangle 28">
            <a:extLst>
              <a:ext uri="{FF2B5EF4-FFF2-40B4-BE49-F238E27FC236}">
                <a16:creationId xmlns:a16="http://schemas.microsoft.com/office/drawing/2014/main" id="{82FA936D-D013-48A2-B1D3-8125F0B0DA6A}"/>
              </a:ext>
            </a:extLst>
          </p:cNvPr>
          <p:cNvSpPr/>
          <p:nvPr/>
        </p:nvSpPr>
        <p:spPr bwMode="auto">
          <a:xfrm>
            <a:off x="0" y="6680199"/>
            <a:ext cx="9055100" cy="177801"/>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14191" y="1073409"/>
            <a:ext cx="4630427" cy="1091667"/>
          </a:xfrm>
          <a:prstGeom prst="rect">
            <a:avLst/>
          </a:prstGeom>
          <a:ln>
            <a:noFill/>
          </a:ln>
        </p:spPr>
      </p:pic>
      <p:sp>
        <p:nvSpPr>
          <p:cNvPr id="23" name="HUGH SANDI PETER DAVID" hidden="1">
            <a:extLst>
              <a:ext uri="{FF2B5EF4-FFF2-40B4-BE49-F238E27FC236}">
                <a16:creationId xmlns:a16="http://schemas.microsoft.com/office/drawing/2014/main" id="{DA88B559-9FFC-4B27-A0C8-BFC81CF67F49}"/>
              </a:ext>
            </a:extLst>
          </p:cNvPr>
          <p:cNvSpPr/>
          <p:nvPr/>
        </p:nvSpPr>
        <p:spPr>
          <a:xfrm>
            <a:off x="4534532" y="3860972"/>
            <a:ext cx="4328429"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SANDI PRESCOTT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CLIENT SERVICE</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sp>
        <p:nvSpPr>
          <p:cNvPr id="17" name="HUGH SANDI PETER DAVID" hidden="1">
            <a:extLst>
              <a:ext uri="{FF2B5EF4-FFF2-40B4-BE49-F238E27FC236}">
                <a16:creationId xmlns:a16="http://schemas.microsoft.com/office/drawing/2014/main" id="{D47FA4D9-5A5D-475F-9949-EF41E1B85A92}"/>
              </a:ext>
            </a:extLst>
          </p:cNvPr>
          <p:cNvSpPr/>
          <p:nvPr/>
        </p:nvSpPr>
        <p:spPr>
          <a:xfrm>
            <a:off x="4545354" y="3858120"/>
            <a:ext cx="4328493"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a:p>
            <a:pPr marL="0" marR="0" lvl="1" indent="0" algn="r" defTabSz="457200" rtl="0" eaLnBrk="1" fontAlgn="auto" latinLnBrk="0" hangingPunct="1">
              <a:lnSpc>
                <a:spcPct val="100000"/>
              </a:lnSpc>
              <a:spcBef>
                <a:spcPts val="0"/>
              </a:spcBef>
              <a:spcAft>
                <a:spcPts val="600"/>
              </a:spcAft>
              <a:buClrTx/>
              <a:buSzTx/>
              <a:buFontTx/>
              <a:buNone/>
              <a:tabLst/>
              <a:defRPr/>
            </a:pPr>
            <a:endPar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endParaRPr>
          </a:p>
        </p:txBody>
      </p:sp>
      <p:sp>
        <p:nvSpPr>
          <p:cNvPr id="22" name="Rectangle 21">
            <a:extLst>
              <a:ext uri="{FF2B5EF4-FFF2-40B4-BE49-F238E27FC236}">
                <a16:creationId xmlns:a16="http://schemas.microsoft.com/office/drawing/2014/main" id="{3F2213C9-A0FE-494E-AF69-D977CFDDD7C9}"/>
              </a:ext>
            </a:extLst>
          </p:cNvPr>
          <p:cNvSpPr/>
          <p:nvPr/>
        </p:nvSpPr>
        <p:spPr bwMode="auto">
          <a:xfrm>
            <a:off x="90020" y="7157"/>
            <a:ext cx="8875059" cy="217213"/>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Sandi Warren" hidden="1">
            <a:extLst>
              <a:ext uri="{FF2B5EF4-FFF2-40B4-BE49-F238E27FC236}">
                <a16:creationId xmlns:a16="http://schemas.microsoft.com/office/drawing/2014/main" id="{65443961-D79C-480D-9CCD-5330A824A3CA}"/>
              </a:ext>
            </a:extLst>
          </p:cNvPr>
          <p:cNvSpPr/>
          <p:nvPr/>
        </p:nvSpPr>
        <p:spPr>
          <a:xfrm>
            <a:off x="5077066" y="3887719"/>
            <a:ext cx="3797835" cy="677108"/>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spTree>
    <p:extLst>
      <p:ext uri="{BB962C8B-B14F-4D97-AF65-F5344CB8AC3E}">
        <p14:creationId xmlns:p14="http://schemas.microsoft.com/office/powerpoint/2010/main" val="146538288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bwMode="auto">
          <a:xfrm>
            <a:off x="4477461" y="6118412"/>
            <a:ext cx="163004" cy="217213"/>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80682" tIns="40341" rIns="80682" bIns="40341" numCol="1" rtlCol="0" anchor="t" anchorCtr="0" compatLnSpc="1">
            <a:prstTxWarp prst="textNoShape">
              <a:avLst/>
            </a:prstTxWarp>
            <a:spAutoFit/>
          </a:bodyPr>
          <a:lstStyle/>
          <a:p>
            <a:pPr algn="ctr" defTabSz="806867" eaLnBrk="0" fontAlgn="base" hangingPunct="0">
              <a:spcBef>
                <a:spcPct val="50000"/>
              </a:spcBef>
              <a:spcAft>
                <a:spcPct val="0"/>
              </a:spcAft>
            </a:pPr>
            <a:endParaRPr lang="en-US" sz="882" b="1">
              <a:solidFill>
                <a:srgbClr val="000000"/>
              </a:solidFill>
              <a:latin typeface="Arial" charset="0"/>
              <a:cs typeface="Arial" charset="0"/>
            </a:endParaRPr>
          </a:p>
        </p:txBody>
      </p:sp>
      <p:sp>
        <p:nvSpPr>
          <p:cNvPr id="11" name="Slide Number Placeholder 1">
            <a:extLst>
              <a:ext uri="{FF2B5EF4-FFF2-40B4-BE49-F238E27FC236}">
                <a16:creationId xmlns:a16="http://schemas.microsoft.com/office/drawing/2014/main" id="{60BCB548-27E0-4482-BF0C-D49FE9CDC4CE}"/>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19</a:t>
            </a:fld>
            <a:endParaRPr lang="en-US" sz="882">
              <a:solidFill>
                <a:srgbClr val="000000"/>
              </a:solidFill>
            </a:endParaRPr>
          </a:p>
        </p:txBody>
      </p:sp>
      <p:sp>
        <p:nvSpPr>
          <p:cNvPr id="13" name="Line 309">
            <a:extLst>
              <a:ext uri="{FF2B5EF4-FFF2-40B4-BE49-F238E27FC236}">
                <a16:creationId xmlns:a16="http://schemas.microsoft.com/office/drawing/2014/main" id="{4AED4858-3DA5-4E5B-844F-7AFFD08A165C}"/>
              </a:ext>
            </a:extLst>
          </p:cNvPr>
          <p:cNvSpPr>
            <a:spLocks noChangeShapeType="1"/>
          </p:cNvSpPr>
          <p:nvPr/>
        </p:nvSpPr>
        <p:spPr bwMode="auto">
          <a:xfrm>
            <a:off x="371461" y="6436472"/>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4" name="TextBox 3">
            <a:extLst>
              <a:ext uri="{FF2B5EF4-FFF2-40B4-BE49-F238E27FC236}">
                <a16:creationId xmlns:a16="http://schemas.microsoft.com/office/drawing/2014/main" id="{5BFCC979-C9F7-4264-AD38-8A06125EEB9C}"/>
              </a:ext>
            </a:extLst>
          </p:cNvPr>
          <p:cNvSpPr txBox="1"/>
          <p:nvPr/>
        </p:nvSpPr>
        <p:spPr>
          <a:xfrm>
            <a:off x="366583" y="1498030"/>
            <a:ext cx="5514100" cy="1092607"/>
          </a:xfrm>
          <a:prstGeom prst="rect">
            <a:avLst/>
          </a:prstGeom>
          <a:noFill/>
        </p:spPr>
        <p:txBody>
          <a:bodyPr wrap="square" rtlCol="0">
            <a:spAutoFit/>
          </a:bodyPr>
          <a:lstStyle/>
          <a:p>
            <a:pPr marL="285750" indent="-285750" algn="just">
              <a:spcAft>
                <a:spcPts val="12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Xtrackers USD High Yield Corporate Bond ETF seeks investment results that correspond generally to the performance, before fees and expenses, of the Solactive USD High Yield Corporates Total Market Index.</a:t>
            </a:r>
          </a:p>
          <a:p>
            <a:pPr marL="285750" indent="-285750" algn="just">
              <a:spcAft>
                <a:spcPts val="12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Launched in December 2016</a:t>
            </a:r>
          </a:p>
        </p:txBody>
      </p:sp>
      <p:sp>
        <p:nvSpPr>
          <p:cNvPr id="20" name="TextBox 19">
            <a:extLst>
              <a:ext uri="{FF2B5EF4-FFF2-40B4-BE49-F238E27FC236}">
                <a16:creationId xmlns:a16="http://schemas.microsoft.com/office/drawing/2014/main" id="{2D4C0FA1-C6CB-4F9B-B941-4D4DCFFE568B}"/>
              </a:ext>
            </a:extLst>
          </p:cNvPr>
          <p:cNvSpPr txBox="1"/>
          <p:nvPr/>
        </p:nvSpPr>
        <p:spPr>
          <a:xfrm>
            <a:off x="328093" y="6515727"/>
            <a:ext cx="8076365" cy="211148"/>
          </a:xfrm>
          <a:prstGeom prst="rect">
            <a:avLst/>
          </a:prstGeom>
          <a:noFill/>
        </p:spPr>
        <p:txBody>
          <a:bodyPr wrap="square" rtlCol="0">
            <a:spAutoFit/>
          </a:bodyPr>
          <a:lstStyle/>
          <a:p>
            <a:pPr algn="just">
              <a:lnSpc>
                <a:spcPct val="90000"/>
              </a:lnSpc>
            </a:pPr>
            <a:r>
              <a:rPr lang="en-US" sz="850" cap="all">
                <a:solidFill>
                  <a:srgbClr val="394849"/>
                </a:solidFill>
                <a:latin typeface="Poppins Light" panose="00000400000000000000" pitchFamily="2" charset="0"/>
                <a:cs typeface="Poppins Light" panose="00000400000000000000" pitchFamily="2" charset="0"/>
              </a:rPr>
              <a:t>iNDEX: Solactive USD High Yield Corporates Total Market Index. SOURCE: BLOOMBERG</a:t>
            </a:r>
          </a:p>
        </p:txBody>
      </p:sp>
      <p:sp>
        <p:nvSpPr>
          <p:cNvPr id="16" name="Rectangle 15">
            <a:extLst>
              <a:ext uri="{FF2B5EF4-FFF2-40B4-BE49-F238E27FC236}">
                <a16:creationId xmlns:a16="http://schemas.microsoft.com/office/drawing/2014/main" id="{8ED1A691-C165-4F50-90D5-B35C7A028837}"/>
              </a:ext>
            </a:extLst>
          </p:cNvPr>
          <p:cNvSpPr/>
          <p:nvPr/>
        </p:nvSpPr>
        <p:spPr bwMode="auto">
          <a:xfrm>
            <a:off x="366583" y="825084"/>
            <a:ext cx="8412480" cy="338554"/>
          </a:xfrm>
          <a:prstGeom prst="rect">
            <a:avLst/>
          </a:prstGeom>
          <a:solidFill>
            <a:srgbClr val="106280"/>
          </a:solidFill>
        </p:spPr>
        <p:txBody>
          <a:bodyPr wrap="square" tIns="274320" rIns="0" bIns="45720" rtlCol="0" anchor="b">
            <a:noAutofit/>
          </a:bodyPr>
          <a:lstStyle/>
          <a:p>
            <a:r>
              <a:rPr lang="en-US" sz="1600" cap="all">
                <a:solidFill>
                  <a:schemeClr val="bg1"/>
                </a:solidFill>
                <a:latin typeface="Poppins Light" panose="00000400000000000000" pitchFamily="2" charset="0"/>
                <a:cs typeface="Poppins Light" panose="00000400000000000000" pitchFamily="2" charset="0"/>
              </a:rPr>
              <a:t>U.S. high yield |</a:t>
            </a:r>
            <a:r>
              <a:rPr lang="en-US" sz="1600" cap="all">
                <a:solidFill>
                  <a:schemeClr val="bg1"/>
                </a:solidFill>
                <a:latin typeface="Poppins" panose="00000500000000000000" pitchFamily="50" charset="0"/>
                <a:cs typeface="Poppins" panose="00000500000000000000" pitchFamily="50" charset="0"/>
              </a:rPr>
              <a:t> </a:t>
            </a:r>
            <a:r>
              <a:rPr lang="en-US" sz="1600" cap="all">
                <a:solidFill>
                  <a:schemeClr val="bg1"/>
                </a:solidFill>
                <a:latin typeface="Poppins Medium" panose="00000600000000000000" pitchFamily="2" charset="0"/>
                <a:cs typeface="Poppins Medium" panose="00000600000000000000" pitchFamily="2" charset="0"/>
              </a:rPr>
              <a:t>Xtrackers High Yield Corporate Bond ETF (HYLB)</a:t>
            </a:r>
            <a:r>
              <a:rPr lang="en-US" sz="1600" cap="all">
                <a:solidFill>
                  <a:schemeClr val="bg1"/>
                </a:solidFill>
                <a:latin typeface="Poppins Light" panose="00000400000000000000" pitchFamily="2" charset="0"/>
                <a:cs typeface="Poppins Light" panose="00000400000000000000" pitchFamily="2" charset="0"/>
              </a:rPr>
              <a:t> |</a:t>
            </a:r>
            <a:r>
              <a:rPr lang="en-US" sz="1600" cap="all">
                <a:solidFill>
                  <a:schemeClr val="bg1"/>
                </a:solidFill>
                <a:latin typeface="Poppins" panose="00000500000000000000" pitchFamily="50" charset="0"/>
                <a:cs typeface="Poppins" panose="00000500000000000000" pitchFamily="50" charset="0"/>
              </a:rPr>
              <a:t> </a:t>
            </a:r>
            <a:r>
              <a:rPr lang="en-US" sz="1600" cap="all" spc="-30">
                <a:solidFill>
                  <a:schemeClr val="bg1"/>
                </a:solidFill>
                <a:latin typeface="Poppins Medium" panose="00000600000000000000" pitchFamily="2" charset="0"/>
                <a:cs typeface="Poppins Medium" panose="00000600000000000000" pitchFamily="2" charset="0"/>
              </a:rPr>
              <a:t>9-30-2025</a:t>
            </a:r>
            <a:endParaRPr lang="en-US" sz="1600" cap="all">
              <a:solidFill>
                <a:schemeClr val="bg1"/>
              </a:solidFill>
              <a:latin typeface="Poppins Medium" panose="00000600000000000000" pitchFamily="2" charset="0"/>
              <a:cs typeface="Poppins Medium" panose="00000600000000000000" pitchFamily="2" charset="0"/>
            </a:endParaRPr>
          </a:p>
        </p:txBody>
      </p:sp>
      <p:sp>
        <p:nvSpPr>
          <p:cNvPr id="26" name="Rectangle 25">
            <a:extLst>
              <a:ext uri="{FF2B5EF4-FFF2-40B4-BE49-F238E27FC236}">
                <a16:creationId xmlns:a16="http://schemas.microsoft.com/office/drawing/2014/main" id="{E0ED786A-ABC5-4F80-B900-5528A7F0A7AF}"/>
              </a:ext>
            </a:extLst>
          </p:cNvPr>
          <p:cNvSpPr/>
          <p:nvPr/>
        </p:nvSpPr>
        <p:spPr>
          <a:xfrm>
            <a:off x="366583" y="2812449"/>
            <a:ext cx="3633725" cy="338554"/>
          </a:xfrm>
          <a:prstGeom prst="rect">
            <a:avLst/>
          </a:prstGeom>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PERFORMANCE</a:t>
            </a:r>
            <a:endParaRPr lang="en-US" sz="1600" cap="all" baseline="30000">
              <a:solidFill>
                <a:srgbClr val="106280"/>
              </a:solidFill>
              <a:latin typeface="Poppins SemiBold" panose="00000700000000000000" pitchFamily="2" charset="0"/>
              <a:cs typeface="Poppins SemiBold" panose="00000700000000000000" pitchFamily="2" charset="0"/>
            </a:endParaRPr>
          </a:p>
        </p:txBody>
      </p:sp>
      <p:sp>
        <p:nvSpPr>
          <p:cNvPr id="27" name="Rectangle 26">
            <a:extLst>
              <a:ext uri="{FF2B5EF4-FFF2-40B4-BE49-F238E27FC236}">
                <a16:creationId xmlns:a16="http://schemas.microsoft.com/office/drawing/2014/main" id="{E2BD0FB8-9E27-4A7C-9346-1411CCCB6EE6}"/>
              </a:ext>
            </a:extLst>
          </p:cNvPr>
          <p:cNvSpPr/>
          <p:nvPr/>
        </p:nvSpPr>
        <p:spPr>
          <a:xfrm>
            <a:off x="309453" y="1203937"/>
            <a:ext cx="3547197" cy="338554"/>
          </a:xfrm>
          <a:prstGeom prst="rect">
            <a:avLst/>
          </a:prstGeom>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Fund overview</a:t>
            </a:r>
          </a:p>
        </p:txBody>
      </p:sp>
      <p:sp>
        <p:nvSpPr>
          <p:cNvPr id="7" name="Title 1">
            <a:extLst>
              <a:ext uri="{FF2B5EF4-FFF2-40B4-BE49-F238E27FC236}">
                <a16:creationId xmlns:a16="http://schemas.microsoft.com/office/drawing/2014/main" id="{50D0D80A-5AE8-5689-7A93-B9CE1D871CE9}"/>
              </a:ext>
            </a:extLst>
          </p:cNvPr>
          <p:cNvSpPr txBox="1">
            <a:spLocks/>
          </p:cNvSpPr>
          <p:nvPr/>
        </p:nvSpPr>
        <p:spPr>
          <a:xfrm>
            <a:off x="286233" y="469794"/>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altLang="en-US" sz="1800">
                <a:latin typeface="Poppins SemiBold" panose="00000700000000000000" pitchFamily="2" charset="0"/>
                <a:cs typeface="Poppins SemiBold" panose="00000700000000000000" pitchFamily="2" charset="0"/>
              </a:rPr>
              <a:t>ETF OVERVIEWS</a:t>
            </a:r>
          </a:p>
        </p:txBody>
      </p:sp>
      <p:graphicFrame>
        <p:nvGraphicFramePr>
          <p:cNvPr id="5" name="Table 4">
            <a:extLst>
              <a:ext uri="{FF2B5EF4-FFF2-40B4-BE49-F238E27FC236}">
                <a16:creationId xmlns:a16="http://schemas.microsoft.com/office/drawing/2014/main" id="{1959EAF8-4677-367A-F118-67F48E58ABB4}"/>
              </a:ext>
            </a:extLst>
          </p:cNvPr>
          <p:cNvGraphicFramePr>
            <a:graphicFrameLocks noGrp="1"/>
          </p:cNvGraphicFramePr>
          <p:nvPr/>
        </p:nvGraphicFramePr>
        <p:xfrm>
          <a:off x="6130382" y="2174775"/>
          <a:ext cx="2647035" cy="1385832"/>
        </p:xfrm>
        <a:graphic>
          <a:graphicData uri="http://schemas.openxmlformats.org/drawingml/2006/table">
            <a:tbl>
              <a:tblPr bandRow="1">
                <a:tableStyleId>{93296810-A885-4BE3-A3E7-6D5BEEA58F35}</a:tableStyleId>
              </a:tblPr>
              <a:tblGrid>
                <a:gridCol w="2045878">
                  <a:extLst>
                    <a:ext uri="{9D8B030D-6E8A-4147-A177-3AD203B41FA5}">
                      <a16:colId xmlns:a16="http://schemas.microsoft.com/office/drawing/2014/main" val="20000"/>
                    </a:ext>
                  </a:extLst>
                </a:gridCol>
                <a:gridCol w="601157">
                  <a:extLst>
                    <a:ext uri="{9D8B030D-6E8A-4147-A177-3AD203B41FA5}">
                      <a16:colId xmlns:a16="http://schemas.microsoft.com/office/drawing/2014/main" val="20002"/>
                    </a:ext>
                  </a:extLst>
                </a:gridCol>
              </a:tblGrid>
              <a:tr h="248504">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CREDIT QUALITY</a:t>
                      </a:r>
                      <a:endParaRPr lang="en-US" sz="1200" b="0" baseline="3000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187045">
                <a:tc>
                  <a:txBody>
                    <a:bodyPr/>
                    <a:lstStyle/>
                    <a:p>
                      <a:pPr algn="l" rtl="0" fontAlgn="ctr"/>
                      <a:r>
                        <a:rPr lang="en-US" sz="1050" b="0" i="0" u="none" strike="noStrike">
                          <a:solidFill>
                            <a:srgbClr val="000000"/>
                          </a:solidFill>
                          <a:effectLst/>
                          <a:latin typeface="Poppins" panose="00000500000000000000" pitchFamily="2" charset="0"/>
                        </a:rPr>
                        <a:t>BBB &amp; ABOVE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187045">
                <a:tc>
                  <a:txBody>
                    <a:bodyPr/>
                    <a:lstStyle/>
                    <a:p>
                      <a:pPr algn="l" rtl="0" fontAlgn="ctr"/>
                      <a:r>
                        <a:rPr lang="en-US" sz="1050" b="0" i="0" u="none" strike="noStrike">
                          <a:solidFill>
                            <a:srgbClr val="000000"/>
                          </a:solidFill>
                          <a:effectLst/>
                          <a:latin typeface="Poppins" panose="00000500000000000000" pitchFamily="2" charset="0"/>
                        </a:rPr>
                        <a:t>BB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81.7%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187045">
                <a:tc>
                  <a:txBody>
                    <a:bodyPr/>
                    <a:lstStyle/>
                    <a:p>
                      <a:pPr algn="l" rtl="0" fontAlgn="ctr"/>
                      <a:r>
                        <a:rPr lang="en-US" sz="1050" b="0" i="0" u="none" strike="noStrike">
                          <a:solidFill>
                            <a:srgbClr val="000000"/>
                          </a:solidFill>
                          <a:effectLst/>
                          <a:latin typeface="Poppins" panose="00000500000000000000" pitchFamily="2"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7.6%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76177"/>
                  </a:ext>
                </a:extLst>
              </a:tr>
              <a:tr h="187045">
                <a:tc>
                  <a:txBody>
                    <a:bodyPr/>
                    <a:lstStyle/>
                    <a:p>
                      <a:pPr algn="l" rtl="0" fontAlgn="ctr"/>
                      <a:r>
                        <a:rPr lang="en-US" sz="1050" b="0" i="0" u="none" strike="noStrike">
                          <a:solidFill>
                            <a:srgbClr val="000000"/>
                          </a:solidFill>
                          <a:effectLst/>
                          <a:latin typeface="Poppins" panose="00000500000000000000" pitchFamily="2" charset="0"/>
                        </a:rPr>
                        <a:t>CCC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7.7%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187045">
                <a:tc>
                  <a:txBody>
                    <a:bodyPr/>
                    <a:lstStyle/>
                    <a:p>
                      <a:pPr algn="l" rtl="0" fontAlgn="ctr"/>
                      <a:r>
                        <a:rPr lang="en-US" sz="1050" b="0" i="0" u="none" strike="noStrike">
                          <a:solidFill>
                            <a:srgbClr val="000000"/>
                          </a:solidFill>
                          <a:effectLst/>
                          <a:latin typeface="Poppins" panose="00000500000000000000" pitchFamily="2" charset="0"/>
                        </a:rPr>
                        <a:t>CC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187045">
                <a:tc>
                  <a:txBody>
                    <a:bodyPr/>
                    <a:lstStyle/>
                    <a:p>
                      <a:pPr algn="l" rtl="0" fontAlgn="t"/>
                      <a:r>
                        <a:rPr lang="en-US" sz="1050" b="0" i="0" u="none" strike="noStrike">
                          <a:solidFill>
                            <a:srgbClr val="000000"/>
                          </a:solidFill>
                          <a:effectLst/>
                          <a:latin typeface="Poppins" panose="00000500000000000000" pitchFamily="2" charset="0"/>
                        </a:rPr>
                        <a:t>NOT CLASSIFIED</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US" sz="1050" b="0" i="0" u="none" strike="noStrike">
                          <a:solidFill>
                            <a:srgbClr val="000000"/>
                          </a:solidFill>
                          <a:effectLst/>
                          <a:latin typeface="Poppins" panose="00000500000000000000" pitchFamily="2" charset="0"/>
                        </a:rPr>
                        <a:t>2.0%</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6728625"/>
                  </a:ext>
                </a:extLst>
              </a:tr>
            </a:tbl>
          </a:graphicData>
        </a:graphic>
      </p:graphicFrame>
      <p:graphicFrame>
        <p:nvGraphicFramePr>
          <p:cNvPr id="8" name="Table 7">
            <a:extLst>
              <a:ext uri="{FF2B5EF4-FFF2-40B4-BE49-F238E27FC236}">
                <a16:creationId xmlns:a16="http://schemas.microsoft.com/office/drawing/2014/main" id="{746AEAE4-E345-5EE1-1A79-223028F24CC8}"/>
              </a:ext>
            </a:extLst>
          </p:cNvPr>
          <p:cNvGraphicFramePr>
            <a:graphicFrameLocks noGrp="1"/>
          </p:cNvGraphicFramePr>
          <p:nvPr/>
        </p:nvGraphicFramePr>
        <p:xfrm>
          <a:off x="6111909" y="3670341"/>
          <a:ext cx="2653559" cy="2701782"/>
        </p:xfrm>
        <a:graphic>
          <a:graphicData uri="http://schemas.openxmlformats.org/drawingml/2006/table">
            <a:tbl>
              <a:tblPr bandRow="1">
                <a:tableStyleId>{93296810-A885-4BE3-A3E7-6D5BEEA58F35}</a:tableStyleId>
              </a:tblPr>
              <a:tblGrid>
                <a:gridCol w="2025657">
                  <a:extLst>
                    <a:ext uri="{9D8B030D-6E8A-4147-A177-3AD203B41FA5}">
                      <a16:colId xmlns:a16="http://schemas.microsoft.com/office/drawing/2014/main" val="20000"/>
                    </a:ext>
                  </a:extLst>
                </a:gridCol>
                <a:gridCol w="627902">
                  <a:extLst>
                    <a:ext uri="{9D8B030D-6E8A-4147-A177-3AD203B41FA5}">
                      <a16:colId xmlns:a16="http://schemas.microsoft.com/office/drawing/2014/main" val="20002"/>
                    </a:ext>
                  </a:extLst>
                </a:gridCol>
              </a:tblGrid>
              <a:tr h="26029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SECTOR ALLOCATION</a:t>
                      </a:r>
                      <a:endParaRPr lang="en-US" sz="1200" b="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203185">
                <a:tc>
                  <a:txBody>
                    <a:bodyPr/>
                    <a:lstStyle/>
                    <a:p>
                      <a:pPr algn="l" rtl="0" fontAlgn="ctr"/>
                      <a:r>
                        <a:rPr lang="en-US" sz="1050" b="0" i="0" u="none" strike="noStrike">
                          <a:solidFill>
                            <a:srgbClr val="000000"/>
                          </a:solidFill>
                          <a:effectLst/>
                          <a:latin typeface="Poppins" panose="00000500000000000000" pitchFamily="2" charset="0"/>
                        </a:rPr>
                        <a:t>BASIC INDUSTRY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5.5%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203185">
                <a:tc>
                  <a:txBody>
                    <a:bodyPr/>
                    <a:lstStyle/>
                    <a:p>
                      <a:pPr algn="l" rtl="0" fontAlgn="ctr"/>
                      <a:r>
                        <a:rPr lang="en-US" sz="1050" b="0" i="0" u="none" strike="noStrike">
                          <a:solidFill>
                            <a:srgbClr val="000000"/>
                          </a:solidFill>
                          <a:effectLst/>
                          <a:latin typeface="Poppins" panose="00000500000000000000" pitchFamily="2" charset="0"/>
                        </a:rPr>
                        <a:t>CAPITAL GOODS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5459737"/>
                  </a:ext>
                </a:extLst>
              </a:tr>
              <a:tr h="203185">
                <a:tc>
                  <a:txBody>
                    <a:bodyPr/>
                    <a:lstStyle/>
                    <a:p>
                      <a:pPr algn="l" rtl="0" fontAlgn="ctr"/>
                      <a:r>
                        <a:rPr lang="en-US" sz="1050" b="0" i="0" u="none" strike="noStrike">
                          <a:solidFill>
                            <a:srgbClr val="000000"/>
                          </a:solidFill>
                          <a:effectLst/>
                          <a:latin typeface="Poppins" panose="00000500000000000000" pitchFamily="2" charset="0"/>
                        </a:rPr>
                        <a:t>COMMUNICATIONS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15.4%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203185">
                <a:tc>
                  <a:txBody>
                    <a:bodyPr/>
                    <a:lstStyle/>
                    <a:p>
                      <a:pPr algn="l" rtl="0" fontAlgn="ctr"/>
                      <a:r>
                        <a:rPr lang="en-US" sz="1050" b="0" i="0" u="none" strike="noStrike">
                          <a:solidFill>
                            <a:srgbClr val="000000"/>
                          </a:solidFill>
                          <a:effectLst/>
                          <a:latin typeface="Poppins" panose="00000500000000000000" pitchFamily="2" charset="0"/>
                        </a:rPr>
                        <a:t>CONSUMER CYCLICAL</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17.6%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76177"/>
                  </a:ext>
                </a:extLst>
              </a:tr>
              <a:tr h="203185">
                <a:tc>
                  <a:txBody>
                    <a:bodyPr/>
                    <a:lstStyle/>
                    <a:p>
                      <a:pPr algn="l" rtl="0" fontAlgn="ctr"/>
                      <a:r>
                        <a:rPr lang="en-US" sz="1050" b="0" i="0" u="none" strike="noStrike">
                          <a:solidFill>
                            <a:srgbClr val="000000"/>
                          </a:solidFill>
                          <a:effectLst/>
                          <a:latin typeface="Poppins" panose="00000500000000000000" pitchFamily="2" charset="0"/>
                        </a:rPr>
                        <a:t>CONSUMER NON-CYCLICAL</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203185">
                <a:tc>
                  <a:txBody>
                    <a:bodyPr/>
                    <a:lstStyle/>
                    <a:p>
                      <a:pPr algn="l" rtl="0" fontAlgn="ctr"/>
                      <a:r>
                        <a:rPr lang="en-US" sz="1050" b="0" i="0" u="none" strike="noStrike">
                          <a:solidFill>
                            <a:srgbClr val="000000"/>
                          </a:solidFill>
                          <a:effectLst/>
                          <a:latin typeface="Poppins" panose="00000500000000000000" pitchFamily="2" charset="0"/>
                        </a:rPr>
                        <a:t>ENERGY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182180"/>
                  </a:ext>
                </a:extLst>
              </a:tr>
              <a:tr h="203185">
                <a:tc>
                  <a:txBody>
                    <a:bodyPr/>
                    <a:lstStyle/>
                    <a:p>
                      <a:pPr algn="l" rtl="0" fontAlgn="ctr"/>
                      <a:r>
                        <a:rPr lang="en-US" sz="1050" b="0" i="0" u="none" strike="noStrike">
                          <a:solidFill>
                            <a:srgbClr val="000000"/>
                          </a:solidFill>
                          <a:effectLst/>
                          <a:latin typeface="Poppins" panose="00000500000000000000" pitchFamily="2" charset="0"/>
                        </a:rPr>
                        <a:t>TECHNOLOGY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8.4%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203185">
                <a:tc>
                  <a:txBody>
                    <a:bodyPr/>
                    <a:lstStyle/>
                    <a:p>
                      <a:pPr algn="l" rtl="0" fontAlgn="ctr"/>
                      <a:r>
                        <a:rPr lang="en-US" sz="1050" b="0" i="0" u="none" strike="noStrike">
                          <a:solidFill>
                            <a:srgbClr val="000000"/>
                          </a:solidFill>
                          <a:effectLst/>
                          <a:latin typeface="Poppins" panose="00000500000000000000" pitchFamily="2" charset="0"/>
                        </a:rPr>
                        <a:t>TRANSPORTATION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517504"/>
                  </a:ext>
                </a:extLst>
              </a:tr>
              <a:tr h="203185">
                <a:tc>
                  <a:txBody>
                    <a:bodyPr/>
                    <a:lstStyle/>
                    <a:p>
                      <a:pPr algn="l" rtl="0" fontAlgn="ctr"/>
                      <a:r>
                        <a:rPr lang="en-US" sz="1050" b="0" i="0" u="none" strike="noStrike">
                          <a:solidFill>
                            <a:srgbClr val="000000"/>
                          </a:solidFill>
                          <a:effectLst/>
                          <a:latin typeface="Poppins" panose="00000500000000000000" pitchFamily="2" charset="0"/>
                        </a:rPr>
                        <a:t>OTHER INDUSTRIAL</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0.9%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1737407"/>
                  </a:ext>
                </a:extLst>
              </a:tr>
              <a:tr h="203185">
                <a:tc>
                  <a:txBody>
                    <a:bodyPr/>
                    <a:lstStyle/>
                    <a:p>
                      <a:pPr algn="l" rtl="0" fontAlgn="ctr"/>
                      <a:r>
                        <a:rPr lang="en-US" sz="1050" b="0" i="0" u="none" strike="noStrike">
                          <a:solidFill>
                            <a:srgbClr val="000000"/>
                          </a:solidFill>
                          <a:effectLst/>
                          <a:latin typeface="Poppins" panose="00000500000000000000" pitchFamily="2" charset="0"/>
                        </a:rPr>
                        <a:t>FINANCIAL INSTITUTIONS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12.9%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633250"/>
                  </a:ext>
                </a:extLst>
              </a:tr>
              <a:tr h="203185">
                <a:tc>
                  <a:txBody>
                    <a:bodyPr/>
                    <a:lstStyle/>
                    <a:p>
                      <a:pPr algn="l" rtl="0" fontAlgn="ctr"/>
                      <a:r>
                        <a:rPr lang="en-US" sz="1050" b="0" i="0" u="none" strike="noStrike">
                          <a:solidFill>
                            <a:srgbClr val="000000"/>
                          </a:solidFill>
                          <a:effectLst/>
                          <a:latin typeface="Poppins" panose="00000500000000000000" pitchFamily="2" charset="0"/>
                        </a:rPr>
                        <a:t>UTILITY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3271638"/>
                  </a:ext>
                </a:extLst>
              </a:tr>
              <a:tr h="203185">
                <a:tc>
                  <a:txBody>
                    <a:bodyPr/>
                    <a:lstStyle/>
                    <a:p>
                      <a:pPr algn="l" rtl="0" fontAlgn="ctr"/>
                      <a:r>
                        <a:rPr lang="en-US" sz="1050" b="0" i="0" u="none" strike="noStrike">
                          <a:solidFill>
                            <a:srgbClr val="000000"/>
                          </a:solidFill>
                          <a:effectLst/>
                          <a:latin typeface="Poppins" panose="00000500000000000000" pitchFamily="2" charset="0"/>
                        </a:rPr>
                        <a:t>OTHER</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1881670"/>
                  </a:ext>
                </a:extLst>
              </a:tr>
            </a:tbl>
          </a:graphicData>
        </a:graphic>
      </p:graphicFrame>
      <p:graphicFrame>
        <p:nvGraphicFramePr>
          <p:cNvPr id="9" name="Table 8">
            <a:extLst>
              <a:ext uri="{FF2B5EF4-FFF2-40B4-BE49-F238E27FC236}">
                <a16:creationId xmlns:a16="http://schemas.microsoft.com/office/drawing/2014/main" id="{C06ECDD3-E462-AD80-AC86-33A44AE93989}"/>
              </a:ext>
            </a:extLst>
          </p:cNvPr>
          <p:cNvGraphicFramePr>
            <a:graphicFrameLocks noGrp="1"/>
          </p:cNvGraphicFramePr>
          <p:nvPr>
            <p:extLst>
              <p:ext uri="{D42A27DB-BD31-4B8C-83A1-F6EECF244321}">
                <p14:modId xmlns:p14="http://schemas.microsoft.com/office/powerpoint/2010/main" val="2485633293"/>
              </p:ext>
            </p:extLst>
          </p:nvPr>
        </p:nvGraphicFramePr>
        <p:xfrm>
          <a:off x="6130381" y="1223961"/>
          <a:ext cx="2647035" cy="867909"/>
        </p:xfrm>
        <a:graphic>
          <a:graphicData uri="http://schemas.openxmlformats.org/drawingml/2006/table">
            <a:tbl>
              <a:tblPr bandRow="1">
                <a:tableStyleId>{93296810-A885-4BE3-A3E7-6D5BEEA58F35}</a:tableStyleId>
              </a:tblPr>
              <a:tblGrid>
                <a:gridCol w="1953940">
                  <a:extLst>
                    <a:ext uri="{9D8B030D-6E8A-4147-A177-3AD203B41FA5}">
                      <a16:colId xmlns:a16="http://schemas.microsoft.com/office/drawing/2014/main" val="213402103"/>
                    </a:ext>
                  </a:extLst>
                </a:gridCol>
                <a:gridCol w="693095">
                  <a:extLst>
                    <a:ext uri="{9D8B030D-6E8A-4147-A177-3AD203B41FA5}">
                      <a16:colId xmlns:a16="http://schemas.microsoft.com/office/drawing/2014/main" val="1099812014"/>
                    </a:ext>
                  </a:extLst>
                </a:gridCol>
              </a:tblGrid>
              <a:tr h="258066">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STATISTICS</a:t>
                      </a:r>
                      <a:endParaRPr lang="en-US" sz="1200" b="0" baseline="3000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2576653931"/>
                  </a:ext>
                </a:extLst>
              </a:tr>
              <a:tr h="201449">
                <a:tc>
                  <a:txBody>
                    <a:bodyPr/>
                    <a:lstStyle/>
                    <a:p>
                      <a:pPr algn="l" fontAlgn="b"/>
                      <a:r>
                        <a:rPr lang="en-US" sz="1050" b="0" i="0" u="none" strike="noStrike" cap="all" baseline="0">
                          <a:solidFill>
                            <a:srgbClr val="000000"/>
                          </a:solidFill>
                          <a:effectLst/>
                          <a:latin typeface="Poppins" panose="00000500000000000000" pitchFamily="2" charset="0"/>
                        </a:rPr>
                        <a:t>YIELD TO WORST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6.51%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177394"/>
                  </a:ext>
                </a:extLst>
              </a:tr>
              <a:tr h="201449">
                <a:tc>
                  <a:txBody>
                    <a:bodyPr/>
                    <a:lstStyle/>
                    <a:p>
                      <a:pPr algn="l" fontAlgn="b"/>
                      <a:r>
                        <a:rPr lang="en-US" sz="1050" b="0" i="0" u="none" strike="noStrike" cap="all" baseline="0">
                          <a:solidFill>
                            <a:srgbClr val="000000"/>
                          </a:solidFill>
                          <a:effectLst/>
                          <a:latin typeface="Poppins" panose="00000500000000000000" pitchFamily="2" charset="0"/>
                        </a:rPr>
                        <a:t>OPTION ADJ. DURATION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2.70 YRS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746005"/>
                  </a:ext>
                </a:extLst>
              </a:tr>
              <a:tr h="201449">
                <a:tc>
                  <a:txBody>
                    <a:bodyPr/>
                    <a:lstStyle/>
                    <a:p>
                      <a:pPr algn="l" fontAlgn="b"/>
                      <a:r>
                        <a:rPr lang="en-US" sz="1050" b="0" i="0" u="none" strike="noStrike" cap="all" baseline="0">
                          <a:solidFill>
                            <a:srgbClr val="000000"/>
                          </a:solidFill>
                          <a:effectLst/>
                          <a:latin typeface="Poppins" panose="00000500000000000000" pitchFamily="2" charset="0"/>
                        </a:rPr>
                        <a:t>AVG. CREDIT QUALITY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Ba3/B1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278321"/>
                  </a:ext>
                </a:extLst>
              </a:tr>
            </a:tbl>
          </a:graphicData>
        </a:graphic>
      </p:graphicFrame>
      <p:graphicFrame>
        <p:nvGraphicFramePr>
          <p:cNvPr id="14" name="Chart 13">
            <a:extLst>
              <a:ext uri="{FF2B5EF4-FFF2-40B4-BE49-F238E27FC236}">
                <a16:creationId xmlns:a16="http://schemas.microsoft.com/office/drawing/2014/main" id="{00000000-0008-0000-0600-000003000000}"/>
              </a:ext>
            </a:extLst>
          </p:cNvPr>
          <p:cNvGraphicFramePr>
            <a:graphicFrameLocks/>
          </p:cNvGraphicFramePr>
          <p:nvPr/>
        </p:nvGraphicFramePr>
        <p:xfrm>
          <a:off x="286233" y="3151002"/>
          <a:ext cx="5563414" cy="3133557"/>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3F3405C4-29C7-9713-CA14-E54374626CF1}"/>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EXTERNALLY (FOOTNOTE)</a:t>
            </a:r>
          </a:p>
        </p:txBody>
      </p:sp>
    </p:spTree>
    <p:extLst>
      <p:ext uri="{BB962C8B-B14F-4D97-AF65-F5344CB8AC3E}">
        <p14:creationId xmlns:p14="http://schemas.microsoft.com/office/powerpoint/2010/main" val="1106555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bwMode="auto">
          <a:xfrm>
            <a:off x="4477461" y="6118412"/>
            <a:ext cx="163004" cy="217213"/>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80682" tIns="40341" rIns="80682" bIns="40341" numCol="1" rtlCol="0" anchor="t" anchorCtr="0" compatLnSpc="1">
            <a:prstTxWarp prst="textNoShape">
              <a:avLst/>
            </a:prstTxWarp>
            <a:spAutoFit/>
          </a:bodyPr>
          <a:lstStyle/>
          <a:p>
            <a:pPr algn="ctr" defTabSz="806867" eaLnBrk="0" fontAlgn="base" hangingPunct="0">
              <a:spcBef>
                <a:spcPct val="50000"/>
              </a:spcBef>
              <a:spcAft>
                <a:spcPct val="0"/>
              </a:spcAft>
            </a:pPr>
            <a:endParaRPr lang="en-US" sz="882" b="1">
              <a:solidFill>
                <a:srgbClr val="000000"/>
              </a:solidFill>
              <a:latin typeface="Arial" charset="0"/>
              <a:cs typeface="Arial" charset="0"/>
            </a:endParaRPr>
          </a:p>
        </p:txBody>
      </p:sp>
      <p:sp>
        <p:nvSpPr>
          <p:cNvPr id="11" name="Slide Number Placeholder 1">
            <a:extLst>
              <a:ext uri="{FF2B5EF4-FFF2-40B4-BE49-F238E27FC236}">
                <a16:creationId xmlns:a16="http://schemas.microsoft.com/office/drawing/2014/main" id="{60BCB548-27E0-4482-BF0C-D49FE9CDC4CE}"/>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20</a:t>
            </a:fld>
            <a:endParaRPr lang="en-US" sz="882">
              <a:solidFill>
                <a:srgbClr val="000000"/>
              </a:solidFill>
            </a:endParaRPr>
          </a:p>
        </p:txBody>
      </p:sp>
      <p:sp>
        <p:nvSpPr>
          <p:cNvPr id="13" name="Line 309">
            <a:extLst>
              <a:ext uri="{FF2B5EF4-FFF2-40B4-BE49-F238E27FC236}">
                <a16:creationId xmlns:a16="http://schemas.microsoft.com/office/drawing/2014/main" id="{4AED4858-3DA5-4E5B-844F-7AFFD08A165C}"/>
              </a:ext>
            </a:extLst>
          </p:cNvPr>
          <p:cNvSpPr>
            <a:spLocks noChangeShapeType="1"/>
          </p:cNvSpPr>
          <p:nvPr/>
        </p:nvSpPr>
        <p:spPr bwMode="auto">
          <a:xfrm>
            <a:off x="371461" y="6436472"/>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4" name="TextBox 3">
            <a:extLst>
              <a:ext uri="{FF2B5EF4-FFF2-40B4-BE49-F238E27FC236}">
                <a16:creationId xmlns:a16="http://schemas.microsoft.com/office/drawing/2014/main" id="{5BFCC979-C9F7-4264-AD38-8A06125EEB9C}"/>
              </a:ext>
            </a:extLst>
          </p:cNvPr>
          <p:cNvSpPr txBox="1"/>
          <p:nvPr/>
        </p:nvSpPr>
        <p:spPr>
          <a:xfrm>
            <a:off x="366583" y="1498030"/>
            <a:ext cx="5514100" cy="1092607"/>
          </a:xfrm>
          <a:prstGeom prst="rect">
            <a:avLst/>
          </a:prstGeom>
          <a:noFill/>
        </p:spPr>
        <p:txBody>
          <a:bodyPr wrap="square" rtlCol="0">
            <a:spAutoFit/>
          </a:bodyPr>
          <a:lstStyle/>
          <a:p>
            <a:pPr marL="285750" indent="-285750" algn="just">
              <a:spcAft>
                <a:spcPts val="12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The VanEck Vectors® Fallen Angel High Yield Bond ETF (ANGL®) seeks to replicate as closely as possible, before fees and expenses, the price and yield performance of the ICE US Fallen Angel High Yield 10% Constrained Index (H0CF)</a:t>
            </a:r>
          </a:p>
          <a:p>
            <a:pPr marL="285750" indent="-285750" algn="just">
              <a:spcAft>
                <a:spcPts val="12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Launched in APRIL 2012</a:t>
            </a:r>
          </a:p>
        </p:txBody>
      </p:sp>
      <p:sp>
        <p:nvSpPr>
          <p:cNvPr id="20" name="TextBox 19">
            <a:extLst>
              <a:ext uri="{FF2B5EF4-FFF2-40B4-BE49-F238E27FC236}">
                <a16:creationId xmlns:a16="http://schemas.microsoft.com/office/drawing/2014/main" id="{2D4C0FA1-C6CB-4F9B-B941-4D4DCFFE568B}"/>
              </a:ext>
            </a:extLst>
          </p:cNvPr>
          <p:cNvSpPr txBox="1"/>
          <p:nvPr/>
        </p:nvSpPr>
        <p:spPr>
          <a:xfrm>
            <a:off x="328093" y="6515727"/>
            <a:ext cx="8076365" cy="211148"/>
          </a:xfrm>
          <a:prstGeom prst="rect">
            <a:avLst/>
          </a:prstGeom>
          <a:noFill/>
        </p:spPr>
        <p:txBody>
          <a:bodyPr wrap="square" rtlCol="0">
            <a:spAutoFit/>
          </a:bodyPr>
          <a:lstStyle/>
          <a:p>
            <a:pPr algn="just">
              <a:lnSpc>
                <a:spcPct val="90000"/>
              </a:lnSpc>
            </a:pPr>
            <a:r>
              <a:rPr lang="en-US" sz="850" cap="all">
                <a:solidFill>
                  <a:srgbClr val="394849"/>
                </a:solidFill>
                <a:latin typeface="Poppins Light" panose="00000400000000000000" pitchFamily="2" charset="0"/>
                <a:cs typeface="Poppins Light" panose="00000400000000000000" pitchFamily="2" charset="0"/>
              </a:rPr>
              <a:t>INDEX: ICE US Fallen Angel High Yield 10% Constrained Index (H0CF).  SOURCE: BLOOMBERG</a:t>
            </a:r>
          </a:p>
        </p:txBody>
      </p:sp>
      <p:sp>
        <p:nvSpPr>
          <p:cNvPr id="16" name="Rectangle 15">
            <a:extLst>
              <a:ext uri="{FF2B5EF4-FFF2-40B4-BE49-F238E27FC236}">
                <a16:creationId xmlns:a16="http://schemas.microsoft.com/office/drawing/2014/main" id="{8ED1A691-C165-4F50-90D5-B35C7A028837}"/>
              </a:ext>
            </a:extLst>
          </p:cNvPr>
          <p:cNvSpPr/>
          <p:nvPr/>
        </p:nvSpPr>
        <p:spPr bwMode="auto">
          <a:xfrm>
            <a:off x="366583" y="825084"/>
            <a:ext cx="8412480" cy="338554"/>
          </a:xfrm>
          <a:prstGeom prst="rect">
            <a:avLst/>
          </a:prstGeom>
          <a:solidFill>
            <a:srgbClr val="106280"/>
          </a:solidFill>
        </p:spPr>
        <p:txBody>
          <a:bodyPr wrap="square" tIns="274320" rIns="0" bIns="45720" rtlCol="0" anchor="b">
            <a:noAutofit/>
          </a:bodyPr>
          <a:lstStyle/>
          <a:p>
            <a:r>
              <a:rPr lang="en-US" sz="1600" cap="all">
                <a:solidFill>
                  <a:schemeClr val="bg1"/>
                </a:solidFill>
                <a:latin typeface="Poppins Light" panose="00000400000000000000" pitchFamily="2" charset="0"/>
                <a:cs typeface="Poppins Light" panose="00000400000000000000" pitchFamily="2" charset="0"/>
              </a:rPr>
              <a:t>U.S. high yield |</a:t>
            </a:r>
            <a:r>
              <a:rPr lang="en-US" sz="1600" cap="all">
                <a:solidFill>
                  <a:schemeClr val="bg1"/>
                </a:solidFill>
                <a:latin typeface="Poppins" panose="00000500000000000000" pitchFamily="50" charset="0"/>
                <a:cs typeface="Poppins" panose="00000500000000000000" pitchFamily="50" charset="0"/>
              </a:rPr>
              <a:t> </a:t>
            </a:r>
            <a:r>
              <a:rPr lang="en-US" sz="1600" cap="all">
                <a:solidFill>
                  <a:schemeClr val="bg1"/>
                </a:solidFill>
                <a:latin typeface="Poppins Medium" panose="00000600000000000000" pitchFamily="2" charset="0"/>
                <a:cs typeface="Poppins Medium" panose="00000600000000000000" pitchFamily="2" charset="0"/>
              </a:rPr>
              <a:t>VANECK Fallen Angel High Yield Bond ETF (angl)</a:t>
            </a:r>
            <a:r>
              <a:rPr lang="en-US" sz="1600" cap="all">
                <a:solidFill>
                  <a:schemeClr val="bg1"/>
                </a:solidFill>
                <a:latin typeface="Poppins Light" panose="00000400000000000000" pitchFamily="2" charset="0"/>
                <a:cs typeface="Poppins Light" panose="00000400000000000000" pitchFamily="2" charset="0"/>
              </a:rPr>
              <a:t> |</a:t>
            </a:r>
            <a:r>
              <a:rPr lang="en-US" sz="1600" cap="all">
                <a:solidFill>
                  <a:schemeClr val="bg1"/>
                </a:solidFill>
                <a:latin typeface="Poppins" panose="00000500000000000000" pitchFamily="50" charset="0"/>
                <a:cs typeface="Poppins" panose="00000500000000000000" pitchFamily="50" charset="0"/>
              </a:rPr>
              <a:t> </a:t>
            </a:r>
            <a:r>
              <a:rPr lang="en-US" sz="1600" cap="all" spc="-30">
                <a:solidFill>
                  <a:schemeClr val="bg1"/>
                </a:solidFill>
                <a:latin typeface="Poppins Medium" panose="00000600000000000000" pitchFamily="2" charset="0"/>
                <a:cs typeface="Poppins Medium" panose="00000600000000000000" pitchFamily="2" charset="0"/>
              </a:rPr>
              <a:t>9-30-2025</a:t>
            </a:r>
            <a:endParaRPr lang="en-US" sz="1600" cap="all">
              <a:solidFill>
                <a:schemeClr val="bg1"/>
              </a:solidFill>
              <a:latin typeface="Poppins Medium" panose="00000600000000000000" pitchFamily="2" charset="0"/>
              <a:cs typeface="Poppins Medium" panose="00000600000000000000" pitchFamily="2" charset="0"/>
            </a:endParaRPr>
          </a:p>
        </p:txBody>
      </p:sp>
      <p:sp>
        <p:nvSpPr>
          <p:cNvPr id="26" name="Rectangle 25">
            <a:extLst>
              <a:ext uri="{FF2B5EF4-FFF2-40B4-BE49-F238E27FC236}">
                <a16:creationId xmlns:a16="http://schemas.microsoft.com/office/drawing/2014/main" id="{E0ED786A-ABC5-4F80-B900-5528A7F0A7AF}"/>
              </a:ext>
            </a:extLst>
          </p:cNvPr>
          <p:cNvSpPr/>
          <p:nvPr/>
        </p:nvSpPr>
        <p:spPr>
          <a:xfrm>
            <a:off x="366583" y="2594134"/>
            <a:ext cx="3633725" cy="338554"/>
          </a:xfrm>
          <a:prstGeom prst="rect">
            <a:avLst/>
          </a:prstGeom>
          <a:noFill/>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PERFORMANCE</a:t>
            </a:r>
            <a:endParaRPr lang="en-US" sz="1600" cap="all" baseline="30000">
              <a:solidFill>
                <a:srgbClr val="106280"/>
              </a:solidFill>
              <a:latin typeface="Poppins SemiBold" panose="00000700000000000000" pitchFamily="2" charset="0"/>
              <a:cs typeface="Poppins SemiBold" panose="00000700000000000000" pitchFamily="2" charset="0"/>
            </a:endParaRPr>
          </a:p>
        </p:txBody>
      </p:sp>
      <p:sp>
        <p:nvSpPr>
          <p:cNvPr id="27" name="Rectangle 26">
            <a:extLst>
              <a:ext uri="{FF2B5EF4-FFF2-40B4-BE49-F238E27FC236}">
                <a16:creationId xmlns:a16="http://schemas.microsoft.com/office/drawing/2014/main" id="{E2BD0FB8-9E27-4A7C-9346-1411CCCB6EE6}"/>
              </a:ext>
            </a:extLst>
          </p:cNvPr>
          <p:cNvSpPr/>
          <p:nvPr/>
        </p:nvSpPr>
        <p:spPr>
          <a:xfrm>
            <a:off x="309453" y="1203937"/>
            <a:ext cx="3547197" cy="338554"/>
          </a:xfrm>
          <a:prstGeom prst="rect">
            <a:avLst/>
          </a:prstGeom>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Fund overview</a:t>
            </a:r>
          </a:p>
        </p:txBody>
      </p:sp>
      <p:sp>
        <p:nvSpPr>
          <p:cNvPr id="7" name="Title 1">
            <a:extLst>
              <a:ext uri="{FF2B5EF4-FFF2-40B4-BE49-F238E27FC236}">
                <a16:creationId xmlns:a16="http://schemas.microsoft.com/office/drawing/2014/main" id="{AC5D9769-1A31-ADD4-4DD6-3A450BBB82E2}"/>
              </a:ext>
            </a:extLst>
          </p:cNvPr>
          <p:cNvSpPr txBox="1">
            <a:spLocks/>
          </p:cNvSpPr>
          <p:nvPr/>
        </p:nvSpPr>
        <p:spPr>
          <a:xfrm>
            <a:off x="286233" y="469794"/>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altLang="en-US" sz="1800">
                <a:latin typeface="Poppins SemiBold" panose="00000700000000000000" pitchFamily="2" charset="0"/>
                <a:cs typeface="Poppins SemiBold" panose="00000700000000000000" pitchFamily="2" charset="0"/>
              </a:rPr>
              <a:t>ETF OVERVIEWS</a:t>
            </a:r>
          </a:p>
        </p:txBody>
      </p:sp>
      <p:graphicFrame>
        <p:nvGraphicFramePr>
          <p:cNvPr id="2" name="Table 1">
            <a:extLst>
              <a:ext uri="{FF2B5EF4-FFF2-40B4-BE49-F238E27FC236}">
                <a16:creationId xmlns:a16="http://schemas.microsoft.com/office/drawing/2014/main" id="{757460C7-7958-4D18-D492-4C29A7904D23}"/>
              </a:ext>
            </a:extLst>
          </p:cNvPr>
          <p:cNvGraphicFramePr>
            <a:graphicFrameLocks noGrp="1"/>
          </p:cNvGraphicFramePr>
          <p:nvPr/>
        </p:nvGraphicFramePr>
        <p:xfrm>
          <a:off x="6130382" y="2175733"/>
          <a:ext cx="2647035" cy="1385832"/>
        </p:xfrm>
        <a:graphic>
          <a:graphicData uri="http://schemas.openxmlformats.org/drawingml/2006/table">
            <a:tbl>
              <a:tblPr bandRow="1">
                <a:tableStyleId>{93296810-A885-4BE3-A3E7-6D5BEEA58F35}</a:tableStyleId>
              </a:tblPr>
              <a:tblGrid>
                <a:gridCol w="2045878">
                  <a:extLst>
                    <a:ext uri="{9D8B030D-6E8A-4147-A177-3AD203B41FA5}">
                      <a16:colId xmlns:a16="http://schemas.microsoft.com/office/drawing/2014/main" val="20000"/>
                    </a:ext>
                  </a:extLst>
                </a:gridCol>
                <a:gridCol w="601157">
                  <a:extLst>
                    <a:ext uri="{9D8B030D-6E8A-4147-A177-3AD203B41FA5}">
                      <a16:colId xmlns:a16="http://schemas.microsoft.com/office/drawing/2014/main" val="20002"/>
                    </a:ext>
                  </a:extLst>
                </a:gridCol>
              </a:tblGrid>
              <a:tr h="248504">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CREDIT QUALITY</a:t>
                      </a:r>
                      <a:endParaRPr lang="en-US" sz="1200" b="0" baseline="3000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187045">
                <a:tc>
                  <a:txBody>
                    <a:bodyPr/>
                    <a:lstStyle/>
                    <a:p>
                      <a:pPr algn="l" fontAlgn="b"/>
                      <a:r>
                        <a:rPr lang="en-US" sz="1050" b="0" i="0" u="none" strike="noStrike" cap="all" baseline="0">
                          <a:solidFill>
                            <a:srgbClr val="000000"/>
                          </a:solidFill>
                          <a:effectLst/>
                          <a:latin typeface="Poppins" panose="00000500000000000000" pitchFamily="2" charset="0"/>
                        </a:rPr>
                        <a:t>BBB &amp; ABOVE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187045">
                <a:tc>
                  <a:txBody>
                    <a:bodyPr/>
                    <a:lstStyle/>
                    <a:p>
                      <a:pPr algn="l" fontAlgn="b"/>
                      <a:r>
                        <a:rPr lang="en-US" sz="1050" b="0" i="0" u="none" strike="noStrike" cap="all" baseline="0">
                          <a:solidFill>
                            <a:srgbClr val="000000"/>
                          </a:solidFill>
                          <a:effectLst/>
                          <a:latin typeface="Poppins" panose="00000500000000000000" pitchFamily="2" charset="0"/>
                        </a:rPr>
                        <a:t>BB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78.9%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187045">
                <a:tc>
                  <a:txBody>
                    <a:bodyPr/>
                    <a:lstStyle/>
                    <a:p>
                      <a:pPr algn="l" fontAlgn="b"/>
                      <a:r>
                        <a:rPr lang="en-US" sz="1050" b="0" i="0" u="none" strike="noStrike" cap="all" baseline="0">
                          <a:solidFill>
                            <a:srgbClr val="000000"/>
                          </a:solidFill>
                          <a:effectLst/>
                          <a:latin typeface="Poppins" panose="00000500000000000000" pitchFamily="2"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14.4%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76177"/>
                  </a:ext>
                </a:extLst>
              </a:tr>
              <a:tr h="187045">
                <a:tc>
                  <a:txBody>
                    <a:bodyPr/>
                    <a:lstStyle/>
                    <a:p>
                      <a:pPr algn="l" fontAlgn="b"/>
                      <a:r>
                        <a:rPr lang="en-US" sz="1050" b="0" i="0" u="none" strike="noStrike" cap="all" baseline="0">
                          <a:solidFill>
                            <a:srgbClr val="000000"/>
                          </a:solidFill>
                          <a:effectLst/>
                          <a:latin typeface="Poppins" panose="00000500000000000000" pitchFamily="2" charset="0"/>
                        </a:rPr>
                        <a:t>CCC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4.4%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187045">
                <a:tc>
                  <a:txBody>
                    <a:bodyPr/>
                    <a:lstStyle/>
                    <a:p>
                      <a:pPr algn="l" fontAlgn="b"/>
                      <a:r>
                        <a:rPr lang="en-US" sz="1050" b="0" i="0" u="none" strike="noStrike" cap="all" baseline="0">
                          <a:solidFill>
                            <a:srgbClr val="000000"/>
                          </a:solidFill>
                          <a:effectLst/>
                          <a:latin typeface="Poppins" panose="00000500000000000000" pitchFamily="2" charset="0"/>
                        </a:rPr>
                        <a:t>CC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187045">
                <a:tc>
                  <a:txBody>
                    <a:bodyPr/>
                    <a:lstStyle/>
                    <a:p>
                      <a:pPr algn="l" fontAlgn="b"/>
                      <a:r>
                        <a:rPr lang="en-US" sz="1050" b="0" i="0" u="none" strike="noStrike" cap="all" baseline="0">
                          <a:solidFill>
                            <a:srgbClr val="000000"/>
                          </a:solidFill>
                          <a:effectLst/>
                          <a:latin typeface="Poppins" panose="00000500000000000000" pitchFamily="2" charset="0"/>
                        </a:rPr>
                        <a:t>Not Classified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6728625"/>
                  </a:ext>
                </a:extLst>
              </a:tr>
            </a:tbl>
          </a:graphicData>
        </a:graphic>
      </p:graphicFrame>
      <p:graphicFrame>
        <p:nvGraphicFramePr>
          <p:cNvPr id="6" name="Table 5">
            <a:extLst>
              <a:ext uri="{FF2B5EF4-FFF2-40B4-BE49-F238E27FC236}">
                <a16:creationId xmlns:a16="http://schemas.microsoft.com/office/drawing/2014/main" id="{68A3F8E1-DBC7-242D-86C3-DF527CCD665B}"/>
              </a:ext>
            </a:extLst>
          </p:cNvPr>
          <p:cNvGraphicFramePr>
            <a:graphicFrameLocks noGrp="1"/>
          </p:cNvGraphicFramePr>
          <p:nvPr/>
        </p:nvGraphicFramePr>
        <p:xfrm>
          <a:off x="6111909" y="3671299"/>
          <a:ext cx="2653559" cy="2701782"/>
        </p:xfrm>
        <a:graphic>
          <a:graphicData uri="http://schemas.openxmlformats.org/drawingml/2006/table">
            <a:tbl>
              <a:tblPr bandRow="1">
                <a:tableStyleId>{93296810-A885-4BE3-A3E7-6D5BEEA58F35}</a:tableStyleId>
              </a:tblPr>
              <a:tblGrid>
                <a:gridCol w="2025657">
                  <a:extLst>
                    <a:ext uri="{9D8B030D-6E8A-4147-A177-3AD203B41FA5}">
                      <a16:colId xmlns:a16="http://schemas.microsoft.com/office/drawing/2014/main" val="20000"/>
                    </a:ext>
                  </a:extLst>
                </a:gridCol>
                <a:gridCol w="627902">
                  <a:extLst>
                    <a:ext uri="{9D8B030D-6E8A-4147-A177-3AD203B41FA5}">
                      <a16:colId xmlns:a16="http://schemas.microsoft.com/office/drawing/2014/main" val="20002"/>
                    </a:ext>
                  </a:extLst>
                </a:gridCol>
              </a:tblGrid>
              <a:tr h="26029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SECTOR ALLOCATION</a:t>
                      </a:r>
                      <a:endParaRPr lang="en-US" sz="1200" b="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203185">
                <a:tc>
                  <a:txBody>
                    <a:bodyPr/>
                    <a:lstStyle/>
                    <a:p>
                      <a:pPr algn="l" fontAlgn="b"/>
                      <a:r>
                        <a:rPr lang="en-US" sz="1050" b="0" i="0" u="none" strike="noStrike">
                          <a:solidFill>
                            <a:srgbClr val="000000"/>
                          </a:solidFill>
                          <a:effectLst/>
                          <a:latin typeface="Poppins" panose="00000500000000000000" pitchFamily="2" charset="0"/>
                        </a:rPr>
                        <a:t>BASIC INDUSTRY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15.2%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203185">
                <a:tc>
                  <a:txBody>
                    <a:bodyPr/>
                    <a:lstStyle/>
                    <a:p>
                      <a:pPr algn="l" fontAlgn="b"/>
                      <a:r>
                        <a:rPr lang="en-US" sz="1050" b="0" i="0" u="none" strike="noStrike">
                          <a:solidFill>
                            <a:srgbClr val="000000"/>
                          </a:solidFill>
                          <a:effectLst/>
                          <a:latin typeface="Poppins" panose="00000500000000000000" pitchFamily="2" charset="0"/>
                        </a:rPr>
                        <a:t>CAPITAL GOODS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5459737"/>
                  </a:ext>
                </a:extLst>
              </a:tr>
              <a:tr h="203185">
                <a:tc>
                  <a:txBody>
                    <a:bodyPr/>
                    <a:lstStyle/>
                    <a:p>
                      <a:pPr algn="l" fontAlgn="b"/>
                      <a:r>
                        <a:rPr lang="en-US" sz="1050" b="0" i="0" u="none" strike="noStrike">
                          <a:solidFill>
                            <a:srgbClr val="000000"/>
                          </a:solidFill>
                          <a:effectLst/>
                          <a:latin typeface="Poppins" panose="00000500000000000000" pitchFamily="2" charset="0"/>
                        </a:rPr>
                        <a:t>COMMUNICATIONS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203185">
                <a:tc>
                  <a:txBody>
                    <a:bodyPr/>
                    <a:lstStyle/>
                    <a:p>
                      <a:pPr algn="l" fontAlgn="b"/>
                      <a:r>
                        <a:rPr lang="en-US" sz="1050" b="0" i="0" u="none" strike="noStrike">
                          <a:solidFill>
                            <a:srgbClr val="000000"/>
                          </a:solidFill>
                          <a:effectLst/>
                          <a:latin typeface="Poppins" panose="00000500000000000000" pitchFamily="2" charset="0"/>
                        </a:rPr>
                        <a:t>CONSUMER CYCLICAL</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26.6%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76177"/>
                  </a:ext>
                </a:extLst>
              </a:tr>
              <a:tr h="203185">
                <a:tc>
                  <a:txBody>
                    <a:bodyPr/>
                    <a:lstStyle/>
                    <a:p>
                      <a:pPr algn="l" fontAlgn="b"/>
                      <a:r>
                        <a:rPr lang="en-US" sz="1050" b="0" i="0" u="none" strike="noStrike">
                          <a:solidFill>
                            <a:srgbClr val="000000"/>
                          </a:solidFill>
                          <a:effectLst/>
                          <a:latin typeface="Poppins" panose="00000500000000000000" pitchFamily="2" charset="0"/>
                        </a:rPr>
                        <a:t>CONSUMER NON-CYCLICAL</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203185">
                <a:tc>
                  <a:txBody>
                    <a:bodyPr/>
                    <a:lstStyle/>
                    <a:p>
                      <a:pPr algn="l" fontAlgn="b"/>
                      <a:r>
                        <a:rPr lang="en-US" sz="1050" b="0" i="0" u="none" strike="noStrike">
                          <a:solidFill>
                            <a:srgbClr val="000000"/>
                          </a:solidFill>
                          <a:effectLst/>
                          <a:latin typeface="Poppins" panose="00000500000000000000" pitchFamily="2" charset="0"/>
                        </a:rPr>
                        <a:t>ENERGY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8.6%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182180"/>
                  </a:ext>
                </a:extLst>
              </a:tr>
              <a:tr h="203185">
                <a:tc>
                  <a:txBody>
                    <a:bodyPr/>
                    <a:lstStyle/>
                    <a:p>
                      <a:pPr algn="l" fontAlgn="b"/>
                      <a:r>
                        <a:rPr lang="en-US" sz="1050" b="0" i="0" u="none" strike="noStrike">
                          <a:solidFill>
                            <a:srgbClr val="000000"/>
                          </a:solidFill>
                          <a:effectLst/>
                          <a:latin typeface="Poppins" panose="00000500000000000000" pitchFamily="2" charset="0"/>
                        </a:rPr>
                        <a:t>TECHNOLOGY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203185">
                <a:tc>
                  <a:txBody>
                    <a:bodyPr/>
                    <a:lstStyle/>
                    <a:p>
                      <a:pPr algn="l" fontAlgn="b"/>
                      <a:r>
                        <a:rPr lang="en-US" sz="1050" b="0" i="0" u="none" strike="noStrike">
                          <a:solidFill>
                            <a:srgbClr val="000000"/>
                          </a:solidFill>
                          <a:effectLst/>
                          <a:latin typeface="Poppins" panose="00000500000000000000" pitchFamily="2" charset="0"/>
                        </a:rPr>
                        <a:t>TRANSPORTATION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517504"/>
                  </a:ext>
                </a:extLst>
              </a:tr>
              <a:tr h="203185">
                <a:tc>
                  <a:txBody>
                    <a:bodyPr/>
                    <a:lstStyle/>
                    <a:p>
                      <a:pPr algn="l" fontAlgn="b"/>
                      <a:r>
                        <a:rPr lang="en-US" sz="1050" b="0" i="0" u="none" strike="noStrike">
                          <a:solidFill>
                            <a:srgbClr val="000000"/>
                          </a:solidFill>
                          <a:effectLst/>
                          <a:latin typeface="Poppins" panose="00000500000000000000" pitchFamily="2" charset="0"/>
                        </a:rPr>
                        <a:t>OTHER INDUSTRIAL</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1737407"/>
                  </a:ext>
                </a:extLst>
              </a:tr>
              <a:tr h="203185">
                <a:tc>
                  <a:txBody>
                    <a:bodyPr/>
                    <a:lstStyle/>
                    <a:p>
                      <a:pPr algn="l" fontAlgn="b"/>
                      <a:r>
                        <a:rPr lang="en-US" sz="1050" b="0" i="0" u="none" strike="noStrike">
                          <a:solidFill>
                            <a:srgbClr val="000000"/>
                          </a:solidFill>
                          <a:effectLst/>
                          <a:latin typeface="Poppins" panose="00000500000000000000" pitchFamily="2" charset="0"/>
                        </a:rPr>
                        <a:t>FINANCIAL INSTITUTIONS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15.4%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633250"/>
                  </a:ext>
                </a:extLst>
              </a:tr>
              <a:tr h="203185">
                <a:tc>
                  <a:txBody>
                    <a:bodyPr/>
                    <a:lstStyle/>
                    <a:p>
                      <a:pPr algn="l" fontAlgn="b"/>
                      <a:r>
                        <a:rPr lang="en-US" sz="1050" b="0" i="0" u="none" strike="noStrike">
                          <a:solidFill>
                            <a:srgbClr val="000000"/>
                          </a:solidFill>
                          <a:effectLst/>
                          <a:latin typeface="Poppins" panose="00000500000000000000" pitchFamily="2" charset="0"/>
                        </a:rPr>
                        <a:t>UTILITY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3271638"/>
                  </a:ext>
                </a:extLst>
              </a:tr>
              <a:tr h="203185">
                <a:tc>
                  <a:txBody>
                    <a:bodyPr/>
                    <a:lstStyle/>
                    <a:p>
                      <a:pPr algn="l" fontAlgn="b"/>
                      <a:r>
                        <a:rPr lang="en-US" sz="1050" b="0" i="0" u="none" strike="noStrike">
                          <a:solidFill>
                            <a:srgbClr val="000000"/>
                          </a:solidFill>
                          <a:effectLst/>
                          <a:latin typeface="Poppins" panose="00000500000000000000" pitchFamily="2" charset="0"/>
                        </a:rPr>
                        <a:t>OTHER</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1881670"/>
                  </a:ext>
                </a:extLst>
              </a:tr>
            </a:tbl>
          </a:graphicData>
        </a:graphic>
      </p:graphicFrame>
      <p:graphicFrame>
        <p:nvGraphicFramePr>
          <p:cNvPr id="8" name="Table 7">
            <a:extLst>
              <a:ext uri="{FF2B5EF4-FFF2-40B4-BE49-F238E27FC236}">
                <a16:creationId xmlns:a16="http://schemas.microsoft.com/office/drawing/2014/main" id="{02350FF3-02E3-DA75-0200-98AF9D62B54C}"/>
              </a:ext>
            </a:extLst>
          </p:cNvPr>
          <p:cNvGraphicFramePr>
            <a:graphicFrameLocks noGrp="1"/>
          </p:cNvGraphicFramePr>
          <p:nvPr/>
        </p:nvGraphicFramePr>
        <p:xfrm>
          <a:off x="6130381" y="1224919"/>
          <a:ext cx="2647035" cy="867909"/>
        </p:xfrm>
        <a:graphic>
          <a:graphicData uri="http://schemas.openxmlformats.org/drawingml/2006/table">
            <a:tbl>
              <a:tblPr bandRow="1">
                <a:tableStyleId>{93296810-A885-4BE3-A3E7-6D5BEEA58F35}</a:tableStyleId>
              </a:tblPr>
              <a:tblGrid>
                <a:gridCol w="1953940">
                  <a:extLst>
                    <a:ext uri="{9D8B030D-6E8A-4147-A177-3AD203B41FA5}">
                      <a16:colId xmlns:a16="http://schemas.microsoft.com/office/drawing/2014/main" val="213402103"/>
                    </a:ext>
                  </a:extLst>
                </a:gridCol>
                <a:gridCol w="693095">
                  <a:extLst>
                    <a:ext uri="{9D8B030D-6E8A-4147-A177-3AD203B41FA5}">
                      <a16:colId xmlns:a16="http://schemas.microsoft.com/office/drawing/2014/main" val="1099812014"/>
                    </a:ext>
                  </a:extLst>
                </a:gridCol>
              </a:tblGrid>
              <a:tr h="258066">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STATISTICS</a:t>
                      </a:r>
                      <a:endParaRPr lang="en-US" sz="1200" b="0" baseline="3000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2576653931"/>
                  </a:ext>
                </a:extLst>
              </a:tr>
              <a:tr h="201449">
                <a:tc>
                  <a:txBody>
                    <a:bodyPr/>
                    <a:lstStyle/>
                    <a:p>
                      <a:pPr algn="l" fontAlgn="b"/>
                      <a:r>
                        <a:rPr lang="en-US" sz="1050" b="0" i="0" u="none" strike="noStrike" cap="all" baseline="0">
                          <a:solidFill>
                            <a:srgbClr val="000000"/>
                          </a:solidFill>
                          <a:effectLst/>
                          <a:latin typeface="Poppins" panose="00000500000000000000" pitchFamily="2" charset="0"/>
                        </a:rPr>
                        <a:t>YIELD TO WORST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6.32%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177394"/>
                  </a:ext>
                </a:extLst>
              </a:tr>
              <a:tr h="201449">
                <a:tc>
                  <a:txBody>
                    <a:bodyPr/>
                    <a:lstStyle/>
                    <a:p>
                      <a:pPr algn="l" fontAlgn="b"/>
                      <a:r>
                        <a:rPr lang="en-US" sz="1050" b="0" i="0" u="none" strike="noStrike" cap="all" baseline="0">
                          <a:solidFill>
                            <a:srgbClr val="000000"/>
                          </a:solidFill>
                          <a:effectLst/>
                          <a:latin typeface="Poppins" panose="00000500000000000000" pitchFamily="2" charset="0"/>
                        </a:rPr>
                        <a:t>OPTION ADJ. DURATION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4.79 YRS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746005"/>
                  </a:ext>
                </a:extLst>
              </a:tr>
              <a:tr h="201449">
                <a:tc>
                  <a:txBody>
                    <a:bodyPr/>
                    <a:lstStyle/>
                    <a:p>
                      <a:pPr algn="l" fontAlgn="b"/>
                      <a:r>
                        <a:rPr lang="en-US" sz="1050" b="0" i="0" u="none" strike="noStrike" cap="all" baseline="0">
                          <a:solidFill>
                            <a:srgbClr val="000000"/>
                          </a:solidFill>
                          <a:effectLst/>
                          <a:latin typeface="Poppins" panose="00000500000000000000" pitchFamily="2" charset="0"/>
                        </a:rPr>
                        <a:t>AVG. CREDIT QUALITY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BA2/BA3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278321"/>
                  </a:ext>
                </a:extLst>
              </a:tr>
            </a:tbl>
          </a:graphicData>
        </a:graphic>
      </p:graphicFrame>
      <p:graphicFrame>
        <p:nvGraphicFramePr>
          <p:cNvPr id="14" name="Chart 13">
            <a:extLst>
              <a:ext uri="{FF2B5EF4-FFF2-40B4-BE49-F238E27FC236}">
                <a16:creationId xmlns:a16="http://schemas.microsoft.com/office/drawing/2014/main" id="{00000000-0008-0000-0800-000003000000}"/>
              </a:ext>
            </a:extLst>
          </p:cNvPr>
          <p:cNvGraphicFramePr>
            <a:graphicFrameLocks/>
          </p:cNvGraphicFramePr>
          <p:nvPr/>
        </p:nvGraphicFramePr>
        <p:xfrm>
          <a:off x="378532" y="3145283"/>
          <a:ext cx="5552378" cy="2933502"/>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C5F20DC8-0CD4-EDB8-F525-40BB2FF3EC5D}"/>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EXTERNALLY (FOOTNOTE)</a:t>
            </a:r>
          </a:p>
        </p:txBody>
      </p:sp>
    </p:spTree>
    <p:extLst>
      <p:ext uri="{BB962C8B-B14F-4D97-AF65-F5344CB8AC3E}">
        <p14:creationId xmlns:p14="http://schemas.microsoft.com/office/powerpoint/2010/main" val="582883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bwMode="auto">
          <a:xfrm>
            <a:off x="4477461" y="6118412"/>
            <a:ext cx="163004" cy="217213"/>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80682" tIns="40341" rIns="80682" bIns="40341" numCol="1" rtlCol="0" anchor="t" anchorCtr="0" compatLnSpc="1">
            <a:prstTxWarp prst="textNoShape">
              <a:avLst/>
            </a:prstTxWarp>
            <a:spAutoFit/>
          </a:bodyPr>
          <a:lstStyle/>
          <a:p>
            <a:pPr algn="ctr" defTabSz="806867" eaLnBrk="0" fontAlgn="base" hangingPunct="0">
              <a:spcBef>
                <a:spcPct val="50000"/>
              </a:spcBef>
              <a:spcAft>
                <a:spcPct val="0"/>
              </a:spcAft>
            </a:pPr>
            <a:endParaRPr lang="en-US" sz="882" b="1">
              <a:solidFill>
                <a:srgbClr val="000000"/>
              </a:solidFill>
              <a:latin typeface="Arial" charset="0"/>
              <a:cs typeface="Arial" charset="0"/>
            </a:endParaRPr>
          </a:p>
        </p:txBody>
      </p:sp>
      <p:sp>
        <p:nvSpPr>
          <p:cNvPr id="11" name="Slide Number Placeholder 1">
            <a:extLst>
              <a:ext uri="{FF2B5EF4-FFF2-40B4-BE49-F238E27FC236}">
                <a16:creationId xmlns:a16="http://schemas.microsoft.com/office/drawing/2014/main" id="{60BCB548-27E0-4482-BF0C-D49FE9CDC4CE}"/>
              </a:ext>
            </a:extLst>
          </p:cNvPr>
          <p:cNvSpPr>
            <a:spLocks noGrp="1"/>
          </p:cNvSpPr>
          <p:nvPr>
            <p:ph type="sldNum" sz="quarter" idx="4"/>
          </p:nvPr>
        </p:nvSpPr>
        <p:spPr>
          <a:xfrm>
            <a:off x="8507199" y="6557660"/>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21</a:t>
            </a:fld>
            <a:endParaRPr lang="en-US" sz="882">
              <a:solidFill>
                <a:srgbClr val="000000"/>
              </a:solidFill>
            </a:endParaRPr>
          </a:p>
        </p:txBody>
      </p:sp>
      <p:graphicFrame>
        <p:nvGraphicFramePr>
          <p:cNvPr id="16" name="Table 15">
            <a:extLst>
              <a:ext uri="{FF2B5EF4-FFF2-40B4-BE49-F238E27FC236}">
                <a16:creationId xmlns:a16="http://schemas.microsoft.com/office/drawing/2014/main" id="{DFFF63AE-6E9B-4713-B7CF-971F3C8B2365}"/>
              </a:ext>
            </a:extLst>
          </p:cNvPr>
          <p:cNvGraphicFramePr>
            <a:graphicFrameLocks noGrp="1"/>
          </p:cNvGraphicFramePr>
          <p:nvPr/>
        </p:nvGraphicFramePr>
        <p:xfrm>
          <a:off x="6130382" y="1273912"/>
          <a:ext cx="2653559" cy="1792224"/>
        </p:xfrm>
        <a:graphic>
          <a:graphicData uri="http://schemas.openxmlformats.org/drawingml/2006/table">
            <a:tbl>
              <a:tblPr bandRow="1">
                <a:tableStyleId>{93296810-A885-4BE3-A3E7-6D5BEEA58F35}</a:tableStyleId>
              </a:tblPr>
              <a:tblGrid>
                <a:gridCol w="1892036">
                  <a:extLst>
                    <a:ext uri="{9D8B030D-6E8A-4147-A177-3AD203B41FA5}">
                      <a16:colId xmlns:a16="http://schemas.microsoft.com/office/drawing/2014/main" val="20000"/>
                    </a:ext>
                  </a:extLst>
                </a:gridCol>
                <a:gridCol w="761523">
                  <a:extLst>
                    <a:ext uri="{9D8B030D-6E8A-4147-A177-3AD203B41FA5}">
                      <a16:colId xmlns:a16="http://schemas.microsoft.com/office/drawing/2014/main" val="20002"/>
                    </a:ext>
                  </a:extLst>
                </a:gridCol>
              </a:tblGrid>
              <a:tr h="31726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SUMMARY STATISTICS</a:t>
                      </a:r>
                      <a:endParaRPr lang="en-US" sz="1200" b="0" baseline="3000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247661">
                <a:tc>
                  <a:txBody>
                    <a:bodyPr/>
                    <a:lstStyle/>
                    <a:p>
                      <a:pPr algn="l" fontAlgn="b"/>
                      <a:r>
                        <a:rPr lang="en-US" sz="1050" b="0" i="0" u="none" strike="noStrike">
                          <a:solidFill>
                            <a:srgbClr val="000000"/>
                          </a:solidFill>
                          <a:effectLst/>
                          <a:latin typeface="Poppins" panose="00000500000000000000" pitchFamily="2" charset="0"/>
                        </a:rPr>
                        <a:t>PRICE/EARNINGS RATIO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27.48X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247661">
                <a:tc>
                  <a:txBody>
                    <a:bodyPr/>
                    <a:lstStyle/>
                    <a:p>
                      <a:pPr algn="l" fontAlgn="b"/>
                      <a:r>
                        <a:rPr lang="en-US" sz="1050" b="0" i="0" u="none" strike="noStrike">
                          <a:solidFill>
                            <a:srgbClr val="000000"/>
                          </a:solidFill>
                          <a:effectLst/>
                          <a:latin typeface="Poppins" panose="00000500000000000000" pitchFamily="2" charset="0"/>
                        </a:rPr>
                        <a:t>PRICE/BOOK RATIO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5.46X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247661">
                <a:tc>
                  <a:txBody>
                    <a:bodyPr/>
                    <a:lstStyle/>
                    <a:p>
                      <a:pPr algn="l" fontAlgn="b"/>
                      <a:r>
                        <a:rPr lang="en-US" sz="1050" b="0" i="0" u="none" strike="noStrike">
                          <a:solidFill>
                            <a:srgbClr val="000000"/>
                          </a:solidFill>
                          <a:effectLst/>
                          <a:latin typeface="Poppins" panose="00000500000000000000" pitchFamily="2" charset="0"/>
                        </a:rPr>
                        <a:t>RETURN ON EQUITY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18.41%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76177"/>
                  </a:ext>
                </a:extLst>
              </a:tr>
              <a:tr h="247661">
                <a:tc>
                  <a:txBody>
                    <a:bodyPr/>
                    <a:lstStyle/>
                    <a:p>
                      <a:pPr algn="l" fontAlgn="b"/>
                      <a:r>
                        <a:rPr lang="en-US" sz="1050" b="0" i="0" u="none" strike="noStrike">
                          <a:solidFill>
                            <a:srgbClr val="000000"/>
                          </a:solidFill>
                          <a:effectLst/>
                          <a:latin typeface="Poppins" panose="00000500000000000000" pitchFamily="2" charset="0"/>
                        </a:rPr>
                        <a:t>DEBT TO EQUITY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1.20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247661">
                <a:tc>
                  <a:txBody>
                    <a:bodyPr/>
                    <a:lstStyle/>
                    <a:p>
                      <a:pPr algn="l" fontAlgn="b"/>
                      <a:r>
                        <a:rPr lang="en-US" sz="1050" b="0" i="0" u="none" strike="noStrike">
                          <a:solidFill>
                            <a:srgbClr val="000000"/>
                          </a:solidFill>
                          <a:effectLst/>
                          <a:latin typeface="Poppins" panose="00000500000000000000" pitchFamily="2" charset="0"/>
                        </a:rPr>
                        <a:t># OF HOLDINGS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506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236654">
                <a:tc>
                  <a:txBody>
                    <a:bodyPr/>
                    <a:lstStyle/>
                    <a:p>
                      <a:pPr algn="l" fontAlgn="b"/>
                      <a:r>
                        <a:rPr lang="en-US" sz="1050" b="0" i="0" u="none" strike="noStrike">
                          <a:solidFill>
                            <a:srgbClr val="000000"/>
                          </a:solidFill>
                          <a:effectLst/>
                          <a:latin typeface="Poppins" panose="00000500000000000000" pitchFamily="2" charset="0"/>
                        </a:rPr>
                        <a:t>AVG MARKET CAP (BLN)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$125.3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8824615"/>
                  </a:ext>
                </a:extLst>
              </a:tr>
            </a:tbl>
          </a:graphicData>
        </a:graphic>
      </p:graphicFrame>
      <p:graphicFrame>
        <p:nvGraphicFramePr>
          <p:cNvPr id="20" name="Table 19">
            <a:extLst>
              <a:ext uri="{FF2B5EF4-FFF2-40B4-BE49-F238E27FC236}">
                <a16:creationId xmlns:a16="http://schemas.microsoft.com/office/drawing/2014/main" id="{EF1EFCEB-9593-4778-BB47-2AD489805107}"/>
              </a:ext>
            </a:extLst>
          </p:cNvPr>
          <p:cNvGraphicFramePr>
            <a:graphicFrameLocks noGrp="1"/>
          </p:cNvGraphicFramePr>
          <p:nvPr/>
        </p:nvGraphicFramePr>
        <p:xfrm>
          <a:off x="6130382" y="3351261"/>
          <a:ext cx="2653559" cy="3054099"/>
        </p:xfrm>
        <a:graphic>
          <a:graphicData uri="http://schemas.openxmlformats.org/drawingml/2006/table">
            <a:tbl>
              <a:tblPr bandRow="1">
                <a:tableStyleId>{93296810-A885-4BE3-A3E7-6D5BEEA58F35}</a:tableStyleId>
              </a:tblPr>
              <a:tblGrid>
                <a:gridCol w="2025658">
                  <a:extLst>
                    <a:ext uri="{9D8B030D-6E8A-4147-A177-3AD203B41FA5}">
                      <a16:colId xmlns:a16="http://schemas.microsoft.com/office/drawing/2014/main" val="20000"/>
                    </a:ext>
                  </a:extLst>
                </a:gridCol>
                <a:gridCol w="627901">
                  <a:extLst>
                    <a:ext uri="{9D8B030D-6E8A-4147-A177-3AD203B41FA5}">
                      <a16:colId xmlns:a16="http://schemas.microsoft.com/office/drawing/2014/main" val="20002"/>
                    </a:ext>
                  </a:extLst>
                </a:gridCol>
              </a:tblGrid>
              <a:tr h="31857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SECTOR ALLOCATION</a:t>
                      </a:r>
                      <a:endParaRPr lang="en-US" sz="1200" b="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248684">
                <a:tc>
                  <a:txBody>
                    <a:bodyPr/>
                    <a:lstStyle/>
                    <a:p>
                      <a:pPr algn="l" rtl="0" fontAlgn="b"/>
                      <a:r>
                        <a:rPr lang="en-US" sz="1050" b="0" i="0" u="none" strike="noStrike">
                          <a:solidFill>
                            <a:srgbClr val="000000"/>
                          </a:solidFill>
                          <a:effectLst/>
                          <a:latin typeface="Poppins" panose="00000500000000000000" pitchFamily="2" charset="0"/>
                        </a:rPr>
                        <a:t>COMMUNICATION SERVICES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248684">
                <a:tc>
                  <a:txBody>
                    <a:bodyPr/>
                    <a:lstStyle/>
                    <a:p>
                      <a:pPr algn="l" rtl="0" fontAlgn="b"/>
                      <a:r>
                        <a:rPr lang="en-US" sz="1050" b="0" i="0" u="none" strike="noStrike">
                          <a:solidFill>
                            <a:srgbClr val="000000"/>
                          </a:solidFill>
                          <a:effectLst/>
                          <a:latin typeface="Poppins" panose="00000500000000000000" pitchFamily="2" charset="0"/>
                        </a:rPr>
                        <a:t>CONSUMER DISCRETIONARY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248684">
                <a:tc>
                  <a:txBody>
                    <a:bodyPr/>
                    <a:lstStyle/>
                    <a:p>
                      <a:pPr algn="l" rtl="0" fontAlgn="b"/>
                      <a:r>
                        <a:rPr lang="en-US" sz="1050" b="0" i="0" u="none" strike="noStrike">
                          <a:solidFill>
                            <a:srgbClr val="000000"/>
                          </a:solidFill>
                          <a:effectLst/>
                          <a:latin typeface="Poppins" panose="00000500000000000000" pitchFamily="2" charset="0"/>
                        </a:rPr>
                        <a:t>CONSUMER STAPLES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4.9%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248684">
                <a:tc>
                  <a:txBody>
                    <a:bodyPr/>
                    <a:lstStyle/>
                    <a:p>
                      <a:pPr algn="l" rtl="0" fontAlgn="b"/>
                      <a:r>
                        <a:rPr lang="en-US" sz="1050" b="0" i="0" u="none" strike="noStrike">
                          <a:solidFill>
                            <a:srgbClr val="000000"/>
                          </a:solidFill>
                          <a:effectLst/>
                          <a:latin typeface="Poppins" panose="00000500000000000000" pitchFamily="2" charset="0"/>
                        </a:rPr>
                        <a:t>ENERGY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182180"/>
                  </a:ext>
                </a:extLst>
              </a:tr>
              <a:tr h="248684">
                <a:tc>
                  <a:txBody>
                    <a:bodyPr/>
                    <a:lstStyle/>
                    <a:p>
                      <a:pPr algn="l" rtl="0" fontAlgn="b"/>
                      <a:r>
                        <a:rPr lang="en-US" sz="1050" b="0" i="0" u="none" strike="noStrike">
                          <a:solidFill>
                            <a:srgbClr val="000000"/>
                          </a:solidFill>
                          <a:effectLst/>
                          <a:latin typeface="Poppins" panose="00000500000000000000" pitchFamily="2" charset="0"/>
                        </a:rPr>
                        <a:t>FINANCIALS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13.3%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873244"/>
                  </a:ext>
                </a:extLst>
              </a:tr>
              <a:tr h="248684">
                <a:tc>
                  <a:txBody>
                    <a:bodyPr/>
                    <a:lstStyle/>
                    <a:p>
                      <a:pPr algn="l" rtl="0" fontAlgn="b"/>
                      <a:r>
                        <a:rPr lang="en-US" sz="1050" b="0" i="0" u="none" strike="noStrike">
                          <a:solidFill>
                            <a:srgbClr val="000000"/>
                          </a:solidFill>
                          <a:effectLst/>
                          <a:latin typeface="Poppins" panose="00000500000000000000" pitchFamily="2" charset="0"/>
                        </a:rPr>
                        <a:t>HEALTH CARE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8.9%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248684">
                <a:tc>
                  <a:txBody>
                    <a:bodyPr/>
                    <a:lstStyle/>
                    <a:p>
                      <a:pPr algn="l" rtl="0" fontAlgn="b"/>
                      <a:r>
                        <a:rPr lang="en-US" sz="1050" b="0" i="0" u="none" strike="noStrike">
                          <a:solidFill>
                            <a:srgbClr val="000000"/>
                          </a:solidFill>
                          <a:effectLst/>
                          <a:latin typeface="Poppins" panose="00000500000000000000" pitchFamily="2" charset="0"/>
                        </a:rPr>
                        <a:t>INDUSTRIALS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8.3%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517504"/>
                  </a:ext>
                </a:extLst>
              </a:tr>
              <a:tr h="248684">
                <a:tc>
                  <a:txBody>
                    <a:bodyPr/>
                    <a:lstStyle/>
                    <a:p>
                      <a:pPr algn="l" rtl="0" fontAlgn="b"/>
                      <a:r>
                        <a:rPr lang="en-US" sz="1050" b="0" i="0" u="none" strike="noStrike">
                          <a:solidFill>
                            <a:srgbClr val="000000"/>
                          </a:solidFill>
                          <a:effectLst/>
                          <a:latin typeface="Poppins" panose="00000500000000000000" pitchFamily="2" charset="0"/>
                        </a:rPr>
                        <a:t>INFORMATION TECHNOLOGY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34.7%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633250"/>
                  </a:ext>
                </a:extLst>
              </a:tr>
              <a:tr h="248684">
                <a:tc>
                  <a:txBody>
                    <a:bodyPr/>
                    <a:lstStyle/>
                    <a:p>
                      <a:pPr algn="l" rtl="0" fontAlgn="b"/>
                      <a:r>
                        <a:rPr lang="en-US" sz="1050" b="0" i="0" u="none" strike="noStrike">
                          <a:solidFill>
                            <a:srgbClr val="000000"/>
                          </a:solidFill>
                          <a:effectLst/>
                          <a:latin typeface="Poppins" panose="00000500000000000000" pitchFamily="2" charset="0"/>
                        </a:rPr>
                        <a:t>MATERIALS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3271638"/>
                  </a:ext>
                </a:extLst>
              </a:tr>
              <a:tr h="248684">
                <a:tc>
                  <a:txBody>
                    <a:bodyPr/>
                    <a:lstStyle/>
                    <a:p>
                      <a:pPr algn="l" rtl="0" fontAlgn="b"/>
                      <a:r>
                        <a:rPr lang="en-US" sz="1050" b="0" i="0" u="none" strike="noStrike">
                          <a:solidFill>
                            <a:srgbClr val="000000"/>
                          </a:solidFill>
                          <a:effectLst/>
                          <a:latin typeface="Poppins" panose="00000500000000000000" pitchFamily="2" charset="0"/>
                        </a:rPr>
                        <a:t>REAL ESTATE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8643976"/>
                  </a:ext>
                </a:extLst>
              </a:tr>
              <a:tr h="248684">
                <a:tc>
                  <a:txBody>
                    <a:bodyPr/>
                    <a:lstStyle/>
                    <a:p>
                      <a:pPr algn="l" rtl="0" fontAlgn="b"/>
                      <a:r>
                        <a:rPr lang="en-US" sz="1050" b="0" i="0" u="none" strike="noStrike">
                          <a:solidFill>
                            <a:srgbClr val="000000"/>
                          </a:solidFill>
                          <a:effectLst/>
                          <a:latin typeface="Poppins" panose="00000500000000000000" pitchFamily="2" charset="0"/>
                        </a:rPr>
                        <a:t>UTILITIES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2443579"/>
                  </a:ext>
                </a:extLst>
              </a:tr>
            </a:tbl>
          </a:graphicData>
        </a:graphic>
      </p:graphicFrame>
      <p:sp>
        <p:nvSpPr>
          <p:cNvPr id="14" name="Rectangle 13">
            <a:extLst>
              <a:ext uri="{FF2B5EF4-FFF2-40B4-BE49-F238E27FC236}">
                <a16:creationId xmlns:a16="http://schemas.microsoft.com/office/drawing/2014/main" id="{07A9803D-A9B1-4015-8AFE-92C4B89D514B}"/>
              </a:ext>
            </a:extLst>
          </p:cNvPr>
          <p:cNvSpPr/>
          <p:nvPr/>
        </p:nvSpPr>
        <p:spPr>
          <a:xfrm>
            <a:off x="366582" y="2988624"/>
            <a:ext cx="3633725" cy="338554"/>
          </a:xfrm>
          <a:prstGeom prst="rect">
            <a:avLst/>
          </a:prstGeom>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PERFORMANCE</a:t>
            </a:r>
            <a:endParaRPr lang="en-US" sz="1600" cap="all" baseline="30000">
              <a:solidFill>
                <a:srgbClr val="106280"/>
              </a:solidFill>
              <a:latin typeface="Poppins SemiBold" panose="00000700000000000000" pitchFamily="2" charset="0"/>
              <a:cs typeface="Poppins SemiBold" panose="00000700000000000000" pitchFamily="2" charset="0"/>
            </a:endParaRPr>
          </a:p>
        </p:txBody>
      </p:sp>
      <p:sp>
        <p:nvSpPr>
          <p:cNvPr id="17" name="Rectangle 16">
            <a:extLst>
              <a:ext uri="{FF2B5EF4-FFF2-40B4-BE49-F238E27FC236}">
                <a16:creationId xmlns:a16="http://schemas.microsoft.com/office/drawing/2014/main" id="{295B2B7C-4C65-48B8-A827-66BBD62DA31A}"/>
              </a:ext>
            </a:extLst>
          </p:cNvPr>
          <p:cNvSpPr/>
          <p:nvPr/>
        </p:nvSpPr>
        <p:spPr>
          <a:xfrm>
            <a:off x="309453" y="1249381"/>
            <a:ext cx="3547197" cy="338554"/>
          </a:xfrm>
          <a:prstGeom prst="rect">
            <a:avLst/>
          </a:prstGeom>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Fund overview</a:t>
            </a:r>
          </a:p>
        </p:txBody>
      </p:sp>
      <p:sp>
        <p:nvSpPr>
          <p:cNvPr id="22" name="TextBox 21">
            <a:extLst>
              <a:ext uri="{FF2B5EF4-FFF2-40B4-BE49-F238E27FC236}">
                <a16:creationId xmlns:a16="http://schemas.microsoft.com/office/drawing/2014/main" id="{F55BD408-7E89-44D6-B9DB-7FB532FF8919}"/>
              </a:ext>
            </a:extLst>
          </p:cNvPr>
          <p:cNvSpPr txBox="1"/>
          <p:nvPr/>
        </p:nvSpPr>
        <p:spPr>
          <a:xfrm>
            <a:off x="280944" y="6545808"/>
            <a:ext cx="8076365" cy="218137"/>
          </a:xfrm>
          <a:prstGeom prst="rect">
            <a:avLst/>
          </a:prstGeom>
          <a:noFill/>
        </p:spPr>
        <p:txBody>
          <a:bodyPr wrap="square" rtlCol="0">
            <a:spAutoFit/>
          </a:bodyPr>
          <a:lstStyle/>
          <a:p>
            <a:pPr algn="just">
              <a:lnSpc>
                <a:spcPct val="90000"/>
              </a:lnSpc>
            </a:pPr>
            <a:r>
              <a:rPr lang="en-US" sz="850">
                <a:solidFill>
                  <a:srgbClr val="394849"/>
                </a:solidFill>
                <a:latin typeface="Poppins Light" panose="00000400000000000000" pitchFamily="2" charset="0"/>
                <a:cs typeface="Poppins Light" panose="00000400000000000000" pitchFamily="2" charset="0"/>
              </a:rPr>
              <a:t>INDEX: S&amp;P 500.  SOURCE: </a:t>
            </a:r>
            <a:r>
              <a:rPr lang="en-US" sz="850" cap="all">
                <a:solidFill>
                  <a:srgbClr val="394849"/>
                </a:solidFill>
                <a:latin typeface="Poppins Light" panose="00000400000000000000" pitchFamily="2" charset="0"/>
                <a:cs typeface="Poppins Light" panose="00000400000000000000" pitchFamily="2" charset="0"/>
              </a:rPr>
              <a:t>BLOOMBERG</a:t>
            </a:r>
            <a:endParaRPr lang="en-US" sz="850">
              <a:solidFill>
                <a:srgbClr val="394849"/>
              </a:solidFill>
              <a:latin typeface="Poppins Light" panose="00000400000000000000" pitchFamily="2" charset="0"/>
              <a:cs typeface="Poppins Light" panose="00000400000000000000" pitchFamily="2" charset="0"/>
            </a:endParaRPr>
          </a:p>
        </p:txBody>
      </p:sp>
      <p:sp>
        <p:nvSpPr>
          <p:cNvPr id="23" name="Line 309">
            <a:extLst>
              <a:ext uri="{FF2B5EF4-FFF2-40B4-BE49-F238E27FC236}">
                <a16:creationId xmlns:a16="http://schemas.microsoft.com/office/drawing/2014/main" id="{32ECFCAC-71EC-48DA-8E40-429CEEB82F57}"/>
              </a:ext>
            </a:extLst>
          </p:cNvPr>
          <p:cNvSpPr>
            <a:spLocks noChangeShapeType="1"/>
          </p:cNvSpPr>
          <p:nvPr/>
        </p:nvSpPr>
        <p:spPr bwMode="auto">
          <a:xfrm>
            <a:off x="371461" y="6480862"/>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24" name="Rectangle 23">
            <a:extLst>
              <a:ext uri="{FF2B5EF4-FFF2-40B4-BE49-F238E27FC236}">
                <a16:creationId xmlns:a16="http://schemas.microsoft.com/office/drawing/2014/main" id="{0BB9789E-4CEC-4541-89DA-ECFF25C6DDA8}"/>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Bef>
                <a:spcPct val="50000"/>
              </a:spcBef>
              <a:spcAft>
                <a:spcPct val="0"/>
              </a:spcAft>
            </a:pPr>
            <a:r>
              <a:rPr lang="en-US" sz="1600" cap="all">
                <a:solidFill>
                  <a:schemeClr val="bg1"/>
                </a:solidFill>
                <a:latin typeface="Poppins Light"/>
                <a:cs typeface="Poppins Medium" panose="00000600000000000000" pitchFamily="2" charset="0"/>
              </a:rPr>
              <a:t>U.S. LARGE CAP EQUITIES | </a:t>
            </a:r>
            <a:r>
              <a:rPr lang="en-US" sz="1600" cap="all">
                <a:solidFill>
                  <a:schemeClr val="bg1"/>
                </a:solidFill>
                <a:latin typeface="Poppins Medium" panose="00000600000000000000" pitchFamily="2" charset="0"/>
                <a:cs typeface="Poppins Medium" panose="00000600000000000000" pitchFamily="2" charset="0"/>
              </a:rPr>
              <a:t>Vanguard S&amp;P 500 ETF (voo) </a:t>
            </a:r>
            <a:r>
              <a:rPr lang="en-US" sz="1600" cap="all">
                <a:solidFill>
                  <a:schemeClr val="bg1"/>
                </a:solidFill>
                <a:latin typeface="Poppins Light"/>
                <a:cs typeface="Poppins Medium" panose="00000600000000000000" pitchFamily="2" charset="0"/>
              </a:rPr>
              <a:t>| </a:t>
            </a:r>
            <a:r>
              <a:rPr lang="en-US" sz="1600" cap="all" spc="-30">
                <a:solidFill>
                  <a:schemeClr val="bg1"/>
                </a:solidFill>
                <a:latin typeface="Poppins Medium" panose="00000600000000000000" pitchFamily="2" charset="0"/>
                <a:cs typeface="Poppins Medium" panose="00000600000000000000" pitchFamily="2" charset="0"/>
              </a:rPr>
              <a:t>9-30-2025</a:t>
            </a:r>
            <a:endParaRPr lang="en-US" sz="1600" b="0" i="0" u="none" strike="noStrike" cap="all" normalizeH="0">
              <a:ln>
                <a:noFill/>
              </a:ln>
              <a:solidFill>
                <a:schemeClr val="bg1"/>
              </a:solidFill>
              <a:effectLst/>
              <a:latin typeface="Poppins Medium"/>
              <a:cs typeface="Poppins Light" panose="00000400000000000000" pitchFamily="2" charset="0"/>
            </a:endParaRPr>
          </a:p>
        </p:txBody>
      </p:sp>
      <p:sp>
        <p:nvSpPr>
          <p:cNvPr id="7" name="Title 1">
            <a:extLst>
              <a:ext uri="{FF2B5EF4-FFF2-40B4-BE49-F238E27FC236}">
                <a16:creationId xmlns:a16="http://schemas.microsoft.com/office/drawing/2014/main" id="{1E5C6157-FA9C-9CC8-C431-2AF2A96BC669}"/>
              </a:ext>
            </a:extLst>
          </p:cNvPr>
          <p:cNvSpPr txBox="1">
            <a:spLocks/>
          </p:cNvSpPr>
          <p:nvPr/>
        </p:nvSpPr>
        <p:spPr>
          <a:xfrm>
            <a:off x="286233" y="469794"/>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altLang="en-US" sz="1800">
                <a:latin typeface="Poppins SemiBold" panose="00000700000000000000" pitchFamily="2" charset="0"/>
                <a:cs typeface="Poppins SemiBold" panose="00000700000000000000" pitchFamily="2" charset="0"/>
              </a:rPr>
              <a:t>ETF OVERVIEWS</a:t>
            </a:r>
          </a:p>
        </p:txBody>
      </p:sp>
      <p:graphicFrame>
        <p:nvGraphicFramePr>
          <p:cNvPr id="5" name="Chart 4">
            <a:extLst>
              <a:ext uri="{FF2B5EF4-FFF2-40B4-BE49-F238E27FC236}">
                <a16:creationId xmlns:a16="http://schemas.microsoft.com/office/drawing/2014/main" id="{00000000-0008-0000-0D00-000003000000}"/>
              </a:ext>
            </a:extLst>
          </p:cNvPr>
          <p:cNvGraphicFramePr>
            <a:graphicFrameLocks/>
          </p:cNvGraphicFramePr>
          <p:nvPr/>
        </p:nvGraphicFramePr>
        <p:xfrm>
          <a:off x="360059" y="3414943"/>
          <a:ext cx="5236069" cy="3054097"/>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305ADBDC-8E69-0250-E2E9-5EC15F5B7EAE}"/>
              </a:ext>
            </a:extLst>
          </p:cNvPr>
          <p:cNvSpPr txBox="1"/>
          <p:nvPr/>
        </p:nvSpPr>
        <p:spPr>
          <a:xfrm>
            <a:off x="366581" y="1576433"/>
            <a:ext cx="5620143" cy="1261884"/>
          </a:xfrm>
          <a:prstGeom prst="rect">
            <a:avLst/>
          </a:prstGeom>
          <a:noFill/>
        </p:spPr>
        <p:txBody>
          <a:bodyPr wrap="square" rtlCol="0">
            <a:spAutoFit/>
          </a:bodyPr>
          <a:lstStyle/>
          <a:p>
            <a:pPr marL="285750" indent="-285750" algn="just">
              <a:spcAft>
                <a:spcPts val="6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THE </a:t>
            </a:r>
            <a:r>
              <a:rPr lang="nl-NL" sz="1100" cap="all">
                <a:latin typeface="Poppins" panose="00000500000000000000" pitchFamily="2" charset="0"/>
                <a:cs typeface="Poppins" panose="00000500000000000000" pitchFamily="2" charset="0"/>
              </a:rPr>
              <a:t>Vanguard S&amp;P 500 ETF IS A PASSIVELY MANAGED U.S. LARGE CAP EQUITY ETF THAT SEEKS TO T</a:t>
            </a:r>
            <a:r>
              <a:rPr lang="en-US" sz="1100" cap="all">
                <a:latin typeface="Poppins" panose="00000500000000000000" pitchFamily="2" charset="0"/>
                <a:cs typeface="Poppins" panose="00000500000000000000" pitchFamily="2" charset="0"/>
              </a:rPr>
              <a:t>rack the performance of the S&amp;P 500 Index.</a:t>
            </a:r>
          </a:p>
          <a:p>
            <a:pPr marL="285750" indent="-285750" algn="just">
              <a:spcAft>
                <a:spcPts val="6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The S&amp;P 500 Index is a widely recognized benchmark of U.S. stock market performance that is dominated by the stocks of large U.S. companies.</a:t>
            </a:r>
          </a:p>
          <a:p>
            <a:pPr marL="285750" indent="-285750" algn="just">
              <a:spcAft>
                <a:spcPts val="600"/>
              </a:spcAft>
              <a:buFont typeface="Arial" panose="020B0604020202020204" pitchFamily="34" charset="0"/>
              <a:buChar char="•"/>
            </a:pPr>
            <a:r>
              <a:rPr lang="nl-NL" sz="1100" cap="all">
                <a:latin typeface="Poppins" panose="00000500000000000000" pitchFamily="2" charset="0"/>
                <a:cs typeface="Poppins" panose="00000500000000000000" pitchFamily="2" charset="0"/>
              </a:rPr>
              <a:t>LAUNCHED IN SEPTEMBER 2010.</a:t>
            </a:r>
            <a:endParaRPr lang="en-US" sz="1100" cap="a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69F6A7B6-3173-F39F-E5D6-B8ADDB3D291B}"/>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EXTERNALLY (FOOTNOTE)</a:t>
            </a:r>
          </a:p>
        </p:txBody>
      </p:sp>
    </p:spTree>
    <p:extLst>
      <p:ext uri="{BB962C8B-B14F-4D97-AF65-F5344CB8AC3E}">
        <p14:creationId xmlns:p14="http://schemas.microsoft.com/office/powerpoint/2010/main" val="1507436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bwMode="auto">
          <a:xfrm>
            <a:off x="4477461" y="6118412"/>
            <a:ext cx="163004" cy="217213"/>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80682" tIns="40341" rIns="80682" bIns="40341" numCol="1" rtlCol="0" anchor="t" anchorCtr="0" compatLnSpc="1">
            <a:prstTxWarp prst="textNoShape">
              <a:avLst/>
            </a:prstTxWarp>
            <a:spAutoFit/>
          </a:bodyPr>
          <a:lstStyle/>
          <a:p>
            <a:pPr algn="ctr" defTabSz="806867" eaLnBrk="0" fontAlgn="base" hangingPunct="0">
              <a:spcBef>
                <a:spcPct val="50000"/>
              </a:spcBef>
              <a:spcAft>
                <a:spcPct val="0"/>
              </a:spcAft>
            </a:pPr>
            <a:endParaRPr lang="en-US" sz="882" b="1">
              <a:solidFill>
                <a:srgbClr val="000000"/>
              </a:solidFill>
              <a:latin typeface="Arial" charset="0"/>
              <a:cs typeface="Arial" charset="0"/>
            </a:endParaRPr>
          </a:p>
        </p:txBody>
      </p:sp>
      <p:sp>
        <p:nvSpPr>
          <p:cNvPr id="11" name="Slide Number Placeholder 1">
            <a:extLst>
              <a:ext uri="{FF2B5EF4-FFF2-40B4-BE49-F238E27FC236}">
                <a16:creationId xmlns:a16="http://schemas.microsoft.com/office/drawing/2014/main" id="{60BCB548-27E0-4482-BF0C-D49FE9CDC4CE}"/>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22</a:t>
            </a:fld>
            <a:endParaRPr lang="en-US" sz="882">
              <a:solidFill>
                <a:srgbClr val="000000"/>
              </a:solidFill>
            </a:endParaRPr>
          </a:p>
        </p:txBody>
      </p:sp>
      <p:sp>
        <p:nvSpPr>
          <p:cNvPr id="4" name="TextBox 3">
            <a:extLst>
              <a:ext uri="{FF2B5EF4-FFF2-40B4-BE49-F238E27FC236}">
                <a16:creationId xmlns:a16="http://schemas.microsoft.com/office/drawing/2014/main" id="{5BFCC979-C9F7-4264-AD38-8A06125EEB9C}"/>
              </a:ext>
            </a:extLst>
          </p:cNvPr>
          <p:cNvSpPr txBox="1"/>
          <p:nvPr/>
        </p:nvSpPr>
        <p:spPr>
          <a:xfrm>
            <a:off x="366581" y="1437749"/>
            <a:ext cx="5620143" cy="1246495"/>
          </a:xfrm>
          <a:prstGeom prst="rect">
            <a:avLst/>
          </a:prstGeom>
          <a:noFill/>
        </p:spPr>
        <p:txBody>
          <a:bodyPr wrap="square" rtlCol="0">
            <a:spAutoFit/>
          </a:bodyPr>
          <a:lstStyle/>
          <a:p>
            <a:pPr marL="285750" indent="-285750" algn="just">
              <a:spcAft>
                <a:spcPts val="12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THE </a:t>
            </a:r>
            <a:r>
              <a:rPr lang="nl-NL" sz="1100" cap="all">
                <a:latin typeface="Poppins" panose="00000500000000000000" pitchFamily="2" charset="0"/>
                <a:cs typeface="Poppins" panose="00000500000000000000" pitchFamily="2" charset="0"/>
              </a:rPr>
              <a:t>Vanguard Mid-Cap ETF IS A PASSIVELY MANAGED U.S. mid CAP EQUITY ETF THAT SEEKS TO T</a:t>
            </a:r>
            <a:r>
              <a:rPr lang="en-US" sz="1100" cap="all">
                <a:latin typeface="Poppins" panose="00000500000000000000" pitchFamily="2" charset="0"/>
                <a:cs typeface="Poppins" panose="00000500000000000000" pitchFamily="2" charset="0"/>
              </a:rPr>
              <a:t>rack the performance of CRSP US Mid Cap Index</a:t>
            </a:r>
          </a:p>
          <a:p>
            <a:pPr marL="285750" indent="-285750" algn="just">
              <a:spcAft>
                <a:spcPts val="12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The CRSP US Mid Cap Index represents the universe of mid-capitalization companies in the U.S. equity market</a:t>
            </a:r>
          </a:p>
          <a:p>
            <a:pPr marL="285750" indent="-285750" algn="just">
              <a:spcAft>
                <a:spcPts val="1200"/>
              </a:spcAft>
              <a:buFont typeface="Arial" panose="020B0604020202020204" pitchFamily="34" charset="0"/>
              <a:buChar char="•"/>
            </a:pPr>
            <a:r>
              <a:rPr lang="nl-NL" sz="1100" cap="all">
                <a:latin typeface="Poppins" panose="00000500000000000000" pitchFamily="2" charset="0"/>
                <a:cs typeface="Poppins" panose="00000500000000000000" pitchFamily="2" charset="0"/>
              </a:rPr>
              <a:t>LAUNCHED IN january 2004</a:t>
            </a:r>
            <a:endParaRPr lang="en-US" sz="1100" cap="all">
              <a:latin typeface="Poppins" panose="00000500000000000000" pitchFamily="2" charset="0"/>
              <a:cs typeface="Poppins" panose="00000500000000000000" pitchFamily="2" charset="0"/>
            </a:endParaRPr>
          </a:p>
        </p:txBody>
      </p:sp>
      <p:sp>
        <p:nvSpPr>
          <p:cNvPr id="19" name="Rectangle 18">
            <a:extLst>
              <a:ext uri="{FF2B5EF4-FFF2-40B4-BE49-F238E27FC236}">
                <a16:creationId xmlns:a16="http://schemas.microsoft.com/office/drawing/2014/main" id="{3A81923E-D727-46B2-80DD-BD451C569BE4}"/>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Bef>
                <a:spcPct val="50000"/>
              </a:spcBef>
              <a:spcAft>
                <a:spcPct val="0"/>
              </a:spcAft>
            </a:pPr>
            <a:r>
              <a:rPr lang="en-US" sz="1600" cap="all">
                <a:solidFill>
                  <a:schemeClr val="bg1"/>
                </a:solidFill>
                <a:latin typeface="Poppins Light"/>
                <a:cs typeface="Poppins Medium" panose="00000600000000000000" pitchFamily="2" charset="0"/>
              </a:rPr>
              <a:t>U.S. mid CAP EQUITIES | </a:t>
            </a:r>
            <a:r>
              <a:rPr lang="en-US" sz="1600" cap="all">
                <a:solidFill>
                  <a:schemeClr val="bg1"/>
                </a:solidFill>
                <a:latin typeface="Poppins Medium" panose="00000600000000000000" pitchFamily="2" charset="0"/>
                <a:cs typeface="Poppins Medium" panose="00000600000000000000" pitchFamily="2" charset="0"/>
              </a:rPr>
              <a:t>Vanguard Mid-Cap ETF </a:t>
            </a:r>
            <a:r>
              <a:rPr lang="en-US" sz="1600" cap="all">
                <a:solidFill>
                  <a:schemeClr val="bg1"/>
                </a:solidFill>
                <a:latin typeface="Poppins Light"/>
                <a:cs typeface="Poppins Medium" panose="00000600000000000000" pitchFamily="2" charset="0"/>
              </a:rPr>
              <a:t>(</a:t>
            </a:r>
            <a:r>
              <a:rPr lang="en-US" sz="1600" cap="all">
                <a:solidFill>
                  <a:schemeClr val="bg1"/>
                </a:solidFill>
                <a:latin typeface="Poppins Medium" panose="00000600000000000000" pitchFamily="2" charset="0"/>
                <a:cs typeface="Poppins Medium" panose="00000600000000000000" pitchFamily="2" charset="0"/>
              </a:rPr>
              <a:t>vo) </a:t>
            </a:r>
            <a:r>
              <a:rPr lang="en-US" sz="1600" cap="all">
                <a:solidFill>
                  <a:schemeClr val="bg1"/>
                </a:solidFill>
                <a:latin typeface="Poppins Light"/>
                <a:cs typeface="Poppins Medium" panose="00000600000000000000" pitchFamily="2" charset="0"/>
              </a:rPr>
              <a:t>| </a:t>
            </a:r>
            <a:r>
              <a:rPr lang="en-US" sz="1600" cap="all" spc="-30">
                <a:solidFill>
                  <a:schemeClr val="bg1"/>
                </a:solidFill>
                <a:latin typeface="Poppins Medium" panose="00000600000000000000" pitchFamily="2" charset="0"/>
                <a:cs typeface="Poppins Medium" panose="00000600000000000000" pitchFamily="2" charset="0"/>
              </a:rPr>
              <a:t>9-30-2025</a:t>
            </a:r>
            <a:endParaRPr lang="en-US" sz="1600" b="0" i="0" u="none" strike="noStrike" cap="all" normalizeH="0">
              <a:ln>
                <a:noFill/>
              </a:ln>
              <a:solidFill>
                <a:schemeClr val="bg1"/>
              </a:solidFill>
              <a:effectLst/>
              <a:latin typeface="Poppins Medium"/>
              <a:cs typeface="Poppins Light" panose="00000400000000000000" pitchFamily="2" charset="0"/>
            </a:endParaRPr>
          </a:p>
        </p:txBody>
      </p:sp>
      <p:graphicFrame>
        <p:nvGraphicFramePr>
          <p:cNvPr id="16" name="Table 15">
            <a:extLst>
              <a:ext uri="{FF2B5EF4-FFF2-40B4-BE49-F238E27FC236}">
                <a16:creationId xmlns:a16="http://schemas.microsoft.com/office/drawing/2014/main" id="{DFFF63AE-6E9B-4713-B7CF-971F3C8B2365}"/>
              </a:ext>
            </a:extLst>
          </p:cNvPr>
          <p:cNvGraphicFramePr>
            <a:graphicFrameLocks noGrp="1"/>
          </p:cNvGraphicFramePr>
          <p:nvPr/>
        </p:nvGraphicFramePr>
        <p:xfrm>
          <a:off x="6130382" y="1264485"/>
          <a:ext cx="2653559" cy="1792224"/>
        </p:xfrm>
        <a:graphic>
          <a:graphicData uri="http://schemas.openxmlformats.org/drawingml/2006/table">
            <a:tbl>
              <a:tblPr bandRow="1">
                <a:tableStyleId>{93296810-A885-4BE3-A3E7-6D5BEEA58F35}</a:tableStyleId>
              </a:tblPr>
              <a:tblGrid>
                <a:gridCol w="1892036">
                  <a:extLst>
                    <a:ext uri="{9D8B030D-6E8A-4147-A177-3AD203B41FA5}">
                      <a16:colId xmlns:a16="http://schemas.microsoft.com/office/drawing/2014/main" val="20000"/>
                    </a:ext>
                  </a:extLst>
                </a:gridCol>
                <a:gridCol w="761523">
                  <a:extLst>
                    <a:ext uri="{9D8B030D-6E8A-4147-A177-3AD203B41FA5}">
                      <a16:colId xmlns:a16="http://schemas.microsoft.com/office/drawing/2014/main" val="20002"/>
                    </a:ext>
                  </a:extLst>
                </a:gridCol>
              </a:tblGrid>
              <a:tr h="31726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SUMMARY STATISTICS</a:t>
                      </a:r>
                      <a:endParaRPr lang="en-US" sz="1200" b="0" baseline="3000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247661">
                <a:tc>
                  <a:txBody>
                    <a:bodyPr/>
                    <a:lstStyle/>
                    <a:p>
                      <a:pPr algn="l" fontAlgn="b"/>
                      <a:r>
                        <a:rPr lang="en-US" sz="1050" b="0" i="0" u="none" strike="noStrike">
                          <a:solidFill>
                            <a:srgbClr val="000000"/>
                          </a:solidFill>
                          <a:effectLst/>
                          <a:latin typeface="Poppins" panose="00000500000000000000" pitchFamily="2" charset="0"/>
                        </a:rPr>
                        <a:t>PRICE/EARNINGS RATIO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21.94X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247661">
                <a:tc>
                  <a:txBody>
                    <a:bodyPr/>
                    <a:lstStyle/>
                    <a:p>
                      <a:pPr algn="l" fontAlgn="b"/>
                      <a:r>
                        <a:rPr lang="en-US" sz="1050" b="0" i="0" u="none" strike="noStrike">
                          <a:solidFill>
                            <a:srgbClr val="000000"/>
                          </a:solidFill>
                          <a:effectLst/>
                          <a:latin typeface="Poppins" panose="00000500000000000000" pitchFamily="2" charset="0"/>
                        </a:rPr>
                        <a:t>PRICE/BOOK RATIO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3.49X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247661">
                <a:tc>
                  <a:txBody>
                    <a:bodyPr/>
                    <a:lstStyle/>
                    <a:p>
                      <a:pPr algn="l" fontAlgn="b"/>
                      <a:r>
                        <a:rPr lang="en-US" sz="1050" b="0" i="0" u="none" strike="noStrike">
                          <a:solidFill>
                            <a:srgbClr val="000000"/>
                          </a:solidFill>
                          <a:effectLst/>
                          <a:latin typeface="Poppins" panose="00000500000000000000" pitchFamily="2" charset="0"/>
                        </a:rPr>
                        <a:t>RETURN ON EQUITY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12.55%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76177"/>
                  </a:ext>
                </a:extLst>
              </a:tr>
              <a:tr h="247661">
                <a:tc>
                  <a:txBody>
                    <a:bodyPr/>
                    <a:lstStyle/>
                    <a:p>
                      <a:pPr algn="l" fontAlgn="b"/>
                      <a:r>
                        <a:rPr lang="en-US" sz="1050" b="0" i="0" u="none" strike="noStrike">
                          <a:solidFill>
                            <a:srgbClr val="000000"/>
                          </a:solidFill>
                          <a:effectLst/>
                          <a:latin typeface="Poppins" panose="00000500000000000000" pitchFamily="2" charset="0"/>
                        </a:rPr>
                        <a:t>DEBT TO EQUITY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247661">
                <a:tc>
                  <a:txBody>
                    <a:bodyPr/>
                    <a:lstStyle/>
                    <a:p>
                      <a:pPr algn="l" fontAlgn="b"/>
                      <a:r>
                        <a:rPr lang="en-US" sz="1050" b="0" i="0" u="none" strike="noStrike">
                          <a:solidFill>
                            <a:srgbClr val="000000"/>
                          </a:solidFill>
                          <a:effectLst/>
                          <a:latin typeface="Poppins" panose="00000500000000000000" pitchFamily="2" charset="0"/>
                        </a:rPr>
                        <a:t># OF HOLDINGS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300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236654">
                <a:tc>
                  <a:txBody>
                    <a:bodyPr/>
                    <a:lstStyle/>
                    <a:p>
                      <a:pPr algn="l" fontAlgn="b"/>
                      <a:r>
                        <a:rPr lang="en-US" sz="1050" b="0" i="0" u="none" strike="noStrike">
                          <a:solidFill>
                            <a:srgbClr val="000000"/>
                          </a:solidFill>
                          <a:effectLst/>
                          <a:latin typeface="Poppins" panose="00000500000000000000" pitchFamily="2" charset="0"/>
                        </a:rPr>
                        <a:t>AVG MARKET CAP (BLN)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$35.9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8824615"/>
                  </a:ext>
                </a:extLst>
              </a:tr>
            </a:tbl>
          </a:graphicData>
        </a:graphic>
      </p:graphicFrame>
      <p:graphicFrame>
        <p:nvGraphicFramePr>
          <p:cNvPr id="20" name="Table 19">
            <a:extLst>
              <a:ext uri="{FF2B5EF4-FFF2-40B4-BE49-F238E27FC236}">
                <a16:creationId xmlns:a16="http://schemas.microsoft.com/office/drawing/2014/main" id="{EF1EFCEB-9593-4778-BB47-2AD489805107}"/>
              </a:ext>
            </a:extLst>
          </p:cNvPr>
          <p:cNvGraphicFramePr>
            <a:graphicFrameLocks noGrp="1"/>
          </p:cNvGraphicFramePr>
          <p:nvPr/>
        </p:nvGraphicFramePr>
        <p:xfrm>
          <a:off x="6130382" y="3341834"/>
          <a:ext cx="2653559" cy="3054099"/>
        </p:xfrm>
        <a:graphic>
          <a:graphicData uri="http://schemas.openxmlformats.org/drawingml/2006/table">
            <a:tbl>
              <a:tblPr bandRow="1">
                <a:tableStyleId>{93296810-A885-4BE3-A3E7-6D5BEEA58F35}</a:tableStyleId>
              </a:tblPr>
              <a:tblGrid>
                <a:gridCol w="2025658">
                  <a:extLst>
                    <a:ext uri="{9D8B030D-6E8A-4147-A177-3AD203B41FA5}">
                      <a16:colId xmlns:a16="http://schemas.microsoft.com/office/drawing/2014/main" val="20000"/>
                    </a:ext>
                  </a:extLst>
                </a:gridCol>
                <a:gridCol w="627901">
                  <a:extLst>
                    <a:ext uri="{9D8B030D-6E8A-4147-A177-3AD203B41FA5}">
                      <a16:colId xmlns:a16="http://schemas.microsoft.com/office/drawing/2014/main" val="20002"/>
                    </a:ext>
                  </a:extLst>
                </a:gridCol>
              </a:tblGrid>
              <a:tr h="31857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SECTOR ALLOCATION</a:t>
                      </a:r>
                      <a:endParaRPr lang="en-US" sz="1200" b="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248684">
                <a:tc>
                  <a:txBody>
                    <a:bodyPr/>
                    <a:lstStyle/>
                    <a:p>
                      <a:pPr algn="l" fontAlgn="b"/>
                      <a:r>
                        <a:rPr lang="en-US" sz="1050" b="0" i="0" u="none" strike="noStrike">
                          <a:solidFill>
                            <a:srgbClr val="000000"/>
                          </a:solidFill>
                          <a:effectLst/>
                          <a:latin typeface="Poppins" panose="00000500000000000000" pitchFamily="2" charset="0"/>
                        </a:rPr>
                        <a:t>COMMUNICATION SERVICES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3.7%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248684">
                <a:tc>
                  <a:txBody>
                    <a:bodyPr/>
                    <a:lstStyle/>
                    <a:p>
                      <a:pPr algn="l" fontAlgn="b"/>
                      <a:r>
                        <a:rPr lang="en-US" sz="1050" b="0" i="0" u="none" strike="noStrike">
                          <a:solidFill>
                            <a:srgbClr val="000000"/>
                          </a:solidFill>
                          <a:effectLst/>
                          <a:latin typeface="Poppins" panose="00000500000000000000" pitchFamily="2" charset="0"/>
                        </a:rPr>
                        <a:t>CONSUMER DISCRETIONARY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248684">
                <a:tc>
                  <a:txBody>
                    <a:bodyPr/>
                    <a:lstStyle/>
                    <a:p>
                      <a:pPr algn="l" fontAlgn="b"/>
                      <a:r>
                        <a:rPr lang="en-US" sz="1050" b="0" i="0" u="none" strike="noStrike">
                          <a:solidFill>
                            <a:srgbClr val="000000"/>
                          </a:solidFill>
                          <a:effectLst/>
                          <a:latin typeface="Poppins" panose="00000500000000000000" pitchFamily="2" charset="0"/>
                        </a:rPr>
                        <a:t>CONSUMER STAPLES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5.5%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248684">
                <a:tc>
                  <a:txBody>
                    <a:bodyPr/>
                    <a:lstStyle/>
                    <a:p>
                      <a:pPr algn="l" fontAlgn="b"/>
                      <a:r>
                        <a:rPr lang="en-US" sz="1050" b="0" i="0" u="none" strike="noStrike">
                          <a:solidFill>
                            <a:srgbClr val="000000"/>
                          </a:solidFill>
                          <a:effectLst/>
                          <a:latin typeface="Poppins" panose="00000500000000000000" pitchFamily="2" charset="0"/>
                        </a:rPr>
                        <a:t>ENERGY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6.2%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182180"/>
                  </a:ext>
                </a:extLst>
              </a:tr>
              <a:tr h="248684">
                <a:tc>
                  <a:txBody>
                    <a:bodyPr/>
                    <a:lstStyle/>
                    <a:p>
                      <a:pPr algn="l" fontAlgn="b"/>
                      <a:r>
                        <a:rPr lang="en-US" sz="1050" b="0" i="0" u="none" strike="noStrike">
                          <a:solidFill>
                            <a:srgbClr val="000000"/>
                          </a:solidFill>
                          <a:effectLst/>
                          <a:latin typeface="Poppins" panose="00000500000000000000" pitchFamily="2" charset="0"/>
                        </a:rPr>
                        <a:t>FINANCIALS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14.7%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873244"/>
                  </a:ext>
                </a:extLst>
              </a:tr>
              <a:tr h="248684">
                <a:tc>
                  <a:txBody>
                    <a:bodyPr/>
                    <a:lstStyle/>
                    <a:p>
                      <a:pPr algn="l" fontAlgn="b"/>
                      <a:r>
                        <a:rPr lang="en-US" sz="1050" b="0" i="0" u="none" strike="noStrike">
                          <a:solidFill>
                            <a:srgbClr val="000000"/>
                          </a:solidFill>
                          <a:effectLst/>
                          <a:latin typeface="Poppins" panose="00000500000000000000" pitchFamily="2" charset="0"/>
                        </a:rPr>
                        <a:t>HEALTH CARE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8.4%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248684">
                <a:tc>
                  <a:txBody>
                    <a:bodyPr/>
                    <a:lstStyle/>
                    <a:p>
                      <a:pPr algn="l" fontAlgn="b"/>
                      <a:r>
                        <a:rPr lang="en-US" sz="1050" b="0" i="0" u="none" strike="noStrike">
                          <a:solidFill>
                            <a:srgbClr val="000000"/>
                          </a:solidFill>
                          <a:effectLst/>
                          <a:latin typeface="Poppins" panose="00000500000000000000" pitchFamily="2" charset="0"/>
                        </a:rPr>
                        <a:t>INDUSTRIALS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17.4%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517504"/>
                  </a:ext>
                </a:extLst>
              </a:tr>
              <a:tr h="248684">
                <a:tc>
                  <a:txBody>
                    <a:bodyPr/>
                    <a:lstStyle/>
                    <a:p>
                      <a:pPr algn="l" fontAlgn="b"/>
                      <a:r>
                        <a:rPr lang="en-US" sz="1050" b="0" i="0" u="none" strike="noStrike">
                          <a:solidFill>
                            <a:srgbClr val="000000"/>
                          </a:solidFill>
                          <a:effectLst/>
                          <a:latin typeface="Poppins" panose="00000500000000000000" pitchFamily="2" charset="0"/>
                        </a:rPr>
                        <a:t>INFORMATION TECHNOLOGY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13.2%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633250"/>
                  </a:ext>
                </a:extLst>
              </a:tr>
              <a:tr h="248684">
                <a:tc>
                  <a:txBody>
                    <a:bodyPr/>
                    <a:lstStyle/>
                    <a:p>
                      <a:pPr algn="l" fontAlgn="b"/>
                      <a:r>
                        <a:rPr lang="en-US" sz="1050" b="0" i="0" u="none" strike="noStrike">
                          <a:solidFill>
                            <a:srgbClr val="000000"/>
                          </a:solidFill>
                          <a:effectLst/>
                          <a:latin typeface="Poppins" panose="00000500000000000000" pitchFamily="2" charset="0"/>
                        </a:rPr>
                        <a:t>MATERIALS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5.6%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3271638"/>
                  </a:ext>
                </a:extLst>
              </a:tr>
              <a:tr h="248684">
                <a:tc>
                  <a:txBody>
                    <a:bodyPr/>
                    <a:lstStyle/>
                    <a:p>
                      <a:pPr algn="l" fontAlgn="b"/>
                      <a:r>
                        <a:rPr lang="en-US" sz="1050" b="0" i="0" u="none" strike="noStrike">
                          <a:solidFill>
                            <a:srgbClr val="000000"/>
                          </a:solidFill>
                          <a:effectLst/>
                          <a:latin typeface="Poppins" panose="00000500000000000000" pitchFamily="2" charset="0"/>
                        </a:rPr>
                        <a:t>REAL ESTATE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6.1%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8643976"/>
                  </a:ext>
                </a:extLst>
              </a:tr>
              <a:tr h="248684">
                <a:tc>
                  <a:txBody>
                    <a:bodyPr/>
                    <a:lstStyle/>
                    <a:p>
                      <a:pPr algn="l" fontAlgn="b"/>
                      <a:r>
                        <a:rPr lang="en-US" sz="1050" b="0" i="0" u="none" strike="noStrike">
                          <a:solidFill>
                            <a:srgbClr val="000000"/>
                          </a:solidFill>
                          <a:effectLst/>
                          <a:latin typeface="Poppins" panose="00000500000000000000" pitchFamily="2" charset="0"/>
                        </a:rPr>
                        <a:t>UTILITIES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8.5%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2443579"/>
                  </a:ext>
                </a:extLst>
              </a:tr>
            </a:tbl>
          </a:graphicData>
        </a:graphic>
      </p:graphicFrame>
      <p:sp>
        <p:nvSpPr>
          <p:cNvPr id="14" name="Rectangle 13">
            <a:extLst>
              <a:ext uri="{FF2B5EF4-FFF2-40B4-BE49-F238E27FC236}">
                <a16:creationId xmlns:a16="http://schemas.microsoft.com/office/drawing/2014/main" id="{07A9803D-A9B1-4015-8AFE-92C4B89D514B}"/>
              </a:ext>
            </a:extLst>
          </p:cNvPr>
          <p:cNvSpPr/>
          <p:nvPr/>
        </p:nvSpPr>
        <p:spPr>
          <a:xfrm>
            <a:off x="366582" y="2880472"/>
            <a:ext cx="3633725" cy="338554"/>
          </a:xfrm>
          <a:prstGeom prst="rect">
            <a:avLst/>
          </a:prstGeom>
          <a:noFill/>
          <a:ln>
            <a:noFill/>
          </a:ln>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PERFORMANCE</a:t>
            </a:r>
            <a:endParaRPr lang="en-US" sz="1600" cap="all" baseline="30000">
              <a:solidFill>
                <a:srgbClr val="106280"/>
              </a:solidFill>
              <a:latin typeface="Poppins SemiBold" panose="00000700000000000000" pitchFamily="2" charset="0"/>
              <a:cs typeface="Poppins SemiBold" panose="00000700000000000000" pitchFamily="2" charset="0"/>
            </a:endParaRPr>
          </a:p>
        </p:txBody>
      </p:sp>
      <p:sp>
        <p:nvSpPr>
          <p:cNvPr id="17" name="Rectangle 16">
            <a:extLst>
              <a:ext uri="{FF2B5EF4-FFF2-40B4-BE49-F238E27FC236}">
                <a16:creationId xmlns:a16="http://schemas.microsoft.com/office/drawing/2014/main" id="{295B2B7C-4C65-48B8-A827-66BBD62DA31A}"/>
              </a:ext>
            </a:extLst>
          </p:cNvPr>
          <p:cNvSpPr/>
          <p:nvPr/>
        </p:nvSpPr>
        <p:spPr>
          <a:xfrm>
            <a:off x="309453" y="1176229"/>
            <a:ext cx="3547197" cy="338554"/>
          </a:xfrm>
          <a:prstGeom prst="rect">
            <a:avLst/>
          </a:prstGeom>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Fund overview</a:t>
            </a:r>
          </a:p>
        </p:txBody>
      </p:sp>
      <p:sp>
        <p:nvSpPr>
          <p:cNvPr id="22" name="TextBox 21">
            <a:extLst>
              <a:ext uri="{FF2B5EF4-FFF2-40B4-BE49-F238E27FC236}">
                <a16:creationId xmlns:a16="http://schemas.microsoft.com/office/drawing/2014/main" id="{F55BD408-7E89-44D6-B9DB-7FB532FF8919}"/>
              </a:ext>
            </a:extLst>
          </p:cNvPr>
          <p:cNvSpPr txBox="1"/>
          <p:nvPr/>
        </p:nvSpPr>
        <p:spPr>
          <a:xfrm>
            <a:off x="280944" y="6530568"/>
            <a:ext cx="8076365" cy="328873"/>
          </a:xfrm>
          <a:prstGeom prst="rect">
            <a:avLst/>
          </a:prstGeom>
          <a:noFill/>
        </p:spPr>
        <p:txBody>
          <a:bodyPr wrap="square" rtlCol="0">
            <a:spAutoFit/>
          </a:bodyPr>
          <a:lstStyle/>
          <a:p>
            <a:pPr algn="just">
              <a:lnSpc>
                <a:spcPct val="90000"/>
              </a:lnSpc>
            </a:pPr>
            <a:r>
              <a:rPr lang="en-US" sz="850" baseline="30000">
                <a:solidFill>
                  <a:srgbClr val="394849"/>
                </a:solidFill>
                <a:latin typeface="Poppins Light" panose="00000400000000000000" pitchFamily="2" charset="0"/>
                <a:cs typeface="Poppins Light" panose="00000400000000000000" pitchFamily="2" charset="0"/>
              </a:rPr>
              <a:t>1</a:t>
            </a:r>
            <a:r>
              <a:rPr lang="en-US" sz="850">
                <a:solidFill>
                  <a:srgbClr val="394849"/>
                </a:solidFill>
                <a:latin typeface="Poppins Light" panose="00000400000000000000" pitchFamily="2" charset="0"/>
                <a:cs typeface="Poppins Light" panose="00000400000000000000" pitchFamily="2" charset="0"/>
              </a:rPr>
              <a:t> </a:t>
            </a:r>
            <a:r>
              <a:rPr lang="en-US" sz="850" cap="all">
                <a:solidFill>
                  <a:srgbClr val="394849"/>
                </a:solidFill>
                <a:latin typeface="Poppins Light" panose="00000400000000000000" pitchFamily="2" charset="0"/>
                <a:cs typeface="Poppins Light" panose="00000400000000000000" pitchFamily="2" charset="0"/>
              </a:rPr>
              <a:t>S&amp;P MidCap 400 Index through May 16, 2003; MSCI US Mid Cap 450 Index through January 30, 2013; CRSP US Mid Cap Index thereafter.  </a:t>
            </a:r>
          </a:p>
          <a:p>
            <a:pPr algn="just">
              <a:lnSpc>
                <a:spcPct val="90000"/>
              </a:lnSpc>
            </a:pPr>
            <a:r>
              <a:rPr lang="en-US" sz="850">
                <a:solidFill>
                  <a:srgbClr val="394849"/>
                </a:solidFill>
                <a:latin typeface="Poppins Light" panose="00000400000000000000" pitchFamily="2" charset="0"/>
                <a:cs typeface="Poppins Light" panose="00000400000000000000" pitchFamily="2" charset="0"/>
              </a:rPr>
              <a:t>SOURCE: BLOOMBERG</a:t>
            </a:r>
          </a:p>
        </p:txBody>
      </p:sp>
      <p:sp>
        <p:nvSpPr>
          <p:cNvPr id="23" name="Line 309">
            <a:extLst>
              <a:ext uri="{FF2B5EF4-FFF2-40B4-BE49-F238E27FC236}">
                <a16:creationId xmlns:a16="http://schemas.microsoft.com/office/drawing/2014/main" id="{32ECFCAC-71EC-48DA-8E40-429CEEB82F57}"/>
              </a:ext>
            </a:extLst>
          </p:cNvPr>
          <p:cNvSpPr>
            <a:spLocks noChangeShapeType="1"/>
          </p:cNvSpPr>
          <p:nvPr/>
        </p:nvSpPr>
        <p:spPr bwMode="auto">
          <a:xfrm>
            <a:off x="371461" y="6480862"/>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8" name="Title 1">
            <a:extLst>
              <a:ext uri="{FF2B5EF4-FFF2-40B4-BE49-F238E27FC236}">
                <a16:creationId xmlns:a16="http://schemas.microsoft.com/office/drawing/2014/main" id="{3088C467-7286-E882-4041-F880090C1C39}"/>
              </a:ext>
            </a:extLst>
          </p:cNvPr>
          <p:cNvSpPr txBox="1">
            <a:spLocks/>
          </p:cNvSpPr>
          <p:nvPr/>
        </p:nvSpPr>
        <p:spPr>
          <a:xfrm>
            <a:off x="286233" y="469794"/>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altLang="en-US" sz="1800">
                <a:latin typeface="Poppins SemiBold" panose="00000700000000000000" pitchFamily="2" charset="0"/>
                <a:cs typeface="Poppins SemiBold" panose="00000700000000000000" pitchFamily="2" charset="0"/>
              </a:rPr>
              <a:t>ETF OVERVIEWS</a:t>
            </a:r>
          </a:p>
        </p:txBody>
      </p:sp>
      <p:graphicFrame>
        <p:nvGraphicFramePr>
          <p:cNvPr id="3" name="Chart 2">
            <a:extLst>
              <a:ext uri="{FF2B5EF4-FFF2-40B4-BE49-F238E27FC236}">
                <a16:creationId xmlns:a16="http://schemas.microsoft.com/office/drawing/2014/main" id="{00000000-0008-0000-1600-000003000000}"/>
              </a:ext>
            </a:extLst>
          </p:cNvPr>
          <p:cNvGraphicFramePr>
            <a:graphicFrameLocks/>
          </p:cNvGraphicFramePr>
          <p:nvPr/>
        </p:nvGraphicFramePr>
        <p:xfrm>
          <a:off x="434561" y="3415254"/>
          <a:ext cx="5552163" cy="2892527"/>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BD13137B-86FE-CCD0-9B6F-8594426DF1D1}"/>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EXTERNALLY (FOOTNOTE)</a:t>
            </a:r>
          </a:p>
        </p:txBody>
      </p:sp>
    </p:spTree>
    <p:extLst>
      <p:ext uri="{BB962C8B-B14F-4D97-AF65-F5344CB8AC3E}">
        <p14:creationId xmlns:p14="http://schemas.microsoft.com/office/powerpoint/2010/main" val="540870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bwMode="auto">
          <a:xfrm>
            <a:off x="4477461" y="6118412"/>
            <a:ext cx="163004" cy="217213"/>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none" lIns="80682" tIns="40341" rIns="80682" bIns="40341" numCol="1" rtlCol="0" anchor="t" anchorCtr="0" compatLnSpc="1">
            <a:prstTxWarp prst="textNoShape">
              <a:avLst/>
            </a:prstTxWarp>
            <a:spAutoFit/>
          </a:bodyPr>
          <a:lstStyle/>
          <a:p>
            <a:pPr algn="ctr" defTabSz="806867" eaLnBrk="0" fontAlgn="base" hangingPunct="0">
              <a:spcBef>
                <a:spcPct val="50000"/>
              </a:spcBef>
              <a:spcAft>
                <a:spcPct val="0"/>
              </a:spcAft>
            </a:pPr>
            <a:endParaRPr lang="en-US" sz="882" b="1">
              <a:solidFill>
                <a:srgbClr val="000000"/>
              </a:solidFill>
              <a:latin typeface="Arial" charset="0"/>
              <a:cs typeface="Arial" charset="0"/>
            </a:endParaRPr>
          </a:p>
        </p:txBody>
      </p:sp>
      <p:sp>
        <p:nvSpPr>
          <p:cNvPr id="11" name="Slide Number Placeholder 1">
            <a:extLst>
              <a:ext uri="{FF2B5EF4-FFF2-40B4-BE49-F238E27FC236}">
                <a16:creationId xmlns:a16="http://schemas.microsoft.com/office/drawing/2014/main" id="{60BCB548-27E0-4482-BF0C-D49FE9CDC4CE}"/>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23</a:t>
            </a:fld>
            <a:endParaRPr lang="en-US" sz="882">
              <a:solidFill>
                <a:srgbClr val="000000"/>
              </a:solidFill>
            </a:endParaRPr>
          </a:p>
        </p:txBody>
      </p:sp>
      <p:sp>
        <p:nvSpPr>
          <p:cNvPr id="13" name="Line 309">
            <a:extLst>
              <a:ext uri="{FF2B5EF4-FFF2-40B4-BE49-F238E27FC236}">
                <a16:creationId xmlns:a16="http://schemas.microsoft.com/office/drawing/2014/main" id="{4AED4858-3DA5-4E5B-844F-7AFFD08A165C}"/>
              </a:ext>
            </a:extLst>
          </p:cNvPr>
          <p:cNvSpPr>
            <a:spLocks noChangeShapeType="1"/>
          </p:cNvSpPr>
          <p:nvPr/>
        </p:nvSpPr>
        <p:spPr bwMode="auto">
          <a:xfrm>
            <a:off x="371461" y="6436472"/>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4" name="TextBox 3">
            <a:extLst>
              <a:ext uri="{FF2B5EF4-FFF2-40B4-BE49-F238E27FC236}">
                <a16:creationId xmlns:a16="http://schemas.microsoft.com/office/drawing/2014/main" id="{5BFCC979-C9F7-4264-AD38-8A06125EEB9C}"/>
              </a:ext>
            </a:extLst>
          </p:cNvPr>
          <p:cNvSpPr txBox="1"/>
          <p:nvPr/>
        </p:nvSpPr>
        <p:spPr>
          <a:xfrm>
            <a:off x="366583" y="1498030"/>
            <a:ext cx="5514100" cy="754053"/>
          </a:xfrm>
          <a:prstGeom prst="rect">
            <a:avLst/>
          </a:prstGeom>
          <a:noFill/>
        </p:spPr>
        <p:txBody>
          <a:bodyPr wrap="square" rtlCol="0">
            <a:spAutoFit/>
          </a:bodyPr>
          <a:lstStyle/>
          <a:p>
            <a:pPr marL="285750" indent="-285750" algn="just">
              <a:spcAft>
                <a:spcPts val="12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The iShares Core S&amp;P Small-Cap etf seeks to track the investment results of an index composed of small-capitalization u.s. equities. </a:t>
            </a:r>
          </a:p>
          <a:p>
            <a:pPr marL="285750" indent="-285750" algn="just">
              <a:spcAft>
                <a:spcPts val="1200"/>
              </a:spcAft>
              <a:buFont typeface="Arial" panose="020B0604020202020204" pitchFamily="34" charset="0"/>
              <a:buChar char="•"/>
            </a:pPr>
            <a:r>
              <a:rPr lang="en-US" sz="1100" cap="all">
                <a:latin typeface="Poppins" panose="00000500000000000000" pitchFamily="2" charset="0"/>
                <a:cs typeface="Poppins" panose="00000500000000000000" pitchFamily="2" charset="0"/>
              </a:rPr>
              <a:t>Launched in July 2000</a:t>
            </a:r>
          </a:p>
        </p:txBody>
      </p:sp>
      <p:sp>
        <p:nvSpPr>
          <p:cNvPr id="20" name="TextBox 19">
            <a:extLst>
              <a:ext uri="{FF2B5EF4-FFF2-40B4-BE49-F238E27FC236}">
                <a16:creationId xmlns:a16="http://schemas.microsoft.com/office/drawing/2014/main" id="{2D4C0FA1-C6CB-4F9B-B941-4D4DCFFE568B}"/>
              </a:ext>
            </a:extLst>
          </p:cNvPr>
          <p:cNvSpPr txBox="1"/>
          <p:nvPr/>
        </p:nvSpPr>
        <p:spPr>
          <a:xfrm>
            <a:off x="328093" y="6515727"/>
            <a:ext cx="8076365" cy="211148"/>
          </a:xfrm>
          <a:prstGeom prst="rect">
            <a:avLst/>
          </a:prstGeom>
          <a:noFill/>
        </p:spPr>
        <p:txBody>
          <a:bodyPr wrap="square" rtlCol="0">
            <a:spAutoFit/>
          </a:bodyPr>
          <a:lstStyle/>
          <a:p>
            <a:pPr algn="just">
              <a:lnSpc>
                <a:spcPct val="90000"/>
              </a:lnSpc>
            </a:pPr>
            <a:r>
              <a:rPr lang="en-US" sz="850">
                <a:solidFill>
                  <a:srgbClr val="394849"/>
                </a:solidFill>
                <a:latin typeface="Poppins Light" panose="00000400000000000000" pitchFamily="2" charset="0"/>
                <a:cs typeface="Poppins Light" panose="00000400000000000000" pitchFamily="2" charset="0"/>
              </a:rPr>
              <a:t>INDEX: S&amp;P 600 SMALLCAP. SOURCE: BLOOMBERG</a:t>
            </a:r>
          </a:p>
        </p:txBody>
      </p:sp>
      <p:sp>
        <p:nvSpPr>
          <p:cNvPr id="16" name="Rectangle 15">
            <a:extLst>
              <a:ext uri="{FF2B5EF4-FFF2-40B4-BE49-F238E27FC236}">
                <a16:creationId xmlns:a16="http://schemas.microsoft.com/office/drawing/2014/main" id="{8ED1A691-C165-4F50-90D5-B35C7A028837}"/>
              </a:ext>
            </a:extLst>
          </p:cNvPr>
          <p:cNvSpPr/>
          <p:nvPr/>
        </p:nvSpPr>
        <p:spPr bwMode="auto">
          <a:xfrm>
            <a:off x="366583" y="825084"/>
            <a:ext cx="8412480" cy="338554"/>
          </a:xfrm>
          <a:prstGeom prst="rect">
            <a:avLst/>
          </a:prstGeom>
          <a:solidFill>
            <a:srgbClr val="106280"/>
          </a:solidFill>
        </p:spPr>
        <p:txBody>
          <a:bodyPr wrap="square" tIns="274320" rIns="0" bIns="45720" rtlCol="0" anchor="b">
            <a:noAutofit/>
          </a:bodyPr>
          <a:lstStyle/>
          <a:p>
            <a:r>
              <a:rPr lang="en-US" sz="1600" cap="all">
                <a:solidFill>
                  <a:schemeClr val="bg1"/>
                </a:solidFill>
                <a:latin typeface="Poppins Light" panose="00000400000000000000" pitchFamily="2" charset="0"/>
                <a:cs typeface="Poppins Light" panose="00000400000000000000" pitchFamily="2" charset="0"/>
              </a:rPr>
              <a:t>U.S. SMALL CAP EQUITIES |</a:t>
            </a:r>
            <a:r>
              <a:rPr lang="en-US" sz="1600" cap="all">
                <a:solidFill>
                  <a:schemeClr val="bg1"/>
                </a:solidFill>
                <a:latin typeface="Poppins" panose="00000500000000000000" pitchFamily="50" charset="0"/>
                <a:cs typeface="Poppins" panose="00000500000000000000" pitchFamily="50" charset="0"/>
              </a:rPr>
              <a:t> </a:t>
            </a:r>
            <a:r>
              <a:rPr lang="en-US" sz="1600" cap="all">
                <a:solidFill>
                  <a:schemeClr val="bg1"/>
                </a:solidFill>
                <a:latin typeface="Poppins Medium" panose="00000600000000000000" pitchFamily="2" charset="0"/>
                <a:cs typeface="Poppins Medium" panose="00000600000000000000" pitchFamily="2" charset="0"/>
              </a:rPr>
              <a:t>iShares Core S&amp;P Small-Cap ETF (IJR)</a:t>
            </a:r>
            <a:r>
              <a:rPr lang="en-US" sz="1600" cap="all">
                <a:solidFill>
                  <a:schemeClr val="bg1"/>
                </a:solidFill>
                <a:latin typeface="Poppins Light" panose="00000400000000000000" pitchFamily="2" charset="0"/>
                <a:cs typeface="Poppins Light" panose="00000400000000000000" pitchFamily="2" charset="0"/>
              </a:rPr>
              <a:t> |</a:t>
            </a:r>
            <a:r>
              <a:rPr lang="en-US" sz="1600" cap="all">
                <a:solidFill>
                  <a:schemeClr val="bg1"/>
                </a:solidFill>
                <a:latin typeface="Poppins" panose="00000500000000000000" pitchFamily="50" charset="0"/>
                <a:cs typeface="Poppins" panose="00000500000000000000" pitchFamily="50" charset="0"/>
              </a:rPr>
              <a:t> </a:t>
            </a:r>
            <a:r>
              <a:rPr lang="en-US" sz="1600" cap="all" spc="-30">
                <a:solidFill>
                  <a:schemeClr val="bg1"/>
                </a:solidFill>
                <a:latin typeface="Poppins Medium" panose="00000600000000000000" pitchFamily="2" charset="0"/>
                <a:cs typeface="Poppins Medium" panose="00000600000000000000" pitchFamily="2" charset="0"/>
              </a:rPr>
              <a:t>9-30-2025</a:t>
            </a:r>
            <a:endParaRPr lang="en-US" sz="1600" cap="all">
              <a:solidFill>
                <a:schemeClr val="bg1"/>
              </a:solidFill>
              <a:latin typeface="Poppins Medium" panose="00000600000000000000" pitchFamily="2" charset="0"/>
              <a:cs typeface="Poppins Medium" panose="00000600000000000000" pitchFamily="2" charset="0"/>
            </a:endParaRPr>
          </a:p>
        </p:txBody>
      </p:sp>
      <p:sp>
        <p:nvSpPr>
          <p:cNvPr id="26" name="Rectangle 25">
            <a:extLst>
              <a:ext uri="{FF2B5EF4-FFF2-40B4-BE49-F238E27FC236}">
                <a16:creationId xmlns:a16="http://schemas.microsoft.com/office/drawing/2014/main" id="{E0ED786A-ABC5-4F80-B900-5528A7F0A7AF}"/>
              </a:ext>
            </a:extLst>
          </p:cNvPr>
          <p:cNvSpPr/>
          <p:nvPr/>
        </p:nvSpPr>
        <p:spPr>
          <a:xfrm>
            <a:off x="366583" y="2705769"/>
            <a:ext cx="3633725" cy="338554"/>
          </a:xfrm>
          <a:prstGeom prst="rect">
            <a:avLst/>
          </a:prstGeom>
          <a:noFill/>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PERFORMANCE</a:t>
            </a:r>
            <a:endParaRPr lang="en-US" sz="1600" cap="all" baseline="30000">
              <a:solidFill>
                <a:srgbClr val="106280"/>
              </a:solidFill>
              <a:latin typeface="Poppins SemiBold" panose="00000700000000000000" pitchFamily="2" charset="0"/>
              <a:cs typeface="Poppins SemiBold" panose="00000700000000000000" pitchFamily="2" charset="0"/>
            </a:endParaRPr>
          </a:p>
        </p:txBody>
      </p:sp>
      <p:sp>
        <p:nvSpPr>
          <p:cNvPr id="27" name="Rectangle 26">
            <a:extLst>
              <a:ext uri="{FF2B5EF4-FFF2-40B4-BE49-F238E27FC236}">
                <a16:creationId xmlns:a16="http://schemas.microsoft.com/office/drawing/2014/main" id="{E2BD0FB8-9E27-4A7C-9346-1411CCCB6EE6}"/>
              </a:ext>
            </a:extLst>
          </p:cNvPr>
          <p:cNvSpPr/>
          <p:nvPr/>
        </p:nvSpPr>
        <p:spPr>
          <a:xfrm>
            <a:off x="309453" y="1203937"/>
            <a:ext cx="3547197" cy="338554"/>
          </a:xfrm>
          <a:prstGeom prst="rect">
            <a:avLst/>
          </a:prstGeom>
        </p:spPr>
        <p:txBody>
          <a:bodyPr wrap="square">
            <a:spAutoFit/>
          </a:bodyPr>
          <a:lstStyle/>
          <a:p>
            <a:pPr lvl="0" fontAlgn="base">
              <a:spcAft>
                <a:spcPct val="0"/>
              </a:spcAft>
            </a:pPr>
            <a:r>
              <a:rPr lang="en-US" sz="1600" cap="all">
                <a:solidFill>
                  <a:srgbClr val="106280"/>
                </a:solidFill>
                <a:latin typeface="Poppins SemiBold" panose="00000700000000000000" pitchFamily="2" charset="0"/>
                <a:cs typeface="Poppins SemiBold" panose="00000700000000000000" pitchFamily="2" charset="0"/>
              </a:rPr>
              <a:t>Fund overview</a:t>
            </a:r>
          </a:p>
        </p:txBody>
      </p:sp>
      <p:graphicFrame>
        <p:nvGraphicFramePr>
          <p:cNvPr id="21" name="Table 20">
            <a:extLst>
              <a:ext uri="{FF2B5EF4-FFF2-40B4-BE49-F238E27FC236}">
                <a16:creationId xmlns:a16="http://schemas.microsoft.com/office/drawing/2014/main" id="{322C1CEE-7E1E-4B63-9B24-0C183842233A}"/>
              </a:ext>
            </a:extLst>
          </p:cNvPr>
          <p:cNvGraphicFramePr>
            <a:graphicFrameLocks noGrp="1"/>
          </p:cNvGraphicFramePr>
          <p:nvPr/>
        </p:nvGraphicFramePr>
        <p:xfrm>
          <a:off x="6130382" y="1264485"/>
          <a:ext cx="2653559" cy="1792224"/>
        </p:xfrm>
        <a:graphic>
          <a:graphicData uri="http://schemas.openxmlformats.org/drawingml/2006/table">
            <a:tbl>
              <a:tblPr bandRow="1">
                <a:tableStyleId>{93296810-A885-4BE3-A3E7-6D5BEEA58F35}</a:tableStyleId>
              </a:tblPr>
              <a:tblGrid>
                <a:gridCol w="1892036">
                  <a:extLst>
                    <a:ext uri="{9D8B030D-6E8A-4147-A177-3AD203B41FA5}">
                      <a16:colId xmlns:a16="http://schemas.microsoft.com/office/drawing/2014/main" val="20000"/>
                    </a:ext>
                  </a:extLst>
                </a:gridCol>
                <a:gridCol w="761523">
                  <a:extLst>
                    <a:ext uri="{9D8B030D-6E8A-4147-A177-3AD203B41FA5}">
                      <a16:colId xmlns:a16="http://schemas.microsoft.com/office/drawing/2014/main" val="20002"/>
                    </a:ext>
                  </a:extLst>
                </a:gridCol>
              </a:tblGrid>
              <a:tr h="31726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SUMMARY STATISTICS</a:t>
                      </a:r>
                      <a:endParaRPr lang="en-US" sz="1200" b="0" baseline="3000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247661">
                <a:tc>
                  <a:txBody>
                    <a:bodyPr/>
                    <a:lstStyle/>
                    <a:p>
                      <a:pPr algn="l" fontAlgn="b"/>
                      <a:r>
                        <a:rPr lang="en-US" sz="1050" b="0" i="0" u="none" strike="noStrike">
                          <a:solidFill>
                            <a:srgbClr val="000000"/>
                          </a:solidFill>
                          <a:effectLst/>
                          <a:latin typeface="Poppins" panose="00000500000000000000" pitchFamily="2" charset="0"/>
                        </a:rPr>
                        <a:t>PRICE/EARNINGS RATIO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16.72X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247661">
                <a:tc>
                  <a:txBody>
                    <a:bodyPr/>
                    <a:lstStyle/>
                    <a:p>
                      <a:pPr algn="l" fontAlgn="b"/>
                      <a:r>
                        <a:rPr lang="en-US" sz="1050" b="0" i="0" u="none" strike="noStrike">
                          <a:solidFill>
                            <a:srgbClr val="000000"/>
                          </a:solidFill>
                          <a:effectLst/>
                          <a:latin typeface="Poppins" panose="00000500000000000000" pitchFamily="2" charset="0"/>
                        </a:rPr>
                        <a:t>PRICE/BOOK RATIO</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1.91X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247661">
                <a:tc>
                  <a:txBody>
                    <a:bodyPr/>
                    <a:lstStyle/>
                    <a:p>
                      <a:pPr algn="l" fontAlgn="b"/>
                      <a:r>
                        <a:rPr lang="en-US" sz="1050" b="0" i="0" u="none" strike="noStrike">
                          <a:solidFill>
                            <a:srgbClr val="000000"/>
                          </a:solidFill>
                          <a:effectLst/>
                          <a:latin typeface="Poppins" panose="00000500000000000000" pitchFamily="2" charset="0"/>
                        </a:rPr>
                        <a:t>RETURN ON EQUITY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4.36%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76177"/>
                  </a:ext>
                </a:extLst>
              </a:tr>
              <a:tr h="247661">
                <a:tc>
                  <a:txBody>
                    <a:bodyPr/>
                    <a:lstStyle/>
                    <a:p>
                      <a:pPr algn="l" fontAlgn="b"/>
                      <a:r>
                        <a:rPr lang="en-US" sz="1050" b="0" i="0" u="none" strike="noStrike">
                          <a:solidFill>
                            <a:srgbClr val="000000"/>
                          </a:solidFill>
                          <a:effectLst/>
                          <a:latin typeface="Poppins" panose="00000500000000000000" pitchFamily="2" charset="0"/>
                        </a:rPr>
                        <a:t>DEBT TO EQUITY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1.18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247661">
                <a:tc>
                  <a:txBody>
                    <a:bodyPr/>
                    <a:lstStyle/>
                    <a:p>
                      <a:pPr algn="l" fontAlgn="b"/>
                      <a:r>
                        <a:rPr lang="en-US" sz="1050" b="0" i="0" u="none" strike="noStrike">
                          <a:solidFill>
                            <a:srgbClr val="000000"/>
                          </a:solidFill>
                          <a:effectLst/>
                          <a:latin typeface="Poppins" panose="00000500000000000000" pitchFamily="2" charset="0"/>
                        </a:rPr>
                        <a:t># OF HOLDINGS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605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236654">
                <a:tc>
                  <a:txBody>
                    <a:bodyPr/>
                    <a:lstStyle/>
                    <a:p>
                      <a:pPr algn="l" fontAlgn="b"/>
                      <a:r>
                        <a:rPr lang="en-US" sz="1050" b="0" i="0" u="none" strike="noStrike">
                          <a:solidFill>
                            <a:srgbClr val="000000"/>
                          </a:solidFill>
                          <a:effectLst/>
                          <a:latin typeface="Poppins" panose="00000500000000000000" pitchFamily="2" charset="0"/>
                        </a:rPr>
                        <a:t>AVG MARKET CAP (BLN)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$2.7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0505777"/>
                  </a:ext>
                </a:extLst>
              </a:tr>
            </a:tbl>
          </a:graphicData>
        </a:graphic>
      </p:graphicFrame>
      <p:graphicFrame>
        <p:nvGraphicFramePr>
          <p:cNvPr id="22" name="Table 21">
            <a:extLst>
              <a:ext uri="{FF2B5EF4-FFF2-40B4-BE49-F238E27FC236}">
                <a16:creationId xmlns:a16="http://schemas.microsoft.com/office/drawing/2014/main" id="{CEE426F6-BB7B-4AF4-9927-9BD9021DA941}"/>
              </a:ext>
            </a:extLst>
          </p:cNvPr>
          <p:cNvGraphicFramePr>
            <a:graphicFrameLocks noGrp="1"/>
          </p:cNvGraphicFramePr>
          <p:nvPr/>
        </p:nvGraphicFramePr>
        <p:xfrm>
          <a:off x="6130382" y="3128478"/>
          <a:ext cx="2653559" cy="3302783"/>
        </p:xfrm>
        <a:graphic>
          <a:graphicData uri="http://schemas.openxmlformats.org/drawingml/2006/table">
            <a:tbl>
              <a:tblPr bandRow="1">
                <a:tableStyleId>{93296810-A885-4BE3-A3E7-6D5BEEA58F35}</a:tableStyleId>
              </a:tblPr>
              <a:tblGrid>
                <a:gridCol w="2025658">
                  <a:extLst>
                    <a:ext uri="{9D8B030D-6E8A-4147-A177-3AD203B41FA5}">
                      <a16:colId xmlns:a16="http://schemas.microsoft.com/office/drawing/2014/main" val="20000"/>
                    </a:ext>
                  </a:extLst>
                </a:gridCol>
                <a:gridCol w="627901">
                  <a:extLst>
                    <a:ext uri="{9D8B030D-6E8A-4147-A177-3AD203B41FA5}">
                      <a16:colId xmlns:a16="http://schemas.microsoft.com/office/drawing/2014/main" val="20002"/>
                    </a:ext>
                  </a:extLst>
                </a:gridCol>
              </a:tblGrid>
              <a:tr h="31857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baseline="0">
                          <a:solidFill>
                            <a:schemeClr val="bg1"/>
                          </a:solidFill>
                          <a:latin typeface="Poppins" panose="00000500000000000000" pitchFamily="2" charset="0"/>
                          <a:cs typeface="Poppins" panose="00000500000000000000" pitchFamily="2" charset="0"/>
                        </a:rPr>
                        <a:t>SECTOR ALLOCATION</a:t>
                      </a:r>
                      <a:endParaRPr lang="en-US" sz="1200" b="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06280"/>
                    </a:solidFill>
                  </a:tcPr>
                </a:tc>
                <a:tc hMerge="1">
                  <a:txBody>
                    <a:bodyPr/>
                    <a:lstStyle/>
                    <a:p>
                      <a:endParaRPr lang="en-US"/>
                    </a:p>
                  </a:txBody>
                  <a:tcPr>
                    <a:lnL w="12700" cmpd="sng">
                      <a:noFill/>
                    </a:lnL>
                  </a:tcPr>
                </a:tc>
                <a:extLst>
                  <a:ext uri="{0D108BD9-81ED-4DB2-BD59-A6C34878D82A}">
                    <a16:rowId xmlns:a16="http://schemas.microsoft.com/office/drawing/2014/main" val="10000"/>
                  </a:ext>
                </a:extLst>
              </a:tr>
              <a:tr h="248684">
                <a:tc>
                  <a:txBody>
                    <a:bodyPr/>
                    <a:lstStyle/>
                    <a:p>
                      <a:pPr algn="l" fontAlgn="b"/>
                      <a:r>
                        <a:rPr lang="en-US" sz="1050" b="0" i="0" u="none" strike="noStrike">
                          <a:solidFill>
                            <a:srgbClr val="000000"/>
                          </a:solidFill>
                          <a:effectLst/>
                          <a:latin typeface="Poppins" panose="00000500000000000000" pitchFamily="2" charset="0"/>
                        </a:rPr>
                        <a:t>COMMUNICATION SERVICES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190826"/>
                  </a:ext>
                </a:extLst>
              </a:tr>
              <a:tr h="248684">
                <a:tc>
                  <a:txBody>
                    <a:bodyPr/>
                    <a:lstStyle/>
                    <a:p>
                      <a:pPr algn="l" fontAlgn="b"/>
                      <a:r>
                        <a:rPr lang="en-US" sz="1050" b="0" i="0" u="none" strike="noStrike">
                          <a:solidFill>
                            <a:srgbClr val="000000"/>
                          </a:solidFill>
                          <a:effectLst/>
                          <a:latin typeface="Poppins" panose="00000500000000000000" pitchFamily="2" charset="0"/>
                        </a:rPr>
                        <a:t>CONSUMER DISCRETIONARY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13.5%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2237"/>
                  </a:ext>
                </a:extLst>
              </a:tr>
              <a:tr h="248684">
                <a:tc>
                  <a:txBody>
                    <a:bodyPr/>
                    <a:lstStyle/>
                    <a:p>
                      <a:pPr algn="l" fontAlgn="b"/>
                      <a:r>
                        <a:rPr lang="en-US" sz="1050" b="0" i="0" u="none" strike="noStrike">
                          <a:solidFill>
                            <a:srgbClr val="000000"/>
                          </a:solidFill>
                          <a:effectLst/>
                          <a:latin typeface="Poppins" panose="00000500000000000000" pitchFamily="2" charset="0"/>
                        </a:rPr>
                        <a:t>CONSUMER STAPLES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637381"/>
                  </a:ext>
                </a:extLst>
              </a:tr>
              <a:tr h="248684">
                <a:tc>
                  <a:txBody>
                    <a:bodyPr/>
                    <a:lstStyle/>
                    <a:p>
                      <a:pPr algn="l" fontAlgn="b"/>
                      <a:r>
                        <a:rPr lang="en-US" sz="1050" b="0" i="0" u="none" strike="noStrike">
                          <a:solidFill>
                            <a:srgbClr val="000000"/>
                          </a:solidFill>
                          <a:effectLst/>
                          <a:latin typeface="Poppins" panose="00000500000000000000" pitchFamily="2" charset="0"/>
                        </a:rPr>
                        <a:t>ENERGY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4.4%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976177"/>
                  </a:ext>
                </a:extLst>
              </a:tr>
              <a:tr h="248684">
                <a:tc>
                  <a:txBody>
                    <a:bodyPr/>
                    <a:lstStyle/>
                    <a:p>
                      <a:pPr algn="l" fontAlgn="b"/>
                      <a:r>
                        <a:rPr lang="en-US" sz="1050" b="0" i="0" u="none" strike="noStrike">
                          <a:solidFill>
                            <a:srgbClr val="000000"/>
                          </a:solidFill>
                          <a:effectLst/>
                          <a:latin typeface="Poppins" panose="00000500000000000000" pitchFamily="2" charset="0"/>
                        </a:rPr>
                        <a:t>FINANCIALS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19.1%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6357917"/>
                  </a:ext>
                </a:extLst>
              </a:tr>
              <a:tr h="248684">
                <a:tc>
                  <a:txBody>
                    <a:bodyPr/>
                    <a:lstStyle/>
                    <a:p>
                      <a:pPr algn="l" fontAlgn="b"/>
                      <a:r>
                        <a:rPr lang="en-US" sz="1050" b="0" i="0" u="none" strike="noStrike">
                          <a:solidFill>
                            <a:srgbClr val="000000"/>
                          </a:solidFill>
                          <a:effectLst/>
                          <a:latin typeface="Poppins" panose="00000500000000000000" pitchFamily="2" charset="0"/>
                        </a:rPr>
                        <a:t>HEALTH CARE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10.6%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182180"/>
                  </a:ext>
                </a:extLst>
              </a:tr>
              <a:tr h="248684">
                <a:tc>
                  <a:txBody>
                    <a:bodyPr/>
                    <a:lstStyle/>
                    <a:p>
                      <a:pPr algn="l" fontAlgn="b"/>
                      <a:r>
                        <a:rPr lang="en-US" sz="1050" b="0" i="0" u="none" strike="noStrike">
                          <a:solidFill>
                            <a:srgbClr val="000000"/>
                          </a:solidFill>
                          <a:effectLst/>
                          <a:latin typeface="Poppins" panose="00000500000000000000" pitchFamily="2" charset="0"/>
                        </a:rPr>
                        <a:t>INDUSTRIALS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17.8%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006316"/>
                  </a:ext>
                </a:extLst>
              </a:tr>
              <a:tr h="248684">
                <a:tc>
                  <a:txBody>
                    <a:bodyPr/>
                    <a:lstStyle/>
                    <a:p>
                      <a:pPr algn="l" fontAlgn="b"/>
                      <a:r>
                        <a:rPr lang="en-US" sz="1050" b="0" i="0" u="none" strike="noStrike">
                          <a:solidFill>
                            <a:srgbClr val="000000"/>
                          </a:solidFill>
                          <a:effectLst/>
                          <a:latin typeface="Poppins" panose="00000500000000000000" pitchFamily="2" charset="0"/>
                        </a:rPr>
                        <a:t>INFORMATION TECHNOLOGY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14.9%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517504"/>
                  </a:ext>
                </a:extLst>
              </a:tr>
              <a:tr h="248684">
                <a:tc>
                  <a:txBody>
                    <a:bodyPr/>
                    <a:lstStyle/>
                    <a:p>
                      <a:pPr algn="l" fontAlgn="b"/>
                      <a:r>
                        <a:rPr lang="en-US" sz="1050" b="0" i="0" u="none" strike="noStrike">
                          <a:solidFill>
                            <a:srgbClr val="000000"/>
                          </a:solidFill>
                          <a:effectLst/>
                          <a:latin typeface="Poppins" panose="00000500000000000000" pitchFamily="2" charset="0"/>
                        </a:rPr>
                        <a:t>MATERIALS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4.9%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1737407"/>
                  </a:ext>
                </a:extLst>
              </a:tr>
              <a:tr h="248684">
                <a:tc>
                  <a:txBody>
                    <a:bodyPr/>
                    <a:lstStyle/>
                    <a:p>
                      <a:pPr algn="l" fontAlgn="b"/>
                      <a:r>
                        <a:rPr lang="en-US" sz="1050" b="0" i="0" u="none" strike="noStrike">
                          <a:solidFill>
                            <a:srgbClr val="000000"/>
                          </a:solidFill>
                          <a:effectLst/>
                          <a:latin typeface="Poppins" panose="00000500000000000000" pitchFamily="2" charset="0"/>
                        </a:rPr>
                        <a:t>REAL ESTATE</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7.2%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633250"/>
                  </a:ext>
                </a:extLst>
              </a:tr>
              <a:tr h="248684">
                <a:tc>
                  <a:txBody>
                    <a:bodyPr/>
                    <a:lstStyle/>
                    <a:p>
                      <a:pPr algn="l" fontAlgn="b"/>
                      <a:r>
                        <a:rPr lang="en-US" sz="1050" b="0" i="0" u="none" strike="noStrike">
                          <a:solidFill>
                            <a:srgbClr val="000000"/>
                          </a:solidFill>
                          <a:effectLst/>
                          <a:latin typeface="Poppins" panose="00000500000000000000" pitchFamily="2" charset="0"/>
                        </a:rPr>
                        <a:t>UTILITIES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2.1%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3271638"/>
                  </a:ext>
                </a:extLst>
              </a:tr>
              <a:tr h="248684">
                <a:tc>
                  <a:txBody>
                    <a:bodyPr/>
                    <a:lstStyle/>
                    <a:p>
                      <a:pPr algn="l" fontAlgn="b"/>
                      <a:r>
                        <a:rPr lang="en-US" sz="1050" b="0" i="0" u="none" strike="noStrike">
                          <a:solidFill>
                            <a:srgbClr val="000000"/>
                          </a:solidFill>
                          <a:effectLst/>
                          <a:latin typeface="Poppins" panose="00000500000000000000" pitchFamily="2" charset="0"/>
                        </a:rPr>
                        <a:t>OTHER</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50" b="0" i="0" u="none" strike="noStrike">
                          <a:solidFill>
                            <a:srgbClr val="000000"/>
                          </a:solidFill>
                          <a:effectLst/>
                          <a:latin typeface="Poppins" panose="00000500000000000000" pitchFamily="2" charset="0"/>
                        </a:rPr>
                        <a:t>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341174"/>
                  </a:ext>
                </a:extLst>
              </a:tr>
            </a:tbl>
          </a:graphicData>
        </a:graphic>
      </p:graphicFrame>
      <p:sp>
        <p:nvSpPr>
          <p:cNvPr id="7" name="Title 1">
            <a:extLst>
              <a:ext uri="{FF2B5EF4-FFF2-40B4-BE49-F238E27FC236}">
                <a16:creationId xmlns:a16="http://schemas.microsoft.com/office/drawing/2014/main" id="{F7D50B5E-A3F3-A45A-B99C-B44414DCFF30}"/>
              </a:ext>
            </a:extLst>
          </p:cNvPr>
          <p:cNvSpPr txBox="1">
            <a:spLocks/>
          </p:cNvSpPr>
          <p:nvPr/>
        </p:nvSpPr>
        <p:spPr>
          <a:xfrm>
            <a:off x="286233" y="469794"/>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altLang="en-US" sz="1800">
                <a:latin typeface="Poppins SemiBold" panose="00000700000000000000" pitchFamily="2" charset="0"/>
                <a:cs typeface="Poppins SemiBold" panose="00000700000000000000" pitchFamily="2" charset="0"/>
              </a:rPr>
              <a:t>ETF OVERVIEWS</a:t>
            </a:r>
          </a:p>
        </p:txBody>
      </p:sp>
      <p:graphicFrame>
        <p:nvGraphicFramePr>
          <p:cNvPr id="14" name="Chart 13">
            <a:extLst>
              <a:ext uri="{FF2B5EF4-FFF2-40B4-BE49-F238E27FC236}">
                <a16:creationId xmlns:a16="http://schemas.microsoft.com/office/drawing/2014/main" id="{00000000-0008-0000-1F00-000003000000}"/>
              </a:ext>
            </a:extLst>
          </p:cNvPr>
          <p:cNvGraphicFramePr>
            <a:graphicFrameLocks/>
          </p:cNvGraphicFramePr>
          <p:nvPr/>
        </p:nvGraphicFramePr>
        <p:xfrm>
          <a:off x="265703" y="3301598"/>
          <a:ext cx="5554980" cy="2956853"/>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F171A60F-F6AE-5311-7AEE-839E2570A943}"/>
              </a:ext>
            </a:extLst>
          </p:cNvPr>
          <p:cNvSpPr txBox="1"/>
          <p:nvPr/>
        </p:nvSpPr>
        <p:spPr>
          <a:xfrm>
            <a:off x="9317255" y="539015"/>
            <a:ext cx="3599848" cy="646331"/>
          </a:xfrm>
          <a:prstGeom prst="rect">
            <a:avLst/>
          </a:prstGeom>
          <a:solidFill>
            <a:srgbClr val="92D050"/>
          </a:solidFill>
        </p:spPr>
        <p:txBody>
          <a:bodyPr wrap="square" rtlCol="0">
            <a:spAutoFit/>
          </a:bodyPr>
          <a:lstStyle/>
          <a:p>
            <a:r>
              <a:rPr lang="en-US" dirty="0"/>
              <a:t>SOURCED EXTERNALLY (FOOTNOTE)</a:t>
            </a:r>
          </a:p>
        </p:txBody>
      </p:sp>
    </p:spTree>
    <p:extLst>
      <p:ext uri="{BB962C8B-B14F-4D97-AF65-F5344CB8AC3E}">
        <p14:creationId xmlns:p14="http://schemas.microsoft.com/office/powerpoint/2010/main" val="1265519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CF76990-2A9F-436D-AA72-8068F7C57FA0}"/>
              </a:ext>
            </a:extLst>
          </p:cNvPr>
          <p:cNvPicPr>
            <a:picLocks noChangeAspect="1"/>
          </p:cNvPicPr>
          <p:nvPr/>
        </p:nvPicPr>
        <p:blipFill rotWithShape="1">
          <a:blip r:embed="rId3">
            <a:duotone>
              <a:prstClr val="black"/>
              <a:srgbClr val="106280">
                <a:tint val="45000"/>
                <a:satMod val="400000"/>
              </a:srgbClr>
            </a:duotone>
          </a:blip>
          <a:srcRect l="2668" t="4540"/>
          <a:stretch/>
        </p:blipFill>
        <p:spPr>
          <a:xfrm>
            <a:off x="209886" y="91498"/>
            <a:ext cx="4291184" cy="6691086"/>
          </a:xfrm>
          <a:prstGeom prst="rect">
            <a:avLst/>
          </a:prstGeom>
        </p:spPr>
      </p:pic>
      <p:sp>
        <p:nvSpPr>
          <p:cNvPr id="10" name="Rectangle: Diagonal Corners Rounded 9">
            <a:extLst>
              <a:ext uri="{FF2B5EF4-FFF2-40B4-BE49-F238E27FC236}">
                <a16:creationId xmlns:a16="http://schemas.microsoft.com/office/drawing/2014/main" id="{833DD204-95B8-4F35-B395-231EE88518F2}"/>
              </a:ext>
            </a:extLst>
          </p:cNvPr>
          <p:cNvSpPr/>
          <p:nvPr/>
        </p:nvSpPr>
        <p:spPr bwMode="auto">
          <a:xfrm rot="3027441">
            <a:off x="-786503" y="3065324"/>
            <a:ext cx="9243844" cy="622708"/>
          </a:xfrm>
          <a:custGeom>
            <a:avLst/>
            <a:gdLst>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218983 w 8664014"/>
              <a:gd name="connsiteY4" fmla="*/ 673455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9356709"/>
              <a:gd name="connsiteY0" fmla="*/ 424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336731 w 9356709"/>
              <a:gd name="connsiteY8" fmla="*/ 424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96512 w 9356709"/>
              <a:gd name="connsiteY6" fmla="*/ 676890 h 677703"/>
              <a:gd name="connsiteX7" fmla="*/ 235528 w 9356709"/>
              <a:gd name="connsiteY7" fmla="*/ 492799 h 677703"/>
              <a:gd name="connsiteX8" fmla="*/ 682481 w 9356709"/>
              <a:gd name="connsiteY8" fmla="*/ 5171 h 677703"/>
              <a:gd name="connsiteX0" fmla="*/ 585969 w 9260197"/>
              <a:gd name="connsiteY0" fmla="*/ 5171 h 677696"/>
              <a:gd name="connsiteX1" fmla="*/ 8567502 w 9260197"/>
              <a:gd name="connsiteY1" fmla="*/ 4241 h 677696"/>
              <a:gd name="connsiteX2" fmla="*/ 9260197 w 9260197"/>
              <a:gd name="connsiteY2" fmla="*/ 0 h 677696"/>
              <a:gd name="connsiteX3" fmla="*/ 8106957 w 9260197"/>
              <a:gd name="connsiteY3" fmla="*/ 338260 h 677696"/>
              <a:gd name="connsiteX4" fmla="*/ 8122471 w 9260197"/>
              <a:gd name="connsiteY4" fmla="*/ 677696 h 677696"/>
              <a:gd name="connsiteX5" fmla="*/ 28706 w 9260197"/>
              <a:gd name="connsiteY5" fmla="*/ 675752 h 677696"/>
              <a:gd name="connsiteX6" fmla="*/ 0 w 9260197"/>
              <a:gd name="connsiteY6" fmla="*/ 676890 h 677696"/>
              <a:gd name="connsiteX7" fmla="*/ 139016 w 9260197"/>
              <a:gd name="connsiteY7" fmla="*/ 492799 h 677696"/>
              <a:gd name="connsiteX8" fmla="*/ 585969 w 9260197"/>
              <a:gd name="connsiteY8" fmla="*/ 5171 h 6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60197" h="677696">
                <a:moveTo>
                  <a:pt x="585969" y="5171"/>
                </a:moveTo>
                <a:lnTo>
                  <a:pt x="8567502" y="4241"/>
                </a:lnTo>
                <a:lnTo>
                  <a:pt x="9260197" y="0"/>
                </a:lnTo>
                <a:lnTo>
                  <a:pt x="8106957" y="338260"/>
                </a:lnTo>
                <a:cubicBezTo>
                  <a:pt x="8106957" y="524231"/>
                  <a:pt x="8308442" y="677696"/>
                  <a:pt x="8122471" y="677696"/>
                </a:cubicBezTo>
                <a:lnTo>
                  <a:pt x="28706" y="675752"/>
                </a:lnTo>
                <a:lnTo>
                  <a:pt x="0" y="676890"/>
                </a:lnTo>
                <a:lnTo>
                  <a:pt x="139016" y="492799"/>
                </a:lnTo>
                <a:cubicBezTo>
                  <a:pt x="264084" y="341711"/>
                  <a:pt x="438101" y="146362"/>
                  <a:pt x="585969" y="5171"/>
                </a:cubicBezTo>
                <a:close/>
              </a:path>
            </a:pathLst>
          </a:cu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pic>
        <p:nvPicPr>
          <p:cNvPr id="14" name="Picture 13">
            <a:extLst>
              <a:ext uri="{FF2B5EF4-FFF2-40B4-BE49-F238E27FC236}">
                <a16:creationId xmlns:a16="http://schemas.microsoft.com/office/drawing/2014/main" id="{84A17D6C-76DD-49F3-BA01-7268C5F086DD}"/>
              </a:ext>
            </a:extLst>
          </p:cNvPr>
          <p:cNvPicPr>
            <a:picLocks noChangeAspect="1"/>
          </p:cNvPicPr>
          <p:nvPr/>
        </p:nvPicPr>
        <p:blipFill rotWithShape="1">
          <a:blip r:embed="rId4"/>
          <a:srcRect l="1" t="17282" r="34407" b="16123"/>
          <a:stretch/>
        </p:blipFill>
        <p:spPr>
          <a:xfrm>
            <a:off x="2641408" y="214869"/>
            <a:ext cx="6289218" cy="6465329"/>
          </a:xfrm>
          <a:prstGeom prst="rect">
            <a:avLst/>
          </a:prstGeom>
        </p:spPr>
      </p:pic>
      <p:sp>
        <p:nvSpPr>
          <p:cNvPr id="31" name="Rectangle 30">
            <a:extLst>
              <a:ext uri="{FF2B5EF4-FFF2-40B4-BE49-F238E27FC236}">
                <a16:creationId xmlns:a16="http://schemas.microsoft.com/office/drawing/2014/main" id="{E6D10223-F6D5-4585-8AA5-0A774C445C2F}"/>
              </a:ext>
            </a:extLst>
          </p:cNvPr>
          <p:cNvSpPr/>
          <p:nvPr/>
        </p:nvSpPr>
        <p:spPr bwMode="auto">
          <a:xfrm>
            <a:off x="2125922" y="647700"/>
            <a:ext cx="6880055" cy="3462905"/>
          </a:xfrm>
          <a:prstGeom prst="rect">
            <a:avLst/>
          </a:prstGeom>
          <a:solidFill>
            <a:srgbClr val="FFFFFF">
              <a:alpha val="63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9" name="Rectangle 28">
            <a:extLst>
              <a:ext uri="{FF2B5EF4-FFF2-40B4-BE49-F238E27FC236}">
                <a16:creationId xmlns:a16="http://schemas.microsoft.com/office/drawing/2014/main" id="{82FA936D-D013-48A2-B1D3-8125F0B0DA6A}"/>
              </a:ext>
            </a:extLst>
          </p:cNvPr>
          <p:cNvSpPr/>
          <p:nvPr/>
        </p:nvSpPr>
        <p:spPr bwMode="auto">
          <a:xfrm>
            <a:off x="0" y="6680199"/>
            <a:ext cx="9055100" cy="177801"/>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14191" y="1073409"/>
            <a:ext cx="4630427" cy="1091667"/>
          </a:xfrm>
          <a:prstGeom prst="rect">
            <a:avLst/>
          </a:prstGeom>
          <a:ln>
            <a:noFill/>
          </a:ln>
        </p:spPr>
      </p:pic>
      <p:sp>
        <p:nvSpPr>
          <p:cNvPr id="23" name="HUGH SANDI PETER DAVID" hidden="1">
            <a:extLst>
              <a:ext uri="{FF2B5EF4-FFF2-40B4-BE49-F238E27FC236}">
                <a16:creationId xmlns:a16="http://schemas.microsoft.com/office/drawing/2014/main" id="{DA88B559-9FFC-4B27-A0C8-BFC81CF67F49}"/>
              </a:ext>
            </a:extLst>
          </p:cNvPr>
          <p:cNvSpPr/>
          <p:nvPr/>
        </p:nvSpPr>
        <p:spPr>
          <a:xfrm>
            <a:off x="4534532" y="3860972"/>
            <a:ext cx="4328429"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SANDI PRESCOTT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CLIENT SERVICE</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sp>
        <p:nvSpPr>
          <p:cNvPr id="17" name="HUGH SANDI PETER DAVID" hidden="1">
            <a:extLst>
              <a:ext uri="{FF2B5EF4-FFF2-40B4-BE49-F238E27FC236}">
                <a16:creationId xmlns:a16="http://schemas.microsoft.com/office/drawing/2014/main" id="{D47FA4D9-5A5D-475F-9949-EF41E1B85A92}"/>
              </a:ext>
            </a:extLst>
          </p:cNvPr>
          <p:cNvSpPr/>
          <p:nvPr/>
        </p:nvSpPr>
        <p:spPr>
          <a:xfrm>
            <a:off x="4545354" y="3858120"/>
            <a:ext cx="4328493"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a:p>
            <a:pPr marL="0" marR="0" lvl="1" indent="0" algn="r" defTabSz="457200" rtl="0" eaLnBrk="1" fontAlgn="auto" latinLnBrk="0" hangingPunct="1">
              <a:lnSpc>
                <a:spcPct val="100000"/>
              </a:lnSpc>
              <a:spcBef>
                <a:spcPts val="0"/>
              </a:spcBef>
              <a:spcAft>
                <a:spcPts val="600"/>
              </a:spcAft>
              <a:buClrTx/>
              <a:buSzTx/>
              <a:buFontTx/>
              <a:buNone/>
              <a:tabLst/>
              <a:defRPr/>
            </a:pPr>
            <a:endPar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endParaRPr>
          </a:p>
        </p:txBody>
      </p:sp>
      <p:sp>
        <p:nvSpPr>
          <p:cNvPr id="22" name="Rectangle 21">
            <a:extLst>
              <a:ext uri="{FF2B5EF4-FFF2-40B4-BE49-F238E27FC236}">
                <a16:creationId xmlns:a16="http://schemas.microsoft.com/office/drawing/2014/main" id="{3F2213C9-A0FE-494E-AF69-D977CFDDD7C9}"/>
              </a:ext>
            </a:extLst>
          </p:cNvPr>
          <p:cNvSpPr/>
          <p:nvPr/>
        </p:nvSpPr>
        <p:spPr bwMode="auto">
          <a:xfrm>
            <a:off x="90020" y="7157"/>
            <a:ext cx="8875059" cy="217213"/>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Sandi Warren" hidden="1">
            <a:extLst>
              <a:ext uri="{FF2B5EF4-FFF2-40B4-BE49-F238E27FC236}">
                <a16:creationId xmlns:a16="http://schemas.microsoft.com/office/drawing/2014/main" id="{65443961-D79C-480D-9CCD-5330A824A3CA}"/>
              </a:ext>
            </a:extLst>
          </p:cNvPr>
          <p:cNvSpPr/>
          <p:nvPr/>
        </p:nvSpPr>
        <p:spPr>
          <a:xfrm>
            <a:off x="5077066" y="3887719"/>
            <a:ext cx="3797835" cy="677108"/>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cxnSp>
        <p:nvCxnSpPr>
          <p:cNvPr id="2" name="Straight Connector 1">
            <a:extLst>
              <a:ext uri="{FF2B5EF4-FFF2-40B4-BE49-F238E27FC236}">
                <a16:creationId xmlns:a16="http://schemas.microsoft.com/office/drawing/2014/main" id="{0F008904-A3B6-29EC-1FE0-6A40316F4CC2}"/>
              </a:ext>
            </a:extLst>
          </p:cNvPr>
          <p:cNvCxnSpPr>
            <a:cxnSpLocks/>
          </p:cNvCxnSpPr>
          <p:nvPr/>
        </p:nvCxnSpPr>
        <p:spPr bwMode="auto">
          <a:xfrm>
            <a:off x="5215564" y="249245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3" name="Text Box 8">
            <a:extLst>
              <a:ext uri="{FF2B5EF4-FFF2-40B4-BE49-F238E27FC236}">
                <a16:creationId xmlns:a16="http://schemas.microsoft.com/office/drawing/2014/main" id="{9159BB16-E64F-47C0-B780-5694EB5E4DDA}"/>
              </a:ext>
            </a:extLst>
          </p:cNvPr>
          <p:cNvSpPr txBox="1">
            <a:spLocks noChangeArrowheads="1"/>
          </p:cNvSpPr>
          <p:nvPr/>
        </p:nvSpPr>
        <p:spPr bwMode="auto">
          <a:xfrm>
            <a:off x="658692" y="2628056"/>
            <a:ext cx="8127441" cy="8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nchor="ctr">
            <a:spAutoFit/>
          </a:bodyPr>
          <a:lstStyle>
            <a:lvl1pPr eaLnBrk="0" hangingPunct="0">
              <a:defRPr sz="1000" b="1">
                <a:solidFill>
                  <a:schemeClr val="tx1"/>
                </a:solidFill>
                <a:latin typeface="Arial" charset="0"/>
                <a:cs typeface="Arial" charset="0"/>
              </a:defRPr>
            </a:lvl1pPr>
            <a:lvl2pPr marL="742950" indent="-285750" eaLnBrk="0" hangingPunct="0">
              <a:defRPr sz="1000" b="1">
                <a:solidFill>
                  <a:schemeClr val="tx1"/>
                </a:solidFill>
                <a:latin typeface="Arial" charset="0"/>
                <a:cs typeface="Arial" charset="0"/>
              </a:defRPr>
            </a:lvl2pPr>
            <a:lvl3pPr marL="1143000" indent="-228600" eaLnBrk="0" hangingPunct="0">
              <a:defRPr sz="1000" b="1">
                <a:solidFill>
                  <a:schemeClr val="tx1"/>
                </a:solidFill>
                <a:latin typeface="Arial" charset="0"/>
                <a:cs typeface="Arial" charset="0"/>
              </a:defRPr>
            </a:lvl3pPr>
            <a:lvl4pPr marL="1600200" indent="-228600" eaLnBrk="0" hangingPunct="0">
              <a:defRPr sz="1000" b="1">
                <a:solidFill>
                  <a:schemeClr val="tx1"/>
                </a:solidFill>
                <a:latin typeface="Arial" charset="0"/>
                <a:cs typeface="Arial" charset="0"/>
              </a:defRPr>
            </a:lvl4pPr>
            <a:lvl5pPr marL="2057400" indent="-228600" eaLnBrk="0" hangingPunct="0">
              <a:defRPr sz="1000" b="1">
                <a:solidFill>
                  <a:schemeClr val="tx1"/>
                </a:solidFill>
                <a:latin typeface="Arial" charset="0"/>
                <a:cs typeface="Arial" charset="0"/>
              </a:defRPr>
            </a:lvl5pPr>
            <a:lvl6pPr marL="2514600" indent="-228600" eaLnBrk="0" fontAlgn="base" hangingPunct="0">
              <a:spcBef>
                <a:spcPct val="0"/>
              </a:spcBef>
              <a:spcAft>
                <a:spcPct val="0"/>
              </a:spcAft>
              <a:defRPr sz="1000" b="1">
                <a:solidFill>
                  <a:schemeClr val="tx1"/>
                </a:solidFill>
                <a:latin typeface="Arial" charset="0"/>
                <a:cs typeface="Arial" charset="0"/>
              </a:defRPr>
            </a:lvl6pPr>
            <a:lvl7pPr marL="2971800" indent="-228600" eaLnBrk="0" fontAlgn="base" hangingPunct="0">
              <a:spcBef>
                <a:spcPct val="0"/>
              </a:spcBef>
              <a:spcAft>
                <a:spcPct val="0"/>
              </a:spcAft>
              <a:defRPr sz="1000" b="1">
                <a:solidFill>
                  <a:schemeClr val="tx1"/>
                </a:solidFill>
                <a:latin typeface="Arial" charset="0"/>
                <a:cs typeface="Arial" charset="0"/>
              </a:defRPr>
            </a:lvl7pPr>
            <a:lvl8pPr marL="3429000" indent="-228600" eaLnBrk="0" fontAlgn="base" hangingPunct="0">
              <a:spcBef>
                <a:spcPct val="0"/>
              </a:spcBef>
              <a:spcAft>
                <a:spcPct val="0"/>
              </a:spcAft>
              <a:defRPr sz="1000" b="1">
                <a:solidFill>
                  <a:schemeClr val="tx1"/>
                </a:solidFill>
                <a:latin typeface="Arial" charset="0"/>
                <a:cs typeface="Arial" charset="0"/>
              </a:defRPr>
            </a:lvl8pPr>
            <a:lvl9pPr marL="3886200" indent="-228600" eaLnBrk="0" fontAlgn="base" hangingPunct="0">
              <a:spcBef>
                <a:spcPct val="0"/>
              </a:spcBef>
              <a:spcAft>
                <a:spcPct val="0"/>
              </a:spcAft>
              <a:defRPr sz="1000" b="1">
                <a:solidFill>
                  <a:schemeClr val="tx1"/>
                </a:solidFill>
                <a:latin typeface="Arial" charset="0"/>
                <a:cs typeface="Arial" charset="0"/>
              </a:defRPr>
            </a:lvl9pPr>
          </a:lstStyle>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1800" b="0" i="0" u="none" strike="noStrike" kern="1200" cap="all"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Appendix IIi</a:t>
            </a:r>
          </a:p>
          <a:p>
            <a:pPr marL="0" marR="0" lvl="1" indent="0" algn="r" defTabSz="457200" rtl="0" eaLnBrk="0" fontAlgn="auto" latinLnBrk="0" hangingPunct="0">
              <a:lnSpc>
                <a:spcPct val="100000"/>
              </a:lnSpc>
              <a:spcBef>
                <a:spcPts val="0"/>
              </a:spcBef>
              <a:spcAft>
                <a:spcPts val="0"/>
              </a:spcAft>
              <a:buClrTx/>
              <a:buSzTx/>
              <a:buFontTx/>
              <a:buNone/>
              <a:tabLst/>
              <a:defRPr/>
            </a:pPr>
            <a:endParaRPr kumimoji="0" lang="en-US" altLang="en-US" sz="1050" b="0" i="0" u="none" strike="noStrike" kern="1200" cap="all"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endParaRPr>
          </a:p>
          <a:p>
            <a:pPr marL="0" marR="0" lvl="1" indent="0" algn="r" defTabSz="457200" rtl="0" eaLnBrk="0" fontAlgn="auto" latinLnBrk="0" hangingPunct="0">
              <a:lnSpc>
                <a:spcPct val="100000"/>
              </a:lnSpc>
              <a:spcBef>
                <a:spcPts val="0"/>
              </a:spcBef>
              <a:spcAft>
                <a:spcPts val="0"/>
              </a:spcAft>
              <a:buClrTx/>
              <a:buSzTx/>
              <a:buFontTx/>
              <a:buNone/>
              <a:tabLst/>
              <a:defRPr/>
            </a:pPr>
            <a:r>
              <a:rPr lang="en-US" altLang="en-US" sz="2100" b="0" spc="-40">
                <a:solidFill>
                  <a:srgbClr val="106280"/>
                </a:solidFill>
                <a:latin typeface="Poppins SemiBold" panose="00000700000000000000" pitchFamily="2" charset="0"/>
                <a:cs typeface="Poppins SemiBold" panose="00000700000000000000" pitchFamily="2" charset="0"/>
              </a:rPr>
              <a:t>VT</a:t>
            </a:r>
            <a:r>
              <a:rPr kumimoji="0" lang="en-US" altLang="en-US" sz="2100" b="0" i="0" u="none" strike="noStrike" kern="1200" cap="none" spc="-4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rPr>
              <a:t> </a:t>
            </a:r>
            <a:r>
              <a:rPr lang="en-US" altLang="en-US" sz="2100" b="0" spc="-40">
                <a:solidFill>
                  <a:srgbClr val="106280"/>
                </a:solidFill>
                <a:latin typeface="Poppins SemiBold" panose="00000700000000000000" pitchFamily="2" charset="0"/>
                <a:cs typeface="Poppins SemiBold" panose="00000700000000000000" pitchFamily="2" charset="0"/>
              </a:rPr>
              <a:t>INVESTMENT RESTRICTIONS FOR RRG’S</a:t>
            </a:r>
            <a:endParaRPr kumimoji="0" lang="en-US" altLang="en-US" sz="2100" b="0" i="0" u="none" strike="noStrike" kern="1200" cap="none" spc="-4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endParaRPr>
          </a:p>
        </p:txBody>
      </p:sp>
      <p:cxnSp>
        <p:nvCxnSpPr>
          <p:cNvPr id="4" name="Straight Connector 3">
            <a:extLst>
              <a:ext uri="{FF2B5EF4-FFF2-40B4-BE49-F238E27FC236}">
                <a16:creationId xmlns:a16="http://schemas.microsoft.com/office/drawing/2014/main" id="{22FCD67E-E8CC-8A9D-FCBF-91728DE3BC96}"/>
              </a:ext>
            </a:extLst>
          </p:cNvPr>
          <p:cNvCxnSpPr>
            <a:cxnSpLocks/>
          </p:cNvCxnSpPr>
          <p:nvPr/>
        </p:nvCxnSpPr>
        <p:spPr bwMode="auto">
          <a:xfrm>
            <a:off x="5220108" y="3616405"/>
            <a:ext cx="3566160" cy="0"/>
          </a:xfrm>
          <a:prstGeom prst="line">
            <a:avLst/>
          </a:prstGeom>
          <a:noFill/>
          <a:ln w="12700" cap="flat" cmpd="sng" algn="ctr">
            <a:solidFill>
              <a:srgbClr val="157EA3"/>
            </a:solidFill>
            <a:prstDash val="solid"/>
            <a:round/>
            <a:headEnd type="none" w="med" len="med"/>
            <a:tailEnd type="none" w="med" len="med"/>
          </a:ln>
          <a:effectLst/>
        </p:spPr>
      </p:cxnSp>
    </p:spTree>
    <p:extLst>
      <p:ext uri="{BB962C8B-B14F-4D97-AF65-F5344CB8AC3E}">
        <p14:creationId xmlns:p14="http://schemas.microsoft.com/office/powerpoint/2010/main" val="304347740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8B5677-D54D-7513-9A3A-BFD2B1F46F70}"/>
              </a:ext>
            </a:extLst>
          </p:cNvPr>
          <p:cNvSpPr>
            <a:spLocks noGrp="1"/>
          </p:cNvSpPr>
          <p:nvPr>
            <p:ph type="sldNum" sz="quarter" idx="4"/>
          </p:nvPr>
        </p:nvSpPr>
        <p:spPr/>
        <p:txBody>
          <a:bodyPr/>
          <a:lstStyle/>
          <a:p>
            <a:pPr>
              <a:defRPr/>
            </a:pPr>
            <a:fld id="{DD2473E4-B5B6-45FC-9E99-CC9FE2E39F22}" type="slidenum">
              <a:rPr lang="en-US" smtClean="0"/>
              <a:pPr>
                <a:defRPr/>
              </a:pPr>
              <a:t>25</a:t>
            </a:fld>
            <a:endParaRPr lang="en-US"/>
          </a:p>
        </p:txBody>
      </p:sp>
      <p:pic>
        <p:nvPicPr>
          <p:cNvPr id="3" name="table" hidden="1">
            <a:extLst>
              <a:ext uri="{FF2B5EF4-FFF2-40B4-BE49-F238E27FC236}">
                <a16:creationId xmlns:a16="http://schemas.microsoft.com/office/drawing/2014/main" id="{7AC3A14E-F5F4-45EB-90DE-15F4BFD0D078}"/>
              </a:ext>
            </a:extLst>
          </p:cNvPr>
          <p:cNvPicPr>
            <a:picLocks noChangeAspect="1"/>
          </p:cNvPicPr>
          <p:nvPr/>
        </p:nvPicPr>
        <p:blipFill>
          <a:blip r:embed="rId2"/>
          <a:stretch>
            <a:fillRect/>
          </a:stretch>
        </p:blipFill>
        <p:spPr>
          <a:xfrm>
            <a:off x="-931568" y="4486569"/>
            <a:ext cx="9076218" cy="3774504"/>
          </a:xfrm>
          <a:prstGeom prst="rect">
            <a:avLst/>
          </a:prstGeom>
        </p:spPr>
      </p:pic>
      <p:sp>
        <p:nvSpPr>
          <p:cNvPr id="41" name="Rectangle 40">
            <a:extLst>
              <a:ext uri="{FF2B5EF4-FFF2-40B4-BE49-F238E27FC236}">
                <a16:creationId xmlns:a16="http://schemas.microsoft.com/office/drawing/2014/main" id="{67F71D07-5375-F553-379A-55F137B7AA19}"/>
              </a:ext>
            </a:extLst>
          </p:cNvPr>
          <p:cNvSpPr/>
          <p:nvPr/>
        </p:nvSpPr>
        <p:spPr bwMode="auto">
          <a:xfrm>
            <a:off x="366583" y="825084"/>
            <a:ext cx="8420441" cy="338554"/>
          </a:xfrm>
          <a:prstGeom prst="rect">
            <a:avLst/>
          </a:prstGeom>
          <a:solidFill>
            <a:srgbClr val="106280"/>
          </a:solidFill>
        </p:spPr>
        <p:txBody>
          <a:bodyPr wrap="square" tIns="0" rIns="0" bIns="0" rtlCol="0" anchor="ctr">
            <a:noAutofit/>
          </a:bodyPr>
          <a:lstStyle/>
          <a:p>
            <a:r>
              <a:rPr lang="en-US" sz="1600">
                <a:solidFill>
                  <a:schemeClr val="bg1"/>
                </a:solidFill>
                <a:latin typeface="Poppins Light" panose="00000400000000000000" pitchFamily="2" charset="0"/>
                <a:cs typeface="Poppins Light" panose="00000400000000000000" pitchFamily="2" charset="0"/>
              </a:rPr>
              <a:t>OVERVIEW | </a:t>
            </a:r>
            <a:r>
              <a:rPr lang="en-US" sz="1600">
                <a:solidFill>
                  <a:schemeClr val="bg1"/>
                </a:solidFill>
                <a:latin typeface="Poppins Medium" panose="00000600000000000000" pitchFamily="2" charset="0"/>
                <a:cs typeface="Poppins Medium" panose="00000600000000000000" pitchFamily="2" charset="0"/>
              </a:rPr>
              <a:t>INVESTING AS A RISK RETENTION GROUP</a:t>
            </a:r>
          </a:p>
        </p:txBody>
      </p:sp>
      <p:graphicFrame>
        <p:nvGraphicFramePr>
          <p:cNvPr id="43" name="Table 42">
            <a:extLst>
              <a:ext uri="{FF2B5EF4-FFF2-40B4-BE49-F238E27FC236}">
                <a16:creationId xmlns:a16="http://schemas.microsoft.com/office/drawing/2014/main" id="{F9D82E5A-9989-3DD8-2FE2-F3AF53B7F2CA}"/>
              </a:ext>
            </a:extLst>
          </p:cNvPr>
          <p:cNvGraphicFramePr>
            <a:graphicFrameLocks noGrp="1"/>
          </p:cNvGraphicFramePr>
          <p:nvPr>
            <p:extLst>
              <p:ext uri="{D42A27DB-BD31-4B8C-83A1-F6EECF244321}">
                <p14:modId xmlns:p14="http://schemas.microsoft.com/office/powerpoint/2010/main" val="3166600512"/>
              </p:ext>
            </p:extLst>
          </p:nvPr>
        </p:nvGraphicFramePr>
        <p:xfrm>
          <a:off x="403210" y="1281618"/>
          <a:ext cx="8337579" cy="5106589"/>
        </p:xfrm>
        <a:graphic>
          <a:graphicData uri="http://schemas.openxmlformats.org/drawingml/2006/table">
            <a:tbl>
              <a:tblPr firstRow="1" bandRow="1">
                <a:tableStyleId>{5C22544A-7EE6-4342-B048-85BDC9FD1C3A}</a:tableStyleId>
              </a:tblPr>
              <a:tblGrid>
                <a:gridCol w="999229">
                  <a:extLst>
                    <a:ext uri="{9D8B030D-6E8A-4147-A177-3AD203B41FA5}">
                      <a16:colId xmlns:a16="http://schemas.microsoft.com/office/drawing/2014/main" val="464435225"/>
                    </a:ext>
                  </a:extLst>
                </a:gridCol>
                <a:gridCol w="1735616">
                  <a:extLst>
                    <a:ext uri="{9D8B030D-6E8A-4147-A177-3AD203B41FA5}">
                      <a16:colId xmlns:a16="http://schemas.microsoft.com/office/drawing/2014/main" val="1791600012"/>
                    </a:ext>
                  </a:extLst>
                </a:gridCol>
                <a:gridCol w="5602734">
                  <a:extLst>
                    <a:ext uri="{9D8B030D-6E8A-4147-A177-3AD203B41FA5}">
                      <a16:colId xmlns:a16="http://schemas.microsoft.com/office/drawing/2014/main" val="4214830970"/>
                    </a:ext>
                  </a:extLst>
                </a:gridCol>
              </a:tblGrid>
              <a:tr h="957053">
                <a:tc>
                  <a:txBody>
                    <a:bodyPr/>
                    <a:lstStyle/>
                    <a:p>
                      <a:endParaRPr lang="en-US" sz="1320" b="0">
                        <a:latin typeface="Poppins" panose="00000500000000000000" pitchFamily="2" charset="0"/>
                        <a:cs typeface="Poppins" panose="00000500000000000000" pitchFamily="2"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43638"/>
                    </a:solidFill>
                  </a:tcPr>
                </a:tc>
                <a:tc gridSpan="2">
                  <a:txBody>
                    <a:bodyPr/>
                    <a:lstStyle/>
                    <a:p>
                      <a:r>
                        <a:rPr lang="en-US" sz="1320" b="0">
                          <a:latin typeface="Poppins" panose="00000500000000000000" pitchFamily="2" charset="0"/>
                          <a:cs typeface="Poppins" panose="00000500000000000000" pitchFamily="2" charset="0"/>
                        </a:rPr>
                        <a:t>THE STATE OF VERMONT REQUIRES THAT RISK RETENTION GROUPS (RRG’S) FOLLOW NAIC MODEL INVESTMENT LAW FOR ACCREDITATION PURPOSES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54F52"/>
                    </a:solidFill>
                  </a:tcPr>
                </a:tc>
                <a:tc hMerge="1">
                  <a:txBody>
                    <a:bodyPr/>
                    <a:lstStyle/>
                    <a:p>
                      <a:endParaRPr lang="en-US"/>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4665E"/>
                    </a:solidFill>
                  </a:tcPr>
                </a:tc>
                <a:extLst>
                  <a:ext uri="{0D108BD9-81ED-4DB2-BD59-A6C34878D82A}">
                    <a16:rowId xmlns:a16="http://schemas.microsoft.com/office/drawing/2014/main" val="2356309227"/>
                  </a:ext>
                </a:extLst>
              </a:tr>
              <a:tr h="957053">
                <a:tc>
                  <a:txBody>
                    <a:bodyPr/>
                    <a:lstStyle/>
                    <a:p>
                      <a:endParaRPr lang="en-US" sz="1320" b="0">
                        <a:latin typeface="Poppins" panose="00000500000000000000" pitchFamily="2" charset="0"/>
                        <a:cs typeface="Poppins" panose="00000500000000000000" pitchFamily="2"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9514A"/>
                    </a:solidFill>
                  </a:tcPr>
                </a:tc>
                <a:tc gridSpan="2">
                  <a:txBody>
                    <a:bodyPr/>
                    <a:lstStyle/>
                    <a:p>
                      <a:r>
                        <a:rPr lang="en-US" sz="1320" b="0" kern="1200">
                          <a:solidFill>
                            <a:schemeClr val="lt1"/>
                          </a:solidFill>
                          <a:latin typeface="Poppins" panose="00000500000000000000" pitchFamily="2" charset="0"/>
                          <a:ea typeface="+mn-ea"/>
                          <a:cs typeface="Poppins" panose="00000500000000000000" pitchFamily="2" charset="0"/>
                        </a:rPr>
                        <a:t>INVESTMENT RESTRICTIONS </a:t>
                      </a:r>
                      <a:r>
                        <a:rPr lang="en-US" sz="1320" b="0" kern="1200">
                          <a:solidFill>
                            <a:schemeClr val="lt1"/>
                          </a:solidFill>
                          <a:latin typeface="Poppins" panose="00000500000000000000" pitchFamily="2" charset="0"/>
                          <a:ea typeface="+mn-ea"/>
                          <a:cs typeface="Poppins" panose="00000500000000000000" pitchFamily="2" charset="0"/>
                          <a:sym typeface="Wingdings" panose="05000000000000000000" pitchFamily="2" charset="2"/>
                        </a:rPr>
                        <a:t> </a:t>
                      </a:r>
                      <a:r>
                        <a:rPr lang="en-US" sz="1320" b="0" kern="1200">
                          <a:solidFill>
                            <a:schemeClr val="lt1"/>
                          </a:solidFill>
                          <a:latin typeface="Poppins SemiBold" panose="00000700000000000000" pitchFamily="2" charset="0"/>
                          <a:ea typeface="+mn-ea"/>
                          <a:cs typeface="Poppins SemiBold" panose="00000700000000000000" pitchFamily="2" charset="0"/>
                        </a:rPr>
                        <a:t>SECTIONS 3461</a:t>
                      </a:r>
                      <a:r>
                        <a:rPr lang="en-US" sz="1320" b="0" kern="1200">
                          <a:solidFill>
                            <a:schemeClr val="lt1"/>
                          </a:solidFill>
                          <a:latin typeface="Poppins" panose="00000500000000000000" pitchFamily="2" charset="0"/>
                          <a:ea typeface="+mn-ea"/>
                          <a:cs typeface="Poppins" panose="00000500000000000000" pitchFamily="2" charset="0"/>
                        </a:rPr>
                        <a:t> - </a:t>
                      </a:r>
                      <a:r>
                        <a:rPr lang="en-US" sz="1320" b="0" kern="1200">
                          <a:solidFill>
                            <a:schemeClr val="lt1"/>
                          </a:solidFill>
                          <a:latin typeface="Poppins SemiBold" panose="00000700000000000000" pitchFamily="2" charset="0"/>
                          <a:ea typeface="+mn-ea"/>
                          <a:cs typeface="Poppins SemiBold" panose="00000700000000000000" pitchFamily="2" charset="0"/>
                        </a:rPr>
                        <a:t>3472</a:t>
                      </a:r>
                      <a:r>
                        <a:rPr lang="en-US" sz="1320" b="0" kern="1200">
                          <a:solidFill>
                            <a:schemeClr val="lt1"/>
                          </a:solidFill>
                          <a:latin typeface="Poppins" panose="00000500000000000000" pitchFamily="2" charset="0"/>
                          <a:ea typeface="+mn-ea"/>
                          <a:cs typeface="Poppins" panose="00000500000000000000" pitchFamily="2" charset="0"/>
                        </a:rPr>
                        <a:t> OF </a:t>
                      </a:r>
                      <a:r>
                        <a:rPr lang="en-US" sz="1320" b="0" kern="1200">
                          <a:solidFill>
                            <a:schemeClr val="lt1"/>
                          </a:solidFill>
                          <a:latin typeface="Poppins SemiBold" panose="00000700000000000000" pitchFamily="2" charset="0"/>
                          <a:ea typeface="+mn-ea"/>
                          <a:cs typeface="Poppins SemiBold" panose="00000700000000000000" pitchFamily="2" charset="0"/>
                        </a:rPr>
                        <a:t>TITLE 8</a:t>
                      </a:r>
                      <a:r>
                        <a:rPr lang="en-US" sz="1320" b="0" kern="1200">
                          <a:solidFill>
                            <a:schemeClr val="lt1"/>
                          </a:solidFill>
                          <a:latin typeface="Poppins" panose="00000500000000000000" pitchFamily="2" charset="0"/>
                          <a:ea typeface="+mn-ea"/>
                          <a:cs typeface="Poppins" panose="00000500000000000000" pitchFamily="2" charset="0"/>
                        </a:rPr>
                        <a:t> (BANKING &amp; INSURANCE), </a:t>
                      </a:r>
                      <a:r>
                        <a:rPr lang="en-US" sz="1320" b="0" kern="1200">
                          <a:solidFill>
                            <a:schemeClr val="lt1"/>
                          </a:solidFill>
                          <a:latin typeface="Poppins SemiBold" panose="00000700000000000000" pitchFamily="2" charset="0"/>
                          <a:ea typeface="+mn-ea"/>
                          <a:cs typeface="Poppins SemiBold" panose="00000700000000000000" pitchFamily="2" charset="0"/>
                        </a:rPr>
                        <a:t>CHAPTER 101 </a:t>
                      </a:r>
                      <a:r>
                        <a:rPr lang="en-US" sz="1320" b="0" kern="1200">
                          <a:solidFill>
                            <a:schemeClr val="lt1"/>
                          </a:solidFill>
                          <a:latin typeface="Poppins" panose="00000500000000000000" pitchFamily="2" charset="0"/>
                          <a:ea typeface="+mn-ea"/>
                          <a:cs typeface="Poppins" panose="00000500000000000000" pitchFamily="2" charset="0"/>
                        </a:rPr>
                        <a:t>(INSURANCE CO’S GENERALLY), </a:t>
                      </a:r>
                      <a:r>
                        <a:rPr lang="en-US" sz="1320" b="0" kern="1200">
                          <a:solidFill>
                            <a:schemeClr val="lt1"/>
                          </a:solidFill>
                          <a:latin typeface="Poppins SemiBold" panose="00000700000000000000" pitchFamily="2" charset="0"/>
                          <a:ea typeface="+mn-ea"/>
                          <a:cs typeface="Poppins SemiBold" panose="00000700000000000000" pitchFamily="2" charset="0"/>
                        </a:rPr>
                        <a:t>SUBCHAPTER 004 </a:t>
                      </a:r>
                      <a:r>
                        <a:rPr lang="en-US" sz="1320" b="0" kern="1200">
                          <a:solidFill>
                            <a:schemeClr val="lt1"/>
                          </a:solidFill>
                          <a:latin typeface="Poppins" panose="00000500000000000000" pitchFamily="2" charset="0"/>
                          <a:ea typeface="+mn-ea"/>
                          <a:cs typeface="Poppins" panose="00000500000000000000" pitchFamily="2" charset="0"/>
                        </a:rPr>
                        <a:t>(INVESTMENTS &amp; LOANS)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03430"/>
                    </a:solidFill>
                  </a:tcPr>
                </a:tc>
                <a:tc hMerge="1">
                  <a:txBody>
                    <a:bodyPr/>
                    <a:lstStyle/>
                    <a:p>
                      <a:endParaRPr lang="en-US"/>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4665E"/>
                    </a:solidFill>
                  </a:tcPr>
                </a:tc>
                <a:extLst>
                  <a:ext uri="{0D108BD9-81ED-4DB2-BD59-A6C34878D82A}">
                    <a16:rowId xmlns:a16="http://schemas.microsoft.com/office/drawing/2014/main" val="226729883"/>
                  </a:ext>
                </a:extLst>
              </a:tr>
              <a:tr h="794555">
                <a:tc rowSpan="3">
                  <a:txBody>
                    <a:bodyPr/>
                    <a:lstStyle/>
                    <a:p>
                      <a:pPr algn="r"/>
                      <a:endParaRPr lang="en-US" sz="1320" b="0" kern="1200">
                        <a:solidFill>
                          <a:schemeClr val="lt1"/>
                        </a:solidFill>
                        <a:latin typeface="Poppins" panose="00000500000000000000" pitchFamily="2" charset="0"/>
                        <a:ea typeface="+mn-ea"/>
                        <a:cs typeface="Poppins" panose="00000500000000000000" pitchFamily="2"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453F"/>
                    </a:solidFill>
                  </a:tcPr>
                </a:tc>
                <a:tc rowSpan="3">
                  <a:txBody>
                    <a:bodyPr/>
                    <a:lstStyle/>
                    <a:p>
                      <a:pPr algn="l"/>
                      <a:r>
                        <a:rPr lang="en-US" sz="1320" b="0" kern="1200">
                          <a:solidFill>
                            <a:schemeClr val="lt1"/>
                          </a:solidFill>
                          <a:latin typeface="Poppins" panose="00000500000000000000" pitchFamily="2" charset="0"/>
                          <a:ea typeface="+mn-ea"/>
                          <a:cs typeface="Poppins" panose="00000500000000000000" pitchFamily="2" charset="0"/>
                        </a:rPr>
                        <a:t>INVESTMENT GUIDELINES FOR RRG’S ARE MORE </a:t>
                      </a:r>
                      <a:r>
                        <a:rPr lang="en-US" sz="1320" b="0" kern="1200" spc="-30" baseline="0">
                          <a:solidFill>
                            <a:schemeClr val="lt1"/>
                          </a:solidFill>
                          <a:latin typeface="Poppins" panose="00000500000000000000" pitchFamily="2" charset="0"/>
                          <a:ea typeface="+mn-ea"/>
                          <a:cs typeface="Poppins" panose="00000500000000000000" pitchFamily="2" charset="0"/>
                        </a:rPr>
                        <a:t>RESTRICTIVE</a:t>
                      </a:r>
                      <a:r>
                        <a:rPr lang="en-US" sz="1320" b="0" kern="1200">
                          <a:solidFill>
                            <a:schemeClr val="lt1"/>
                          </a:solidFill>
                          <a:latin typeface="Poppins" panose="00000500000000000000" pitchFamily="2" charset="0"/>
                          <a:ea typeface="+mn-ea"/>
                          <a:cs typeface="Poppins" panose="00000500000000000000" pitchFamily="2" charset="0"/>
                        </a:rPr>
                        <a:t> THEN TRADITIONAL </a:t>
                      </a:r>
                    </a:p>
                    <a:p>
                      <a:pPr algn="l"/>
                      <a:r>
                        <a:rPr lang="en-US" sz="1320" b="0" kern="1200">
                          <a:solidFill>
                            <a:schemeClr val="lt1"/>
                          </a:solidFill>
                          <a:latin typeface="Poppins" panose="00000500000000000000" pitchFamily="2" charset="0"/>
                          <a:ea typeface="+mn-ea"/>
                          <a:cs typeface="Poppins" panose="00000500000000000000" pitchFamily="2" charset="0"/>
                        </a:rPr>
                        <a:t>CAPTIVES:</a:t>
                      </a:r>
                    </a:p>
                  </a:txBody>
                  <a:tcPr marL="18288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4665E"/>
                    </a:solidFill>
                  </a:tcPr>
                </a:tc>
                <a:tc>
                  <a:txBody>
                    <a:bodyPr/>
                    <a:lstStyle/>
                    <a:p>
                      <a:pPr marL="285750" indent="-285750">
                        <a:buFont typeface="Arial" panose="020B0604020202020204" pitchFamily="34" charset="0"/>
                        <a:buChar char="•"/>
                      </a:pPr>
                      <a:r>
                        <a:rPr lang="en-US" sz="1320" b="0" kern="1200">
                          <a:solidFill>
                            <a:schemeClr val="lt1"/>
                          </a:solidFill>
                          <a:latin typeface="Poppins" panose="00000500000000000000" pitchFamily="2" charset="0"/>
                          <a:ea typeface="+mn-ea"/>
                          <a:cs typeface="Poppins" panose="00000500000000000000" pitchFamily="2" charset="0"/>
                        </a:rPr>
                        <a:t>INVESTMENT GRADE FIXED INCOME &amp; CASH </a:t>
                      </a:r>
                      <a:r>
                        <a:rPr lang="en-US" sz="1320" b="0" kern="1200">
                          <a:solidFill>
                            <a:schemeClr val="lt1"/>
                          </a:solidFill>
                          <a:latin typeface="Poppins SemiBold" panose="00000700000000000000" pitchFamily="2" charset="0"/>
                          <a:ea typeface="+mn-ea"/>
                          <a:cs typeface="Poppins SemiBold" panose="00000700000000000000" pitchFamily="2" charset="0"/>
                        </a:rPr>
                        <a:t>(NAIC 1 OR NAIC 2) </a:t>
                      </a:r>
                      <a:r>
                        <a:rPr lang="en-US" sz="1320" b="0" kern="1200">
                          <a:solidFill>
                            <a:schemeClr val="lt1"/>
                          </a:solidFill>
                          <a:latin typeface="Poppins" panose="00000500000000000000" pitchFamily="2" charset="0"/>
                          <a:ea typeface="+mn-ea"/>
                          <a:cs typeface="Poppins" panose="00000500000000000000" pitchFamily="2" charset="0"/>
                        </a:rPr>
                        <a:t>MAY COMPRISE UP TO 100% (SUBJECT TO ISSUER LIMITATIONS)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2A496"/>
                    </a:solidFill>
                  </a:tcPr>
                </a:tc>
                <a:extLst>
                  <a:ext uri="{0D108BD9-81ED-4DB2-BD59-A6C34878D82A}">
                    <a16:rowId xmlns:a16="http://schemas.microsoft.com/office/drawing/2014/main" val="1493172505"/>
                  </a:ext>
                </a:extLst>
              </a:tr>
              <a:tr h="792248">
                <a:tc vMerge="1">
                  <a:txBody>
                    <a:bodyPr/>
                    <a:lstStyle/>
                    <a:p>
                      <a:endParaRPr lang="en-US"/>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4665E"/>
                    </a:solidFill>
                  </a:tcPr>
                </a:tc>
                <a:tc vMerge="1">
                  <a:txBody>
                    <a:bodyPr/>
                    <a:lstStyle/>
                    <a:p>
                      <a:endParaRPr lang="en-US"/>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4665E"/>
                    </a:solidFill>
                  </a:tcPr>
                </a:tc>
                <a:tc>
                  <a:txBody>
                    <a:bodyPr/>
                    <a:lstStyle/>
                    <a:p>
                      <a:pPr marL="285750" marR="0" lvl="0" indent="-285750" algn="l" defTabSz="8068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20" b="0" kern="1200">
                          <a:solidFill>
                            <a:schemeClr val="lt1"/>
                          </a:solidFill>
                          <a:latin typeface="Poppins" panose="00000500000000000000" pitchFamily="2" charset="0"/>
                          <a:ea typeface="+mn-ea"/>
                          <a:cs typeface="Poppins" panose="00000500000000000000" pitchFamily="2" charset="0"/>
                        </a:rPr>
                        <a:t>BELOW INVESTMENT GRADE BONDS </a:t>
                      </a:r>
                      <a:r>
                        <a:rPr lang="en-US" sz="1320" b="0" kern="1200">
                          <a:solidFill>
                            <a:schemeClr val="lt1"/>
                          </a:solidFill>
                          <a:latin typeface="Poppins SemiBold" panose="00000700000000000000" pitchFamily="2" charset="0"/>
                          <a:ea typeface="+mn-ea"/>
                          <a:cs typeface="Poppins SemiBold" panose="00000700000000000000" pitchFamily="2" charset="0"/>
                        </a:rPr>
                        <a:t>(NAIC 3 THROUGH 6) </a:t>
                      </a:r>
                      <a:r>
                        <a:rPr lang="en-US" sz="1320" b="0" kern="1200">
                          <a:solidFill>
                            <a:schemeClr val="lt1"/>
                          </a:solidFill>
                          <a:latin typeface="Poppins" panose="00000500000000000000" pitchFamily="2" charset="0"/>
                          <a:ea typeface="+mn-ea"/>
                          <a:cs typeface="Poppins" panose="00000500000000000000" pitchFamily="2" charset="0"/>
                        </a:rPr>
                        <a:t>ARE LIMITED TO 20% WITH NAIC 4 - 6 INVESTMENTS LIMITED TO 10%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8277"/>
                    </a:solidFill>
                  </a:tcPr>
                </a:tc>
                <a:extLst>
                  <a:ext uri="{0D108BD9-81ED-4DB2-BD59-A6C34878D82A}">
                    <a16:rowId xmlns:a16="http://schemas.microsoft.com/office/drawing/2014/main" val="947437351"/>
                  </a:ext>
                </a:extLst>
              </a:tr>
              <a:tr h="648627">
                <a:tc vMerge="1">
                  <a:txBody>
                    <a:bodyPr/>
                    <a:lstStyle/>
                    <a:p>
                      <a:endParaRPr lang="en-US"/>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4665E"/>
                    </a:solidFill>
                  </a:tcPr>
                </a:tc>
                <a:tc vMerge="1">
                  <a:txBody>
                    <a:bodyPr/>
                    <a:lstStyle/>
                    <a:p>
                      <a:endParaRPr lang="en-US"/>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4665E"/>
                    </a:solidFill>
                  </a:tcPr>
                </a:tc>
                <a:tc>
                  <a:txBody>
                    <a:bodyPr/>
                    <a:lstStyle/>
                    <a:p>
                      <a:pPr marL="285750" marR="0" lvl="0" indent="-285750" algn="l" defTabSz="8068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20" b="0" kern="1200">
                          <a:solidFill>
                            <a:schemeClr val="lt1"/>
                          </a:solidFill>
                          <a:latin typeface="Poppins" panose="00000500000000000000" pitchFamily="2" charset="0"/>
                          <a:ea typeface="+mn-ea"/>
                          <a:cs typeface="Poppins" panose="00000500000000000000" pitchFamily="2" charset="0"/>
                        </a:rPr>
                        <a:t>EQUITY ALLOCATION LIMITED TO 25%</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7B64"/>
                    </a:solidFill>
                  </a:tcPr>
                </a:tc>
                <a:extLst>
                  <a:ext uri="{0D108BD9-81ED-4DB2-BD59-A6C34878D82A}">
                    <a16:rowId xmlns:a16="http://schemas.microsoft.com/office/drawing/2014/main" val="1895113950"/>
                  </a:ext>
                </a:extLst>
              </a:tr>
              <a:tr h="957053">
                <a:tc>
                  <a:txBody>
                    <a:bodyPr/>
                    <a:lstStyle/>
                    <a:p>
                      <a:r>
                        <a:rPr lang="en-US" sz="1320" b="0">
                          <a:latin typeface="Poppins" panose="00000500000000000000" pitchFamily="2" charset="0"/>
                          <a:cs typeface="Poppins" panose="00000500000000000000" pitchFamily="2" charset="0"/>
                        </a:rPr>
                        <a:t>W</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E4552"/>
                    </a:solidFill>
                  </a:tcPr>
                </a:tc>
                <a:tc gridSpan="2">
                  <a:txBody>
                    <a:bodyPr/>
                    <a:lstStyle/>
                    <a:p>
                      <a:r>
                        <a:rPr lang="en-US" sz="1320" b="0" kern="1200">
                          <a:solidFill>
                            <a:schemeClr val="lt1"/>
                          </a:solidFill>
                          <a:latin typeface="Poppins" panose="00000500000000000000" pitchFamily="2" charset="0"/>
                          <a:ea typeface="+mn-ea"/>
                          <a:cs typeface="Poppins" panose="00000500000000000000" pitchFamily="2" charset="0"/>
                        </a:rPr>
                        <a:t>WE HAVE A LONG-STANDING RELATIONSHIP WITH THE VERMONT DFR &amp; HAVE SIGNIFICANT EXPERIENCE MANAGING INVESTMENT PORTFOLIOS UNDER THE VERMONT CAPTIVE STATUTE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6376"/>
                    </a:solidFill>
                  </a:tcPr>
                </a:tc>
                <a:tc hMerge="1">
                  <a:txBody>
                    <a:bodyPr/>
                    <a:lstStyle/>
                    <a:p>
                      <a:endParaRPr lang="en-US"/>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4665E"/>
                    </a:solidFill>
                  </a:tcPr>
                </a:tc>
                <a:extLst>
                  <a:ext uri="{0D108BD9-81ED-4DB2-BD59-A6C34878D82A}">
                    <a16:rowId xmlns:a16="http://schemas.microsoft.com/office/drawing/2014/main" val="2620990590"/>
                  </a:ext>
                </a:extLst>
              </a:tr>
            </a:tbl>
          </a:graphicData>
        </a:graphic>
      </p:graphicFrame>
      <p:sp>
        <p:nvSpPr>
          <p:cNvPr id="16" name="Oval 15">
            <a:extLst>
              <a:ext uri="{FF2B5EF4-FFF2-40B4-BE49-F238E27FC236}">
                <a16:creationId xmlns:a16="http://schemas.microsoft.com/office/drawing/2014/main" id="{E2A16BB3-F5EC-48A0-BD14-FF7D6B63CEF5}"/>
              </a:ext>
            </a:extLst>
          </p:cNvPr>
          <p:cNvSpPr/>
          <p:nvPr/>
        </p:nvSpPr>
        <p:spPr>
          <a:xfrm rot="19828041">
            <a:off x="513641" y="5540012"/>
            <a:ext cx="791147" cy="731917"/>
          </a:xfrm>
          <a:prstGeom prst="ellipse">
            <a:avLst/>
          </a:prstGeom>
          <a:solidFill>
            <a:schemeClr val="bg1"/>
          </a:solidFill>
          <a:ln w="76200" cap="flat">
            <a:solidFill>
              <a:srgbClr val="426376"/>
            </a:solidFill>
            <a:prstDash val="solid"/>
            <a:miter lim="800000"/>
          </a:ln>
          <a:effectLst>
            <a:outerShdw blurRad="279400" dist="38100" dir="10800000" sx="115000" sy="115000" algn="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18" name="Oval 17">
            <a:extLst>
              <a:ext uri="{FF2B5EF4-FFF2-40B4-BE49-F238E27FC236}">
                <a16:creationId xmlns:a16="http://schemas.microsoft.com/office/drawing/2014/main" id="{DF6EDC12-BC00-EFF3-4B93-E1E99D5FC5B1}"/>
              </a:ext>
            </a:extLst>
          </p:cNvPr>
          <p:cNvSpPr/>
          <p:nvPr/>
        </p:nvSpPr>
        <p:spPr>
          <a:xfrm rot="18825386">
            <a:off x="541300" y="1387090"/>
            <a:ext cx="736591" cy="736591"/>
          </a:xfrm>
          <a:prstGeom prst="ellipse">
            <a:avLst/>
          </a:prstGeom>
          <a:solidFill>
            <a:schemeClr val="bg1"/>
          </a:solidFill>
          <a:ln w="76200" cap="flat">
            <a:solidFill>
              <a:srgbClr val="354F52"/>
            </a:solidFill>
            <a:prstDash val="solid"/>
            <a:miter lim="800000"/>
          </a:ln>
          <a:effectLst>
            <a:outerShdw blurRad="279400" dist="38100" dir="10800000" sx="115000" sy="115000" algn="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effectLst/>
              <a:uFillTx/>
              <a:latin typeface="+mn-lt"/>
              <a:ea typeface="+mn-ea"/>
              <a:cs typeface="+mn-cs"/>
              <a:sym typeface="Calibri"/>
            </a:endParaRPr>
          </a:p>
        </p:txBody>
      </p:sp>
      <p:sp>
        <p:nvSpPr>
          <p:cNvPr id="19" name="Oval 18">
            <a:extLst>
              <a:ext uri="{FF2B5EF4-FFF2-40B4-BE49-F238E27FC236}">
                <a16:creationId xmlns:a16="http://schemas.microsoft.com/office/drawing/2014/main" id="{726ACE90-FB80-0DAA-8393-CEDF3215C520}"/>
              </a:ext>
            </a:extLst>
          </p:cNvPr>
          <p:cNvSpPr/>
          <p:nvPr/>
        </p:nvSpPr>
        <p:spPr>
          <a:xfrm rot="5973363">
            <a:off x="512020" y="3869536"/>
            <a:ext cx="780963" cy="780963"/>
          </a:xfrm>
          <a:prstGeom prst="ellipse">
            <a:avLst/>
          </a:prstGeom>
          <a:solidFill>
            <a:schemeClr val="bg1"/>
          </a:solidFill>
          <a:ln w="76200" cap="flat">
            <a:solidFill>
              <a:srgbClr val="497B64"/>
            </a:solidFill>
            <a:prstDash val="solid"/>
            <a:miter lim="800000"/>
          </a:ln>
          <a:effectLst>
            <a:outerShdw blurRad="279400" dist="38100" dir="10800000" sx="115000" sy="115000" algn="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pic>
        <p:nvPicPr>
          <p:cNvPr id="21" name="Graphic 37" descr="Settings with solid fill">
            <a:extLst>
              <a:ext uri="{FF2B5EF4-FFF2-40B4-BE49-F238E27FC236}">
                <a16:creationId xmlns:a16="http://schemas.microsoft.com/office/drawing/2014/main" id="{CE42B0BA-F4DA-DBED-CF0C-0B5125EB5D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112" y="3965013"/>
            <a:ext cx="580354" cy="580354"/>
          </a:xfrm>
          <a:prstGeom prst="rect">
            <a:avLst/>
          </a:prstGeom>
        </p:spPr>
      </p:pic>
      <p:pic>
        <p:nvPicPr>
          <p:cNvPr id="45" name="Graphic 44" descr="Bank with solid fill">
            <a:extLst>
              <a:ext uri="{FF2B5EF4-FFF2-40B4-BE49-F238E27FC236}">
                <a16:creationId xmlns:a16="http://schemas.microsoft.com/office/drawing/2014/main" id="{99D80A0D-C556-3A07-4788-0B64471D6B0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1066" y="1400154"/>
            <a:ext cx="608165" cy="608165"/>
          </a:xfrm>
          <a:prstGeom prst="rect">
            <a:avLst/>
          </a:prstGeom>
        </p:spPr>
      </p:pic>
      <p:pic>
        <p:nvPicPr>
          <p:cNvPr id="57" name="Graphic 56" descr="Handshake with solid fill">
            <a:extLst>
              <a:ext uri="{FF2B5EF4-FFF2-40B4-BE49-F238E27FC236}">
                <a16:creationId xmlns:a16="http://schemas.microsoft.com/office/drawing/2014/main" id="{A27E7D21-DF71-EFA4-CBA0-FE88F4FA960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4763" y="5630588"/>
            <a:ext cx="608337" cy="608337"/>
          </a:xfrm>
          <a:prstGeom prst="rect">
            <a:avLst/>
          </a:prstGeom>
        </p:spPr>
      </p:pic>
      <p:sp>
        <p:nvSpPr>
          <p:cNvPr id="58" name="Oval 57">
            <a:extLst>
              <a:ext uri="{FF2B5EF4-FFF2-40B4-BE49-F238E27FC236}">
                <a16:creationId xmlns:a16="http://schemas.microsoft.com/office/drawing/2014/main" id="{973C9B85-9CB8-0A78-5328-CC68CECDFD5E}"/>
              </a:ext>
            </a:extLst>
          </p:cNvPr>
          <p:cNvSpPr/>
          <p:nvPr/>
        </p:nvSpPr>
        <p:spPr>
          <a:xfrm rot="18825386">
            <a:off x="549208" y="2352058"/>
            <a:ext cx="737497" cy="737497"/>
          </a:xfrm>
          <a:prstGeom prst="ellipse">
            <a:avLst/>
          </a:prstGeom>
          <a:solidFill>
            <a:schemeClr val="bg1"/>
          </a:solidFill>
          <a:ln w="76200" cap="flat">
            <a:solidFill>
              <a:srgbClr val="50787C"/>
            </a:solidFill>
            <a:prstDash val="solid"/>
            <a:miter lim="800000"/>
          </a:ln>
          <a:effectLst>
            <a:outerShdw blurRad="279400" dist="38100" dir="10800000" sx="115000" sy="115000" algn="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horz" wrap="square" lIns="45719" tIns="45719" rIns="45719" bIns="45719"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effectLst/>
              <a:uFillTx/>
              <a:latin typeface="+mn-lt"/>
              <a:ea typeface="+mn-ea"/>
              <a:cs typeface="+mn-cs"/>
              <a:sym typeface="Calibri"/>
            </a:endParaRPr>
          </a:p>
        </p:txBody>
      </p:sp>
      <p:pic>
        <p:nvPicPr>
          <p:cNvPr id="49" name="Graphic 48" descr="Closed book with solid fill">
            <a:extLst>
              <a:ext uri="{FF2B5EF4-FFF2-40B4-BE49-F238E27FC236}">
                <a16:creationId xmlns:a16="http://schemas.microsoft.com/office/drawing/2014/main" id="{7A54DA6A-3D83-ABAB-8216-6C109BB320A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2527" y="2443252"/>
            <a:ext cx="572290" cy="572290"/>
          </a:xfrm>
          <a:prstGeom prst="rect">
            <a:avLst/>
          </a:prstGeom>
        </p:spPr>
      </p:pic>
      <p:sp>
        <p:nvSpPr>
          <p:cNvPr id="4" name="Title 1">
            <a:extLst>
              <a:ext uri="{FF2B5EF4-FFF2-40B4-BE49-F238E27FC236}">
                <a16:creationId xmlns:a16="http://schemas.microsoft.com/office/drawing/2014/main" id="{B3DB56F0-0F47-A320-A067-02FACC7AD674}"/>
              </a:ext>
            </a:extLst>
          </p:cNvPr>
          <p:cNvSpPr txBox="1">
            <a:spLocks/>
          </p:cNvSpPr>
          <p:nvPr/>
        </p:nvSpPr>
        <p:spPr>
          <a:xfrm>
            <a:off x="286233" y="469794"/>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a:latin typeface="Poppins SemiBold" panose="00000700000000000000" pitchFamily="2" charset="0"/>
                <a:cs typeface="Poppins SemiBold" panose="00000700000000000000" pitchFamily="2" charset="0"/>
              </a:rPr>
              <a:t>VT INVESTMENT </a:t>
            </a:r>
            <a:r>
              <a:rPr lang="en-US" sz="1800">
                <a:solidFill>
                  <a:srgbClr val="0F2E55"/>
                </a:solidFill>
                <a:latin typeface="Poppins SemiBold" panose="00000700000000000000" pitchFamily="2" charset="0"/>
                <a:cs typeface="Poppins SemiBold" panose="00000700000000000000" pitchFamily="2" charset="0"/>
              </a:rPr>
              <a:t>RESTRICTIONS FOR RRG’S</a:t>
            </a:r>
          </a:p>
        </p:txBody>
      </p:sp>
    </p:spTree>
    <p:extLst>
      <p:ext uri="{BB962C8B-B14F-4D97-AF65-F5344CB8AC3E}">
        <p14:creationId xmlns:p14="http://schemas.microsoft.com/office/powerpoint/2010/main" val="71099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0AAB4721-2E06-4606-AB7D-8E626C011077}"/>
              </a:ext>
            </a:extLst>
          </p:cNvPr>
          <p:cNvSpPr txBox="1">
            <a:spLocks/>
          </p:cNvSpPr>
          <p:nvPr/>
        </p:nvSpPr>
        <p:spPr>
          <a:xfrm>
            <a:off x="286233" y="469794"/>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a:latin typeface="Poppins SemiBold" panose="00000700000000000000" pitchFamily="2" charset="0"/>
                <a:cs typeface="Poppins SemiBold" panose="00000700000000000000" pitchFamily="2" charset="0"/>
              </a:rPr>
              <a:t>VT INVESTMENT </a:t>
            </a:r>
            <a:r>
              <a:rPr lang="en-US" sz="1800">
                <a:solidFill>
                  <a:srgbClr val="0F2E55"/>
                </a:solidFill>
                <a:latin typeface="Poppins SemiBold" panose="00000700000000000000" pitchFamily="2" charset="0"/>
                <a:cs typeface="Poppins SemiBold" panose="00000700000000000000" pitchFamily="2" charset="0"/>
              </a:rPr>
              <a:t>RESTRICTIONS FOR RRG’S</a:t>
            </a:r>
          </a:p>
        </p:txBody>
      </p:sp>
      <p:sp>
        <p:nvSpPr>
          <p:cNvPr id="25" name="Slide Number Placeholder 1">
            <a:extLst>
              <a:ext uri="{FF2B5EF4-FFF2-40B4-BE49-F238E27FC236}">
                <a16:creationId xmlns:a16="http://schemas.microsoft.com/office/drawing/2014/main" id="{C6BA560A-6705-4CD4-A9EE-E94A6D7BD4B6}"/>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26</a:t>
            </a:fld>
            <a:endParaRPr lang="en-US" sz="882">
              <a:solidFill>
                <a:srgbClr val="000000"/>
              </a:solidFill>
            </a:endParaRPr>
          </a:p>
        </p:txBody>
      </p:sp>
      <p:sp>
        <p:nvSpPr>
          <p:cNvPr id="30" name="Line 309">
            <a:extLst>
              <a:ext uri="{FF2B5EF4-FFF2-40B4-BE49-F238E27FC236}">
                <a16:creationId xmlns:a16="http://schemas.microsoft.com/office/drawing/2014/main" id="{A2EFA4C1-65EC-4410-8EB9-A6C8D005123B}"/>
              </a:ext>
            </a:extLst>
          </p:cNvPr>
          <p:cNvSpPr>
            <a:spLocks noChangeShapeType="1"/>
          </p:cNvSpPr>
          <p:nvPr/>
        </p:nvSpPr>
        <p:spPr bwMode="auto">
          <a:xfrm>
            <a:off x="365760" y="6449753"/>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31" name="Rectangle 30">
            <a:extLst>
              <a:ext uri="{FF2B5EF4-FFF2-40B4-BE49-F238E27FC236}">
                <a16:creationId xmlns:a16="http://schemas.microsoft.com/office/drawing/2014/main" id="{57C9FB6D-1F12-43AE-9B2F-EF121472DA1B}"/>
              </a:ext>
            </a:extLst>
          </p:cNvPr>
          <p:cNvSpPr/>
          <p:nvPr/>
        </p:nvSpPr>
        <p:spPr bwMode="auto">
          <a:xfrm>
            <a:off x="365760" y="825084"/>
            <a:ext cx="8412480" cy="338554"/>
          </a:xfrm>
          <a:prstGeom prst="rect">
            <a:avLst/>
          </a:prstGeom>
          <a:solidFill>
            <a:srgbClr val="106280"/>
          </a:solidFill>
        </p:spPr>
        <p:txBody>
          <a:bodyPr wrap="square" tIns="0" rIns="0" bIns="0" rtlCol="0" anchor="ctr">
            <a:noAutofit/>
          </a:bodyPr>
          <a:lstStyle/>
          <a:p>
            <a:r>
              <a:rPr lang="en-US" sz="1600">
                <a:solidFill>
                  <a:schemeClr val="bg1"/>
                </a:solidFill>
                <a:latin typeface="Poppins Light" panose="00000400000000000000" pitchFamily="2" charset="0"/>
                <a:cs typeface="Poppins Light" panose="00000400000000000000" pitchFamily="2" charset="0"/>
              </a:rPr>
              <a:t>COMPLIANCE | </a:t>
            </a:r>
            <a:r>
              <a:rPr lang="en-US" sz="1600">
                <a:solidFill>
                  <a:schemeClr val="bg1"/>
                </a:solidFill>
                <a:latin typeface="Poppins Medium" panose="00000600000000000000" pitchFamily="2" charset="0"/>
                <a:cs typeface="Poppins Medium" panose="00000600000000000000" pitchFamily="2" charset="0"/>
              </a:rPr>
              <a:t>RRG’S</a:t>
            </a:r>
          </a:p>
        </p:txBody>
      </p:sp>
      <p:graphicFrame>
        <p:nvGraphicFramePr>
          <p:cNvPr id="33" name="Table 32">
            <a:extLst>
              <a:ext uri="{FF2B5EF4-FFF2-40B4-BE49-F238E27FC236}">
                <a16:creationId xmlns:a16="http://schemas.microsoft.com/office/drawing/2014/main" id="{0933B22F-27A3-4341-BF78-211D4A6C1405}"/>
              </a:ext>
            </a:extLst>
          </p:cNvPr>
          <p:cNvGraphicFramePr>
            <a:graphicFrameLocks noGrp="1"/>
          </p:cNvGraphicFramePr>
          <p:nvPr>
            <p:extLst>
              <p:ext uri="{D42A27DB-BD31-4B8C-83A1-F6EECF244321}">
                <p14:modId xmlns:p14="http://schemas.microsoft.com/office/powerpoint/2010/main" val="3124416087"/>
              </p:ext>
            </p:extLst>
          </p:nvPr>
        </p:nvGraphicFramePr>
        <p:xfrm>
          <a:off x="366582" y="1230751"/>
          <a:ext cx="8411659" cy="5002274"/>
        </p:xfrm>
        <a:graphic>
          <a:graphicData uri="http://schemas.openxmlformats.org/drawingml/2006/table">
            <a:tbl>
              <a:tblPr bandRow="1">
                <a:tableStyleId>{93296810-A885-4BE3-A3E7-6D5BEEA58F35}</a:tableStyleId>
              </a:tblPr>
              <a:tblGrid>
                <a:gridCol w="3862497">
                  <a:extLst>
                    <a:ext uri="{9D8B030D-6E8A-4147-A177-3AD203B41FA5}">
                      <a16:colId xmlns:a16="http://schemas.microsoft.com/office/drawing/2014/main" val="20000"/>
                    </a:ext>
                  </a:extLst>
                </a:gridCol>
                <a:gridCol w="2339261">
                  <a:extLst>
                    <a:ext uri="{9D8B030D-6E8A-4147-A177-3AD203B41FA5}">
                      <a16:colId xmlns:a16="http://schemas.microsoft.com/office/drawing/2014/main" val="20001"/>
                    </a:ext>
                  </a:extLst>
                </a:gridCol>
                <a:gridCol w="2209901">
                  <a:extLst>
                    <a:ext uri="{9D8B030D-6E8A-4147-A177-3AD203B41FA5}">
                      <a16:colId xmlns:a16="http://schemas.microsoft.com/office/drawing/2014/main" val="20002"/>
                    </a:ext>
                  </a:extLst>
                </a:gridCol>
              </a:tblGrid>
              <a:tr h="349630">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cap="all" baseline="0">
                          <a:solidFill>
                            <a:schemeClr val="bg1"/>
                          </a:solidFill>
                          <a:latin typeface="Poppins" panose="00000500000000000000" pitchFamily="2" charset="0"/>
                          <a:cs typeface="Poppins" panose="00000500000000000000" pitchFamily="2" charset="0"/>
                        </a:rPr>
                        <a:t>SUMMARY OF GUIDELINES – 8 V.S.A., Chapter 141, Section 6010</a:t>
                      </a: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A4256"/>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cap="all" baseline="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A4256"/>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0" cap="all" baseline="0">
                        <a:solidFill>
                          <a:schemeClr val="bg1"/>
                        </a:solidFill>
                        <a:latin typeface="Poppins" panose="00000500000000000000" pitchFamily="2" charset="0"/>
                        <a:cs typeface="Poppins" panose="00000500000000000000" pitchFamily="2" charset="0"/>
                      </a:endParaRPr>
                    </a:p>
                  </a:txBody>
                  <a:tcPr marL="80682" marR="80682" marT="40341" marB="403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A4256"/>
                    </a:solidFill>
                  </a:tcPr>
                </a:tc>
                <a:extLst>
                  <a:ext uri="{0D108BD9-81ED-4DB2-BD59-A6C34878D82A}">
                    <a16:rowId xmlns:a16="http://schemas.microsoft.com/office/drawing/2014/main" val="10000"/>
                  </a:ext>
                </a:extLst>
              </a:tr>
              <a:tr h="413653">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ASSET CLASS</a:t>
                      </a:r>
                      <a:endParaRPr kumimoji="0" lang="en-US" sz="1050" b="0" i="0" u="none" strike="noStrike" kern="1200" cap="none" spc="0" normalizeH="0" baseline="30000" noProof="0">
                        <a:ln>
                          <a:noFill/>
                        </a:ln>
                        <a:solidFill>
                          <a:srgbClr val="FFFFFF"/>
                        </a:solidFill>
                        <a:effectLst/>
                        <a:uLnTx/>
                        <a:uFillTx/>
                        <a:latin typeface="Poppins" panose="00000500000000000000" pitchFamily="2" charset="0"/>
                        <a:ea typeface="+mn-ea"/>
                        <a:cs typeface="Poppins" panose="00000500000000000000" pitchFamily="2" charset="0"/>
                      </a:endParaRPr>
                    </a:p>
                  </a:txBody>
                  <a:tcPr marL="8404" marR="8404" marT="8404"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AGGREGATE ALLOWABLE</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 OF ADMITTED ASSETS)</a:t>
                      </a:r>
                      <a:endParaRPr kumimoji="0" lang="en-US" sz="1050" b="0" i="0" u="none" strike="noStrike" kern="1200" cap="none" spc="0" normalizeH="0" baseline="30000" noProof="0">
                        <a:ln>
                          <a:noFill/>
                        </a:ln>
                        <a:solidFill>
                          <a:srgbClr val="FFFFFF"/>
                        </a:solidFill>
                        <a:effectLst/>
                        <a:uLnTx/>
                        <a:uFillTx/>
                        <a:latin typeface="Poppins" panose="00000500000000000000" pitchFamily="2" charset="0"/>
                        <a:ea typeface="+mn-ea"/>
                        <a:cs typeface="Poppins" panose="00000500000000000000" pitchFamily="2" charset="0"/>
                      </a:endParaRPr>
                    </a:p>
                  </a:txBody>
                  <a:tcPr marL="8404" marR="8404" marT="840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PER ISSUER ALLOWABLE</a:t>
                      </a:r>
                    </a:p>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rPr>
                        <a:t>(% OF ADMITTED ASSETS)</a:t>
                      </a:r>
                      <a:endParaRPr kumimoji="0" lang="en-US" sz="1050" b="0" i="0" u="none" strike="noStrike" kern="1200" cap="none" spc="0" normalizeH="0" baseline="30000" noProof="0">
                        <a:ln>
                          <a:noFill/>
                        </a:ln>
                        <a:solidFill>
                          <a:srgbClr val="FFFFFF"/>
                        </a:solidFill>
                        <a:effectLst/>
                        <a:uLnTx/>
                        <a:uFillTx/>
                        <a:latin typeface="Poppins" panose="00000500000000000000" pitchFamily="2" charset="0"/>
                        <a:ea typeface="+mn-ea"/>
                        <a:cs typeface="Poppins" panose="00000500000000000000" pitchFamily="2" charset="0"/>
                      </a:endParaRPr>
                    </a:p>
                  </a:txBody>
                  <a:tcPr marL="8404" marR="8404" marT="8404"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1"/>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CASH</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lang="en-US" sz="1100" b="0" i="0" u="none" strike="noStrike" kern="1200" cap="all" baseline="0">
                          <a:solidFill>
                            <a:srgbClr val="000000"/>
                          </a:solidFill>
                          <a:effectLst/>
                          <a:latin typeface="Poppins" panose="00000500000000000000" pitchFamily="2" charset="0"/>
                          <a:ea typeface="+mn-ea"/>
                          <a:cs typeface="+mn-cs"/>
                        </a:rPr>
                        <a:t>Unlimited</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lang="en-US" sz="1100" b="0" i="0" u="none" strike="noStrike" kern="1200" cap="all" baseline="0">
                          <a:solidFill>
                            <a:srgbClr val="000000"/>
                          </a:solidFill>
                          <a:effectLst/>
                          <a:latin typeface="Poppins" panose="00000500000000000000" pitchFamily="2" charset="0"/>
                          <a:ea typeface="+mn-ea"/>
                          <a:cs typeface="+mn-cs"/>
                        </a:rPr>
                        <a:t>Unlimited</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5523250"/>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Gov't Obligations or Gov't Agencies</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100" b="0" i="0" u="none" strike="noStrike" kern="1200" cap="all" baseline="0">
                          <a:solidFill>
                            <a:srgbClr val="000000"/>
                          </a:solidFill>
                          <a:effectLst/>
                          <a:latin typeface="Poppins" panose="00000500000000000000" pitchFamily="2" charset="0"/>
                          <a:ea typeface="+mn-ea"/>
                          <a:cs typeface="+mn-cs"/>
                        </a:rPr>
                        <a:t>"</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Poppins" panose="00000500000000000000" pitchFamily="2" charset="0"/>
                        </a:rPr>
                        <a:t>10%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Gov't Money Market Mutual Funds</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100" b="0" i="0" u="none" strike="noStrike" kern="1200" cap="all" baseline="0">
                          <a:solidFill>
                            <a:srgbClr val="000000"/>
                          </a:solidFill>
                          <a:effectLst/>
                          <a:latin typeface="Poppins" panose="00000500000000000000" pitchFamily="2" charset="0"/>
                          <a:ea typeface="+mn-ea"/>
                          <a:cs typeface="+mn-cs"/>
                        </a:rPr>
                        <a:t>"</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10%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8423017"/>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Class One MONEY MARKET FUND</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100" b="0" i="0" u="none" strike="noStrike" kern="1200" cap="all" baseline="0">
                          <a:solidFill>
                            <a:srgbClr val="000000"/>
                          </a:solidFill>
                          <a:effectLst/>
                          <a:latin typeface="Poppins" panose="00000500000000000000" pitchFamily="2" charset="0"/>
                          <a:ea typeface="+mn-ea"/>
                          <a:cs typeface="+mn-cs"/>
                        </a:rPr>
                        <a:t>"</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10%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3261360"/>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Class One Bond Mutual Fund</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100" b="0" i="0" u="none" strike="noStrike" kern="1200" cap="all" baseline="0">
                          <a:solidFill>
                            <a:srgbClr val="000000"/>
                          </a:solidFill>
                          <a:effectLst/>
                          <a:latin typeface="Poppins" panose="00000500000000000000" pitchFamily="2" charset="0"/>
                          <a:ea typeface="+mn-ea"/>
                          <a:cs typeface="+mn-cs"/>
                        </a:rPr>
                        <a:t>"</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10%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6852911"/>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State Obligations</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100" b="0" i="0" u="none" strike="noStrike" kern="1200" cap="all" baseline="0">
                          <a:solidFill>
                            <a:srgbClr val="000000"/>
                          </a:solidFill>
                          <a:effectLst/>
                          <a:latin typeface="Poppins" panose="00000500000000000000" pitchFamily="2" charset="0"/>
                          <a:ea typeface="+mn-ea"/>
                          <a:cs typeface="+mn-cs"/>
                        </a:rPr>
                        <a:t>"</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10%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State Political Subdivisions</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r>
                        <a:rPr lang="en-US" sz="1100" b="0" i="0" u="none" strike="noStrike" kern="1200" cap="all" baseline="0">
                          <a:solidFill>
                            <a:srgbClr val="000000"/>
                          </a:solidFill>
                          <a:effectLst/>
                          <a:latin typeface="Poppins" panose="00000500000000000000" pitchFamily="2" charset="0"/>
                          <a:ea typeface="+mn-ea"/>
                          <a:cs typeface="+mn-cs"/>
                        </a:rPr>
                        <a:t>"</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10%</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487494"/>
                  </a:ext>
                </a:extLst>
              </a:tr>
              <a:tr h="96268">
                <a:tc gridSpan="3">
                  <a:txBody>
                    <a:bodyPr/>
                    <a:lstStyle/>
                    <a:p>
                      <a:pPr algn="ctr" fontAlgn="t"/>
                      <a:endParaRPr lang="en-US" sz="500" b="0" i="0" u="none" strike="noStrike" kern="1200" cap="all" baseline="0">
                        <a:solidFill>
                          <a:srgbClr val="000000"/>
                        </a:solidFill>
                        <a:effectLst/>
                        <a:latin typeface="Poppins" panose="00000500000000000000" pitchFamily="2" charset="0"/>
                        <a:ea typeface="+mn-ea"/>
                        <a:cs typeface="+mn-cs"/>
                      </a:endParaRPr>
                    </a:p>
                  </a:txBody>
                  <a:tcPr marL="4763" marR="4763" marT="4763"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algn="ctr" fontAlgn="t"/>
                      <a:endParaRPr lang="en-US" sz="1100" b="0" i="0" u="none" strike="noStrike" kern="1200" cap="all" baseline="0">
                        <a:solidFill>
                          <a:srgbClr val="000000"/>
                        </a:solidFill>
                        <a:effectLst/>
                        <a:latin typeface="Poppins" panose="00000500000000000000" pitchFamily="2" charset="0"/>
                        <a:ea typeface="+mn-ea"/>
                        <a:cs typeface="+mn-cs"/>
                      </a:endParaRP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3570045493"/>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INVESTMENT GRADE CORPORATE BONDS (NAIC 1 &amp; 2)</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UNLIMITED</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5%</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5471158"/>
                  </a:ext>
                </a:extLst>
              </a:tr>
              <a:tr h="96268">
                <a:tc gridSpan="3">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Poppins" panose="00000500000000000000" pitchFamily="2" charset="0"/>
                        <a:ea typeface="+mn-ea"/>
                        <a:cs typeface="+mn-cs"/>
                      </a:endParaRPr>
                    </a:p>
                  </a:txBody>
                  <a:tcPr marL="4763" marR="4763" marT="4763"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algn="ctr" fontAlgn="t"/>
                      <a:endParaRPr lang="en-US" sz="1100" b="0" i="0" u="none" strike="noStrike" kern="1200" cap="all" baseline="0">
                        <a:solidFill>
                          <a:srgbClr val="000000"/>
                        </a:solidFill>
                        <a:effectLst/>
                        <a:latin typeface="Poppins" panose="00000500000000000000" pitchFamily="2" charset="0"/>
                        <a:ea typeface="+mn-ea"/>
                        <a:cs typeface="+mn-cs"/>
                      </a:endParaRP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9262062"/>
                  </a:ext>
                </a:extLst>
              </a:tr>
              <a:tr h="27260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ASSET BACKED SECURITIES</a:t>
                      </a: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UNLIMITED</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rPr>
                        <a:t>5%</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3611325"/>
                  </a:ext>
                </a:extLst>
              </a:tr>
              <a:tr h="96268">
                <a:tc gridSpan="3">
                  <a:txBody>
                    <a:bodyPr/>
                    <a:lstStyle/>
                    <a:p>
                      <a:pPr algn="ctr" fontAlgn="t"/>
                      <a:endParaRPr lang="en-US" sz="500" b="0" i="0" u="none" strike="noStrike" kern="1200" cap="all" baseline="0">
                        <a:solidFill>
                          <a:srgbClr val="000000"/>
                        </a:solidFill>
                        <a:effectLst/>
                        <a:latin typeface="Poppins" panose="00000500000000000000" pitchFamily="2" charset="0"/>
                        <a:ea typeface="+mn-ea"/>
                        <a:cs typeface="+mn-cs"/>
                      </a:endParaRPr>
                    </a:p>
                  </a:txBody>
                  <a:tcPr marL="4763" marR="4763" marT="4763"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algn="ctr" fontAlgn="t"/>
                      <a:endParaRPr lang="en-US" sz="500" b="0" i="0" u="none" strike="noStrike" kern="1200" cap="all" baseline="0">
                        <a:solidFill>
                          <a:srgbClr val="000000"/>
                        </a:solidFill>
                        <a:effectLst/>
                        <a:latin typeface="Poppins" panose="00000500000000000000" pitchFamily="2" charset="0"/>
                        <a:ea typeface="+mn-ea"/>
                        <a:cs typeface="+mn-cs"/>
                      </a:endParaRP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Poppins" panose="00000500000000000000" pitchFamily="2" charset="0"/>
                        <a:ea typeface="+mn-ea"/>
                        <a:cs typeface="+mn-c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655633545"/>
                  </a:ext>
                </a:extLst>
              </a:tr>
              <a:tr h="440592">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Equity Interest - U.S. and Canada</a:t>
                      </a:r>
                      <a:b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br>
                      <a:r>
                        <a:rPr kumimoji="0" lang="en-US" sz="800" b="0" i="0" u="none" strike="noStrike" kern="1200" cap="all" spc="0" normalizeH="0" baseline="0">
                          <a:ln>
                            <a:noFill/>
                          </a:ln>
                          <a:solidFill>
                            <a:srgbClr val="000000"/>
                          </a:solidFill>
                          <a:effectLst/>
                          <a:uLnTx/>
                          <a:uFillTx/>
                          <a:latin typeface="Poppins" panose="00000500000000000000" pitchFamily="2" charset="0"/>
                          <a:ea typeface="+mn-ea"/>
                          <a:cs typeface="+mn-cs"/>
                        </a:rPr>
                        <a:t>(The greater of 25% of AA or 100% of C&amp;S)</a:t>
                      </a:r>
                      <a:endParaRPr kumimoji="0" lang="en-US" sz="1050" b="0" i="0" u="none" strike="noStrike" kern="1200" cap="all" spc="0" normalizeH="0" baseline="0">
                        <a:ln>
                          <a:noFill/>
                        </a:ln>
                        <a:solidFill>
                          <a:srgbClr val="000000"/>
                        </a:solidFill>
                        <a:effectLst/>
                        <a:uLnTx/>
                        <a:uFillTx/>
                        <a:latin typeface="Poppins" panose="00000500000000000000" pitchFamily="2" charset="0"/>
                        <a:ea typeface="+mn-ea"/>
                        <a:cs typeface="+mn-cs"/>
                      </a:endParaRP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a:ln>
                            <a:noFill/>
                          </a:ln>
                          <a:solidFill>
                            <a:srgbClr val="000000"/>
                          </a:solidFill>
                          <a:effectLst/>
                          <a:uLnTx/>
                          <a:uFillTx/>
                          <a:latin typeface="Poppins" panose="00000500000000000000" pitchFamily="2" charset="0"/>
                          <a:ea typeface="+mn-ea"/>
                          <a:cs typeface="+mn-cs"/>
                        </a:rPr>
                        <a:t>25%</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kumimoji="0" lang="en-US" sz="1100" b="0" i="0" u="none" strike="noStrike" kern="1200" cap="all" spc="0" normalizeH="0" baseline="0" noProof="0">
                          <a:ln>
                            <a:noFill/>
                          </a:ln>
                          <a:solidFill>
                            <a:srgbClr val="000000"/>
                          </a:solidFill>
                          <a:effectLst/>
                          <a:uLnTx/>
                          <a:uFillTx/>
                          <a:latin typeface="Poppins" panose="00000500000000000000" pitchFamily="2" charset="0"/>
                          <a:ea typeface="+mn-ea"/>
                          <a:cs typeface="+mn-cs"/>
                        </a:rPr>
                        <a:t>5% </a:t>
                      </a:r>
                      <a:r>
                        <a:rPr kumimoji="0" lang="en-US" sz="1100" b="0" i="0" u="none" strike="noStrike" kern="1200" cap="all" spc="0" normalizeH="0" baseline="30000">
                          <a:ln>
                            <a:noFill/>
                          </a:ln>
                          <a:solidFill>
                            <a:srgbClr val="000000"/>
                          </a:solidFill>
                          <a:effectLst/>
                          <a:uLnTx/>
                          <a:uFillTx/>
                          <a:latin typeface="Poppins" panose="00000500000000000000" pitchFamily="2" charset="0"/>
                          <a:ea typeface="+mn-ea"/>
                          <a:cs typeface="+mn-cs"/>
                        </a:rPr>
                        <a:t>1</a:t>
                      </a:r>
                      <a:endParaRPr kumimoji="0" lang="en-US" sz="1100" b="0" i="0" u="none" strike="noStrike" kern="1200" cap="all" spc="0" normalizeH="0" baseline="0" noProof="0">
                        <a:ln>
                          <a:noFill/>
                        </a:ln>
                        <a:solidFill>
                          <a:srgbClr val="000000"/>
                        </a:solidFill>
                        <a:effectLst/>
                        <a:uLnTx/>
                        <a:uFillTx/>
                        <a:latin typeface="Poppins" panose="00000500000000000000" pitchFamily="2" charset="0"/>
                        <a:ea typeface="+mn-ea"/>
                        <a:cs typeface="+mn-cs"/>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3856204"/>
                  </a:ext>
                </a:extLst>
              </a:tr>
              <a:tr h="96268">
                <a:tc gridSpan="3">
                  <a:txBody>
                    <a:bodyPr/>
                    <a:lstStyle/>
                    <a:p>
                      <a:pPr algn="ctr" fontAlgn="t"/>
                      <a:endParaRPr lang="en-US" sz="500" b="0" i="0" u="none" strike="noStrike" kern="1200" cap="all" baseline="0">
                        <a:solidFill>
                          <a:srgbClr val="000000"/>
                        </a:solidFill>
                        <a:effectLst/>
                        <a:latin typeface="Poppins" panose="00000500000000000000" pitchFamily="2" charset="0"/>
                        <a:ea typeface="+mn-ea"/>
                        <a:cs typeface="+mn-cs"/>
                      </a:endParaRPr>
                    </a:p>
                  </a:txBody>
                  <a:tcPr marL="4763" marR="4763" marT="4763"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algn="ctr" fontAlgn="t"/>
                      <a:endParaRPr lang="en-US" sz="1100" b="0" i="0" u="none" strike="noStrike" kern="1200" cap="all" baseline="0">
                        <a:solidFill>
                          <a:srgbClr val="000000"/>
                        </a:solidFill>
                        <a:effectLst/>
                        <a:latin typeface="Poppins" panose="00000500000000000000" pitchFamily="2" charset="0"/>
                        <a:ea typeface="+mn-ea"/>
                        <a:cs typeface="+mn-cs"/>
                      </a:endParaRP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Poppins" panose="00000500000000000000" pitchFamily="2" charset="0"/>
                        <a:ea typeface="+mn-ea"/>
                        <a:cs typeface="+mn-c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66596316"/>
                  </a:ext>
                </a:extLst>
              </a:tr>
              <a:tr h="312575">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a:ln>
                            <a:noFill/>
                          </a:ln>
                          <a:solidFill>
                            <a:schemeClr val="tx1"/>
                          </a:solidFill>
                          <a:effectLst/>
                          <a:uLnTx/>
                          <a:uFillTx/>
                          <a:latin typeface="Poppins" panose="00000500000000000000" pitchFamily="2" charset="0"/>
                          <a:ea typeface="+mn-ea"/>
                          <a:cs typeface="Poppins" panose="00000500000000000000" pitchFamily="2" charset="0"/>
                        </a:rPr>
                        <a:t>NAIC 3 HIGH YIELD BONDS</a:t>
                      </a:r>
                      <a:endParaRPr kumimoji="0" lang="en-US" sz="800" b="0" i="0" u="none" strike="noStrike" kern="1200" cap="all" spc="0" normalizeH="0" baseline="30000">
                        <a:ln>
                          <a:noFill/>
                        </a:ln>
                        <a:solidFill>
                          <a:schemeClr val="tx1"/>
                        </a:solidFill>
                        <a:effectLst/>
                        <a:uLnTx/>
                        <a:uFillTx/>
                        <a:latin typeface="Poppins" panose="00000500000000000000" pitchFamily="2" charset="0"/>
                        <a:ea typeface="+mn-ea"/>
                        <a:cs typeface="Poppins" panose="00000500000000000000" pitchFamily="2"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a:ln>
                            <a:noFill/>
                          </a:ln>
                          <a:solidFill>
                            <a:schemeClr val="tx1"/>
                          </a:solidFill>
                          <a:effectLst/>
                          <a:uLnTx/>
                          <a:uFillTx/>
                          <a:latin typeface="Poppins" panose="00000500000000000000" pitchFamily="2" charset="0"/>
                          <a:ea typeface="+mn-ea"/>
                          <a:cs typeface="Poppins" panose="00000500000000000000" pitchFamily="2" charset="0"/>
                        </a:rPr>
                        <a:t>20%</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Poppins" panose="00000500000000000000" pitchFamily="2" charset="0"/>
                          <a:ea typeface="+mn-ea"/>
                          <a:cs typeface="Poppins" panose="00000500000000000000" pitchFamily="2" charset="0"/>
                        </a:rPr>
                        <a:t>1%</a:t>
                      </a:r>
                      <a:r>
                        <a:rPr kumimoji="0" lang="en-US" sz="1050" b="0" i="0" u="none" strike="noStrike" kern="1200" cap="none" spc="0" normalizeH="0" baseline="0">
                          <a:ln>
                            <a:noFill/>
                          </a:ln>
                          <a:solidFill>
                            <a:schemeClr val="tx1"/>
                          </a:solidFill>
                          <a:effectLst/>
                          <a:uLnTx/>
                          <a:uFillTx/>
                          <a:latin typeface="Poppins" panose="00000500000000000000" pitchFamily="2" charset="0"/>
                          <a:ea typeface="+mn-ea"/>
                          <a:cs typeface="Poppins" panose="00000500000000000000" pitchFamily="2" charset="0"/>
                        </a:rPr>
                        <a:t> </a:t>
                      </a:r>
                      <a:r>
                        <a:rPr kumimoji="0" lang="en-US" sz="1050" b="0" i="0" u="none" strike="noStrike" kern="1200" cap="none" spc="0" normalizeH="0" baseline="30000">
                          <a:ln>
                            <a:noFill/>
                          </a:ln>
                          <a:solidFill>
                            <a:schemeClr val="tx1"/>
                          </a:solidFill>
                          <a:effectLst/>
                          <a:uLnTx/>
                          <a:uFillTx/>
                          <a:latin typeface="Poppins" panose="00000500000000000000" pitchFamily="2" charset="0"/>
                          <a:ea typeface="+mn-ea"/>
                          <a:cs typeface="Poppins" panose="00000500000000000000" pitchFamily="2" charset="0"/>
                        </a:rPr>
                        <a:t>1</a:t>
                      </a:r>
                      <a:endParaRPr kumimoji="0" lang="en-US" sz="1050" b="0" i="0" u="none" strike="noStrike" kern="1200" cap="none" spc="0" normalizeH="0" baseline="0" noProof="0">
                        <a:ln>
                          <a:noFill/>
                        </a:ln>
                        <a:solidFill>
                          <a:schemeClr val="tx1"/>
                        </a:solidFill>
                        <a:effectLst/>
                        <a:uLnTx/>
                        <a:uFillTx/>
                        <a:latin typeface="Poppins" panose="00000500000000000000" pitchFamily="2" charset="0"/>
                        <a:ea typeface="+mn-ea"/>
                        <a:cs typeface="Poppins" panose="00000500000000000000" pitchFamily="2"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1215105"/>
                  </a:ext>
                </a:extLst>
              </a:tr>
              <a:tr h="3236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rPr>
                        <a:t>NAIC 4 HIGH YIELD BONDS</a:t>
                      </a:r>
                      <a:endParaRPr kumimoji="0" lang="en-US" sz="800" b="0" i="0" u="none" strike="noStrike" kern="1200" cap="all" spc="0" normalizeH="0" baseline="30000" noProof="0">
                        <a:ln>
                          <a:noFill/>
                        </a:ln>
                        <a:solidFill>
                          <a:srgbClr val="000000"/>
                        </a:solidFill>
                        <a:effectLst/>
                        <a:uLnTx/>
                        <a:uFillTx/>
                        <a:latin typeface="Poppins" panose="00000500000000000000" pitchFamily="2" charset="0"/>
                        <a:ea typeface="+mn-ea"/>
                        <a:cs typeface="Poppins" panose="00000500000000000000" pitchFamily="2"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a:ln>
                            <a:noFill/>
                          </a:ln>
                          <a:solidFill>
                            <a:schemeClr val="tx1"/>
                          </a:solidFill>
                          <a:effectLst/>
                          <a:uLnTx/>
                          <a:uFillTx/>
                          <a:latin typeface="Poppins" panose="00000500000000000000" pitchFamily="2" charset="0"/>
                          <a:ea typeface="+mn-ea"/>
                          <a:cs typeface="Poppins" panose="00000500000000000000" pitchFamily="2" charset="0"/>
                        </a:rPr>
                        <a:t>10%</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Poppins" panose="00000500000000000000" pitchFamily="2" charset="0"/>
                          <a:ea typeface="+mn-ea"/>
                          <a:cs typeface="Poppins" panose="00000500000000000000" pitchFamily="2" charset="0"/>
                        </a:rPr>
                        <a:t>0.5%</a:t>
                      </a:r>
                      <a:r>
                        <a:rPr kumimoji="0" lang="en-US" sz="1050" b="0" i="0" u="none" strike="noStrike" kern="1200" cap="none" spc="0" normalizeH="0" baseline="0">
                          <a:ln>
                            <a:noFill/>
                          </a:ln>
                          <a:solidFill>
                            <a:schemeClr val="tx1"/>
                          </a:solidFill>
                          <a:effectLst/>
                          <a:uLnTx/>
                          <a:uFillTx/>
                          <a:latin typeface="Poppins" panose="00000500000000000000" pitchFamily="2" charset="0"/>
                          <a:ea typeface="+mn-ea"/>
                          <a:cs typeface="Poppins" panose="00000500000000000000" pitchFamily="2" charset="0"/>
                        </a:rPr>
                        <a:t> </a:t>
                      </a:r>
                      <a:r>
                        <a:rPr kumimoji="0" lang="en-US" sz="1050" b="0" i="0" u="none" strike="noStrike" kern="1200" cap="none" spc="0" normalizeH="0" baseline="30000">
                          <a:ln>
                            <a:noFill/>
                          </a:ln>
                          <a:solidFill>
                            <a:schemeClr val="tx1"/>
                          </a:solidFill>
                          <a:effectLst/>
                          <a:uLnTx/>
                          <a:uFillTx/>
                          <a:latin typeface="Poppins" panose="00000500000000000000" pitchFamily="2" charset="0"/>
                          <a:ea typeface="+mn-ea"/>
                          <a:cs typeface="Poppins" panose="00000500000000000000" pitchFamily="2" charset="0"/>
                        </a:rPr>
                        <a:t>1</a:t>
                      </a:r>
                      <a:endParaRPr kumimoji="0" lang="en-US" sz="1050" b="0" i="0" u="none" strike="noStrike" kern="1200" cap="none" spc="0" normalizeH="0" baseline="0" noProof="0">
                        <a:ln>
                          <a:noFill/>
                        </a:ln>
                        <a:solidFill>
                          <a:schemeClr val="tx1"/>
                        </a:solidFill>
                        <a:effectLst/>
                        <a:uLnTx/>
                        <a:uFillTx/>
                        <a:latin typeface="Poppins" panose="00000500000000000000" pitchFamily="2" charset="0"/>
                        <a:ea typeface="+mn-ea"/>
                        <a:cs typeface="Poppins" panose="00000500000000000000" pitchFamily="2" charset="0"/>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667717"/>
                  </a:ext>
                </a:extLst>
              </a:tr>
              <a:tr h="3236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Poppins" panose="00000500000000000000" pitchFamily="2" charset="0"/>
                          <a:ea typeface="+mn-ea"/>
                          <a:cs typeface="Poppins" panose="00000500000000000000" pitchFamily="2" charset="0"/>
                        </a:rPr>
                        <a:t>AGGREGATE OF NAIC 3 - 6 HIGH YIELD BONDS</a:t>
                      </a:r>
                      <a:endParaRPr kumimoji="0" lang="en-US" sz="1050" b="0" i="0" u="none" strike="noStrike" kern="1200" cap="none" spc="0" normalizeH="0" baseline="30000" noProof="0">
                        <a:ln>
                          <a:noFill/>
                        </a:ln>
                        <a:solidFill>
                          <a:srgbClr val="000000"/>
                        </a:solidFill>
                        <a:effectLst/>
                        <a:uLnTx/>
                        <a:uFillTx/>
                        <a:latin typeface="Poppins" panose="00000500000000000000" pitchFamily="2" charset="0"/>
                        <a:ea typeface="+mn-ea"/>
                        <a:cs typeface="Poppins" panose="00000500000000000000" pitchFamily="2"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a:ln>
                            <a:noFill/>
                          </a:ln>
                          <a:solidFill>
                            <a:schemeClr val="tx1"/>
                          </a:solidFill>
                          <a:effectLst/>
                          <a:uLnTx/>
                          <a:uFillTx/>
                          <a:latin typeface="Poppins" panose="00000500000000000000" pitchFamily="2" charset="0"/>
                          <a:ea typeface="+mn-ea"/>
                          <a:cs typeface="Poppins" panose="00000500000000000000" pitchFamily="2" charset="0"/>
                        </a:rPr>
                        <a:t>20%</a:t>
                      </a:r>
                    </a:p>
                  </a:txBody>
                  <a:tcPr marL="4763" marR="4763" marT="476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Poppins" panose="00000500000000000000" pitchFamily="2" charset="0"/>
                          <a:ea typeface="+mn-ea"/>
                          <a:cs typeface="Poppins" panose="00000500000000000000" pitchFamily="2" charset="0"/>
                        </a:rPr>
                        <a:t>N/A</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9562221"/>
                  </a:ext>
                </a:extLst>
              </a:tr>
            </a:tbl>
          </a:graphicData>
        </a:graphic>
      </p:graphicFrame>
      <p:sp>
        <p:nvSpPr>
          <p:cNvPr id="7" name="Rectangle 6">
            <a:extLst>
              <a:ext uri="{FF2B5EF4-FFF2-40B4-BE49-F238E27FC236}">
                <a16:creationId xmlns:a16="http://schemas.microsoft.com/office/drawing/2014/main" id="{F2608840-3897-4555-89D1-4CCC2182B06C}"/>
              </a:ext>
            </a:extLst>
          </p:cNvPr>
          <p:cNvSpPr/>
          <p:nvPr/>
        </p:nvSpPr>
        <p:spPr>
          <a:xfrm>
            <a:off x="293487" y="6532710"/>
            <a:ext cx="8196939" cy="209416"/>
          </a:xfrm>
          <a:prstGeom prst="rect">
            <a:avLst/>
          </a:prstGeom>
          <a:noFill/>
          <a:ln>
            <a:noFill/>
          </a:ln>
        </p:spPr>
        <p:txBody>
          <a:bodyPr wrap="square">
            <a:spAutoFit/>
          </a:bodyPr>
          <a:lstStyle/>
          <a:p>
            <a:pPr algn="just">
              <a:lnSpc>
                <a:spcPts val="900"/>
              </a:lnSpc>
              <a:spcBef>
                <a:spcPct val="50000"/>
              </a:spcBef>
            </a:pPr>
            <a:r>
              <a:rPr lang="en-US" sz="850" baseline="30000">
                <a:solidFill>
                  <a:srgbClr val="0C2836"/>
                </a:solidFill>
                <a:latin typeface="Poppins Light" panose="00000400000000000000" pitchFamily="2" charset="0"/>
                <a:cs typeface="Poppins Light" panose="00000400000000000000" pitchFamily="2" charset="0"/>
              </a:rPr>
              <a:t>1</a:t>
            </a:r>
            <a:r>
              <a:rPr lang="en-US" sz="850">
                <a:solidFill>
                  <a:srgbClr val="0C2836"/>
                </a:solidFill>
                <a:latin typeface="Poppins Light" panose="00000400000000000000" pitchFamily="2" charset="0"/>
                <a:cs typeface="Poppins Light" panose="00000400000000000000" pitchFamily="2" charset="0"/>
              </a:rPr>
              <a:t> PER ISSUER LIMIT NOT APPLICABLE TO MUTUAL FUNDS AND NAIC APPROVED EXCHANGE TRADED FUNDS.</a:t>
            </a:r>
            <a:endParaRPr lang="en-US" sz="850" cap="all">
              <a:solidFill>
                <a:srgbClr val="0C2836"/>
              </a:solidFill>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635697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CF76990-2A9F-436D-AA72-8068F7C57FA0}"/>
              </a:ext>
            </a:extLst>
          </p:cNvPr>
          <p:cNvPicPr>
            <a:picLocks noChangeAspect="1"/>
          </p:cNvPicPr>
          <p:nvPr/>
        </p:nvPicPr>
        <p:blipFill rotWithShape="1">
          <a:blip r:embed="rId3">
            <a:duotone>
              <a:prstClr val="black"/>
              <a:srgbClr val="106280">
                <a:tint val="45000"/>
                <a:satMod val="400000"/>
              </a:srgbClr>
            </a:duotone>
          </a:blip>
          <a:srcRect l="2668" t="4540"/>
          <a:stretch/>
        </p:blipFill>
        <p:spPr>
          <a:xfrm>
            <a:off x="209886" y="91498"/>
            <a:ext cx="4291184" cy="6691086"/>
          </a:xfrm>
          <a:prstGeom prst="rect">
            <a:avLst/>
          </a:prstGeom>
        </p:spPr>
      </p:pic>
      <p:sp>
        <p:nvSpPr>
          <p:cNvPr id="10" name="Rectangle: Diagonal Corners Rounded 9">
            <a:extLst>
              <a:ext uri="{FF2B5EF4-FFF2-40B4-BE49-F238E27FC236}">
                <a16:creationId xmlns:a16="http://schemas.microsoft.com/office/drawing/2014/main" id="{833DD204-95B8-4F35-B395-231EE88518F2}"/>
              </a:ext>
            </a:extLst>
          </p:cNvPr>
          <p:cNvSpPr/>
          <p:nvPr/>
        </p:nvSpPr>
        <p:spPr bwMode="auto">
          <a:xfrm rot="3027441">
            <a:off x="-786503" y="3065324"/>
            <a:ext cx="9243844" cy="622708"/>
          </a:xfrm>
          <a:custGeom>
            <a:avLst/>
            <a:gdLst>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0 w 8664014"/>
              <a:gd name="connsiteY7" fmla="*/ 336731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664014 w 8664014"/>
              <a:gd name="connsiteY3" fmla="*/ 336731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327283 w 8664014"/>
              <a:gd name="connsiteY4" fmla="*/ 673462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8664014"/>
              <a:gd name="connsiteY0" fmla="*/ 0 h 673462"/>
              <a:gd name="connsiteX1" fmla="*/ 8664014 w 8664014"/>
              <a:gd name="connsiteY1" fmla="*/ 0 h 673462"/>
              <a:gd name="connsiteX2" fmla="*/ 8664014 w 8664014"/>
              <a:gd name="connsiteY2" fmla="*/ 0 h 673462"/>
              <a:gd name="connsiteX3" fmla="*/ 8203469 w 8664014"/>
              <a:gd name="connsiteY3" fmla="*/ 334019 h 673462"/>
              <a:gd name="connsiteX4" fmla="*/ 8218983 w 8664014"/>
              <a:gd name="connsiteY4" fmla="*/ 673455 h 673462"/>
              <a:gd name="connsiteX5" fmla="*/ 0 w 8664014"/>
              <a:gd name="connsiteY5" fmla="*/ 673462 h 673462"/>
              <a:gd name="connsiteX6" fmla="*/ 0 w 8664014"/>
              <a:gd name="connsiteY6" fmla="*/ 673462 h 673462"/>
              <a:gd name="connsiteX7" fmla="*/ 357602 w 8664014"/>
              <a:gd name="connsiteY7" fmla="*/ 393050 h 673462"/>
              <a:gd name="connsiteX8" fmla="*/ 336731 w 8664014"/>
              <a:gd name="connsiteY8" fmla="*/ 0 h 673462"/>
              <a:gd name="connsiteX0" fmla="*/ 336731 w 9356709"/>
              <a:gd name="connsiteY0" fmla="*/ 424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336731 w 9356709"/>
              <a:gd name="connsiteY8" fmla="*/ 424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357602 w 9356709"/>
              <a:gd name="connsiteY7" fmla="*/ 397291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0 w 9356709"/>
              <a:gd name="connsiteY6" fmla="*/ 677703 h 677703"/>
              <a:gd name="connsiteX7" fmla="*/ 235528 w 9356709"/>
              <a:gd name="connsiteY7" fmla="*/ 492799 h 677703"/>
              <a:gd name="connsiteX8" fmla="*/ 682481 w 9356709"/>
              <a:gd name="connsiteY8" fmla="*/ 5171 h 677703"/>
              <a:gd name="connsiteX0" fmla="*/ 682481 w 9356709"/>
              <a:gd name="connsiteY0" fmla="*/ 5171 h 677703"/>
              <a:gd name="connsiteX1" fmla="*/ 8664014 w 9356709"/>
              <a:gd name="connsiteY1" fmla="*/ 4241 h 677703"/>
              <a:gd name="connsiteX2" fmla="*/ 9356709 w 9356709"/>
              <a:gd name="connsiteY2" fmla="*/ 0 h 677703"/>
              <a:gd name="connsiteX3" fmla="*/ 8203469 w 9356709"/>
              <a:gd name="connsiteY3" fmla="*/ 338260 h 677703"/>
              <a:gd name="connsiteX4" fmla="*/ 8218983 w 9356709"/>
              <a:gd name="connsiteY4" fmla="*/ 677696 h 677703"/>
              <a:gd name="connsiteX5" fmla="*/ 0 w 9356709"/>
              <a:gd name="connsiteY5" fmla="*/ 677703 h 677703"/>
              <a:gd name="connsiteX6" fmla="*/ 96512 w 9356709"/>
              <a:gd name="connsiteY6" fmla="*/ 676890 h 677703"/>
              <a:gd name="connsiteX7" fmla="*/ 235528 w 9356709"/>
              <a:gd name="connsiteY7" fmla="*/ 492799 h 677703"/>
              <a:gd name="connsiteX8" fmla="*/ 682481 w 9356709"/>
              <a:gd name="connsiteY8" fmla="*/ 5171 h 677703"/>
              <a:gd name="connsiteX0" fmla="*/ 585969 w 9260197"/>
              <a:gd name="connsiteY0" fmla="*/ 5171 h 677696"/>
              <a:gd name="connsiteX1" fmla="*/ 8567502 w 9260197"/>
              <a:gd name="connsiteY1" fmla="*/ 4241 h 677696"/>
              <a:gd name="connsiteX2" fmla="*/ 9260197 w 9260197"/>
              <a:gd name="connsiteY2" fmla="*/ 0 h 677696"/>
              <a:gd name="connsiteX3" fmla="*/ 8106957 w 9260197"/>
              <a:gd name="connsiteY3" fmla="*/ 338260 h 677696"/>
              <a:gd name="connsiteX4" fmla="*/ 8122471 w 9260197"/>
              <a:gd name="connsiteY4" fmla="*/ 677696 h 677696"/>
              <a:gd name="connsiteX5" fmla="*/ 28706 w 9260197"/>
              <a:gd name="connsiteY5" fmla="*/ 675752 h 677696"/>
              <a:gd name="connsiteX6" fmla="*/ 0 w 9260197"/>
              <a:gd name="connsiteY6" fmla="*/ 676890 h 677696"/>
              <a:gd name="connsiteX7" fmla="*/ 139016 w 9260197"/>
              <a:gd name="connsiteY7" fmla="*/ 492799 h 677696"/>
              <a:gd name="connsiteX8" fmla="*/ 585969 w 9260197"/>
              <a:gd name="connsiteY8" fmla="*/ 5171 h 6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60197" h="677696">
                <a:moveTo>
                  <a:pt x="585969" y="5171"/>
                </a:moveTo>
                <a:lnTo>
                  <a:pt x="8567502" y="4241"/>
                </a:lnTo>
                <a:lnTo>
                  <a:pt x="9260197" y="0"/>
                </a:lnTo>
                <a:lnTo>
                  <a:pt x="8106957" y="338260"/>
                </a:lnTo>
                <a:cubicBezTo>
                  <a:pt x="8106957" y="524231"/>
                  <a:pt x="8308442" y="677696"/>
                  <a:pt x="8122471" y="677696"/>
                </a:cubicBezTo>
                <a:lnTo>
                  <a:pt x="28706" y="675752"/>
                </a:lnTo>
                <a:lnTo>
                  <a:pt x="0" y="676890"/>
                </a:lnTo>
                <a:lnTo>
                  <a:pt x="139016" y="492799"/>
                </a:lnTo>
                <a:cubicBezTo>
                  <a:pt x="264084" y="341711"/>
                  <a:pt x="438101" y="146362"/>
                  <a:pt x="585969" y="5171"/>
                </a:cubicBezTo>
                <a:close/>
              </a:path>
            </a:pathLst>
          </a:cu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pic>
        <p:nvPicPr>
          <p:cNvPr id="14" name="Picture 13">
            <a:extLst>
              <a:ext uri="{FF2B5EF4-FFF2-40B4-BE49-F238E27FC236}">
                <a16:creationId xmlns:a16="http://schemas.microsoft.com/office/drawing/2014/main" id="{84A17D6C-76DD-49F3-BA01-7268C5F086DD}"/>
              </a:ext>
            </a:extLst>
          </p:cNvPr>
          <p:cNvPicPr>
            <a:picLocks noChangeAspect="1"/>
          </p:cNvPicPr>
          <p:nvPr/>
        </p:nvPicPr>
        <p:blipFill rotWithShape="1">
          <a:blip r:embed="rId4"/>
          <a:srcRect l="1" t="17282" r="34407" b="16123"/>
          <a:stretch/>
        </p:blipFill>
        <p:spPr>
          <a:xfrm>
            <a:off x="2641408" y="214869"/>
            <a:ext cx="6289218" cy="6465329"/>
          </a:xfrm>
          <a:prstGeom prst="rect">
            <a:avLst/>
          </a:prstGeom>
        </p:spPr>
      </p:pic>
      <p:sp>
        <p:nvSpPr>
          <p:cNvPr id="31" name="Rectangle 30">
            <a:extLst>
              <a:ext uri="{FF2B5EF4-FFF2-40B4-BE49-F238E27FC236}">
                <a16:creationId xmlns:a16="http://schemas.microsoft.com/office/drawing/2014/main" id="{E6D10223-F6D5-4585-8AA5-0A774C445C2F}"/>
              </a:ext>
            </a:extLst>
          </p:cNvPr>
          <p:cNvSpPr/>
          <p:nvPr/>
        </p:nvSpPr>
        <p:spPr bwMode="auto">
          <a:xfrm>
            <a:off x="2125922" y="647700"/>
            <a:ext cx="6880055" cy="3462905"/>
          </a:xfrm>
          <a:prstGeom prst="rect">
            <a:avLst/>
          </a:prstGeom>
          <a:solidFill>
            <a:srgbClr val="FFFFFF">
              <a:alpha val="63000"/>
            </a:srgb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9" name="Rectangle 28">
            <a:extLst>
              <a:ext uri="{FF2B5EF4-FFF2-40B4-BE49-F238E27FC236}">
                <a16:creationId xmlns:a16="http://schemas.microsoft.com/office/drawing/2014/main" id="{82FA936D-D013-48A2-B1D3-8125F0B0DA6A}"/>
              </a:ext>
            </a:extLst>
          </p:cNvPr>
          <p:cNvSpPr/>
          <p:nvPr/>
        </p:nvSpPr>
        <p:spPr bwMode="auto">
          <a:xfrm>
            <a:off x="0" y="6680199"/>
            <a:ext cx="9055100" cy="177801"/>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14191" y="1073409"/>
            <a:ext cx="4630427" cy="1091667"/>
          </a:xfrm>
          <a:prstGeom prst="rect">
            <a:avLst/>
          </a:prstGeom>
          <a:ln>
            <a:noFill/>
          </a:ln>
        </p:spPr>
      </p:pic>
      <p:sp>
        <p:nvSpPr>
          <p:cNvPr id="23" name="HUGH SANDI PETER DAVID" hidden="1">
            <a:extLst>
              <a:ext uri="{FF2B5EF4-FFF2-40B4-BE49-F238E27FC236}">
                <a16:creationId xmlns:a16="http://schemas.microsoft.com/office/drawing/2014/main" id="{DA88B559-9FFC-4B27-A0C8-BFC81CF67F49}"/>
              </a:ext>
            </a:extLst>
          </p:cNvPr>
          <p:cNvSpPr/>
          <p:nvPr/>
        </p:nvSpPr>
        <p:spPr>
          <a:xfrm>
            <a:off x="4534532" y="3860972"/>
            <a:ext cx="4328429"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SANDI PRESCOTT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CLIENT SERVICE</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sp>
        <p:nvSpPr>
          <p:cNvPr id="17" name="HUGH SANDI PETER DAVID" hidden="1">
            <a:extLst>
              <a:ext uri="{FF2B5EF4-FFF2-40B4-BE49-F238E27FC236}">
                <a16:creationId xmlns:a16="http://schemas.microsoft.com/office/drawing/2014/main" id="{D47FA4D9-5A5D-475F-9949-EF41E1B85A92}"/>
              </a:ext>
            </a:extLst>
          </p:cNvPr>
          <p:cNvSpPr/>
          <p:nvPr/>
        </p:nvSpPr>
        <p:spPr>
          <a:xfrm>
            <a:off x="4545354" y="3858120"/>
            <a:ext cx="4328493" cy="1184940"/>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DAVID KILBORN, CFA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CHIEF INVESTMENT OFFICER</a:t>
            </a:r>
            <a:endPar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endParaRPr>
          </a:p>
          <a:p>
            <a:pPr marL="0" marR="0" lvl="1" indent="0" algn="r" defTabSz="457200" rtl="0" eaLnBrk="1" fontAlgn="auto" latinLnBrk="0" hangingPunct="1">
              <a:lnSpc>
                <a:spcPct val="100000"/>
              </a:lnSpc>
              <a:spcBef>
                <a:spcPts val="0"/>
              </a:spcBef>
              <a:spcAft>
                <a:spcPts val="6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a:p>
            <a:pPr marL="0" marR="0" lvl="1" indent="0" algn="r" defTabSz="457200" rtl="0" eaLnBrk="1" fontAlgn="auto" latinLnBrk="0" hangingPunct="1">
              <a:lnSpc>
                <a:spcPct val="100000"/>
              </a:lnSpc>
              <a:spcBef>
                <a:spcPts val="0"/>
              </a:spcBef>
              <a:spcAft>
                <a:spcPts val="600"/>
              </a:spcAft>
              <a:buClrTx/>
              <a:buSzTx/>
              <a:buFontTx/>
              <a:buNone/>
              <a:tabLst/>
              <a:defRPr/>
            </a:pPr>
            <a:endPar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endParaRPr>
          </a:p>
        </p:txBody>
      </p:sp>
      <p:sp>
        <p:nvSpPr>
          <p:cNvPr id="22" name="Rectangle 21">
            <a:extLst>
              <a:ext uri="{FF2B5EF4-FFF2-40B4-BE49-F238E27FC236}">
                <a16:creationId xmlns:a16="http://schemas.microsoft.com/office/drawing/2014/main" id="{3F2213C9-A0FE-494E-AF69-D977CFDDD7C9}"/>
              </a:ext>
            </a:extLst>
          </p:cNvPr>
          <p:cNvSpPr/>
          <p:nvPr/>
        </p:nvSpPr>
        <p:spPr bwMode="auto">
          <a:xfrm>
            <a:off x="90020" y="7157"/>
            <a:ext cx="8875059" cy="217213"/>
          </a:xfrm>
          <a:prstGeom prst="rect">
            <a:avLst/>
          </a:prstGeom>
          <a:solidFill>
            <a:schemeClr val="bg1"/>
          </a:solidFill>
          <a:ln w="12700" cap="flat" cmpd="sng" algn="ctr">
            <a:noFill/>
            <a:prstDash val="solid"/>
            <a:round/>
            <a:headEnd type="none" w="med" len="med"/>
            <a:tailEnd type="none" w="med" len="med"/>
          </a:ln>
          <a:effectLst/>
        </p:spPr>
        <p:txBody>
          <a:bodyPr vert="horz" wrap="square" lIns="80682" tIns="40341" rIns="80682" bIns="40341" numCol="1" rtlCol="0" anchor="t" anchorCtr="0" compatLnSpc="1">
            <a:prstTxWarp prst="textNoShape">
              <a:avLst/>
            </a:prstTxWarp>
            <a:spAutoFit/>
          </a:bodyPr>
          <a:lstStyle/>
          <a:p>
            <a:pPr marL="0" marR="0" lvl="0" indent="0" algn="ctr" defTabSz="806867" rtl="0" eaLnBrk="0" fontAlgn="base" latinLnBrk="0" hangingPunct="0">
              <a:lnSpc>
                <a:spcPct val="100000"/>
              </a:lnSpc>
              <a:spcBef>
                <a:spcPct val="50000"/>
              </a:spcBef>
              <a:spcAft>
                <a:spcPct val="0"/>
              </a:spcAft>
              <a:buClrTx/>
              <a:buSzTx/>
              <a:buFontTx/>
              <a:buNone/>
              <a:tabLst/>
              <a:defRPr/>
            </a:pPr>
            <a:endParaRPr kumimoji="0" lang="en-US" sz="882" b="1" i="0" u="none" strike="noStrike" kern="1200" cap="none" spc="0" normalizeH="0" baseline="0" noProof="0">
              <a:ln>
                <a:noFill/>
              </a:ln>
              <a:solidFill>
                <a:srgbClr val="000000"/>
              </a:solidFill>
              <a:effectLst/>
              <a:uLnTx/>
              <a:uFillTx/>
              <a:latin typeface="Arial" charset="0"/>
              <a:ea typeface="+mn-ea"/>
              <a:cs typeface="+mn-cs"/>
            </a:endParaRPr>
          </a:p>
        </p:txBody>
      </p:sp>
      <p:sp>
        <p:nvSpPr>
          <p:cNvPr id="30" name="Sandi Warren" hidden="1">
            <a:extLst>
              <a:ext uri="{FF2B5EF4-FFF2-40B4-BE49-F238E27FC236}">
                <a16:creationId xmlns:a16="http://schemas.microsoft.com/office/drawing/2014/main" id="{65443961-D79C-480D-9CCD-5330A824A3CA}"/>
              </a:ext>
            </a:extLst>
          </p:cNvPr>
          <p:cNvSpPr/>
          <p:nvPr/>
        </p:nvSpPr>
        <p:spPr>
          <a:xfrm>
            <a:off x="5077066" y="3887719"/>
            <a:ext cx="3797835" cy="677108"/>
          </a:xfrm>
          <a:prstGeom prst="rect">
            <a:avLst/>
          </a:prstGeom>
        </p:spPr>
        <p:txBody>
          <a:bodyPr wrap="none">
            <a:spAutoFit/>
          </a:bodyPr>
          <a:lstStyle/>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HUGH BARIT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CHAIRMAN &amp; CEO</a:t>
            </a:r>
          </a:p>
          <a:p>
            <a:pPr marL="0" marR="0" lvl="1" indent="0" algn="r" defTabSz="457200" rtl="0" eaLnBrk="1" fontAlgn="auto" latinLnBrk="0" hangingPunct="1">
              <a:lnSpc>
                <a:spcPct val="100000"/>
              </a:lnSpc>
              <a:spcBef>
                <a:spcPts val="0"/>
              </a:spcBef>
              <a:spcAft>
                <a:spcPts val="1200"/>
              </a:spcAft>
              <a:buClrTx/>
              <a:buSzTx/>
              <a:buFontTx/>
              <a:buNone/>
              <a:tabLst/>
              <a:defRPr/>
            </a:pPr>
            <a:r>
              <a:rPr kumimoji="0" lang="en-US" altLang="en-US" sz="1400" b="0" i="0" u="none" strike="noStrike" kern="1200" cap="none" spc="0" normalizeH="0" baseline="0" noProof="0">
                <a:ln>
                  <a:noFill/>
                </a:ln>
                <a:solidFill>
                  <a:srgbClr val="106280"/>
                </a:solidFill>
                <a:effectLst/>
                <a:uLnTx/>
                <a:uFillTx/>
                <a:latin typeface="Poppins Medium" panose="00000600000000000000" pitchFamily="2" charset="0"/>
                <a:ea typeface="+mn-ea"/>
                <a:cs typeface="Poppins Medium" panose="00000600000000000000" pitchFamily="2" charset="0"/>
              </a:rPr>
              <a:t>PETER MILNE </a:t>
            </a:r>
            <a:r>
              <a:rPr kumimoji="0" lang="en-US" altLang="en-US" sz="1400" b="0" i="0" u="none" strike="noStrike" kern="1200" cap="none"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 HEAD OF ASSET ALLOCATION</a:t>
            </a:r>
          </a:p>
        </p:txBody>
      </p:sp>
      <p:cxnSp>
        <p:nvCxnSpPr>
          <p:cNvPr id="2" name="Straight Connector 1">
            <a:extLst>
              <a:ext uri="{FF2B5EF4-FFF2-40B4-BE49-F238E27FC236}">
                <a16:creationId xmlns:a16="http://schemas.microsoft.com/office/drawing/2014/main" id="{0F008904-A3B6-29EC-1FE0-6A40316F4CC2}"/>
              </a:ext>
            </a:extLst>
          </p:cNvPr>
          <p:cNvCxnSpPr>
            <a:cxnSpLocks/>
          </p:cNvCxnSpPr>
          <p:nvPr/>
        </p:nvCxnSpPr>
        <p:spPr bwMode="auto">
          <a:xfrm>
            <a:off x="5215564" y="2492455"/>
            <a:ext cx="3566160" cy="0"/>
          </a:xfrm>
          <a:prstGeom prst="line">
            <a:avLst/>
          </a:prstGeom>
          <a:noFill/>
          <a:ln w="12700" cap="flat" cmpd="sng" algn="ctr">
            <a:solidFill>
              <a:srgbClr val="157EA3"/>
            </a:solidFill>
            <a:prstDash val="solid"/>
            <a:round/>
            <a:headEnd type="none" w="med" len="med"/>
            <a:tailEnd type="none" w="med" len="med"/>
          </a:ln>
          <a:effectLst/>
        </p:spPr>
      </p:cxnSp>
      <p:sp>
        <p:nvSpPr>
          <p:cNvPr id="3" name="Text Box 8">
            <a:extLst>
              <a:ext uri="{FF2B5EF4-FFF2-40B4-BE49-F238E27FC236}">
                <a16:creationId xmlns:a16="http://schemas.microsoft.com/office/drawing/2014/main" id="{9159BB16-E64F-47C0-B780-5694EB5E4DDA}"/>
              </a:ext>
            </a:extLst>
          </p:cNvPr>
          <p:cNvSpPr txBox="1">
            <a:spLocks noChangeArrowheads="1"/>
          </p:cNvSpPr>
          <p:nvPr/>
        </p:nvSpPr>
        <p:spPr bwMode="auto">
          <a:xfrm>
            <a:off x="658692" y="2586111"/>
            <a:ext cx="8127441" cy="8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nchor="ctr">
            <a:spAutoFit/>
          </a:bodyPr>
          <a:lstStyle>
            <a:lvl1pPr eaLnBrk="0" hangingPunct="0">
              <a:defRPr sz="1000" b="1">
                <a:solidFill>
                  <a:schemeClr val="tx1"/>
                </a:solidFill>
                <a:latin typeface="Arial" charset="0"/>
                <a:cs typeface="Arial" charset="0"/>
              </a:defRPr>
            </a:lvl1pPr>
            <a:lvl2pPr marL="742950" indent="-285750" eaLnBrk="0" hangingPunct="0">
              <a:defRPr sz="1000" b="1">
                <a:solidFill>
                  <a:schemeClr val="tx1"/>
                </a:solidFill>
                <a:latin typeface="Arial" charset="0"/>
                <a:cs typeface="Arial" charset="0"/>
              </a:defRPr>
            </a:lvl2pPr>
            <a:lvl3pPr marL="1143000" indent="-228600" eaLnBrk="0" hangingPunct="0">
              <a:defRPr sz="1000" b="1">
                <a:solidFill>
                  <a:schemeClr val="tx1"/>
                </a:solidFill>
                <a:latin typeface="Arial" charset="0"/>
                <a:cs typeface="Arial" charset="0"/>
              </a:defRPr>
            </a:lvl3pPr>
            <a:lvl4pPr marL="1600200" indent="-228600" eaLnBrk="0" hangingPunct="0">
              <a:defRPr sz="1000" b="1">
                <a:solidFill>
                  <a:schemeClr val="tx1"/>
                </a:solidFill>
                <a:latin typeface="Arial" charset="0"/>
                <a:cs typeface="Arial" charset="0"/>
              </a:defRPr>
            </a:lvl4pPr>
            <a:lvl5pPr marL="2057400" indent="-228600" eaLnBrk="0" hangingPunct="0">
              <a:defRPr sz="1000" b="1">
                <a:solidFill>
                  <a:schemeClr val="tx1"/>
                </a:solidFill>
                <a:latin typeface="Arial" charset="0"/>
                <a:cs typeface="Arial" charset="0"/>
              </a:defRPr>
            </a:lvl5pPr>
            <a:lvl6pPr marL="2514600" indent="-228600" eaLnBrk="0" fontAlgn="base" hangingPunct="0">
              <a:spcBef>
                <a:spcPct val="0"/>
              </a:spcBef>
              <a:spcAft>
                <a:spcPct val="0"/>
              </a:spcAft>
              <a:defRPr sz="1000" b="1">
                <a:solidFill>
                  <a:schemeClr val="tx1"/>
                </a:solidFill>
                <a:latin typeface="Arial" charset="0"/>
                <a:cs typeface="Arial" charset="0"/>
              </a:defRPr>
            </a:lvl6pPr>
            <a:lvl7pPr marL="2971800" indent="-228600" eaLnBrk="0" fontAlgn="base" hangingPunct="0">
              <a:spcBef>
                <a:spcPct val="0"/>
              </a:spcBef>
              <a:spcAft>
                <a:spcPct val="0"/>
              </a:spcAft>
              <a:defRPr sz="1000" b="1">
                <a:solidFill>
                  <a:schemeClr val="tx1"/>
                </a:solidFill>
                <a:latin typeface="Arial" charset="0"/>
                <a:cs typeface="Arial" charset="0"/>
              </a:defRPr>
            </a:lvl7pPr>
            <a:lvl8pPr marL="3429000" indent="-228600" eaLnBrk="0" fontAlgn="base" hangingPunct="0">
              <a:spcBef>
                <a:spcPct val="0"/>
              </a:spcBef>
              <a:spcAft>
                <a:spcPct val="0"/>
              </a:spcAft>
              <a:defRPr sz="1000" b="1">
                <a:solidFill>
                  <a:schemeClr val="tx1"/>
                </a:solidFill>
                <a:latin typeface="Arial" charset="0"/>
                <a:cs typeface="Arial" charset="0"/>
              </a:defRPr>
            </a:lvl8pPr>
            <a:lvl9pPr marL="3886200" indent="-228600" eaLnBrk="0" fontAlgn="base" hangingPunct="0">
              <a:spcBef>
                <a:spcPct val="0"/>
              </a:spcBef>
              <a:spcAft>
                <a:spcPct val="0"/>
              </a:spcAft>
              <a:defRPr sz="1000" b="1">
                <a:solidFill>
                  <a:schemeClr val="tx1"/>
                </a:solidFill>
                <a:latin typeface="Arial" charset="0"/>
                <a:cs typeface="Arial" charset="0"/>
              </a:defRPr>
            </a:lvl9pPr>
          </a:lstStyle>
          <a:p>
            <a:pPr marL="0" marR="0" lvl="1" indent="0" algn="r" defTabSz="457200" rtl="0" eaLnBrk="0" fontAlgn="auto" latinLnBrk="0" hangingPunct="0">
              <a:lnSpc>
                <a:spcPct val="100000"/>
              </a:lnSpc>
              <a:spcBef>
                <a:spcPts val="0"/>
              </a:spcBef>
              <a:spcAft>
                <a:spcPts val="0"/>
              </a:spcAft>
              <a:buClrTx/>
              <a:buSzTx/>
              <a:buFontTx/>
              <a:buNone/>
              <a:tabLst/>
              <a:defRPr/>
            </a:pPr>
            <a:r>
              <a:rPr kumimoji="0" lang="en-US" altLang="en-US" sz="1800" b="0" i="0" u="none" strike="noStrike" kern="1200" cap="all" spc="0" normalizeH="0" baseline="0" noProof="0">
                <a:ln>
                  <a:noFill/>
                </a:ln>
                <a:solidFill>
                  <a:srgbClr val="106280"/>
                </a:solidFill>
                <a:effectLst/>
                <a:uLnTx/>
                <a:uFillTx/>
                <a:latin typeface="Poppins Light" panose="00000400000000000000" pitchFamily="2" charset="0"/>
                <a:ea typeface="+mn-ea"/>
                <a:cs typeface="Poppins Light" panose="00000400000000000000" pitchFamily="2" charset="0"/>
              </a:rPr>
              <a:t>Appendix iV</a:t>
            </a:r>
          </a:p>
          <a:p>
            <a:pPr marL="0" marR="0" lvl="1" indent="0" algn="r" defTabSz="457200" rtl="0" eaLnBrk="0" fontAlgn="auto" latinLnBrk="0" hangingPunct="0">
              <a:lnSpc>
                <a:spcPct val="100000"/>
              </a:lnSpc>
              <a:spcBef>
                <a:spcPts val="0"/>
              </a:spcBef>
              <a:spcAft>
                <a:spcPts val="0"/>
              </a:spcAft>
              <a:buClrTx/>
              <a:buSzTx/>
              <a:buFontTx/>
              <a:buNone/>
              <a:tabLst/>
              <a:defRPr/>
            </a:pPr>
            <a:endParaRPr kumimoji="0" lang="en-US" altLang="en-US" sz="1050" b="0" i="0" u="none" strike="noStrike" kern="1200" cap="all" spc="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endParaRPr>
          </a:p>
          <a:p>
            <a:pPr marL="0" marR="0" lvl="1" indent="0" algn="r" defTabSz="457200" rtl="0" eaLnBrk="0" fontAlgn="auto" latinLnBrk="0" hangingPunct="0">
              <a:lnSpc>
                <a:spcPct val="100000"/>
              </a:lnSpc>
              <a:spcBef>
                <a:spcPts val="0"/>
              </a:spcBef>
              <a:spcAft>
                <a:spcPts val="0"/>
              </a:spcAft>
              <a:buClrTx/>
              <a:buSzTx/>
              <a:buFontTx/>
              <a:buNone/>
              <a:tabLst/>
              <a:defRPr/>
            </a:pPr>
            <a:r>
              <a:rPr lang="en-US" altLang="en-US" sz="2200" b="0" spc="-40">
                <a:solidFill>
                  <a:srgbClr val="106280"/>
                </a:solidFill>
                <a:latin typeface="Poppins SemiBold" panose="00000700000000000000" pitchFamily="2" charset="0"/>
                <a:cs typeface="Poppins SemiBold" panose="00000700000000000000" pitchFamily="2" charset="0"/>
              </a:rPr>
              <a:t>SMA HOLDINGS</a:t>
            </a:r>
            <a:endParaRPr kumimoji="0" lang="en-US" altLang="en-US" sz="2200" b="0" i="0" u="none" strike="noStrike" kern="1200" cap="none" spc="-40" normalizeH="0" baseline="0" noProof="0">
              <a:ln>
                <a:noFill/>
              </a:ln>
              <a:solidFill>
                <a:srgbClr val="106280"/>
              </a:solidFill>
              <a:effectLst/>
              <a:uLnTx/>
              <a:uFillTx/>
              <a:latin typeface="Poppins SemiBold" panose="00000700000000000000" pitchFamily="2" charset="0"/>
              <a:ea typeface="+mn-ea"/>
              <a:cs typeface="Poppins SemiBold" panose="00000700000000000000" pitchFamily="2" charset="0"/>
            </a:endParaRPr>
          </a:p>
        </p:txBody>
      </p:sp>
      <p:cxnSp>
        <p:nvCxnSpPr>
          <p:cNvPr id="4" name="Straight Connector 3">
            <a:extLst>
              <a:ext uri="{FF2B5EF4-FFF2-40B4-BE49-F238E27FC236}">
                <a16:creationId xmlns:a16="http://schemas.microsoft.com/office/drawing/2014/main" id="{22FCD67E-E8CC-8A9D-FCBF-91728DE3BC96}"/>
              </a:ext>
            </a:extLst>
          </p:cNvPr>
          <p:cNvCxnSpPr>
            <a:cxnSpLocks/>
          </p:cNvCxnSpPr>
          <p:nvPr/>
        </p:nvCxnSpPr>
        <p:spPr bwMode="auto">
          <a:xfrm>
            <a:off x="5220108" y="3549293"/>
            <a:ext cx="3566160" cy="0"/>
          </a:xfrm>
          <a:prstGeom prst="line">
            <a:avLst/>
          </a:prstGeom>
          <a:noFill/>
          <a:ln w="12700" cap="flat" cmpd="sng" algn="ctr">
            <a:solidFill>
              <a:srgbClr val="157EA3"/>
            </a:solidFill>
            <a:prstDash val="solid"/>
            <a:round/>
            <a:headEnd type="none" w="med" len="med"/>
            <a:tailEnd type="none" w="med" len="med"/>
          </a:ln>
          <a:effectLst/>
        </p:spPr>
      </p:cxnSp>
    </p:spTree>
    <p:extLst>
      <p:ext uri="{BB962C8B-B14F-4D97-AF65-F5344CB8AC3E}">
        <p14:creationId xmlns:p14="http://schemas.microsoft.com/office/powerpoint/2010/main" val="203201429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hidden="1">
            <a:extLst>
              <a:ext uri="{FF2B5EF4-FFF2-40B4-BE49-F238E27FC236}">
                <a16:creationId xmlns:a16="http://schemas.microsoft.com/office/drawing/2014/main" id="{42EEB35B-E44D-4A02-A22D-BD8FB6900C5E}"/>
              </a:ext>
            </a:extLst>
          </p:cNvPr>
          <p:cNvGraphicFramePr>
            <a:graphicFrameLocks noGrp="1"/>
          </p:cNvGraphicFramePr>
          <p:nvPr>
            <p:extLst>
              <p:ext uri="{D42A27DB-BD31-4B8C-83A1-F6EECF244321}">
                <p14:modId xmlns:p14="http://schemas.microsoft.com/office/powerpoint/2010/main" val="802237940"/>
              </p:ext>
            </p:extLst>
          </p:nvPr>
        </p:nvGraphicFramePr>
        <p:xfrm>
          <a:off x="381000" y="1220876"/>
          <a:ext cx="8398061" cy="5393384"/>
        </p:xfrm>
        <a:graphic>
          <a:graphicData uri="http://schemas.openxmlformats.org/drawingml/2006/table">
            <a:tbl>
              <a:tblPr bandRow="1">
                <a:tableStyleId>{93296810-A885-4BE3-A3E7-6D5BEEA58F35}</a:tableStyleId>
              </a:tblPr>
              <a:tblGrid>
                <a:gridCol w="2182370">
                  <a:extLst>
                    <a:ext uri="{9D8B030D-6E8A-4147-A177-3AD203B41FA5}">
                      <a16:colId xmlns:a16="http://schemas.microsoft.com/office/drawing/2014/main" val="20000"/>
                    </a:ext>
                  </a:extLst>
                </a:gridCol>
                <a:gridCol w="882405">
                  <a:extLst>
                    <a:ext uri="{9D8B030D-6E8A-4147-A177-3AD203B41FA5}">
                      <a16:colId xmlns:a16="http://schemas.microsoft.com/office/drawing/2014/main" val="3585380606"/>
                    </a:ext>
                  </a:extLst>
                </a:gridCol>
                <a:gridCol w="908352">
                  <a:extLst>
                    <a:ext uri="{9D8B030D-6E8A-4147-A177-3AD203B41FA5}">
                      <a16:colId xmlns:a16="http://schemas.microsoft.com/office/drawing/2014/main" val="1257159576"/>
                    </a:ext>
                  </a:extLst>
                </a:gridCol>
                <a:gridCol w="628339">
                  <a:extLst>
                    <a:ext uri="{9D8B030D-6E8A-4147-A177-3AD203B41FA5}">
                      <a16:colId xmlns:a16="http://schemas.microsoft.com/office/drawing/2014/main" val="481879323"/>
                    </a:ext>
                  </a:extLst>
                </a:gridCol>
                <a:gridCol w="846834">
                  <a:extLst>
                    <a:ext uri="{9D8B030D-6E8A-4147-A177-3AD203B41FA5}">
                      <a16:colId xmlns:a16="http://schemas.microsoft.com/office/drawing/2014/main" val="2810924609"/>
                    </a:ext>
                  </a:extLst>
                </a:gridCol>
                <a:gridCol w="736600">
                  <a:extLst>
                    <a:ext uri="{9D8B030D-6E8A-4147-A177-3AD203B41FA5}">
                      <a16:colId xmlns:a16="http://schemas.microsoft.com/office/drawing/2014/main" val="3703170606"/>
                    </a:ext>
                  </a:extLst>
                </a:gridCol>
                <a:gridCol w="736600">
                  <a:extLst>
                    <a:ext uri="{9D8B030D-6E8A-4147-A177-3AD203B41FA5}">
                      <a16:colId xmlns:a16="http://schemas.microsoft.com/office/drawing/2014/main" val="4265513678"/>
                    </a:ext>
                  </a:extLst>
                </a:gridCol>
                <a:gridCol w="800100">
                  <a:extLst>
                    <a:ext uri="{9D8B030D-6E8A-4147-A177-3AD203B41FA5}">
                      <a16:colId xmlns:a16="http://schemas.microsoft.com/office/drawing/2014/main" val="22118574"/>
                    </a:ext>
                  </a:extLst>
                </a:gridCol>
                <a:gridCol w="676461">
                  <a:extLst>
                    <a:ext uri="{9D8B030D-6E8A-4147-A177-3AD203B41FA5}">
                      <a16:colId xmlns:a16="http://schemas.microsoft.com/office/drawing/2014/main" val="20001"/>
                    </a:ext>
                  </a:extLst>
                </a:gridCol>
              </a:tblGrid>
              <a:tr h="390510">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Issuer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Sector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Duration</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Yield</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S&amp;p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Moody’s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Maturity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1"/>
                  </a:ext>
                </a:extLst>
              </a:tr>
              <a:tr h="213595">
                <a:tc>
                  <a:txBody>
                    <a:bodyPr/>
                    <a:lstStyle/>
                    <a:p>
                      <a:pPr algn="l"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10/31/2019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$286,213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7263394"/>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1.4709013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11/19/2019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$749,428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6.24%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5558472"/>
                  </a:ext>
                </a:extLst>
              </a:tr>
              <a:tr h="213595">
                <a:tc>
                  <a:txBody>
                    <a:bodyPr/>
                    <a:lstStyle/>
                    <a:p>
                      <a:pPr algn="l" rtl="0" fontAlgn="ctr"/>
                      <a:r>
                        <a:rPr lang="en-US" sz="900" b="0" i="0" u="none" strike="noStrike">
                          <a:solidFill>
                            <a:srgbClr val="000000"/>
                          </a:solidFill>
                          <a:effectLst/>
                          <a:latin typeface="Poppins" panose="00000500000000000000" pitchFamily="2" charset="0"/>
                        </a:rPr>
                        <a:t>J M SMUCKER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9.70%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2.116467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12/6/2019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$40,357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8122526"/>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17.21%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1.5481337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$648,268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5660"/>
                  </a:ext>
                </a:extLst>
              </a:tr>
              <a:tr h="213595">
                <a:tc>
                  <a:txBody>
                    <a:bodyPr/>
                    <a:lstStyle/>
                    <a:p>
                      <a:pPr algn="l" rtl="0" fontAlgn="ctr"/>
                      <a:r>
                        <a:rPr lang="en-US" sz="900" b="0" i="0" u="none" strike="noStrike">
                          <a:solidFill>
                            <a:srgbClr val="000000"/>
                          </a:solidFill>
                          <a:effectLst/>
                          <a:latin typeface="Poppins" panose="00000500000000000000" pitchFamily="2" charset="0"/>
                        </a:rPr>
                        <a:t>JACKSON NAT’L LIFE GLBL FUNDING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1.8956037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$45,283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1.535244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$896,568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3595">
                <a:tc>
                  <a:txBody>
                    <a:bodyPr/>
                    <a:lstStyle/>
                    <a:p>
                      <a:pPr algn="l" rtl="0" fontAlgn="ctr"/>
                      <a:r>
                        <a:rPr lang="en-US" sz="900" b="0" i="0" u="none" strike="noStrike">
                          <a:solidFill>
                            <a:srgbClr val="000000"/>
                          </a:solidFill>
                          <a:effectLst/>
                          <a:latin typeface="Poppins" panose="00000500000000000000" pitchFamily="2" charset="0"/>
                        </a:rPr>
                        <a:t>SUNTRUST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19.68%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1.9734232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$40,245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487494"/>
                  </a:ext>
                </a:extLst>
              </a:tr>
              <a:tr h="213595">
                <a:tc>
                  <a:txBody>
                    <a:bodyPr/>
                    <a:lstStyle/>
                    <a:p>
                      <a:pPr algn="l" rtl="0" fontAlgn="ctr"/>
                      <a:r>
                        <a:rPr lang="en-US" sz="900" b="0" i="0" u="none" strike="noStrike">
                          <a:solidFill>
                            <a:srgbClr val="000000"/>
                          </a:solidFill>
                          <a:effectLst/>
                          <a:latin typeface="Poppins" panose="00000500000000000000" pitchFamily="2" charset="0"/>
                        </a:rPr>
                        <a:t>CHEVRON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ENERGY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27.97%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1.8949127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$100,331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63137"/>
                  </a:ext>
                </a:extLst>
              </a:tr>
              <a:tr h="213595">
                <a:tc>
                  <a:txBody>
                    <a:bodyPr/>
                    <a:lstStyle/>
                    <a:p>
                      <a:pPr algn="l" rtl="0" fontAlgn="ctr"/>
                      <a:r>
                        <a:rPr lang="en-US" sz="900" b="0" i="0" u="none" strike="noStrike">
                          <a:solidFill>
                            <a:srgbClr val="000000"/>
                          </a:solidFill>
                          <a:effectLst/>
                          <a:latin typeface="Poppins" panose="00000500000000000000" pitchFamily="2" charset="0"/>
                        </a:rPr>
                        <a:t>COMMONWEALTH BANK OF AUSTRALIA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1.9187822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$40,174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2169908"/>
                  </a:ext>
                </a:extLst>
              </a:tr>
              <a:tr h="213595">
                <a:tc>
                  <a:txBody>
                    <a:bodyPr/>
                    <a:lstStyle/>
                    <a:p>
                      <a:pPr algn="l" rtl="0" fontAlgn="ctr"/>
                      <a:r>
                        <a:rPr lang="en-US" sz="900" b="0" i="0" u="none" strike="noStrike">
                          <a:solidFill>
                            <a:srgbClr val="000000"/>
                          </a:solidFill>
                          <a:effectLst/>
                          <a:latin typeface="Poppins" panose="00000500000000000000" pitchFamily="2" charset="0"/>
                        </a:rPr>
                        <a:t>ACTAVIS FUNDING SCS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2.107104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$54,354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4872185"/>
                  </a:ext>
                </a:extLst>
              </a:tr>
              <a:tr h="213595">
                <a:tc>
                  <a:txBody>
                    <a:bodyPr/>
                    <a:lstStyle/>
                    <a:p>
                      <a:pPr algn="l" rtl="0" fontAlgn="ctr"/>
                      <a:r>
                        <a:rPr lang="en-US" sz="900" b="0" i="0" u="none" strike="noStrike">
                          <a:solidFill>
                            <a:srgbClr val="000000"/>
                          </a:solidFill>
                          <a:effectLst/>
                          <a:latin typeface="Poppins" panose="00000500000000000000" pitchFamily="2" charset="0"/>
                        </a:rPr>
                        <a:t>BACCT 171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37.28%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1.9372058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3/16/2020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$55,049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963204"/>
                  </a:ext>
                </a:extLst>
              </a:tr>
              <a:tr h="213595">
                <a:tc>
                  <a:txBody>
                    <a:bodyPr/>
                    <a:lstStyle/>
                    <a:p>
                      <a:pPr algn="l" rtl="0" fontAlgn="ctr"/>
                      <a:r>
                        <a:rPr lang="en-US" sz="900" b="0" i="0" u="none" strike="noStrike">
                          <a:solidFill>
                            <a:srgbClr val="000000"/>
                          </a:solidFill>
                          <a:effectLst/>
                          <a:latin typeface="Poppins" panose="00000500000000000000" pitchFamily="2" charset="0"/>
                        </a:rPr>
                        <a:t>CHAIT 154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1.8911995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NR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$100,057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826118"/>
                  </a:ext>
                </a:extLst>
              </a:tr>
              <a:tr h="166129">
                <a:tc>
                  <a:txBody>
                    <a:bodyPr/>
                    <a:lstStyle/>
                    <a:p>
                      <a:pPr algn="l" rtl="0" fontAlgn="ctr"/>
                      <a:r>
                        <a:rPr lang="en-US" sz="900" b="0" i="0" u="none" strike="noStrike">
                          <a:solidFill>
                            <a:srgbClr val="000000"/>
                          </a:solidFill>
                          <a:effectLst/>
                          <a:latin typeface="Poppins" panose="00000500000000000000" pitchFamily="2" charset="0"/>
                        </a:rPr>
                        <a:t>BANK OF AMERICA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46.81%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1.8856671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7382148"/>
                  </a:ext>
                </a:extLst>
              </a:tr>
              <a:tr h="213595">
                <a:tc>
                  <a:txBody>
                    <a:bodyPr/>
                    <a:lstStyle/>
                    <a:p>
                      <a:pPr algn="l" rtl="0" fontAlgn="ctr"/>
                      <a:r>
                        <a:rPr lang="en-US" sz="900" b="0" i="0" u="none" strike="noStrike">
                          <a:solidFill>
                            <a:srgbClr val="000000"/>
                          </a:solidFill>
                          <a:effectLst/>
                          <a:latin typeface="Poppins" panose="00000500000000000000" pitchFamily="2" charset="0"/>
                        </a:rPr>
                        <a:t>HARRIS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INDUSTRIAL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2.286775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$50,098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761231"/>
                  </a:ext>
                </a:extLst>
              </a:tr>
              <a:tr h="213595">
                <a:tc>
                  <a:txBody>
                    <a:bodyPr/>
                    <a:lstStyle/>
                    <a:p>
                      <a:pPr algn="l" rtl="0" fontAlgn="ctr"/>
                      <a:r>
                        <a:rPr lang="en-US" sz="900" b="0" i="0" u="none" strike="noStrike">
                          <a:solidFill>
                            <a:srgbClr val="000000"/>
                          </a:solidFill>
                          <a:effectLst/>
                          <a:latin typeface="Poppins" panose="00000500000000000000" pitchFamily="2" charset="0"/>
                        </a:rPr>
                        <a:t>EUROPEAN INVESTMENT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SUPRANATIONAL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1.8131835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$110,274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2308538"/>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US GOV</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65.64%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1.6238955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$100,548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986782"/>
                  </a:ext>
                </a:extLst>
              </a:tr>
              <a:tr h="213595">
                <a:tc>
                  <a:txBody>
                    <a:bodyPr/>
                    <a:lstStyle/>
                    <a:p>
                      <a:pPr algn="l" rtl="0" fontAlgn="ctr"/>
                      <a:r>
                        <a:rPr lang="de-DE" sz="900" b="0" i="0" u="none" strike="noStrike">
                          <a:solidFill>
                            <a:srgbClr val="000000"/>
                          </a:solidFill>
                          <a:effectLst/>
                          <a:latin typeface="Poppins" panose="00000500000000000000" pitchFamily="2" charset="0"/>
                        </a:rPr>
                        <a:t>DEUTSCHE BANK AG (NY BRANCH)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68.43%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2.6452286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$20,169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0.17%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216473"/>
                  </a:ext>
                </a:extLst>
              </a:tr>
              <a:tr h="213595">
                <a:tc>
                  <a:txBody>
                    <a:bodyPr/>
                    <a:lstStyle/>
                    <a:p>
                      <a:pPr algn="l" rtl="0" fontAlgn="ctr"/>
                      <a:r>
                        <a:rPr lang="en-US" sz="900" b="0" i="0" u="none" strike="noStrike">
                          <a:solidFill>
                            <a:srgbClr val="000000"/>
                          </a:solidFill>
                          <a:effectLst/>
                          <a:latin typeface="Poppins" panose="00000500000000000000" pitchFamily="2" charset="0"/>
                        </a:rPr>
                        <a:t>WELLS FARGO &amp;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1.8962492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7/22/2020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$55,670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85760"/>
                  </a:ext>
                </a:extLst>
              </a:tr>
              <a:tr h="213595">
                <a:tc>
                  <a:txBody>
                    <a:bodyPr/>
                    <a:lstStyle/>
                    <a:p>
                      <a:pPr algn="l" rtl="0" fontAlgn="ctr"/>
                      <a:r>
                        <a:rPr lang="en-US" sz="900" b="0" i="0" u="none" strike="noStrike">
                          <a:solidFill>
                            <a:srgbClr val="000000"/>
                          </a:solidFill>
                          <a:effectLst/>
                          <a:latin typeface="Poppins" panose="00000500000000000000" pitchFamily="2" charset="0"/>
                        </a:rPr>
                        <a:t>ANTHEM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77.06%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2.0067809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$35,959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648593"/>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INTERNATIONAL GROUP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1.9207537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$30,553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0173202"/>
                  </a:ext>
                </a:extLst>
              </a:tr>
              <a:tr h="213595">
                <a:tc>
                  <a:txBody>
                    <a:bodyPr/>
                    <a:lstStyle/>
                    <a:p>
                      <a:pPr algn="l" rtl="0" fontAlgn="ctr"/>
                      <a:r>
                        <a:rPr lang="en-US" sz="900" b="0" i="0" u="none" strike="noStrike">
                          <a:solidFill>
                            <a:srgbClr val="000000"/>
                          </a:solidFill>
                          <a:effectLst/>
                          <a:latin typeface="Poppins" panose="00000500000000000000" pitchFamily="2" charset="0"/>
                        </a:rPr>
                        <a:t>DCENT 176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78.40%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1.8729056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$120,108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433518"/>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CAMPUS COMM. OP. PRTNSP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82.25%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2.050762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$45,606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5677006"/>
                  </a:ext>
                </a:extLst>
              </a:tr>
            </a:tbl>
          </a:graphicData>
        </a:graphic>
      </p:graphicFrame>
      <p:graphicFrame>
        <p:nvGraphicFramePr>
          <p:cNvPr id="3" name="Table 2" hidden="1">
            <a:extLst>
              <a:ext uri="{FF2B5EF4-FFF2-40B4-BE49-F238E27FC236}">
                <a16:creationId xmlns:a16="http://schemas.microsoft.com/office/drawing/2014/main" id="{1F711E98-DAA0-46EB-8B8E-705A6A308A0A}"/>
              </a:ext>
            </a:extLst>
          </p:cNvPr>
          <p:cNvGraphicFramePr>
            <a:graphicFrameLocks noGrp="1"/>
          </p:cNvGraphicFramePr>
          <p:nvPr/>
        </p:nvGraphicFramePr>
        <p:xfrm>
          <a:off x="362585" y="1203960"/>
          <a:ext cx="8412480" cy="5113020"/>
        </p:xfrm>
        <a:graphic>
          <a:graphicData uri="http://schemas.openxmlformats.org/drawingml/2006/table">
            <a:tbl>
              <a:tblPr/>
              <a:tblGrid>
                <a:gridCol w="2380615">
                  <a:extLst>
                    <a:ext uri="{9D8B030D-6E8A-4147-A177-3AD203B41FA5}">
                      <a16:colId xmlns:a16="http://schemas.microsoft.com/office/drawing/2014/main" val="3225387243"/>
                    </a:ext>
                  </a:extLst>
                </a:gridCol>
                <a:gridCol w="1104728">
                  <a:extLst>
                    <a:ext uri="{9D8B030D-6E8A-4147-A177-3AD203B41FA5}">
                      <a16:colId xmlns:a16="http://schemas.microsoft.com/office/drawing/2014/main" val="1289031369"/>
                    </a:ext>
                  </a:extLst>
                </a:gridCol>
                <a:gridCol w="728176">
                  <a:extLst>
                    <a:ext uri="{9D8B030D-6E8A-4147-A177-3AD203B41FA5}">
                      <a16:colId xmlns:a16="http://schemas.microsoft.com/office/drawing/2014/main" val="2662241828"/>
                    </a:ext>
                  </a:extLst>
                </a:gridCol>
                <a:gridCol w="449889">
                  <a:extLst>
                    <a:ext uri="{9D8B030D-6E8A-4147-A177-3AD203B41FA5}">
                      <a16:colId xmlns:a16="http://schemas.microsoft.com/office/drawing/2014/main" val="3398770197"/>
                    </a:ext>
                  </a:extLst>
                </a:gridCol>
                <a:gridCol w="637342">
                  <a:extLst>
                    <a:ext uri="{9D8B030D-6E8A-4147-A177-3AD203B41FA5}">
                      <a16:colId xmlns:a16="http://schemas.microsoft.com/office/drawing/2014/main" val="3411342490"/>
                    </a:ext>
                  </a:extLst>
                </a:gridCol>
                <a:gridCol w="774808">
                  <a:extLst>
                    <a:ext uri="{9D8B030D-6E8A-4147-A177-3AD203B41FA5}">
                      <a16:colId xmlns:a16="http://schemas.microsoft.com/office/drawing/2014/main" val="3356158280"/>
                    </a:ext>
                  </a:extLst>
                </a:gridCol>
                <a:gridCol w="799802">
                  <a:extLst>
                    <a:ext uri="{9D8B030D-6E8A-4147-A177-3AD203B41FA5}">
                      <a16:colId xmlns:a16="http://schemas.microsoft.com/office/drawing/2014/main" val="1386931236"/>
                    </a:ext>
                  </a:extLst>
                </a:gridCol>
                <a:gridCol w="787305">
                  <a:extLst>
                    <a:ext uri="{9D8B030D-6E8A-4147-A177-3AD203B41FA5}">
                      <a16:colId xmlns:a16="http://schemas.microsoft.com/office/drawing/2014/main" val="3141232831"/>
                    </a:ext>
                  </a:extLst>
                </a:gridCol>
                <a:gridCol w="749815">
                  <a:extLst>
                    <a:ext uri="{9D8B030D-6E8A-4147-A177-3AD203B41FA5}">
                      <a16:colId xmlns:a16="http://schemas.microsoft.com/office/drawing/2014/main" val="1501712056"/>
                    </a:ext>
                  </a:extLst>
                </a:gridCol>
              </a:tblGrid>
              <a:tr h="261553">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S&amp;P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MOODY'S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FINAL MATURITY</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extLst>
                  <a:ext uri="{0D108BD9-81ED-4DB2-BD59-A6C34878D82A}">
                    <a16:rowId xmlns:a16="http://schemas.microsoft.com/office/drawing/2014/main" val="2513351061"/>
                  </a:ext>
                </a:extLst>
              </a:tr>
              <a:tr h="133966">
                <a:tc>
                  <a:txBody>
                    <a:bodyPr/>
                    <a:lstStyle/>
                    <a:p>
                      <a:pPr algn="l" rtl="0" fontAlgn="ctr"/>
                      <a:r>
                        <a:rPr lang="en-US" sz="1000" b="0" i="0" u="none" strike="noStrike">
                          <a:solidFill>
                            <a:srgbClr val="000000"/>
                          </a:solidFill>
                          <a:effectLst/>
                          <a:latin typeface="Poppins" panose="00000500000000000000" pitchFamily="2" charset="0"/>
                        </a:rPr>
                        <a:t>MCCT 211 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1.93</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3.07%</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11/21/2025</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$95,184 </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98817"/>
                  </a:ext>
                </a:extLst>
              </a:tr>
              <a:tr h="133966">
                <a:tc>
                  <a:txBody>
                    <a:bodyPr/>
                    <a:lstStyle/>
                    <a:p>
                      <a:pPr algn="l" rtl="0" fontAlgn="ctr"/>
                      <a:r>
                        <a:rPr lang="en-US" sz="1000" b="0" i="0" u="none" strike="noStrike">
                          <a:solidFill>
                            <a:srgbClr val="000000"/>
                          </a:solidFill>
                          <a:effectLst/>
                          <a:latin typeface="Poppins" panose="00000500000000000000" pitchFamily="2" charset="0"/>
                        </a:rPr>
                        <a:t>GCCT 211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$91,155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99481353"/>
                  </a:ext>
                </a:extLst>
              </a:tr>
              <a:tr h="133966">
                <a:tc>
                  <a:txBody>
                    <a:bodyPr/>
                    <a:lstStyle/>
                    <a:p>
                      <a:pPr algn="l" rtl="0" fontAlgn="ctr"/>
                      <a:r>
                        <a:rPr lang="en-US" sz="1000" b="0" i="0" u="none" strike="noStrike">
                          <a:solidFill>
                            <a:srgbClr val="000000"/>
                          </a:solidFill>
                          <a:effectLst/>
                          <a:latin typeface="Poppins" panose="00000500000000000000" pitchFamily="2" charset="0"/>
                        </a:rPr>
                        <a:t>AMETOW 2018-1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4.21%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$24,329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818887326"/>
                  </a:ext>
                </a:extLst>
              </a:tr>
              <a:tr h="133966">
                <a:tc>
                  <a:txBody>
                    <a:bodyPr/>
                    <a:lstStyle/>
                    <a:p>
                      <a:pPr algn="l" rtl="0" fontAlgn="ctr"/>
                      <a:r>
                        <a:rPr lang="en-US" sz="1000" b="0" i="0" u="none" strike="noStrike">
                          <a:solidFill>
                            <a:srgbClr val="000000"/>
                          </a:solidFill>
                          <a:effectLst/>
                          <a:latin typeface="Poppins" panose="00000500000000000000" pitchFamily="2" charset="0"/>
                        </a:rPr>
                        <a:t>TESLA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12/20/2023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$13,575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09573489"/>
                  </a:ext>
                </a:extLst>
              </a:tr>
              <a:tr h="133966">
                <a:tc>
                  <a:txBody>
                    <a:bodyPr/>
                    <a:lstStyle/>
                    <a:p>
                      <a:pPr algn="l" rtl="0" fontAlgn="ctr"/>
                      <a:r>
                        <a:rPr lang="en-US" sz="1000" b="0" i="0" u="none" strike="noStrike">
                          <a:solidFill>
                            <a:srgbClr val="000000"/>
                          </a:solidFill>
                          <a:effectLst/>
                          <a:latin typeface="Poppins" panose="00000500000000000000" pitchFamily="2" charset="0"/>
                        </a:rPr>
                        <a:t>CNH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6/16/2025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$30,611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29693139"/>
                  </a:ext>
                </a:extLst>
              </a:tr>
              <a:tr h="133966">
                <a:tc>
                  <a:txBody>
                    <a:bodyPr/>
                    <a:lstStyle/>
                    <a:p>
                      <a:pPr algn="l" rtl="0" fontAlgn="ctr"/>
                      <a:r>
                        <a:rPr lang="en-US" sz="1000" b="0" i="0" u="none" strike="noStrike">
                          <a:solidFill>
                            <a:srgbClr val="000000"/>
                          </a:solidFill>
                          <a:effectLst/>
                          <a:latin typeface="Poppins" panose="00000500000000000000" pitchFamily="2" charset="0"/>
                        </a:rPr>
                        <a:t>WEPCO ENVIRONMENTAL TRUST</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$87,524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69284966"/>
                  </a:ext>
                </a:extLst>
              </a:tr>
              <a:tr h="133966">
                <a:tc>
                  <a:txBody>
                    <a:bodyPr/>
                    <a:lstStyle/>
                    <a:p>
                      <a:pPr algn="l" rtl="0" fontAlgn="ctr"/>
                      <a:r>
                        <a:rPr lang="en-US" sz="1000" b="0" i="0" u="none" strike="noStrike">
                          <a:solidFill>
                            <a:srgbClr val="000000"/>
                          </a:solidFill>
                          <a:effectLst/>
                          <a:latin typeface="Poppins" panose="00000500000000000000" pitchFamily="2" charset="0"/>
                        </a:rPr>
                        <a:t>COMET A(2015-4)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NR</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$50,129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8729621"/>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2021-2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$32,394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21238934"/>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$32,448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055303132"/>
                  </a:ext>
                </a:extLst>
              </a:tr>
              <a:tr h="133966">
                <a:tc>
                  <a:txBody>
                    <a:bodyPr/>
                    <a:lstStyle/>
                    <a:p>
                      <a:pPr algn="l" rtl="0" fontAlgn="ctr"/>
                      <a:r>
                        <a:rPr lang="en-US" sz="1000" b="0" i="0" u="none" strike="noStrike">
                          <a:solidFill>
                            <a:srgbClr val="000000"/>
                          </a:solidFill>
                          <a:effectLst/>
                          <a:latin typeface="Poppins" panose="00000500000000000000" pitchFamily="2" charset="0"/>
                        </a:rPr>
                        <a:t>PART 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$21,417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633210852"/>
                  </a:ext>
                </a:extLst>
              </a:tr>
              <a:tr h="133966">
                <a:tc>
                  <a:txBody>
                    <a:bodyPr/>
                    <a:lstStyle/>
                    <a:p>
                      <a:pPr algn="l" rtl="0" fontAlgn="ctr"/>
                      <a:r>
                        <a:rPr lang="en-US" sz="1000" b="0" i="0" u="none" strike="noStrike">
                          <a:solidFill>
                            <a:srgbClr val="000000"/>
                          </a:solidFill>
                          <a:effectLst/>
                          <a:latin typeface="Poppins" panose="00000500000000000000" pitchFamily="2" charset="0"/>
                        </a:rPr>
                        <a:t>PCG 2021-A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$130,438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90086829"/>
                  </a:ext>
                </a:extLst>
              </a:tr>
              <a:tr h="133966">
                <a:tc>
                  <a:txBody>
                    <a:bodyPr/>
                    <a:lstStyle/>
                    <a:p>
                      <a:pPr algn="l" rtl="0" fontAlgn="ctr"/>
                      <a:r>
                        <a:rPr lang="en-US" sz="1000" b="0" i="0" u="none" strike="noStrike">
                          <a:solidFill>
                            <a:srgbClr val="000000"/>
                          </a:solidFill>
                          <a:effectLst/>
                          <a:latin typeface="Poppins" panose="00000500000000000000" pitchFamily="2" charset="0"/>
                        </a:rPr>
                        <a:t>DTAOT 2020-3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$10,234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165812522"/>
                  </a:ext>
                </a:extLst>
              </a:tr>
              <a:tr h="133966">
                <a:tc>
                  <a:txBody>
                    <a:bodyPr/>
                    <a:lstStyle/>
                    <a:p>
                      <a:pPr algn="l" rtl="0" fontAlgn="ctr"/>
                      <a:r>
                        <a:rPr lang="en-US" sz="1000" b="0" i="0" u="none" strike="noStrike">
                          <a:solidFill>
                            <a:srgbClr val="000000"/>
                          </a:solidFill>
                          <a:effectLst/>
                          <a:latin typeface="Poppins" panose="00000500000000000000" pitchFamily="2" charset="0"/>
                        </a:rPr>
                        <a:t>JDOT 2019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7/17/2023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05904287"/>
                  </a:ext>
                </a:extLst>
              </a:tr>
              <a:tr h="133966">
                <a:tc>
                  <a:txBody>
                    <a:bodyPr/>
                    <a:lstStyle/>
                    <a:p>
                      <a:pPr algn="l" rtl="0" fontAlgn="ctr"/>
                      <a:r>
                        <a:rPr lang="en-US" sz="1000" b="0" i="0" u="none" strike="noStrike">
                          <a:solidFill>
                            <a:srgbClr val="000000"/>
                          </a:solidFill>
                          <a:effectLst/>
                          <a:latin typeface="Poppins" panose="00000500000000000000" pitchFamily="2" charset="0"/>
                        </a:rPr>
                        <a:t>EIX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$38,316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81546317"/>
                  </a:ext>
                </a:extLst>
              </a:tr>
              <a:tr h="133966">
                <a:tc>
                  <a:txBody>
                    <a:bodyPr/>
                    <a:lstStyle/>
                    <a:p>
                      <a:pPr algn="l" rtl="0" fontAlgn="ctr"/>
                      <a:r>
                        <a:rPr lang="en-US" sz="1000" b="0" i="0" u="none" strike="noStrike">
                          <a:solidFill>
                            <a:srgbClr val="000000"/>
                          </a:solidFill>
                          <a:effectLst/>
                          <a:latin typeface="Poppins" panose="00000500000000000000" pitchFamily="2" charset="0"/>
                        </a:rPr>
                        <a:t>CARMX 2022-1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P-1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$17,581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04292824"/>
                  </a:ext>
                </a:extLst>
              </a:tr>
              <a:tr h="133966">
                <a:tc>
                  <a:txBody>
                    <a:bodyPr/>
                    <a:lstStyle/>
                    <a:p>
                      <a:pPr algn="l" rtl="0" fontAlgn="ctr"/>
                      <a:r>
                        <a:rPr lang="en-US" sz="1000" b="0" i="0" u="none" strike="noStrike">
                          <a:solidFill>
                            <a:srgbClr val="000000"/>
                          </a:solidFill>
                          <a:effectLst/>
                          <a:latin typeface="Poppins" panose="00000500000000000000" pitchFamily="2" charset="0"/>
                        </a:rPr>
                        <a:t>DTE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$61,508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740355524"/>
                  </a:ext>
                </a:extLst>
              </a:tr>
              <a:tr h="133966">
                <a:tc>
                  <a:txBody>
                    <a:bodyPr/>
                    <a:lstStyle/>
                    <a:p>
                      <a:pPr algn="l" rtl="0" fontAlgn="ctr"/>
                      <a:r>
                        <a:rPr lang="en-US" sz="1000" b="0" i="0" u="none" strike="noStrike">
                          <a:solidFill>
                            <a:srgbClr val="000000"/>
                          </a:solidFill>
                          <a:effectLst/>
                          <a:latin typeface="Poppins" panose="00000500000000000000" pitchFamily="2" charset="0"/>
                        </a:rPr>
                        <a:t>EART 2020-3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9/16/2024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$31,353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15205954"/>
                  </a:ext>
                </a:extLst>
              </a:tr>
              <a:tr h="133966">
                <a:tc>
                  <a:txBody>
                    <a:bodyPr/>
                    <a:lstStyle/>
                    <a:p>
                      <a:pPr algn="l" rtl="0" fontAlgn="ctr"/>
                      <a:r>
                        <a:rPr lang="en-US" sz="1000" b="0" i="0" u="none" strike="noStrike">
                          <a:solidFill>
                            <a:srgbClr val="000000"/>
                          </a:solidFill>
                          <a:effectLst/>
                          <a:latin typeface="Poppins" panose="00000500000000000000" pitchFamily="2" charset="0"/>
                        </a:rPr>
                        <a:t>PSNH 2018-1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2.78%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$88,213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366523"/>
                  </a:ext>
                </a:extLst>
              </a:tr>
              <a:tr h="133966">
                <a:tc>
                  <a:txBody>
                    <a:bodyPr/>
                    <a:lstStyle/>
                    <a:p>
                      <a:pPr algn="l"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$103,637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903602055"/>
                  </a:ext>
                </a:extLst>
              </a:tr>
              <a:tr h="133966">
                <a:tc>
                  <a:txBody>
                    <a:bodyPr/>
                    <a:lstStyle/>
                    <a:p>
                      <a:pPr algn="l" rtl="0" fontAlgn="ctr"/>
                      <a:r>
                        <a:rPr lang="en-US" sz="1000" b="0" i="0" u="none" strike="noStrike">
                          <a:solidFill>
                            <a:srgbClr val="000000"/>
                          </a:solidFill>
                          <a:effectLst/>
                          <a:latin typeface="Poppins" panose="00000500000000000000" pitchFamily="2" charset="0"/>
                        </a:rPr>
                        <a:t>PAYABLE</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323594648"/>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2013-CCRE9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3.69%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7/10/2045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$66,103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87237402"/>
                  </a:ext>
                </a:extLst>
              </a:tr>
              <a:tr h="133966">
                <a:tc>
                  <a:txBody>
                    <a:bodyPr/>
                    <a:lstStyle/>
                    <a:p>
                      <a:pPr algn="l" rtl="0" fontAlgn="ctr"/>
                      <a:r>
                        <a:rPr lang="en-US" sz="1000" b="0" i="0" u="none" strike="noStrike">
                          <a:solidFill>
                            <a:srgbClr val="000000"/>
                          </a:solidFill>
                          <a:effectLst/>
                          <a:latin typeface="Poppins" panose="00000500000000000000" pitchFamily="2" charset="0"/>
                        </a:rPr>
                        <a:t>WFCM 2016-LC25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12/17/2059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$39,580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55962324"/>
                  </a:ext>
                </a:extLst>
              </a:tr>
              <a:tr h="133966">
                <a:tc>
                  <a:txBody>
                    <a:bodyPr/>
                    <a:lstStyle/>
                    <a:p>
                      <a:pPr algn="l" rtl="0" fontAlgn="ctr"/>
                      <a:r>
                        <a:rPr lang="en-US" sz="1000" b="0" i="0" u="none" strike="noStrike">
                          <a:solidFill>
                            <a:srgbClr val="000000"/>
                          </a:solidFill>
                          <a:effectLst/>
                          <a:latin typeface="Poppins" panose="00000500000000000000" pitchFamily="2" charset="0"/>
                        </a:rPr>
                        <a:t>WFRBS 2014-C22 A5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9/15/2057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$55,019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39570288"/>
                  </a:ext>
                </a:extLst>
              </a:tr>
              <a:tr h="133966">
                <a:tc>
                  <a:txBody>
                    <a:bodyPr/>
                    <a:lstStyle/>
                    <a:p>
                      <a:pPr algn="l" rtl="0" fontAlgn="ctr"/>
                      <a:r>
                        <a:rPr lang="en-US" sz="1000" b="0" i="0" u="none" strike="noStrike">
                          <a:solidFill>
                            <a:srgbClr val="000000"/>
                          </a:solidFill>
                          <a:effectLst/>
                          <a:latin typeface="Poppins" panose="00000500000000000000" pitchFamily="2" charset="0"/>
                        </a:rPr>
                        <a:t>GSMS 2017-GS8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4.75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11/14/2050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$53,719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02056364"/>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2015-LC23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10/13/2048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$14,234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20636460"/>
                  </a:ext>
                </a:extLst>
              </a:tr>
              <a:tr h="133966">
                <a:tc>
                  <a:txBody>
                    <a:bodyPr/>
                    <a:lstStyle/>
                    <a:p>
                      <a:pPr algn="l" rtl="0" fontAlgn="ctr"/>
                      <a:r>
                        <a:rPr lang="en-US" sz="1000" b="0" i="0" u="none" strike="noStrike">
                          <a:solidFill>
                            <a:srgbClr val="000000"/>
                          </a:solidFill>
                          <a:effectLst/>
                          <a:latin typeface="Poppins" panose="00000500000000000000" pitchFamily="2" charset="0"/>
                        </a:rPr>
                        <a:t>MKT 2020-525M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$26,747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250412470"/>
                  </a:ext>
                </a:extLst>
              </a:tr>
              <a:tr h="133966">
                <a:tc>
                  <a:txBody>
                    <a:bodyPr/>
                    <a:lstStyle/>
                    <a:p>
                      <a:pPr algn="l" rtl="0" fontAlgn="ctr"/>
                      <a:r>
                        <a:rPr lang="en-US" sz="1000" b="0" i="0" u="none" strike="noStrike">
                          <a:solidFill>
                            <a:srgbClr val="000000"/>
                          </a:solidFill>
                          <a:effectLst/>
                          <a:latin typeface="Poppins" panose="00000500000000000000" pitchFamily="2" charset="0"/>
                        </a:rPr>
                        <a:t>BX 22LP2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33958633"/>
                  </a:ext>
                </a:extLst>
              </a:tr>
              <a:tr h="133966">
                <a:tc>
                  <a:txBody>
                    <a:bodyPr/>
                    <a:lstStyle/>
                    <a:p>
                      <a:pPr algn="l" rtl="0" fontAlgn="ctr"/>
                      <a:r>
                        <a:rPr lang="en-US" sz="1000" b="0" i="0" u="none" strike="noStrike">
                          <a:solidFill>
                            <a:srgbClr val="000000"/>
                          </a:solidFill>
                          <a:effectLst/>
                          <a:latin typeface="Poppins" panose="00000500000000000000" pitchFamily="2" charset="0"/>
                        </a:rPr>
                        <a:t>MTN 22LPFL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3/15/2039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$98,128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5543176"/>
                  </a:ext>
                </a:extLst>
              </a:tr>
              <a:tr h="133966">
                <a:tc>
                  <a:txBody>
                    <a:bodyPr/>
                    <a:lstStyle/>
                    <a:p>
                      <a:pPr algn="l" rtl="0" fontAlgn="ctr"/>
                      <a:r>
                        <a:rPr lang="en-US" sz="1000" b="0" i="0" u="none" strike="noStrike">
                          <a:solidFill>
                            <a:srgbClr val="000000"/>
                          </a:solidFill>
                          <a:effectLst/>
                          <a:latin typeface="Poppins" panose="00000500000000000000" pitchFamily="2" charset="0"/>
                        </a:rPr>
                        <a:t>VNDO 2012-6AVE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$100,334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14314611"/>
                  </a:ext>
                </a:extLst>
              </a:tr>
              <a:tr h="133966">
                <a:tc>
                  <a:txBody>
                    <a:bodyPr/>
                    <a:lstStyle/>
                    <a:p>
                      <a:pPr algn="l" rtl="0" fontAlgn="ctr"/>
                      <a:r>
                        <a:rPr lang="en-US" sz="1000" b="0" i="0" u="none" strike="noStrike">
                          <a:solidFill>
                            <a:srgbClr val="000000"/>
                          </a:solidFill>
                          <a:effectLst/>
                          <a:latin typeface="Poppins" panose="00000500000000000000" pitchFamily="2" charset="0"/>
                        </a:rPr>
                        <a:t>BAMLL 2012-PARK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12/10/2030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$100,246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15199531"/>
                  </a:ext>
                </a:extLst>
              </a:tr>
            </a:tbl>
          </a:graphicData>
        </a:graphic>
      </p:graphicFrame>
      <p:sp>
        <p:nvSpPr>
          <p:cNvPr id="9" name="Line 309">
            <a:extLst>
              <a:ext uri="{FF2B5EF4-FFF2-40B4-BE49-F238E27FC236}">
                <a16:creationId xmlns:a16="http://schemas.microsoft.com/office/drawing/2014/main" id="{B30F1905-0025-B3C4-A983-80DBFF15FC33}"/>
              </a:ext>
            </a:extLst>
          </p:cNvPr>
          <p:cNvSpPr>
            <a:spLocks noChangeShapeType="1"/>
          </p:cNvSpPr>
          <p:nvPr/>
        </p:nvSpPr>
        <p:spPr bwMode="auto">
          <a:xfrm>
            <a:off x="371461" y="6584306"/>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6" name="Slide Number Placeholder 1">
            <a:extLst>
              <a:ext uri="{FF2B5EF4-FFF2-40B4-BE49-F238E27FC236}">
                <a16:creationId xmlns:a16="http://schemas.microsoft.com/office/drawing/2014/main" id="{0FEC4E49-8846-97F5-4CD9-C04AB6DF0583}"/>
              </a:ext>
            </a:extLst>
          </p:cNvPr>
          <p:cNvSpPr txBox="1">
            <a:spLocks/>
          </p:cNvSpPr>
          <p:nvPr/>
        </p:nvSpPr>
        <p:spPr>
          <a:xfrm>
            <a:off x="8699099" y="6582055"/>
            <a:ext cx="514350" cy="275945"/>
          </a:xfrm>
          <a:prstGeom prst="rect">
            <a:avLst/>
          </a:prstGeom>
        </p:spPr>
        <p:txBody>
          <a:bodyPr/>
          <a:lstStyle>
            <a:defPPr>
              <a:defRPr lang="en-US"/>
            </a:defPPr>
            <a:lvl1pPr marL="0" algn="l" defTabSz="457200" rtl="0" eaLnBrk="1" latinLnBrk="0" hangingPunct="1">
              <a:defRPr sz="800" kern="1200">
                <a:solidFill>
                  <a:schemeClr val="tx1"/>
                </a:solidFill>
                <a:latin typeface="Poppins" panose="00000500000000000000" pitchFamily="2" charset="0"/>
                <a:ea typeface="+mn-ea"/>
                <a:cs typeface="Poppins" panose="00000500000000000000"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806867" fontAlgn="base">
              <a:spcBef>
                <a:spcPct val="0"/>
              </a:spcBef>
              <a:spcAft>
                <a:spcPct val="0"/>
              </a:spcAft>
              <a:defRPr/>
            </a:pPr>
            <a:fld id="{1F3AF4E7-7E42-4609-9D36-1FCB1339153A}" type="slidenum">
              <a:rPr lang="en-US" sz="882" smtClean="0">
                <a:solidFill>
                  <a:srgbClr val="000000"/>
                </a:solidFill>
              </a:rPr>
              <a:pPr defTabSz="806867" fontAlgn="base">
                <a:spcBef>
                  <a:spcPct val="0"/>
                </a:spcBef>
                <a:spcAft>
                  <a:spcPct val="0"/>
                </a:spcAft>
                <a:defRPr/>
              </a:pPr>
              <a:t>28</a:t>
            </a:fld>
            <a:endParaRPr lang="en-US" sz="882">
              <a:solidFill>
                <a:srgbClr val="000000"/>
              </a:solidFill>
            </a:endParaRPr>
          </a:p>
        </p:txBody>
      </p:sp>
      <p:graphicFrame>
        <p:nvGraphicFramePr>
          <p:cNvPr id="10" name="Table 9">
            <a:extLst>
              <a:ext uri="{FF2B5EF4-FFF2-40B4-BE49-F238E27FC236}">
                <a16:creationId xmlns:a16="http://schemas.microsoft.com/office/drawing/2014/main" id="{FDB1F494-CEB7-F3AB-4565-22E4034FB570}"/>
              </a:ext>
            </a:extLst>
          </p:cNvPr>
          <p:cNvGraphicFramePr>
            <a:graphicFrameLocks noGrp="1"/>
          </p:cNvGraphicFramePr>
          <p:nvPr>
            <p:extLst>
              <p:ext uri="{D42A27DB-BD31-4B8C-83A1-F6EECF244321}">
                <p14:modId xmlns:p14="http://schemas.microsoft.com/office/powerpoint/2010/main" val="550465006"/>
              </p:ext>
            </p:extLst>
          </p:nvPr>
        </p:nvGraphicFramePr>
        <p:xfrm>
          <a:off x="366583" y="1238443"/>
          <a:ext cx="8412481" cy="5113931"/>
        </p:xfrm>
        <a:graphic>
          <a:graphicData uri="http://schemas.openxmlformats.org/drawingml/2006/table">
            <a:tbl>
              <a:tblPr/>
              <a:tblGrid>
                <a:gridCol w="2600665">
                  <a:extLst>
                    <a:ext uri="{9D8B030D-6E8A-4147-A177-3AD203B41FA5}">
                      <a16:colId xmlns:a16="http://schemas.microsoft.com/office/drawing/2014/main" val="1002834257"/>
                    </a:ext>
                  </a:extLst>
                </a:gridCol>
                <a:gridCol w="1131601">
                  <a:extLst>
                    <a:ext uri="{9D8B030D-6E8A-4147-A177-3AD203B41FA5}">
                      <a16:colId xmlns:a16="http://schemas.microsoft.com/office/drawing/2014/main" val="3529631700"/>
                    </a:ext>
                  </a:extLst>
                </a:gridCol>
                <a:gridCol w="911663">
                  <a:extLst>
                    <a:ext uri="{9D8B030D-6E8A-4147-A177-3AD203B41FA5}">
                      <a16:colId xmlns:a16="http://schemas.microsoft.com/office/drawing/2014/main" val="2630362925"/>
                    </a:ext>
                  </a:extLst>
                </a:gridCol>
                <a:gridCol w="505585">
                  <a:extLst>
                    <a:ext uri="{9D8B030D-6E8A-4147-A177-3AD203B41FA5}">
                      <a16:colId xmlns:a16="http://schemas.microsoft.com/office/drawing/2014/main" val="1988513568"/>
                    </a:ext>
                  </a:extLst>
                </a:gridCol>
                <a:gridCol w="604253">
                  <a:extLst>
                    <a:ext uri="{9D8B030D-6E8A-4147-A177-3AD203B41FA5}">
                      <a16:colId xmlns:a16="http://schemas.microsoft.com/office/drawing/2014/main" val="2164300373"/>
                    </a:ext>
                  </a:extLst>
                </a:gridCol>
                <a:gridCol w="944832">
                  <a:extLst>
                    <a:ext uri="{9D8B030D-6E8A-4147-A177-3AD203B41FA5}">
                      <a16:colId xmlns:a16="http://schemas.microsoft.com/office/drawing/2014/main" val="2411149920"/>
                    </a:ext>
                  </a:extLst>
                </a:gridCol>
                <a:gridCol w="856941">
                  <a:extLst>
                    <a:ext uri="{9D8B030D-6E8A-4147-A177-3AD203B41FA5}">
                      <a16:colId xmlns:a16="http://schemas.microsoft.com/office/drawing/2014/main" val="2814648439"/>
                    </a:ext>
                  </a:extLst>
                </a:gridCol>
                <a:gridCol w="856941">
                  <a:extLst>
                    <a:ext uri="{9D8B030D-6E8A-4147-A177-3AD203B41FA5}">
                      <a16:colId xmlns:a16="http://schemas.microsoft.com/office/drawing/2014/main" val="3941153654"/>
                    </a:ext>
                  </a:extLst>
                </a:gridCol>
              </a:tblGrid>
              <a:tr h="373931">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RATING</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MATURITY</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extLst>
                  <a:ext uri="{0D108BD9-81ED-4DB2-BD59-A6C34878D82A}">
                    <a16:rowId xmlns:a16="http://schemas.microsoft.com/office/drawing/2014/main" val="716417198"/>
                  </a:ext>
                </a:extLst>
              </a:tr>
              <a:tr h="189600">
                <a:tc>
                  <a:txBody>
                    <a:bodyPr/>
                    <a:lstStyle/>
                    <a:p>
                      <a:pPr algn="l" rtl="0" fontAlgn="ctr"/>
                      <a:r>
                        <a:rPr lang="en-US" sz="1050" b="0" i="0" u="none" strike="noStrike">
                          <a:solidFill>
                            <a:srgbClr val="000000"/>
                          </a:solidFill>
                          <a:effectLst/>
                          <a:latin typeface="Poppins" panose="00000500000000000000" pitchFamily="2" charset="0"/>
                        </a:rPr>
                        <a:t>MCCT 231 A</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0.93</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4.57%</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6/21/2027</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$361,002</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144321"/>
                  </a:ext>
                </a:extLst>
              </a:tr>
              <a:tr h="189600">
                <a:tc>
                  <a:txBody>
                    <a:bodyPr/>
                    <a:lstStyle/>
                    <a:p>
                      <a:pPr algn="l" rtl="0" fontAlgn="ctr"/>
                      <a:r>
                        <a:rPr lang="en-US" sz="1050" b="0" i="0" u="none" strike="noStrike">
                          <a:solidFill>
                            <a:srgbClr val="000000"/>
                          </a:solidFill>
                          <a:effectLst/>
                          <a:latin typeface="Poppins" panose="00000500000000000000" pitchFamily="2" charset="0"/>
                        </a:rPr>
                        <a:t>GCCT 211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$94,652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4401341"/>
                  </a:ext>
                </a:extLst>
              </a:tr>
              <a:tr h="189600">
                <a:tc>
                  <a:txBody>
                    <a:bodyPr/>
                    <a:lstStyle/>
                    <a:p>
                      <a:pPr algn="l" rtl="0" fontAlgn="ctr"/>
                      <a:r>
                        <a:rPr lang="en-US" sz="1050" b="0" i="0" u="none" strike="noStrike">
                          <a:solidFill>
                            <a:srgbClr val="000000"/>
                          </a:solidFill>
                          <a:effectLst/>
                          <a:latin typeface="Poppins" panose="00000500000000000000" pitchFamily="2" charset="0"/>
                        </a:rPr>
                        <a:t>GCCT 224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$535,116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256628083"/>
                  </a:ext>
                </a:extLst>
              </a:tr>
              <a:tr h="189600">
                <a:tc>
                  <a:txBody>
                    <a:bodyPr/>
                    <a:lstStyle/>
                    <a:p>
                      <a:pPr algn="l" rtl="0" fontAlgn="ctr"/>
                      <a:r>
                        <a:rPr lang="en-US" sz="1050" b="0" i="0" u="none" strike="noStrike">
                          <a:solidFill>
                            <a:srgbClr val="000000"/>
                          </a:solidFill>
                          <a:effectLst/>
                          <a:latin typeface="Poppins" panose="00000500000000000000" pitchFamily="2" charset="0"/>
                        </a:rPr>
                        <a:t>PCG 2021-A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7/15/2033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$75,967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94508816"/>
                  </a:ext>
                </a:extLst>
              </a:tr>
              <a:tr h="189600">
                <a:tc>
                  <a:txBody>
                    <a:bodyPr/>
                    <a:lstStyle/>
                    <a:p>
                      <a:pPr algn="l" rtl="0" fontAlgn="ctr"/>
                      <a:r>
                        <a:rPr lang="en-US" sz="1050" b="0" i="0" u="none" strike="noStrike">
                          <a:solidFill>
                            <a:srgbClr val="000000"/>
                          </a:solidFill>
                          <a:effectLst/>
                          <a:latin typeface="Poppins" panose="00000500000000000000" pitchFamily="2" charset="0"/>
                        </a:rPr>
                        <a:t>DUK 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3.18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7/1/2031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$23,638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89669971"/>
                  </a:ext>
                </a:extLst>
              </a:tr>
              <a:tr h="189600">
                <a:tc>
                  <a:txBody>
                    <a:bodyPr/>
                    <a:lstStyle/>
                    <a:p>
                      <a:pPr algn="l" rtl="0" fontAlgn="ctr"/>
                      <a:r>
                        <a:rPr lang="en-US" sz="1050" b="0" i="0" u="none" strike="noStrike">
                          <a:solidFill>
                            <a:srgbClr val="000000"/>
                          </a:solidFill>
                          <a:effectLst/>
                          <a:latin typeface="Poppins" panose="00000500000000000000" pitchFamily="2" charset="0"/>
                        </a:rPr>
                        <a:t>DUK 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7/1/2028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$60,783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034394001"/>
                  </a:ext>
                </a:extLst>
              </a:tr>
              <a:tr h="189600">
                <a:tc>
                  <a:txBody>
                    <a:bodyPr/>
                    <a:lstStyle/>
                    <a:p>
                      <a:pPr algn="l" rtl="0" fontAlgn="ctr"/>
                      <a:r>
                        <a:rPr lang="en-US" sz="1050" b="0" i="0" u="none" strike="noStrike">
                          <a:solidFill>
                            <a:srgbClr val="000000"/>
                          </a:solidFill>
                          <a:effectLst/>
                          <a:latin typeface="Poppins" panose="00000500000000000000" pitchFamily="2" charset="0"/>
                        </a:rPr>
                        <a:t>EIX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1.87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$26,376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49627683"/>
                  </a:ext>
                </a:extLst>
              </a:tr>
              <a:tr h="189600">
                <a:tc>
                  <a:txBody>
                    <a:bodyPr/>
                    <a:lstStyle/>
                    <a:p>
                      <a:pPr algn="l" rtl="0" fontAlgn="ctr"/>
                      <a:r>
                        <a:rPr lang="en-US" sz="1050" b="0" i="0" u="none" strike="noStrike">
                          <a:solidFill>
                            <a:srgbClr val="000000"/>
                          </a:solidFill>
                          <a:effectLst/>
                          <a:latin typeface="Poppins" panose="00000500000000000000" pitchFamily="2" charset="0"/>
                        </a:rPr>
                        <a:t>DTE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12/1/2027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$36,708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91989528"/>
                  </a:ext>
                </a:extLst>
              </a:tr>
              <a:tr h="189600">
                <a:tc>
                  <a:txBody>
                    <a:bodyPr/>
                    <a:lstStyle/>
                    <a:p>
                      <a:pPr algn="l" rtl="0" fontAlgn="ctr"/>
                      <a:r>
                        <a:rPr lang="en-US" sz="1050" b="0" i="0" u="none" strike="noStrike">
                          <a:solidFill>
                            <a:srgbClr val="000000"/>
                          </a:solidFill>
                          <a:effectLst/>
                          <a:latin typeface="Poppins" panose="00000500000000000000" pitchFamily="2" charset="0"/>
                        </a:rPr>
                        <a:t>AXIS 2022-2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6/21/2028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$39,170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900703067"/>
                  </a:ext>
                </a:extLst>
              </a:tr>
              <a:tr h="189600">
                <a:tc>
                  <a:txBody>
                    <a:bodyPr/>
                    <a:lstStyle/>
                    <a:p>
                      <a:pPr algn="l" rtl="0" fontAlgn="ctr"/>
                      <a:r>
                        <a:rPr lang="en-US" sz="1050" b="0" i="0" u="none" strike="noStrike">
                          <a:solidFill>
                            <a:srgbClr val="000000"/>
                          </a:solidFill>
                          <a:effectLst/>
                          <a:latin typeface="Poppins" panose="00000500000000000000" pitchFamily="2" charset="0"/>
                        </a:rPr>
                        <a:t>LASGOV 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2/1/2029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$20,131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231493323"/>
                  </a:ext>
                </a:extLst>
              </a:tr>
              <a:tr h="189600">
                <a:tc>
                  <a:txBody>
                    <a:bodyPr/>
                    <a:lstStyle/>
                    <a:p>
                      <a:pPr algn="l" rtl="0" fontAlgn="ctr"/>
                      <a:r>
                        <a:rPr lang="en-US" sz="1050" b="0" i="0" u="none" strike="noStrike">
                          <a:solidFill>
                            <a:srgbClr val="000000"/>
                          </a:solidFill>
                          <a:effectLst/>
                          <a:latin typeface="Poppins" panose="00000500000000000000" pitchFamily="2" charset="0"/>
                        </a:rPr>
                        <a:t>KCOT 2023-1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2/17/2026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$16,475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52557174"/>
                  </a:ext>
                </a:extLst>
              </a:tr>
              <a:tr h="189600">
                <a:tc>
                  <a:txBody>
                    <a:bodyPr/>
                    <a:lstStyle/>
                    <a:p>
                      <a:pPr algn="l" rtl="0" fontAlgn="ctr"/>
                      <a:r>
                        <a:rPr lang="en-US" sz="1050" b="0" i="0" u="none" strike="noStrike">
                          <a:solidFill>
                            <a:srgbClr val="000000"/>
                          </a:solidFill>
                          <a:effectLst/>
                          <a:latin typeface="Poppins" panose="00000500000000000000" pitchFamily="2" charset="0"/>
                        </a:rPr>
                        <a:t>AMXCA 2022-2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$453,664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039458"/>
                  </a:ext>
                </a:extLst>
              </a:tr>
              <a:tr h="189600">
                <a:tc>
                  <a:txBody>
                    <a:bodyPr/>
                    <a:lstStyle/>
                    <a:p>
                      <a:pPr algn="l" rtl="0" fontAlgn="ctr"/>
                      <a:r>
                        <a:rPr lang="en-US" sz="1050" b="0" i="0" u="none" strike="noStrike">
                          <a:solidFill>
                            <a:srgbClr val="000000"/>
                          </a:solidFill>
                          <a:effectLst/>
                          <a:latin typeface="Poppins" panose="00000500000000000000" pitchFamily="2" charset="0"/>
                        </a:rPr>
                        <a:t>COMET 2022-1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3/17/2025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$257,358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75356357"/>
                  </a:ext>
                </a:extLst>
              </a:tr>
              <a:tr h="189600">
                <a:tc>
                  <a:txBody>
                    <a:bodyPr/>
                    <a:lstStyle/>
                    <a:p>
                      <a:pPr algn="l" rtl="0" fontAlgn="ctr"/>
                      <a:r>
                        <a:rPr lang="en-US" sz="1050" b="0" i="0" u="none" strike="noStrike">
                          <a:solidFill>
                            <a:srgbClr val="000000"/>
                          </a:solidFill>
                          <a:effectLst/>
                          <a:latin typeface="Poppins" panose="00000500000000000000" pitchFamily="2" charset="0"/>
                        </a:rPr>
                        <a:t>DROCK 2022-1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$274,197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27295316"/>
                  </a:ext>
                </a:extLst>
              </a:tr>
              <a:tr h="189600">
                <a:tc>
                  <a:txBody>
                    <a:bodyPr/>
                    <a:lstStyle/>
                    <a:p>
                      <a:pPr algn="l" rtl="0" fontAlgn="ctr"/>
                      <a:r>
                        <a:rPr lang="en-US" sz="1050" b="0" i="0" u="none" strike="noStrike">
                          <a:solidFill>
                            <a:srgbClr val="000000"/>
                          </a:solidFill>
                          <a:effectLst/>
                          <a:latin typeface="Poppins" panose="00000500000000000000" pitchFamily="2" charset="0"/>
                        </a:rPr>
                        <a:t>AMXCA 2023-1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5/15/2026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$136,008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525905742"/>
                  </a:ext>
                </a:extLst>
              </a:tr>
              <a:tr h="189600">
                <a:tc>
                  <a:txBody>
                    <a:bodyPr/>
                    <a:lstStyle/>
                    <a:p>
                      <a:pPr algn="l" rtl="0" fontAlgn="ctr"/>
                      <a:r>
                        <a:rPr lang="en-US" sz="1050" b="0" i="0" u="none" strike="noStrike">
                          <a:solidFill>
                            <a:srgbClr val="000000"/>
                          </a:solidFill>
                          <a:effectLst/>
                          <a:latin typeface="Poppins" panose="00000500000000000000" pitchFamily="2" charset="0"/>
                        </a:rPr>
                        <a:t>KCOT 222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12/15/2026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$169,609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419002755"/>
                  </a:ext>
                </a:extLst>
              </a:tr>
              <a:tr h="189600">
                <a:tc>
                  <a:txBody>
                    <a:bodyPr/>
                    <a:lstStyle/>
                    <a:p>
                      <a:pPr algn="l" rtl="0" fontAlgn="ctr"/>
                      <a:r>
                        <a:rPr lang="en-US" sz="1050" b="0" i="0" u="none" strike="noStrike">
                          <a:solidFill>
                            <a:srgbClr val="000000"/>
                          </a:solidFill>
                          <a:effectLst/>
                          <a:latin typeface="Poppins" panose="00000500000000000000" pitchFamily="2" charset="0"/>
                        </a:rPr>
                        <a:t>VZMT 2024-6 A1A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8/20/2030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$188,415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79523205"/>
                  </a:ext>
                </a:extLst>
              </a:tr>
              <a:tr h="189600">
                <a:tc>
                  <a:txBody>
                    <a:bodyPr/>
                    <a:lstStyle/>
                    <a:p>
                      <a:pPr algn="l" rtl="0" fontAlgn="ctr"/>
                      <a:r>
                        <a:rPr lang="en-US" sz="1050" b="0" i="0" u="none" strike="noStrike">
                          <a:solidFill>
                            <a:srgbClr val="000000"/>
                          </a:solidFill>
                          <a:effectLst/>
                          <a:latin typeface="Poppins" panose="00000500000000000000" pitchFamily="2" charset="0"/>
                        </a:rPr>
                        <a:t>PNFED 2024-A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$67,729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04987287"/>
                  </a:ext>
                </a:extLst>
              </a:tr>
              <a:tr h="189600">
                <a:tc>
                  <a:txBody>
                    <a:bodyPr/>
                    <a:lstStyle/>
                    <a:p>
                      <a:pPr algn="l" rtl="0" fontAlgn="ctr"/>
                      <a:r>
                        <a:rPr lang="en-US" sz="1050" b="0" i="0" u="none" strike="noStrike">
                          <a:solidFill>
                            <a:srgbClr val="000000"/>
                          </a:solidFill>
                          <a:effectLst/>
                          <a:latin typeface="Poppins" panose="00000500000000000000" pitchFamily="2" charset="0"/>
                        </a:rPr>
                        <a:t>CHAIT 2022-1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$209,705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411549475"/>
                  </a:ext>
                </a:extLst>
              </a:tr>
              <a:tr h="189600">
                <a:tc>
                  <a:txBody>
                    <a:bodyPr/>
                    <a:lstStyle/>
                    <a:p>
                      <a:pPr algn="l" rtl="0" fontAlgn="ctr"/>
                      <a:r>
                        <a:rPr lang="en-US" sz="1050" b="0" i="0" u="none" strike="noStrike">
                          <a:solidFill>
                            <a:srgbClr val="000000"/>
                          </a:solidFill>
                          <a:effectLst/>
                          <a:latin typeface="Poppins" panose="00000500000000000000" pitchFamily="2" charset="0"/>
                        </a:rPr>
                        <a:t>AMXCA 2022-4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$316,854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680559872"/>
                  </a:ext>
                </a:extLst>
              </a:tr>
              <a:tr h="189600">
                <a:tc>
                  <a:txBody>
                    <a:bodyPr/>
                    <a:lstStyle/>
                    <a:p>
                      <a:pPr algn="l" rtl="0" fontAlgn="ctr"/>
                      <a:r>
                        <a:rPr lang="en-US" sz="1050" b="0" i="0" u="none" strike="noStrike">
                          <a:solidFill>
                            <a:srgbClr val="000000"/>
                          </a:solidFill>
                          <a:effectLst/>
                          <a:latin typeface="Poppins" panose="00000500000000000000" pitchFamily="2" charset="0"/>
                        </a:rPr>
                        <a:t>DCENT 2022-3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$259,087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67212572"/>
                  </a:ext>
                </a:extLst>
              </a:tr>
              <a:tr h="189600">
                <a:tc>
                  <a:txBody>
                    <a:bodyPr/>
                    <a:lstStyle/>
                    <a:p>
                      <a:pPr algn="l" rtl="0" fontAlgn="ctr"/>
                      <a:r>
                        <a:rPr lang="en-US" sz="1050" b="0" i="0" u="none" strike="noStrike">
                          <a:solidFill>
                            <a:srgbClr val="000000"/>
                          </a:solidFill>
                          <a:effectLst/>
                          <a:latin typeface="Poppins" panose="00000500000000000000" pitchFamily="2" charset="0"/>
                        </a:rPr>
                        <a:t>COMET 2022-2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$498,813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155117640"/>
                  </a:ext>
                </a:extLst>
              </a:tr>
              <a:tr h="189600">
                <a:tc>
                  <a:txBody>
                    <a:bodyPr/>
                    <a:lstStyle/>
                    <a:p>
                      <a:pPr algn="l" rtl="0" fontAlgn="ctr"/>
                      <a:r>
                        <a:rPr lang="en-US" sz="105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12/31/2024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-$1,887,246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9048016"/>
                  </a:ext>
                </a:extLst>
              </a:tr>
              <a:tr h="189600">
                <a:tc>
                  <a:txBody>
                    <a:bodyPr/>
                    <a:lstStyle/>
                    <a:p>
                      <a:pPr algn="l" rtl="0" fontAlgn="ctr"/>
                      <a:r>
                        <a:rPr lang="en-US" sz="1050" b="0" i="0" u="none" strike="noStrike">
                          <a:solidFill>
                            <a:srgbClr val="000000"/>
                          </a:solidFill>
                          <a:effectLst/>
                          <a:latin typeface="Poppins" panose="00000500000000000000" pitchFamily="2" charset="0"/>
                        </a:rPr>
                        <a:t>RECEIVABLE</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12/31/2024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$17,806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02871724"/>
                  </a:ext>
                </a:extLst>
              </a:tr>
              <a:tr h="189600">
                <a:tc>
                  <a:txBody>
                    <a:bodyPr/>
                    <a:lstStyle/>
                    <a:p>
                      <a:pPr algn="l" rtl="0" fontAlgn="ctr"/>
                      <a:r>
                        <a:rPr lang="en-US" sz="1050" b="0" i="0" u="none" strike="noStrike">
                          <a:solidFill>
                            <a:srgbClr val="000000"/>
                          </a:solidFill>
                          <a:effectLst/>
                          <a:latin typeface="Poppins" panose="00000500000000000000" pitchFamily="2" charset="0"/>
                        </a:rPr>
                        <a:t>FIRST AMER:TRS OBG Z</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12/31/2024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$6,435,270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23173614"/>
                  </a:ext>
                </a:extLst>
              </a:tr>
            </a:tbl>
          </a:graphicData>
        </a:graphic>
      </p:graphicFrame>
      <p:sp>
        <p:nvSpPr>
          <p:cNvPr id="5" name="Title 1">
            <a:extLst>
              <a:ext uri="{FF2B5EF4-FFF2-40B4-BE49-F238E27FC236}">
                <a16:creationId xmlns:a16="http://schemas.microsoft.com/office/drawing/2014/main" id="{D5C0E9D2-149A-EBA2-FC98-3A1E5D917BA6}"/>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SMA holdings </a:t>
            </a:r>
          </a:p>
        </p:txBody>
      </p:sp>
      <p:sp>
        <p:nvSpPr>
          <p:cNvPr id="2" name="Rectangle 1">
            <a:extLst>
              <a:ext uri="{FF2B5EF4-FFF2-40B4-BE49-F238E27FC236}">
                <a16:creationId xmlns:a16="http://schemas.microsoft.com/office/drawing/2014/main" id="{F7AA048C-A1E1-D473-62C5-C93291D938E9}"/>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50000"/>
              </a:spcBef>
              <a:spcAft>
                <a:spcPct val="0"/>
              </a:spcAft>
              <a:buClrTx/>
              <a:buSzTx/>
              <a:buFontTx/>
              <a:buNone/>
              <a:tabLst/>
            </a:pPr>
            <a:r>
              <a:rPr lang="en-US" sz="1600">
                <a:solidFill>
                  <a:schemeClr val="bg1"/>
                </a:solidFill>
                <a:latin typeface="Poppins Light"/>
                <a:cs typeface="Poppins Medium" panose="00000600000000000000" pitchFamily="2" charset="0"/>
              </a:rPr>
              <a:t>PORTFOLIO</a:t>
            </a:r>
            <a:r>
              <a:rPr kumimoji="0" lang="en-US" sz="1600" i="0" u="none" strike="noStrike" cap="none" normalizeH="0" baseline="0">
                <a:ln>
                  <a:noFill/>
                </a:ln>
                <a:solidFill>
                  <a:schemeClr val="bg1"/>
                </a:solidFill>
                <a:effectLst/>
                <a:latin typeface="Poppins Light"/>
                <a:cs typeface="Poppins Medium" panose="00000600000000000000" pitchFamily="2" charset="0"/>
              </a:rPr>
              <a:t> HOLDINGS </a:t>
            </a:r>
            <a:r>
              <a:rPr lang="en-US" sz="1600">
                <a:solidFill>
                  <a:schemeClr val="bg1"/>
                </a:solidFill>
                <a:latin typeface="Poppins Light"/>
                <a:cs typeface="Poppins Medium" panose="00000600000000000000" pitchFamily="2" charset="0"/>
              </a:rPr>
              <a:t>| </a:t>
            </a:r>
            <a:r>
              <a:rPr lang="en-US" sz="1600">
                <a:solidFill>
                  <a:schemeClr val="bg1"/>
                </a:solidFill>
                <a:latin typeface="Poppins Medium"/>
                <a:cs typeface="Poppins Light" panose="00000400000000000000" pitchFamily="2" charset="0"/>
              </a:rPr>
              <a:t>12-31-2024</a:t>
            </a:r>
            <a:endParaRPr lang="en-US" sz="1600" b="0" i="0" u="none" strike="noStrike" cap="none" normalizeH="0" baseline="0">
              <a:ln>
                <a:noFill/>
              </a:ln>
              <a:solidFill>
                <a:schemeClr val="bg1"/>
              </a:solidFill>
              <a:effectLst/>
              <a:latin typeface="Poppins Medium"/>
              <a:cs typeface="Poppins Light" panose="00000400000000000000" pitchFamily="2" charset="0"/>
            </a:endParaRPr>
          </a:p>
        </p:txBody>
      </p:sp>
    </p:spTree>
    <p:extLst>
      <p:ext uri="{BB962C8B-B14F-4D97-AF65-F5344CB8AC3E}">
        <p14:creationId xmlns:p14="http://schemas.microsoft.com/office/powerpoint/2010/main" val="3570232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hidden="1">
            <a:extLst>
              <a:ext uri="{FF2B5EF4-FFF2-40B4-BE49-F238E27FC236}">
                <a16:creationId xmlns:a16="http://schemas.microsoft.com/office/drawing/2014/main" id="{42EEB35B-E44D-4A02-A22D-BD8FB6900C5E}"/>
              </a:ext>
            </a:extLst>
          </p:cNvPr>
          <p:cNvGraphicFramePr>
            <a:graphicFrameLocks noGrp="1"/>
          </p:cNvGraphicFramePr>
          <p:nvPr>
            <p:extLst>
              <p:ext uri="{D42A27DB-BD31-4B8C-83A1-F6EECF244321}">
                <p14:modId xmlns:p14="http://schemas.microsoft.com/office/powerpoint/2010/main" val="3819273387"/>
              </p:ext>
            </p:extLst>
          </p:nvPr>
        </p:nvGraphicFramePr>
        <p:xfrm>
          <a:off x="381000" y="1220876"/>
          <a:ext cx="8398061" cy="5393384"/>
        </p:xfrm>
        <a:graphic>
          <a:graphicData uri="http://schemas.openxmlformats.org/drawingml/2006/table">
            <a:tbl>
              <a:tblPr bandRow="1">
                <a:tableStyleId>{93296810-A885-4BE3-A3E7-6D5BEEA58F35}</a:tableStyleId>
              </a:tblPr>
              <a:tblGrid>
                <a:gridCol w="2182370">
                  <a:extLst>
                    <a:ext uri="{9D8B030D-6E8A-4147-A177-3AD203B41FA5}">
                      <a16:colId xmlns:a16="http://schemas.microsoft.com/office/drawing/2014/main" val="20000"/>
                    </a:ext>
                  </a:extLst>
                </a:gridCol>
                <a:gridCol w="882405">
                  <a:extLst>
                    <a:ext uri="{9D8B030D-6E8A-4147-A177-3AD203B41FA5}">
                      <a16:colId xmlns:a16="http://schemas.microsoft.com/office/drawing/2014/main" val="3585380606"/>
                    </a:ext>
                  </a:extLst>
                </a:gridCol>
                <a:gridCol w="908352">
                  <a:extLst>
                    <a:ext uri="{9D8B030D-6E8A-4147-A177-3AD203B41FA5}">
                      <a16:colId xmlns:a16="http://schemas.microsoft.com/office/drawing/2014/main" val="1257159576"/>
                    </a:ext>
                  </a:extLst>
                </a:gridCol>
                <a:gridCol w="628339">
                  <a:extLst>
                    <a:ext uri="{9D8B030D-6E8A-4147-A177-3AD203B41FA5}">
                      <a16:colId xmlns:a16="http://schemas.microsoft.com/office/drawing/2014/main" val="481879323"/>
                    </a:ext>
                  </a:extLst>
                </a:gridCol>
                <a:gridCol w="846834">
                  <a:extLst>
                    <a:ext uri="{9D8B030D-6E8A-4147-A177-3AD203B41FA5}">
                      <a16:colId xmlns:a16="http://schemas.microsoft.com/office/drawing/2014/main" val="2810924609"/>
                    </a:ext>
                  </a:extLst>
                </a:gridCol>
                <a:gridCol w="736600">
                  <a:extLst>
                    <a:ext uri="{9D8B030D-6E8A-4147-A177-3AD203B41FA5}">
                      <a16:colId xmlns:a16="http://schemas.microsoft.com/office/drawing/2014/main" val="3703170606"/>
                    </a:ext>
                  </a:extLst>
                </a:gridCol>
                <a:gridCol w="736600">
                  <a:extLst>
                    <a:ext uri="{9D8B030D-6E8A-4147-A177-3AD203B41FA5}">
                      <a16:colId xmlns:a16="http://schemas.microsoft.com/office/drawing/2014/main" val="4265513678"/>
                    </a:ext>
                  </a:extLst>
                </a:gridCol>
                <a:gridCol w="800100">
                  <a:extLst>
                    <a:ext uri="{9D8B030D-6E8A-4147-A177-3AD203B41FA5}">
                      <a16:colId xmlns:a16="http://schemas.microsoft.com/office/drawing/2014/main" val="22118574"/>
                    </a:ext>
                  </a:extLst>
                </a:gridCol>
                <a:gridCol w="676461">
                  <a:extLst>
                    <a:ext uri="{9D8B030D-6E8A-4147-A177-3AD203B41FA5}">
                      <a16:colId xmlns:a16="http://schemas.microsoft.com/office/drawing/2014/main" val="20001"/>
                    </a:ext>
                  </a:extLst>
                </a:gridCol>
              </a:tblGrid>
              <a:tr h="390510">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Issuer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Sector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Duration</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Yield</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S&amp;p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Moody’s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Maturity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1"/>
                  </a:ext>
                </a:extLst>
              </a:tr>
              <a:tr h="213595">
                <a:tc>
                  <a:txBody>
                    <a:bodyPr/>
                    <a:lstStyle/>
                    <a:p>
                      <a:pPr algn="l"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10/31/2019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$286,213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7263394"/>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1.4709013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11/19/2019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$749,428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6.24%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5558472"/>
                  </a:ext>
                </a:extLst>
              </a:tr>
              <a:tr h="213595">
                <a:tc>
                  <a:txBody>
                    <a:bodyPr/>
                    <a:lstStyle/>
                    <a:p>
                      <a:pPr algn="l" rtl="0" fontAlgn="ctr"/>
                      <a:r>
                        <a:rPr lang="en-US" sz="900" b="0" i="0" u="none" strike="noStrike">
                          <a:solidFill>
                            <a:srgbClr val="000000"/>
                          </a:solidFill>
                          <a:effectLst/>
                          <a:latin typeface="Poppins" panose="00000500000000000000" pitchFamily="2" charset="0"/>
                        </a:rPr>
                        <a:t>J M SMUCKER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9.70%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2.116467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12/6/2019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$40,357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8122526"/>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17.21%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1.5481337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$648,268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5660"/>
                  </a:ext>
                </a:extLst>
              </a:tr>
              <a:tr h="213595">
                <a:tc>
                  <a:txBody>
                    <a:bodyPr/>
                    <a:lstStyle/>
                    <a:p>
                      <a:pPr algn="l" rtl="0" fontAlgn="ctr"/>
                      <a:r>
                        <a:rPr lang="en-US" sz="900" b="0" i="0" u="none" strike="noStrike">
                          <a:solidFill>
                            <a:srgbClr val="000000"/>
                          </a:solidFill>
                          <a:effectLst/>
                          <a:latin typeface="Poppins" panose="00000500000000000000" pitchFamily="2" charset="0"/>
                        </a:rPr>
                        <a:t>JACKSON NAT’L LIFE GLBL FUNDING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1.8956037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$45,283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1.535244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$896,568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3595">
                <a:tc>
                  <a:txBody>
                    <a:bodyPr/>
                    <a:lstStyle/>
                    <a:p>
                      <a:pPr algn="l" rtl="0" fontAlgn="ctr"/>
                      <a:r>
                        <a:rPr lang="en-US" sz="900" b="0" i="0" u="none" strike="noStrike">
                          <a:solidFill>
                            <a:srgbClr val="000000"/>
                          </a:solidFill>
                          <a:effectLst/>
                          <a:latin typeface="Poppins" panose="00000500000000000000" pitchFamily="2" charset="0"/>
                        </a:rPr>
                        <a:t>SUNTRUST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19.68%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1.9734232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$40,245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487494"/>
                  </a:ext>
                </a:extLst>
              </a:tr>
              <a:tr h="213595">
                <a:tc>
                  <a:txBody>
                    <a:bodyPr/>
                    <a:lstStyle/>
                    <a:p>
                      <a:pPr algn="l" rtl="0" fontAlgn="ctr"/>
                      <a:r>
                        <a:rPr lang="en-US" sz="900" b="0" i="0" u="none" strike="noStrike">
                          <a:solidFill>
                            <a:srgbClr val="000000"/>
                          </a:solidFill>
                          <a:effectLst/>
                          <a:latin typeface="Poppins" panose="00000500000000000000" pitchFamily="2" charset="0"/>
                        </a:rPr>
                        <a:t>CHEVRON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ENERGY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27.97%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1.8949127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$100,331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63137"/>
                  </a:ext>
                </a:extLst>
              </a:tr>
              <a:tr h="213595">
                <a:tc>
                  <a:txBody>
                    <a:bodyPr/>
                    <a:lstStyle/>
                    <a:p>
                      <a:pPr algn="l" rtl="0" fontAlgn="ctr"/>
                      <a:r>
                        <a:rPr lang="en-US" sz="900" b="0" i="0" u="none" strike="noStrike">
                          <a:solidFill>
                            <a:srgbClr val="000000"/>
                          </a:solidFill>
                          <a:effectLst/>
                          <a:latin typeface="Poppins" panose="00000500000000000000" pitchFamily="2" charset="0"/>
                        </a:rPr>
                        <a:t>COMMONWEALTH BANK OF AUSTRALIA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1.9187822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$40,174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2169908"/>
                  </a:ext>
                </a:extLst>
              </a:tr>
              <a:tr h="213595">
                <a:tc>
                  <a:txBody>
                    <a:bodyPr/>
                    <a:lstStyle/>
                    <a:p>
                      <a:pPr algn="l" rtl="0" fontAlgn="ctr"/>
                      <a:r>
                        <a:rPr lang="en-US" sz="900" b="0" i="0" u="none" strike="noStrike">
                          <a:solidFill>
                            <a:srgbClr val="000000"/>
                          </a:solidFill>
                          <a:effectLst/>
                          <a:latin typeface="Poppins" panose="00000500000000000000" pitchFamily="2" charset="0"/>
                        </a:rPr>
                        <a:t>ACTAVIS FUNDING SCS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2.107104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$54,354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4872185"/>
                  </a:ext>
                </a:extLst>
              </a:tr>
              <a:tr h="213595">
                <a:tc>
                  <a:txBody>
                    <a:bodyPr/>
                    <a:lstStyle/>
                    <a:p>
                      <a:pPr algn="l" rtl="0" fontAlgn="ctr"/>
                      <a:r>
                        <a:rPr lang="en-US" sz="900" b="0" i="0" u="none" strike="noStrike">
                          <a:solidFill>
                            <a:srgbClr val="000000"/>
                          </a:solidFill>
                          <a:effectLst/>
                          <a:latin typeface="Poppins" panose="00000500000000000000" pitchFamily="2" charset="0"/>
                        </a:rPr>
                        <a:t>BACCT 171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37.28%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1.9372058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3/16/2020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$55,049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963204"/>
                  </a:ext>
                </a:extLst>
              </a:tr>
              <a:tr h="213595">
                <a:tc>
                  <a:txBody>
                    <a:bodyPr/>
                    <a:lstStyle/>
                    <a:p>
                      <a:pPr algn="l" rtl="0" fontAlgn="ctr"/>
                      <a:r>
                        <a:rPr lang="en-US" sz="900" b="0" i="0" u="none" strike="noStrike">
                          <a:solidFill>
                            <a:srgbClr val="000000"/>
                          </a:solidFill>
                          <a:effectLst/>
                          <a:latin typeface="Poppins" panose="00000500000000000000" pitchFamily="2" charset="0"/>
                        </a:rPr>
                        <a:t>CHAIT 154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1.8911995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NR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$100,057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826118"/>
                  </a:ext>
                </a:extLst>
              </a:tr>
              <a:tr h="166129">
                <a:tc>
                  <a:txBody>
                    <a:bodyPr/>
                    <a:lstStyle/>
                    <a:p>
                      <a:pPr algn="l" rtl="0" fontAlgn="ctr"/>
                      <a:r>
                        <a:rPr lang="en-US" sz="900" b="0" i="0" u="none" strike="noStrike">
                          <a:solidFill>
                            <a:srgbClr val="000000"/>
                          </a:solidFill>
                          <a:effectLst/>
                          <a:latin typeface="Poppins" panose="00000500000000000000" pitchFamily="2" charset="0"/>
                        </a:rPr>
                        <a:t>BANK OF AMERICA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46.81%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1.8856671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7382148"/>
                  </a:ext>
                </a:extLst>
              </a:tr>
              <a:tr h="213595">
                <a:tc>
                  <a:txBody>
                    <a:bodyPr/>
                    <a:lstStyle/>
                    <a:p>
                      <a:pPr algn="l" rtl="0" fontAlgn="ctr"/>
                      <a:r>
                        <a:rPr lang="en-US" sz="900" b="0" i="0" u="none" strike="noStrike">
                          <a:solidFill>
                            <a:srgbClr val="000000"/>
                          </a:solidFill>
                          <a:effectLst/>
                          <a:latin typeface="Poppins" panose="00000500000000000000" pitchFamily="2" charset="0"/>
                        </a:rPr>
                        <a:t>HARRIS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INDUSTRIAL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2.286775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$50,098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761231"/>
                  </a:ext>
                </a:extLst>
              </a:tr>
              <a:tr h="213595">
                <a:tc>
                  <a:txBody>
                    <a:bodyPr/>
                    <a:lstStyle/>
                    <a:p>
                      <a:pPr algn="l" rtl="0" fontAlgn="ctr"/>
                      <a:r>
                        <a:rPr lang="en-US" sz="900" b="0" i="0" u="none" strike="noStrike">
                          <a:solidFill>
                            <a:srgbClr val="000000"/>
                          </a:solidFill>
                          <a:effectLst/>
                          <a:latin typeface="Poppins" panose="00000500000000000000" pitchFamily="2" charset="0"/>
                        </a:rPr>
                        <a:t>EUROPEAN INVESTMENT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SUPRANATIONAL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1.8131835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$110,274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2308538"/>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US GOV</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65.64%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1.6238955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$100,548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986782"/>
                  </a:ext>
                </a:extLst>
              </a:tr>
              <a:tr h="213595">
                <a:tc>
                  <a:txBody>
                    <a:bodyPr/>
                    <a:lstStyle/>
                    <a:p>
                      <a:pPr algn="l" rtl="0" fontAlgn="ctr"/>
                      <a:r>
                        <a:rPr lang="de-DE" sz="900" b="0" i="0" u="none" strike="noStrike">
                          <a:solidFill>
                            <a:srgbClr val="000000"/>
                          </a:solidFill>
                          <a:effectLst/>
                          <a:latin typeface="Poppins" panose="00000500000000000000" pitchFamily="2" charset="0"/>
                        </a:rPr>
                        <a:t>DEUTSCHE BANK AG (NY BRANCH)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68.43%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2.6452286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$20,169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0.17%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216473"/>
                  </a:ext>
                </a:extLst>
              </a:tr>
              <a:tr h="213595">
                <a:tc>
                  <a:txBody>
                    <a:bodyPr/>
                    <a:lstStyle/>
                    <a:p>
                      <a:pPr algn="l" rtl="0" fontAlgn="ctr"/>
                      <a:r>
                        <a:rPr lang="en-US" sz="900" b="0" i="0" u="none" strike="noStrike">
                          <a:solidFill>
                            <a:srgbClr val="000000"/>
                          </a:solidFill>
                          <a:effectLst/>
                          <a:latin typeface="Poppins" panose="00000500000000000000" pitchFamily="2" charset="0"/>
                        </a:rPr>
                        <a:t>WELLS FARGO &amp;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1.8962492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7/22/2020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$55,670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85760"/>
                  </a:ext>
                </a:extLst>
              </a:tr>
              <a:tr h="213595">
                <a:tc>
                  <a:txBody>
                    <a:bodyPr/>
                    <a:lstStyle/>
                    <a:p>
                      <a:pPr algn="l" rtl="0" fontAlgn="ctr"/>
                      <a:r>
                        <a:rPr lang="en-US" sz="900" b="0" i="0" u="none" strike="noStrike">
                          <a:solidFill>
                            <a:srgbClr val="000000"/>
                          </a:solidFill>
                          <a:effectLst/>
                          <a:latin typeface="Poppins" panose="00000500000000000000" pitchFamily="2" charset="0"/>
                        </a:rPr>
                        <a:t>ANTHEM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77.06%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2.0067809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$35,959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648593"/>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INTERNATIONAL GROUP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1.9207537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$30,553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0173202"/>
                  </a:ext>
                </a:extLst>
              </a:tr>
              <a:tr h="213595">
                <a:tc>
                  <a:txBody>
                    <a:bodyPr/>
                    <a:lstStyle/>
                    <a:p>
                      <a:pPr algn="l" rtl="0" fontAlgn="ctr"/>
                      <a:r>
                        <a:rPr lang="en-US" sz="900" b="0" i="0" u="none" strike="noStrike">
                          <a:solidFill>
                            <a:srgbClr val="000000"/>
                          </a:solidFill>
                          <a:effectLst/>
                          <a:latin typeface="Poppins" panose="00000500000000000000" pitchFamily="2" charset="0"/>
                        </a:rPr>
                        <a:t>DCENT 176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78.40%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1.8729056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$120,108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433518"/>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CAMPUS COMM. OP. PRTNSP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82.25%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2.050762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$45,606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5677006"/>
                  </a:ext>
                </a:extLst>
              </a:tr>
            </a:tbl>
          </a:graphicData>
        </a:graphic>
      </p:graphicFrame>
      <p:graphicFrame>
        <p:nvGraphicFramePr>
          <p:cNvPr id="3" name="Table 2" hidden="1">
            <a:extLst>
              <a:ext uri="{FF2B5EF4-FFF2-40B4-BE49-F238E27FC236}">
                <a16:creationId xmlns:a16="http://schemas.microsoft.com/office/drawing/2014/main" id="{1F711E98-DAA0-46EB-8B8E-705A6A308A0A}"/>
              </a:ext>
            </a:extLst>
          </p:cNvPr>
          <p:cNvGraphicFramePr>
            <a:graphicFrameLocks noGrp="1"/>
          </p:cNvGraphicFramePr>
          <p:nvPr/>
        </p:nvGraphicFramePr>
        <p:xfrm>
          <a:off x="362585" y="1203960"/>
          <a:ext cx="8412480" cy="5113020"/>
        </p:xfrm>
        <a:graphic>
          <a:graphicData uri="http://schemas.openxmlformats.org/drawingml/2006/table">
            <a:tbl>
              <a:tblPr/>
              <a:tblGrid>
                <a:gridCol w="2380615">
                  <a:extLst>
                    <a:ext uri="{9D8B030D-6E8A-4147-A177-3AD203B41FA5}">
                      <a16:colId xmlns:a16="http://schemas.microsoft.com/office/drawing/2014/main" val="3225387243"/>
                    </a:ext>
                  </a:extLst>
                </a:gridCol>
                <a:gridCol w="1104728">
                  <a:extLst>
                    <a:ext uri="{9D8B030D-6E8A-4147-A177-3AD203B41FA5}">
                      <a16:colId xmlns:a16="http://schemas.microsoft.com/office/drawing/2014/main" val="1289031369"/>
                    </a:ext>
                  </a:extLst>
                </a:gridCol>
                <a:gridCol w="728176">
                  <a:extLst>
                    <a:ext uri="{9D8B030D-6E8A-4147-A177-3AD203B41FA5}">
                      <a16:colId xmlns:a16="http://schemas.microsoft.com/office/drawing/2014/main" val="2662241828"/>
                    </a:ext>
                  </a:extLst>
                </a:gridCol>
                <a:gridCol w="449889">
                  <a:extLst>
                    <a:ext uri="{9D8B030D-6E8A-4147-A177-3AD203B41FA5}">
                      <a16:colId xmlns:a16="http://schemas.microsoft.com/office/drawing/2014/main" val="3398770197"/>
                    </a:ext>
                  </a:extLst>
                </a:gridCol>
                <a:gridCol w="637342">
                  <a:extLst>
                    <a:ext uri="{9D8B030D-6E8A-4147-A177-3AD203B41FA5}">
                      <a16:colId xmlns:a16="http://schemas.microsoft.com/office/drawing/2014/main" val="3411342490"/>
                    </a:ext>
                  </a:extLst>
                </a:gridCol>
                <a:gridCol w="774808">
                  <a:extLst>
                    <a:ext uri="{9D8B030D-6E8A-4147-A177-3AD203B41FA5}">
                      <a16:colId xmlns:a16="http://schemas.microsoft.com/office/drawing/2014/main" val="3356158280"/>
                    </a:ext>
                  </a:extLst>
                </a:gridCol>
                <a:gridCol w="799802">
                  <a:extLst>
                    <a:ext uri="{9D8B030D-6E8A-4147-A177-3AD203B41FA5}">
                      <a16:colId xmlns:a16="http://schemas.microsoft.com/office/drawing/2014/main" val="1386931236"/>
                    </a:ext>
                  </a:extLst>
                </a:gridCol>
                <a:gridCol w="787305">
                  <a:extLst>
                    <a:ext uri="{9D8B030D-6E8A-4147-A177-3AD203B41FA5}">
                      <a16:colId xmlns:a16="http://schemas.microsoft.com/office/drawing/2014/main" val="3141232831"/>
                    </a:ext>
                  </a:extLst>
                </a:gridCol>
                <a:gridCol w="749815">
                  <a:extLst>
                    <a:ext uri="{9D8B030D-6E8A-4147-A177-3AD203B41FA5}">
                      <a16:colId xmlns:a16="http://schemas.microsoft.com/office/drawing/2014/main" val="1501712056"/>
                    </a:ext>
                  </a:extLst>
                </a:gridCol>
              </a:tblGrid>
              <a:tr h="261553">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S&amp;P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MOODY'S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FINAL MATURITY</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extLst>
                  <a:ext uri="{0D108BD9-81ED-4DB2-BD59-A6C34878D82A}">
                    <a16:rowId xmlns:a16="http://schemas.microsoft.com/office/drawing/2014/main" val="2513351061"/>
                  </a:ext>
                </a:extLst>
              </a:tr>
              <a:tr h="133966">
                <a:tc>
                  <a:txBody>
                    <a:bodyPr/>
                    <a:lstStyle/>
                    <a:p>
                      <a:pPr algn="l" rtl="0" fontAlgn="ctr"/>
                      <a:r>
                        <a:rPr lang="en-US" sz="1000" b="0" i="0" u="none" strike="noStrike">
                          <a:solidFill>
                            <a:srgbClr val="000000"/>
                          </a:solidFill>
                          <a:effectLst/>
                          <a:latin typeface="Poppins" panose="00000500000000000000" pitchFamily="2" charset="0"/>
                        </a:rPr>
                        <a:t>MCCT 211 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1.93</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3.07%</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11/21/2025</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$95,184 </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98817"/>
                  </a:ext>
                </a:extLst>
              </a:tr>
              <a:tr h="133966">
                <a:tc>
                  <a:txBody>
                    <a:bodyPr/>
                    <a:lstStyle/>
                    <a:p>
                      <a:pPr algn="l" rtl="0" fontAlgn="ctr"/>
                      <a:r>
                        <a:rPr lang="en-US" sz="1000" b="0" i="0" u="none" strike="noStrike">
                          <a:solidFill>
                            <a:srgbClr val="000000"/>
                          </a:solidFill>
                          <a:effectLst/>
                          <a:latin typeface="Poppins" panose="00000500000000000000" pitchFamily="2" charset="0"/>
                        </a:rPr>
                        <a:t>GCCT 211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$91,155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99481353"/>
                  </a:ext>
                </a:extLst>
              </a:tr>
              <a:tr h="133966">
                <a:tc>
                  <a:txBody>
                    <a:bodyPr/>
                    <a:lstStyle/>
                    <a:p>
                      <a:pPr algn="l" rtl="0" fontAlgn="ctr"/>
                      <a:r>
                        <a:rPr lang="en-US" sz="1000" b="0" i="0" u="none" strike="noStrike">
                          <a:solidFill>
                            <a:srgbClr val="000000"/>
                          </a:solidFill>
                          <a:effectLst/>
                          <a:latin typeface="Poppins" panose="00000500000000000000" pitchFamily="2" charset="0"/>
                        </a:rPr>
                        <a:t>AMETOW 2018-1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4.21%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$24,329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818887326"/>
                  </a:ext>
                </a:extLst>
              </a:tr>
              <a:tr h="133966">
                <a:tc>
                  <a:txBody>
                    <a:bodyPr/>
                    <a:lstStyle/>
                    <a:p>
                      <a:pPr algn="l" rtl="0" fontAlgn="ctr"/>
                      <a:r>
                        <a:rPr lang="en-US" sz="1000" b="0" i="0" u="none" strike="noStrike">
                          <a:solidFill>
                            <a:srgbClr val="000000"/>
                          </a:solidFill>
                          <a:effectLst/>
                          <a:latin typeface="Poppins" panose="00000500000000000000" pitchFamily="2" charset="0"/>
                        </a:rPr>
                        <a:t>TESLA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12/20/2023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$13,575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09573489"/>
                  </a:ext>
                </a:extLst>
              </a:tr>
              <a:tr h="133966">
                <a:tc>
                  <a:txBody>
                    <a:bodyPr/>
                    <a:lstStyle/>
                    <a:p>
                      <a:pPr algn="l" rtl="0" fontAlgn="ctr"/>
                      <a:r>
                        <a:rPr lang="en-US" sz="1000" b="0" i="0" u="none" strike="noStrike">
                          <a:solidFill>
                            <a:srgbClr val="000000"/>
                          </a:solidFill>
                          <a:effectLst/>
                          <a:latin typeface="Poppins" panose="00000500000000000000" pitchFamily="2" charset="0"/>
                        </a:rPr>
                        <a:t>CNH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6/16/2025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$30,611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29693139"/>
                  </a:ext>
                </a:extLst>
              </a:tr>
              <a:tr h="133966">
                <a:tc>
                  <a:txBody>
                    <a:bodyPr/>
                    <a:lstStyle/>
                    <a:p>
                      <a:pPr algn="l" rtl="0" fontAlgn="ctr"/>
                      <a:r>
                        <a:rPr lang="en-US" sz="1000" b="0" i="0" u="none" strike="noStrike">
                          <a:solidFill>
                            <a:srgbClr val="000000"/>
                          </a:solidFill>
                          <a:effectLst/>
                          <a:latin typeface="Poppins" panose="00000500000000000000" pitchFamily="2" charset="0"/>
                        </a:rPr>
                        <a:t>WEPCO ENVIRONMENTAL TRUST</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$87,524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69284966"/>
                  </a:ext>
                </a:extLst>
              </a:tr>
              <a:tr h="133966">
                <a:tc>
                  <a:txBody>
                    <a:bodyPr/>
                    <a:lstStyle/>
                    <a:p>
                      <a:pPr algn="l" rtl="0" fontAlgn="ctr"/>
                      <a:r>
                        <a:rPr lang="en-US" sz="1000" b="0" i="0" u="none" strike="noStrike">
                          <a:solidFill>
                            <a:srgbClr val="000000"/>
                          </a:solidFill>
                          <a:effectLst/>
                          <a:latin typeface="Poppins" panose="00000500000000000000" pitchFamily="2" charset="0"/>
                        </a:rPr>
                        <a:t>COMET A(2015-4)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NR</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$50,129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8729621"/>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2021-2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$32,394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21238934"/>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$32,448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055303132"/>
                  </a:ext>
                </a:extLst>
              </a:tr>
              <a:tr h="133966">
                <a:tc>
                  <a:txBody>
                    <a:bodyPr/>
                    <a:lstStyle/>
                    <a:p>
                      <a:pPr algn="l" rtl="0" fontAlgn="ctr"/>
                      <a:r>
                        <a:rPr lang="en-US" sz="1000" b="0" i="0" u="none" strike="noStrike">
                          <a:solidFill>
                            <a:srgbClr val="000000"/>
                          </a:solidFill>
                          <a:effectLst/>
                          <a:latin typeface="Poppins" panose="00000500000000000000" pitchFamily="2" charset="0"/>
                        </a:rPr>
                        <a:t>PART 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$21,417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633210852"/>
                  </a:ext>
                </a:extLst>
              </a:tr>
              <a:tr h="133966">
                <a:tc>
                  <a:txBody>
                    <a:bodyPr/>
                    <a:lstStyle/>
                    <a:p>
                      <a:pPr algn="l" rtl="0" fontAlgn="ctr"/>
                      <a:r>
                        <a:rPr lang="en-US" sz="1000" b="0" i="0" u="none" strike="noStrike">
                          <a:solidFill>
                            <a:srgbClr val="000000"/>
                          </a:solidFill>
                          <a:effectLst/>
                          <a:latin typeface="Poppins" panose="00000500000000000000" pitchFamily="2" charset="0"/>
                        </a:rPr>
                        <a:t>PCG 2021-A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$130,438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90086829"/>
                  </a:ext>
                </a:extLst>
              </a:tr>
              <a:tr h="133966">
                <a:tc>
                  <a:txBody>
                    <a:bodyPr/>
                    <a:lstStyle/>
                    <a:p>
                      <a:pPr algn="l" rtl="0" fontAlgn="ctr"/>
                      <a:r>
                        <a:rPr lang="en-US" sz="1000" b="0" i="0" u="none" strike="noStrike">
                          <a:solidFill>
                            <a:srgbClr val="000000"/>
                          </a:solidFill>
                          <a:effectLst/>
                          <a:latin typeface="Poppins" panose="00000500000000000000" pitchFamily="2" charset="0"/>
                        </a:rPr>
                        <a:t>DTAOT 2020-3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$10,234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165812522"/>
                  </a:ext>
                </a:extLst>
              </a:tr>
              <a:tr h="133966">
                <a:tc>
                  <a:txBody>
                    <a:bodyPr/>
                    <a:lstStyle/>
                    <a:p>
                      <a:pPr algn="l" rtl="0" fontAlgn="ctr"/>
                      <a:r>
                        <a:rPr lang="en-US" sz="1000" b="0" i="0" u="none" strike="noStrike">
                          <a:solidFill>
                            <a:srgbClr val="000000"/>
                          </a:solidFill>
                          <a:effectLst/>
                          <a:latin typeface="Poppins" panose="00000500000000000000" pitchFamily="2" charset="0"/>
                        </a:rPr>
                        <a:t>JDOT 2019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7/17/2023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05904287"/>
                  </a:ext>
                </a:extLst>
              </a:tr>
              <a:tr h="133966">
                <a:tc>
                  <a:txBody>
                    <a:bodyPr/>
                    <a:lstStyle/>
                    <a:p>
                      <a:pPr algn="l" rtl="0" fontAlgn="ctr"/>
                      <a:r>
                        <a:rPr lang="en-US" sz="1000" b="0" i="0" u="none" strike="noStrike">
                          <a:solidFill>
                            <a:srgbClr val="000000"/>
                          </a:solidFill>
                          <a:effectLst/>
                          <a:latin typeface="Poppins" panose="00000500000000000000" pitchFamily="2" charset="0"/>
                        </a:rPr>
                        <a:t>EIX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$38,316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81546317"/>
                  </a:ext>
                </a:extLst>
              </a:tr>
              <a:tr h="133966">
                <a:tc>
                  <a:txBody>
                    <a:bodyPr/>
                    <a:lstStyle/>
                    <a:p>
                      <a:pPr algn="l" rtl="0" fontAlgn="ctr"/>
                      <a:r>
                        <a:rPr lang="en-US" sz="1000" b="0" i="0" u="none" strike="noStrike">
                          <a:solidFill>
                            <a:srgbClr val="000000"/>
                          </a:solidFill>
                          <a:effectLst/>
                          <a:latin typeface="Poppins" panose="00000500000000000000" pitchFamily="2" charset="0"/>
                        </a:rPr>
                        <a:t>CARMX 2022-1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P-1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$17,581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04292824"/>
                  </a:ext>
                </a:extLst>
              </a:tr>
              <a:tr h="133966">
                <a:tc>
                  <a:txBody>
                    <a:bodyPr/>
                    <a:lstStyle/>
                    <a:p>
                      <a:pPr algn="l" rtl="0" fontAlgn="ctr"/>
                      <a:r>
                        <a:rPr lang="en-US" sz="1000" b="0" i="0" u="none" strike="noStrike">
                          <a:solidFill>
                            <a:srgbClr val="000000"/>
                          </a:solidFill>
                          <a:effectLst/>
                          <a:latin typeface="Poppins" panose="00000500000000000000" pitchFamily="2" charset="0"/>
                        </a:rPr>
                        <a:t>DTE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$61,508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740355524"/>
                  </a:ext>
                </a:extLst>
              </a:tr>
              <a:tr h="133966">
                <a:tc>
                  <a:txBody>
                    <a:bodyPr/>
                    <a:lstStyle/>
                    <a:p>
                      <a:pPr algn="l" rtl="0" fontAlgn="ctr"/>
                      <a:r>
                        <a:rPr lang="en-US" sz="1000" b="0" i="0" u="none" strike="noStrike">
                          <a:solidFill>
                            <a:srgbClr val="000000"/>
                          </a:solidFill>
                          <a:effectLst/>
                          <a:latin typeface="Poppins" panose="00000500000000000000" pitchFamily="2" charset="0"/>
                        </a:rPr>
                        <a:t>EART 2020-3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9/16/2024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$31,353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15205954"/>
                  </a:ext>
                </a:extLst>
              </a:tr>
              <a:tr h="133966">
                <a:tc>
                  <a:txBody>
                    <a:bodyPr/>
                    <a:lstStyle/>
                    <a:p>
                      <a:pPr algn="l" rtl="0" fontAlgn="ctr"/>
                      <a:r>
                        <a:rPr lang="en-US" sz="1000" b="0" i="0" u="none" strike="noStrike">
                          <a:solidFill>
                            <a:srgbClr val="000000"/>
                          </a:solidFill>
                          <a:effectLst/>
                          <a:latin typeface="Poppins" panose="00000500000000000000" pitchFamily="2" charset="0"/>
                        </a:rPr>
                        <a:t>PSNH 2018-1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2.78%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$88,213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366523"/>
                  </a:ext>
                </a:extLst>
              </a:tr>
              <a:tr h="133966">
                <a:tc>
                  <a:txBody>
                    <a:bodyPr/>
                    <a:lstStyle/>
                    <a:p>
                      <a:pPr algn="l"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$103,637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903602055"/>
                  </a:ext>
                </a:extLst>
              </a:tr>
              <a:tr h="133966">
                <a:tc>
                  <a:txBody>
                    <a:bodyPr/>
                    <a:lstStyle/>
                    <a:p>
                      <a:pPr algn="l" rtl="0" fontAlgn="ctr"/>
                      <a:r>
                        <a:rPr lang="en-US" sz="1000" b="0" i="0" u="none" strike="noStrike">
                          <a:solidFill>
                            <a:srgbClr val="000000"/>
                          </a:solidFill>
                          <a:effectLst/>
                          <a:latin typeface="Poppins" panose="00000500000000000000" pitchFamily="2" charset="0"/>
                        </a:rPr>
                        <a:t>PAYABLE</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323594648"/>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2013-CCRE9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3.69%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7/10/2045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$66,103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87237402"/>
                  </a:ext>
                </a:extLst>
              </a:tr>
              <a:tr h="133966">
                <a:tc>
                  <a:txBody>
                    <a:bodyPr/>
                    <a:lstStyle/>
                    <a:p>
                      <a:pPr algn="l" rtl="0" fontAlgn="ctr"/>
                      <a:r>
                        <a:rPr lang="en-US" sz="1000" b="0" i="0" u="none" strike="noStrike">
                          <a:solidFill>
                            <a:srgbClr val="000000"/>
                          </a:solidFill>
                          <a:effectLst/>
                          <a:latin typeface="Poppins" panose="00000500000000000000" pitchFamily="2" charset="0"/>
                        </a:rPr>
                        <a:t>WFCM 2016-LC25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12/17/2059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$39,580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55962324"/>
                  </a:ext>
                </a:extLst>
              </a:tr>
              <a:tr h="133966">
                <a:tc>
                  <a:txBody>
                    <a:bodyPr/>
                    <a:lstStyle/>
                    <a:p>
                      <a:pPr algn="l" rtl="0" fontAlgn="ctr"/>
                      <a:r>
                        <a:rPr lang="en-US" sz="1000" b="0" i="0" u="none" strike="noStrike">
                          <a:solidFill>
                            <a:srgbClr val="000000"/>
                          </a:solidFill>
                          <a:effectLst/>
                          <a:latin typeface="Poppins" panose="00000500000000000000" pitchFamily="2" charset="0"/>
                        </a:rPr>
                        <a:t>WFRBS 2014-C22 A5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9/15/2057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$55,019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39570288"/>
                  </a:ext>
                </a:extLst>
              </a:tr>
              <a:tr h="133966">
                <a:tc>
                  <a:txBody>
                    <a:bodyPr/>
                    <a:lstStyle/>
                    <a:p>
                      <a:pPr algn="l" rtl="0" fontAlgn="ctr"/>
                      <a:r>
                        <a:rPr lang="en-US" sz="1000" b="0" i="0" u="none" strike="noStrike">
                          <a:solidFill>
                            <a:srgbClr val="000000"/>
                          </a:solidFill>
                          <a:effectLst/>
                          <a:latin typeface="Poppins" panose="00000500000000000000" pitchFamily="2" charset="0"/>
                        </a:rPr>
                        <a:t>GSMS 2017-GS8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4.75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11/14/2050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$53,719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02056364"/>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2015-LC23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10/13/2048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$14,234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20636460"/>
                  </a:ext>
                </a:extLst>
              </a:tr>
              <a:tr h="133966">
                <a:tc>
                  <a:txBody>
                    <a:bodyPr/>
                    <a:lstStyle/>
                    <a:p>
                      <a:pPr algn="l" rtl="0" fontAlgn="ctr"/>
                      <a:r>
                        <a:rPr lang="en-US" sz="1000" b="0" i="0" u="none" strike="noStrike">
                          <a:solidFill>
                            <a:srgbClr val="000000"/>
                          </a:solidFill>
                          <a:effectLst/>
                          <a:latin typeface="Poppins" panose="00000500000000000000" pitchFamily="2" charset="0"/>
                        </a:rPr>
                        <a:t>MKT 2020-525M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$26,747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250412470"/>
                  </a:ext>
                </a:extLst>
              </a:tr>
              <a:tr h="133966">
                <a:tc>
                  <a:txBody>
                    <a:bodyPr/>
                    <a:lstStyle/>
                    <a:p>
                      <a:pPr algn="l" rtl="0" fontAlgn="ctr"/>
                      <a:r>
                        <a:rPr lang="en-US" sz="1000" b="0" i="0" u="none" strike="noStrike">
                          <a:solidFill>
                            <a:srgbClr val="000000"/>
                          </a:solidFill>
                          <a:effectLst/>
                          <a:latin typeface="Poppins" panose="00000500000000000000" pitchFamily="2" charset="0"/>
                        </a:rPr>
                        <a:t>BX 22LP2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33958633"/>
                  </a:ext>
                </a:extLst>
              </a:tr>
              <a:tr h="133966">
                <a:tc>
                  <a:txBody>
                    <a:bodyPr/>
                    <a:lstStyle/>
                    <a:p>
                      <a:pPr algn="l" rtl="0" fontAlgn="ctr"/>
                      <a:r>
                        <a:rPr lang="en-US" sz="1000" b="0" i="0" u="none" strike="noStrike">
                          <a:solidFill>
                            <a:srgbClr val="000000"/>
                          </a:solidFill>
                          <a:effectLst/>
                          <a:latin typeface="Poppins" panose="00000500000000000000" pitchFamily="2" charset="0"/>
                        </a:rPr>
                        <a:t>MTN 22LPFL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3/15/2039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$98,128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5543176"/>
                  </a:ext>
                </a:extLst>
              </a:tr>
              <a:tr h="133966">
                <a:tc>
                  <a:txBody>
                    <a:bodyPr/>
                    <a:lstStyle/>
                    <a:p>
                      <a:pPr algn="l" rtl="0" fontAlgn="ctr"/>
                      <a:r>
                        <a:rPr lang="en-US" sz="1000" b="0" i="0" u="none" strike="noStrike">
                          <a:solidFill>
                            <a:srgbClr val="000000"/>
                          </a:solidFill>
                          <a:effectLst/>
                          <a:latin typeface="Poppins" panose="00000500000000000000" pitchFamily="2" charset="0"/>
                        </a:rPr>
                        <a:t>VNDO 2012-6AVE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$100,334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14314611"/>
                  </a:ext>
                </a:extLst>
              </a:tr>
              <a:tr h="133966">
                <a:tc>
                  <a:txBody>
                    <a:bodyPr/>
                    <a:lstStyle/>
                    <a:p>
                      <a:pPr algn="l" rtl="0" fontAlgn="ctr"/>
                      <a:r>
                        <a:rPr lang="en-US" sz="1000" b="0" i="0" u="none" strike="noStrike">
                          <a:solidFill>
                            <a:srgbClr val="000000"/>
                          </a:solidFill>
                          <a:effectLst/>
                          <a:latin typeface="Poppins" panose="00000500000000000000" pitchFamily="2" charset="0"/>
                        </a:rPr>
                        <a:t>BAMLL 2012-PARK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12/10/2030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$100,246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15199531"/>
                  </a:ext>
                </a:extLst>
              </a:tr>
            </a:tbl>
          </a:graphicData>
        </a:graphic>
      </p:graphicFrame>
      <p:sp>
        <p:nvSpPr>
          <p:cNvPr id="9" name="Line 309">
            <a:extLst>
              <a:ext uri="{FF2B5EF4-FFF2-40B4-BE49-F238E27FC236}">
                <a16:creationId xmlns:a16="http://schemas.microsoft.com/office/drawing/2014/main" id="{B30F1905-0025-B3C4-A983-80DBFF15FC33}"/>
              </a:ext>
            </a:extLst>
          </p:cNvPr>
          <p:cNvSpPr>
            <a:spLocks noChangeShapeType="1"/>
          </p:cNvSpPr>
          <p:nvPr/>
        </p:nvSpPr>
        <p:spPr bwMode="auto">
          <a:xfrm>
            <a:off x="371461" y="6584306"/>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6" name="Slide Number Placeholder 1">
            <a:extLst>
              <a:ext uri="{FF2B5EF4-FFF2-40B4-BE49-F238E27FC236}">
                <a16:creationId xmlns:a16="http://schemas.microsoft.com/office/drawing/2014/main" id="{0FEC4E49-8846-97F5-4CD9-C04AB6DF0583}"/>
              </a:ext>
            </a:extLst>
          </p:cNvPr>
          <p:cNvSpPr txBox="1">
            <a:spLocks/>
          </p:cNvSpPr>
          <p:nvPr/>
        </p:nvSpPr>
        <p:spPr>
          <a:xfrm>
            <a:off x="8699099" y="6582055"/>
            <a:ext cx="514350" cy="275945"/>
          </a:xfrm>
          <a:prstGeom prst="rect">
            <a:avLst/>
          </a:prstGeom>
        </p:spPr>
        <p:txBody>
          <a:bodyPr/>
          <a:lstStyle>
            <a:defPPr>
              <a:defRPr lang="en-US"/>
            </a:defPPr>
            <a:lvl1pPr marL="0" algn="l" defTabSz="457200" rtl="0" eaLnBrk="1" latinLnBrk="0" hangingPunct="1">
              <a:defRPr sz="800" kern="1200">
                <a:solidFill>
                  <a:schemeClr val="tx1"/>
                </a:solidFill>
                <a:latin typeface="Poppins" panose="00000500000000000000" pitchFamily="2" charset="0"/>
                <a:ea typeface="+mn-ea"/>
                <a:cs typeface="Poppins" panose="00000500000000000000"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806867" fontAlgn="base">
              <a:spcBef>
                <a:spcPct val="0"/>
              </a:spcBef>
              <a:spcAft>
                <a:spcPct val="0"/>
              </a:spcAft>
              <a:defRPr/>
            </a:pPr>
            <a:fld id="{1F3AF4E7-7E42-4609-9D36-1FCB1339153A}" type="slidenum">
              <a:rPr lang="en-US" sz="882" smtClean="0">
                <a:solidFill>
                  <a:srgbClr val="000000"/>
                </a:solidFill>
              </a:rPr>
              <a:pPr defTabSz="806867" fontAlgn="base">
                <a:spcBef>
                  <a:spcPct val="0"/>
                </a:spcBef>
                <a:spcAft>
                  <a:spcPct val="0"/>
                </a:spcAft>
                <a:defRPr/>
              </a:pPr>
              <a:t>29</a:t>
            </a:fld>
            <a:endParaRPr lang="en-US" sz="882">
              <a:solidFill>
                <a:srgbClr val="000000"/>
              </a:solidFill>
            </a:endParaRPr>
          </a:p>
        </p:txBody>
      </p:sp>
      <p:graphicFrame>
        <p:nvGraphicFramePr>
          <p:cNvPr id="10" name="Table 9">
            <a:extLst>
              <a:ext uri="{FF2B5EF4-FFF2-40B4-BE49-F238E27FC236}">
                <a16:creationId xmlns:a16="http://schemas.microsoft.com/office/drawing/2014/main" id="{FDB1F494-CEB7-F3AB-4565-22E4034FB570}"/>
              </a:ext>
            </a:extLst>
          </p:cNvPr>
          <p:cNvGraphicFramePr>
            <a:graphicFrameLocks noGrp="1"/>
          </p:cNvGraphicFramePr>
          <p:nvPr>
            <p:extLst>
              <p:ext uri="{D42A27DB-BD31-4B8C-83A1-F6EECF244321}">
                <p14:modId xmlns:p14="http://schemas.microsoft.com/office/powerpoint/2010/main" val="27725178"/>
              </p:ext>
            </p:extLst>
          </p:nvPr>
        </p:nvGraphicFramePr>
        <p:xfrm>
          <a:off x="366583" y="1238443"/>
          <a:ext cx="8412481" cy="5113931"/>
        </p:xfrm>
        <a:graphic>
          <a:graphicData uri="http://schemas.openxmlformats.org/drawingml/2006/table">
            <a:tbl>
              <a:tblPr/>
              <a:tblGrid>
                <a:gridCol w="2600665">
                  <a:extLst>
                    <a:ext uri="{9D8B030D-6E8A-4147-A177-3AD203B41FA5}">
                      <a16:colId xmlns:a16="http://schemas.microsoft.com/office/drawing/2014/main" val="1002834257"/>
                    </a:ext>
                  </a:extLst>
                </a:gridCol>
                <a:gridCol w="1131601">
                  <a:extLst>
                    <a:ext uri="{9D8B030D-6E8A-4147-A177-3AD203B41FA5}">
                      <a16:colId xmlns:a16="http://schemas.microsoft.com/office/drawing/2014/main" val="3529631700"/>
                    </a:ext>
                  </a:extLst>
                </a:gridCol>
                <a:gridCol w="911663">
                  <a:extLst>
                    <a:ext uri="{9D8B030D-6E8A-4147-A177-3AD203B41FA5}">
                      <a16:colId xmlns:a16="http://schemas.microsoft.com/office/drawing/2014/main" val="2630362925"/>
                    </a:ext>
                  </a:extLst>
                </a:gridCol>
                <a:gridCol w="505585">
                  <a:extLst>
                    <a:ext uri="{9D8B030D-6E8A-4147-A177-3AD203B41FA5}">
                      <a16:colId xmlns:a16="http://schemas.microsoft.com/office/drawing/2014/main" val="1988513568"/>
                    </a:ext>
                  </a:extLst>
                </a:gridCol>
                <a:gridCol w="604253">
                  <a:extLst>
                    <a:ext uri="{9D8B030D-6E8A-4147-A177-3AD203B41FA5}">
                      <a16:colId xmlns:a16="http://schemas.microsoft.com/office/drawing/2014/main" val="2164300373"/>
                    </a:ext>
                  </a:extLst>
                </a:gridCol>
                <a:gridCol w="944832">
                  <a:extLst>
                    <a:ext uri="{9D8B030D-6E8A-4147-A177-3AD203B41FA5}">
                      <a16:colId xmlns:a16="http://schemas.microsoft.com/office/drawing/2014/main" val="2411149920"/>
                    </a:ext>
                  </a:extLst>
                </a:gridCol>
                <a:gridCol w="856941">
                  <a:extLst>
                    <a:ext uri="{9D8B030D-6E8A-4147-A177-3AD203B41FA5}">
                      <a16:colId xmlns:a16="http://schemas.microsoft.com/office/drawing/2014/main" val="2814648439"/>
                    </a:ext>
                  </a:extLst>
                </a:gridCol>
                <a:gridCol w="856941">
                  <a:extLst>
                    <a:ext uri="{9D8B030D-6E8A-4147-A177-3AD203B41FA5}">
                      <a16:colId xmlns:a16="http://schemas.microsoft.com/office/drawing/2014/main" val="3941153654"/>
                    </a:ext>
                  </a:extLst>
                </a:gridCol>
              </a:tblGrid>
              <a:tr h="373931">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RATING</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MATURITY</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extLst>
                  <a:ext uri="{0D108BD9-81ED-4DB2-BD59-A6C34878D82A}">
                    <a16:rowId xmlns:a16="http://schemas.microsoft.com/office/drawing/2014/main" val="716417198"/>
                  </a:ext>
                </a:extLst>
              </a:tr>
              <a:tr h="189600">
                <a:tc>
                  <a:txBody>
                    <a:bodyPr/>
                    <a:lstStyle/>
                    <a:p>
                      <a:pPr algn="l" rtl="0" fontAlgn="ctr"/>
                      <a:r>
                        <a:rPr lang="en-US" sz="1050" b="0" i="0" u="none" strike="noStrike">
                          <a:solidFill>
                            <a:srgbClr val="000000"/>
                          </a:solidFill>
                          <a:effectLst/>
                          <a:latin typeface="Poppins" panose="00000500000000000000" pitchFamily="2" charset="0"/>
                        </a:rPr>
                        <a:t>TORONTO-DOMINION BANK</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0.68</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4.69%</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9/11/2025</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$146,354</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144321"/>
                  </a:ext>
                </a:extLst>
              </a:tr>
              <a:tr h="189600">
                <a:tc>
                  <a:txBody>
                    <a:bodyPr/>
                    <a:lstStyle/>
                    <a:p>
                      <a:pPr algn="l" rtl="0" fontAlgn="ctr"/>
                      <a:r>
                        <a:rPr lang="en-US" sz="1050" b="0" i="0" u="none" strike="noStrike">
                          <a:solidFill>
                            <a:srgbClr val="000000"/>
                          </a:solidFill>
                          <a:effectLst/>
                          <a:latin typeface="Poppins" panose="00000500000000000000" pitchFamily="2" charset="0"/>
                        </a:rPr>
                        <a:t>LSEGA FINANCING PLC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$288,566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4401341"/>
                  </a:ext>
                </a:extLst>
              </a:tr>
              <a:tr h="189600">
                <a:tc>
                  <a:txBody>
                    <a:bodyPr/>
                    <a:lstStyle/>
                    <a:p>
                      <a:pPr algn="l" rtl="0" fontAlgn="ctr"/>
                      <a:r>
                        <a:rPr lang="en-US" sz="1050" b="0" i="0" u="none" strike="noStrike">
                          <a:solidFill>
                            <a:srgbClr val="000000"/>
                          </a:solidFill>
                          <a:effectLst/>
                          <a:latin typeface="Poppins" panose="00000500000000000000" pitchFamily="2" charset="0"/>
                        </a:rPr>
                        <a:t>CITIGROUP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1/28/2027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$386,043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256628083"/>
                  </a:ext>
                </a:extLst>
              </a:tr>
              <a:tr h="189600">
                <a:tc>
                  <a:txBody>
                    <a:bodyPr/>
                    <a:lstStyle/>
                    <a:p>
                      <a:pPr algn="l" rtl="0" fontAlgn="ctr"/>
                      <a:r>
                        <a:rPr lang="en-US" sz="1050" b="0" i="0" u="none" strike="noStrike">
                          <a:solidFill>
                            <a:srgbClr val="000000"/>
                          </a:solidFill>
                          <a:effectLst/>
                          <a:latin typeface="Poppins" panose="00000500000000000000" pitchFamily="2" charset="0"/>
                        </a:rPr>
                        <a:t>BANK OF AMERICA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10/24/2026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$535,548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94508816"/>
                  </a:ext>
                </a:extLst>
              </a:tr>
              <a:tr h="189600">
                <a:tc>
                  <a:txBody>
                    <a:bodyPr/>
                    <a:lstStyle/>
                    <a:p>
                      <a:pPr algn="l" rtl="0" fontAlgn="ctr"/>
                      <a:r>
                        <a:rPr lang="en-US" sz="1050" b="0" i="0" u="none" strike="noStrike">
                          <a:solidFill>
                            <a:srgbClr val="000000"/>
                          </a:solidFill>
                          <a:effectLst/>
                          <a:latin typeface="Poppins" panose="00000500000000000000" pitchFamily="2" charset="0"/>
                        </a:rPr>
                        <a:t>PRINCIPAL LIFE GLOBAL FUNDING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1/12/2026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$289,599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89669971"/>
                  </a:ext>
                </a:extLst>
              </a:tr>
              <a:tr h="189600">
                <a:tc>
                  <a:txBody>
                    <a:bodyPr/>
                    <a:lstStyle/>
                    <a:p>
                      <a:pPr algn="l" rtl="0" fontAlgn="ctr"/>
                      <a:r>
                        <a:rPr lang="en-US" sz="1050" b="0" i="0" u="none" strike="noStrike">
                          <a:solidFill>
                            <a:srgbClr val="000000"/>
                          </a:solidFill>
                          <a:effectLst/>
                          <a:latin typeface="Poppins" panose="00000500000000000000" pitchFamily="2" charset="0"/>
                        </a:rPr>
                        <a:t>UNITEDHEALTH GROUP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1/15/2026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$486,576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034394001"/>
                  </a:ext>
                </a:extLst>
              </a:tr>
              <a:tr h="189600">
                <a:tc>
                  <a:txBody>
                    <a:bodyPr/>
                    <a:lstStyle/>
                    <a:p>
                      <a:pPr algn="l" rtl="0" fontAlgn="ctr"/>
                      <a:r>
                        <a:rPr lang="en-US" sz="1050" b="0" i="0" u="none" strike="noStrike">
                          <a:solidFill>
                            <a:srgbClr val="000000"/>
                          </a:solidFill>
                          <a:effectLst/>
                          <a:latin typeface="Poppins" panose="00000500000000000000" pitchFamily="2" charset="0"/>
                        </a:rPr>
                        <a:t>BERKSHIRE HATHAWAY FINANCE COR</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5.41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$462,088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49627683"/>
                  </a:ext>
                </a:extLst>
              </a:tr>
              <a:tr h="189600">
                <a:tc>
                  <a:txBody>
                    <a:bodyPr/>
                    <a:lstStyle/>
                    <a:p>
                      <a:pPr algn="l" rtl="0" fontAlgn="ctr"/>
                      <a:r>
                        <a:rPr lang="en-US" sz="1050" b="0" i="0" u="none" strike="noStrike">
                          <a:solidFill>
                            <a:srgbClr val="000000"/>
                          </a:solidFill>
                          <a:effectLst/>
                          <a:latin typeface="Poppins" panose="00000500000000000000" pitchFamily="2" charset="0"/>
                        </a:rPr>
                        <a:t>US BANCORP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7/22/2030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$498,874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91989528"/>
                  </a:ext>
                </a:extLst>
              </a:tr>
              <a:tr h="189600">
                <a:tc>
                  <a:txBody>
                    <a:bodyPr/>
                    <a:lstStyle/>
                    <a:p>
                      <a:pPr algn="l" rtl="0" fontAlgn="ctr"/>
                      <a:r>
                        <a:rPr lang="en-US" sz="1050" b="0" i="0" u="none" strike="noStrike">
                          <a:solidFill>
                            <a:srgbClr val="000000"/>
                          </a:solidFill>
                          <a:effectLst/>
                          <a:latin typeface="Poppins" panose="00000500000000000000" pitchFamily="2" charset="0"/>
                        </a:rPr>
                        <a:t>CHARLES SCHWAB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3/11/2026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$383,765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900703067"/>
                  </a:ext>
                </a:extLst>
              </a:tr>
              <a:tr h="189600">
                <a:tc>
                  <a:txBody>
                    <a:bodyPr/>
                    <a:lstStyle/>
                    <a:p>
                      <a:pPr algn="l" rtl="0" fontAlgn="ctr"/>
                      <a:r>
                        <a:rPr lang="en-US" sz="1050" b="0" i="0" u="none" strike="noStrike">
                          <a:solidFill>
                            <a:srgbClr val="000000"/>
                          </a:solidFill>
                          <a:effectLst/>
                          <a:latin typeface="Poppins" panose="00000500000000000000" pitchFamily="2" charset="0"/>
                        </a:rPr>
                        <a:t>CHUBB INA HOLDINGS LLC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$417,310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231493323"/>
                  </a:ext>
                </a:extLst>
              </a:tr>
              <a:tr h="189600">
                <a:tc>
                  <a:txBody>
                    <a:bodyPr/>
                    <a:lstStyle/>
                    <a:p>
                      <a:pPr algn="l" rtl="0" fontAlgn="ctr"/>
                      <a:r>
                        <a:rPr lang="en-US" sz="1050" b="0" i="0" u="none" strike="noStrike">
                          <a:solidFill>
                            <a:srgbClr val="000000"/>
                          </a:solidFill>
                          <a:effectLst/>
                          <a:latin typeface="Poppins" panose="00000500000000000000" pitchFamily="2" charset="0"/>
                        </a:rPr>
                        <a:t>TRUIST FINANCIAL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$342,020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52557174"/>
                  </a:ext>
                </a:extLst>
              </a:tr>
              <a:tr h="189600">
                <a:tc>
                  <a:txBody>
                    <a:bodyPr/>
                    <a:lstStyle/>
                    <a:p>
                      <a:pPr algn="l" rtl="0" fontAlgn="ctr"/>
                      <a:r>
                        <a:rPr lang="en-US" sz="1050" b="0" i="0" u="none" strike="noStrike">
                          <a:solidFill>
                            <a:srgbClr val="000000"/>
                          </a:solidFill>
                          <a:effectLst/>
                          <a:latin typeface="Poppins" panose="00000500000000000000" pitchFamily="2" charset="0"/>
                        </a:rPr>
                        <a:t>PROTECTIVE LIFE GLOBAL FUNDING</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9/21/2030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$127,034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039458"/>
                  </a:ext>
                </a:extLst>
              </a:tr>
              <a:tr h="189600">
                <a:tc>
                  <a:txBody>
                    <a:bodyPr/>
                    <a:lstStyle/>
                    <a:p>
                      <a:pPr algn="l" rtl="0" fontAlgn="ctr"/>
                      <a:r>
                        <a:rPr lang="en-US" sz="1050" b="0" i="0" u="none" strike="noStrike">
                          <a:solidFill>
                            <a:srgbClr val="000000"/>
                          </a:solidFill>
                          <a:effectLst/>
                          <a:latin typeface="Poppins" panose="00000500000000000000" pitchFamily="2" charset="0"/>
                        </a:rPr>
                        <a:t>CITIZENS FINANCIAL GROUP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1.49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7/27/2026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$489,449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75356357"/>
                  </a:ext>
                </a:extLst>
              </a:tr>
              <a:tr h="189600">
                <a:tc>
                  <a:txBody>
                    <a:bodyPr/>
                    <a:lstStyle/>
                    <a:p>
                      <a:pPr algn="l" rtl="0" fontAlgn="ctr"/>
                      <a:r>
                        <a:rPr lang="en-US" sz="1050" b="0" i="0" u="none" strike="noStrike">
                          <a:solidFill>
                            <a:srgbClr val="000000"/>
                          </a:solidFill>
                          <a:effectLst/>
                          <a:latin typeface="Poppins" panose="00000500000000000000" pitchFamily="2" charset="0"/>
                        </a:rPr>
                        <a:t>BANK OF NEW YORK MELLON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1/28/2031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$250,079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27295316"/>
                  </a:ext>
                </a:extLst>
              </a:tr>
              <a:tr h="189600">
                <a:tc>
                  <a:txBody>
                    <a:bodyPr/>
                    <a:lstStyle/>
                    <a:p>
                      <a:pPr algn="l" rtl="0" fontAlgn="ctr"/>
                      <a:r>
                        <a:rPr lang="en-US" sz="1050" b="0" i="0" u="none" strike="noStrike">
                          <a:solidFill>
                            <a:srgbClr val="000000"/>
                          </a:solidFill>
                          <a:effectLst/>
                          <a:latin typeface="Poppins" panose="00000500000000000000" pitchFamily="2" charset="0"/>
                        </a:rPr>
                        <a:t>MORGAN STANLEY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0.92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12/10/2026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$289,473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525905742"/>
                  </a:ext>
                </a:extLst>
              </a:tr>
              <a:tr h="189600">
                <a:tc>
                  <a:txBody>
                    <a:bodyPr/>
                    <a:lstStyle/>
                    <a:p>
                      <a:pPr algn="l" rtl="0" fontAlgn="ctr"/>
                      <a:r>
                        <a:rPr lang="en-US" sz="1050" b="0" i="0" u="none" strike="noStrike">
                          <a:solidFill>
                            <a:srgbClr val="000000"/>
                          </a:solidFill>
                          <a:effectLst/>
                          <a:latin typeface="Poppins" panose="00000500000000000000" pitchFamily="2" charset="0"/>
                        </a:rPr>
                        <a:t>BLACKROCK FINANCE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1/28/2031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$552,957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419002755"/>
                  </a:ext>
                </a:extLst>
              </a:tr>
              <a:tr h="189600">
                <a:tc>
                  <a:txBody>
                    <a:bodyPr/>
                    <a:lstStyle/>
                    <a:p>
                      <a:pPr algn="l" rtl="0" fontAlgn="ctr"/>
                      <a:r>
                        <a:rPr lang="en-US" sz="1050" b="0" i="0" u="none" strike="noStrike">
                          <a:solidFill>
                            <a:srgbClr val="000000"/>
                          </a:solidFill>
                          <a:effectLst/>
                          <a:latin typeface="Poppins" panose="00000500000000000000" pitchFamily="2" charset="0"/>
                        </a:rPr>
                        <a:t>METROPOLITAN LIFE GLOBAL FUNDI</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1.93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1/11/2027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$143,383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79523205"/>
                  </a:ext>
                </a:extLst>
              </a:tr>
              <a:tr h="189600">
                <a:tc>
                  <a:txBody>
                    <a:bodyPr/>
                    <a:lstStyle/>
                    <a:p>
                      <a:pPr algn="l" rtl="0" fontAlgn="ctr"/>
                      <a:r>
                        <a:rPr lang="en-US" sz="1050" b="0" i="0" u="none" strike="noStrike">
                          <a:solidFill>
                            <a:srgbClr val="000000"/>
                          </a:solidFill>
                          <a:effectLst/>
                          <a:latin typeface="Poppins" panose="00000500000000000000" pitchFamily="2" charset="0"/>
                        </a:rPr>
                        <a:t>CITIGROUP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1/29/2031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$179,202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04987287"/>
                  </a:ext>
                </a:extLst>
              </a:tr>
              <a:tr h="189600">
                <a:tc>
                  <a:txBody>
                    <a:bodyPr/>
                    <a:lstStyle/>
                    <a:p>
                      <a:pPr algn="l" rtl="0" fontAlgn="ctr"/>
                      <a:r>
                        <a:rPr lang="en-US" sz="1050" b="0" i="0" u="none" strike="noStrike">
                          <a:solidFill>
                            <a:srgbClr val="000000"/>
                          </a:solidFill>
                          <a:effectLst/>
                          <a:latin typeface="Poppins" panose="00000500000000000000" pitchFamily="2" charset="0"/>
                        </a:rPr>
                        <a:t>AMERICAN EXPRESS CO</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5.68%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3/4/2025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$502,123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411549475"/>
                  </a:ext>
                </a:extLst>
              </a:tr>
              <a:tr h="189600">
                <a:tc>
                  <a:txBody>
                    <a:bodyPr/>
                    <a:lstStyle/>
                    <a:p>
                      <a:pPr algn="l" rtl="0" fontAlgn="ctr"/>
                      <a:r>
                        <a:rPr lang="en-US" sz="1050" b="0" i="0" u="none" strike="noStrike">
                          <a:solidFill>
                            <a:srgbClr val="000000"/>
                          </a:solidFill>
                          <a:effectLst/>
                          <a:latin typeface="Poppins" panose="00000500000000000000" pitchFamily="2" charset="0"/>
                        </a:rPr>
                        <a:t>STATE STREET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2/7/2028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$335,813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680559872"/>
                  </a:ext>
                </a:extLst>
              </a:tr>
              <a:tr h="189600">
                <a:tc>
                  <a:txBody>
                    <a:bodyPr/>
                    <a:lstStyle/>
                    <a:p>
                      <a:pPr algn="l" rtl="0" fontAlgn="ctr"/>
                      <a:r>
                        <a:rPr lang="en-US" sz="1050" b="0" i="0" u="none" strike="noStrike">
                          <a:solidFill>
                            <a:srgbClr val="000000"/>
                          </a:solidFill>
                          <a:effectLst/>
                          <a:latin typeface="Poppins" panose="00000500000000000000" pitchFamily="2" charset="0"/>
                        </a:rPr>
                        <a:t>CAPITAL ONE FINANCIAL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1.76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11/2/2027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$270,181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67212572"/>
                  </a:ext>
                </a:extLst>
              </a:tr>
              <a:tr h="189600">
                <a:tc>
                  <a:txBody>
                    <a:bodyPr/>
                    <a:lstStyle/>
                    <a:p>
                      <a:pPr algn="l" rtl="0" fontAlgn="ctr"/>
                      <a:r>
                        <a:rPr lang="en-US" sz="1050" b="0" i="0" u="none" strike="noStrike">
                          <a:solidFill>
                            <a:srgbClr val="000000"/>
                          </a:solidFill>
                          <a:effectLst/>
                          <a:latin typeface="Poppins" panose="00000500000000000000" pitchFamily="2" charset="0"/>
                        </a:rPr>
                        <a:t>JPMORGAN CHASE &amp; CO</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9/22/2027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$427,501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155117640"/>
                  </a:ext>
                </a:extLst>
              </a:tr>
              <a:tr h="189600">
                <a:tc>
                  <a:txBody>
                    <a:bodyPr/>
                    <a:lstStyle/>
                    <a:p>
                      <a:pPr algn="l" rtl="0" fontAlgn="ctr"/>
                      <a:r>
                        <a:rPr lang="en-US" sz="1050" b="0" i="0" u="none" strike="noStrike">
                          <a:solidFill>
                            <a:srgbClr val="000000"/>
                          </a:solidFill>
                          <a:effectLst/>
                          <a:latin typeface="Poppins" panose="00000500000000000000" pitchFamily="2" charset="0"/>
                        </a:rPr>
                        <a:t>CITIZENS FINANCIAL GROUP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5.65%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7/23/2032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$72,000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9048016"/>
                  </a:ext>
                </a:extLst>
              </a:tr>
              <a:tr h="189600">
                <a:tc>
                  <a:txBody>
                    <a:bodyPr/>
                    <a:lstStyle/>
                    <a:p>
                      <a:pPr algn="l" rtl="0" fontAlgn="ctr"/>
                      <a:r>
                        <a:rPr lang="en-US" sz="1050" b="0" i="0" u="none" strike="noStrike">
                          <a:solidFill>
                            <a:srgbClr val="000000"/>
                          </a:solidFill>
                          <a:effectLst/>
                          <a:latin typeface="Poppins" panose="00000500000000000000" pitchFamily="2" charset="0"/>
                        </a:rPr>
                        <a:t>COREBRIDGE GLOBAL FUNDING</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9/22/2025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$488,225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02871724"/>
                  </a:ext>
                </a:extLst>
              </a:tr>
              <a:tr h="189600">
                <a:tc>
                  <a:txBody>
                    <a:bodyPr/>
                    <a:lstStyle/>
                    <a:p>
                      <a:pPr algn="l" rtl="0" fontAlgn="ctr"/>
                      <a:r>
                        <a:rPr lang="en-US" sz="1050" b="0" i="0" u="none" strike="noStrike">
                          <a:solidFill>
                            <a:srgbClr val="000000"/>
                          </a:solidFill>
                          <a:effectLst/>
                          <a:latin typeface="Poppins" panose="00000500000000000000" pitchFamily="2" charset="0"/>
                        </a:rPr>
                        <a:t>MORGAN STANLEY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5.76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4/28/2032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$246,392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23173614"/>
                  </a:ext>
                </a:extLst>
              </a:tr>
            </a:tbl>
          </a:graphicData>
        </a:graphic>
      </p:graphicFrame>
      <p:sp>
        <p:nvSpPr>
          <p:cNvPr id="5" name="Title 1">
            <a:extLst>
              <a:ext uri="{FF2B5EF4-FFF2-40B4-BE49-F238E27FC236}">
                <a16:creationId xmlns:a16="http://schemas.microsoft.com/office/drawing/2014/main" id="{D5C0E9D2-149A-EBA2-FC98-3A1E5D917BA6}"/>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SMA holdings </a:t>
            </a:r>
          </a:p>
        </p:txBody>
      </p:sp>
      <p:sp>
        <p:nvSpPr>
          <p:cNvPr id="2" name="Rectangle 1">
            <a:extLst>
              <a:ext uri="{FF2B5EF4-FFF2-40B4-BE49-F238E27FC236}">
                <a16:creationId xmlns:a16="http://schemas.microsoft.com/office/drawing/2014/main" id="{F7AA048C-A1E1-D473-62C5-C93291D938E9}"/>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50000"/>
              </a:spcBef>
              <a:spcAft>
                <a:spcPct val="0"/>
              </a:spcAft>
              <a:buClrTx/>
              <a:buSzTx/>
              <a:buFontTx/>
              <a:buNone/>
              <a:tabLst/>
            </a:pPr>
            <a:r>
              <a:rPr lang="en-US" sz="1600">
                <a:solidFill>
                  <a:schemeClr val="bg1"/>
                </a:solidFill>
                <a:latin typeface="Poppins Light"/>
                <a:cs typeface="Poppins Medium" panose="00000600000000000000" pitchFamily="2" charset="0"/>
              </a:rPr>
              <a:t>PORTFOLIO</a:t>
            </a:r>
            <a:r>
              <a:rPr kumimoji="0" lang="en-US" sz="1600" i="0" u="none" strike="noStrike" cap="none" normalizeH="0" baseline="0">
                <a:ln>
                  <a:noFill/>
                </a:ln>
                <a:solidFill>
                  <a:schemeClr val="bg1"/>
                </a:solidFill>
                <a:effectLst/>
                <a:latin typeface="Poppins Light"/>
                <a:cs typeface="Poppins Medium" panose="00000600000000000000" pitchFamily="2" charset="0"/>
              </a:rPr>
              <a:t> HOLDINGS </a:t>
            </a:r>
            <a:r>
              <a:rPr lang="en-US" sz="1600">
                <a:solidFill>
                  <a:schemeClr val="bg1"/>
                </a:solidFill>
                <a:latin typeface="Poppins Light"/>
                <a:cs typeface="Poppins Medium" panose="00000600000000000000" pitchFamily="2" charset="0"/>
              </a:rPr>
              <a:t>| </a:t>
            </a:r>
            <a:r>
              <a:rPr lang="en-US" sz="1600">
                <a:solidFill>
                  <a:schemeClr val="bg1"/>
                </a:solidFill>
                <a:latin typeface="Poppins Medium"/>
                <a:cs typeface="Poppins Light" panose="00000400000000000000" pitchFamily="2" charset="0"/>
              </a:rPr>
              <a:t>12-31-2024</a:t>
            </a:r>
            <a:endParaRPr lang="en-US" sz="1600" b="0" i="0" u="none" strike="noStrike" cap="none" normalizeH="0" baseline="0">
              <a:ln>
                <a:noFill/>
              </a:ln>
              <a:solidFill>
                <a:schemeClr val="bg1"/>
              </a:solidFill>
              <a:effectLst/>
              <a:latin typeface="Poppins Medium"/>
              <a:cs typeface="Poppins Light" panose="00000400000000000000" pitchFamily="2" charset="0"/>
            </a:endParaRPr>
          </a:p>
        </p:txBody>
      </p:sp>
    </p:spTree>
    <p:extLst>
      <p:ext uri="{BB962C8B-B14F-4D97-AF65-F5344CB8AC3E}">
        <p14:creationId xmlns:p14="http://schemas.microsoft.com/office/powerpoint/2010/main" val="2110775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hidden="1">
            <a:extLst>
              <a:ext uri="{FF2B5EF4-FFF2-40B4-BE49-F238E27FC236}">
                <a16:creationId xmlns:a16="http://schemas.microsoft.com/office/drawing/2014/main" id="{42EEB35B-E44D-4A02-A22D-BD8FB6900C5E}"/>
              </a:ext>
            </a:extLst>
          </p:cNvPr>
          <p:cNvGraphicFramePr>
            <a:graphicFrameLocks noGrp="1"/>
          </p:cNvGraphicFramePr>
          <p:nvPr>
            <p:extLst>
              <p:ext uri="{D42A27DB-BD31-4B8C-83A1-F6EECF244321}">
                <p14:modId xmlns:p14="http://schemas.microsoft.com/office/powerpoint/2010/main" val="981716890"/>
              </p:ext>
            </p:extLst>
          </p:nvPr>
        </p:nvGraphicFramePr>
        <p:xfrm>
          <a:off x="381000" y="1220876"/>
          <a:ext cx="8398061" cy="5393384"/>
        </p:xfrm>
        <a:graphic>
          <a:graphicData uri="http://schemas.openxmlformats.org/drawingml/2006/table">
            <a:tbl>
              <a:tblPr bandRow="1">
                <a:tableStyleId>{93296810-A885-4BE3-A3E7-6D5BEEA58F35}</a:tableStyleId>
              </a:tblPr>
              <a:tblGrid>
                <a:gridCol w="2182370">
                  <a:extLst>
                    <a:ext uri="{9D8B030D-6E8A-4147-A177-3AD203B41FA5}">
                      <a16:colId xmlns:a16="http://schemas.microsoft.com/office/drawing/2014/main" val="20000"/>
                    </a:ext>
                  </a:extLst>
                </a:gridCol>
                <a:gridCol w="882405">
                  <a:extLst>
                    <a:ext uri="{9D8B030D-6E8A-4147-A177-3AD203B41FA5}">
                      <a16:colId xmlns:a16="http://schemas.microsoft.com/office/drawing/2014/main" val="3585380606"/>
                    </a:ext>
                  </a:extLst>
                </a:gridCol>
                <a:gridCol w="908352">
                  <a:extLst>
                    <a:ext uri="{9D8B030D-6E8A-4147-A177-3AD203B41FA5}">
                      <a16:colId xmlns:a16="http://schemas.microsoft.com/office/drawing/2014/main" val="1257159576"/>
                    </a:ext>
                  </a:extLst>
                </a:gridCol>
                <a:gridCol w="628339">
                  <a:extLst>
                    <a:ext uri="{9D8B030D-6E8A-4147-A177-3AD203B41FA5}">
                      <a16:colId xmlns:a16="http://schemas.microsoft.com/office/drawing/2014/main" val="481879323"/>
                    </a:ext>
                  </a:extLst>
                </a:gridCol>
                <a:gridCol w="846834">
                  <a:extLst>
                    <a:ext uri="{9D8B030D-6E8A-4147-A177-3AD203B41FA5}">
                      <a16:colId xmlns:a16="http://schemas.microsoft.com/office/drawing/2014/main" val="2810924609"/>
                    </a:ext>
                  </a:extLst>
                </a:gridCol>
                <a:gridCol w="736600">
                  <a:extLst>
                    <a:ext uri="{9D8B030D-6E8A-4147-A177-3AD203B41FA5}">
                      <a16:colId xmlns:a16="http://schemas.microsoft.com/office/drawing/2014/main" val="3703170606"/>
                    </a:ext>
                  </a:extLst>
                </a:gridCol>
                <a:gridCol w="736600">
                  <a:extLst>
                    <a:ext uri="{9D8B030D-6E8A-4147-A177-3AD203B41FA5}">
                      <a16:colId xmlns:a16="http://schemas.microsoft.com/office/drawing/2014/main" val="4265513678"/>
                    </a:ext>
                  </a:extLst>
                </a:gridCol>
                <a:gridCol w="800100">
                  <a:extLst>
                    <a:ext uri="{9D8B030D-6E8A-4147-A177-3AD203B41FA5}">
                      <a16:colId xmlns:a16="http://schemas.microsoft.com/office/drawing/2014/main" val="22118574"/>
                    </a:ext>
                  </a:extLst>
                </a:gridCol>
                <a:gridCol w="676461">
                  <a:extLst>
                    <a:ext uri="{9D8B030D-6E8A-4147-A177-3AD203B41FA5}">
                      <a16:colId xmlns:a16="http://schemas.microsoft.com/office/drawing/2014/main" val="20001"/>
                    </a:ext>
                  </a:extLst>
                </a:gridCol>
              </a:tblGrid>
              <a:tr h="390510">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Issuer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Sector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Duration</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Yield</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S&amp;p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Moody’s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Maturity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1"/>
                  </a:ext>
                </a:extLst>
              </a:tr>
              <a:tr h="213595">
                <a:tc>
                  <a:txBody>
                    <a:bodyPr/>
                    <a:lstStyle/>
                    <a:p>
                      <a:pPr algn="l"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10/31/2019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$286,213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7263394"/>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1.4709013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11/19/2019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$749,428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6.24%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5558472"/>
                  </a:ext>
                </a:extLst>
              </a:tr>
              <a:tr h="213595">
                <a:tc>
                  <a:txBody>
                    <a:bodyPr/>
                    <a:lstStyle/>
                    <a:p>
                      <a:pPr algn="l" rtl="0" fontAlgn="ctr"/>
                      <a:r>
                        <a:rPr lang="en-US" sz="900" b="0" i="0" u="none" strike="noStrike">
                          <a:solidFill>
                            <a:srgbClr val="000000"/>
                          </a:solidFill>
                          <a:effectLst/>
                          <a:latin typeface="Poppins" panose="00000500000000000000" pitchFamily="2" charset="0"/>
                        </a:rPr>
                        <a:t>J M SMUCKER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9.70%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2.116467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12/6/2019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$40,357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8122526"/>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17.21%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1.5481337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$648,268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5660"/>
                  </a:ext>
                </a:extLst>
              </a:tr>
              <a:tr h="213595">
                <a:tc>
                  <a:txBody>
                    <a:bodyPr/>
                    <a:lstStyle/>
                    <a:p>
                      <a:pPr algn="l" rtl="0" fontAlgn="ctr"/>
                      <a:r>
                        <a:rPr lang="en-US" sz="900" b="0" i="0" u="none" strike="noStrike">
                          <a:solidFill>
                            <a:srgbClr val="000000"/>
                          </a:solidFill>
                          <a:effectLst/>
                          <a:latin typeface="Poppins" panose="00000500000000000000" pitchFamily="2" charset="0"/>
                        </a:rPr>
                        <a:t>JACKSON NAT’L LIFE GLBL FUNDING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1.8956037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$45,283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1.535244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$896,568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3595">
                <a:tc>
                  <a:txBody>
                    <a:bodyPr/>
                    <a:lstStyle/>
                    <a:p>
                      <a:pPr algn="l" rtl="0" fontAlgn="ctr"/>
                      <a:r>
                        <a:rPr lang="en-US" sz="900" b="0" i="0" u="none" strike="noStrike">
                          <a:solidFill>
                            <a:srgbClr val="000000"/>
                          </a:solidFill>
                          <a:effectLst/>
                          <a:latin typeface="Poppins" panose="00000500000000000000" pitchFamily="2" charset="0"/>
                        </a:rPr>
                        <a:t>SUNTRUST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19.68%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1.9734232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$40,245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487494"/>
                  </a:ext>
                </a:extLst>
              </a:tr>
              <a:tr h="213595">
                <a:tc>
                  <a:txBody>
                    <a:bodyPr/>
                    <a:lstStyle/>
                    <a:p>
                      <a:pPr algn="l" rtl="0" fontAlgn="ctr"/>
                      <a:r>
                        <a:rPr lang="en-US" sz="900" b="0" i="0" u="none" strike="noStrike">
                          <a:solidFill>
                            <a:srgbClr val="000000"/>
                          </a:solidFill>
                          <a:effectLst/>
                          <a:latin typeface="Poppins" panose="00000500000000000000" pitchFamily="2" charset="0"/>
                        </a:rPr>
                        <a:t>CHEVRON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ENERGY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27.97%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1.8949127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$100,331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63137"/>
                  </a:ext>
                </a:extLst>
              </a:tr>
              <a:tr h="213595">
                <a:tc>
                  <a:txBody>
                    <a:bodyPr/>
                    <a:lstStyle/>
                    <a:p>
                      <a:pPr algn="l" rtl="0" fontAlgn="ctr"/>
                      <a:r>
                        <a:rPr lang="en-US" sz="900" b="0" i="0" u="none" strike="noStrike">
                          <a:solidFill>
                            <a:srgbClr val="000000"/>
                          </a:solidFill>
                          <a:effectLst/>
                          <a:latin typeface="Poppins" panose="00000500000000000000" pitchFamily="2" charset="0"/>
                        </a:rPr>
                        <a:t>COMMONWEALTH BANK OF AUSTRALIA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1.9187822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$40,174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2169908"/>
                  </a:ext>
                </a:extLst>
              </a:tr>
              <a:tr h="213595">
                <a:tc>
                  <a:txBody>
                    <a:bodyPr/>
                    <a:lstStyle/>
                    <a:p>
                      <a:pPr algn="l" rtl="0" fontAlgn="ctr"/>
                      <a:r>
                        <a:rPr lang="en-US" sz="900" b="0" i="0" u="none" strike="noStrike">
                          <a:solidFill>
                            <a:srgbClr val="000000"/>
                          </a:solidFill>
                          <a:effectLst/>
                          <a:latin typeface="Poppins" panose="00000500000000000000" pitchFamily="2" charset="0"/>
                        </a:rPr>
                        <a:t>ACTAVIS FUNDING SCS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2.107104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$54,354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4872185"/>
                  </a:ext>
                </a:extLst>
              </a:tr>
              <a:tr h="213595">
                <a:tc>
                  <a:txBody>
                    <a:bodyPr/>
                    <a:lstStyle/>
                    <a:p>
                      <a:pPr algn="l" rtl="0" fontAlgn="ctr"/>
                      <a:r>
                        <a:rPr lang="en-US" sz="900" b="0" i="0" u="none" strike="noStrike">
                          <a:solidFill>
                            <a:srgbClr val="000000"/>
                          </a:solidFill>
                          <a:effectLst/>
                          <a:latin typeface="Poppins" panose="00000500000000000000" pitchFamily="2" charset="0"/>
                        </a:rPr>
                        <a:t>BACCT 171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37.28%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1.9372058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3/16/2020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$55,049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963204"/>
                  </a:ext>
                </a:extLst>
              </a:tr>
              <a:tr h="213595">
                <a:tc>
                  <a:txBody>
                    <a:bodyPr/>
                    <a:lstStyle/>
                    <a:p>
                      <a:pPr algn="l" rtl="0" fontAlgn="ctr"/>
                      <a:r>
                        <a:rPr lang="en-US" sz="900" b="0" i="0" u="none" strike="noStrike">
                          <a:solidFill>
                            <a:srgbClr val="000000"/>
                          </a:solidFill>
                          <a:effectLst/>
                          <a:latin typeface="Poppins" panose="00000500000000000000" pitchFamily="2" charset="0"/>
                        </a:rPr>
                        <a:t>CHAIT 154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1.8911995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NR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$100,057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826118"/>
                  </a:ext>
                </a:extLst>
              </a:tr>
              <a:tr h="166129">
                <a:tc>
                  <a:txBody>
                    <a:bodyPr/>
                    <a:lstStyle/>
                    <a:p>
                      <a:pPr algn="l" rtl="0" fontAlgn="ctr"/>
                      <a:r>
                        <a:rPr lang="en-US" sz="900" b="0" i="0" u="none" strike="noStrike">
                          <a:solidFill>
                            <a:srgbClr val="000000"/>
                          </a:solidFill>
                          <a:effectLst/>
                          <a:latin typeface="Poppins" panose="00000500000000000000" pitchFamily="2" charset="0"/>
                        </a:rPr>
                        <a:t>BANK OF AMERICA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46.81%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1.8856671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7382148"/>
                  </a:ext>
                </a:extLst>
              </a:tr>
              <a:tr h="213595">
                <a:tc>
                  <a:txBody>
                    <a:bodyPr/>
                    <a:lstStyle/>
                    <a:p>
                      <a:pPr algn="l" rtl="0" fontAlgn="ctr"/>
                      <a:r>
                        <a:rPr lang="en-US" sz="900" b="0" i="0" u="none" strike="noStrike">
                          <a:solidFill>
                            <a:srgbClr val="000000"/>
                          </a:solidFill>
                          <a:effectLst/>
                          <a:latin typeface="Poppins" panose="00000500000000000000" pitchFamily="2" charset="0"/>
                        </a:rPr>
                        <a:t>HARRIS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INDUSTRIAL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2.286775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$50,098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761231"/>
                  </a:ext>
                </a:extLst>
              </a:tr>
              <a:tr h="213595">
                <a:tc>
                  <a:txBody>
                    <a:bodyPr/>
                    <a:lstStyle/>
                    <a:p>
                      <a:pPr algn="l" rtl="0" fontAlgn="ctr"/>
                      <a:r>
                        <a:rPr lang="en-US" sz="900" b="0" i="0" u="none" strike="noStrike">
                          <a:solidFill>
                            <a:srgbClr val="000000"/>
                          </a:solidFill>
                          <a:effectLst/>
                          <a:latin typeface="Poppins" panose="00000500000000000000" pitchFamily="2" charset="0"/>
                        </a:rPr>
                        <a:t>EUROPEAN INVESTMENT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SUPRANATIONAL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1.8131835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$110,274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2308538"/>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US GOV</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65.64%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1.6238955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$100,548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986782"/>
                  </a:ext>
                </a:extLst>
              </a:tr>
              <a:tr h="213595">
                <a:tc>
                  <a:txBody>
                    <a:bodyPr/>
                    <a:lstStyle/>
                    <a:p>
                      <a:pPr algn="l" rtl="0" fontAlgn="ctr"/>
                      <a:r>
                        <a:rPr lang="de-DE" sz="900" b="0" i="0" u="none" strike="noStrike">
                          <a:solidFill>
                            <a:srgbClr val="000000"/>
                          </a:solidFill>
                          <a:effectLst/>
                          <a:latin typeface="Poppins" panose="00000500000000000000" pitchFamily="2" charset="0"/>
                        </a:rPr>
                        <a:t>DEUTSCHE BANK AG (NY BRANCH)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68.43%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2.6452286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$20,169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0.17%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216473"/>
                  </a:ext>
                </a:extLst>
              </a:tr>
              <a:tr h="213595">
                <a:tc>
                  <a:txBody>
                    <a:bodyPr/>
                    <a:lstStyle/>
                    <a:p>
                      <a:pPr algn="l" rtl="0" fontAlgn="ctr"/>
                      <a:r>
                        <a:rPr lang="en-US" sz="900" b="0" i="0" u="none" strike="noStrike">
                          <a:solidFill>
                            <a:srgbClr val="000000"/>
                          </a:solidFill>
                          <a:effectLst/>
                          <a:latin typeface="Poppins" panose="00000500000000000000" pitchFamily="2" charset="0"/>
                        </a:rPr>
                        <a:t>WELLS FARGO &amp;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1.8962492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7/22/2020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$55,670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85760"/>
                  </a:ext>
                </a:extLst>
              </a:tr>
              <a:tr h="213595">
                <a:tc>
                  <a:txBody>
                    <a:bodyPr/>
                    <a:lstStyle/>
                    <a:p>
                      <a:pPr algn="l" rtl="0" fontAlgn="ctr"/>
                      <a:r>
                        <a:rPr lang="en-US" sz="900" b="0" i="0" u="none" strike="noStrike">
                          <a:solidFill>
                            <a:srgbClr val="000000"/>
                          </a:solidFill>
                          <a:effectLst/>
                          <a:latin typeface="Poppins" panose="00000500000000000000" pitchFamily="2" charset="0"/>
                        </a:rPr>
                        <a:t>ANTHEM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77.06%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2.0067809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$35,959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648593"/>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INTERNATIONAL GROUP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1.9207537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$30,553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0173202"/>
                  </a:ext>
                </a:extLst>
              </a:tr>
              <a:tr h="213595">
                <a:tc>
                  <a:txBody>
                    <a:bodyPr/>
                    <a:lstStyle/>
                    <a:p>
                      <a:pPr algn="l" rtl="0" fontAlgn="ctr"/>
                      <a:r>
                        <a:rPr lang="en-US" sz="900" b="0" i="0" u="none" strike="noStrike">
                          <a:solidFill>
                            <a:srgbClr val="000000"/>
                          </a:solidFill>
                          <a:effectLst/>
                          <a:latin typeface="Poppins" panose="00000500000000000000" pitchFamily="2" charset="0"/>
                        </a:rPr>
                        <a:t>DCENT 176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78.40%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1.8729056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$120,108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433518"/>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CAMPUS COMM. OP. PRTNSP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82.25%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2.050762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$45,606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5677006"/>
                  </a:ext>
                </a:extLst>
              </a:tr>
            </a:tbl>
          </a:graphicData>
        </a:graphic>
      </p:graphicFrame>
      <p:graphicFrame>
        <p:nvGraphicFramePr>
          <p:cNvPr id="3" name="Table 2" hidden="1">
            <a:extLst>
              <a:ext uri="{FF2B5EF4-FFF2-40B4-BE49-F238E27FC236}">
                <a16:creationId xmlns:a16="http://schemas.microsoft.com/office/drawing/2014/main" id="{1F711E98-DAA0-46EB-8B8E-705A6A308A0A}"/>
              </a:ext>
            </a:extLst>
          </p:cNvPr>
          <p:cNvGraphicFramePr>
            <a:graphicFrameLocks noGrp="1"/>
          </p:cNvGraphicFramePr>
          <p:nvPr/>
        </p:nvGraphicFramePr>
        <p:xfrm>
          <a:off x="362585" y="1203960"/>
          <a:ext cx="8412480" cy="5113020"/>
        </p:xfrm>
        <a:graphic>
          <a:graphicData uri="http://schemas.openxmlformats.org/drawingml/2006/table">
            <a:tbl>
              <a:tblPr/>
              <a:tblGrid>
                <a:gridCol w="2380615">
                  <a:extLst>
                    <a:ext uri="{9D8B030D-6E8A-4147-A177-3AD203B41FA5}">
                      <a16:colId xmlns:a16="http://schemas.microsoft.com/office/drawing/2014/main" val="3225387243"/>
                    </a:ext>
                  </a:extLst>
                </a:gridCol>
                <a:gridCol w="1104728">
                  <a:extLst>
                    <a:ext uri="{9D8B030D-6E8A-4147-A177-3AD203B41FA5}">
                      <a16:colId xmlns:a16="http://schemas.microsoft.com/office/drawing/2014/main" val="1289031369"/>
                    </a:ext>
                  </a:extLst>
                </a:gridCol>
                <a:gridCol w="728176">
                  <a:extLst>
                    <a:ext uri="{9D8B030D-6E8A-4147-A177-3AD203B41FA5}">
                      <a16:colId xmlns:a16="http://schemas.microsoft.com/office/drawing/2014/main" val="2662241828"/>
                    </a:ext>
                  </a:extLst>
                </a:gridCol>
                <a:gridCol w="449889">
                  <a:extLst>
                    <a:ext uri="{9D8B030D-6E8A-4147-A177-3AD203B41FA5}">
                      <a16:colId xmlns:a16="http://schemas.microsoft.com/office/drawing/2014/main" val="3398770197"/>
                    </a:ext>
                  </a:extLst>
                </a:gridCol>
                <a:gridCol w="637342">
                  <a:extLst>
                    <a:ext uri="{9D8B030D-6E8A-4147-A177-3AD203B41FA5}">
                      <a16:colId xmlns:a16="http://schemas.microsoft.com/office/drawing/2014/main" val="3411342490"/>
                    </a:ext>
                  </a:extLst>
                </a:gridCol>
                <a:gridCol w="774808">
                  <a:extLst>
                    <a:ext uri="{9D8B030D-6E8A-4147-A177-3AD203B41FA5}">
                      <a16:colId xmlns:a16="http://schemas.microsoft.com/office/drawing/2014/main" val="3356158280"/>
                    </a:ext>
                  </a:extLst>
                </a:gridCol>
                <a:gridCol w="799802">
                  <a:extLst>
                    <a:ext uri="{9D8B030D-6E8A-4147-A177-3AD203B41FA5}">
                      <a16:colId xmlns:a16="http://schemas.microsoft.com/office/drawing/2014/main" val="1386931236"/>
                    </a:ext>
                  </a:extLst>
                </a:gridCol>
                <a:gridCol w="787305">
                  <a:extLst>
                    <a:ext uri="{9D8B030D-6E8A-4147-A177-3AD203B41FA5}">
                      <a16:colId xmlns:a16="http://schemas.microsoft.com/office/drawing/2014/main" val="3141232831"/>
                    </a:ext>
                  </a:extLst>
                </a:gridCol>
                <a:gridCol w="749815">
                  <a:extLst>
                    <a:ext uri="{9D8B030D-6E8A-4147-A177-3AD203B41FA5}">
                      <a16:colId xmlns:a16="http://schemas.microsoft.com/office/drawing/2014/main" val="1501712056"/>
                    </a:ext>
                  </a:extLst>
                </a:gridCol>
              </a:tblGrid>
              <a:tr h="261553">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S&amp;P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MOODY'S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FINAL MATURITY</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extLst>
                  <a:ext uri="{0D108BD9-81ED-4DB2-BD59-A6C34878D82A}">
                    <a16:rowId xmlns:a16="http://schemas.microsoft.com/office/drawing/2014/main" val="2513351061"/>
                  </a:ext>
                </a:extLst>
              </a:tr>
              <a:tr h="133966">
                <a:tc>
                  <a:txBody>
                    <a:bodyPr/>
                    <a:lstStyle/>
                    <a:p>
                      <a:pPr algn="l" rtl="0" fontAlgn="ctr"/>
                      <a:r>
                        <a:rPr lang="en-US" sz="1000" b="0" i="0" u="none" strike="noStrike">
                          <a:solidFill>
                            <a:srgbClr val="000000"/>
                          </a:solidFill>
                          <a:effectLst/>
                          <a:latin typeface="Poppins" panose="00000500000000000000" pitchFamily="2" charset="0"/>
                        </a:rPr>
                        <a:t>MCCT 211 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1.93</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3.07%</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11/21/2025</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$95,184 </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98817"/>
                  </a:ext>
                </a:extLst>
              </a:tr>
              <a:tr h="133966">
                <a:tc>
                  <a:txBody>
                    <a:bodyPr/>
                    <a:lstStyle/>
                    <a:p>
                      <a:pPr algn="l" rtl="0" fontAlgn="ctr"/>
                      <a:r>
                        <a:rPr lang="en-US" sz="1000" b="0" i="0" u="none" strike="noStrike">
                          <a:solidFill>
                            <a:srgbClr val="000000"/>
                          </a:solidFill>
                          <a:effectLst/>
                          <a:latin typeface="Poppins" panose="00000500000000000000" pitchFamily="2" charset="0"/>
                        </a:rPr>
                        <a:t>GCCT 211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$91,155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99481353"/>
                  </a:ext>
                </a:extLst>
              </a:tr>
              <a:tr h="133966">
                <a:tc>
                  <a:txBody>
                    <a:bodyPr/>
                    <a:lstStyle/>
                    <a:p>
                      <a:pPr algn="l" rtl="0" fontAlgn="ctr"/>
                      <a:r>
                        <a:rPr lang="en-US" sz="1000" b="0" i="0" u="none" strike="noStrike">
                          <a:solidFill>
                            <a:srgbClr val="000000"/>
                          </a:solidFill>
                          <a:effectLst/>
                          <a:latin typeface="Poppins" panose="00000500000000000000" pitchFamily="2" charset="0"/>
                        </a:rPr>
                        <a:t>AMETOW 2018-1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4.21%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$24,329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818887326"/>
                  </a:ext>
                </a:extLst>
              </a:tr>
              <a:tr h="133966">
                <a:tc>
                  <a:txBody>
                    <a:bodyPr/>
                    <a:lstStyle/>
                    <a:p>
                      <a:pPr algn="l" rtl="0" fontAlgn="ctr"/>
                      <a:r>
                        <a:rPr lang="en-US" sz="1000" b="0" i="0" u="none" strike="noStrike">
                          <a:solidFill>
                            <a:srgbClr val="000000"/>
                          </a:solidFill>
                          <a:effectLst/>
                          <a:latin typeface="Poppins" panose="00000500000000000000" pitchFamily="2" charset="0"/>
                        </a:rPr>
                        <a:t>TESLA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12/20/2023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$13,575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09573489"/>
                  </a:ext>
                </a:extLst>
              </a:tr>
              <a:tr h="133966">
                <a:tc>
                  <a:txBody>
                    <a:bodyPr/>
                    <a:lstStyle/>
                    <a:p>
                      <a:pPr algn="l" rtl="0" fontAlgn="ctr"/>
                      <a:r>
                        <a:rPr lang="en-US" sz="1000" b="0" i="0" u="none" strike="noStrike">
                          <a:solidFill>
                            <a:srgbClr val="000000"/>
                          </a:solidFill>
                          <a:effectLst/>
                          <a:latin typeface="Poppins" panose="00000500000000000000" pitchFamily="2" charset="0"/>
                        </a:rPr>
                        <a:t>CNH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6/16/2025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$30,611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29693139"/>
                  </a:ext>
                </a:extLst>
              </a:tr>
              <a:tr h="133966">
                <a:tc>
                  <a:txBody>
                    <a:bodyPr/>
                    <a:lstStyle/>
                    <a:p>
                      <a:pPr algn="l" rtl="0" fontAlgn="ctr"/>
                      <a:r>
                        <a:rPr lang="en-US" sz="1000" b="0" i="0" u="none" strike="noStrike">
                          <a:solidFill>
                            <a:srgbClr val="000000"/>
                          </a:solidFill>
                          <a:effectLst/>
                          <a:latin typeface="Poppins" panose="00000500000000000000" pitchFamily="2" charset="0"/>
                        </a:rPr>
                        <a:t>WEPCO ENVIRONMENTAL TRUST</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$87,524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69284966"/>
                  </a:ext>
                </a:extLst>
              </a:tr>
              <a:tr h="133966">
                <a:tc>
                  <a:txBody>
                    <a:bodyPr/>
                    <a:lstStyle/>
                    <a:p>
                      <a:pPr algn="l" rtl="0" fontAlgn="ctr"/>
                      <a:r>
                        <a:rPr lang="en-US" sz="1000" b="0" i="0" u="none" strike="noStrike">
                          <a:solidFill>
                            <a:srgbClr val="000000"/>
                          </a:solidFill>
                          <a:effectLst/>
                          <a:latin typeface="Poppins" panose="00000500000000000000" pitchFamily="2" charset="0"/>
                        </a:rPr>
                        <a:t>COMET A(2015-4)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NR</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$50,129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8729621"/>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2021-2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$32,394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21238934"/>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$32,448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055303132"/>
                  </a:ext>
                </a:extLst>
              </a:tr>
              <a:tr h="133966">
                <a:tc>
                  <a:txBody>
                    <a:bodyPr/>
                    <a:lstStyle/>
                    <a:p>
                      <a:pPr algn="l" rtl="0" fontAlgn="ctr"/>
                      <a:r>
                        <a:rPr lang="en-US" sz="1000" b="0" i="0" u="none" strike="noStrike">
                          <a:solidFill>
                            <a:srgbClr val="000000"/>
                          </a:solidFill>
                          <a:effectLst/>
                          <a:latin typeface="Poppins" panose="00000500000000000000" pitchFamily="2" charset="0"/>
                        </a:rPr>
                        <a:t>PART 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$21,417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633210852"/>
                  </a:ext>
                </a:extLst>
              </a:tr>
              <a:tr h="133966">
                <a:tc>
                  <a:txBody>
                    <a:bodyPr/>
                    <a:lstStyle/>
                    <a:p>
                      <a:pPr algn="l" rtl="0" fontAlgn="ctr"/>
                      <a:r>
                        <a:rPr lang="en-US" sz="1000" b="0" i="0" u="none" strike="noStrike">
                          <a:solidFill>
                            <a:srgbClr val="000000"/>
                          </a:solidFill>
                          <a:effectLst/>
                          <a:latin typeface="Poppins" panose="00000500000000000000" pitchFamily="2" charset="0"/>
                        </a:rPr>
                        <a:t>PCG 2021-A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$130,438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90086829"/>
                  </a:ext>
                </a:extLst>
              </a:tr>
              <a:tr h="133966">
                <a:tc>
                  <a:txBody>
                    <a:bodyPr/>
                    <a:lstStyle/>
                    <a:p>
                      <a:pPr algn="l" rtl="0" fontAlgn="ctr"/>
                      <a:r>
                        <a:rPr lang="en-US" sz="1000" b="0" i="0" u="none" strike="noStrike">
                          <a:solidFill>
                            <a:srgbClr val="000000"/>
                          </a:solidFill>
                          <a:effectLst/>
                          <a:latin typeface="Poppins" panose="00000500000000000000" pitchFamily="2" charset="0"/>
                        </a:rPr>
                        <a:t>DTAOT 2020-3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$10,234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165812522"/>
                  </a:ext>
                </a:extLst>
              </a:tr>
              <a:tr h="133966">
                <a:tc>
                  <a:txBody>
                    <a:bodyPr/>
                    <a:lstStyle/>
                    <a:p>
                      <a:pPr algn="l" rtl="0" fontAlgn="ctr"/>
                      <a:r>
                        <a:rPr lang="en-US" sz="1000" b="0" i="0" u="none" strike="noStrike">
                          <a:solidFill>
                            <a:srgbClr val="000000"/>
                          </a:solidFill>
                          <a:effectLst/>
                          <a:latin typeface="Poppins" panose="00000500000000000000" pitchFamily="2" charset="0"/>
                        </a:rPr>
                        <a:t>JDOT 2019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7/17/2023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05904287"/>
                  </a:ext>
                </a:extLst>
              </a:tr>
              <a:tr h="133966">
                <a:tc>
                  <a:txBody>
                    <a:bodyPr/>
                    <a:lstStyle/>
                    <a:p>
                      <a:pPr algn="l" rtl="0" fontAlgn="ctr"/>
                      <a:r>
                        <a:rPr lang="en-US" sz="1000" b="0" i="0" u="none" strike="noStrike">
                          <a:solidFill>
                            <a:srgbClr val="000000"/>
                          </a:solidFill>
                          <a:effectLst/>
                          <a:latin typeface="Poppins" panose="00000500000000000000" pitchFamily="2" charset="0"/>
                        </a:rPr>
                        <a:t>EIX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$38,316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81546317"/>
                  </a:ext>
                </a:extLst>
              </a:tr>
              <a:tr h="133966">
                <a:tc>
                  <a:txBody>
                    <a:bodyPr/>
                    <a:lstStyle/>
                    <a:p>
                      <a:pPr algn="l" rtl="0" fontAlgn="ctr"/>
                      <a:r>
                        <a:rPr lang="en-US" sz="1000" b="0" i="0" u="none" strike="noStrike">
                          <a:solidFill>
                            <a:srgbClr val="000000"/>
                          </a:solidFill>
                          <a:effectLst/>
                          <a:latin typeface="Poppins" panose="00000500000000000000" pitchFamily="2" charset="0"/>
                        </a:rPr>
                        <a:t>CARMX 2022-1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P-1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$17,581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04292824"/>
                  </a:ext>
                </a:extLst>
              </a:tr>
              <a:tr h="133966">
                <a:tc>
                  <a:txBody>
                    <a:bodyPr/>
                    <a:lstStyle/>
                    <a:p>
                      <a:pPr algn="l" rtl="0" fontAlgn="ctr"/>
                      <a:r>
                        <a:rPr lang="en-US" sz="1000" b="0" i="0" u="none" strike="noStrike">
                          <a:solidFill>
                            <a:srgbClr val="000000"/>
                          </a:solidFill>
                          <a:effectLst/>
                          <a:latin typeface="Poppins" panose="00000500000000000000" pitchFamily="2" charset="0"/>
                        </a:rPr>
                        <a:t>DTE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$61,508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740355524"/>
                  </a:ext>
                </a:extLst>
              </a:tr>
              <a:tr h="133966">
                <a:tc>
                  <a:txBody>
                    <a:bodyPr/>
                    <a:lstStyle/>
                    <a:p>
                      <a:pPr algn="l" rtl="0" fontAlgn="ctr"/>
                      <a:r>
                        <a:rPr lang="en-US" sz="1000" b="0" i="0" u="none" strike="noStrike">
                          <a:solidFill>
                            <a:srgbClr val="000000"/>
                          </a:solidFill>
                          <a:effectLst/>
                          <a:latin typeface="Poppins" panose="00000500000000000000" pitchFamily="2" charset="0"/>
                        </a:rPr>
                        <a:t>EART 2020-3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9/16/2024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$31,353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15205954"/>
                  </a:ext>
                </a:extLst>
              </a:tr>
              <a:tr h="133966">
                <a:tc>
                  <a:txBody>
                    <a:bodyPr/>
                    <a:lstStyle/>
                    <a:p>
                      <a:pPr algn="l" rtl="0" fontAlgn="ctr"/>
                      <a:r>
                        <a:rPr lang="en-US" sz="1000" b="0" i="0" u="none" strike="noStrike">
                          <a:solidFill>
                            <a:srgbClr val="000000"/>
                          </a:solidFill>
                          <a:effectLst/>
                          <a:latin typeface="Poppins" panose="00000500000000000000" pitchFamily="2" charset="0"/>
                        </a:rPr>
                        <a:t>PSNH 2018-1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2.78%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$88,213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366523"/>
                  </a:ext>
                </a:extLst>
              </a:tr>
              <a:tr h="133966">
                <a:tc>
                  <a:txBody>
                    <a:bodyPr/>
                    <a:lstStyle/>
                    <a:p>
                      <a:pPr algn="l"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$103,637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903602055"/>
                  </a:ext>
                </a:extLst>
              </a:tr>
              <a:tr h="133966">
                <a:tc>
                  <a:txBody>
                    <a:bodyPr/>
                    <a:lstStyle/>
                    <a:p>
                      <a:pPr algn="l" rtl="0" fontAlgn="ctr"/>
                      <a:r>
                        <a:rPr lang="en-US" sz="1000" b="0" i="0" u="none" strike="noStrike">
                          <a:solidFill>
                            <a:srgbClr val="000000"/>
                          </a:solidFill>
                          <a:effectLst/>
                          <a:latin typeface="Poppins" panose="00000500000000000000" pitchFamily="2" charset="0"/>
                        </a:rPr>
                        <a:t>PAYABLE</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323594648"/>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2013-CCRE9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3.69%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7/10/2045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$66,103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87237402"/>
                  </a:ext>
                </a:extLst>
              </a:tr>
              <a:tr h="133966">
                <a:tc>
                  <a:txBody>
                    <a:bodyPr/>
                    <a:lstStyle/>
                    <a:p>
                      <a:pPr algn="l" rtl="0" fontAlgn="ctr"/>
                      <a:r>
                        <a:rPr lang="en-US" sz="1000" b="0" i="0" u="none" strike="noStrike">
                          <a:solidFill>
                            <a:srgbClr val="000000"/>
                          </a:solidFill>
                          <a:effectLst/>
                          <a:latin typeface="Poppins" panose="00000500000000000000" pitchFamily="2" charset="0"/>
                        </a:rPr>
                        <a:t>WFCM 2016-LC25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12/17/2059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$39,580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55962324"/>
                  </a:ext>
                </a:extLst>
              </a:tr>
              <a:tr h="133966">
                <a:tc>
                  <a:txBody>
                    <a:bodyPr/>
                    <a:lstStyle/>
                    <a:p>
                      <a:pPr algn="l" rtl="0" fontAlgn="ctr"/>
                      <a:r>
                        <a:rPr lang="en-US" sz="1000" b="0" i="0" u="none" strike="noStrike">
                          <a:solidFill>
                            <a:srgbClr val="000000"/>
                          </a:solidFill>
                          <a:effectLst/>
                          <a:latin typeface="Poppins" panose="00000500000000000000" pitchFamily="2" charset="0"/>
                        </a:rPr>
                        <a:t>WFRBS 2014-C22 A5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9/15/2057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$55,019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39570288"/>
                  </a:ext>
                </a:extLst>
              </a:tr>
              <a:tr h="133966">
                <a:tc>
                  <a:txBody>
                    <a:bodyPr/>
                    <a:lstStyle/>
                    <a:p>
                      <a:pPr algn="l" rtl="0" fontAlgn="ctr"/>
                      <a:r>
                        <a:rPr lang="en-US" sz="1000" b="0" i="0" u="none" strike="noStrike">
                          <a:solidFill>
                            <a:srgbClr val="000000"/>
                          </a:solidFill>
                          <a:effectLst/>
                          <a:latin typeface="Poppins" panose="00000500000000000000" pitchFamily="2" charset="0"/>
                        </a:rPr>
                        <a:t>GSMS 2017-GS8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4.75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11/14/2050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$53,719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02056364"/>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2015-LC23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10/13/2048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$14,234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20636460"/>
                  </a:ext>
                </a:extLst>
              </a:tr>
              <a:tr h="133966">
                <a:tc>
                  <a:txBody>
                    <a:bodyPr/>
                    <a:lstStyle/>
                    <a:p>
                      <a:pPr algn="l" rtl="0" fontAlgn="ctr"/>
                      <a:r>
                        <a:rPr lang="en-US" sz="1000" b="0" i="0" u="none" strike="noStrike">
                          <a:solidFill>
                            <a:srgbClr val="000000"/>
                          </a:solidFill>
                          <a:effectLst/>
                          <a:latin typeface="Poppins" panose="00000500000000000000" pitchFamily="2" charset="0"/>
                        </a:rPr>
                        <a:t>MKT 2020-525M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$26,747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250412470"/>
                  </a:ext>
                </a:extLst>
              </a:tr>
              <a:tr h="133966">
                <a:tc>
                  <a:txBody>
                    <a:bodyPr/>
                    <a:lstStyle/>
                    <a:p>
                      <a:pPr algn="l" rtl="0" fontAlgn="ctr"/>
                      <a:r>
                        <a:rPr lang="en-US" sz="1000" b="0" i="0" u="none" strike="noStrike">
                          <a:solidFill>
                            <a:srgbClr val="000000"/>
                          </a:solidFill>
                          <a:effectLst/>
                          <a:latin typeface="Poppins" panose="00000500000000000000" pitchFamily="2" charset="0"/>
                        </a:rPr>
                        <a:t>BX 22LP2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33958633"/>
                  </a:ext>
                </a:extLst>
              </a:tr>
              <a:tr h="133966">
                <a:tc>
                  <a:txBody>
                    <a:bodyPr/>
                    <a:lstStyle/>
                    <a:p>
                      <a:pPr algn="l" rtl="0" fontAlgn="ctr"/>
                      <a:r>
                        <a:rPr lang="en-US" sz="1000" b="0" i="0" u="none" strike="noStrike">
                          <a:solidFill>
                            <a:srgbClr val="000000"/>
                          </a:solidFill>
                          <a:effectLst/>
                          <a:latin typeface="Poppins" panose="00000500000000000000" pitchFamily="2" charset="0"/>
                        </a:rPr>
                        <a:t>MTN 22LPFL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3/15/2039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$98,128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5543176"/>
                  </a:ext>
                </a:extLst>
              </a:tr>
              <a:tr h="133966">
                <a:tc>
                  <a:txBody>
                    <a:bodyPr/>
                    <a:lstStyle/>
                    <a:p>
                      <a:pPr algn="l" rtl="0" fontAlgn="ctr"/>
                      <a:r>
                        <a:rPr lang="en-US" sz="1000" b="0" i="0" u="none" strike="noStrike">
                          <a:solidFill>
                            <a:srgbClr val="000000"/>
                          </a:solidFill>
                          <a:effectLst/>
                          <a:latin typeface="Poppins" panose="00000500000000000000" pitchFamily="2" charset="0"/>
                        </a:rPr>
                        <a:t>VNDO 2012-6AVE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$100,334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14314611"/>
                  </a:ext>
                </a:extLst>
              </a:tr>
              <a:tr h="133966">
                <a:tc>
                  <a:txBody>
                    <a:bodyPr/>
                    <a:lstStyle/>
                    <a:p>
                      <a:pPr algn="l" rtl="0" fontAlgn="ctr"/>
                      <a:r>
                        <a:rPr lang="en-US" sz="1000" b="0" i="0" u="none" strike="noStrike">
                          <a:solidFill>
                            <a:srgbClr val="000000"/>
                          </a:solidFill>
                          <a:effectLst/>
                          <a:latin typeface="Poppins" panose="00000500000000000000" pitchFamily="2" charset="0"/>
                        </a:rPr>
                        <a:t>BAMLL 2012-PARK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12/10/2030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$100,246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15199531"/>
                  </a:ext>
                </a:extLst>
              </a:tr>
            </a:tbl>
          </a:graphicData>
        </a:graphic>
      </p:graphicFrame>
      <p:sp>
        <p:nvSpPr>
          <p:cNvPr id="9" name="Line 309">
            <a:extLst>
              <a:ext uri="{FF2B5EF4-FFF2-40B4-BE49-F238E27FC236}">
                <a16:creationId xmlns:a16="http://schemas.microsoft.com/office/drawing/2014/main" id="{B30F1905-0025-B3C4-A983-80DBFF15FC33}"/>
              </a:ext>
            </a:extLst>
          </p:cNvPr>
          <p:cNvSpPr>
            <a:spLocks noChangeShapeType="1"/>
          </p:cNvSpPr>
          <p:nvPr/>
        </p:nvSpPr>
        <p:spPr bwMode="auto">
          <a:xfrm>
            <a:off x="371461" y="6584306"/>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6" name="Slide Number Placeholder 1">
            <a:extLst>
              <a:ext uri="{FF2B5EF4-FFF2-40B4-BE49-F238E27FC236}">
                <a16:creationId xmlns:a16="http://schemas.microsoft.com/office/drawing/2014/main" id="{0FEC4E49-8846-97F5-4CD9-C04AB6DF0583}"/>
              </a:ext>
            </a:extLst>
          </p:cNvPr>
          <p:cNvSpPr txBox="1">
            <a:spLocks/>
          </p:cNvSpPr>
          <p:nvPr/>
        </p:nvSpPr>
        <p:spPr>
          <a:xfrm>
            <a:off x="8699099" y="6582055"/>
            <a:ext cx="514350" cy="275945"/>
          </a:xfrm>
          <a:prstGeom prst="rect">
            <a:avLst/>
          </a:prstGeom>
        </p:spPr>
        <p:txBody>
          <a:bodyPr/>
          <a:lstStyle>
            <a:defPPr>
              <a:defRPr lang="en-US"/>
            </a:defPPr>
            <a:lvl1pPr marL="0" algn="l" defTabSz="457200" rtl="0" eaLnBrk="1" latinLnBrk="0" hangingPunct="1">
              <a:defRPr sz="800" kern="1200">
                <a:solidFill>
                  <a:schemeClr val="tx1"/>
                </a:solidFill>
                <a:latin typeface="Poppins" panose="00000500000000000000" pitchFamily="2" charset="0"/>
                <a:ea typeface="+mn-ea"/>
                <a:cs typeface="Poppins" panose="00000500000000000000"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806867" fontAlgn="base">
              <a:spcBef>
                <a:spcPct val="0"/>
              </a:spcBef>
              <a:spcAft>
                <a:spcPct val="0"/>
              </a:spcAft>
              <a:defRPr/>
            </a:pPr>
            <a:fld id="{1F3AF4E7-7E42-4609-9D36-1FCB1339153A}" type="slidenum">
              <a:rPr lang="en-US" sz="882" smtClean="0">
                <a:solidFill>
                  <a:srgbClr val="000000"/>
                </a:solidFill>
              </a:rPr>
              <a:pPr defTabSz="806867" fontAlgn="base">
                <a:spcBef>
                  <a:spcPct val="0"/>
                </a:spcBef>
                <a:spcAft>
                  <a:spcPct val="0"/>
                </a:spcAft>
                <a:defRPr/>
              </a:pPr>
              <a:t>30</a:t>
            </a:fld>
            <a:endParaRPr lang="en-US" sz="882">
              <a:solidFill>
                <a:srgbClr val="000000"/>
              </a:solidFill>
            </a:endParaRPr>
          </a:p>
        </p:txBody>
      </p:sp>
      <p:graphicFrame>
        <p:nvGraphicFramePr>
          <p:cNvPr id="10" name="Table 9">
            <a:extLst>
              <a:ext uri="{FF2B5EF4-FFF2-40B4-BE49-F238E27FC236}">
                <a16:creationId xmlns:a16="http://schemas.microsoft.com/office/drawing/2014/main" id="{FDB1F494-CEB7-F3AB-4565-22E4034FB570}"/>
              </a:ext>
            </a:extLst>
          </p:cNvPr>
          <p:cNvGraphicFramePr>
            <a:graphicFrameLocks noGrp="1"/>
          </p:cNvGraphicFramePr>
          <p:nvPr>
            <p:extLst>
              <p:ext uri="{D42A27DB-BD31-4B8C-83A1-F6EECF244321}">
                <p14:modId xmlns:p14="http://schemas.microsoft.com/office/powerpoint/2010/main" val="594638656"/>
              </p:ext>
            </p:extLst>
          </p:nvPr>
        </p:nvGraphicFramePr>
        <p:xfrm>
          <a:off x="366583" y="1238443"/>
          <a:ext cx="8412481" cy="5113931"/>
        </p:xfrm>
        <a:graphic>
          <a:graphicData uri="http://schemas.openxmlformats.org/drawingml/2006/table">
            <a:tbl>
              <a:tblPr/>
              <a:tblGrid>
                <a:gridCol w="2600665">
                  <a:extLst>
                    <a:ext uri="{9D8B030D-6E8A-4147-A177-3AD203B41FA5}">
                      <a16:colId xmlns:a16="http://schemas.microsoft.com/office/drawing/2014/main" val="1002834257"/>
                    </a:ext>
                  </a:extLst>
                </a:gridCol>
                <a:gridCol w="1131601">
                  <a:extLst>
                    <a:ext uri="{9D8B030D-6E8A-4147-A177-3AD203B41FA5}">
                      <a16:colId xmlns:a16="http://schemas.microsoft.com/office/drawing/2014/main" val="3529631700"/>
                    </a:ext>
                  </a:extLst>
                </a:gridCol>
                <a:gridCol w="911663">
                  <a:extLst>
                    <a:ext uri="{9D8B030D-6E8A-4147-A177-3AD203B41FA5}">
                      <a16:colId xmlns:a16="http://schemas.microsoft.com/office/drawing/2014/main" val="2630362925"/>
                    </a:ext>
                  </a:extLst>
                </a:gridCol>
                <a:gridCol w="505585">
                  <a:extLst>
                    <a:ext uri="{9D8B030D-6E8A-4147-A177-3AD203B41FA5}">
                      <a16:colId xmlns:a16="http://schemas.microsoft.com/office/drawing/2014/main" val="1988513568"/>
                    </a:ext>
                  </a:extLst>
                </a:gridCol>
                <a:gridCol w="604253">
                  <a:extLst>
                    <a:ext uri="{9D8B030D-6E8A-4147-A177-3AD203B41FA5}">
                      <a16:colId xmlns:a16="http://schemas.microsoft.com/office/drawing/2014/main" val="2164300373"/>
                    </a:ext>
                  </a:extLst>
                </a:gridCol>
                <a:gridCol w="944832">
                  <a:extLst>
                    <a:ext uri="{9D8B030D-6E8A-4147-A177-3AD203B41FA5}">
                      <a16:colId xmlns:a16="http://schemas.microsoft.com/office/drawing/2014/main" val="2411149920"/>
                    </a:ext>
                  </a:extLst>
                </a:gridCol>
                <a:gridCol w="856941">
                  <a:extLst>
                    <a:ext uri="{9D8B030D-6E8A-4147-A177-3AD203B41FA5}">
                      <a16:colId xmlns:a16="http://schemas.microsoft.com/office/drawing/2014/main" val="2814648439"/>
                    </a:ext>
                  </a:extLst>
                </a:gridCol>
                <a:gridCol w="856941">
                  <a:extLst>
                    <a:ext uri="{9D8B030D-6E8A-4147-A177-3AD203B41FA5}">
                      <a16:colId xmlns:a16="http://schemas.microsoft.com/office/drawing/2014/main" val="3941153654"/>
                    </a:ext>
                  </a:extLst>
                </a:gridCol>
              </a:tblGrid>
              <a:tr h="373931">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RATING</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MATURITY</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extLst>
                  <a:ext uri="{0D108BD9-81ED-4DB2-BD59-A6C34878D82A}">
                    <a16:rowId xmlns:a16="http://schemas.microsoft.com/office/drawing/2014/main" val="716417198"/>
                  </a:ext>
                </a:extLst>
              </a:tr>
              <a:tr h="189600">
                <a:tc>
                  <a:txBody>
                    <a:bodyPr/>
                    <a:lstStyle/>
                    <a:p>
                      <a:pPr algn="l" rtl="0" fontAlgn="ctr"/>
                      <a:r>
                        <a:rPr lang="en-US" sz="1050" b="0" i="0" u="none" strike="noStrike">
                          <a:solidFill>
                            <a:srgbClr val="000000"/>
                          </a:solidFill>
                          <a:effectLst/>
                          <a:latin typeface="Poppins" panose="00000500000000000000" pitchFamily="2" charset="0"/>
                        </a:rPr>
                        <a:t>BANK OF AMERICA CORP</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FINANCIALS</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5.33</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5.24%</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10/24/2031</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$83,900</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144321"/>
                  </a:ext>
                </a:extLst>
              </a:tr>
              <a:tr h="189600">
                <a:tc>
                  <a:txBody>
                    <a:bodyPr/>
                    <a:lstStyle/>
                    <a:p>
                      <a:pPr algn="l" rtl="0" fontAlgn="ctr"/>
                      <a:r>
                        <a:rPr lang="en-US" sz="1050" b="0" i="0" u="none" strike="noStrike">
                          <a:solidFill>
                            <a:srgbClr val="000000"/>
                          </a:solidFill>
                          <a:effectLst/>
                          <a:latin typeface="Poppins" panose="00000500000000000000" pitchFamily="2" charset="0"/>
                        </a:rPr>
                        <a:t>MONTGOMERY CNTY MD LTD OBLIG</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GOVT'S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3.62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11/1/2028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$117,520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4401341"/>
                  </a:ext>
                </a:extLst>
              </a:tr>
              <a:tr h="189600">
                <a:tc>
                  <a:txBody>
                    <a:bodyPr/>
                    <a:lstStyle/>
                    <a:p>
                      <a:pPr algn="l" rtl="0" fontAlgn="ctr"/>
                      <a:r>
                        <a:rPr lang="en-US" sz="1050" b="0" i="0" u="none" strike="noStrike">
                          <a:solidFill>
                            <a:srgbClr val="000000"/>
                          </a:solidFill>
                          <a:effectLst/>
                          <a:latin typeface="Poppins" panose="00000500000000000000" pitchFamily="2" charset="0"/>
                        </a:rPr>
                        <a:t>LOUISIANA LOC GOVT ENVIRONMENT</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GOVT'S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8/1/2028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$100,745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256628083"/>
                  </a:ext>
                </a:extLst>
              </a:tr>
              <a:tr h="189600">
                <a:tc>
                  <a:txBody>
                    <a:bodyPr/>
                    <a:lstStyle/>
                    <a:p>
                      <a:pPr algn="l" rtl="0" fontAlgn="ctr"/>
                      <a:r>
                        <a:rPr lang="en-US" sz="1050" b="0" i="0" u="none" strike="noStrike">
                          <a:solidFill>
                            <a:srgbClr val="000000"/>
                          </a:solidFill>
                          <a:effectLst/>
                          <a:latin typeface="Poppins" panose="00000500000000000000" pitchFamily="2" charset="0"/>
                        </a:rPr>
                        <a:t>CANADIAN PACIFIC RAILWAY CO</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$231,883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94508816"/>
                  </a:ext>
                </a:extLst>
              </a:tr>
              <a:tr h="189600">
                <a:tc>
                  <a:txBody>
                    <a:bodyPr/>
                    <a:lstStyle/>
                    <a:p>
                      <a:pPr algn="l" rtl="0" fontAlgn="ctr"/>
                      <a:r>
                        <a:rPr lang="en-US" sz="1050" b="0" i="0" u="none" strike="noStrike">
                          <a:solidFill>
                            <a:srgbClr val="000000"/>
                          </a:solidFill>
                          <a:effectLst/>
                          <a:latin typeface="Poppins" panose="00000500000000000000" pitchFamily="2" charset="0"/>
                        </a:rPr>
                        <a:t>AIR CANADA PASS THROUGH CERTIF</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3.55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5.43%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$162,863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89669971"/>
                  </a:ext>
                </a:extLst>
              </a:tr>
              <a:tr h="189600">
                <a:tc>
                  <a:txBody>
                    <a:bodyPr/>
                    <a:lstStyle/>
                    <a:p>
                      <a:pPr algn="l" rtl="0" fontAlgn="ctr"/>
                      <a:r>
                        <a:rPr lang="en-US" sz="1050" b="0" i="0" u="none" strike="noStrike">
                          <a:solidFill>
                            <a:srgbClr val="000000"/>
                          </a:solidFill>
                          <a:effectLst/>
                          <a:latin typeface="Poppins" panose="00000500000000000000" pitchFamily="2" charset="0"/>
                        </a:rPr>
                        <a:t>PFIZER INVESTMENT ENTERPRISES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6.75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5/19/2033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$293,167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034394001"/>
                  </a:ext>
                </a:extLst>
              </a:tr>
              <a:tr h="189600">
                <a:tc>
                  <a:txBody>
                    <a:bodyPr/>
                    <a:lstStyle/>
                    <a:p>
                      <a:pPr algn="l" rtl="0" fontAlgn="ctr"/>
                      <a:r>
                        <a:rPr lang="en-US" sz="1050" b="0" i="0" u="none" strike="noStrike">
                          <a:solidFill>
                            <a:srgbClr val="000000"/>
                          </a:solidFill>
                          <a:effectLst/>
                          <a:latin typeface="Poppins" panose="00000500000000000000" pitchFamily="2" charset="0"/>
                        </a:rPr>
                        <a:t>APPLE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$454,547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49627683"/>
                  </a:ext>
                </a:extLst>
              </a:tr>
              <a:tr h="189600">
                <a:tc>
                  <a:txBody>
                    <a:bodyPr/>
                    <a:lstStyle/>
                    <a:p>
                      <a:pPr algn="l" rtl="0" fontAlgn="ctr"/>
                      <a:r>
                        <a:rPr lang="en-US" sz="1050" b="0" i="0" u="none" strike="noStrike">
                          <a:solidFill>
                            <a:srgbClr val="000000"/>
                          </a:solidFill>
                          <a:effectLst/>
                          <a:latin typeface="Poppins" panose="00000500000000000000" pitchFamily="2" charset="0"/>
                        </a:rPr>
                        <a:t>COSTCO WHOLESALE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4.42%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6/20/2027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$418,507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91989528"/>
                  </a:ext>
                </a:extLst>
              </a:tr>
              <a:tr h="189600">
                <a:tc>
                  <a:txBody>
                    <a:bodyPr/>
                    <a:lstStyle/>
                    <a:p>
                      <a:pPr algn="l" rtl="0" fontAlgn="ctr"/>
                      <a:r>
                        <a:rPr lang="en-US" sz="1050" b="0" i="0" u="none" strike="noStrike">
                          <a:solidFill>
                            <a:srgbClr val="000000"/>
                          </a:solidFill>
                          <a:effectLst/>
                          <a:latin typeface="Poppins" panose="00000500000000000000" pitchFamily="2" charset="0"/>
                        </a:rPr>
                        <a:t>CHEVRON USA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8/12/2027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$459,522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900703067"/>
                  </a:ext>
                </a:extLst>
              </a:tr>
              <a:tr h="189600">
                <a:tc>
                  <a:txBody>
                    <a:bodyPr/>
                    <a:lstStyle/>
                    <a:p>
                      <a:pPr algn="l" rtl="0" fontAlgn="ctr"/>
                      <a:r>
                        <a:rPr lang="en-US" sz="1050" b="0" i="0" u="none" strike="noStrike">
                          <a:solidFill>
                            <a:srgbClr val="000000"/>
                          </a:solidFill>
                          <a:effectLst/>
                          <a:latin typeface="Poppins" panose="00000500000000000000" pitchFamily="2" charset="0"/>
                        </a:rPr>
                        <a:t>CVS HEALTH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8/21/2027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$418,966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231493323"/>
                  </a:ext>
                </a:extLst>
              </a:tr>
              <a:tr h="189600">
                <a:tc>
                  <a:txBody>
                    <a:bodyPr/>
                    <a:lstStyle/>
                    <a:p>
                      <a:pPr algn="l" rtl="0" fontAlgn="ctr"/>
                      <a:r>
                        <a:rPr lang="en-US" sz="1050" b="0" i="0" u="none" strike="noStrike">
                          <a:solidFill>
                            <a:srgbClr val="000000"/>
                          </a:solidFill>
                          <a:effectLst/>
                          <a:latin typeface="Poppins" panose="00000500000000000000" pitchFamily="2" charset="0"/>
                        </a:rPr>
                        <a:t>TOYOTA MOTOR CREDIT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0.99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4.49%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1/9/2026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$483,662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52557174"/>
                  </a:ext>
                </a:extLst>
              </a:tr>
              <a:tr h="189600">
                <a:tc>
                  <a:txBody>
                    <a:bodyPr/>
                    <a:lstStyle/>
                    <a:p>
                      <a:pPr algn="l" rtl="0" fontAlgn="ctr"/>
                      <a:r>
                        <a:rPr lang="en-US" sz="1050" b="0" i="0" u="none" strike="noStrike">
                          <a:solidFill>
                            <a:srgbClr val="000000"/>
                          </a:solidFill>
                          <a:effectLst/>
                          <a:latin typeface="Poppins" panose="00000500000000000000" pitchFamily="2" charset="0"/>
                        </a:rPr>
                        <a:t>WASTE MANAGEMENT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$413,205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039458"/>
                  </a:ext>
                </a:extLst>
              </a:tr>
              <a:tr h="189600">
                <a:tc>
                  <a:txBody>
                    <a:bodyPr/>
                    <a:lstStyle/>
                    <a:p>
                      <a:pPr algn="l" rtl="0" fontAlgn="ctr"/>
                      <a:r>
                        <a:rPr lang="en-US" sz="1050" b="0" i="0" u="none" strike="noStrike">
                          <a:solidFill>
                            <a:srgbClr val="000000"/>
                          </a:solidFill>
                          <a:effectLst/>
                          <a:latin typeface="Poppins" panose="00000500000000000000" pitchFamily="2" charset="0"/>
                        </a:rPr>
                        <a:t>ALPHABET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2.54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$367,126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75356357"/>
                  </a:ext>
                </a:extLst>
              </a:tr>
              <a:tr h="189600">
                <a:tc>
                  <a:txBody>
                    <a:bodyPr/>
                    <a:lstStyle/>
                    <a:p>
                      <a:pPr algn="l" rtl="0" fontAlgn="ctr"/>
                      <a:r>
                        <a:rPr lang="en-US" sz="1050" b="0" i="0" u="none" strike="noStrike">
                          <a:solidFill>
                            <a:srgbClr val="000000"/>
                          </a:solidFill>
                          <a:effectLst/>
                          <a:latin typeface="Poppins" panose="00000500000000000000" pitchFamily="2" charset="0"/>
                        </a:rPr>
                        <a:t>HOME DEPOT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$179,039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27295316"/>
                  </a:ext>
                </a:extLst>
              </a:tr>
              <a:tr h="189600">
                <a:tc>
                  <a:txBody>
                    <a:bodyPr/>
                    <a:lstStyle/>
                    <a:p>
                      <a:pPr algn="l" rtl="0" fontAlgn="ctr"/>
                      <a:r>
                        <a:rPr lang="en-US" sz="1050" b="0" i="0" u="none" strike="noStrike">
                          <a:solidFill>
                            <a:srgbClr val="000000"/>
                          </a:solidFill>
                          <a:effectLst/>
                          <a:latin typeface="Poppins" panose="00000500000000000000" pitchFamily="2" charset="0"/>
                        </a:rPr>
                        <a:t>AT&amp;T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2.93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$357,317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525905742"/>
                  </a:ext>
                </a:extLst>
              </a:tr>
              <a:tr h="189600">
                <a:tc>
                  <a:txBody>
                    <a:bodyPr/>
                    <a:lstStyle/>
                    <a:p>
                      <a:pPr algn="l" rtl="0" fontAlgn="ctr"/>
                      <a:r>
                        <a:rPr lang="en-US" sz="1050" b="0" i="0" u="none" strike="noStrike">
                          <a:solidFill>
                            <a:srgbClr val="000000"/>
                          </a:solidFill>
                          <a:effectLst/>
                          <a:latin typeface="Poppins" panose="00000500000000000000" pitchFamily="2" charset="0"/>
                        </a:rPr>
                        <a:t>BAT CAPITAL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3/25/2028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$554,836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419002755"/>
                  </a:ext>
                </a:extLst>
              </a:tr>
              <a:tr h="189600">
                <a:tc>
                  <a:txBody>
                    <a:bodyPr/>
                    <a:lstStyle/>
                    <a:p>
                      <a:pPr algn="l" rtl="0" fontAlgn="ctr"/>
                      <a:r>
                        <a:rPr lang="en-US" sz="1050" b="0" i="0" u="none" strike="noStrike">
                          <a:solidFill>
                            <a:srgbClr val="000000"/>
                          </a:solidFill>
                          <a:effectLst/>
                          <a:latin typeface="Poppins" panose="00000500000000000000" pitchFamily="2" charset="0"/>
                        </a:rPr>
                        <a:t>VISA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4.42%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$474,799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79523205"/>
                  </a:ext>
                </a:extLst>
              </a:tr>
              <a:tr h="189600">
                <a:tc>
                  <a:txBody>
                    <a:bodyPr/>
                    <a:lstStyle/>
                    <a:p>
                      <a:pPr algn="l" rtl="0" fontAlgn="ctr"/>
                      <a:r>
                        <a:rPr lang="en-US" sz="1050" b="0" i="0" u="none" strike="noStrike">
                          <a:solidFill>
                            <a:srgbClr val="000000"/>
                          </a:solidFill>
                          <a:effectLst/>
                          <a:latin typeface="Poppins" panose="00000500000000000000" pitchFamily="2" charset="0"/>
                        </a:rPr>
                        <a:t>REPUBLIC SERVICES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5.68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$396,013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04987287"/>
                  </a:ext>
                </a:extLst>
              </a:tr>
              <a:tr h="189600">
                <a:tc>
                  <a:txBody>
                    <a:bodyPr/>
                    <a:lstStyle/>
                    <a:p>
                      <a:pPr algn="l" rtl="0" fontAlgn="ctr"/>
                      <a:r>
                        <a:rPr lang="en-US" sz="1050" b="0" i="0" u="none" strike="noStrike">
                          <a:solidFill>
                            <a:srgbClr val="000000"/>
                          </a:solidFill>
                          <a:effectLst/>
                          <a:latin typeface="Poppins" panose="00000500000000000000" pitchFamily="2" charset="0"/>
                        </a:rPr>
                        <a:t>COMCAST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5.67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$385,204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411549475"/>
                  </a:ext>
                </a:extLst>
              </a:tr>
              <a:tr h="189600">
                <a:tc>
                  <a:txBody>
                    <a:bodyPr/>
                    <a:lstStyle/>
                    <a:p>
                      <a:pPr algn="l" rtl="0" fontAlgn="ctr"/>
                      <a:r>
                        <a:rPr lang="en-US" sz="1050" b="0" i="0" u="none" strike="noStrike">
                          <a:solidFill>
                            <a:srgbClr val="000000"/>
                          </a:solidFill>
                          <a:effectLst/>
                          <a:latin typeface="Poppins" panose="00000500000000000000" pitchFamily="2" charset="0"/>
                        </a:rPr>
                        <a:t>VERIZON COMMUNICATIONS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9/18/2030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$283,493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680559872"/>
                  </a:ext>
                </a:extLst>
              </a:tr>
              <a:tr h="189600">
                <a:tc>
                  <a:txBody>
                    <a:bodyPr/>
                    <a:lstStyle/>
                    <a:p>
                      <a:pPr algn="l" rtl="0" fontAlgn="ctr"/>
                      <a:r>
                        <a:rPr lang="en-US" sz="1050" b="0" i="0" u="none" strike="noStrike">
                          <a:solidFill>
                            <a:srgbClr val="000000"/>
                          </a:solidFill>
                          <a:effectLst/>
                          <a:latin typeface="Poppins" panose="00000500000000000000" pitchFamily="2" charset="0"/>
                        </a:rPr>
                        <a:t>BAKER HUGHES HOLDINGS LLC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12/15/2026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$476,713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67212572"/>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AIRLINES 2019-2 PASS TH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5/1/2032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$121,600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155117640"/>
                  </a:ext>
                </a:extLst>
              </a:tr>
              <a:tr h="189600">
                <a:tc>
                  <a:txBody>
                    <a:bodyPr/>
                    <a:lstStyle/>
                    <a:p>
                      <a:pPr algn="l" rtl="0" fontAlgn="ctr"/>
                      <a:r>
                        <a:rPr lang="en-US" sz="1050" b="0" i="0" u="none" strike="noStrike">
                          <a:solidFill>
                            <a:srgbClr val="000000"/>
                          </a:solidFill>
                          <a:effectLst/>
                          <a:latin typeface="Poppins" panose="00000500000000000000" pitchFamily="2" charset="0"/>
                        </a:rPr>
                        <a:t>PHILIP MORRIS INTERNATIONAL IN</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5.40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11/1/2030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$502,925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9048016"/>
                  </a:ext>
                </a:extLst>
              </a:tr>
              <a:tr h="189600">
                <a:tc>
                  <a:txBody>
                    <a:bodyPr/>
                    <a:lstStyle/>
                    <a:p>
                      <a:pPr algn="l" rtl="0" fontAlgn="ctr"/>
                      <a:r>
                        <a:rPr lang="en-US" sz="1050" b="0" i="0" u="none" strike="noStrike">
                          <a:solidFill>
                            <a:srgbClr val="000000"/>
                          </a:solidFill>
                          <a:effectLst/>
                          <a:latin typeface="Poppins" panose="00000500000000000000" pitchFamily="2" charset="0"/>
                        </a:rPr>
                        <a:t>BRITISH AIRWAYS PASS THROUGH 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3/15/2035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$194,410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02871724"/>
                  </a:ext>
                </a:extLst>
              </a:tr>
              <a:tr h="189600">
                <a:tc>
                  <a:txBody>
                    <a:bodyPr/>
                    <a:lstStyle/>
                    <a:p>
                      <a:pPr algn="l" rtl="0" fontAlgn="ctr"/>
                      <a:r>
                        <a:rPr lang="en-US" sz="1050" b="0" i="0" u="none" strike="noStrike">
                          <a:solidFill>
                            <a:srgbClr val="000000"/>
                          </a:solidFill>
                          <a:effectLst/>
                          <a:latin typeface="Poppins" panose="00000500000000000000" pitchFamily="2" charset="0"/>
                        </a:rPr>
                        <a:t>TEXAS INSTRUMENTS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5/4/2030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$386,410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23173614"/>
                  </a:ext>
                </a:extLst>
              </a:tr>
            </a:tbl>
          </a:graphicData>
        </a:graphic>
      </p:graphicFrame>
      <p:sp>
        <p:nvSpPr>
          <p:cNvPr id="5" name="Title 1">
            <a:extLst>
              <a:ext uri="{FF2B5EF4-FFF2-40B4-BE49-F238E27FC236}">
                <a16:creationId xmlns:a16="http://schemas.microsoft.com/office/drawing/2014/main" id="{D5C0E9D2-149A-EBA2-FC98-3A1E5D917BA6}"/>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SMA holdings </a:t>
            </a:r>
          </a:p>
        </p:txBody>
      </p:sp>
      <p:sp>
        <p:nvSpPr>
          <p:cNvPr id="2" name="Rectangle 1">
            <a:extLst>
              <a:ext uri="{FF2B5EF4-FFF2-40B4-BE49-F238E27FC236}">
                <a16:creationId xmlns:a16="http://schemas.microsoft.com/office/drawing/2014/main" id="{F7AA048C-A1E1-D473-62C5-C93291D938E9}"/>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50000"/>
              </a:spcBef>
              <a:spcAft>
                <a:spcPct val="0"/>
              </a:spcAft>
              <a:buClrTx/>
              <a:buSzTx/>
              <a:buFontTx/>
              <a:buNone/>
              <a:tabLst/>
            </a:pPr>
            <a:r>
              <a:rPr lang="en-US" sz="1600">
                <a:solidFill>
                  <a:schemeClr val="bg1"/>
                </a:solidFill>
                <a:latin typeface="Poppins Light"/>
                <a:cs typeface="Poppins Medium" panose="00000600000000000000" pitchFamily="2" charset="0"/>
              </a:rPr>
              <a:t>PORTFOLIO</a:t>
            </a:r>
            <a:r>
              <a:rPr kumimoji="0" lang="en-US" sz="1600" i="0" u="none" strike="noStrike" cap="none" normalizeH="0" baseline="0">
                <a:ln>
                  <a:noFill/>
                </a:ln>
                <a:solidFill>
                  <a:schemeClr val="bg1"/>
                </a:solidFill>
                <a:effectLst/>
                <a:latin typeface="Poppins Light"/>
                <a:cs typeface="Poppins Medium" panose="00000600000000000000" pitchFamily="2" charset="0"/>
              </a:rPr>
              <a:t> HOLDINGS </a:t>
            </a:r>
            <a:r>
              <a:rPr lang="en-US" sz="1600">
                <a:solidFill>
                  <a:schemeClr val="bg1"/>
                </a:solidFill>
                <a:latin typeface="Poppins Light"/>
                <a:cs typeface="Poppins Medium" panose="00000600000000000000" pitchFamily="2" charset="0"/>
              </a:rPr>
              <a:t>| </a:t>
            </a:r>
            <a:r>
              <a:rPr lang="en-US" sz="1600">
                <a:solidFill>
                  <a:schemeClr val="bg1"/>
                </a:solidFill>
                <a:latin typeface="Poppins Medium"/>
                <a:cs typeface="Poppins Light" panose="00000400000000000000" pitchFamily="2" charset="0"/>
              </a:rPr>
              <a:t>12-31-2024</a:t>
            </a:r>
            <a:endParaRPr lang="en-US" sz="1600" b="0" i="0" u="none" strike="noStrike" cap="none" normalizeH="0" baseline="0">
              <a:ln>
                <a:noFill/>
              </a:ln>
              <a:solidFill>
                <a:schemeClr val="bg1"/>
              </a:solidFill>
              <a:effectLst/>
              <a:latin typeface="Poppins Medium"/>
              <a:cs typeface="Poppins Light" panose="00000400000000000000" pitchFamily="2" charset="0"/>
            </a:endParaRPr>
          </a:p>
        </p:txBody>
      </p:sp>
    </p:spTree>
    <p:extLst>
      <p:ext uri="{BB962C8B-B14F-4D97-AF65-F5344CB8AC3E}">
        <p14:creationId xmlns:p14="http://schemas.microsoft.com/office/powerpoint/2010/main" val="2396665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hidden="1">
            <a:extLst>
              <a:ext uri="{FF2B5EF4-FFF2-40B4-BE49-F238E27FC236}">
                <a16:creationId xmlns:a16="http://schemas.microsoft.com/office/drawing/2014/main" id="{42EEB35B-E44D-4A02-A22D-BD8FB6900C5E}"/>
              </a:ext>
            </a:extLst>
          </p:cNvPr>
          <p:cNvGraphicFramePr>
            <a:graphicFrameLocks noGrp="1"/>
          </p:cNvGraphicFramePr>
          <p:nvPr>
            <p:extLst>
              <p:ext uri="{D42A27DB-BD31-4B8C-83A1-F6EECF244321}">
                <p14:modId xmlns:p14="http://schemas.microsoft.com/office/powerpoint/2010/main" val="1890270115"/>
              </p:ext>
            </p:extLst>
          </p:nvPr>
        </p:nvGraphicFramePr>
        <p:xfrm>
          <a:off x="381000" y="1220876"/>
          <a:ext cx="8398061" cy="5393384"/>
        </p:xfrm>
        <a:graphic>
          <a:graphicData uri="http://schemas.openxmlformats.org/drawingml/2006/table">
            <a:tbl>
              <a:tblPr bandRow="1">
                <a:tableStyleId>{93296810-A885-4BE3-A3E7-6D5BEEA58F35}</a:tableStyleId>
              </a:tblPr>
              <a:tblGrid>
                <a:gridCol w="2182370">
                  <a:extLst>
                    <a:ext uri="{9D8B030D-6E8A-4147-A177-3AD203B41FA5}">
                      <a16:colId xmlns:a16="http://schemas.microsoft.com/office/drawing/2014/main" val="20000"/>
                    </a:ext>
                  </a:extLst>
                </a:gridCol>
                <a:gridCol w="882405">
                  <a:extLst>
                    <a:ext uri="{9D8B030D-6E8A-4147-A177-3AD203B41FA5}">
                      <a16:colId xmlns:a16="http://schemas.microsoft.com/office/drawing/2014/main" val="3585380606"/>
                    </a:ext>
                  </a:extLst>
                </a:gridCol>
                <a:gridCol w="908352">
                  <a:extLst>
                    <a:ext uri="{9D8B030D-6E8A-4147-A177-3AD203B41FA5}">
                      <a16:colId xmlns:a16="http://schemas.microsoft.com/office/drawing/2014/main" val="1257159576"/>
                    </a:ext>
                  </a:extLst>
                </a:gridCol>
                <a:gridCol w="628339">
                  <a:extLst>
                    <a:ext uri="{9D8B030D-6E8A-4147-A177-3AD203B41FA5}">
                      <a16:colId xmlns:a16="http://schemas.microsoft.com/office/drawing/2014/main" val="481879323"/>
                    </a:ext>
                  </a:extLst>
                </a:gridCol>
                <a:gridCol w="846834">
                  <a:extLst>
                    <a:ext uri="{9D8B030D-6E8A-4147-A177-3AD203B41FA5}">
                      <a16:colId xmlns:a16="http://schemas.microsoft.com/office/drawing/2014/main" val="2810924609"/>
                    </a:ext>
                  </a:extLst>
                </a:gridCol>
                <a:gridCol w="736600">
                  <a:extLst>
                    <a:ext uri="{9D8B030D-6E8A-4147-A177-3AD203B41FA5}">
                      <a16:colId xmlns:a16="http://schemas.microsoft.com/office/drawing/2014/main" val="3703170606"/>
                    </a:ext>
                  </a:extLst>
                </a:gridCol>
                <a:gridCol w="736600">
                  <a:extLst>
                    <a:ext uri="{9D8B030D-6E8A-4147-A177-3AD203B41FA5}">
                      <a16:colId xmlns:a16="http://schemas.microsoft.com/office/drawing/2014/main" val="4265513678"/>
                    </a:ext>
                  </a:extLst>
                </a:gridCol>
                <a:gridCol w="800100">
                  <a:extLst>
                    <a:ext uri="{9D8B030D-6E8A-4147-A177-3AD203B41FA5}">
                      <a16:colId xmlns:a16="http://schemas.microsoft.com/office/drawing/2014/main" val="22118574"/>
                    </a:ext>
                  </a:extLst>
                </a:gridCol>
                <a:gridCol w="676461">
                  <a:extLst>
                    <a:ext uri="{9D8B030D-6E8A-4147-A177-3AD203B41FA5}">
                      <a16:colId xmlns:a16="http://schemas.microsoft.com/office/drawing/2014/main" val="20001"/>
                    </a:ext>
                  </a:extLst>
                </a:gridCol>
              </a:tblGrid>
              <a:tr h="390510">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Issuer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Sector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Duration</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Yield</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S&amp;p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Moody’s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Maturity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1"/>
                  </a:ext>
                </a:extLst>
              </a:tr>
              <a:tr h="213595">
                <a:tc>
                  <a:txBody>
                    <a:bodyPr/>
                    <a:lstStyle/>
                    <a:p>
                      <a:pPr algn="l"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10/31/2019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$286,213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7263394"/>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1.4709013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11/19/2019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$749,428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6.24%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5558472"/>
                  </a:ext>
                </a:extLst>
              </a:tr>
              <a:tr h="213595">
                <a:tc>
                  <a:txBody>
                    <a:bodyPr/>
                    <a:lstStyle/>
                    <a:p>
                      <a:pPr algn="l" rtl="0" fontAlgn="ctr"/>
                      <a:r>
                        <a:rPr lang="en-US" sz="900" b="0" i="0" u="none" strike="noStrike">
                          <a:solidFill>
                            <a:srgbClr val="000000"/>
                          </a:solidFill>
                          <a:effectLst/>
                          <a:latin typeface="Poppins" panose="00000500000000000000" pitchFamily="2" charset="0"/>
                        </a:rPr>
                        <a:t>J M SMUCKER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9.70%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2.116467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12/6/2019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$40,357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8122526"/>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17.21%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1.5481337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$648,268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5660"/>
                  </a:ext>
                </a:extLst>
              </a:tr>
              <a:tr h="213595">
                <a:tc>
                  <a:txBody>
                    <a:bodyPr/>
                    <a:lstStyle/>
                    <a:p>
                      <a:pPr algn="l" rtl="0" fontAlgn="ctr"/>
                      <a:r>
                        <a:rPr lang="en-US" sz="900" b="0" i="0" u="none" strike="noStrike">
                          <a:solidFill>
                            <a:srgbClr val="000000"/>
                          </a:solidFill>
                          <a:effectLst/>
                          <a:latin typeface="Poppins" panose="00000500000000000000" pitchFamily="2" charset="0"/>
                        </a:rPr>
                        <a:t>JACKSON NAT’L LIFE GLBL FUNDING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1.8956037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$45,283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1.535244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$896,568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3595">
                <a:tc>
                  <a:txBody>
                    <a:bodyPr/>
                    <a:lstStyle/>
                    <a:p>
                      <a:pPr algn="l" rtl="0" fontAlgn="ctr"/>
                      <a:r>
                        <a:rPr lang="en-US" sz="900" b="0" i="0" u="none" strike="noStrike">
                          <a:solidFill>
                            <a:srgbClr val="000000"/>
                          </a:solidFill>
                          <a:effectLst/>
                          <a:latin typeface="Poppins" panose="00000500000000000000" pitchFamily="2" charset="0"/>
                        </a:rPr>
                        <a:t>SUNTRUST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19.68%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1.9734232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$40,245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487494"/>
                  </a:ext>
                </a:extLst>
              </a:tr>
              <a:tr h="213595">
                <a:tc>
                  <a:txBody>
                    <a:bodyPr/>
                    <a:lstStyle/>
                    <a:p>
                      <a:pPr algn="l" rtl="0" fontAlgn="ctr"/>
                      <a:r>
                        <a:rPr lang="en-US" sz="900" b="0" i="0" u="none" strike="noStrike">
                          <a:solidFill>
                            <a:srgbClr val="000000"/>
                          </a:solidFill>
                          <a:effectLst/>
                          <a:latin typeface="Poppins" panose="00000500000000000000" pitchFamily="2" charset="0"/>
                        </a:rPr>
                        <a:t>CHEVRON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ENERGY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27.97%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1.8949127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$100,331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63137"/>
                  </a:ext>
                </a:extLst>
              </a:tr>
              <a:tr h="213595">
                <a:tc>
                  <a:txBody>
                    <a:bodyPr/>
                    <a:lstStyle/>
                    <a:p>
                      <a:pPr algn="l" rtl="0" fontAlgn="ctr"/>
                      <a:r>
                        <a:rPr lang="en-US" sz="900" b="0" i="0" u="none" strike="noStrike">
                          <a:solidFill>
                            <a:srgbClr val="000000"/>
                          </a:solidFill>
                          <a:effectLst/>
                          <a:latin typeface="Poppins" panose="00000500000000000000" pitchFamily="2" charset="0"/>
                        </a:rPr>
                        <a:t>COMMONWEALTH BANK OF AUSTRALIA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1.9187822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$40,174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2169908"/>
                  </a:ext>
                </a:extLst>
              </a:tr>
              <a:tr h="213595">
                <a:tc>
                  <a:txBody>
                    <a:bodyPr/>
                    <a:lstStyle/>
                    <a:p>
                      <a:pPr algn="l" rtl="0" fontAlgn="ctr"/>
                      <a:r>
                        <a:rPr lang="en-US" sz="900" b="0" i="0" u="none" strike="noStrike">
                          <a:solidFill>
                            <a:srgbClr val="000000"/>
                          </a:solidFill>
                          <a:effectLst/>
                          <a:latin typeface="Poppins" panose="00000500000000000000" pitchFamily="2" charset="0"/>
                        </a:rPr>
                        <a:t>ACTAVIS FUNDING SCS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2.107104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$54,354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4872185"/>
                  </a:ext>
                </a:extLst>
              </a:tr>
              <a:tr h="213595">
                <a:tc>
                  <a:txBody>
                    <a:bodyPr/>
                    <a:lstStyle/>
                    <a:p>
                      <a:pPr algn="l" rtl="0" fontAlgn="ctr"/>
                      <a:r>
                        <a:rPr lang="en-US" sz="900" b="0" i="0" u="none" strike="noStrike">
                          <a:solidFill>
                            <a:srgbClr val="000000"/>
                          </a:solidFill>
                          <a:effectLst/>
                          <a:latin typeface="Poppins" panose="00000500000000000000" pitchFamily="2" charset="0"/>
                        </a:rPr>
                        <a:t>BACCT 171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37.28%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1.9372058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3/16/2020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$55,049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963204"/>
                  </a:ext>
                </a:extLst>
              </a:tr>
              <a:tr h="213595">
                <a:tc>
                  <a:txBody>
                    <a:bodyPr/>
                    <a:lstStyle/>
                    <a:p>
                      <a:pPr algn="l" rtl="0" fontAlgn="ctr"/>
                      <a:r>
                        <a:rPr lang="en-US" sz="900" b="0" i="0" u="none" strike="noStrike">
                          <a:solidFill>
                            <a:srgbClr val="000000"/>
                          </a:solidFill>
                          <a:effectLst/>
                          <a:latin typeface="Poppins" panose="00000500000000000000" pitchFamily="2" charset="0"/>
                        </a:rPr>
                        <a:t>CHAIT 154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1.8911995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NR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$100,057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826118"/>
                  </a:ext>
                </a:extLst>
              </a:tr>
              <a:tr h="166129">
                <a:tc>
                  <a:txBody>
                    <a:bodyPr/>
                    <a:lstStyle/>
                    <a:p>
                      <a:pPr algn="l" rtl="0" fontAlgn="ctr"/>
                      <a:r>
                        <a:rPr lang="en-US" sz="900" b="0" i="0" u="none" strike="noStrike">
                          <a:solidFill>
                            <a:srgbClr val="000000"/>
                          </a:solidFill>
                          <a:effectLst/>
                          <a:latin typeface="Poppins" panose="00000500000000000000" pitchFamily="2" charset="0"/>
                        </a:rPr>
                        <a:t>BANK OF AMERICA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46.81%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1.8856671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7382148"/>
                  </a:ext>
                </a:extLst>
              </a:tr>
              <a:tr h="213595">
                <a:tc>
                  <a:txBody>
                    <a:bodyPr/>
                    <a:lstStyle/>
                    <a:p>
                      <a:pPr algn="l" rtl="0" fontAlgn="ctr"/>
                      <a:r>
                        <a:rPr lang="en-US" sz="900" b="0" i="0" u="none" strike="noStrike">
                          <a:solidFill>
                            <a:srgbClr val="000000"/>
                          </a:solidFill>
                          <a:effectLst/>
                          <a:latin typeface="Poppins" panose="00000500000000000000" pitchFamily="2" charset="0"/>
                        </a:rPr>
                        <a:t>HARRIS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INDUSTRIAL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2.286775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$50,098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761231"/>
                  </a:ext>
                </a:extLst>
              </a:tr>
              <a:tr h="213595">
                <a:tc>
                  <a:txBody>
                    <a:bodyPr/>
                    <a:lstStyle/>
                    <a:p>
                      <a:pPr algn="l" rtl="0" fontAlgn="ctr"/>
                      <a:r>
                        <a:rPr lang="en-US" sz="900" b="0" i="0" u="none" strike="noStrike">
                          <a:solidFill>
                            <a:srgbClr val="000000"/>
                          </a:solidFill>
                          <a:effectLst/>
                          <a:latin typeface="Poppins" panose="00000500000000000000" pitchFamily="2" charset="0"/>
                        </a:rPr>
                        <a:t>EUROPEAN INVESTMENT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SUPRANATIONAL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1.8131835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$110,274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2308538"/>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US GOV</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65.64%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1.6238955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$100,548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986782"/>
                  </a:ext>
                </a:extLst>
              </a:tr>
              <a:tr h="213595">
                <a:tc>
                  <a:txBody>
                    <a:bodyPr/>
                    <a:lstStyle/>
                    <a:p>
                      <a:pPr algn="l" rtl="0" fontAlgn="ctr"/>
                      <a:r>
                        <a:rPr lang="de-DE" sz="900" b="0" i="0" u="none" strike="noStrike">
                          <a:solidFill>
                            <a:srgbClr val="000000"/>
                          </a:solidFill>
                          <a:effectLst/>
                          <a:latin typeface="Poppins" panose="00000500000000000000" pitchFamily="2" charset="0"/>
                        </a:rPr>
                        <a:t>DEUTSCHE BANK AG (NY BRANCH)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68.43%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2.6452286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$20,169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0.17%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216473"/>
                  </a:ext>
                </a:extLst>
              </a:tr>
              <a:tr h="213595">
                <a:tc>
                  <a:txBody>
                    <a:bodyPr/>
                    <a:lstStyle/>
                    <a:p>
                      <a:pPr algn="l" rtl="0" fontAlgn="ctr"/>
                      <a:r>
                        <a:rPr lang="en-US" sz="900" b="0" i="0" u="none" strike="noStrike">
                          <a:solidFill>
                            <a:srgbClr val="000000"/>
                          </a:solidFill>
                          <a:effectLst/>
                          <a:latin typeface="Poppins" panose="00000500000000000000" pitchFamily="2" charset="0"/>
                        </a:rPr>
                        <a:t>WELLS FARGO &amp;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1.8962492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7/22/2020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$55,670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85760"/>
                  </a:ext>
                </a:extLst>
              </a:tr>
              <a:tr h="213595">
                <a:tc>
                  <a:txBody>
                    <a:bodyPr/>
                    <a:lstStyle/>
                    <a:p>
                      <a:pPr algn="l" rtl="0" fontAlgn="ctr"/>
                      <a:r>
                        <a:rPr lang="en-US" sz="900" b="0" i="0" u="none" strike="noStrike">
                          <a:solidFill>
                            <a:srgbClr val="000000"/>
                          </a:solidFill>
                          <a:effectLst/>
                          <a:latin typeface="Poppins" panose="00000500000000000000" pitchFamily="2" charset="0"/>
                        </a:rPr>
                        <a:t>ANTHEM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77.06%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2.0067809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$35,959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648593"/>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INTERNATIONAL GROUP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1.9207537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$30,553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0173202"/>
                  </a:ext>
                </a:extLst>
              </a:tr>
              <a:tr h="213595">
                <a:tc>
                  <a:txBody>
                    <a:bodyPr/>
                    <a:lstStyle/>
                    <a:p>
                      <a:pPr algn="l" rtl="0" fontAlgn="ctr"/>
                      <a:r>
                        <a:rPr lang="en-US" sz="900" b="0" i="0" u="none" strike="noStrike">
                          <a:solidFill>
                            <a:srgbClr val="000000"/>
                          </a:solidFill>
                          <a:effectLst/>
                          <a:latin typeface="Poppins" panose="00000500000000000000" pitchFamily="2" charset="0"/>
                        </a:rPr>
                        <a:t>DCENT 176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78.40%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1.8729056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$120,108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433518"/>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CAMPUS COMM. OP. PRTNSP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82.25%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2.050762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$45,606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5677006"/>
                  </a:ext>
                </a:extLst>
              </a:tr>
            </a:tbl>
          </a:graphicData>
        </a:graphic>
      </p:graphicFrame>
      <p:graphicFrame>
        <p:nvGraphicFramePr>
          <p:cNvPr id="3" name="Table 2" hidden="1">
            <a:extLst>
              <a:ext uri="{FF2B5EF4-FFF2-40B4-BE49-F238E27FC236}">
                <a16:creationId xmlns:a16="http://schemas.microsoft.com/office/drawing/2014/main" id="{1F711E98-DAA0-46EB-8B8E-705A6A308A0A}"/>
              </a:ext>
            </a:extLst>
          </p:cNvPr>
          <p:cNvGraphicFramePr>
            <a:graphicFrameLocks noGrp="1"/>
          </p:cNvGraphicFramePr>
          <p:nvPr/>
        </p:nvGraphicFramePr>
        <p:xfrm>
          <a:off x="362585" y="1203960"/>
          <a:ext cx="8412480" cy="5113020"/>
        </p:xfrm>
        <a:graphic>
          <a:graphicData uri="http://schemas.openxmlformats.org/drawingml/2006/table">
            <a:tbl>
              <a:tblPr/>
              <a:tblGrid>
                <a:gridCol w="2380615">
                  <a:extLst>
                    <a:ext uri="{9D8B030D-6E8A-4147-A177-3AD203B41FA5}">
                      <a16:colId xmlns:a16="http://schemas.microsoft.com/office/drawing/2014/main" val="3225387243"/>
                    </a:ext>
                  </a:extLst>
                </a:gridCol>
                <a:gridCol w="1104728">
                  <a:extLst>
                    <a:ext uri="{9D8B030D-6E8A-4147-A177-3AD203B41FA5}">
                      <a16:colId xmlns:a16="http://schemas.microsoft.com/office/drawing/2014/main" val="1289031369"/>
                    </a:ext>
                  </a:extLst>
                </a:gridCol>
                <a:gridCol w="728176">
                  <a:extLst>
                    <a:ext uri="{9D8B030D-6E8A-4147-A177-3AD203B41FA5}">
                      <a16:colId xmlns:a16="http://schemas.microsoft.com/office/drawing/2014/main" val="2662241828"/>
                    </a:ext>
                  </a:extLst>
                </a:gridCol>
                <a:gridCol w="449889">
                  <a:extLst>
                    <a:ext uri="{9D8B030D-6E8A-4147-A177-3AD203B41FA5}">
                      <a16:colId xmlns:a16="http://schemas.microsoft.com/office/drawing/2014/main" val="3398770197"/>
                    </a:ext>
                  </a:extLst>
                </a:gridCol>
                <a:gridCol w="637342">
                  <a:extLst>
                    <a:ext uri="{9D8B030D-6E8A-4147-A177-3AD203B41FA5}">
                      <a16:colId xmlns:a16="http://schemas.microsoft.com/office/drawing/2014/main" val="3411342490"/>
                    </a:ext>
                  </a:extLst>
                </a:gridCol>
                <a:gridCol w="774808">
                  <a:extLst>
                    <a:ext uri="{9D8B030D-6E8A-4147-A177-3AD203B41FA5}">
                      <a16:colId xmlns:a16="http://schemas.microsoft.com/office/drawing/2014/main" val="3356158280"/>
                    </a:ext>
                  </a:extLst>
                </a:gridCol>
                <a:gridCol w="799802">
                  <a:extLst>
                    <a:ext uri="{9D8B030D-6E8A-4147-A177-3AD203B41FA5}">
                      <a16:colId xmlns:a16="http://schemas.microsoft.com/office/drawing/2014/main" val="1386931236"/>
                    </a:ext>
                  </a:extLst>
                </a:gridCol>
                <a:gridCol w="787305">
                  <a:extLst>
                    <a:ext uri="{9D8B030D-6E8A-4147-A177-3AD203B41FA5}">
                      <a16:colId xmlns:a16="http://schemas.microsoft.com/office/drawing/2014/main" val="3141232831"/>
                    </a:ext>
                  </a:extLst>
                </a:gridCol>
                <a:gridCol w="749815">
                  <a:extLst>
                    <a:ext uri="{9D8B030D-6E8A-4147-A177-3AD203B41FA5}">
                      <a16:colId xmlns:a16="http://schemas.microsoft.com/office/drawing/2014/main" val="1501712056"/>
                    </a:ext>
                  </a:extLst>
                </a:gridCol>
              </a:tblGrid>
              <a:tr h="261553">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S&amp;P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MOODY'S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FINAL MATURITY</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extLst>
                  <a:ext uri="{0D108BD9-81ED-4DB2-BD59-A6C34878D82A}">
                    <a16:rowId xmlns:a16="http://schemas.microsoft.com/office/drawing/2014/main" val="2513351061"/>
                  </a:ext>
                </a:extLst>
              </a:tr>
              <a:tr h="133966">
                <a:tc>
                  <a:txBody>
                    <a:bodyPr/>
                    <a:lstStyle/>
                    <a:p>
                      <a:pPr algn="l" rtl="0" fontAlgn="ctr"/>
                      <a:r>
                        <a:rPr lang="en-US" sz="1000" b="0" i="0" u="none" strike="noStrike">
                          <a:solidFill>
                            <a:srgbClr val="000000"/>
                          </a:solidFill>
                          <a:effectLst/>
                          <a:latin typeface="Poppins" panose="00000500000000000000" pitchFamily="2" charset="0"/>
                        </a:rPr>
                        <a:t>MCCT 211 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1.93</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3.07%</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11/21/2025</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$95,184 </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98817"/>
                  </a:ext>
                </a:extLst>
              </a:tr>
              <a:tr h="133966">
                <a:tc>
                  <a:txBody>
                    <a:bodyPr/>
                    <a:lstStyle/>
                    <a:p>
                      <a:pPr algn="l" rtl="0" fontAlgn="ctr"/>
                      <a:r>
                        <a:rPr lang="en-US" sz="1000" b="0" i="0" u="none" strike="noStrike">
                          <a:solidFill>
                            <a:srgbClr val="000000"/>
                          </a:solidFill>
                          <a:effectLst/>
                          <a:latin typeface="Poppins" panose="00000500000000000000" pitchFamily="2" charset="0"/>
                        </a:rPr>
                        <a:t>GCCT 211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$91,155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99481353"/>
                  </a:ext>
                </a:extLst>
              </a:tr>
              <a:tr h="133966">
                <a:tc>
                  <a:txBody>
                    <a:bodyPr/>
                    <a:lstStyle/>
                    <a:p>
                      <a:pPr algn="l" rtl="0" fontAlgn="ctr"/>
                      <a:r>
                        <a:rPr lang="en-US" sz="1000" b="0" i="0" u="none" strike="noStrike">
                          <a:solidFill>
                            <a:srgbClr val="000000"/>
                          </a:solidFill>
                          <a:effectLst/>
                          <a:latin typeface="Poppins" panose="00000500000000000000" pitchFamily="2" charset="0"/>
                        </a:rPr>
                        <a:t>AMETOW 2018-1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4.21%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$24,329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818887326"/>
                  </a:ext>
                </a:extLst>
              </a:tr>
              <a:tr h="133966">
                <a:tc>
                  <a:txBody>
                    <a:bodyPr/>
                    <a:lstStyle/>
                    <a:p>
                      <a:pPr algn="l" rtl="0" fontAlgn="ctr"/>
                      <a:r>
                        <a:rPr lang="en-US" sz="1000" b="0" i="0" u="none" strike="noStrike">
                          <a:solidFill>
                            <a:srgbClr val="000000"/>
                          </a:solidFill>
                          <a:effectLst/>
                          <a:latin typeface="Poppins" panose="00000500000000000000" pitchFamily="2" charset="0"/>
                        </a:rPr>
                        <a:t>TESLA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12/20/2023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$13,575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09573489"/>
                  </a:ext>
                </a:extLst>
              </a:tr>
              <a:tr h="133966">
                <a:tc>
                  <a:txBody>
                    <a:bodyPr/>
                    <a:lstStyle/>
                    <a:p>
                      <a:pPr algn="l" rtl="0" fontAlgn="ctr"/>
                      <a:r>
                        <a:rPr lang="en-US" sz="1000" b="0" i="0" u="none" strike="noStrike">
                          <a:solidFill>
                            <a:srgbClr val="000000"/>
                          </a:solidFill>
                          <a:effectLst/>
                          <a:latin typeface="Poppins" panose="00000500000000000000" pitchFamily="2" charset="0"/>
                        </a:rPr>
                        <a:t>CNH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6/16/2025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$30,611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29693139"/>
                  </a:ext>
                </a:extLst>
              </a:tr>
              <a:tr h="133966">
                <a:tc>
                  <a:txBody>
                    <a:bodyPr/>
                    <a:lstStyle/>
                    <a:p>
                      <a:pPr algn="l" rtl="0" fontAlgn="ctr"/>
                      <a:r>
                        <a:rPr lang="en-US" sz="1000" b="0" i="0" u="none" strike="noStrike">
                          <a:solidFill>
                            <a:srgbClr val="000000"/>
                          </a:solidFill>
                          <a:effectLst/>
                          <a:latin typeface="Poppins" panose="00000500000000000000" pitchFamily="2" charset="0"/>
                        </a:rPr>
                        <a:t>WEPCO ENVIRONMENTAL TRUST</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$87,524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69284966"/>
                  </a:ext>
                </a:extLst>
              </a:tr>
              <a:tr h="133966">
                <a:tc>
                  <a:txBody>
                    <a:bodyPr/>
                    <a:lstStyle/>
                    <a:p>
                      <a:pPr algn="l" rtl="0" fontAlgn="ctr"/>
                      <a:r>
                        <a:rPr lang="en-US" sz="1000" b="0" i="0" u="none" strike="noStrike">
                          <a:solidFill>
                            <a:srgbClr val="000000"/>
                          </a:solidFill>
                          <a:effectLst/>
                          <a:latin typeface="Poppins" panose="00000500000000000000" pitchFamily="2" charset="0"/>
                        </a:rPr>
                        <a:t>COMET A(2015-4)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NR</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$50,129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8729621"/>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2021-2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$32,394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21238934"/>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$32,448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055303132"/>
                  </a:ext>
                </a:extLst>
              </a:tr>
              <a:tr h="133966">
                <a:tc>
                  <a:txBody>
                    <a:bodyPr/>
                    <a:lstStyle/>
                    <a:p>
                      <a:pPr algn="l" rtl="0" fontAlgn="ctr"/>
                      <a:r>
                        <a:rPr lang="en-US" sz="1000" b="0" i="0" u="none" strike="noStrike">
                          <a:solidFill>
                            <a:srgbClr val="000000"/>
                          </a:solidFill>
                          <a:effectLst/>
                          <a:latin typeface="Poppins" panose="00000500000000000000" pitchFamily="2" charset="0"/>
                        </a:rPr>
                        <a:t>PART 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$21,417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633210852"/>
                  </a:ext>
                </a:extLst>
              </a:tr>
              <a:tr h="133966">
                <a:tc>
                  <a:txBody>
                    <a:bodyPr/>
                    <a:lstStyle/>
                    <a:p>
                      <a:pPr algn="l" rtl="0" fontAlgn="ctr"/>
                      <a:r>
                        <a:rPr lang="en-US" sz="1000" b="0" i="0" u="none" strike="noStrike">
                          <a:solidFill>
                            <a:srgbClr val="000000"/>
                          </a:solidFill>
                          <a:effectLst/>
                          <a:latin typeface="Poppins" panose="00000500000000000000" pitchFamily="2" charset="0"/>
                        </a:rPr>
                        <a:t>PCG 2021-A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$130,438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90086829"/>
                  </a:ext>
                </a:extLst>
              </a:tr>
              <a:tr h="133966">
                <a:tc>
                  <a:txBody>
                    <a:bodyPr/>
                    <a:lstStyle/>
                    <a:p>
                      <a:pPr algn="l" rtl="0" fontAlgn="ctr"/>
                      <a:r>
                        <a:rPr lang="en-US" sz="1000" b="0" i="0" u="none" strike="noStrike">
                          <a:solidFill>
                            <a:srgbClr val="000000"/>
                          </a:solidFill>
                          <a:effectLst/>
                          <a:latin typeface="Poppins" panose="00000500000000000000" pitchFamily="2" charset="0"/>
                        </a:rPr>
                        <a:t>DTAOT 2020-3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$10,234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165812522"/>
                  </a:ext>
                </a:extLst>
              </a:tr>
              <a:tr h="133966">
                <a:tc>
                  <a:txBody>
                    <a:bodyPr/>
                    <a:lstStyle/>
                    <a:p>
                      <a:pPr algn="l" rtl="0" fontAlgn="ctr"/>
                      <a:r>
                        <a:rPr lang="en-US" sz="1000" b="0" i="0" u="none" strike="noStrike">
                          <a:solidFill>
                            <a:srgbClr val="000000"/>
                          </a:solidFill>
                          <a:effectLst/>
                          <a:latin typeface="Poppins" panose="00000500000000000000" pitchFamily="2" charset="0"/>
                        </a:rPr>
                        <a:t>JDOT 2019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7/17/2023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05904287"/>
                  </a:ext>
                </a:extLst>
              </a:tr>
              <a:tr h="133966">
                <a:tc>
                  <a:txBody>
                    <a:bodyPr/>
                    <a:lstStyle/>
                    <a:p>
                      <a:pPr algn="l" rtl="0" fontAlgn="ctr"/>
                      <a:r>
                        <a:rPr lang="en-US" sz="1000" b="0" i="0" u="none" strike="noStrike">
                          <a:solidFill>
                            <a:srgbClr val="000000"/>
                          </a:solidFill>
                          <a:effectLst/>
                          <a:latin typeface="Poppins" panose="00000500000000000000" pitchFamily="2" charset="0"/>
                        </a:rPr>
                        <a:t>EIX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$38,316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81546317"/>
                  </a:ext>
                </a:extLst>
              </a:tr>
              <a:tr h="133966">
                <a:tc>
                  <a:txBody>
                    <a:bodyPr/>
                    <a:lstStyle/>
                    <a:p>
                      <a:pPr algn="l" rtl="0" fontAlgn="ctr"/>
                      <a:r>
                        <a:rPr lang="en-US" sz="1000" b="0" i="0" u="none" strike="noStrike">
                          <a:solidFill>
                            <a:srgbClr val="000000"/>
                          </a:solidFill>
                          <a:effectLst/>
                          <a:latin typeface="Poppins" panose="00000500000000000000" pitchFamily="2" charset="0"/>
                        </a:rPr>
                        <a:t>CARMX 2022-1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P-1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$17,581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04292824"/>
                  </a:ext>
                </a:extLst>
              </a:tr>
              <a:tr h="133966">
                <a:tc>
                  <a:txBody>
                    <a:bodyPr/>
                    <a:lstStyle/>
                    <a:p>
                      <a:pPr algn="l" rtl="0" fontAlgn="ctr"/>
                      <a:r>
                        <a:rPr lang="en-US" sz="1000" b="0" i="0" u="none" strike="noStrike">
                          <a:solidFill>
                            <a:srgbClr val="000000"/>
                          </a:solidFill>
                          <a:effectLst/>
                          <a:latin typeface="Poppins" panose="00000500000000000000" pitchFamily="2" charset="0"/>
                        </a:rPr>
                        <a:t>DTE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$61,508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740355524"/>
                  </a:ext>
                </a:extLst>
              </a:tr>
              <a:tr h="133966">
                <a:tc>
                  <a:txBody>
                    <a:bodyPr/>
                    <a:lstStyle/>
                    <a:p>
                      <a:pPr algn="l" rtl="0" fontAlgn="ctr"/>
                      <a:r>
                        <a:rPr lang="en-US" sz="1000" b="0" i="0" u="none" strike="noStrike">
                          <a:solidFill>
                            <a:srgbClr val="000000"/>
                          </a:solidFill>
                          <a:effectLst/>
                          <a:latin typeface="Poppins" panose="00000500000000000000" pitchFamily="2" charset="0"/>
                        </a:rPr>
                        <a:t>EART 2020-3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9/16/2024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$31,353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15205954"/>
                  </a:ext>
                </a:extLst>
              </a:tr>
              <a:tr h="133966">
                <a:tc>
                  <a:txBody>
                    <a:bodyPr/>
                    <a:lstStyle/>
                    <a:p>
                      <a:pPr algn="l" rtl="0" fontAlgn="ctr"/>
                      <a:r>
                        <a:rPr lang="en-US" sz="1000" b="0" i="0" u="none" strike="noStrike">
                          <a:solidFill>
                            <a:srgbClr val="000000"/>
                          </a:solidFill>
                          <a:effectLst/>
                          <a:latin typeface="Poppins" panose="00000500000000000000" pitchFamily="2" charset="0"/>
                        </a:rPr>
                        <a:t>PSNH 2018-1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2.78%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$88,213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366523"/>
                  </a:ext>
                </a:extLst>
              </a:tr>
              <a:tr h="133966">
                <a:tc>
                  <a:txBody>
                    <a:bodyPr/>
                    <a:lstStyle/>
                    <a:p>
                      <a:pPr algn="l"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$103,637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903602055"/>
                  </a:ext>
                </a:extLst>
              </a:tr>
              <a:tr h="133966">
                <a:tc>
                  <a:txBody>
                    <a:bodyPr/>
                    <a:lstStyle/>
                    <a:p>
                      <a:pPr algn="l" rtl="0" fontAlgn="ctr"/>
                      <a:r>
                        <a:rPr lang="en-US" sz="1000" b="0" i="0" u="none" strike="noStrike">
                          <a:solidFill>
                            <a:srgbClr val="000000"/>
                          </a:solidFill>
                          <a:effectLst/>
                          <a:latin typeface="Poppins" panose="00000500000000000000" pitchFamily="2" charset="0"/>
                        </a:rPr>
                        <a:t>PAYABLE</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323594648"/>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2013-CCRE9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3.69%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7/10/2045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$66,103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87237402"/>
                  </a:ext>
                </a:extLst>
              </a:tr>
              <a:tr h="133966">
                <a:tc>
                  <a:txBody>
                    <a:bodyPr/>
                    <a:lstStyle/>
                    <a:p>
                      <a:pPr algn="l" rtl="0" fontAlgn="ctr"/>
                      <a:r>
                        <a:rPr lang="en-US" sz="1000" b="0" i="0" u="none" strike="noStrike">
                          <a:solidFill>
                            <a:srgbClr val="000000"/>
                          </a:solidFill>
                          <a:effectLst/>
                          <a:latin typeface="Poppins" panose="00000500000000000000" pitchFamily="2" charset="0"/>
                        </a:rPr>
                        <a:t>WFCM 2016-LC25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12/17/2059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$39,580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55962324"/>
                  </a:ext>
                </a:extLst>
              </a:tr>
              <a:tr h="133966">
                <a:tc>
                  <a:txBody>
                    <a:bodyPr/>
                    <a:lstStyle/>
                    <a:p>
                      <a:pPr algn="l" rtl="0" fontAlgn="ctr"/>
                      <a:r>
                        <a:rPr lang="en-US" sz="1000" b="0" i="0" u="none" strike="noStrike">
                          <a:solidFill>
                            <a:srgbClr val="000000"/>
                          </a:solidFill>
                          <a:effectLst/>
                          <a:latin typeface="Poppins" panose="00000500000000000000" pitchFamily="2" charset="0"/>
                        </a:rPr>
                        <a:t>WFRBS 2014-C22 A5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9/15/2057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$55,019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39570288"/>
                  </a:ext>
                </a:extLst>
              </a:tr>
              <a:tr h="133966">
                <a:tc>
                  <a:txBody>
                    <a:bodyPr/>
                    <a:lstStyle/>
                    <a:p>
                      <a:pPr algn="l" rtl="0" fontAlgn="ctr"/>
                      <a:r>
                        <a:rPr lang="en-US" sz="1000" b="0" i="0" u="none" strike="noStrike">
                          <a:solidFill>
                            <a:srgbClr val="000000"/>
                          </a:solidFill>
                          <a:effectLst/>
                          <a:latin typeface="Poppins" panose="00000500000000000000" pitchFamily="2" charset="0"/>
                        </a:rPr>
                        <a:t>GSMS 2017-GS8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4.75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11/14/2050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$53,719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02056364"/>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2015-LC23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10/13/2048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$14,234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20636460"/>
                  </a:ext>
                </a:extLst>
              </a:tr>
              <a:tr h="133966">
                <a:tc>
                  <a:txBody>
                    <a:bodyPr/>
                    <a:lstStyle/>
                    <a:p>
                      <a:pPr algn="l" rtl="0" fontAlgn="ctr"/>
                      <a:r>
                        <a:rPr lang="en-US" sz="1000" b="0" i="0" u="none" strike="noStrike">
                          <a:solidFill>
                            <a:srgbClr val="000000"/>
                          </a:solidFill>
                          <a:effectLst/>
                          <a:latin typeface="Poppins" panose="00000500000000000000" pitchFamily="2" charset="0"/>
                        </a:rPr>
                        <a:t>MKT 2020-525M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$26,747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250412470"/>
                  </a:ext>
                </a:extLst>
              </a:tr>
              <a:tr h="133966">
                <a:tc>
                  <a:txBody>
                    <a:bodyPr/>
                    <a:lstStyle/>
                    <a:p>
                      <a:pPr algn="l" rtl="0" fontAlgn="ctr"/>
                      <a:r>
                        <a:rPr lang="en-US" sz="1000" b="0" i="0" u="none" strike="noStrike">
                          <a:solidFill>
                            <a:srgbClr val="000000"/>
                          </a:solidFill>
                          <a:effectLst/>
                          <a:latin typeface="Poppins" panose="00000500000000000000" pitchFamily="2" charset="0"/>
                        </a:rPr>
                        <a:t>BX 22LP2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33958633"/>
                  </a:ext>
                </a:extLst>
              </a:tr>
              <a:tr h="133966">
                <a:tc>
                  <a:txBody>
                    <a:bodyPr/>
                    <a:lstStyle/>
                    <a:p>
                      <a:pPr algn="l" rtl="0" fontAlgn="ctr"/>
                      <a:r>
                        <a:rPr lang="en-US" sz="1000" b="0" i="0" u="none" strike="noStrike">
                          <a:solidFill>
                            <a:srgbClr val="000000"/>
                          </a:solidFill>
                          <a:effectLst/>
                          <a:latin typeface="Poppins" panose="00000500000000000000" pitchFamily="2" charset="0"/>
                        </a:rPr>
                        <a:t>MTN 22LPFL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3/15/2039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$98,128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5543176"/>
                  </a:ext>
                </a:extLst>
              </a:tr>
              <a:tr h="133966">
                <a:tc>
                  <a:txBody>
                    <a:bodyPr/>
                    <a:lstStyle/>
                    <a:p>
                      <a:pPr algn="l" rtl="0" fontAlgn="ctr"/>
                      <a:r>
                        <a:rPr lang="en-US" sz="1000" b="0" i="0" u="none" strike="noStrike">
                          <a:solidFill>
                            <a:srgbClr val="000000"/>
                          </a:solidFill>
                          <a:effectLst/>
                          <a:latin typeface="Poppins" panose="00000500000000000000" pitchFamily="2" charset="0"/>
                        </a:rPr>
                        <a:t>VNDO 2012-6AVE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$100,334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14314611"/>
                  </a:ext>
                </a:extLst>
              </a:tr>
              <a:tr h="133966">
                <a:tc>
                  <a:txBody>
                    <a:bodyPr/>
                    <a:lstStyle/>
                    <a:p>
                      <a:pPr algn="l" rtl="0" fontAlgn="ctr"/>
                      <a:r>
                        <a:rPr lang="en-US" sz="1000" b="0" i="0" u="none" strike="noStrike">
                          <a:solidFill>
                            <a:srgbClr val="000000"/>
                          </a:solidFill>
                          <a:effectLst/>
                          <a:latin typeface="Poppins" panose="00000500000000000000" pitchFamily="2" charset="0"/>
                        </a:rPr>
                        <a:t>BAMLL 2012-PARK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12/10/2030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$100,246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15199531"/>
                  </a:ext>
                </a:extLst>
              </a:tr>
            </a:tbl>
          </a:graphicData>
        </a:graphic>
      </p:graphicFrame>
      <p:sp>
        <p:nvSpPr>
          <p:cNvPr id="9" name="Line 309">
            <a:extLst>
              <a:ext uri="{FF2B5EF4-FFF2-40B4-BE49-F238E27FC236}">
                <a16:creationId xmlns:a16="http://schemas.microsoft.com/office/drawing/2014/main" id="{B30F1905-0025-B3C4-A983-80DBFF15FC33}"/>
              </a:ext>
            </a:extLst>
          </p:cNvPr>
          <p:cNvSpPr>
            <a:spLocks noChangeShapeType="1"/>
          </p:cNvSpPr>
          <p:nvPr/>
        </p:nvSpPr>
        <p:spPr bwMode="auto">
          <a:xfrm>
            <a:off x="371461" y="6584306"/>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6" name="Slide Number Placeholder 1">
            <a:extLst>
              <a:ext uri="{FF2B5EF4-FFF2-40B4-BE49-F238E27FC236}">
                <a16:creationId xmlns:a16="http://schemas.microsoft.com/office/drawing/2014/main" id="{0FEC4E49-8846-97F5-4CD9-C04AB6DF0583}"/>
              </a:ext>
            </a:extLst>
          </p:cNvPr>
          <p:cNvSpPr txBox="1">
            <a:spLocks/>
          </p:cNvSpPr>
          <p:nvPr/>
        </p:nvSpPr>
        <p:spPr>
          <a:xfrm>
            <a:off x="8699099" y="6582055"/>
            <a:ext cx="514350" cy="275945"/>
          </a:xfrm>
          <a:prstGeom prst="rect">
            <a:avLst/>
          </a:prstGeom>
        </p:spPr>
        <p:txBody>
          <a:bodyPr/>
          <a:lstStyle>
            <a:defPPr>
              <a:defRPr lang="en-US"/>
            </a:defPPr>
            <a:lvl1pPr marL="0" algn="l" defTabSz="457200" rtl="0" eaLnBrk="1" latinLnBrk="0" hangingPunct="1">
              <a:defRPr sz="800" kern="1200">
                <a:solidFill>
                  <a:schemeClr val="tx1"/>
                </a:solidFill>
                <a:latin typeface="Poppins" panose="00000500000000000000" pitchFamily="2" charset="0"/>
                <a:ea typeface="+mn-ea"/>
                <a:cs typeface="Poppins" panose="00000500000000000000"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806867" fontAlgn="base">
              <a:spcBef>
                <a:spcPct val="0"/>
              </a:spcBef>
              <a:spcAft>
                <a:spcPct val="0"/>
              </a:spcAft>
              <a:defRPr/>
            </a:pPr>
            <a:fld id="{1F3AF4E7-7E42-4609-9D36-1FCB1339153A}" type="slidenum">
              <a:rPr lang="en-US" sz="882" smtClean="0">
                <a:solidFill>
                  <a:srgbClr val="000000"/>
                </a:solidFill>
              </a:rPr>
              <a:pPr defTabSz="806867" fontAlgn="base">
                <a:spcBef>
                  <a:spcPct val="0"/>
                </a:spcBef>
                <a:spcAft>
                  <a:spcPct val="0"/>
                </a:spcAft>
                <a:defRPr/>
              </a:pPr>
              <a:t>31</a:t>
            </a:fld>
            <a:endParaRPr lang="en-US" sz="882">
              <a:solidFill>
                <a:srgbClr val="000000"/>
              </a:solidFill>
            </a:endParaRPr>
          </a:p>
        </p:txBody>
      </p:sp>
      <p:graphicFrame>
        <p:nvGraphicFramePr>
          <p:cNvPr id="10" name="Table 9">
            <a:extLst>
              <a:ext uri="{FF2B5EF4-FFF2-40B4-BE49-F238E27FC236}">
                <a16:creationId xmlns:a16="http://schemas.microsoft.com/office/drawing/2014/main" id="{FDB1F494-CEB7-F3AB-4565-22E4034FB570}"/>
              </a:ext>
            </a:extLst>
          </p:cNvPr>
          <p:cNvGraphicFramePr>
            <a:graphicFrameLocks noGrp="1"/>
          </p:cNvGraphicFramePr>
          <p:nvPr>
            <p:extLst>
              <p:ext uri="{D42A27DB-BD31-4B8C-83A1-F6EECF244321}">
                <p14:modId xmlns:p14="http://schemas.microsoft.com/office/powerpoint/2010/main" val="3744115019"/>
              </p:ext>
            </p:extLst>
          </p:nvPr>
        </p:nvGraphicFramePr>
        <p:xfrm>
          <a:off x="366583" y="1238443"/>
          <a:ext cx="8412481" cy="5113931"/>
        </p:xfrm>
        <a:graphic>
          <a:graphicData uri="http://schemas.openxmlformats.org/drawingml/2006/table">
            <a:tbl>
              <a:tblPr/>
              <a:tblGrid>
                <a:gridCol w="2600665">
                  <a:extLst>
                    <a:ext uri="{9D8B030D-6E8A-4147-A177-3AD203B41FA5}">
                      <a16:colId xmlns:a16="http://schemas.microsoft.com/office/drawing/2014/main" val="1002834257"/>
                    </a:ext>
                  </a:extLst>
                </a:gridCol>
                <a:gridCol w="1131601">
                  <a:extLst>
                    <a:ext uri="{9D8B030D-6E8A-4147-A177-3AD203B41FA5}">
                      <a16:colId xmlns:a16="http://schemas.microsoft.com/office/drawing/2014/main" val="3529631700"/>
                    </a:ext>
                  </a:extLst>
                </a:gridCol>
                <a:gridCol w="911663">
                  <a:extLst>
                    <a:ext uri="{9D8B030D-6E8A-4147-A177-3AD203B41FA5}">
                      <a16:colId xmlns:a16="http://schemas.microsoft.com/office/drawing/2014/main" val="2630362925"/>
                    </a:ext>
                  </a:extLst>
                </a:gridCol>
                <a:gridCol w="505585">
                  <a:extLst>
                    <a:ext uri="{9D8B030D-6E8A-4147-A177-3AD203B41FA5}">
                      <a16:colId xmlns:a16="http://schemas.microsoft.com/office/drawing/2014/main" val="1988513568"/>
                    </a:ext>
                  </a:extLst>
                </a:gridCol>
                <a:gridCol w="604253">
                  <a:extLst>
                    <a:ext uri="{9D8B030D-6E8A-4147-A177-3AD203B41FA5}">
                      <a16:colId xmlns:a16="http://schemas.microsoft.com/office/drawing/2014/main" val="2164300373"/>
                    </a:ext>
                  </a:extLst>
                </a:gridCol>
                <a:gridCol w="944832">
                  <a:extLst>
                    <a:ext uri="{9D8B030D-6E8A-4147-A177-3AD203B41FA5}">
                      <a16:colId xmlns:a16="http://schemas.microsoft.com/office/drawing/2014/main" val="2411149920"/>
                    </a:ext>
                  </a:extLst>
                </a:gridCol>
                <a:gridCol w="856941">
                  <a:extLst>
                    <a:ext uri="{9D8B030D-6E8A-4147-A177-3AD203B41FA5}">
                      <a16:colId xmlns:a16="http://schemas.microsoft.com/office/drawing/2014/main" val="2814648439"/>
                    </a:ext>
                  </a:extLst>
                </a:gridCol>
                <a:gridCol w="856941">
                  <a:extLst>
                    <a:ext uri="{9D8B030D-6E8A-4147-A177-3AD203B41FA5}">
                      <a16:colId xmlns:a16="http://schemas.microsoft.com/office/drawing/2014/main" val="3941153654"/>
                    </a:ext>
                  </a:extLst>
                </a:gridCol>
              </a:tblGrid>
              <a:tr h="373931">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RATING</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MATURITY</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extLst>
                  <a:ext uri="{0D108BD9-81ED-4DB2-BD59-A6C34878D82A}">
                    <a16:rowId xmlns:a16="http://schemas.microsoft.com/office/drawing/2014/main" val="716417198"/>
                  </a:ext>
                </a:extLst>
              </a:tr>
              <a:tr h="189600">
                <a:tc>
                  <a:txBody>
                    <a:bodyPr/>
                    <a:lstStyle/>
                    <a:p>
                      <a:pPr algn="l" rtl="0" fontAlgn="ctr"/>
                      <a:r>
                        <a:rPr lang="en-US" sz="1050" b="0" i="0" u="none" strike="noStrike">
                          <a:solidFill>
                            <a:srgbClr val="000000"/>
                          </a:solidFill>
                          <a:effectLst/>
                          <a:latin typeface="Poppins" panose="00000500000000000000" pitchFamily="2" charset="0"/>
                        </a:rPr>
                        <a:t>ROSS STORES INC</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5.76</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5.17%</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4/15/2031</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$414,554</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144321"/>
                  </a:ext>
                </a:extLst>
              </a:tr>
              <a:tr h="189600">
                <a:tc>
                  <a:txBody>
                    <a:bodyPr/>
                    <a:lstStyle/>
                    <a:p>
                      <a:pPr algn="l" rtl="0" fontAlgn="ctr"/>
                      <a:r>
                        <a:rPr lang="en-US" sz="1050" b="0" i="0" u="none" strike="noStrike">
                          <a:solidFill>
                            <a:srgbClr val="000000"/>
                          </a:solidFill>
                          <a:effectLst/>
                          <a:latin typeface="Poppins" panose="00000500000000000000" pitchFamily="2" charset="0"/>
                        </a:rPr>
                        <a:t>CUMMINS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$547,242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4401341"/>
                  </a:ext>
                </a:extLst>
              </a:tr>
              <a:tr h="189600">
                <a:tc>
                  <a:txBody>
                    <a:bodyPr/>
                    <a:lstStyle/>
                    <a:p>
                      <a:pPr algn="l" rtl="0" fontAlgn="ctr"/>
                      <a:r>
                        <a:rPr lang="en-US" sz="1050" b="0" i="0" u="none" strike="noStrike">
                          <a:solidFill>
                            <a:srgbClr val="000000"/>
                          </a:solidFill>
                          <a:effectLst/>
                          <a:latin typeface="Poppins" panose="00000500000000000000" pitchFamily="2" charset="0"/>
                        </a:rPr>
                        <a:t>AMAZON.COM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6/3/2030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$382,275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256628083"/>
                  </a:ext>
                </a:extLst>
              </a:tr>
              <a:tr h="189600">
                <a:tc>
                  <a:txBody>
                    <a:bodyPr/>
                    <a:lstStyle/>
                    <a:p>
                      <a:pPr algn="l" rtl="0" fontAlgn="ctr"/>
                      <a:r>
                        <a:rPr lang="en-US" sz="1050" b="0" i="0" u="none" strike="noStrike">
                          <a:solidFill>
                            <a:srgbClr val="000000"/>
                          </a:solidFill>
                          <a:effectLst/>
                          <a:latin typeface="Poppins" panose="00000500000000000000" pitchFamily="2" charset="0"/>
                        </a:rPr>
                        <a:t>JOHN DEERE CAPITAL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3/9/2027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$378,938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94508816"/>
                  </a:ext>
                </a:extLst>
              </a:tr>
              <a:tr h="189600">
                <a:tc>
                  <a:txBody>
                    <a:bodyPr/>
                    <a:lstStyle/>
                    <a:p>
                      <a:pPr algn="l" rtl="0" fontAlgn="ctr"/>
                      <a:r>
                        <a:rPr lang="en-US" sz="1050" b="0" i="0" u="none" strike="noStrike">
                          <a:solidFill>
                            <a:srgbClr val="000000"/>
                          </a:solidFill>
                          <a:effectLst/>
                          <a:latin typeface="Poppins" panose="00000500000000000000" pitchFamily="2" charset="0"/>
                        </a:rPr>
                        <a:t>ANHEUSER-BUSCH INBEV WORLDWIDE</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6/1/2030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$583,091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89669971"/>
                  </a:ext>
                </a:extLst>
              </a:tr>
              <a:tr h="189600">
                <a:tc>
                  <a:txBody>
                    <a:bodyPr/>
                    <a:lstStyle/>
                    <a:p>
                      <a:pPr algn="l" rtl="0" fontAlgn="ctr"/>
                      <a:r>
                        <a:rPr lang="en-US" sz="1050" b="0" i="0" u="none" strike="noStrike">
                          <a:solidFill>
                            <a:srgbClr val="000000"/>
                          </a:solidFill>
                          <a:effectLst/>
                          <a:latin typeface="Poppins" panose="00000500000000000000" pitchFamily="2" charset="0"/>
                        </a:rPr>
                        <a:t>NESTLE HOLDINGS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9/14/2028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$134,519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034394001"/>
                  </a:ext>
                </a:extLst>
              </a:tr>
              <a:tr h="189600">
                <a:tc>
                  <a:txBody>
                    <a:bodyPr/>
                    <a:lstStyle/>
                    <a:p>
                      <a:pPr algn="l" rtl="0" fontAlgn="ctr"/>
                      <a:r>
                        <a:rPr lang="en-US" sz="1050" b="0" i="0" u="none" strike="noStrike">
                          <a:solidFill>
                            <a:srgbClr val="000000"/>
                          </a:solidFill>
                          <a:effectLst/>
                          <a:latin typeface="Poppins" panose="00000500000000000000" pitchFamily="2" charset="0"/>
                        </a:rPr>
                        <a:t>JETBLUE AIRWAYS 2019-1 PASS TH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5.54%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5/15/2032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$127,232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49627683"/>
                  </a:ext>
                </a:extLst>
              </a:tr>
              <a:tr h="189600">
                <a:tc>
                  <a:txBody>
                    <a:bodyPr/>
                    <a:lstStyle/>
                    <a:p>
                      <a:pPr algn="l" rtl="0" fontAlgn="ctr"/>
                      <a:r>
                        <a:rPr lang="en-US" sz="1050" b="0" i="0" u="none" strike="noStrike">
                          <a:solidFill>
                            <a:srgbClr val="000000"/>
                          </a:solidFill>
                          <a:effectLst/>
                          <a:latin typeface="Poppins" panose="00000500000000000000" pitchFamily="2" charset="0"/>
                        </a:rPr>
                        <a:t>THERMO FISHER SCIENTIFIC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6.17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$418,137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91989528"/>
                  </a:ext>
                </a:extLst>
              </a:tr>
              <a:tr h="189600">
                <a:tc>
                  <a:txBody>
                    <a:bodyPr/>
                    <a:lstStyle/>
                    <a:p>
                      <a:pPr algn="l" rtl="0" fontAlgn="ctr"/>
                      <a:r>
                        <a:rPr lang="en-US" sz="1050" b="0" i="0" u="none" strike="noStrike">
                          <a:solidFill>
                            <a:srgbClr val="000000"/>
                          </a:solidFill>
                          <a:effectLst/>
                          <a:latin typeface="Poppins" panose="00000500000000000000" pitchFamily="2" charset="0"/>
                        </a:rPr>
                        <a:t>BAXTER INTERNATIONAL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12/1/2028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$270,994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900703067"/>
                  </a:ext>
                </a:extLst>
              </a:tr>
              <a:tr h="189600">
                <a:tc>
                  <a:txBody>
                    <a:bodyPr/>
                    <a:lstStyle/>
                    <a:p>
                      <a:pPr algn="l" rtl="0" fontAlgn="ctr"/>
                      <a:r>
                        <a:rPr lang="en-US" sz="1050" b="0" i="0" u="none" strike="noStrike">
                          <a:solidFill>
                            <a:srgbClr val="000000"/>
                          </a:solidFill>
                          <a:effectLst/>
                          <a:latin typeface="Poppins" panose="00000500000000000000" pitchFamily="2" charset="0"/>
                        </a:rPr>
                        <a:t>CATERPILLAR FINANCIAL SERVICES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4.36%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9/14/2027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$322,341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231493323"/>
                  </a:ext>
                </a:extLst>
              </a:tr>
              <a:tr h="189600">
                <a:tc>
                  <a:txBody>
                    <a:bodyPr/>
                    <a:lstStyle/>
                    <a:p>
                      <a:pPr algn="l" rtl="0" fontAlgn="ctr"/>
                      <a:r>
                        <a:rPr lang="en-US" sz="1050" b="0" i="0" u="none" strike="noStrike">
                          <a:solidFill>
                            <a:srgbClr val="000000"/>
                          </a:solidFill>
                          <a:effectLst/>
                          <a:latin typeface="Poppins" panose="00000500000000000000" pitchFamily="2" charset="0"/>
                        </a:rPr>
                        <a:t>HORMEL FOODS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6/3/2028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$90,718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52557174"/>
                  </a:ext>
                </a:extLst>
              </a:tr>
              <a:tr h="189600">
                <a:tc>
                  <a:txBody>
                    <a:bodyPr/>
                    <a:lstStyle/>
                    <a:p>
                      <a:pPr algn="l" rtl="0" fontAlgn="ctr"/>
                      <a:r>
                        <a:rPr lang="en-US" sz="1050" b="0" i="0" u="none" strike="noStrike">
                          <a:solidFill>
                            <a:srgbClr val="000000"/>
                          </a:solidFill>
                          <a:effectLst/>
                          <a:latin typeface="Poppins" panose="00000500000000000000" pitchFamily="2" charset="0"/>
                        </a:rPr>
                        <a:t>T-MOBILE USA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2/15/2029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$597,298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039458"/>
                  </a:ext>
                </a:extLst>
              </a:tr>
              <a:tr h="189600">
                <a:tc>
                  <a:txBody>
                    <a:bodyPr/>
                    <a:lstStyle/>
                    <a:p>
                      <a:pPr algn="l" rtl="0" fontAlgn="ctr"/>
                      <a:r>
                        <a:rPr lang="en-US" sz="1050" b="0" i="0" u="none" strike="noStrike">
                          <a:solidFill>
                            <a:srgbClr val="000000"/>
                          </a:solidFill>
                          <a:effectLst/>
                          <a:latin typeface="Poppins" panose="00000500000000000000" pitchFamily="2" charset="0"/>
                        </a:rPr>
                        <a:t>ERAC USA FINANCE LLC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4.82%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$235,210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75356357"/>
                  </a:ext>
                </a:extLst>
              </a:tr>
              <a:tr h="189600">
                <a:tc>
                  <a:txBody>
                    <a:bodyPr/>
                    <a:lstStyle/>
                    <a:p>
                      <a:pPr algn="l" rtl="0" fontAlgn="ctr"/>
                      <a:r>
                        <a:rPr lang="en-US" sz="1050" b="0" i="0" u="none" strike="noStrike">
                          <a:solidFill>
                            <a:srgbClr val="000000"/>
                          </a:solidFill>
                          <a:effectLst/>
                          <a:latin typeface="Poppins" panose="00000500000000000000" pitchFamily="2" charset="0"/>
                        </a:rPr>
                        <a:t>KENVUE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3/22/2028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$194,831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27295316"/>
                  </a:ext>
                </a:extLst>
              </a:tr>
              <a:tr h="189600">
                <a:tc>
                  <a:txBody>
                    <a:bodyPr/>
                    <a:lstStyle/>
                    <a:p>
                      <a:pPr algn="l" rtl="0" fontAlgn="ctr"/>
                      <a:r>
                        <a:rPr lang="en-US" sz="1050" b="0" i="0" u="none" strike="noStrike">
                          <a:solidFill>
                            <a:srgbClr val="000000"/>
                          </a:solidFill>
                          <a:effectLst/>
                          <a:latin typeface="Poppins" panose="00000500000000000000" pitchFamily="2" charset="0"/>
                        </a:rPr>
                        <a:t>CISCO SYSTEMS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2/26/2034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$273,760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525905742"/>
                  </a:ext>
                </a:extLst>
              </a:tr>
              <a:tr h="189600">
                <a:tc>
                  <a:txBody>
                    <a:bodyPr/>
                    <a:lstStyle/>
                    <a:p>
                      <a:pPr algn="l" rtl="0" fontAlgn="ctr"/>
                      <a:r>
                        <a:rPr lang="en-US" sz="1050" b="0" i="0" u="none" strike="noStrike">
                          <a:solidFill>
                            <a:srgbClr val="000000"/>
                          </a:solidFill>
                          <a:effectLst/>
                          <a:latin typeface="Poppins" panose="00000500000000000000" pitchFamily="2" charset="0"/>
                        </a:rPr>
                        <a:t>NEWMONT CORPORATION</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10/1/2030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$434,636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419002755"/>
                  </a:ext>
                </a:extLst>
              </a:tr>
              <a:tr h="189600">
                <a:tc>
                  <a:txBody>
                    <a:bodyPr/>
                    <a:lstStyle/>
                    <a:p>
                      <a:pPr algn="l" rtl="0" fontAlgn="ctr"/>
                      <a:r>
                        <a:rPr lang="en-US" sz="1050" b="0" i="0" u="none" strike="noStrike">
                          <a:solidFill>
                            <a:srgbClr val="000000"/>
                          </a:solidFill>
                          <a:effectLst/>
                          <a:latin typeface="Poppins" panose="00000500000000000000" pitchFamily="2" charset="0"/>
                        </a:rPr>
                        <a:t>HYUNDAI CAPITAL AMERICA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$324,751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79523205"/>
                  </a:ext>
                </a:extLst>
              </a:tr>
              <a:tr h="189600">
                <a:tc>
                  <a:txBody>
                    <a:bodyPr/>
                    <a:lstStyle/>
                    <a:p>
                      <a:pPr algn="l" rtl="0" fontAlgn="ctr"/>
                      <a:r>
                        <a:rPr lang="en-US" sz="1050" b="0" i="0" u="none" strike="noStrike">
                          <a:solidFill>
                            <a:srgbClr val="000000"/>
                          </a:solidFill>
                          <a:effectLst/>
                          <a:latin typeface="Poppins" panose="00000500000000000000" pitchFamily="2" charset="0"/>
                        </a:rPr>
                        <a:t>L3HARRIS TECHNOLOGIES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5.53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$361,778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704987287"/>
                  </a:ext>
                </a:extLst>
              </a:tr>
              <a:tr h="189600">
                <a:tc>
                  <a:txBody>
                    <a:bodyPr/>
                    <a:lstStyle/>
                    <a:p>
                      <a:pPr algn="l" rtl="0" fontAlgn="ctr"/>
                      <a:r>
                        <a:rPr lang="en-US" sz="1050" b="0" i="0" u="none" strike="noStrike">
                          <a:solidFill>
                            <a:srgbClr val="000000"/>
                          </a:solidFill>
                          <a:effectLst/>
                          <a:latin typeface="Poppins" panose="00000500000000000000" pitchFamily="2" charset="0"/>
                        </a:rPr>
                        <a:t>ELI LILLY AND CO</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8/14/2029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$238,811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411549475"/>
                  </a:ext>
                </a:extLst>
              </a:tr>
              <a:tr h="189600">
                <a:tc>
                  <a:txBody>
                    <a:bodyPr/>
                    <a:lstStyle/>
                    <a:p>
                      <a:pPr algn="l" rtl="0" fontAlgn="ctr"/>
                      <a:r>
                        <a:rPr lang="en-US" sz="1050" b="0" i="0" u="none" strike="noStrike">
                          <a:solidFill>
                            <a:srgbClr val="000000"/>
                          </a:solidFill>
                          <a:effectLst/>
                          <a:latin typeface="Poppins" panose="00000500000000000000" pitchFamily="2" charset="0"/>
                        </a:rPr>
                        <a:t>VISA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5.76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$81,291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680559872"/>
                  </a:ext>
                </a:extLst>
              </a:tr>
              <a:tr h="189600">
                <a:tc>
                  <a:txBody>
                    <a:bodyPr/>
                    <a:lstStyle/>
                    <a:p>
                      <a:pPr algn="l" rtl="0" fontAlgn="ctr"/>
                      <a:r>
                        <a:rPr lang="en-US" sz="1050" b="0" i="0" u="none" strike="noStrike">
                          <a:solidFill>
                            <a:srgbClr val="000000"/>
                          </a:solidFill>
                          <a:effectLst/>
                          <a:latin typeface="Poppins" panose="00000500000000000000" pitchFamily="2" charset="0"/>
                        </a:rPr>
                        <a:t>SHELL FINANCE US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4.77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$453,894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67212572"/>
                  </a:ext>
                </a:extLst>
              </a:tr>
              <a:tr h="189600">
                <a:tc>
                  <a:txBody>
                    <a:bodyPr/>
                    <a:lstStyle/>
                    <a:p>
                      <a:pPr algn="l" rtl="0" fontAlgn="ctr"/>
                      <a:r>
                        <a:rPr lang="en-US" sz="1050" b="0" i="0" u="none" strike="noStrike">
                          <a:solidFill>
                            <a:srgbClr val="000000"/>
                          </a:solidFill>
                          <a:effectLst/>
                          <a:latin typeface="Poppins" panose="00000500000000000000" pitchFamily="2" charset="0"/>
                        </a:rPr>
                        <a:t>AMERICAN AIRLINES INC PASS THR</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$26,327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155117640"/>
                  </a:ext>
                </a:extLst>
              </a:tr>
              <a:tr h="189600">
                <a:tc>
                  <a:txBody>
                    <a:bodyPr/>
                    <a:lstStyle/>
                    <a:p>
                      <a:pPr algn="l" rtl="0" fontAlgn="ctr"/>
                      <a:r>
                        <a:rPr lang="en-US" sz="1050" b="0" i="0" u="none" strike="noStrike">
                          <a:solidFill>
                            <a:srgbClr val="000000"/>
                          </a:solidFill>
                          <a:effectLst/>
                          <a:latin typeface="Poppins" panose="00000500000000000000" pitchFamily="2" charset="0"/>
                        </a:rPr>
                        <a:t>DELTA AIR LINES INC</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5.95%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6/10/2028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$54,930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19048016"/>
                  </a:ext>
                </a:extLst>
              </a:tr>
              <a:tr h="189600">
                <a:tc>
                  <a:txBody>
                    <a:bodyPr/>
                    <a:lstStyle/>
                    <a:p>
                      <a:pPr algn="l" rtl="0" fontAlgn="ctr"/>
                      <a:r>
                        <a:rPr lang="en-US" sz="1050" b="0" i="0" u="none" strike="noStrike">
                          <a:solidFill>
                            <a:srgbClr val="000000"/>
                          </a:solidFill>
                          <a:effectLst/>
                          <a:latin typeface="Poppins" panose="00000500000000000000" pitchFamily="2" charset="0"/>
                        </a:rPr>
                        <a:t>DELTA AIRLINES 2020-1 CLASS 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INDUSTRIALS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6/10/2028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$50,533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02871724"/>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11/30/2027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$6,718,519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23173614"/>
                  </a:ext>
                </a:extLst>
              </a:tr>
            </a:tbl>
          </a:graphicData>
        </a:graphic>
      </p:graphicFrame>
      <p:sp>
        <p:nvSpPr>
          <p:cNvPr id="5" name="Title 1">
            <a:extLst>
              <a:ext uri="{FF2B5EF4-FFF2-40B4-BE49-F238E27FC236}">
                <a16:creationId xmlns:a16="http://schemas.microsoft.com/office/drawing/2014/main" id="{D5C0E9D2-149A-EBA2-FC98-3A1E5D917BA6}"/>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SMA holdings </a:t>
            </a:r>
          </a:p>
        </p:txBody>
      </p:sp>
      <p:sp>
        <p:nvSpPr>
          <p:cNvPr id="2" name="Rectangle 1">
            <a:extLst>
              <a:ext uri="{FF2B5EF4-FFF2-40B4-BE49-F238E27FC236}">
                <a16:creationId xmlns:a16="http://schemas.microsoft.com/office/drawing/2014/main" id="{F7AA048C-A1E1-D473-62C5-C93291D938E9}"/>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50000"/>
              </a:spcBef>
              <a:spcAft>
                <a:spcPct val="0"/>
              </a:spcAft>
              <a:buClrTx/>
              <a:buSzTx/>
              <a:buFontTx/>
              <a:buNone/>
              <a:tabLst/>
            </a:pPr>
            <a:r>
              <a:rPr lang="en-US" sz="1600">
                <a:solidFill>
                  <a:schemeClr val="bg1"/>
                </a:solidFill>
                <a:latin typeface="Poppins Light"/>
                <a:cs typeface="Poppins Medium" panose="00000600000000000000" pitchFamily="2" charset="0"/>
              </a:rPr>
              <a:t>PORTFOLIO</a:t>
            </a:r>
            <a:r>
              <a:rPr kumimoji="0" lang="en-US" sz="1600" i="0" u="none" strike="noStrike" cap="none" normalizeH="0" baseline="0">
                <a:ln>
                  <a:noFill/>
                </a:ln>
                <a:solidFill>
                  <a:schemeClr val="bg1"/>
                </a:solidFill>
                <a:effectLst/>
                <a:latin typeface="Poppins Light"/>
                <a:cs typeface="Poppins Medium" panose="00000600000000000000" pitchFamily="2" charset="0"/>
              </a:rPr>
              <a:t> HOLDINGS </a:t>
            </a:r>
            <a:r>
              <a:rPr lang="en-US" sz="1600">
                <a:solidFill>
                  <a:schemeClr val="bg1"/>
                </a:solidFill>
                <a:latin typeface="Poppins Light"/>
                <a:cs typeface="Poppins Medium" panose="00000600000000000000" pitchFamily="2" charset="0"/>
              </a:rPr>
              <a:t>| </a:t>
            </a:r>
            <a:r>
              <a:rPr lang="en-US" sz="1600">
                <a:solidFill>
                  <a:schemeClr val="bg1"/>
                </a:solidFill>
                <a:latin typeface="Poppins Medium"/>
                <a:cs typeface="Poppins Light" panose="00000400000000000000" pitchFamily="2" charset="0"/>
              </a:rPr>
              <a:t>12-31-2024</a:t>
            </a:r>
            <a:endParaRPr lang="en-US" sz="1600" b="0" i="0" u="none" strike="noStrike" cap="none" normalizeH="0" baseline="0">
              <a:ln>
                <a:noFill/>
              </a:ln>
              <a:solidFill>
                <a:schemeClr val="bg1"/>
              </a:solidFill>
              <a:effectLst/>
              <a:latin typeface="Poppins Medium"/>
              <a:cs typeface="Poppins Light" panose="00000400000000000000" pitchFamily="2" charset="0"/>
            </a:endParaRPr>
          </a:p>
        </p:txBody>
      </p:sp>
    </p:spTree>
    <p:extLst>
      <p:ext uri="{BB962C8B-B14F-4D97-AF65-F5344CB8AC3E}">
        <p14:creationId xmlns:p14="http://schemas.microsoft.com/office/powerpoint/2010/main" val="1204396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6" hidden="1">
            <a:extLst>
              <a:ext uri="{FF2B5EF4-FFF2-40B4-BE49-F238E27FC236}">
                <a16:creationId xmlns:a16="http://schemas.microsoft.com/office/drawing/2014/main" id="{42EEB35B-E44D-4A02-A22D-BD8FB6900C5E}"/>
              </a:ext>
            </a:extLst>
          </p:cNvPr>
          <p:cNvGraphicFramePr>
            <a:graphicFrameLocks noGrp="1"/>
          </p:cNvGraphicFramePr>
          <p:nvPr>
            <p:extLst>
              <p:ext uri="{D42A27DB-BD31-4B8C-83A1-F6EECF244321}">
                <p14:modId xmlns:p14="http://schemas.microsoft.com/office/powerpoint/2010/main" val="1832228237"/>
              </p:ext>
            </p:extLst>
          </p:nvPr>
        </p:nvGraphicFramePr>
        <p:xfrm>
          <a:off x="381000" y="1220876"/>
          <a:ext cx="8398061" cy="5393384"/>
        </p:xfrm>
        <a:graphic>
          <a:graphicData uri="http://schemas.openxmlformats.org/drawingml/2006/table">
            <a:tbl>
              <a:tblPr bandRow="1">
                <a:tableStyleId>{93296810-A885-4BE3-A3E7-6D5BEEA58F35}</a:tableStyleId>
              </a:tblPr>
              <a:tblGrid>
                <a:gridCol w="2182370">
                  <a:extLst>
                    <a:ext uri="{9D8B030D-6E8A-4147-A177-3AD203B41FA5}">
                      <a16:colId xmlns:a16="http://schemas.microsoft.com/office/drawing/2014/main" val="20000"/>
                    </a:ext>
                  </a:extLst>
                </a:gridCol>
                <a:gridCol w="882405">
                  <a:extLst>
                    <a:ext uri="{9D8B030D-6E8A-4147-A177-3AD203B41FA5}">
                      <a16:colId xmlns:a16="http://schemas.microsoft.com/office/drawing/2014/main" val="3585380606"/>
                    </a:ext>
                  </a:extLst>
                </a:gridCol>
                <a:gridCol w="908352">
                  <a:extLst>
                    <a:ext uri="{9D8B030D-6E8A-4147-A177-3AD203B41FA5}">
                      <a16:colId xmlns:a16="http://schemas.microsoft.com/office/drawing/2014/main" val="1257159576"/>
                    </a:ext>
                  </a:extLst>
                </a:gridCol>
                <a:gridCol w="628339">
                  <a:extLst>
                    <a:ext uri="{9D8B030D-6E8A-4147-A177-3AD203B41FA5}">
                      <a16:colId xmlns:a16="http://schemas.microsoft.com/office/drawing/2014/main" val="481879323"/>
                    </a:ext>
                  </a:extLst>
                </a:gridCol>
                <a:gridCol w="846834">
                  <a:extLst>
                    <a:ext uri="{9D8B030D-6E8A-4147-A177-3AD203B41FA5}">
                      <a16:colId xmlns:a16="http://schemas.microsoft.com/office/drawing/2014/main" val="2810924609"/>
                    </a:ext>
                  </a:extLst>
                </a:gridCol>
                <a:gridCol w="736600">
                  <a:extLst>
                    <a:ext uri="{9D8B030D-6E8A-4147-A177-3AD203B41FA5}">
                      <a16:colId xmlns:a16="http://schemas.microsoft.com/office/drawing/2014/main" val="3703170606"/>
                    </a:ext>
                  </a:extLst>
                </a:gridCol>
                <a:gridCol w="736600">
                  <a:extLst>
                    <a:ext uri="{9D8B030D-6E8A-4147-A177-3AD203B41FA5}">
                      <a16:colId xmlns:a16="http://schemas.microsoft.com/office/drawing/2014/main" val="4265513678"/>
                    </a:ext>
                  </a:extLst>
                </a:gridCol>
                <a:gridCol w="800100">
                  <a:extLst>
                    <a:ext uri="{9D8B030D-6E8A-4147-A177-3AD203B41FA5}">
                      <a16:colId xmlns:a16="http://schemas.microsoft.com/office/drawing/2014/main" val="22118574"/>
                    </a:ext>
                  </a:extLst>
                </a:gridCol>
                <a:gridCol w="676461">
                  <a:extLst>
                    <a:ext uri="{9D8B030D-6E8A-4147-A177-3AD203B41FA5}">
                      <a16:colId xmlns:a16="http://schemas.microsoft.com/office/drawing/2014/main" val="20001"/>
                    </a:ext>
                  </a:extLst>
                </a:gridCol>
              </a:tblGrid>
              <a:tr h="390510">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Issuer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Sector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Duration</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Yield</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S&amp;p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Moody’s rating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Maturity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tc>
                  <a:txBody>
                    <a:bodyPr/>
                    <a:lstStyle/>
                    <a:p>
                      <a:pPr algn="ctr" fontAlgn="ctr"/>
                      <a:r>
                        <a:rPr lang="en-US" sz="1100" b="0" i="0" u="none" strike="noStrike" cap="all" baseline="0">
                          <a:solidFill>
                            <a:schemeClr val="bg1"/>
                          </a:solidFill>
                          <a:effectLst/>
                          <a:latin typeface="Poppins SemiBold" panose="00000700000000000000" pitchFamily="2" charset="0"/>
                          <a:cs typeface="Poppins SemiBold" panose="00000700000000000000" pitchFamily="2" charset="0"/>
                        </a:rPr>
                        <a:t>% Value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490A6"/>
                    </a:solidFill>
                  </a:tcPr>
                </a:tc>
                <a:extLst>
                  <a:ext uri="{0D108BD9-81ED-4DB2-BD59-A6C34878D82A}">
                    <a16:rowId xmlns:a16="http://schemas.microsoft.com/office/drawing/2014/main" val="10001"/>
                  </a:ext>
                </a:extLst>
              </a:tr>
              <a:tr h="213595">
                <a:tc>
                  <a:txBody>
                    <a:bodyPr/>
                    <a:lstStyle/>
                    <a:p>
                      <a:pPr algn="l"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CASH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10/31/2019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$286,213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7263394"/>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1.4709013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11/19/2019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$749,428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6.24%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5558472"/>
                  </a:ext>
                </a:extLst>
              </a:tr>
              <a:tr h="213595">
                <a:tc>
                  <a:txBody>
                    <a:bodyPr/>
                    <a:lstStyle/>
                    <a:p>
                      <a:pPr algn="l" rtl="0" fontAlgn="ctr"/>
                      <a:r>
                        <a:rPr lang="en-US" sz="900" b="0" i="0" u="none" strike="noStrike">
                          <a:solidFill>
                            <a:srgbClr val="000000"/>
                          </a:solidFill>
                          <a:effectLst/>
                          <a:latin typeface="Poppins" panose="00000500000000000000" pitchFamily="2" charset="0"/>
                        </a:rPr>
                        <a:t>J M SMUCKER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9.70%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2.116467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12/6/2019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$40,357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8122526"/>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17.21%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1.5481337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$648,268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5660"/>
                  </a:ext>
                </a:extLst>
              </a:tr>
              <a:tr h="213595">
                <a:tc>
                  <a:txBody>
                    <a:bodyPr/>
                    <a:lstStyle/>
                    <a:p>
                      <a:pPr algn="l" rtl="0" fontAlgn="ctr"/>
                      <a:r>
                        <a:rPr lang="en-US" sz="900" b="0" i="0" u="none" strike="noStrike">
                          <a:solidFill>
                            <a:srgbClr val="000000"/>
                          </a:solidFill>
                          <a:effectLst/>
                          <a:latin typeface="Poppins" panose="00000500000000000000" pitchFamily="2" charset="0"/>
                        </a:rPr>
                        <a:t>JACKSON NAT’L LIFE GLBL FUNDING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1.8956037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$45,283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T-BILL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24.84%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1.535244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P-1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$896,568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3595">
                <a:tc>
                  <a:txBody>
                    <a:bodyPr/>
                    <a:lstStyle/>
                    <a:p>
                      <a:pPr algn="l" rtl="0" fontAlgn="ctr"/>
                      <a:r>
                        <a:rPr lang="en-US" sz="900" b="0" i="0" u="none" strike="noStrike">
                          <a:solidFill>
                            <a:srgbClr val="000000"/>
                          </a:solidFill>
                          <a:effectLst/>
                          <a:latin typeface="Poppins" panose="00000500000000000000" pitchFamily="2" charset="0"/>
                        </a:rPr>
                        <a:t>SUNTRUST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19.68%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1.9734232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1/31/2020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$40,245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3487494"/>
                  </a:ext>
                </a:extLst>
              </a:tr>
              <a:tr h="213595">
                <a:tc>
                  <a:txBody>
                    <a:bodyPr/>
                    <a:lstStyle/>
                    <a:p>
                      <a:pPr algn="l" rtl="0" fontAlgn="ctr"/>
                      <a:r>
                        <a:rPr lang="en-US" sz="900" b="0" i="0" u="none" strike="noStrike">
                          <a:solidFill>
                            <a:srgbClr val="000000"/>
                          </a:solidFill>
                          <a:effectLst/>
                          <a:latin typeface="Poppins" panose="00000500000000000000" pitchFamily="2" charset="0"/>
                        </a:rPr>
                        <a:t>CHEVRON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ENERGY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27.97%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1.8949127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$100,331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63137"/>
                  </a:ext>
                </a:extLst>
              </a:tr>
              <a:tr h="213595">
                <a:tc>
                  <a:txBody>
                    <a:bodyPr/>
                    <a:lstStyle/>
                    <a:p>
                      <a:pPr algn="l" rtl="0" fontAlgn="ctr"/>
                      <a:r>
                        <a:rPr lang="en-US" sz="900" b="0" i="0" u="none" strike="noStrike">
                          <a:solidFill>
                            <a:srgbClr val="000000"/>
                          </a:solidFill>
                          <a:effectLst/>
                          <a:latin typeface="Poppins" panose="00000500000000000000" pitchFamily="2" charset="0"/>
                        </a:rPr>
                        <a:t>COMMONWEALTH BANK OF AUSTRALIA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1.9187822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$40,174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2169908"/>
                  </a:ext>
                </a:extLst>
              </a:tr>
              <a:tr h="213595">
                <a:tc>
                  <a:txBody>
                    <a:bodyPr/>
                    <a:lstStyle/>
                    <a:p>
                      <a:pPr algn="l" rtl="0" fontAlgn="ctr"/>
                      <a:r>
                        <a:rPr lang="en-US" sz="900" b="0" i="0" u="none" strike="noStrike">
                          <a:solidFill>
                            <a:srgbClr val="000000"/>
                          </a:solidFill>
                          <a:effectLst/>
                          <a:latin typeface="Poppins" panose="00000500000000000000" pitchFamily="2" charset="0"/>
                        </a:rPr>
                        <a:t>ACTAVIS FUNDING SCS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28.19%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2.107104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$54,354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4872185"/>
                  </a:ext>
                </a:extLst>
              </a:tr>
              <a:tr h="213595">
                <a:tc>
                  <a:txBody>
                    <a:bodyPr/>
                    <a:lstStyle/>
                    <a:p>
                      <a:pPr algn="l" rtl="0" fontAlgn="ctr"/>
                      <a:r>
                        <a:rPr lang="en-US" sz="900" b="0" i="0" u="none" strike="noStrike">
                          <a:solidFill>
                            <a:srgbClr val="000000"/>
                          </a:solidFill>
                          <a:effectLst/>
                          <a:latin typeface="Poppins" panose="00000500000000000000" pitchFamily="2" charset="0"/>
                        </a:rPr>
                        <a:t>BACCT 171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37.28%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1.9372058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3/16/2020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$55,049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963204"/>
                  </a:ext>
                </a:extLst>
              </a:tr>
              <a:tr h="213595">
                <a:tc>
                  <a:txBody>
                    <a:bodyPr/>
                    <a:lstStyle/>
                    <a:p>
                      <a:pPr algn="l" rtl="0" fontAlgn="ctr"/>
                      <a:r>
                        <a:rPr lang="en-US" sz="900" b="0" i="0" u="none" strike="noStrike">
                          <a:solidFill>
                            <a:srgbClr val="000000"/>
                          </a:solidFill>
                          <a:effectLst/>
                          <a:latin typeface="Poppins" panose="00000500000000000000" pitchFamily="2" charset="0"/>
                        </a:rPr>
                        <a:t>CHAIT 154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1.8911995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NR</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$100,057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826118"/>
                  </a:ext>
                </a:extLst>
              </a:tr>
              <a:tr h="166129">
                <a:tc>
                  <a:txBody>
                    <a:bodyPr/>
                    <a:lstStyle/>
                    <a:p>
                      <a:pPr algn="l" rtl="0" fontAlgn="ctr"/>
                      <a:r>
                        <a:rPr lang="en-US" sz="900" b="0" i="0" u="none" strike="noStrike">
                          <a:solidFill>
                            <a:srgbClr val="000000"/>
                          </a:solidFill>
                          <a:effectLst/>
                          <a:latin typeface="Poppins" panose="00000500000000000000" pitchFamily="2" charset="0"/>
                        </a:rPr>
                        <a:t>BANK OF AMERICA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46.81%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1.8856671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$45,105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7382148"/>
                  </a:ext>
                </a:extLst>
              </a:tr>
              <a:tr h="213595">
                <a:tc>
                  <a:txBody>
                    <a:bodyPr/>
                    <a:lstStyle/>
                    <a:p>
                      <a:pPr algn="l" rtl="0" fontAlgn="ctr"/>
                      <a:r>
                        <a:rPr lang="en-US" sz="900" b="0" i="0" u="none" strike="noStrike">
                          <a:solidFill>
                            <a:srgbClr val="000000"/>
                          </a:solidFill>
                          <a:effectLst/>
                          <a:latin typeface="Poppins" panose="00000500000000000000" pitchFamily="2" charset="0"/>
                        </a:rPr>
                        <a:t>HARRIS 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INDUSTRIAL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41.10%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2.286775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4/27/2020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$50,098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761231"/>
                  </a:ext>
                </a:extLst>
              </a:tr>
              <a:tr h="213595">
                <a:tc>
                  <a:txBody>
                    <a:bodyPr/>
                    <a:lstStyle/>
                    <a:p>
                      <a:pPr algn="l" rtl="0" fontAlgn="ctr"/>
                      <a:r>
                        <a:rPr lang="en-US" sz="900" b="0" i="0" u="none" strike="noStrike">
                          <a:solidFill>
                            <a:srgbClr val="000000"/>
                          </a:solidFill>
                          <a:effectLst/>
                          <a:latin typeface="Poppins" panose="00000500000000000000" pitchFamily="2" charset="0"/>
                        </a:rPr>
                        <a:t>EUROPEAN INVESTMENT BANK</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SUPRANATIONAL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1.8131835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$110,274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2308538"/>
                  </a:ext>
                </a:extLst>
              </a:tr>
              <a:tr h="213595">
                <a:tc>
                  <a:txBody>
                    <a:bodyPr/>
                    <a:lstStyle/>
                    <a:p>
                      <a:pPr algn="l" rtl="0" fontAlgn="ctr"/>
                      <a:r>
                        <a:rPr lang="en-US" sz="900" b="0" i="0" u="none" strike="noStrike">
                          <a:solidFill>
                            <a:srgbClr val="000000"/>
                          </a:solidFill>
                          <a:effectLst/>
                          <a:latin typeface="Poppins" panose="00000500000000000000" pitchFamily="2" charset="0"/>
                        </a:rPr>
                        <a:t>UNITED STATES TREASURY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GOVERNMENT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US GOV</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65.64%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1.6238955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6/30/2020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$100,548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0.84%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986782"/>
                  </a:ext>
                </a:extLst>
              </a:tr>
              <a:tr h="213595">
                <a:tc>
                  <a:txBody>
                    <a:bodyPr/>
                    <a:lstStyle/>
                    <a:p>
                      <a:pPr algn="l" rtl="0" fontAlgn="ctr"/>
                      <a:r>
                        <a:rPr lang="de-DE" sz="900" b="0" i="0" u="none" strike="noStrike">
                          <a:solidFill>
                            <a:srgbClr val="000000"/>
                          </a:solidFill>
                          <a:effectLst/>
                          <a:latin typeface="Poppins" panose="00000500000000000000" pitchFamily="2" charset="0"/>
                        </a:rPr>
                        <a:t>DEUTSCHE BANK AG (NY BRANCH)</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68.43%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2.6452286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7/13/2020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$20,169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0.17%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216473"/>
                  </a:ext>
                </a:extLst>
              </a:tr>
              <a:tr h="213595">
                <a:tc>
                  <a:txBody>
                    <a:bodyPr/>
                    <a:lstStyle/>
                    <a:p>
                      <a:pPr algn="l" rtl="0" fontAlgn="ctr"/>
                      <a:r>
                        <a:rPr lang="en-US" sz="900" b="0" i="0" u="none" strike="noStrike">
                          <a:solidFill>
                            <a:srgbClr val="000000"/>
                          </a:solidFill>
                          <a:effectLst/>
                          <a:latin typeface="Poppins" panose="00000500000000000000" pitchFamily="2" charset="0"/>
                        </a:rPr>
                        <a:t>WELLS FARGO &amp; CO</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71.19%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1.8962492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7/22/2020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$55,670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0.46%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85760"/>
                  </a:ext>
                </a:extLst>
              </a:tr>
              <a:tr h="213595">
                <a:tc>
                  <a:txBody>
                    <a:bodyPr/>
                    <a:lstStyle/>
                    <a:p>
                      <a:pPr algn="l" rtl="0" fontAlgn="ctr"/>
                      <a:r>
                        <a:rPr lang="en-US" sz="900" b="0" i="0" u="none" strike="noStrike">
                          <a:solidFill>
                            <a:srgbClr val="000000"/>
                          </a:solidFill>
                          <a:effectLst/>
                          <a:latin typeface="Poppins" panose="00000500000000000000" pitchFamily="2" charset="0"/>
                        </a:rPr>
                        <a:t>ANTHEM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CONS. NON CYC.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77.06%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2.0067809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$35,959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648593"/>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INTERNATIONAL GROUP INC</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77.32%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1.9207537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8/15/2020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$30,553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0173202"/>
                  </a:ext>
                </a:extLst>
              </a:tr>
              <a:tr h="213595">
                <a:tc>
                  <a:txBody>
                    <a:bodyPr/>
                    <a:lstStyle/>
                    <a:p>
                      <a:pPr algn="l" rtl="0" fontAlgn="ctr"/>
                      <a:r>
                        <a:rPr lang="en-US" sz="900" b="0" i="0" u="none" strike="noStrike">
                          <a:solidFill>
                            <a:srgbClr val="000000"/>
                          </a:solidFill>
                          <a:effectLst/>
                          <a:latin typeface="Poppins" panose="00000500000000000000" pitchFamily="2" charset="0"/>
                        </a:rPr>
                        <a:t>DCENT 176 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ABS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78.40%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1.8729056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AAA</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8/17/2020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$120,108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433518"/>
                  </a:ext>
                </a:extLst>
              </a:tr>
              <a:tr h="213595">
                <a:tc>
                  <a:txBody>
                    <a:bodyPr/>
                    <a:lstStyle/>
                    <a:p>
                      <a:pPr algn="l" rtl="0" fontAlgn="ctr"/>
                      <a:r>
                        <a:rPr lang="en-US" sz="900" b="0" i="0" u="none" strike="noStrike">
                          <a:solidFill>
                            <a:srgbClr val="000000"/>
                          </a:solidFill>
                          <a:effectLst/>
                          <a:latin typeface="Poppins" panose="00000500000000000000" pitchFamily="2" charset="0"/>
                        </a:rPr>
                        <a:t>AMERICAN CAMPUS COMM. OP. PRTNSP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FINANCIAL</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CORP</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82.25%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2.050762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BAA2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10/1/2020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$45,606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0" i="0" u="none" strike="noStrike">
                          <a:solidFill>
                            <a:srgbClr val="000000"/>
                          </a:solidFill>
                          <a:effectLst/>
                          <a:latin typeface="Poppins" panose="00000500000000000000" pitchFamily="2" charset="0"/>
                        </a:rPr>
                        <a:t>0.38%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5677006"/>
                  </a:ext>
                </a:extLst>
              </a:tr>
            </a:tbl>
          </a:graphicData>
        </a:graphic>
      </p:graphicFrame>
      <p:graphicFrame>
        <p:nvGraphicFramePr>
          <p:cNvPr id="3" name="Table 2" hidden="1">
            <a:extLst>
              <a:ext uri="{FF2B5EF4-FFF2-40B4-BE49-F238E27FC236}">
                <a16:creationId xmlns:a16="http://schemas.microsoft.com/office/drawing/2014/main" id="{1F711E98-DAA0-46EB-8B8E-705A6A308A0A}"/>
              </a:ext>
            </a:extLst>
          </p:cNvPr>
          <p:cNvGraphicFramePr>
            <a:graphicFrameLocks noGrp="1"/>
          </p:cNvGraphicFramePr>
          <p:nvPr/>
        </p:nvGraphicFramePr>
        <p:xfrm>
          <a:off x="362585" y="1203960"/>
          <a:ext cx="8412480" cy="5113020"/>
        </p:xfrm>
        <a:graphic>
          <a:graphicData uri="http://schemas.openxmlformats.org/drawingml/2006/table">
            <a:tbl>
              <a:tblPr/>
              <a:tblGrid>
                <a:gridCol w="2380615">
                  <a:extLst>
                    <a:ext uri="{9D8B030D-6E8A-4147-A177-3AD203B41FA5}">
                      <a16:colId xmlns:a16="http://schemas.microsoft.com/office/drawing/2014/main" val="3225387243"/>
                    </a:ext>
                  </a:extLst>
                </a:gridCol>
                <a:gridCol w="1104728">
                  <a:extLst>
                    <a:ext uri="{9D8B030D-6E8A-4147-A177-3AD203B41FA5}">
                      <a16:colId xmlns:a16="http://schemas.microsoft.com/office/drawing/2014/main" val="1289031369"/>
                    </a:ext>
                  </a:extLst>
                </a:gridCol>
                <a:gridCol w="728176">
                  <a:extLst>
                    <a:ext uri="{9D8B030D-6E8A-4147-A177-3AD203B41FA5}">
                      <a16:colId xmlns:a16="http://schemas.microsoft.com/office/drawing/2014/main" val="2662241828"/>
                    </a:ext>
                  </a:extLst>
                </a:gridCol>
                <a:gridCol w="449889">
                  <a:extLst>
                    <a:ext uri="{9D8B030D-6E8A-4147-A177-3AD203B41FA5}">
                      <a16:colId xmlns:a16="http://schemas.microsoft.com/office/drawing/2014/main" val="3398770197"/>
                    </a:ext>
                  </a:extLst>
                </a:gridCol>
                <a:gridCol w="637342">
                  <a:extLst>
                    <a:ext uri="{9D8B030D-6E8A-4147-A177-3AD203B41FA5}">
                      <a16:colId xmlns:a16="http://schemas.microsoft.com/office/drawing/2014/main" val="3411342490"/>
                    </a:ext>
                  </a:extLst>
                </a:gridCol>
                <a:gridCol w="774808">
                  <a:extLst>
                    <a:ext uri="{9D8B030D-6E8A-4147-A177-3AD203B41FA5}">
                      <a16:colId xmlns:a16="http://schemas.microsoft.com/office/drawing/2014/main" val="3356158280"/>
                    </a:ext>
                  </a:extLst>
                </a:gridCol>
                <a:gridCol w="799802">
                  <a:extLst>
                    <a:ext uri="{9D8B030D-6E8A-4147-A177-3AD203B41FA5}">
                      <a16:colId xmlns:a16="http://schemas.microsoft.com/office/drawing/2014/main" val="1386931236"/>
                    </a:ext>
                  </a:extLst>
                </a:gridCol>
                <a:gridCol w="787305">
                  <a:extLst>
                    <a:ext uri="{9D8B030D-6E8A-4147-A177-3AD203B41FA5}">
                      <a16:colId xmlns:a16="http://schemas.microsoft.com/office/drawing/2014/main" val="3141232831"/>
                    </a:ext>
                  </a:extLst>
                </a:gridCol>
                <a:gridCol w="749815">
                  <a:extLst>
                    <a:ext uri="{9D8B030D-6E8A-4147-A177-3AD203B41FA5}">
                      <a16:colId xmlns:a16="http://schemas.microsoft.com/office/drawing/2014/main" val="1501712056"/>
                    </a:ext>
                  </a:extLst>
                </a:gridCol>
              </a:tblGrid>
              <a:tr h="261553">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S&amp;P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MOODY'S RATING</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FINAL MATURITY</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7620" marR="7620" marT="7620" marB="0" anchor="ctr">
                    <a:lnL>
                      <a:noFill/>
                    </a:lnL>
                    <a:lnR>
                      <a:noFill/>
                    </a:lnR>
                    <a:lnT>
                      <a:noFill/>
                    </a:lnT>
                    <a:lnB>
                      <a:noFill/>
                    </a:lnB>
                    <a:solidFill>
                      <a:srgbClr val="5490A6"/>
                    </a:solidFill>
                  </a:tcPr>
                </a:tc>
                <a:extLst>
                  <a:ext uri="{0D108BD9-81ED-4DB2-BD59-A6C34878D82A}">
                    <a16:rowId xmlns:a16="http://schemas.microsoft.com/office/drawing/2014/main" val="2513351061"/>
                  </a:ext>
                </a:extLst>
              </a:tr>
              <a:tr h="133966">
                <a:tc>
                  <a:txBody>
                    <a:bodyPr/>
                    <a:lstStyle/>
                    <a:p>
                      <a:pPr algn="l" rtl="0" fontAlgn="ctr"/>
                      <a:r>
                        <a:rPr lang="en-US" sz="1000" b="0" i="0" u="none" strike="noStrike">
                          <a:solidFill>
                            <a:srgbClr val="000000"/>
                          </a:solidFill>
                          <a:effectLst/>
                          <a:latin typeface="Poppins" panose="00000500000000000000" pitchFamily="2" charset="0"/>
                        </a:rPr>
                        <a:t>MCCT 211 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1.93</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3.07%</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11/21/2025</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$95,184 </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8698817"/>
                  </a:ext>
                </a:extLst>
              </a:tr>
              <a:tr h="133966">
                <a:tc>
                  <a:txBody>
                    <a:bodyPr/>
                    <a:lstStyle/>
                    <a:p>
                      <a:pPr algn="l" rtl="0" fontAlgn="ctr"/>
                      <a:r>
                        <a:rPr lang="en-US" sz="1000" b="0" i="0" u="none" strike="noStrike">
                          <a:solidFill>
                            <a:srgbClr val="000000"/>
                          </a:solidFill>
                          <a:effectLst/>
                          <a:latin typeface="Poppins" panose="00000500000000000000" pitchFamily="2" charset="0"/>
                        </a:rPr>
                        <a:t>GCCT 211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$91,155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99481353"/>
                  </a:ext>
                </a:extLst>
              </a:tr>
              <a:tr h="133966">
                <a:tc>
                  <a:txBody>
                    <a:bodyPr/>
                    <a:lstStyle/>
                    <a:p>
                      <a:pPr algn="l" rtl="0" fontAlgn="ctr"/>
                      <a:r>
                        <a:rPr lang="en-US" sz="1000" b="0" i="0" u="none" strike="noStrike">
                          <a:solidFill>
                            <a:srgbClr val="000000"/>
                          </a:solidFill>
                          <a:effectLst/>
                          <a:latin typeface="Poppins" panose="00000500000000000000" pitchFamily="2" charset="0"/>
                        </a:rPr>
                        <a:t>AMETOW 2018-1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4.21%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$24,329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818887326"/>
                  </a:ext>
                </a:extLst>
              </a:tr>
              <a:tr h="133966">
                <a:tc>
                  <a:txBody>
                    <a:bodyPr/>
                    <a:lstStyle/>
                    <a:p>
                      <a:pPr algn="l" rtl="0" fontAlgn="ctr"/>
                      <a:r>
                        <a:rPr lang="en-US" sz="1000" b="0" i="0" u="none" strike="noStrike">
                          <a:solidFill>
                            <a:srgbClr val="000000"/>
                          </a:solidFill>
                          <a:effectLst/>
                          <a:latin typeface="Poppins" panose="00000500000000000000" pitchFamily="2" charset="0"/>
                        </a:rPr>
                        <a:t>TESLA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12/20/2023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$13,575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09573489"/>
                  </a:ext>
                </a:extLst>
              </a:tr>
              <a:tr h="133966">
                <a:tc>
                  <a:txBody>
                    <a:bodyPr/>
                    <a:lstStyle/>
                    <a:p>
                      <a:pPr algn="l" rtl="0" fontAlgn="ctr"/>
                      <a:r>
                        <a:rPr lang="en-US" sz="1000" b="0" i="0" u="none" strike="noStrike">
                          <a:solidFill>
                            <a:srgbClr val="000000"/>
                          </a:solidFill>
                          <a:effectLst/>
                          <a:latin typeface="Poppins" panose="00000500000000000000" pitchFamily="2" charset="0"/>
                        </a:rPr>
                        <a:t>CNH 2020-A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6/16/2025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$30,611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29693139"/>
                  </a:ext>
                </a:extLst>
              </a:tr>
              <a:tr h="133966">
                <a:tc>
                  <a:txBody>
                    <a:bodyPr/>
                    <a:lstStyle/>
                    <a:p>
                      <a:pPr algn="l" rtl="0" fontAlgn="ctr"/>
                      <a:r>
                        <a:rPr lang="en-US" sz="1000" b="0" i="0" u="none" strike="noStrike">
                          <a:solidFill>
                            <a:srgbClr val="000000"/>
                          </a:solidFill>
                          <a:effectLst/>
                          <a:latin typeface="Poppins" panose="00000500000000000000" pitchFamily="2" charset="0"/>
                        </a:rPr>
                        <a:t>WEPCO ENVIRONMENTAL TRUST</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$87,524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69284966"/>
                  </a:ext>
                </a:extLst>
              </a:tr>
              <a:tr h="133966">
                <a:tc>
                  <a:txBody>
                    <a:bodyPr/>
                    <a:lstStyle/>
                    <a:p>
                      <a:pPr algn="l" rtl="0" fontAlgn="ctr"/>
                      <a:r>
                        <a:rPr lang="en-US" sz="1000" b="0" i="0" u="none" strike="noStrike">
                          <a:solidFill>
                            <a:srgbClr val="000000"/>
                          </a:solidFill>
                          <a:effectLst/>
                          <a:latin typeface="Poppins" panose="00000500000000000000" pitchFamily="2" charset="0"/>
                        </a:rPr>
                        <a:t>COMET A(2015-4)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NR</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$50,129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8729621"/>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2021-2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$32,394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421238934"/>
                  </a:ext>
                </a:extLst>
              </a:tr>
              <a:tr h="133966">
                <a:tc>
                  <a:txBody>
                    <a:bodyPr/>
                    <a:lstStyle/>
                    <a:p>
                      <a:pPr algn="l" rtl="0" fontAlgn="ctr"/>
                      <a:r>
                        <a:rPr lang="en-US" sz="1000" b="0" i="0" u="none" strike="noStrike">
                          <a:solidFill>
                            <a:srgbClr val="000000"/>
                          </a:solidFill>
                          <a:effectLst/>
                          <a:latin typeface="Poppins" panose="00000500000000000000" pitchFamily="2" charset="0"/>
                        </a:rPr>
                        <a:t>DRIVE 2021-1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$32,448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055303132"/>
                  </a:ext>
                </a:extLst>
              </a:tr>
              <a:tr h="133966">
                <a:tc>
                  <a:txBody>
                    <a:bodyPr/>
                    <a:lstStyle/>
                    <a:p>
                      <a:pPr algn="l" rtl="0" fontAlgn="ctr"/>
                      <a:r>
                        <a:rPr lang="en-US" sz="1000" b="0" i="0" u="none" strike="noStrike">
                          <a:solidFill>
                            <a:srgbClr val="000000"/>
                          </a:solidFill>
                          <a:effectLst/>
                          <a:latin typeface="Poppins" panose="00000500000000000000" pitchFamily="2" charset="0"/>
                        </a:rPr>
                        <a:t>PART 211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$21,417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633210852"/>
                  </a:ext>
                </a:extLst>
              </a:tr>
              <a:tr h="133966">
                <a:tc>
                  <a:txBody>
                    <a:bodyPr/>
                    <a:lstStyle/>
                    <a:p>
                      <a:pPr algn="l" rtl="0" fontAlgn="ctr"/>
                      <a:r>
                        <a:rPr lang="en-US" sz="1000" b="0" i="0" u="none" strike="noStrike">
                          <a:solidFill>
                            <a:srgbClr val="000000"/>
                          </a:solidFill>
                          <a:effectLst/>
                          <a:latin typeface="Poppins" panose="00000500000000000000" pitchFamily="2" charset="0"/>
                        </a:rPr>
                        <a:t>PCG 2021-A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$130,438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90086829"/>
                  </a:ext>
                </a:extLst>
              </a:tr>
              <a:tr h="133966">
                <a:tc>
                  <a:txBody>
                    <a:bodyPr/>
                    <a:lstStyle/>
                    <a:p>
                      <a:pPr algn="l" rtl="0" fontAlgn="ctr"/>
                      <a:r>
                        <a:rPr lang="en-US" sz="1000" b="0" i="0" u="none" strike="noStrike">
                          <a:solidFill>
                            <a:srgbClr val="000000"/>
                          </a:solidFill>
                          <a:effectLst/>
                          <a:latin typeface="Poppins" panose="00000500000000000000" pitchFamily="2" charset="0"/>
                        </a:rPr>
                        <a:t>DTAOT 2020-3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4/15/2024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$10,234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165812522"/>
                  </a:ext>
                </a:extLst>
              </a:tr>
              <a:tr h="133966">
                <a:tc>
                  <a:txBody>
                    <a:bodyPr/>
                    <a:lstStyle/>
                    <a:p>
                      <a:pPr algn="l" rtl="0" fontAlgn="ctr"/>
                      <a:r>
                        <a:rPr lang="en-US" sz="1000" b="0" i="0" u="none" strike="noStrike">
                          <a:solidFill>
                            <a:srgbClr val="000000"/>
                          </a:solidFill>
                          <a:effectLst/>
                          <a:latin typeface="Poppins" panose="00000500000000000000" pitchFamily="2" charset="0"/>
                        </a:rPr>
                        <a:t>JDOT 2019 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7/17/2023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$105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05904287"/>
                  </a:ext>
                </a:extLst>
              </a:tr>
              <a:tr h="133966">
                <a:tc>
                  <a:txBody>
                    <a:bodyPr/>
                    <a:lstStyle/>
                    <a:p>
                      <a:pPr algn="l" rtl="0" fontAlgn="ctr"/>
                      <a:r>
                        <a:rPr lang="en-US" sz="1000" b="0" i="0" u="none" strike="noStrike">
                          <a:solidFill>
                            <a:srgbClr val="000000"/>
                          </a:solidFill>
                          <a:effectLst/>
                          <a:latin typeface="Poppins" panose="00000500000000000000" pitchFamily="2" charset="0"/>
                        </a:rPr>
                        <a:t>EIX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$38,316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81546317"/>
                  </a:ext>
                </a:extLst>
              </a:tr>
              <a:tr h="133966">
                <a:tc>
                  <a:txBody>
                    <a:bodyPr/>
                    <a:lstStyle/>
                    <a:p>
                      <a:pPr algn="l" rtl="0" fontAlgn="ctr"/>
                      <a:r>
                        <a:rPr lang="en-US" sz="1000" b="0" i="0" u="none" strike="noStrike">
                          <a:solidFill>
                            <a:srgbClr val="000000"/>
                          </a:solidFill>
                          <a:effectLst/>
                          <a:latin typeface="Poppins" panose="00000500000000000000" pitchFamily="2" charset="0"/>
                        </a:rPr>
                        <a:t>CARMX 2022-1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P-1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$17,581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804292824"/>
                  </a:ext>
                </a:extLst>
              </a:tr>
              <a:tr h="133966">
                <a:tc>
                  <a:txBody>
                    <a:bodyPr/>
                    <a:lstStyle/>
                    <a:p>
                      <a:pPr algn="l" rtl="0" fontAlgn="ctr"/>
                      <a:r>
                        <a:rPr lang="en-US" sz="1000" b="0" i="0" u="none" strike="noStrike">
                          <a:solidFill>
                            <a:srgbClr val="000000"/>
                          </a:solidFill>
                          <a:effectLst/>
                          <a:latin typeface="Poppins" panose="00000500000000000000" pitchFamily="2" charset="0"/>
                        </a:rPr>
                        <a:t>DTE 2022A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3.20%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$61,508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740355524"/>
                  </a:ext>
                </a:extLst>
              </a:tr>
              <a:tr h="133966">
                <a:tc>
                  <a:txBody>
                    <a:bodyPr/>
                    <a:lstStyle/>
                    <a:p>
                      <a:pPr algn="l" rtl="0" fontAlgn="ctr"/>
                      <a:r>
                        <a:rPr lang="en-US" sz="1000" b="0" i="0" u="none" strike="noStrike">
                          <a:solidFill>
                            <a:srgbClr val="000000"/>
                          </a:solidFill>
                          <a:effectLst/>
                          <a:latin typeface="Poppins" panose="00000500000000000000" pitchFamily="2" charset="0"/>
                        </a:rPr>
                        <a:t>EART 2020-3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9/16/2024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$31,353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215205954"/>
                  </a:ext>
                </a:extLst>
              </a:tr>
              <a:tr h="133966">
                <a:tc>
                  <a:txBody>
                    <a:bodyPr/>
                    <a:lstStyle/>
                    <a:p>
                      <a:pPr algn="l" rtl="0" fontAlgn="ctr"/>
                      <a:r>
                        <a:rPr lang="en-US" sz="1000" b="0" i="0" u="none" strike="noStrike">
                          <a:solidFill>
                            <a:srgbClr val="000000"/>
                          </a:solidFill>
                          <a:effectLst/>
                          <a:latin typeface="Poppins" panose="00000500000000000000" pitchFamily="2" charset="0"/>
                        </a:rPr>
                        <a:t>PSNH 2018-1 A1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2.78%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$88,213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366523"/>
                  </a:ext>
                </a:extLst>
              </a:tr>
              <a:tr h="133966">
                <a:tc>
                  <a:txBody>
                    <a:bodyPr/>
                    <a:lstStyle/>
                    <a:p>
                      <a:pPr algn="l"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$103,637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903602055"/>
                  </a:ext>
                </a:extLst>
              </a:tr>
              <a:tr h="133966">
                <a:tc>
                  <a:txBody>
                    <a:bodyPr/>
                    <a:lstStyle/>
                    <a:p>
                      <a:pPr algn="l" rtl="0" fontAlgn="ctr"/>
                      <a:r>
                        <a:rPr lang="en-US" sz="1000" b="0" i="0" u="none" strike="noStrike">
                          <a:solidFill>
                            <a:srgbClr val="000000"/>
                          </a:solidFill>
                          <a:effectLst/>
                          <a:latin typeface="Poppins" panose="00000500000000000000" pitchFamily="2" charset="0"/>
                        </a:rPr>
                        <a:t>PAYABLE</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CASH</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5/31/2022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-$16,284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323594648"/>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2013-CCRE9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0.95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3.69%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7/10/2045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$66,103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487237402"/>
                  </a:ext>
                </a:extLst>
              </a:tr>
              <a:tr h="133966">
                <a:tc>
                  <a:txBody>
                    <a:bodyPr/>
                    <a:lstStyle/>
                    <a:p>
                      <a:pPr algn="l" rtl="0" fontAlgn="ctr"/>
                      <a:r>
                        <a:rPr lang="en-US" sz="1000" b="0" i="0" u="none" strike="noStrike">
                          <a:solidFill>
                            <a:srgbClr val="000000"/>
                          </a:solidFill>
                          <a:effectLst/>
                          <a:latin typeface="Poppins" panose="00000500000000000000" pitchFamily="2" charset="0"/>
                        </a:rPr>
                        <a:t>WFCM 2016-LC25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12/17/2059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$39,580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955962324"/>
                  </a:ext>
                </a:extLst>
              </a:tr>
              <a:tr h="133966">
                <a:tc>
                  <a:txBody>
                    <a:bodyPr/>
                    <a:lstStyle/>
                    <a:p>
                      <a:pPr algn="l" rtl="0" fontAlgn="ctr"/>
                      <a:r>
                        <a:rPr lang="en-US" sz="1000" b="0" i="0" u="none" strike="noStrike">
                          <a:solidFill>
                            <a:srgbClr val="000000"/>
                          </a:solidFill>
                          <a:effectLst/>
                          <a:latin typeface="Poppins" panose="00000500000000000000" pitchFamily="2" charset="0"/>
                        </a:rPr>
                        <a:t>WFRBS 2014-C22 A5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9/15/2057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$55,019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39570288"/>
                  </a:ext>
                </a:extLst>
              </a:tr>
              <a:tr h="133966">
                <a:tc>
                  <a:txBody>
                    <a:bodyPr/>
                    <a:lstStyle/>
                    <a:p>
                      <a:pPr algn="l" rtl="0" fontAlgn="ctr"/>
                      <a:r>
                        <a:rPr lang="en-US" sz="1000" b="0" i="0" u="none" strike="noStrike">
                          <a:solidFill>
                            <a:srgbClr val="000000"/>
                          </a:solidFill>
                          <a:effectLst/>
                          <a:latin typeface="Poppins" panose="00000500000000000000" pitchFamily="2" charset="0"/>
                        </a:rPr>
                        <a:t>GSMS 2017-GS8 A4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4.75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4.03%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11/14/2050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$53,719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02056364"/>
                  </a:ext>
                </a:extLst>
              </a:tr>
              <a:tr h="133966">
                <a:tc>
                  <a:txBody>
                    <a:bodyPr/>
                    <a:lstStyle/>
                    <a:p>
                      <a:pPr algn="l" rtl="0" fontAlgn="ctr"/>
                      <a:r>
                        <a:rPr lang="en-US" sz="1000" b="0" i="0" u="none" strike="noStrike">
                          <a:solidFill>
                            <a:srgbClr val="000000"/>
                          </a:solidFill>
                          <a:effectLst/>
                          <a:latin typeface="Poppins" panose="00000500000000000000" pitchFamily="2" charset="0"/>
                        </a:rPr>
                        <a:t>COMM 2015-LC23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10/13/2048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$14,234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20636460"/>
                  </a:ext>
                </a:extLst>
              </a:tr>
              <a:tr h="133966">
                <a:tc>
                  <a:txBody>
                    <a:bodyPr/>
                    <a:lstStyle/>
                    <a:p>
                      <a:pPr algn="l" rtl="0" fontAlgn="ctr"/>
                      <a:r>
                        <a:rPr lang="en-US" sz="1000" b="0" i="0" u="none" strike="noStrike">
                          <a:solidFill>
                            <a:srgbClr val="000000"/>
                          </a:solidFill>
                          <a:effectLst/>
                          <a:latin typeface="Poppins" panose="00000500000000000000" pitchFamily="2" charset="0"/>
                        </a:rPr>
                        <a:t>MKT 2020-525M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6.66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4.44%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2/1/2035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$26,747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250412470"/>
                  </a:ext>
                </a:extLst>
              </a:tr>
              <a:tr h="133966">
                <a:tc>
                  <a:txBody>
                    <a:bodyPr/>
                    <a:lstStyle/>
                    <a:p>
                      <a:pPr algn="l" rtl="0" fontAlgn="ctr"/>
                      <a:r>
                        <a:rPr lang="en-US" sz="1000" b="0" i="0" u="none" strike="noStrike">
                          <a:solidFill>
                            <a:srgbClr val="000000"/>
                          </a:solidFill>
                          <a:effectLst/>
                          <a:latin typeface="Poppins" panose="00000500000000000000" pitchFamily="2" charset="0"/>
                        </a:rPr>
                        <a:t>BX 22LP2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2/15/2027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$91,210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833958633"/>
                  </a:ext>
                </a:extLst>
              </a:tr>
              <a:tr h="133966">
                <a:tc>
                  <a:txBody>
                    <a:bodyPr/>
                    <a:lstStyle/>
                    <a:p>
                      <a:pPr algn="l" rtl="0" fontAlgn="ctr"/>
                      <a:r>
                        <a:rPr lang="en-US" sz="1000" b="0" i="0" u="none" strike="noStrike">
                          <a:solidFill>
                            <a:srgbClr val="000000"/>
                          </a:solidFill>
                          <a:effectLst/>
                          <a:latin typeface="Poppins" panose="00000500000000000000" pitchFamily="2" charset="0"/>
                        </a:rPr>
                        <a:t>MTN 22LPFL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3/15/2039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$98,128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5543176"/>
                  </a:ext>
                </a:extLst>
              </a:tr>
              <a:tr h="133966">
                <a:tc>
                  <a:txBody>
                    <a:bodyPr/>
                    <a:lstStyle/>
                    <a:p>
                      <a:pPr algn="l" rtl="0" fontAlgn="ctr"/>
                      <a:r>
                        <a:rPr lang="en-US" sz="1000" b="0" i="0" u="none" strike="noStrike">
                          <a:solidFill>
                            <a:srgbClr val="000000"/>
                          </a:solidFill>
                          <a:effectLst/>
                          <a:latin typeface="Poppins" panose="00000500000000000000" pitchFamily="2" charset="0"/>
                        </a:rPr>
                        <a:t>VNDO 2012-6AVE 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0.45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11/15/2030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$100,334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14314611"/>
                  </a:ext>
                </a:extLst>
              </a:tr>
              <a:tr h="133966">
                <a:tc>
                  <a:txBody>
                    <a:bodyPr/>
                    <a:lstStyle/>
                    <a:p>
                      <a:pPr algn="l" rtl="0" fontAlgn="ctr"/>
                      <a:r>
                        <a:rPr lang="en-US" sz="1000" b="0" i="0" u="none" strike="noStrike">
                          <a:solidFill>
                            <a:srgbClr val="000000"/>
                          </a:solidFill>
                          <a:effectLst/>
                          <a:latin typeface="Poppins" panose="00000500000000000000" pitchFamily="2" charset="0"/>
                        </a:rPr>
                        <a:t>BAMLL 2012-PARK 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CMBS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0.51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2.84%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NA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12/10/2030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$100,246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Poppins" panose="00000500000000000000" pitchFamily="2" charset="0"/>
                        </a:rPr>
                        <a:t>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15199531"/>
                  </a:ext>
                </a:extLst>
              </a:tr>
            </a:tbl>
          </a:graphicData>
        </a:graphic>
      </p:graphicFrame>
      <p:sp>
        <p:nvSpPr>
          <p:cNvPr id="9" name="Line 309">
            <a:extLst>
              <a:ext uri="{FF2B5EF4-FFF2-40B4-BE49-F238E27FC236}">
                <a16:creationId xmlns:a16="http://schemas.microsoft.com/office/drawing/2014/main" id="{B30F1905-0025-B3C4-A983-80DBFF15FC33}"/>
              </a:ext>
            </a:extLst>
          </p:cNvPr>
          <p:cNvSpPr>
            <a:spLocks noChangeShapeType="1"/>
          </p:cNvSpPr>
          <p:nvPr/>
        </p:nvSpPr>
        <p:spPr bwMode="auto">
          <a:xfrm>
            <a:off x="371461" y="6584306"/>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6" name="Slide Number Placeholder 1">
            <a:extLst>
              <a:ext uri="{FF2B5EF4-FFF2-40B4-BE49-F238E27FC236}">
                <a16:creationId xmlns:a16="http://schemas.microsoft.com/office/drawing/2014/main" id="{0FEC4E49-8846-97F5-4CD9-C04AB6DF0583}"/>
              </a:ext>
            </a:extLst>
          </p:cNvPr>
          <p:cNvSpPr txBox="1">
            <a:spLocks/>
          </p:cNvSpPr>
          <p:nvPr/>
        </p:nvSpPr>
        <p:spPr>
          <a:xfrm>
            <a:off x="8699099" y="6582055"/>
            <a:ext cx="514350" cy="275945"/>
          </a:xfrm>
          <a:prstGeom prst="rect">
            <a:avLst/>
          </a:prstGeom>
        </p:spPr>
        <p:txBody>
          <a:bodyPr/>
          <a:lstStyle>
            <a:defPPr>
              <a:defRPr lang="en-US"/>
            </a:defPPr>
            <a:lvl1pPr marL="0" algn="l" defTabSz="457200" rtl="0" eaLnBrk="1" latinLnBrk="0" hangingPunct="1">
              <a:defRPr sz="800" kern="1200">
                <a:solidFill>
                  <a:schemeClr val="tx1"/>
                </a:solidFill>
                <a:latin typeface="Poppins" panose="00000500000000000000" pitchFamily="2" charset="0"/>
                <a:ea typeface="+mn-ea"/>
                <a:cs typeface="Poppins" panose="00000500000000000000"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806867" fontAlgn="base">
              <a:spcBef>
                <a:spcPct val="0"/>
              </a:spcBef>
              <a:spcAft>
                <a:spcPct val="0"/>
              </a:spcAft>
              <a:defRPr/>
            </a:pPr>
            <a:fld id="{1F3AF4E7-7E42-4609-9D36-1FCB1339153A}" type="slidenum">
              <a:rPr lang="en-US" sz="882" smtClean="0">
                <a:solidFill>
                  <a:srgbClr val="000000"/>
                </a:solidFill>
              </a:rPr>
              <a:pPr defTabSz="806867" fontAlgn="base">
                <a:spcBef>
                  <a:spcPct val="0"/>
                </a:spcBef>
                <a:spcAft>
                  <a:spcPct val="0"/>
                </a:spcAft>
                <a:defRPr/>
              </a:pPr>
              <a:t>32</a:t>
            </a:fld>
            <a:endParaRPr lang="en-US" sz="882">
              <a:solidFill>
                <a:srgbClr val="000000"/>
              </a:solidFill>
            </a:endParaRPr>
          </a:p>
        </p:txBody>
      </p:sp>
      <p:graphicFrame>
        <p:nvGraphicFramePr>
          <p:cNvPr id="10" name="Table 9">
            <a:extLst>
              <a:ext uri="{FF2B5EF4-FFF2-40B4-BE49-F238E27FC236}">
                <a16:creationId xmlns:a16="http://schemas.microsoft.com/office/drawing/2014/main" id="{FDB1F494-CEB7-F3AB-4565-22E4034FB570}"/>
              </a:ext>
            </a:extLst>
          </p:cNvPr>
          <p:cNvGraphicFramePr>
            <a:graphicFrameLocks noGrp="1"/>
          </p:cNvGraphicFramePr>
          <p:nvPr>
            <p:extLst>
              <p:ext uri="{D42A27DB-BD31-4B8C-83A1-F6EECF244321}">
                <p14:modId xmlns:p14="http://schemas.microsoft.com/office/powerpoint/2010/main" val="2733381127"/>
              </p:ext>
            </p:extLst>
          </p:nvPr>
        </p:nvGraphicFramePr>
        <p:xfrm>
          <a:off x="366583" y="1238443"/>
          <a:ext cx="8412481" cy="3976331"/>
        </p:xfrm>
        <a:graphic>
          <a:graphicData uri="http://schemas.openxmlformats.org/drawingml/2006/table">
            <a:tbl>
              <a:tblPr/>
              <a:tblGrid>
                <a:gridCol w="2600665">
                  <a:extLst>
                    <a:ext uri="{9D8B030D-6E8A-4147-A177-3AD203B41FA5}">
                      <a16:colId xmlns:a16="http://schemas.microsoft.com/office/drawing/2014/main" val="1002834257"/>
                    </a:ext>
                  </a:extLst>
                </a:gridCol>
                <a:gridCol w="1131601">
                  <a:extLst>
                    <a:ext uri="{9D8B030D-6E8A-4147-A177-3AD203B41FA5}">
                      <a16:colId xmlns:a16="http://schemas.microsoft.com/office/drawing/2014/main" val="3529631700"/>
                    </a:ext>
                  </a:extLst>
                </a:gridCol>
                <a:gridCol w="911663">
                  <a:extLst>
                    <a:ext uri="{9D8B030D-6E8A-4147-A177-3AD203B41FA5}">
                      <a16:colId xmlns:a16="http://schemas.microsoft.com/office/drawing/2014/main" val="2630362925"/>
                    </a:ext>
                  </a:extLst>
                </a:gridCol>
                <a:gridCol w="505585">
                  <a:extLst>
                    <a:ext uri="{9D8B030D-6E8A-4147-A177-3AD203B41FA5}">
                      <a16:colId xmlns:a16="http://schemas.microsoft.com/office/drawing/2014/main" val="1988513568"/>
                    </a:ext>
                  </a:extLst>
                </a:gridCol>
                <a:gridCol w="604253">
                  <a:extLst>
                    <a:ext uri="{9D8B030D-6E8A-4147-A177-3AD203B41FA5}">
                      <a16:colId xmlns:a16="http://schemas.microsoft.com/office/drawing/2014/main" val="2164300373"/>
                    </a:ext>
                  </a:extLst>
                </a:gridCol>
                <a:gridCol w="944832">
                  <a:extLst>
                    <a:ext uri="{9D8B030D-6E8A-4147-A177-3AD203B41FA5}">
                      <a16:colId xmlns:a16="http://schemas.microsoft.com/office/drawing/2014/main" val="2411149920"/>
                    </a:ext>
                  </a:extLst>
                </a:gridCol>
                <a:gridCol w="856941">
                  <a:extLst>
                    <a:ext uri="{9D8B030D-6E8A-4147-A177-3AD203B41FA5}">
                      <a16:colId xmlns:a16="http://schemas.microsoft.com/office/drawing/2014/main" val="2814648439"/>
                    </a:ext>
                  </a:extLst>
                </a:gridCol>
                <a:gridCol w="856941">
                  <a:extLst>
                    <a:ext uri="{9D8B030D-6E8A-4147-A177-3AD203B41FA5}">
                      <a16:colId xmlns:a16="http://schemas.microsoft.com/office/drawing/2014/main" val="3941153654"/>
                    </a:ext>
                  </a:extLst>
                </a:gridCol>
              </a:tblGrid>
              <a:tr h="373931">
                <a:tc>
                  <a:txBody>
                    <a:bodyPr/>
                    <a:lstStyle/>
                    <a:p>
                      <a:pPr algn="ctr" rtl="0" fontAlgn="ctr"/>
                      <a:r>
                        <a:rPr lang="en-US" sz="1000" b="0" i="0" u="none" strike="noStrike">
                          <a:solidFill>
                            <a:srgbClr val="FFFFFF"/>
                          </a:solidFill>
                          <a:effectLst/>
                          <a:latin typeface="Poppins SemiBold" panose="00000700000000000000" pitchFamily="2" charset="0"/>
                        </a:rPr>
                        <a:t>ISSUER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INDUSTRY SECTOR</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DURATION</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YIELD</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RATING</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MATURITY</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tc>
                  <a:txBody>
                    <a:bodyPr/>
                    <a:lstStyle/>
                    <a:p>
                      <a:pPr algn="ctr" rtl="0" fontAlgn="ctr"/>
                      <a:r>
                        <a:rPr lang="en-US" sz="1000" b="0" i="0" u="none" strike="noStrike">
                          <a:solidFill>
                            <a:srgbClr val="FFFFFF"/>
                          </a:solidFill>
                          <a:effectLst/>
                          <a:latin typeface="Poppins SemiBold" panose="00000700000000000000" pitchFamily="2" charset="0"/>
                        </a:rPr>
                        <a:t>% VALUE</a:t>
                      </a:r>
                    </a:p>
                  </a:txBody>
                  <a:tcPr marL="4571" marR="4571" marT="4571" marB="0" anchor="ctr">
                    <a:lnL>
                      <a:noFill/>
                    </a:lnL>
                    <a:lnR>
                      <a:noFill/>
                    </a:lnR>
                    <a:lnT>
                      <a:noFill/>
                    </a:lnT>
                    <a:lnB w="6350" cap="flat" cmpd="sng" algn="ctr">
                      <a:solidFill>
                        <a:srgbClr val="BFBFBF"/>
                      </a:solidFill>
                      <a:prstDash val="solid"/>
                      <a:round/>
                      <a:headEnd type="none" w="med" len="med"/>
                      <a:tailEnd type="none" w="med" len="med"/>
                    </a:lnB>
                    <a:solidFill>
                      <a:srgbClr val="5490A6"/>
                    </a:solidFill>
                  </a:tcPr>
                </a:tc>
                <a:extLst>
                  <a:ext uri="{0D108BD9-81ED-4DB2-BD59-A6C34878D82A}">
                    <a16:rowId xmlns:a16="http://schemas.microsoft.com/office/drawing/2014/main" val="716417198"/>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5.16</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4.41%</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5/15/2030</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$2,057,475</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2.6%</a:t>
                      </a:r>
                    </a:p>
                  </a:txBody>
                  <a:tcPr marL="7620" marR="7620" marT="7620" marB="0" anchor="ctr">
                    <a:lnL>
                      <a:noFill/>
                    </a:lnL>
                    <a:lnR>
                      <a:noFill/>
                    </a:lnR>
                    <a:lnT w="635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767144321"/>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3.43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7/31/2028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$3,130,483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894401341"/>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11/15/2031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$3,042,390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256628083"/>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4/30/2027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$2,180,571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694508816"/>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6.65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8/15/2032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$3,840,086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89669971"/>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4.23%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1/31/2026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$1,071,604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034394001"/>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7.11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5/15/2033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$1,084,947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49627683"/>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5/31/2025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$1,145,369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91989528"/>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7.41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4.58%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2/15/2034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$6,913,274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900703067"/>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3.81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4.38%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3/31/2029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$11,343,026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231493323"/>
                  </a:ext>
                </a:extLst>
              </a:tr>
              <a:tr h="189600">
                <a:tc>
                  <a:txBody>
                    <a:bodyPr/>
                    <a:lstStyle/>
                    <a:p>
                      <a:pPr algn="l" rtl="0" fontAlgn="ctr"/>
                      <a:r>
                        <a:rPr lang="en-US" sz="1050" b="0" i="0" u="none" strike="noStrike">
                          <a:solidFill>
                            <a:srgbClr val="000000"/>
                          </a:solidFill>
                          <a:effectLst/>
                          <a:latin typeface="Poppins" panose="00000500000000000000" pitchFamily="2" charset="0"/>
                        </a:rPr>
                        <a:t>UNITED STATES TREASURY</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TREASURIES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0.65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8/31/2025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$1,618,127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552557174"/>
                  </a:ext>
                </a:extLst>
              </a:tr>
              <a:tr h="189600">
                <a:tc>
                  <a:txBody>
                    <a:bodyPr/>
                    <a:lstStyle/>
                    <a:p>
                      <a:pPr algn="l" rtl="0" fontAlgn="ctr"/>
                      <a:r>
                        <a:rPr lang="en-US" sz="1050" b="0" i="0" u="none" strike="noStrike">
                          <a:solidFill>
                            <a:srgbClr val="000000"/>
                          </a:solidFill>
                          <a:effectLst/>
                          <a:latin typeface="Poppins" panose="00000500000000000000" pitchFamily="2" charset="0"/>
                        </a:rPr>
                        <a:t>FHMS K-045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US 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4.16%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1/25/2025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$166,807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32167986"/>
                  </a:ext>
                </a:extLst>
              </a:tr>
              <a:tr h="189600">
                <a:tc>
                  <a:txBody>
                    <a:bodyPr/>
                    <a:lstStyle/>
                    <a:p>
                      <a:pPr algn="l" rtl="0" fontAlgn="ctr"/>
                      <a:r>
                        <a:rPr lang="en-US" sz="1050" b="0" i="0" u="none" strike="noStrike">
                          <a:solidFill>
                            <a:srgbClr val="000000"/>
                          </a:solidFill>
                          <a:effectLst/>
                          <a:latin typeface="Poppins" panose="00000500000000000000" pitchFamily="2" charset="0"/>
                        </a:rPr>
                        <a:t>FHMS K-061 A2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US MBS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1.70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11/25/2026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$276,756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4138320346"/>
                  </a:ext>
                </a:extLst>
              </a:tr>
              <a:tr h="189600">
                <a:tc>
                  <a:txBody>
                    <a:bodyPr/>
                    <a:lstStyle/>
                    <a:p>
                      <a:pPr algn="l" rtl="0" fontAlgn="ctr"/>
                      <a:r>
                        <a:rPr lang="en-US" sz="1050" b="0" i="0" u="none" strike="noStrike">
                          <a:solidFill>
                            <a:srgbClr val="000000"/>
                          </a:solidFill>
                          <a:effectLst/>
                          <a:latin typeface="Poppins" panose="00000500000000000000" pitchFamily="2" charset="0"/>
                        </a:rPr>
                        <a:t>NATIONAL RURAL UTILITIES COOPE</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UTILITIES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1.41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6/15/2026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$427,329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313391222"/>
                  </a:ext>
                </a:extLst>
              </a:tr>
              <a:tr h="189600">
                <a:tc>
                  <a:txBody>
                    <a:bodyPr/>
                    <a:lstStyle/>
                    <a:p>
                      <a:pPr algn="l" rtl="0" fontAlgn="ctr"/>
                      <a:r>
                        <a:rPr lang="en-US" sz="1050" b="0" i="0" u="none" strike="noStrike">
                          <a:solidFill>
                            <a:srgbClr val="000000"/>
                          </a:solidFill>
                          <a:effectLst/>
                          <a:latin typeface="Poppins" panose="00000500000000000000" pitchFamily="2" charset="0"/>
                        </a:rPr>
                        <a:t>SAN DIEGO GAS &amp; ELECTRIC CO</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UTILITIES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10/1/2030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$379,263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46231076"/>
                  </a:ext>
                </a:extLst>
              </a:tr>
              <a:tr h="189600">
                <a:tc>
                  <a:txBody>
                    <a:bodyPr/>
                    <a:lstStyle/>
                    <a:p>
                      <a:pPr algn="l" rtl="0" fontAlgn="ctr"/>
                      <a:r>
                        <a:rPr lang="en-US" sz="1050" b="0" i="0" u="none" strike="noStrike">
                          <a:solidFill>
                            <a:srgbClr val="000000"/>
                          </a:solidFill>
                          <a:effectLst/>
                          <a:latin typeface="Poppins" panose="00000500000000000000" pitchFamily="2" charset="0"/>
                        </a:rPr>
                        <a:t>DUKE ENERGY CORP</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UTILITIES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1.59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4.67%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9/1/2026</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$390,719</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144758476"/>
                  </a:ext>
                </a:extLst>
              </a:tr>
              <a:tr h="189600">
                <a:tc>
                  <a:txBody>
                    <a:bodyPr/>
                    <a:lstStyle/>
                    <a:p>
                      <a:pPr algn="l" rtl="0" fontAlgn="ctr"/>
                      <a:r>
                        <a:rPr lang="en-US" sz="1050" b="0" i="0" u="none" strike="noStrike">
                          <a:solidFill>
                            <a:srgbClr val="000000"/>
                          </a:solidFill>
                          <a:effectLst/>
                          <a:latin typeface="Poppins" panose="00000500000000000000" pitchFamily="2" charset="0"/>
                        </a:rPr>
                        <a:t>NEXTERA ENERGY CAPITAL HOLDING</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UTILITIES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3.27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4.91%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BBB+</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6/15/2028</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$276,363</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90014529"/>
                  </a:ext>
                </a:extLst>
              </a:tr>
              <a:tr h="189600">
                <a:tc>
                  <a:txBody>
                    <a:bodyPr/>
                    <a:lstStyle/>
                    <a:p>
                      <a:pPr algn="l" rtl="0" fontAlgn="ctr"/>
                      <a:r>
                        <a:rPr lang="en-US" sz="1050" b="0" i="0" u="none" strike="noStrike">
                          <a:solidFill>
                            <a:srgbClr val="000000"/>
                          </a:solidFill>
                          <a:effectLst/>
                          <a:latin typeface="Poppins" panose="00000500000000000000" pitchFamily="2" charset="0"/>
                        </a:rPr>
                        <a:t>SOUTHERN CALIFORNIA EDISON CO</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UTILITIES</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7.31</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5.34%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6/1/2034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$119,244</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panose="00000500000000000000" pitchFamily="2" charset="0"/>
                        </a:rPr>
                        <a:t>0.2%</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917313369"/>
                  </a:ext>
                </a:extLst>
              </a:tr>
              <a:tr h="189600">
                <a:tc>
                  <a:txBody>
                    <a:bodyPr/>
                    <a:lstStyle/>
                    <a:p>
                      <a:pPr algn="l" rtl="0" fontAlgn="ctr"/>
                      <a:r>
                        <a:rPr lang="en-US" sz="1050" b="0" i="0" u="none" strike="noStrike">
                          <a:solidFill>
                            <a:srgbClr val="000000"/>
                          </a:solidFill>
                          <a:effectLst/>
                          <a:latin typeface="Poppins SemiBold" panose="00000700000000000000" pitchFamily="2" charset="0"/>
                          <a:cs typeface="Poppins SemiBold" panose="00000700000000000000" pitchFamily="2" charset="0"/>
                        </a:rPr>
                        <a:t>TOTAL</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SemiBold" panose="00000700000000000000" pitchFamily="2" charset="0"/>
                          <a:cs typeface="Poppins SemiBold" panose="00000700000000000000" pitchFamily="2" charset="0"/>
                        </a:rPr>
                        <a:t>---</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SemiBold" panose="00000700000000000000" pitchFamily="2" charset="0"/>
                          <a:cs typeface="Poppins SemiBold" panose="00000700000000000000" pitchFamily="2" charset="0"/>
                        </a:rPr>
                        <a:t>3.65</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SemiBold" panose="00000700000000000000" pitchFamily="2" charset="0"/>
                          <a:cs typeface="Poppins SemiBold" panose="00000700000000000000" pitchFamily="2" charset="0"/>
                        </a:rPr>
                        <a:t>4.67%</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SemiBold" panose="00000700000000000000" pitchFamily="2" charset="0"/>
                          <a:cs typeface="Poppins SemiBold" panose="00000700000000000000" pitchFamily="2" charset="0"/>
                        </a:rPr>
                        <a:t>AA</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SemiBold" panose="00000700000000000000" pitchFamily="2" charset="0"/>
                          <a:cs typeface="Poppins SemiBold" panose="00000700000000000000" pitchFamily="2" charset="0"/>
                        </a:rPr>
                        <a:t> ---</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SemiBold" panose="00000700000000000000" pitchFamily="2" charset="0"/>
                          <a:cs typeface="Poppins SemiBold" panose="00000700000000000000" pitchFamily="2" charset="0"/>
                        </a:rPr>
                        <a:t>$78,796,660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Poppins SemiBold" panose="00000700000000000000" pitchFamily="2" charset="0"/>
                          <a:cs typeface="Poppins SemiBold" panose="00000700000000000000" pitchFamily="2" charset="0"/>
                        </a:rPr>
                        <a:t>100.0%</a:t>
                      </a:r>
                    </a:p>
                  </a:txBody>
                  <a:tcPr marL="7620" marR="7620" marT="7620" marB="0" anchor="ctr">
                    <a:lnL>
                      <a:noFill/>
                    </a:lnL>
                    <a:lnR>
                      <a:noFill/>
                    </a:lnR>
                    <a:lnT w="12700" cap="flat" cmpd="sng" algn="ctr">
                      <a:solidFill>
                        <a:srgbClr val="BFBFBF"/>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214582583"/>
                  </a:ext>
                </a:extLst>
              </a:tr>
            </a:tbl>
          </a:graphicData>
        </a:graphic>
      </p:graphicFrame>
      <p:sp>
        <p:nvSpPr>
          <p:cNvPr id="5" name="Title 1">
            <a:extLst>
              <a:ext uri="{FF2B5EF4-FFF2-40B4-BE49-F238E27FC236}">
                <a16:creationId xmlns:a16="http://schemas.microsoft.com/office/drawing/2014/main" id="{D5C0E9D2-149A-EBA2-FC98-3A1E5D917BA6}"/>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SMA holdings </a:t>
            </a:r>
          </a:p>
        </p:txBody>
      </p:sp>
      <p:sp>
        <p:nvSpPr>
          <p:cNvPr id="2" name="Rectangle 1">
            <a:extLst>
              <a:ext uri="{FF2B5EF4-FFF2-40B4-BE49-F238E27FC236}">
                <a16:creationId xmlns:a16="http://schemas.microsoft.com/office/drawing/2014/main" id="{F7AA048C-A1E1-D473-62C5-C93291D938E9}"/>
              </a:ext>
            </a:extLst>
          </p:cNvPr>
          <p:cNvSpPr/>
          <p:nvPr/>
        </p:nvSpPr>
        <p:spPr bwMode="auto">
          <a:xfrm>
            <a:off x="366583" y="825084"/>
            <a:ext cx="8412480" cy="338554"/>
          </a:xfrm>
          <a:prstGeom prst="rect">
            <a:avLst/>
          </a:prstGeom>
          <a:solidFill>
            <a:srgbClr val="10628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100000"/>
              </a:lnSpc>
              <a:spcBef>
                <a:spcPct val="50000"/>
              </a:spcBef>
              <a:spcAft>
                <a:spcPct val="0"/>
              </a:spcAft>
              <a:buClrTx/>
              <a:buSzTx/>
              <a:buFontTx/>
              <a:buNone/>
              <a:tabLst/>
            </a:pPr>
            <a:r>
              <a:rPr lang="en-US" sz="1600">
                <a:solidFill>
                  <a:schemeClr val="bg1"/>
                </a:solidFill>
                <a:latin typeface="Poppins Light"/>
                <a:cs typeface="Poppins Medium" panose="00000600000000000000" pitchFamily="2" charset="0"/>
              </a:rPr>
              <a:t>PORTFOLIO</a:t>
            </a:r>
            <a:r>
              <a:rPr kumimoji="0" lang="en-US" sz="1600" i="0" u="none" strike="noStrike" cap="none" normalizeH="0" baseline="0">
                <a:ln>
                  <a:noFill/>
                </a:ln>
                <a:solidFill>
                  <a:schemeClr val="bg1"/>
                </a:solidFill>
                <a:effectLst/>
                <a:latin typeface="Poppins Light"/>
                <a:cs typeface="Poppins Medium" panose="00000600000000000000" pitchFamily="2" charset="0"/>
              </a:rPr>
              <a:t> HOLDINGS </a:t>
            </a:r>
            <a:r>
              <a:rPr lang="en-US" sz="1600">
                <a:solidFill>
                  <a:schemeClr val="bg1"/>
                </a:solidFill>
                <a:latin typeface="Poppins Light"/>
                <a:cs typeface="Poppins Medium" panose="00000600000000000000" pitchFamily="2" charset="0"/>
              </a:rPr>
              <a:t>| </a:t>
            </a:r>
            <a:r>
              <a:rPr lang="en-US" sz="1600">
                <a:solidFill>
                  <a:schemeClr val="bg1"/>
                </a:solidFill>
                <a:latin typeface="Poppins Medium"/>
                <a:cs typeface="Poppins Light" panose="00000400000000000000" pitchFamily="2" charset="0"/>
              </a:rPr>
              <a:t>12-31-2024</a:t>
            </a:r>
            <a:endParaRPr lang="en-US" sz="1600" b="0" i="0" u="none" strike="noStrike" cap="none" normalizeH="0" baseline="0">
              <a:ln>
                <a:noFill/>
              </a:ln>
              <a:solidFill>
                <a:schemeClr val="bg1"/>
              </a:solidFill>
              <a:effectLst/>
              <a:latin typeface="Poppins Medium"/>
              <a:cs typeface="Poppins Light" panose="00000400000000000000" pitchFamily="2" charset="0"/>
            </a:endParaRPr>
          </a:p>
        </p:txBody>
      </p:sp>
    </p:spTree>
    <p:extLst>
      <p:ext uri="{BB962C8B-B14F-4D97-AF65-F5344CB8AC3E}">
        <p14:creationId xmlns:p14="http://schemas.microsoft.com/office/powerpoint/2010/main" val="3967200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1">
            <a:extLst>
              <a:ext uri="{FF2B5EF4-FFF2-40B4-BE49-F238E27FC236}">
                <a16:creationId xmlns:a16="http://schemas.microsoft.com/office/drawing/2014/main" id="{C6BA560A-6705-4CD4-A9EE-E94A6D7BD4B6}"/>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33</a:t>
            </a:fld>
            <a:endParaRPr lang="en-US" sz="882">
              <a:solidFill>
                <a:srgbClr val="000000"/>
              </a:solidFill>
            </a:endParaRPr>
          </a:p>
        </p:txBody>
      </p:sp>
      <p:graphicFrame>
        <p:nvGraphicFramePr>
          <p:cNvPr id="5" name="Table 4">
            <a:extLst>
              <a:ext uri="{FF2B5EF4-FFF2-40B4-BE49-F238E27FC236}">
                <a16:creationId xmlns:a16="http://schemas.microsoft.com/office/drawing/2014/main" id="{DB9ADBDB-947D-43D1-9B35-37D82A5AFD6E}"/>
              </a:ext>
            </a:extLst>
          </p:cNvPr>
          <p:cNvGraphicFramePr>
            <a:graphicFrameLocks noGrp="1"/>
          </p:cNvGraphicFramePr>
          <p:nvPr>
            <p:extLst>
              <p:ext uri="{D42A27DB-BD31-4B8C-83A1-F6EECF244321}">
                <p14:modId xmlns:p14="http://schemas.microsoft.com/office/powerpoint/2010/main" val="4282640442"/>
              </p:ext>
            </p:extLst>
          </p:nvPr>
        </p:nvGraphicFramePr>
        <p:xfrm>
          <a:off x="368404" y="792258"/>
          <a:ext cx="8418548" cy="2052473"/>
        </p:xfrm>
        <a:graphic>
          <a:graphicData uri="http://schemas.openxmlformats.org/drawingml/2006/table">
            <a:tbl>
              <a:tblPr firstRow="1" bandRow="1">
                <a:tableStyleId>{5C22544A-7EE6-4342-B048-85BDC9FD1C3A}</a:tableStyleId>
              </a:tblPr>
              <a:tblGrid>
                <a:gridCol w="8418548">
                  <a:extLst>
                    <a:ext uri="{9D8B030D-6E8A-4147-A177-3AD203B41FA5}">
                      <a16:colId xmlns:a16="http://schemas.microsoft.com/office/drawing/2014/main" val="20000"/>
                    </a:ext>
                  </a:extLst>
                </a:gridCol>
              </a:tblGrid>
              <a:tr h="267358">
                <a:tc>
                  <a:txBody>
                    <a:bodyPr/>
                    <a:lstStyle/>
                    <a:p>
                      <a:pPr marL="0" marR="0" lvl="0" indent="0" algn="l" defTabSz="806867" rtl="0" eaLnBrk="1" fontAlgn="auto" latinLnBrk="0" hangingPunct="1">
                        <a:lnSpc>
                          <a:spcPct val="100000"/>
                        </a:lnSpc>
                        <a:spcBef>
                          <a:spcPts val="0"/>
                        </a:spcBef>
                        <a:spcAft>
                          <a:spcPts val="0"/>
                        </a:spcAft>
                        <a:buClrTx/>
                        <a:buSzTx/>
                        <a:buFontTx/>
                        <a:buNone/>
                        <a:tabLst/>
                        <a:defRPr/>
                      </a:pPr>
                      <a:r>
                        <a:rPr lang="en-US" sz="1300" b="0" kern="1200" cap="all" baseline="0">
                          <a:solidFill>
                            <a:schemeClr val="bg1"/>
                          </a:solidFill>
                          <a:latin typeface="Poppins Medium" panose="00000600000000000000" pitchFamily="50" charset="0"/>
                          <a:ea typeface="+mn-ea"/>
                          <a:cs typeface="Poppins Medium" panose="00000600000000000000" pitchFamily="50" charset="0"/>
                        </a:rPr>
                        <a:t>PERFORMANCE DISCLOSURE – AGGREGATE PORTFOLIO</a:t>
                      </a:r>
                    </a:p>
                  </a:txBody>
                  <a:tcPr marL="45720" marR="45720" marB="0" anchor="ctr">
                    <a:solidFill>
                      <a:srgbClr val="106280"/>
                    </a:solidFill>
                  </a:tcPr>
                </a:tc>
                <a:extLst>
                  <a:ext uri="{0D108BD9-81ED-4DB2-BD59-A6C34878D82A}">
                    <a16:rowId xmlns:a16="http://schemas.microsoft.com/office/drawing/2014/main" val="10002"/>
                  </a:ext>
                </a:extLst>
              </a:tr>
              <a:tr h="1785115">
                <a:tc>
                  <a:txBody>
                    <a:bodyPr/>
                    <a:lstStyle/>
                    <a:p>
                      <a:pPr marL="0" marR="0" lvl="0" indent="0" algn="just">
                        <a:lnSpc>
                          <a:spcPct val="90000"/>
                        </a:lnSpc>
                        <a:spcBef>
                          <a:spcPct val="50000"/>
                        </a:spcBef>
                        <a:spcAft>
                          <a:spcPts val="0"/>
                        </a:spcAft>
                        <a:buNone/>
                      </a:pPr>
                      <a:r>
                        <a:rPr lang="en-US" sz="800" b="0" i="0" u="none" strike="noStrike" cap="all" noProof="0">
                          <a:solidFill>
                            <a:srgbClr val="394849"/>
                          </a:solidFill>
                          <a:latin typeface="Poppins Light"/>
                        </a:rPr>
                        <a:t>GROSS &amp; NET RETURNS INCLUDE THE DEDUCTION OF FEES AND EXPENSES PAID FROM THE MARKET VALUE OF THE UNDERLYING ETFS, TRADING EXPENSES AND REINVESTMENT OF INCOME AND DIVIDENDS. GROSS RETURNS DO NOT REFLECT THE DEDUCTION OF PERFORMA’S ADVISORY FEE, CUSTODY FEES OR OTHER EXPENSES. NET RETURNS REFLECT THE DEDUCTION OF ADVISORY FEES INVOICED TO THE CLIENT AND PAID TO PERFORMA ON A QUARTERLY BASIS. NET RETURNS ALSO INCLUDE THE DEDUCTION OF FEES AND EXPENSES PAID FROM THE MARKET VALUE OF THE UNDERLYING ETFS.  RETURNS FOR PERIODS GREATER THAN ONE YEAR HAVE BEEN ANNUALIZED. </a:t>
                      </a:r>
                      <a:endParaRPr lang="en-US" sz="800" b="0" i="0" u="none" strike="noStrike" noProof="0">
                        <a:solidFill>
                          <a:srgbClr val="394849"/>
                        </a:solidFill>
                        <a:latin typeface="Poppins Light"/>
                      </a:endParaRPr>
                    </a:p>
                    <a:p>
                      <a:pPr marL="0" marR="0" lvl="0" indent="0" algn="just">
                        <a:lnSpc>
                          <a:spcPct val="90000"/>
                        </a:lnSpc>
                        <a:spcBef>
                          <a:spcPct val="50000"/>
                        </a:spcBef>
                        <a:spcAft>
                          <a:spcPts val="0"/>
                        </a:spcAft>
                        <a:buNone/>
                      </a:pPr>
                      <a:r>
                        <a:rPr lang="en-US" sz="800" b="0" i="0" u="none" strike="noStrike" cap="all" noProof="0">
                          <a:solidFill>
                            <a:srgbClr val="394849"/>
                          </a:solidFill>
                          <a:latin typeface="Poppins Light"/>
                        </a:rPr>
                        <a:t>INDEX: DURING THE TRANSITION PERIOD (INCEPTION OF 6/7/2021 THROUGH 6/30/2021): 70% ICE BOFA 0-3 MONTH U.S. TREASURY BILL INDEX, 7% SOLACTIVE USD HIGH YIELD CORPORATES TOTAL MARKET INDEX, 3% ICE BOFA U.S. FALLEN ANGEL HIGH YIELD INDEX, 8% S&amp;P 500 INDEX, 8% CRSP U.S. MID CAP INDEX &amp; 4% S&amp;P SMALLCAP 600 INDEX. FROM 7/1/2021 TO 11/30/2021, THE INDEX WAS CHANGED TO 70% BLOOMBERG INTERMEDIATE U.S. GOVT/CREDIT INDEX, 7% SOLACTIVE USD HIGH YIELD CORPORATES TOTAL MARKET INDEX, 3% ICE BOFA U.S. FALLEN ANGEL HIGH YIELD INDEX, 8% S&amp;P 500 INDEX, 8% CRSP U.S. MID CAP INDEX AND 4% S&amp;P SMALL CAP 600 INDEX. FROM 12/1/2021 TO 9/30/2023, THE INDEX WAS COMPRISED OF 60% BLOOMBERG INTERMEDIATE U.S. GOVT/CREDIT INDEX, 9% SOLACTIVE USD HIGH YIELD CORPORATES TOTAL MARKET INDEX, 10% ICE BOFA U.S. FALLEN ANGEL HIGH YIELD INDEX, 8.5% S&amp;P 500 INDEX, 8.5% CRSP U.S. MID CAP INDEX AND 4% S&amp;P SMALL CAP 600 INDEX.  FROM 10/1/2023 TO 10/31/2023. THE INDEX WAS COMPRISED OF 60% BLOOMBERG INTERMEDIATE U.S. GOVT/CREDIT INDEX, 9% HYLB ETF, 10% ICE BOFA U.S. FALLEN ANGEL HIGH YIELD INDEX, 8.5% S&amp;P 500 INDEX, 8.5% CRSP U.S. MID CAP INDEX AND 4% S&amp;P SMALL CAP 600 INDEX.  FROM 11/1/2023 TO 12/31/2023, THE INDEX WAS COMPRISED OF 60% BLOOMBERG INTERMEDIATE U.S. GOVT/CREDIT INDEX, 9% HYLB ETF, 10% ICE BOFA U.S. FALLEN ANGEL HIGH YIELD INDEX, 8.5% S&amp;P 500 INDEX, 8.5% VO ETF INDEX AND 4% S&amp;P SMALL CAP 600 INDEX.  FROM 1/1/2024 TO 5/31/2025, THE INDEX IS COMPRISED OF 60% BLOOMBERG INTERMEDIATE U.S. GOVT/CREDIT INDEX, 9% HYLB ETF, 10% ANGL ETF, 8.5% VOO ETF, 8.5%, VO ETF AND 4% IJR ETF. </a:t>
                      </a:r>
                      <a:r>
                        <a:rPr kumimoji="0" lang="en-US" sz="800" b="0" i="0" u="none" strike="noStrike" kern="1200" cap="all" spc="0" normalizeH="0" baseline="0" noProof="0">
                          <a:ln>
                            <a:noFill/>
                          </a:ln>
                          <a:solidFill>
                            <a:srgbClr val="394849"/>
                          </a:solidFill>
                          <a:effectLst/>
                          <a:uLnTx/>
                          <a:uFillTx/>
                          <a:latin typeface="Poppins Light"/>
                          <a:ea typeface="+mn-ea"/>
                          <a:cs typeface="+mn-cs"/>
                        </a:rPr>
                        <a:t>FROM 6/1/2025 TO THE PRESENT, THE INDEX IS COMPRISED OF 65% BLOOMBERG INTERMEDIATE U.S. GOVT/CREDIT INDEX, 8% HYLB ETF, 2% ANGL ETF, 10% VOO ETF, 10%, VO ETF AND 5% IJR ETF.</a:t>
                      </a:r>
                      <a:endParaRPr lang="en-US" sz="900">
                        <a:solidFill>
                          <a:srgbClr val="0C2836"/>
                        </a:solidFill>
                        <a:latin typeface="Poppins Light"/>
                        <a:cs typeface="Poppins Light"/>
                      </a:endParaRPr>
                    </a:p>
                  </a:txBody>
                  <a:tcPr marL="45720" marR="45720" marB="0">
                    <a:noFill/>
                  </a:tcPr>
                </a:tc>
                <a:extLst>
                  <a:ext uri="{0D108BD9-81ED-4DB2-BD59-A6C34878D82A}">
                    <a16:rowId xmlns:a16="http://schemas.microsoft.com/office/drawing/2014/main" val="10003"/>
                  </a:ext>
                </a:extLst>
              </a:tr>
            </a:tbl>
          </a:graphicData>
        </a:graphic>
      </p:graphicFrame>
      <p:sp>
        <p:nvSpPr>
          <p:cNvPr id="6" name="Title 1">
            <a:extLst>
              <a:ext uri="{FF2B5EF4-FFF2-40B4-BE49-F238E27FC236}">
                <a16:creationId xmlns:a16="http://schemas.microsoft.com/office/drawing/2014/main" id="{80997A64-CB0B-45E6-8C59-37C2998B5BAD}"/>
              </a:ext>
            </a:extLst>
          </p:cNvPr>
          <p:cNvSpPr txBox="1">
            <a:spLocks/>
          </p:cNvSpPr>
          <p:nvPr/>
        </p:nvSpPr>
        <p:spPr>
          <a:xfrm>
            <a:off x="295612" y="471043"/>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a:latin typeface="Poppins SemiBold" panose="00000700000000000000" pitchFamily="2" charset="0"/>
                <a:cs typeface="Poppins SemiBold" panose="00000700000000000000" pitchFamily="2" charset="0"/>
              </a:rPr>
              <a:t>FOOTNOTE DISCLOSURES</a:t>
            </a:r>
          </a:p>
        </p:txBody>
      </p:sp>
      <p:sp>
        <p:nvSpPr>
          <p:cNvPr id="7" name="Line 309">
            <a:extLst>
              <a:ext uri="{FF2B5EF4-FFF2-40B4-BE49-F238E27FC236}">
                <a16:creationId xmlns:a16="http://schemas.microsoft.com/office/drawing/2014/main" id="{4CD65C37-29DF-4F16-AAB1-75EA72433EB5}"/>
              </a:ext>
            </a:extLst>
          </p:cNvPr>
          <p:cNvSpPr>
            <a:spLocks noChangeShapeType="1"/>
          </p:cNvSpPr>
          <p:nvPr/>
        </p:nvSpPr>
        <p:spPr bwMode="auto">
          <a:xfrm>
            <a:off x="365760" y="6440948"/>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Tree>
    <p:extLst>
      <p:ext uri="{BB962C8B-B14F-4D97-AF65-F5344CB8AC3E}">
        <p14:creationId xmlns:p14="http://schemas.microsoft.com/office/powerpoint/2010/main" val="1786959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B84DF88F-D569-4DA0-9FE9-14DD9DBB152C}"/>
              </a:ext>
            </a:extLst>
          </p:cNvPr>
          <p:cNvSpPr txBox="1"/>
          <p:nvPr/>
        </p:nvSpPr>
        <p:spPr>
          <a:xfrm>
            <a:off x="365760" y="1057799"/>
            <a:ext cx="8396471" cy="5275803"/>
          </a:xfrm>
          <a:prstGeom prst="rect">
            <a:avLst/>
          </a:prstGeom>
        </p:spPr>
        <p:txBody>
          <a:bodyPr vert="horz" wrap="square" lIns="0" tIns="12700" rIns="0" bIns="0" rtlCol="0">
            <a:spAutoFit/>
          </a:bodyPr>
          <a:lstStyle/>
          <a:p>
            <a:pPr algn="just"/>
            <a:r>
              <a:rPr lang="en-US" sz="900" b="0">
                <a:latin typeface="Poppins" panose="00000500000000000000" pitchFamily="2" charset="0"/>
                <a:ea typeface="Calibri" charset="0"/>
                <a:cs typeface="Poppins" panose="00000500000000000000" pitchFamily="2" charset="0"/>
              </a:rPr>
              <a:t>THIS REPORT IS GENERATED USING A THIRD-PARTY PROPRIETARY SYSTEM (THE "SITE") AND IS PROVIDED TO YOU AS AN ACCOMMODATION IN THE REVIEW OF YOUR INVESTMENT ACTIVITY. ALTHOUGH THE INFORMATIONAL SOURCES USED ON THIS SITE ARE DEEMED TO BE RELIABLE, PERFORMA LIMITED (US), LLC AND P.R.P. PERFORMA LTD. (COLLECTIVELY, "PERFORMA") DOES NOT GUARANTEE OR MAKE ANY WARRANTY REGARDING THE ACCURACY, SUITABILITY OR COMPLETENESS OF SUCH INFORMATION. THE DATA SHOULD NOT BE USED IN LIEU OF STATEMENTS RECEIVED DIRECTLY FROM YOUR CUSTODIAN. PERFORMA DOES NOT PROVIDE TAX ADVICE, OR LEGAL ADVICE THROUGH THIS SITE OR OTHERWISE.  INVESTORS SHOULD SEEK PROFESSIONAL ADVICE REGARDING THE APPROPRIATENESS OF INVESTING IN ANY STRATEGY AS IT RELATES TO THE CLIENT'S OVERALL INVESTMENT PLAN, OR ANY TAX OR LEGAL IMPLICATIONS THEREOF.</a:t>
            </a:r>
          </a:p>
          <a:p>
            <a:pPr algn="just"/>
            <a:endParaRPr lang="en-US" sz="900" b="0">
              <a:latin typeface="Poppins" panose="00000500000000000000" pitchFamily="2" charset="0"/>
              <a:ea typeface="Calibri" charset="0"/>
              <a:cs typeface="Poppins" panose="00000500000000000000" pitchFamily="2" charset="0"/>
            </a:endParaRPr>
          </a:p>
          <a:p>
            <a:pPr algn="just"/>
            <a:r>
              <a:rPr lang="en-US" sz="900" b="0">
                <a:latin typeface="Poppins" panose="00000500000000000000" pitchFamily="2" charset="0"/>
                <a:ea typeface="Calibri" charset="0"/>
                <a:cs typeface="Poppins" panose="00000500000000000000" pitchFamily="2" charset="0"/>
              </a:rPr>
              <a:t>PERFORMA SHALL NOT BE LIABLE FOR ANY LOSS (DIRECT OR CONSEQUENTIAL) ARISING FROM THE USE OF, OR RELIANCE ON, ANY PART OF THIS SITE OR INFORMATION GENERATED FROM THE SITE, EXCEPT FOR ANY LIABILITY IT MAY HAVE UNDER APPLICABLE SECURITIES LAWS. FURTHER, YOU SHOULD BE AWARE THAT THE INTERNET IS NOT A COMPLETELY RELIABLE TRANSMISSION MEDIUM. PERFORMA SHALL NOT ACCEPT LIABILITY FOR ANY LOSSES, COSTS, OR EXPENSES ARISING FROM YOUR INABILITY TO ACCESS THE SITE FOR ANY REASON OR ANY DELAY IN, OR FAILURE OF, THE TRANSMISSION OR THE RECEIPT OF ANY INSTRUCTIONS, ORDERS OR NOTIFICATIONS SENT THROUGH THE SITE. </a:t>
            </a:r>
          </a:p>
          <a:p>
            <a:pPr algn="just"/>
            <a:endParaRPr lang="en-US" sz="900" b="0">
              <a:latin typeface="Poppins" panose="00000500000000000000" pitchFamily="2" charset="0"/>
              <a:ea typeface="Calibri" charset="0"/>
              <a:cs typeface="Poppins" panose="00000500000000000000" pitchFamily="2" charset="0"/>
            </a:endParaRPr>
          </a:p>
          <a:p>
            <a:pPr algn="just"/>
            <a:r>
              <a:rPr lang="en-US" sz="900" b="0">
                <a:latin typeface="Poppins" panose="00000500000000000000" pitchFamily="2" charset="0"/>
                <a:ea typeface="Calibri" charset="0"/>
                <a:cs typeface="Poppins" panose="00000500000000000000" pitchFamily="2" charset="0"/>
              </a:rPr>
              <a:t>THE CONTENTS IN THIS REPORT ARE FOR INFORMATIONAL PURPOSES ONLY AND INTENDED SOLELY FOR THE USER AND SHOULD NOT BE DISTRIBUTED TO ANY THIRD PARTY WITHOUT PRIOR WRITTEN CONSENT. OPINIONS, ESTIMATES AND ASSUMPTIONS EXPRESSED HEREIN REFLECT OUR JUDGMENT AS OF THE DATE OF PUBLICATION AND ARE SUBJECT TO CHANGE WITHOUT NOTICE. THE MATERIAL DOES NOT CONSTITUTE AN OFFER TO SELL OR A SOLICITATION OF AN OFFER TO BUY ANY SECURITY OR INVESTMENT STRATEGY BY PERFORMA AND SHOULD NOT BE CONSTRUED AS FORMAL INVESTMENT OR FINANCIAL PLANNING ADVICE NOR AS A SOLICITATION TO PURCHASE OR SELL SPECIFIC SECURITIES OR INVESTMENT STRATEGIES.  </a:t>
            </a:r>
          </a:p>
          <a:p>
            <a:pPr algn="just"/>
            <a:endParaRPr lang="en-US" sz="900" b="0">
              <a:latin typeface="Poppins" panose="00000500000000000000" pitchFamily="2" charset="0"/>
              <a:ea typeface="Calibri" charset="0"/>
              <a:cs typeface="Poppins" panose="00000500000000000000" pitchFamily="2" charset="0"/>
            </a:endParaRPr>
          </a:p>
          <a:p>
            <a:pPr algn="just"/>
            <a:r>
              <a:rPr lang="en-US" sz="900" b="0">
                <a:latin typeface="Poppins" panose="00000500000000000000" pitchFamily="2" charset="0"/>
                <a:ea typeface="Calibri" charset="0"/>
                <a:cs typeface="Poppins" panose="00000500000000000000" pitchFamily="2" charset="0"/>
              </a:rPr>
              <a:t>SUBSCRIPTIONS ARE ONLY VALID IF MADE ON THE BASIS OF THE CURRENT PROSPECTUS OR OFFERING MEMORANDUM OF A PERFORMA FUND. THE PERFORMA LIQUID ASSETS FUND, PERFORMA INTERMEDIATE BOND FUND </a:t>
            </a:r>
            <a:r>
              <a:rPr lang="en-US" sz="900">
                <a:latin typeface="Poppins" panose="00000500000000000000" pitchFamily="2" charset="0"/>
                <a:cs typeface="Poppins" panose="00000500000000000000" pitchFamily="2" charset="0"/>
              </a:rPr>
              <a:t>(FORMERLY CALLED THE PERFORMA INTERNATIONAL BOND FUND), </a:t>
            </a:r>
            <a:r>
              <a:rPr lang="en-US" sz="900" b="0">
                <a:latin typeface="Poppins" panose="00000500000000000000" pitchFamily="2" charset="0"/>
                <a:ea typeface="Calibri" charset="0"/>
                <a:cs typeface="Poppins" panose="00000500000000000000" pitchFamily="2" charset="0"/>
              </a:rPr>
              <a:t>PERFORMA HIGH YIELD FUND AND PERFORMA EQUITY FUND ARE BERMUDA-REGISTERED MUTUAL FUNDS.  IF REQUESTED, PERFORMA CAN PROVIDE ALTERNATIVE INVESTMENT OPTIONS THAT WOULD ALLOW US INVESTORS TO ACCESS A STRATEGY SIMILAR TO THE FUNDS PRESENTED.</a:t>
            </a:r>
          </a:p>
          <a:p>
            <a:pPr algn="just"/>
            <a:endParaRPr lang="en-US" sz="900" b="0">
              <a:latin typeface="Poppins" panose="00000500000000000000" pitchFamily="2" charset="0"/>
              <a:ea typeface="Calibri" charset="0"/>
              <a:cs typeface="Poppins" panose="00000500000000000000" pitchFamily="2" charset="0"/>
            </a:endParaRPr>
          </a:p>
          <a:p>
            <a:pPr algn="just"/>
            <a:r>
              <a:rPr lang="en-US" sz="900" b="0">
                <a:latin typeface="Poppins" panose="00000500000000000000" pitchFamily="2" charset="0"/>
                <a:ea typeface="Calibri" charset="0"/>
                <a:cs typeface="Poppins" panose="00000500000000000000" pitchFamily="2" charset="0"/>
              </a:rPr>
              <a:t>ANY STATEMENTS REGARDING PERFORMANCE MAY NOT BE REALIZED AND PAST PERFORMANCE IS NOT INDICATIVE OF FUTURE RESULTS. INVESTORS SHOULD NOTE THAT THE VALUE OF ANY INVESTMENT STRATEGY OR SECURITY MAY FLUCTUATE AND UNDERLYING PRINCIPAL VALUES MAY RISE OR FALL. </a:t>
            </a:r>
          </a:p>
          <a:p>
            <a:pPr algn="just"/>
            <a:endParaRPr lang="en-US" sz="900" b="0">
              <a:latin typeface="Poppins" panose="00000500000000000000" pitchFamily="2" charset="0"/>
              <a:ea typeface="Calibri" charset="0"/>
              <a:cs typeface="Poppins" panose="00000500000000000000" pitchFamily="2" charset="0"/>
            </a:endParaRPr>
          </a:p>
          <a:p>
            <a:pPr algn="just"/>
            <a:r>
              <a:rPr lang="en-US" sz="900" b="0">
                <a:latin typeface="Poppins" panose="00000500000000000000" pitchFamily="2" charset="0"/>
                <a:ea typeface="Calibri" charset="0"/>
                <a:cs typeface="Poppins" panose="00000500000000000000" pitchFamily="2" charset="0"/>
              </a:rPr>
              <a:t>P.R.P. PERFORMA, LTD. IS LICENSED TO CONDUCT INVESTMENT BUSINESS BY THE BERMUDA MONETARY AUTHORITY (BMA). PERFORMA LIMITED (US), LLC IS AN SEC REGISTERED INVESTMENT ADVISOR. </a:t>
            </a:r>
            <a:r>
              <a:rPr lang="en-US" sz="900">
                <a:latin typeface="Poppins" panose="00000500000000000000" pitchFamily="2" charset="0"/>
                <a:ea typeface="Calibri" charset="0"/>
                <a:cs typeface="Poppins" panose="00000500000000000000" pitchFamily="2" charset="0"/>
              </a:rPr>
              <a:t>NEITHER THE LICENSING NOR REGISTRATION IMPLY THAT THE BMA OR SEC HAS APPROVED OR DISAPPROVED OF PERFORMA SERVICES, PRODUCTS OR STRATEGIES.</a:t>
            </a:r>
            <a:endParaRPr lang="en-US" sz="900" b="0">
              <a:latin typeface="Poppins" panose="00000500000000000000" pitchFamily="2" charset="0"/>
              <a:ea typeface="Calibri" charset="0"/>
              <a:cs typeface="Poppins" panose="00000500000000000000" pitchFamily="2" charset="0"/>
            </a:endParaRPr>
          </a:p>
          <a:p>
            <a:pPr algn="just"/>
            <a:endParaRPr lang="en-US" sz="900" b="0">
              <a:latin typeface="Poppins" panose="00000500000000000000" pitchFamily="2" charset="0"/>
              <a:ea typeface="Calibri" charset="0"/>
              <a:cs typeface="Poppins" panose="00000500000000000000" pitchFamily="2" charset="0"/>
            </a:endParaRPr>
          </a:p>
          <a:p>
            <a:pPr algn="just"/>
            <a:r>
              <a:rPr lang="en-US" sz="900" b="0">
                <a:latin typeface="Poppins" panose="00000500000000000000" pitchFamily="2" charset="0"/>
                <a:ea typeface="Calibri" charset="0"/>
                <a:cs typeface="Poppins" panose="00000500000000000000" pitchFamily="2" charset="0"/>
              </a:rPr>
              <a:t>FOR MORE SPECIFIC INFORMATION REGARDING THE ACCOUNT’S PERFORMANCE, CALCULATION METHODOLOGY, OR TO OBTAIN A LIST SHOWING CONTRIBUTION OF EACH HOLDING IN THE REPRESENTATIVE ACCOUNT TO THE OVERALL ACCOUNT’S PERFORMANCE DURING THE QUARTER CONTACT PERFORMA’S CLIENT SERVICE TEAM VIA EMAIL AT CLIENTSERVICE@PERFORMA.BM. ANY SPECIFIC HOLDINGS IDENTIFIED DO NOT REPRESENT ALL SECURITIES PURCHASED, SOLD OR RECOMMENDED FOR PERFORMA’S CLIENTS.</a:t>
            </a:r>
          </a:p>
          <a:p>
            <a:r>
              <a:rPr lang="en-US"/>
              <a:t> </a:t>
            </a:r>
          </a:p>
        </p:txBody>
      </p:sp>
      <p:sp>
        <p:nvSpPr>
          <p:cNvPr id="6" name="Title 1">
            <a:extLst>
              <a:ext uri="{FF2B5EF4-FFF2-40B4-BE49-F238E27FC236}">
                <a16:creationId xmlns:a16="http://schemas.microsoft.com/office/drawing/2014/main" id="{8771CD6E-0DC0-4A9A-89A4-41881000CE54}"/>
              </a:ext>
            </a:extLst>
          </p:cNvPr>
          <p:cNvSpPr txBox="1">
            <a:spLocks/>
          </p:cNvSpPr>
          <p:nvPr/>
        </p:nvSpPr>
        <p:spPr>
          <a:xfrm>
            <a:off x="295612" y="471043"/>
            <a:ext cx="6234966"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a:latin typeface="Poppins SemiBold" panose="00000700000000000000" pitchFamily="2" charset="0"/>
                <a:cs typeface="Poppins SemiBold" panose="00000700000000000000" pitchFamily="2" charset="0"/>
              </a:rPr>
              <a:t>DISCLAIMERS</a:t>
            </a:r>
            <a:endParaRPr lang="en-US" sz="1050">
              <a:latin typeface="Poppins SemiBold" panose="00000700000000000000" pitchFamily="2" charset="0"/>
              <a:cs typeface="Poppins SemiBold" panose="00000700000000000000" pitchFamily="2" charset="0"/>
            </a:endParaRPr>
          </a:p>
        </p:txBody>
      </p:sp>
      <p:sp>
        <p:nvSpPr>
          <p:cNvPr id="7" name="Line 309">
            <a:extLst>
              <a:ext uri="{FF2B5EF4-FFF2-40B4-BE49-F238E27FC236}">
                <a16:creationId xmlns:a16="http://schemas.microsoft.com/office/drawing/2014/main" id="{A7EE4AB3-3D42-4C34-BC91-218086AEEDDD}"/>
              </a:ext>
            </a:extLst>
          </p:cNvPr>
          <p:cNvSpPr>
            <a:spLocks noChangeShapeType="1"/>
          </p:cNvSpPr>
          <p:nvPr/>
        </p:nvSpPr>
        <p:spPr bwMode="auto">
          <a:xfrm>
            <a:off x="365760" y="6511901"/>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sp>
        <p:nvSpPr>
          <p:cNvPr id="8" name="Slide Number Placeholder 1">
            <a:extLst>
              <a:ext uri="{FF2B5EF4-FFF2-40B4-BE49-F238E27FC236}">
                <a16:creationId xmlns:a16="http://schemas.microsoft.com/office/drawing/2014/main" id="{B9E6DDCC-F801-4082-A878-6374035B21CE}"/>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34</a:t>
            </a:fld>
            <a:endParaRPr lang="en-US" sz="882">
              <a:solidFill>
                <a:srgbClr val="000000"/>
              </a:solidFill>
            </a:endParaRPr>
          </a:p>
        </p:txBody>
      </p:sp>
    </p:spTree>
    <p:extLst>
      <p:ext uri="{BB962C8B-B14F-4D97-AF65-F5344CB8AC3E}">
        <p14:creationId xmlns:p14="http://schemas.microsoft.com/office/powerpoint/2010/main" val="18691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779D76-5D37-5160-5BEA-61E15A5DF4FE}"/>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0B73A289-C9D2-6715-E251-573B73894333}"/>
              </a:ext>
            </a:extLst>
          </p:cNvPr>
          <p:cNvSpPr/>
          <p:nvPr/>
        </p:nvSpPr>
        <p:spPr bwMode="auto">
          <a:xfrm>
            <a:off x="365760" y="825084"/>
            <a:ext cx="8412480" cy="338554"/>
          </a:xfrm>
          <a:prstGeom prst="rect">
            <a:avLst/>
          </a:prstGeom>
          <a:solidFill>
            <a:srgbClr val="106280"/>
          </a:solidFill>
        </p:spPr>
        <p:txBody>
          <a:bodyPr wrap="square" lIns="91440" tIns="0" rIns="0" bIns="0" rtlCol="0" anchor="ctr">
            <a:noAutofit/>
          </a:bodyPr>
          <a:lstStyle/>
          <a:p>
            <a:pPr>
              <a:defRPr/>
            </a:pPr>
            <a:r>
              <a:rPr kumimoji="0" lang="en-US" sz="1600" b="0" i="0" u="none" strike="noStrike" kern="1200" cap="none" spc="0" normalizeH="0" baseline="0" noProof="0">
                <a:ln>
                  <a:noFill/>
                </a:ln>
                <a:solidFill>
                  <a:srgbClr val="FFFFFF"/>
                </a:solidFill>
                <a:effectLst/>
                <a:uLnTx/>
                <a:uFillTx/>
                <a:latin typeface="Poppins Light"/>
                <a:cs typeface="Poppins Light"/>
              </a:rPr>
              <a:t>PORTFOLIO </a:t>
            </a:r>
            <a:r>
              <a:rPr lang="en-US" sz="1600">
                <a:solidFill>
                  <a:srgbClr val="FFFFFF"/>
                </a:solidFill>
                <a:latin typeface="Poppins Light"/>
                <a:cs typeface="Poppins Light"/>
              </a:rPr>
              <a:t>CASH </a:t>
            </a:r>
            <a:r>
              <a:rPr lang="en-US" sz="1600">
                <a:solidFill>
                  <a:schemeClr val="bg1"/>
                </a:solidFill>
                <a:latin typeface="Poppins Light"/>
                <a:cs typeface="Poppins Light"/>
              </a:rPr>
              <a:t>FLOWS</a:t>
            </a:r>
            <a:r>
              <a:rPr kumimoji="0" lang="en-US" sz="1600" b="0" i="0" u="none" strike="noStrike" kern="1200" cap="none" spc="0" normalizeH="0" baseline="0" noProof="0">
                <a:ln>
                  <a:noFill/>
                </a:ln>
                <a:solidFill>
                  <a:schemeClr val="bg1"/>
                </a:solidFill>
                <a:effectLst/>
                <a:uLnTx/>
                <a:uFillTx/>
                <a:latin typeface="Poppins Light"/>
                <a:cs typeface="Poppins Light"/>
              </a:rPr>
              <a:t> | </a:t>
            </a:r>
            <a:r>
              <a:rPr lang="en-US" sz="1600">
                <a:solidFill>
                  <a:schemeClr val="bg1"/>
                </a:solidFill>
                <a:latin typeface="Poppins Medium"/>
                <a:cs typeface="Poppins Light"/>
              </a:rPr>
              <a:t>2025 </a:t>
            </a:r>
            <a:r>
              <a:rPr lang="en-US" sz="1600">
                <a:solidFill>
                  <a:schemeClr val="bg1"/>
                </a:solidFill>
                <a:latin typeface="Poppins Medium"/>
                <a:cs typeface="Poppins Medium"/>
              </a:rPr>
              <a:t>PROJECTIONS</a:t>
            </a:r>
            <a:r>
              <a:rPr lang="en-US" sz="1000">
                <a:solidFill>
                  <a:schemeClr val="bg1"/>
                </a:solidFill>
                <a:latin typeface="Poppins Medium"/>
                <a:cs typeface="Poppins Medium"/>
              </a:rPr>
              <a:t> </a:t>
            </a:r>
            <a:r>
              <a:rPr lang="en-US" sz="1600" baseline="30000">
                <a:solidFill>
                  <a:schemeClr val="bg1"/>
                </a:solidFill>
                <a:latin typeface="Poppins Medium"/>
                <a:ea typeface="Yu Gothic UI"/>
                <a:cs typeface="Poppins Medium"/>
              </a:rPr>
              <a:t>1</a:t>
            </a:r>
            <a:endParaRPr lang="en-US" sz="1600" b="0" i="0" u="none" strike="noStrike" kern="1200" cap="none" spc="0" normalizeH="0" baseline="30000" noProof="0">
              <a:ln>
                <a:noFill/>
              </a:ln>
              <a:solidFill>
                <a:schemeClr val="bg1"/>
              </a:solidFill>
              <a:effectLst/>
              <a:uLnTx/>
              <a:uFillTx/>
              <a:latin typeface="Poppins Medium"/>
              <a:ea typeface="Yu Gothic UI"/>
              <a:cs typeface="Poppins Medium"/>
            </a:endParaRPr>
          </a:p>
        </p:txBody>
      </p:sp>
      <p:sp>
        <p:nvSpPr>
          <p:cNvPr id="12" name="Rectangle 11">
            <a:extLst>
              <a:ext uri="{FF2B5EF4-FFF2-40B4-BE49-F238E27FC236}">
                <a16:creationId xmlns:a16="http://schemas.microsoft.com/office/drawing/2014/main" id="{BCE7DD1D-A2E0-74C8-94B8-A14FFAC59227}"/>
              </a:ext>
            </a:extLst>
          </p:cNvPr>
          <p:cNvSpPr/>
          <p:nvPr/>
        </p:nvSpPr>
        <p:spPr>
          <a:xfrm>
            <a:off x="268552" y="6550251"/>
            <a:ext cx="8196939" cy="209416"/>
          </a:xfrm>
          <a:prstGeom prst="rect">
            <a:avLst/>
          </a:prstGeom>
          <a:noFill/>
          <a:ln>
            <a:noFill/>
          </a:ln>
        </p:spPr>
        <p:txBody>
          <a:bodyPr wrap="square">
            <a:spAutoFit/>
          </a:bodyPr>
          <a:lstStyle/>
          <a:p>
            <a:pPr algn="just">
              <a:lnSpc>
                <a:spcPts val="900"/>
              </a:lnSpc>
              <a:spcBef>
                <a:spcPct val="50000"/>
              </a:spcBef>
            </a:pPr>
            <a:r>
              <a:rPr lang="en-US" sz="850" dirty="0">
                <a:solidFill>
                  <a:srgbClr val="0C2836"/>
                </a:solidFill>
                <a:latin typeface="Poppins Light" panose="00000400000000000000" pitchFamily="2" charset="0"/>
                <a:cs typeface="Poppins Light" panose="00000400000000000000" pitchFamily="2" charset="0"/>
              </a:rPr>
              <a:t>MAY NOT SUM DUE TO ROUNDING. </a:t>
            </a:r>
            <a:endParaRPr lang="en-US" sz="850" cap="all" dirty="0">
              <a:solidFill>
                <a:srgbClr val="0C2836"/>
              </a:solidFill>
              <a:latin typeface="Poppins Light" panose="00000400000000000000" pitchFamily="2" charset="0"/>
              <a:cs typeface="Poppins Light" panose="00000400000000000000" pitchFamily="2" charset="0"/>
            </a:endParaRPr>
          </a:p>
        </p:txBody>
      </p:sp>
      <p:sp>
        <p:nvSpPr>
          <p:cNvPr id="19" name="Title 1">
            <a:extLst>
              <a:ext uri="{FF2B5EF4-FFF2-40B4-BE49-F238E27FC236}">
                <a16:creationId xmlns:a16="http://schemas.microsoft.com/office/drawing/2014/main" id="{E099AC00-6966-D9A0-CC15-B9C559CFDD16}"/>
              </a:ext>
            </a:extLst>
          </p:cNvPr>
          <p:cNvSpPr txBox="1">
            <a:spLocks/>
          </p:cNvSpPr>
          <p:nvPr/>
        </p:nvSpPr>
        <p:spPr>
          <a:xfrm>
            <a:off x="286233" y="469794"/>
            <a:ext cx="7948470" cy="28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79842" tIns="39221" rIns="79842" bIns="39221" numCol="1" anchor="ctr" anchorCtr="0" compatLnSpc="1">
            <a:prstTxWarp prst="textNoShape">
              <a:avLst/>
            </a:prstTxWarp>
          </a:bodyPr>
          <a:lstStyle>
            <a:defPPr>
              <a:defRPr lang="en-US"/>
            </a:defPPr>
            <a:lvl1pPr defTabSz="1181100" eaLnBrk="0" hangingPunct="0">
              <a:lnSpc>
                <a:spcPct val="98000"/>
              </a:lnSpc>
              <a:defRPr sz="2800">
                <a:solidFill>
                  <a:srgbClr val="0F2E55"/>
                </a:solidFill>
                <a:latin typeface="Calibri" panose="020F0502020204030204" pitchFamily="34" charset="0"/>
                <a:ea typeface="+mj-ea"/>
                <a:cs typeface="+mj-cs"/>
              </a:defRPr>
            </a:lvl1pPr>
            <a:lvl2pPr defTabSz="1181100" eaLnBrk="0" hangingPunct="0">
              <a:lnSpc>
                <a:spcPct val="98000"/>
              </a:lnSpc>
              <a:defRPr sz="2200">
                <a:solidFill>
                  <a:srgbClr val="0F2E55"/>
                </a:solidFill>
                <a:latin typeface="Helvetica" pitchFamily="34" charset="0"/>
              </a:defRPr>
            </a:lvl2pPr>
            <a:lvl3pPr defTabSz="1181100" eaLnBrk="0" hangingPunct="0">
              <a:lnSpc>
                <a:spcPct val="98000"/>
              </a:lnSpc>
              <a:defRPr sz="2200">
                <a:solidFill>
                  <a:srgbClr val="0F2E55"/>
                </a:solidFill>
                <a:latin typeface="Helvetica" pitchFamily="34" charset="0"/>
              </a:defRPr>
            </a:lvl3pPr>
            <a:lvl4pPr defTabSz="1181100" eaLnBrk="0" hangingPunct="0">
              <a:lnSpc>
                <a:spcPct val="98000"/>
              </a:lnSpc>
              <a:defRPr sz="2200">
                <a:solidFill>
                  <a:srgbClr val="0F2E55"/>
                </a:solidFill>
                <a:latin typeface="Helvetica" pitchFamily="34" charset="0"/>
              </a:defRPr>
            </a:lvl4pPr>
            <a:lvl5pPr defTabSz="1181100" eaLnBrk="0" hangingPunct="0">
              <a:lnSpc>
                <a:spcPct val="98000"/>
              </a:lnSpc>
              <a:defRPr sz="2200">
                <a:solidFill>
                  <a:srgbClr val="0F2E55"/>
                </a:solidFill>
                <a:latin typeface="Helvetica" pitchFamily="34" charset="0"/>
              </a:defRPr>
            </a:lvl5pPr>
            <a:lvl6pPr marL="457200" defTabSz="1181100" eaLnBrk="0" fontAlgn="base" hangingPunct="0">
              <a:lnSpc>
                <a:spcPct val="98000"/>
              </a:lnSpc>
              <a:spcBef>
                <a:spcPct val="0"/>
              </a:spcBef>
              <a:spcAft>
                <a:spcPct val="0"/>
              </a:spcAft>
              <a:defRPr sz="2400">
                <a:solidFill>
                  <a:srgbClr val="336699"/>
                </a:solidFill>
                <a:latin typeface="Times New Roman" pitchFamily="18" charset="0"/>
              </a:defRPr>
            </a:lvl6pPr>
            <a:lvl7pPr marL="914400" defTabSz="1181100" eaLnBrk="0" fontAlgn="base" hangingPunct="0">
              <a:lnSpc>
                <a:spcPct val="98000"/>
              </a:lnSpc>
              <a:spcBef>
                <a:spcPct val="0"/>
              </a:spcBef>
              <a:spcAft>
                <a:spcPct val="0"/>
              </a:spcAft>
              <a:defRPr sz="2400">
                <a:solidFill>
                  <a:srgbClr val="336699"/>
                </a:solidFill>
                <a:latin typeface="Times New Roman" pitchFamily="18" charset="0"/>
              </a:defRPr>
            </a:lvl7pPr>
            <a:lvl8pPr marL="1371600" defTabSz="1181100" eaLnBrk="0" fontAlgn="base" hangingPunct="0">
              <a:lnSpc>
                <a:spcPct val="98000"/>
              </a:lnSpc>
              <a:spcBef>
                <a:spcPct val="0"/>
              </a:spcBef>
              <a:spcAft>
                <a:spcPct val="0"/>
              </a:spcAft>
              <a:defRPr sz="2400">
                <a:solidFill>
                  <a:srgbClr val="336699"/>
                </a:solidFill>
                <a:latin typeface="Times New Roman" pitchFamily="18" charset="0"/>
              </a:defRPr>
            </a:lvl8pPr>
            <a:lvl9pPr marL="1828800" defTabSz="1181100" eaLnBrk="0" fontAlgn="base" hangingPunct="0">
              <a:lnSpc>
                <a:spcPct val="98000"/>
              </a:lnSpc>
              <a:spcBef>
                <a:spcPct val="0"/>
              </a:spcBef>
              <a:spcAft>
                <a:spcPct val="0"/>
              </a:spcAft>
              <a:defRPr sz="2400">
                <a:solidFill>
                  <a:srgbClr val="336699"/>
                </a:solidFill>
                <a:latin typeface="Times New Roman" pitchFamily="18" charset="0"/>
              </a:defRPr>
            </a:lvl9pPr>
          </a:lstStyle>
          <a:p>
            <a:pPr defTabSz="1042203" fontAlgn="base">
              <a:spcBef>
                <a:spcPct val="0"/>
              </a:spcBef>
              <a:spcAft>
                <a:spcPct val="0"/>
              </a:spcAft>
            </a:pPr>
            <a:r>
              <a:rPr lang="en-US" sz="1800" cap="all">
                <a:latin typeface="Poppins SemiBold" panose="00000700000000000000" pitchFamily="2" charset="0"/>
                <a:cs typeface="Poppins SemiBold" panose="00000700000000000000" pitchFamily="2" charset="0"/>
              </a:rPr>
              <a:t>INVESTMENT REPORT</a:t>
            </a:r>
          </a:p>
        </p:txBody>
      </p:sp>
      <p:sp>
        <p:nvSpPr>
          <p:cNvPr id="5" name="Slide Number Placeholder 1">
            <a:extLst>
              <a:ext uri="{FF2B5EF4-FFF2-40B4-BE49-F238E27FC236}">
                <a16:creationId xmlns:a16="http://schemas.microsoft.com/office/drawing/2014/main" id="{92214F49-2EF6-4359-141D-58DDD61DFAFE}"/>
              </a:ext>
            </a:extLst>
          </p:cNvPr>
          <p:cNvSpPr>
            <a:spLocks noGrp="1"/>
          </p:cNvSpPr>
          <p:nvPr>
            <p:ph type="sldNum" sz="quarter" idx="4"/>
          </p:nvPr>
        </p:nvSpPr>
        <p:spPr>
          <a:xfrm>
            <a:off x="8552919" y="6530228"/>
            <a:ext cx="514350" cy="275945"/>
          </a:xfrm>
          <a:prstGeom prst="rect">
            <a:avLst/>
          </a:prstGeom>
        </p:spPr>
        <p:txBody>
          <a:bodyPr/>
          <a:lstStyle/>
          <a:p>
            <a:pPr defTabSz="806867" fontAlgn="base">
              <a:spcBef>
                <a:spcPct val="0"/>
              </a:spcBef>
              <a:spcAft>
                <a:spcPct val="0"/>
              </a:spcAft>
              <a:defRPr/>
            </a:pPr>
            <a:fld id="{1F3AF4E7-7E42-4609-9D36-1FCB1339153A}" type="slidenum">
              <a:rPr lang="en-US" sz="882">
                <a:solidFill>
                  <a:srgbClr val="000000"/>
                </a:solidFill>
              </a:rPr>
              <a:pPr defTabSz="806867" fontAlgn="base">
                <a:spcBef>
                  <a:spcPct val="0"/>
                </a:spcBef>
                <a:spcAft>
                  <a:spcPct val="0"/>
                </a:spcAft>
                <a:defRPr/>
              </a:pPr>
              <a:t>35</a:t>
            </a:fld>
            <a:endParaRPr lang="en-US" sz="882">
              <a:solidFill>
                <a:srgbClr val="000000"/>
              </a:solidFill>
            </a:endParaRPr>
          </a:p>
        </p:txBody>
      </p:sp>
      <p:sp>
        <p:nvSpPr>
          <p:cNvPr id="7" name="Line 309">
            <a:extLst>
              <a:ext uri="{FF2B5EF4-FFF2-40B4-BE49-F238E27FC236}">
                <a16:creationId xmlns:a16="http://schemas.microsoft.com/office/drawing/2014/main" id="{9470D828-FA2C-87D0-EC51-4122C411FF99}"/>
              </a:ext>
            </a:extLst>
          </p:cNvPr>
          <p:cNvSpPr>
            <a:spLocks noChangeShapeType="1"/>
          </p:cNvSpPr>
          <p:nvPr/>
        </p:nvSpPr>
        <p:spPr bwMode="auto">
          <a:xfrm>
            <a:off x="365760" y="6475195"/>
            <a:ext cx="8412480" cy="0"/>
          </a:xfrm>
          <a:prstGeom prst="line">
            <a:avLst/>
          </a:prstGeom>
          <a:noFill/>
          <a:ln w="9525">
            <a:solidFill>
              <a:srgbClr val="194160"/>
            </a:solidFill>
            <a:round/>
            <a:headEnd/>
            <a:tailEnd/>
          </a:ln>
        </p:spPr>
        <p:txBody>
          <a:bodyPr wrap="square" anchor="ctr">
            <a:spAutoFit/>
          </a:bodyPr>
          <a:lstStyle/>
          <a:p>
            <a:pPr>
              <a:defRPr/>
            </a:pPr>
            <a:endParaRPr lang="en-US" sz="1588"/>
          </a:p>
        </p:txBody>
      </p:sp>
      <p:graphicFrame>
        <p:nvGraphicFramePr>
          <p:cNvPr id="9" name="Table 8">
            <a:extLst>
              <a:ext uri="{FF2B5EF4-FFF2-40B4-BE49-F238E27FC236}">
                <a16:creationId xmlns:a16="http://schemas.microsoft.com/office/drawing/2014/main" id="{3365FD55-AF72-212A-D85E-8550F3B7268A}"/>
              </a:ext>
            </a:extLst>
          </p:cNvPr>
          <p:cNvGraphicFramePr>
            <a:graphicFrameLocks noGrp="1"/>
          </p:cNvGraphicFramePr>
          <p:nvPr>
            <p:extLst>
              <p:ext uri="{D42A27DB-BD31-4B8C-83A1-F6EECF244321}">
                <p14:modId xmlns:p14="http://schemas.microsoft.com/office/powerpoint/2010/main" val="3822003301"/>
              </p:ext>
            </p:extLst>
          </p:nvPr>
        </p:nvGraphicFramePr>
        <p:xfrm>
          <a:off x="365760" y="1279085"/>
          <a:ext cx="8412485" cy="5098341"/>
        </p:xfrm>
        <a:graphic>
          <a:graphicData uri="http://schemas.openxmlformats.org/drawingml/2006/table">
            <a:tbl>
              <a:tblPr/>
              <a:tblGrid>
                <a:gridCol w="1161158">
                  <a:extLst>
                    <a:ext uri="{9D8B030D-6E8A-4147-A177-3AD203B41FA5}">
                      <a16:colId xmlns:a16="http://schemas.microsoft.com/office/drawing/2014/main" val="1041259275"/>
                    </a:ext>
                  </a:extLst>
                </a:gridCol>
                <a:gridCol w="805703">
                  <a:extLst>
                    <a:ext uri="{9D8B030D-6E8A-4147-A177-3AD203B41FA5}">
                      <a16:colId xmlns:a16="http://schemas.microsoft.com/office/drawing/2014/main" val="2092881467"/>
                    </a:ext>
                  </a:extLst>
                </a:gridCol>
                <a:gridCol w="805703">
                  <a:extLst>
                    <a:ext uri="{9D8B030D-6E8A-4147-A177-3AD203B41FA5}">
                      <a16:colId xmlns:a16="http://schemas.microsoft.com/office/drawing/2014/main" val="1366670274"/>
                    </a:ext>
                  </a:extLst>
                </a:gridCol>
                <a:gridCol w="805703">
                  <a:extLst>
                    <a:ext uri="{9D8B030D-6E8A-4147-A177-3AD203B41FA5}">
                      <a16:colId xmlns:a16="http://schemas.microsoft.com/office/drawing/2014/main" val="1600821266"/>
                    </a:ext>
                  </a:extLst>
                </a:gridCol>
                <a:gridCol w="805703">
                  <a:extLst>
                    <a:ext uri="{9D8B030D-6E8A-4147-A177-3AD203B41FA5}">
                      <a16:colId xmlns:a16="http://schemas.microsoft.com/office/drawing/2014/main" val="321305739"/>
                    </a:ext>
                  </a:extLst>
                </a:gridCol>
                <a:gridCol w="805703">
                  <a:extLst>
                    <a:ext uri="{9D8B030D-6E8A-4147-A177-3AD203B41FA5}">
                      <a16:colId xmlns:a16="http://schemas.microsoft.com/office/drawing/2014/main" val="2201025114"/>
                    </a:ext>
                  </a:extLst>
                </a:gridCol>
                <a:gridCol w="805703">
                  <a:extLst>
                    <a:ext uri="{9D8B030D-6E8A-4147-A177-3AD203B41FA5}">
                      <a16:colId xmlns:a16="http://schemas.microsoft.com/office/drawing/2014/main" val="2339463780"/>
                    </a:ext>
                  </a:extLst>
                </a:gridCol>
                <a:gridCol w="805703">
                  <a:extLst>
                    <a:ext uri="{9D8B030D-6E8A-4147-A177-3AD203B41FA5}">
                      <a16:colId xmlns:a16="http://schemas.microsoft.com/office/drawing/2014/main" val="219949704"/>
                    </a:ext>
                  </a:extLst>
                </a:gridCol>
                <a:gridCol w="805703">
                  <a:extLst>
                    <a:ext uri="{9D8B030D-6E8A-4147-A177-3AD203B41FA5}">
                      <a16:colId xmlns:a16="http://schemas.microsoft.com/office/drawing/2014/main" val="1045788038"/>
                    </a:ext>
                  </a:extLst>
                </a:gridCol>
                <a:gridCol w="805703">
                  <a:extLst>
                    <a:ext uri="{9D8B030D-6E8A-4147-A177-3AD203B41FA5}">
                      <a16:colId xmlns:a16="http://schemas.microsoft.com/office/drawing/2014/main" val="2523030949"/>
                    </a:ext>
                  </a:extLst>
                </a:gridCol>
              </a:tblGrid>
              <a:tr h="683971">
                <a:tc>
                  <a:txBody>
                    <a:bodyPr/>
                    <a:lstStyle/>
                    <a:p>
                      <a:pPr marL="0" marR="0" lvl="0" indent="0" algn="ctr" defTabSz="806867" rtl="0" eaLnBrk="1" fontAlgn="ctr" latinLnBrk="0" hangingPunct="1">
                        <a:lnSpc>
                          <a:spcPct val="100000"/>
                        </a:lnSpc>
                        <a:spcBef>
                          <a:spcPts val="0"/>
                        </a:spcBef>
                        <a:spcAft>
                          <a:spcPts val="0"/>
                        </a:spcAft>
                        <a:buClrTx/>
                        <a:buSzTx/>
                        <a:buFontTx/>
                        <a:buNone/>
                        <a:tabLst/>
                        <a:defRPr/>
                      </a:pPr>
                      <a:r>
                        <a:rPr lang="en-US" sz="1050" b="0" i="0" u="none" strike="noStrike">
                          <a:solidFill>
                            <a:srgbClr val="FFFFFF"/>
                          </a:solidFill>
                          <a:effectLst/>
                          <a:latin typeface="Poppins SemiBold" panose="00000700000000000000" pitchFamily="2" charset="0"/>
                        </a:rPr>
                        <a:t> CASH ACTIVITY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MAY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JUN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JUL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AUG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SEP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OCT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NOV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DEC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tc>
                  <a:txBody>
                    <a:bodyPr/>
                    <a:lstStyle/>
                    <a:p>
                      <a:pPr algn="ctr" rtl="0" fontAlgn="ctr"/>
                      <a:r>
                        <a:rPr lang="en-US" sz="1050" b="0" i="0" u="none" strike="noStrike">
                          <a:solidFill>
                            <a:srgbClr val="FFFFFF"/>
                          </a:solidFill>
                          <a:effectLst/>
                          <a:latin typeface="Poppins SemiBold" panose="00000700000000000000" pitchFamily="2" charset="0"/>
                        </a:rPr>
                        <a:t>FULL YEAR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4256"/>
                    </a:solidFill>
                  </a:tcPr>
                </a:tc>
                <a:extLst>
                  <a:ext uri="{0D108BD9-81ED-4DB2-BD59-A6C34878D82A}">
                    <a16:rowId xmlns:a16="http://schemas.microsoft.com/office/drawing/2014/main" val="304476961"/>
                  </a:ext>
                </a:extLst>
              </a:tr>
              <a:tr h="433854">
                <a:tc>
                  <a:txBody>
                    <a:bodyPr/>
                    <a:lstStyle/>
                    <a:p>
                      <a:pPr algn="ctr" rtl="0" fontAlgn="ctr"/>
                      <a:r>
                        <a:rPr lang="en-US" sz="1000" b="0" i="0" u="none" strike="noStrike">
                          <a:solidFill>
                            <a:srgbClr val="000000"/>
                          </a:solidFill>
                          <a:effectLst/>
                          <a:latin typeface="Poppins SemiBold" panose="00000700000000000000" pitchFamily="2" charset="0"/>
                        </a:rPr>
                        <a:t>BEGINNING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$17.9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$1.8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$2.0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$1.8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$2.5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$1.2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$2.3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$2.4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$3.8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8935752"/>
                  </a:ext>
                </a:extLst>
              </a:tr>
              <a:tr h="401154">
                <a:tc>
                  <a:txBody>
                    <a:bodyPr/>
                    <a:lstStyle/>
                    <a:p>
                      <a:pPr algn="l" rtl="0" fontAlgn="ctr"/>
                      <a:endParaRPr lang="en-US" sz="1000" b="0" i="0" u="none" strike="noStrike">
                        <a:solidFill>
                          <a:srgbClr val="FFFFFF"/>
                        </a:solidFill>
                        <a:effectLst/>
                        <a:latin typeface="Poppins SemiBold"/>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r>
                        <a:rPr lang="en-US" sz="1000" b="0" i="0" u="none" strike="noStrike">
                          <a:effectLst/>
                          <a:latin typeface="Poppins SemiBold" panose="00000700000000000000" pitchFamily="2"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extLst>
                  <a:ext uri="{0D108BD9-81ED-4DB2-BD59-A6C34878D82A}">
                    <a16:rowId xmlns:a16="http://schemas.microsoft.com/office/drawing/2014/main" val="2723164806"/>
                  </a:ext>
                </a:extLst>
              </a:tr>
              <a:tr h="433854">
                <a:tc>
                  <a:txBody>
                    <a:bodyPr/>
                    <a:lstStyle/>
                    <a:p>
                      <a:pPr algn="ctr" rtl="0" fontAlgn="ctr"/>
                      <a:r>
                        <a:rPr lang="en-US" sz="1000" b="0" i="0" u="none" strike="noStrike">
                          <a:solidFill>
                            <a:srgbClr val="000000"/>
                          </a:solidFill>
                          <a:effectLst/>
                          <a:latin typeface="Poppins SemiBold" panose="00000700000000000000" pitchFamily="2" charset="0"/>
                        </a:rPr>
                        <a:t>INFLOWS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$8.8 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$11.3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$5.7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$5.6M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$5.6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$5.8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$5.8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$5.8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$80.4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8317132"/>
                  </a:ext>
                </a:extLst>
              </a:tr>
              <a:tr h="410383">
                <a:tc>
                  <a:txBody>
                    <a:bodyPr/>
                    <a:lstStyle/>
                    <a:p>
                      <a:pPr algn="ctr" fontAlgn="ctr"/>
                      <a:r>
                        <a:rPr lang="en-US" sz="1000" b="0" i="0" u="none" strike="noStrike">
                          <a:effectLst/>
                          <a:latin typeface="Arial" panose="020B0604020202020204" pitchFamily="34"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r>
                        <a:rPr lang="en-US" sz="1000" b="0" i="0" u="none" strike="noStrike">
                          <a:effectLst/>
                          <a:latin typeface="Poppins SemiBold" panose="00000700000000000000" pitchFamily="2"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extLst>
                  <a:ext uri="{0D108BD9-81ED-4DB2-BD59-A6C34878D82A}">
                    <a16:rowId xmlns:a16="http://schemas.microsoft.com/office/drawing/2014/main" val="4037082227"/>
                  </a:ext>
                </a:extLst>
              </a:tr>
              <a:tr h="433854">
                <a:tc>
                  <a:txBody>
                    <a:bodyPr/>
                    <a:lstStyle/>
                    <a:p>
                      <a:pPr algn="ctr" rtl="0" fontAlgn="ctr"/>
                      <a:r>
                        <a:rPr lang="en-US" sz="1000" b="0" i="0" u="none" strike="noStrike">
                          <a:solidFill>
                            <a:srgbClr val="000000"/>
                          </a:solidFill>
                          <a:effectLst/>
                          <a:latin typeface="Poppins SemiBold"/>
                        </a:rPr>
                        <a:t>OUTFLOWS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$3.1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$2.1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$1.8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$2.0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$3.9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$3.7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$2.2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$3.4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Poppins SemiBold" panose="00000700000000000000" pitchFamily="2" charset="0"/>
                        </a:rPr>
                        <a:t>$32.8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2476233"/>
                  </a:ext>
                </a:extLst>
              </a:tr>
              <a:tr h="410383">
                <a:tc>
                  <a:txBody>
                    <a:bodyPr/>
                    <a:lstStyle/>
                    <a:p>
                      <a:pPr algn="ctr" fontAlgn="ctr"/>
                      <a:r>
                        <a:rPr lang="en-US" sz="1000" b="0" i="0" u="none" strike="noStrike">
                          <a:effectLst/>
                          <a:latin typeface="Arial" panose="020B0604020202020204" pitchFamily="34" charset="0"/>
                        </a:rPr>
                        <a: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r>
                        <a:rPr lang="en-US" sz="1000" b="0" i="0" u="none" strike="noStrike">
                          <a:effectLst/>
                          <a:latin typeface="Poppins SemiBold" panose="00000700000000000000" pitchFamily="2" charset="0"/>
                        </a:rPr>
                        <a:t>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b"/>
                      <a:endParaRPr lang="en-US" sz="1000" b="0" i="0" u="none" strike="noStrike">
                        <a:solidFill>
                          <a:srgbClr val="000000"/>
                        </a:solidFill>
                        <a:effectLst/>
                        <a:latin typeface="Poppins SemiBold" panose="000007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extLst>
                  <a:ext uri="{0D108BD9-81ED-4DB2-BD59-A6C34878D82A}">
                    <a16:rowId xmlns:a16="http://schemas.microsoft.com/office/drawing/2014/main" val="987919680"/>
                  </a:ext>
                </a:extLst>
              </a:tr>
              <a:tr h="601090">
                <a:tc>
                  <a:txBody>
                    <a:bodyPr/>
                    <a:lstStyle/>
                    <a:p>
                      <a:pPr algn="ctr" rtl="0" fontAlgn="ctr"/>
                      <a:r>
                        <a:rPr lang="en-US" sz="1000" b="0" i="0" u="none" strike="noStrike">
                          <a:solidFill>
                            <a:srgbClr val="FFFFFF"/>
                          </a:solidFill>
                          <a:effectLst/>
                          <a:latin typeface="Poppins SemiBold" panose="00000700000000000000" pitchFamily="2" charset="0"/>
                        </a:rPr>
                        <a:t>INCREASE/</a:t>
                      </a:r>
                    </a:p>
                    <a:p>
                      <a:pPr algn="ctr" rtl="0" fontAlgn="ctr"/>
                      <a:r>
                        <a:rPr lang="en-US" sz="1000" b="0" i="0" u="none" strike="noStrike">
                          <a:solidFill>
                            <a:srgbClr val="FFFFFF"/>
                          </a:solidFill>
                          <a:effectLst/>
                          <a:latin typeface="Poppins SemiBold" panose="00000700000000000000" pitchFamily="2" charset="0"/>
                        </a:rPr>
                        <a:t>DECREASE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-$3.1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$9.2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$3.9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$3.7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$1.7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$2.1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$3.6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$2.4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tc>
                  <a:txBody>
                    <a:bodyPr/>
                    <a:lstStyle/>
                    <a:p>
                      <a:pPr algn="ctr" fontAlgn="ctr"/>
                      <a:r>
                        <a:rPr lang="en-US" sz="1000" b="0" i="0" u="none" strike="noStrike">
                          <a:solidFill>
                            <a:srgbClr val="FFFFFF"/>
                          </a:solidFill>
                          <a:effectLst/>
                          <a:latin typeface="Poppins SemiBold" panose="00000700000000000000" pitchFamily="2" charset="0"/>
                        </a:rPr>
                        <a:t>$47.5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A5B4"/>
                    </a:solidFill>
                  </a:tcPr>
                </a:tc>
                <a:extLst>
                  <a:ext uri="{0D108BD9-81ED-4DB2-BD59-A6C34878D82A}">
                    <a16:rowId xmlns:a16="http://schemas.microsoft.com/office/drawing/2014/main" val="2026968762"/>
                  </a:ext>
                </a:extLst>
              </a:tr>
              <a:tr h="571182">
                <a:tc>
                  <a:txBody>
                    <a:bodyPr/>
                    <a:lstStyle/>
                    <a:p>
                      <a:pPr algn="ctr" rtl="0" fontAlgn="ctr"/>
                      <a:r>
                        <a:rPr lang="en-US" sz="1000" b="0" i="0" u="none" strike="noStrike" spc="-30" baseline="0">
                          <a:solidFill>
                            <a:srgbClr val="FFFFFF"/>
                          </a:solidFill>
                          <a:effectLst/>
                          <a:latin typeface="Poppins SemiBold"/>
                        </a:rPr>
                        <a:t>XFERS FROM/-TO </a:t>
                      </a:r>
                      <a:endParaRPr lang="en-US" sz="1600"/>
                    </a:p>
                    <a:p>
                      <a:pPr lvl="0" algn="ctr">
                        <a:buNone/>
                      </a:pPr>
                      <a:r>
                        <a:rPr lang="en-US" sz="1000" b="0" i="0" u="none" strike="noStrike" spc="-30" baseline="0">
                          <a:solidFill>
                            <a:srgbClr val="FFFFFF"/>
                          </a:solidFill>
                          <a:effectLst/>
                          <a:latin typeface="Poppins SemiBold"/>
                        </a:rPr>
                        <a:t>INVESTMENTS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-$13.0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-$9.0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-$4.0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-$3.0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-$3.0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-$1.0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-$3.5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-$3.0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tc>
                  <a:txBody>
                    <a:bodyPr/>
                    <a:lstStyle/>
                    <a:p>
                      <a:pPr algn="ctr" fontAlgn="ctr"/>
                      <a:r>
                        <a:rPr lang="en-US" sz="1000" b="0" i="0" u="none" strike="noStrike">
                          <a:solidFill>
                            <a:srgbClr val="FFFFFF"/>
                          </a:solidFill>
                          <a:effectLst/>
                          <a:latin typeface="Poppins SemiBold" panose="00000700000000000000" pitchFamily="2" charset="0"/>
                        </a:rPr>
                        <a:t>-$49.5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3787F"/>
                    </a:solidFill>
                  </a:tcPr>
                </a:tc>
                <a:extLst>
                  <a:ext uri="{0D108BD9-81ED-4DB2-BD59-A6C34878D82A}">
                    <a16:rowId xmlns:a16="http://schemas.microsoft.com/office/drawing/2014/main" val="1042156593"/>
                  </a:ext>
                </a:extLst>
              </a:tr>
              <a:tr h="718616">
                <a:tc>
                  <a:txBody>
                    <a:bodyPr/>
                    <a:lstStyle/>
                    <a:p>
                      <a:pPr algn="ctr" rtl="0" fontAlgn="ctr"/>
                      <a:r>
                        <a:rPr lang="en-US" sz="1000" b="0" i="0" u="none" strike="noStrike">
                          <a:solidFill>
                            <a:srgbClr val="FFFFFF"/>
                          </a:solidFill>
                          <a:effectLst/>
                          <a:latin typeface="Poppins SemiBold" panose="00000700000000000000" pitchFamily="2" charset="0"/>
                        </a:rPr>
                        <a:t>ENDING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$1.8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$2.0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$1.8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$2.5M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$1.2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$2.3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$2.4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$1.8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tc>
                  <a:txBody>
                    <a:bodyPr/>
                    <a:lstStyle/>
                    <a:p>
                      <a:pPr algn="ctr" fontAlgn="ctr"/>
                      <a:r>
                        <a:rPr lang="en-US" sz="1000" b="0" i="0" u="none" strike="noStrike">
                          <a:solidFill>
                            <a:srgbClr val="FFFFFF"/>
                          </a:solidFill>
                          <a:effectLst/>
                          <a:latin typeface="Poppins SemiBold" panose="00000700000000000000" pitchFamily="2" charset="0"/>
                        </a:rPr>
                        <a:t>$1.8 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6280"/>
                    </a:solidFill>
                  </a:tcPr>
                </a:tc>
                <a:extLst>
                  <a:ext uri="{0D108BD9-81ED-4DB2-BD59-A6C34878D82A}">
                    <a16:rowId xmlns:a16="http://schemas.microsoft.com/office/drawing/2014/main" val="1599250101"/>
                  </a:ext>
                </a:extLst>
              </a:tr>
            </a:tbl>
          </a:graphicData>
        </a:graphic>
      </p:graphicFrame>
      <p:sp>
        <p:nvSpPr>
          <p:cNvPr id="2" name="Rectangle 1">
            <a:extLst>
              <a:ext uri="{FF2B5EF4-FFF2-40B4-BE49-F238E27FC236}">
                <a16:creationId xmlns:a16="http://schemas.microsoft.com/office/drawing/2014/main" id="{A3232863-A5E4-B2F3-3617-BB2A57CEC20C}"/>
              </a:ext>
            </a:extLst>
          </p:cNvPr>
          <p:cNvSpPr/>
          <p:nvPr/>
        </p:nvSpPr>
        <p:spPr bwMode="auto">
          <a:xfrm>
            <a:off x="8094433" y="1943649"/>
            <a:ext cx="3801809" cy="964437"/>
          </a:xfrm>
          <a:prstGeom prst="rect">
            <a:avLst/>
          </a:prstGeom>
          <a:solidFill>
            <a:srgbClr val="FFC000"/>
          </a:solidFill>
          <a:ln w="28575">
            <a:solidFill>
              <a:schemeClr val="accent1"/>
            </a:solidFill>
          </a:ln>
        </p:spPr>
        <p:txBody>
          <a:bodyPr wrap="square" tIns="274320" rIns="0" bIns="45720" rtlCol="0" anchor="b">
            <a:noAutofit/>
          </a:bodyPr>
          <a:lstStyle/>
          <a:p>
            <a:pPr algn="ctr"/>
            <a:r>
              <a:rPr lang="en-US" sz="2000" dirty="0">
                <a:solidFill>
                  <a:schemeClr val="bg1"/>
                </a:solidFill>
                <a:latin typeface="Poppins SemiBold" panose="00000700000000000000" pitchFamily="2" charset="0"/>
                <a:cs typeface="Poppins SemiBold" panose="00000700000000000000" pitchFamily="2" charset="0"/>
              </a:rPr>
              <a:t>WAITING FOR UPDATED DATA</a:t>
            </a:r>
          </a:p>
          <a:p>
            <a:pPr algn="ctr"/>
            <a:r>
              <a:rPr lang="en-US" sz="2000" dirty="0">
                <a:solidFill>
                  <a:schemeClr val="bg1"/>
                </a:solidFill>
                <a:latin typeface="Poppins SemiBold" panose="00000700000000000000" pitchFamily="2" charset="0"/>
                <a:cs typeface="Poppins SemiBold" panose="00000700000000000000" pitchFamily="2" charset="0"/>
              </a:rPr>
              <a:t>(x2 since data came in wrong format)</a:t>
            </a:r>
          </a:p>
        </p:txBody>
      </p:sp>
    </p:spTree>
    <p:extLst>
      <p:ext uri="{BB962C8B-B14F-4D97-AF65-F5344CB8AC3E}">
        <p14:creationId xmlns:p14="http://schemas.microsoft.com/office/powerpoint/2010/main" val="2086338540"/>
      </p:ext>
    </p:extLst>
  </p:cSld>
  <p:clrMapOvr>
    <a:masterClrMapping/>
  </p:clrMapOvr>
</p:sld>
</file>

<file path=ppt/theme/theme1.xml><?xml version="1.0" encoding="utf-8"?>
<a:theme xmlns:a="http://schemas.openxmlformats.org/drawingml/2006/main" name="US Landscape Non-Message">
  <a:themeElements>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000" b="1" i="0" u="none" strike="noStrike" cap="none" normalizeH="0" baseline="0" smtClean="0">
            <a:ln>
              <a:noFill/>
            </a:ln>
            <a:solidFill>
              <a:schemeClr val="tx1"/>
            </a:solidFill>
            <a:effectLst/>
            <a:latin typeface="Arial" charset="0"/>
          </a:defRPr>
        </a:defPPr>
      </a:lstStyle>
    </a:lnDef>
  </a:objectDefaults>
  <a:extraClrSchemeLst>
    <a:extraClrScheme>
      <a:clrScheme name="US Landscape Non-Message 1">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 Landscape Non-Message 2">
        <a:dk1>
          <a:srgbClr val="000000"/>
        </a:dk1>
        <a:lt1>
          <a:srgbClr val="FFFFFF"/>
        </a:lt1>
        <a:dk2>
          <a:srgbClr val="FF1300"/>
        </a:dk2>
        <a:lt2>
          <a:srgbClr val="82003C"/>
        </a:lt2>
        <a:accent1>
          <a:srgbClr val="404040"/>
        </a:accent1>
        <a:accent2>
          <a:srgbClr val="A6A6A6"/>
        </a:accent2>
        <a:accent3>
          <a:srgbClr val="FFFFFF"/>
        </a:accent3>
        <a:accent4>
          <a:srgbClr val="000000"/>
        </a:accent4>
        <a:accent5>
          <a:srgbClr val="AFAFAF"/>
        </a:accent5>
        <a:accent6>
          <a:srgbClr val="969696"/>
        </a:accent6>
        <a:hlink>
          <a:srgbClr val="FDD0B9"/>
        </a:hlink>
        <a:folHlink>
          <a:srgbClr val="FC704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6.xml><?xml version="1.0" encoding="utf-8"?>
<a:themeOverride xmlns:a="http://schemas.openxmlformats.org/drawingml/2006/main">
  <a:clrScheme name="">
    <a:dk1>
      <a:srgbClr val="000000"/>
    </a:dk1>
    <a:lt1>
      <a:srgbClr val="FFFFFF"/>
    </a:lt1>
    <a:dk2>
      <a:srgbClr val="3264FF"/>
    </a:dk2>
    <a:lt2>
      <a:srgbClr val="FC7049"/>
    </a:lt2>
    <a:accent1>
      <a:srgbClr val="FF0000"/>
    </a:accent1>
    <a:accent2>
      <a:srgbClr val="999999"/>
    </a:accent2>
    <a:accent3>
      <a:srgbClr val="FFFFFF"/>
    </a:accent3>
    <a:accent4>
      <a:srgbClr val="000000"/>
    </a:accent4>
    <a:accent5>
      <a:srgbClr val="FFAAAA"/>
    </a:accent5>
    <a:accent6>
      <a:srgbClr val="8A8A8A"/>
    </a:accent6>
    <a:hlink>
      <a:srgbClr val="333333"/>
    </a:hlink>
    <a:folHlink>
      <a:srgbClr val="FDD0B9"/>
    </a:folHlink>
  </a:clrScheme>
  <a:fontScheme name="US Landscape Non-Messa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97e3ffd-c5c9-410b-ba91-aa09e2d39bac" xsi:nil="true"/>
    <lcf76f155ced4ddcb4097134ff3c332f xmlns="fd9c4077-7bba-465e-b8bd-093d6690caa7">
      <Terms xmlns="http://schemas.microsoft.com/office/infopath/2007/PartnerControls"/>
    </lcf76f155ced4ddcb4097134ff3c332f>
    <SharedWithUsers xmlns="697e3ffd-c5c9-410b-ba91-aa09e2d39bac">
      <UserInfo>
        <DisplayName>Megan Belvedere</DisplayName>
        <AccountId>33</AccountId>
        <AccountType/>
      </UserInfo>
    </SharedWithUsers>
    <_DCDateModified xmlns="http://schemas.microsoft.com/sharepoint/v3/fields"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4E863CF4C49941BB0BF814195DCB09" ma:contentTypeVersion="20" ma:contentTypeDescription="Create a new document." ma:contentTypeScope="" ma:versionID="0ade6be911c70751894823a2f1f12f76">
  <xsd:schema xmlns:xsd="http://www.w3.org/2001/XMLSchema" xmlns:xs="http://www.w3.org/2001/XMLSchema" xmlns:p="http://schemas.microsoft.com/office/2006/metadata/properties" xmlns:ns2="697e3ffd-c5c9-410b-ba91-aa09e2d39bac" xmlns:ns3="fd9c4077-7bba-465e-b8bd-093d6690caa7" xmlns:ns4="http://schemas.microsoft.com/sharepoint/v3/fields" targetNamespace="http://schemas.microsoft.com/office/2006/metadata/properties" ma:root="true" ma:fieldsID="807616dbf09ca3c5c4217b9d0e0fa3ff" ns2:_="" ns3:_="" ns4:_="">
    <xsd:import namespace="697e3ffd-c5c9-410b-ba91-aa09e2d39bac"/>
    <xsd:import namespace="fd9c4077-7bba-465e-b8bd-093d6690caa7"/>
    <xsd:import namespace="http://schemas.microsoft.com/sharepoint/v3/fields"/>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4:_DCDateModified"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7e3ffd-c5c9-410b-ba91-aa09e2d39ba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2255d2fe-b611-4a33-8f4c-6daae94508c0}" ma:internalName="TaxCatchAll" ma:showField="CatchAllData" ma:web="697e3ffd-c5c9-410b-ba91-aa09e2d39ba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d9c4077-7bba-465e-b8bd-093d6690caa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f98f3185-1431-403e-bf99-b7b6dc9d184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DCDateModified" ma:index="26" nillable="true" ma:displayName="Date Modified" ma:description="The date on which this resource was last modified" ma:format="DateTime" ma:internalName="_DCDateModified">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A83CDF-D3FF-4097-B0AE-E7CD926CFCB8}">
  <ds:schemaRefs>
    <ds:schemaRef ds:uri="http://schemas.microsoft.com/sharepoint/v3/contenttype/forms"/>
  </ds:schemaRefs>
</ds:datastoreItem>
</file>

<file path=customXml/itemProps2.xml><?xml version="1.0" encoding="utf-8"?>
<ds:datastoreItem xmlns:ds="http://schemas.openxmlformats.org/officeDocument/2006/customXml" ds:itemID="{314DBD43-D5FF-4217-A337-2D8F48FC7A53}">
  <ds:schemaRefs>
    <ds:schemaRef ds:uri="697e3ffd-c5c9-410b-ba91-aa09e2d39bac"/>
    <ds:schemaRef ds:uri="fd9c4077-7bba-465e-b8bd-093d6690caa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field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45C388F-013C-4A9B-9EE9-6AAE4E3C4211}">
  <ds:schemaRefs>
    <ds:schemaRef ds:uri="697e3ffd-c5c9-410b-ba91-aa09e2d39bac"/>
    <ds:schemaRef ds:uri="fd9c4077-7bba-465e-b8bd-093d6690caa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field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34</TotalTime>
  <Words>12389</Words>
  <Application>Microsoft Office PowerPoint</Application>
  <PresentationFormat>Letter Paper (8.5x11 in)</PresentationFormat>
  <Paragraphs>4802</Paragraphs>
  <Slides>35</Slides>
  <Notes>34</Notes>
  <HiddenSlides>1</HiddenSlides>
  <MMClips>0</MMClips>
  <ScaleCrop>false</ScaleCrop>
  <HeadingPairs>
    <vt:vector size="8" baseType="variant">
      <vt:variant>
        <vt:lpstr>Fonts Used</vt:lpstr>
      </vt:variant>
      <vt:variant>
        <vt:i4>13</vt:i4>
      </vt:variant>
      <vt:variant>
        <vt:lpstr>Theme</vt:lpstr>
      </vt:variant>
      <vt:variant>
        <vt:i4>1</vt:i4>
      </vt:variant>
      <vt:variant>
        <vt:lpstr>Links</vt:lpstr>
      </vt:variant>
      <vt:variant>
        <vt:i4>4</vt:i4>
      </vt:variant>
      <vt:variant>
        <vt:lpstr>Slide Titles</vt:lpstr>
      </vt:variant>
      <vt:variant>
        <vt:i4>35</vt:i4>
      </vt:variant>
    </vt:vector>
  </HeadingPairs>
  <TitlesOfParts>
    <vt:vector size="53" baseType="lpstr">
      <vt:lpstr>-apple-system</vt:lpstr>
      <vt:lpstr>Aptos</vt:lpstr>
      <vt:lpstr>Arial</vt:lpstr>
      <vt:lpstr>Calibri</vt:lpstr>
      <vt:lpstr>Helvetica</vt:lpstr>
      <vt:lpstr>Lato</vt:lpstr>
      <vt:lpstr>Poppins</vt:lpstr>
      <vt:lpstr>Poppins Light</vt:lpstr>
      <vt:lpstr>Poppins Medium</vt:lpstr>
      <vt:lpstr>Poppins SemiBold</vt:lpstr>
      <vt:lpstr>Segoe UI</vt:lpstr>
      <vt:lpstr>Times New Roman</vt:lpstr>
      <vt:lpstr>Wingdings</vt:lpstr>
      <vt:lpstr>US Landscape Non-Message</vt:lpstr>
      <vt:lpstr>https://performaltd.sharepoint.com/Shared%20Documents/PBDA/Quantitative%20Resources/Marketing/QTLY%20Slide%20Data%20v2%20wb.xlsx!Page%205%20Graphs!%5bQTLY%20Slide%20Data%20v2%20wb.xlsx%5dPage%205%20Graphs%20Chart%202-1</vt:lpstr>
      <vt:lpstr>https://performaltd.sharepoint.com/Shared%20Documents/PBDA/Quantitative%20Resources/Marketing/ignore%20TLY%20Slide%20Data%20v3%20wb.xlsx!Page%206%20Graphs!%5bignore%20TLY%20Slide%20Data%20v3%20wb.xlsx%5dPage%206%20Graphs%20Chart%2010</vt:lpstr>
      <vt:lpstr>https://performaltd.sharepoint.com/Shared%20Documents/PBDA/Data%20Bases/DB%20Reporting/Monthly%20Fact%20Sheet%20Support/2019/V2Copy%20of%20FS%20backup%20data%20STABLE%20NAME%20MASTER.xlsx!Sector%20Allocations%20_%20ALL%20FUNDS!R21C2:R24C3</vt:lpstr>
      <vt:lpstr>https://performaltd.sharepoint.com/Shared%20Documents/PBDA/Data%20Bases/DB%20Reporting/Monthly%20Fact%20Sheet%20Support/2019/V2Copy%20of%20FS%20backup%20data%20STABLE%20NAME%20MASTER.xlsx!Sector%20Allocations%20_%20ALL%20FUNDS!R21C6:R27C7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Whitney Brownie</dc:creator>
  <cp:lastModifiedBy>Clayton Johnson</cp:lastModifiedBy>
  <cp:revision>3</cp:revision>
  <cp:lastPrinted>2019-06-11T20:55:37Z</cp:lastPrinted>
  <dcterms:created xsi:type="dcterms:W3CDTF">2019-02-12T20:40:53Z</dcterms:created>
  <dcterms:modified xsi:type="dcterms:W3CDTF">2026-03-17T02:34:41Z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0x0101009E4E863CF4C49941BB0BF814195DCB09</vt:lpwstr>
  </property>
  <property fmtid="{D5CDD505-2E9C-101B-9397-08002B2CF9AE}" pid="3" name="AuthorIds_UIVersion_3072">
    <vt:lpwstr>15</vt:lpwstr>
  </property>
  <property fmtid="{D5CDD505-2E9C-101B-9397-08002B2CF9AE}" pid="4" name="MediaServiceImageTags">
    <vt:lpwstr/>
  </property>
</Properties>
</file>